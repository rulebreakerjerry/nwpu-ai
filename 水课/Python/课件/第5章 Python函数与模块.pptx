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42"/>
  </p:handoutMasterIdLst>
  <p:sldIdLst>
    <p:sldId id="748" r:id="rId3"/>
    <p:sldId id="256" r:id="rId4"/>
    <p:sldId id="420" r:id="rId5"/>
    <p:sldId id="713" r:id="rId7"/>
    <p:sldId id="680" r:id="rId8"/>
    <p:sldId id="683" r:id="rId9"/>
    <p:sldId id="684" r:id="rId10"/>
    <p:sldId id="685" r:id="rId11"/>
    <p:sldId id="686" r:id="rId12"/>
    <p:sldId id="687" r:id="rId13"/>
    <p:sldId id="688" r:id="rId14"/>
    <p:sldId id="689" r:id="rId15"/>
    <p:sldId id="690" r:id="rId16"/>
    <p:sldId id="691" r:id="rId17"/>
    <p:sldId id="692" r:id="rId18"/>
    <p:sldId id="693" r:id="rId19"/>
    <p:sldId id="694" r:id="rId20"/>
    <p:sldId id="695" r:id="rId21"/>
    <p:sldId id="696" r:id="rId22"/>
    <p:sldId id="697" r:id="rId23"/>
    <p:sldId id="698" r:id="rId24"/>
    <p:sldId id="699" r:id="rId25"/>
    <p:sldId id="701" r:id="rId26"/>
    <p:sldId id="702" r:id="rId27"/>
    <p:sldId id="703" r:id="rId28"/>
    <p:sldId id="704" r:id="rId29"/>
    <p:sldId id="705" r:id="rId30"/>
    <p:sldId id="706" r:id="rId31"/>
    <p:sldId id="707" r:id="rId32"/>
    <p:sldId id="708" r:id="rId33"/>
    <p:sldId id="709" r:id="rId34"/>
    <p:sldId id="714" r:id="rId35"/>
    <p:sldId id="716" r:id="rId36"/>
    <p:sldId id="715" r:id="rId37"/>
    <p:sldId id="710" r:id="rId38"/>
    <p:sldId id="711" r:id="rId39"/>
    <p:sldId id="712" r:id="rId40"/>
    <p:sldId id="678" r:id="rId41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CC"/>
    <a:srgbClr val="FFCC66"/>
    <a:srgbClr val="CC6600"/>
    <a:srgbClr val="00CC00"/>
    <a:srgbClr val="66663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80" d="100"/>
          <a:sy n="80" d="100"/>
        </p:scale>
        <p:origin x="-2520" y="-846"/>
      </p:cViewPr>
      <p:guideLst>
        <p:guide orient="horz" pos="215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6" Type="http://schemas.openxmlformats.org/officeDocument/2006/relationships/tags" Target="tags/tag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3A0B013-71C8-4941-9559-40A0550433E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smtClean="0"/>
              <a:t>第一章第一节</a:t>
            </a:r>
            <a:endParaRPr lang="en-US" altLang="zh-CN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smtClean="0"/>
              <a:t>第一章第一节</a:t>
            </a:r>
            <a:endParaRPr lang="en-US" altLang="zh-CN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27F79C42-1A93-4594-8DD5-B817E4F21393}" type="slidenum">
              <a:rPr lang="en-US" altLang="zh-CN" sz="1200" smtClean="0"/>
            </a:fld>
            <a:endParaRPr lang="en-US" altLang="zh-CN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smtClean="0"/>
              <a:t>第一章第一节</a:t>
            </a:r>
            <a:endParaRPr lang="en-US" altLang="zh-CN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endParaRPr lang="zh-CN" altLang="en-US" b="1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endParaRPr lang="zh-CN" altLang="en-US" b="1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5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algn="l">
              <a:defRPr/>
            </a:pPr>
            <a:r>
              <a:rPr lang="en-US" sz="1200" dirty="0" smtClean="0">
                <a:solidFill>
                  <a:schemeClr val="bg1"/>
                </a:solidFill>
              </a:rPr>
              <a:t>《</a:t>
            </a:r>
            <a:r>
              <a:rPr lang="en-US" altLang="zh-CN" sz="1200" dirty="0" smtClean="0">
                <a:solidFill>
                  <a:schemeClr val="bg1"/>
                </a:solidFill>
              </a:rPr>
              <a:t>Python</a:t>
            </a:r>
            <a:r>
              <a:rPr lang="zh-CN" altLang="en-US" sz="1200" dirty="0" smtClean="0">
                <a:solidFill>
                  <a:schemeClr val="bg1"/>
                </a:solidFill>
              </a:rPr>
              <a:t>程序设计</a:t>
            </a:r>
            <a:r>
              <a:rPr lang="en-US" sz="1200" dirty="0" smtClean="0">
                <a:solidFill>
                  <a:schemeClr val="bg1"/>
                </a:solidFill>
              </a:rPr>
              <a:t>》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6316" y="0"/>
            <a:ext cx="1084458" cy="1080120"/>
            <a:chOff x="-37861" y="1124744"/>
            <a:chExt cx="1084458" cy="1080120"/>
          </a:xfrm>
        </p:grpSpPr>
        <p:sp>
          <p:nvSpPr>
            <p:cNvPr id="9" name="椭圆 8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14302"/>
            <a:ext cx="9144000" cy="15121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gray">
          <a:xfrm>
            <a:off x="-36195" y="1916748"/>
            <a:ext cx="9144000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chemeClr val="bg1"/>
                </a:solidFill>
                <a:sym typeface="+mn-ea"/>
              </a:rPr>
              <a:t>Python程序设计</a:t>
            </a:r>
            <a:br>
              <a:rPr lang="zh-CN" altLang="en-US" sz="4400" dirty="0">
                <a:solidFill>
                  <a:schemeClr val="bg1"/>
                </a:solidFill>
              </a:rPr>
            </a:br>
            <a:r>
              <a:rPr lang="zh-CN" altLang="zh-CN" sz="4400" dirty="0">
                <a:solidFill>
                  <a:schemeClr val="bg1"/>
                </a:solidFill>
                <a:effectLst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effectLst/>
              </a:rPr>
              <a:t>Python Programming</a:t>
            </a:r>
            <a:endParaRPr lang="en-US" altLang="zh-CN" sz="3200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18438" name="图片 7" descr="saiip_logo_landscape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195" y="1052830"/>
            <a:ext cx="3643313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9" name="图片 5" descr="nwpu_logo+name.gi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067" y="1104171"/>
            <a:ext cx="1642423" cy="3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47495" y="3645535"/>
            <a:ext cx="6704330" cy="2794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defTabSz="678180">
              <a:lnSpc>
                <a:spcPct val="90000"/>
              </a:lnSpc>
              <a:defRPr/>
            </a:pPr>
            <a:r>
              <a:rPr lang="zh-CN" altLang="en-US" sz="3200" b="1" dirty="0">
                <a:latin typeface="Arial" panose="020B0604020202020204" pitchFamily="34" charset="0"/>
              </a:rPr>
              <a:t>主    讲：	邹晓春  电子信息学院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en-US" altLang="zh-CN" sz="3200" b="1" dirty="0">
              <a:latin typeface="Arial" panose="020B0604020202020204" pitchFamily="34" charset="0"/>
            </a:endParaRP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 dirty="0">
                <a:latin typeface="Arial" panose="020B0604020202020204" pitchFamily="34" charset="0"/>
              </a:rPr>
              <a:t>QQ  </a:t>
            </a:r>
            <a:r>
              <a:rPr lang="zh-CN" altLang="en-US" sz="3200" b="1" dirty="0">
                <a:latin typeface="Arial" panose="020B0604020202020204" pitchFamily="34" charset="0"/>
              </a:rPr>
              <a:t>群：   Python程序设计</a:t>
            </a:r>
            <a:r>
              <a:rPr lang="en-US" altLang="zh-CN" sz="3200" b="1" dirty="0">
                <a:latin typeface="Arial" panose="020B0604020202020204" pitchFamily="34" charset="0"/>
              </a:rPr>
              <a:t>                  </a:t>
            </a:r>
            <a:endParaRPr lang="en-US" altLang="zh-CN" sz="3200" b="1" dirty="0">
              <a:latin typeface="Arial" panose="020B0604020202020204" pitchFamily="34" charset="0"/>
            </a:endParaRP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 dirty="0">
                <a:latin typeface="Arial" panose="020B0604020202020204" pitchFamily="34" charset="0"/>
              </a:rPr>
              <a:t>                  760581125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74" y="1124270"/>
            <a:ext cx="488159" cy="4765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65907" y="1124905"/>
            <a:ext cx="358703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空天地海一体化大数据应用技术国家工程实验室</a:t>
            </a:r>
            <a:endParaRPr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Integrated Air-Space-Ground-Ocean Big Data Application Technology</a:t>
            </a:r>
            <a:endParaRPr lang="zh-CN" altLang="en-US" sz="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标题 5"/>
          <p:cNvSpPr txBox="1"/>
          <p:nvPr/>
        </p:nvSpPr>
        <p:spPr bwMode="auto">
          <a:xfrm>
            <a:off x="1307181" y="116632"/>
            <a:ext cx="626469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函数与模块</a:t>
            </a:r>
            <a:endParaRPr sz="36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21336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447800" y="304800"/>
            <a:ext cx="990600" cy="1600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2133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683147" y="686354"/>
            <a:ext cx="7065317" cy="914400"/>
          </a:xfrm>
        </p:spPr>
        <p:txBody>
          <a:bodyPr/>
          <a:lstStyle/>
          <a:p>
            <a:r>
              <a:rPr lang="en-US" altLang="zh-CN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《Python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5"/>
          <p:cNvSpPr txBox="1"/>
          <p:nvPr/>
        </p:nvSpPr>
        <p:spPr bwMode="auto">
          <a:xfrm>
            <a:off x="1669382" y="3421117"/>
            <a:ext cx="626469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36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6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函数与模块</a:t>
            </a:r>
            <a:endParaRPr sz="3600" kern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23528" y="404664"/>
            <a:ext cx="1579758" cy="1573439"/>
            <a:chOff x="-37861" y="1124744"/>
            <a:chExt cx="1084458" cy="1080120"/>
          </a:xfrm>
        </p:grpSpPr>
        <p:sp>
          <p:nvSpPr>
            <p:cNvPr id="17" name="椭圆 16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语言基础</a:t>
            </a:r>
            <a:endPara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24744"/>
            <a:ext cx="8425335" cy="5400600"/>
          </a:xfrm>
          <a:prstGeom prst="rect">
            <a:avLst/>
          </a:prstGeom>
        </p:spPr>
      </p:pic>
      <p:sp>
        <p:nvSpPr>
          <p:cNvPr id="4" name="标题 5"/>
          <p:cNvSpPr txBox="1"/>
          <p:nvPr/>
        </p:nvSpPr>
        <p:spPr bwMode="auto">
          <a:xfrm>
            <a:off x="1307181" y="116632"/>
            <a:ext cx="626469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函数与模块</a:t>
            </a:r>
            <a:endParaRPr sz="36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6"/>
          <p:cNvGrpSpPr/>
          <p:nvPr/>
        </p:nvGrpSpPr>
        <p:grpSpPr bwMode="auto">
          <a:xfrm>
            <a:off x="1469941" y="1412776"/>
            <a:ext cx="5410200" cy="665163"/>
            <a:chOff x="1248" y="1200"/>
            <a:chExt cx="3408" cy="419"/>
          </a:xfrm>
        </p:grpSpPr>
        <p:grpSp>
          <p:nvGrpSpPr>
            <p:cNvPr id="6" name="Group 8"/>
            <p:cNvGrpSpPr/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10" name="AutoShape 9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AutoShape 10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AutoShape 11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1866" y="1207"/>
              <a:ext cx="1329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8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Python函数</a:t>
              </a:r>
              <a:endPara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gray">
            <a:xfrm>
              <a:off x="1289" y="1262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rgbClr val="FFFFFF"/>
                  </a:solidFill>
                </a:rPr>
                <a:t>5.1</a:t>
              </a:r>
              <a:endParaRPr lang="en-US" altLang="zh-CN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37"/>
          <p:cNvGrpSpPr/>
          <p:nvPr/>
        </p:nvGrpSpPr>
        <p:grpSpPr bwMode="auto">
          <a:xfrm>
            <a:off x="1501860" y="2420888"/>
            <a:ext cx="5410200" cy="665163"/>
            <a:chOff x="1248" y="1776"/>
            <a:chExt cx="3408" cy="419"/>
          </a:xfrm>
        </p:grpSpPr>
        <p:grpSp>
          <p:nvGrpSpPr>
            <p:cNvPr id="14" name="Group 12"/>
            <p:cNvGrpSpPr/>
            <p:nvPr/>
          </p:nvGrpSpPr>
          <p:grpSpPr bwMode="auto">
            <a:xfrm>
              <a:off x="1248" y="1776"/>
              <a:ext cx="480" cy="419"/>
              <a:chOff x="3174" y="2656"/>
              <a:chExt cx="1549" cy="1351"/>
            </a:xfrm>
          </p:grpSpPr>
          <p:sp>
            <p:nvSpPr>
              <p:cNvPr id="18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1866" y="1824"/>
              <a:ext cx="246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buClrTx/>
                <a:buSzTx/>
              </a:pPr>
              <a:r>
                <a:rPr lang="zh-CN" altLang="en-US" sz="28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Python函数的参数传递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gray">
            <a:xfrm>
              <a:off x="1289" y="1838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rgbClr val="FFFFFF"/>
                  </a:solidFill>
                </a:rPr>
                <a:t>5.2</a:t>
              </a:r>
              <a:endParaRPr lang="en-US" altLang="zh-CN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1" name="Group 38"/>
          <p:cNvGrpSpPr/>
          <p:nvPr/>
        </p:nvGrpSpPr>
        <p:grpSpPr bwMode="auto">
          <a:xfrm>
            <a:off x="1514215" y="3429000"/>
            <a:ext cx="5410200" cy="747713"/>
            <a:chOff x="1248" y="2286"/>
            <a:chExt cx="3408" cy="471"/>
          </a:xfrm>
        </p:grpSpPr>
        <p:grpSp>
          <p:nvGrpSpPr>
            <p:cNvPr id="22" name="Group 22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26" name="AutoShape 2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utoShape 2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AutoShape 2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31"/>
            <p:cNvSpPr txBox="1">
              <a:spLocks noChangeArrowheads="1"/>
            </p:cNvSpPr>
            <p:nvPr/>
          </p:nvSpPr>
          <p:spPr bwMode="auto">
            <a:xfrm>
              <a:off x="1866" y="2286"/>
              <a:ext cx="2762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buClrTx/>
                <a:buSzTx/>
              </a:pPr>
              <a:r>
                <a:rPr lang="zh-CN" altLang="en-US" sz="28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Python变量的作用域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32"/>
            <p:cNvSpPr txBox="1">
              <a:spLocks noChangeArrowheads="1"/>
            </p:cNvSpPr>
            <p:nvPr/>
          </p:nvSpPr>
          <p:spPr bwMode="gray">
            <a:xfrm>
              <a:off x="1289" y="2400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rgbClr val="FFFFFF"/>
                  </a:solidFill>
                </a:rPr>
                <a:t>5.3</a:t>
              </a:r>
              <a:endParaRPr lang="en-US" altLang="zh-CN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9" name="Group 38"/>
          <p:cNvGrpSpPr/>
          <p:nvPr/>
        </p:nvGrpSpPr>
        <p:grpSpPr bwMode="auto">
          <a:xfrm>
            <a:off x="1534920" y="4437112"/>
            <a:ext cx="5410200" cy="747713"/>
            <a:chOff x="1248" y="2286"/>
            <a:chExt cx="3408" cy="471"/>
          </a:xfrm>
        </p:grpSpPr>
        <p:grpSp>
          <p:nvGrpSpPr>
            <p:cNvPr id="30" name="Group 22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34" name="AutoShape 2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AutoShape 2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AutoShape 2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1866" y="2286"/>
              <a:ext cx="2762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buClrTx/>
                <a:buSzTx/>
              </a:pPr>
              <a:r>
                <a:rPr lang="zh-CN" altLang="en-US" sz="28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Python模块与包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gray">
            <a:xfrm>
              <a:off x="1289" y="2400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rgbClr val="FFFFFF"/>
                  </a:solidFill>
                </a:rPr>
                <a:t>5.4</a:t>
              </a:r>
              <a:endParaRPr lang="en-US" altLang="zh-CN" sz="2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37" name="标题 5"/>
          <p:cNvSpPr txBox="1"/>
          <p:nvPr/>
        </p:nvSpPr>
        <p:spPr bwMode="auto">
          <a:xfrm>
            <a:off x="1307181" y="116632"/>
            <a:ext cx="626469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函数与模块</a:t>
            </a:r>
            <a:endParaRPr sz="36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1806129" y="2852018"/>
            <a:ext cx="7092950" cy="20891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程序结构清晰，可读性好。</a:t>
            </a:r>
            <a:endParaRPr kumimoji="1"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减少重复编码的工作量。</a:t>
            </a:r>
            <a:endParaRPr kumimoji="1"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可多人共同编制一个大程序，缩短程序设计周期，提高程序设计和调试的效率。</a:t>
            </a:r>
            <a:endParaRPr kumimoji="1"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4"/>
          <p:cNvSpPr>
            <a:spLocks noChangeArrowheads="1"/>
          </p:cNvSpPr>
          <p:nvPr/>
        </p:nvSpPr>
        <p:spPr bwMode="auto">
          <a:xfrm>
            <a:off x="107504" y="3013943"/>
            <a:ext cx="1008063" cy="1800225"/>
          </a:xfrm>
          <a:prstGeom prst="wedgeRectCallout">
            <a:avLst>
              <a:gd name="adj1" fmla="val 112361"/>
              <a:gd name="adj2" fmla="val -3853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使用函数的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kumimoji="1" lang="zh-CN" altLang="en-US" sz="28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</a:t>
            </a:r>
            <a:endParaRPr kumimoji="1" lang="zh-CN" altLang="en-US" sz="280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5.1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1538789"/>
            <a:ext cx="85325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函数是一组实现某一特定功能的语句集合，是可以重复调用、功能相对独立完整的程序段</a:t>
            </a: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 animBg="1" build="p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2" name="Rectangle 6"/>
          <p:cNvSpPr>
            <a:spLocks noChangeArrowheads="1"/>
          </p:cNvSpPr>
          <p:nvPr/>
        </p:nvSpPr>
        <p:spPr bwMode="auto">
          <a:xfrm>
            <a:off x="1187624" y="116632"/>
            <a:ext cx="8748713" cy="9636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defRPr kumimoji="1" sz="3200">
                <a:solidFill>
                  <a:srgbClr val="FF3B7C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数的定义与调用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定义一般形式：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95536" y="1268760"/>
            <a:ext cx="6172200" cy="1905000"/>
          </a:xfrm>
          <a:prstGeom prst="rect">
            <a:avLst/>
          </a:prstGeom>
          <a:solidFill>
            <a:schemeClr val="bg1"/>
          </a:solidFill>
          <a:ln w="28575" cap="sq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lvl="1" eaLnBrk="1" hangingPunct="1">
              <a:spcBef>
                <a:spcPct val="3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def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函数名（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形式参数表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eaLnBrk="1" hangingPunct="1">
              <a:spcBef>
                <a:spcPct val="30000"/>
              </a:spcBef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  函数体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eaLnBrk="1" hangingPunct="1">
              <a:spcBef>
                <a:spcPct val="30000"/>
              </a:spcBef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[return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defRPr/>
            </a:pPr>
            <a:endParaRPr kumimoji="1" lang="zh-CN" altLang="en-US" sz="2800" dirty="0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17252" y="3429000"/>
            <a:ext cx="8926513" cy="2590800"/>
          </a:xfrm>
          <a:prstGeom prst="rect">
            <a:avLst/>
          </a:prstGeom>
          <a:solidFill>
            <a:srgbClr val="FFFFCC"/>
          </a:solidFill>
          <a:ln w="38100" algn="ctr">
            <a:solidFill>
              <a:srgbClr val="FF9900"/>
            </a:solidFill>
            <a:miter lim="800000"/>
          </a:ln>
        </p:spPr>
        <p:txBody>
          <a:bodyPr wrap="none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kumimoji="1" lang="en-US" altLang="zh-CN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关键字定义函数，不需要指定返回值的类型；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函数的参数不限，不需要指定参数类型；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参数括号后面的冒号“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:”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必不可少；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函数体相对于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关键字必须保持一定的空格缩进；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语句是可选的；</a:t>
            </a:r>
            <a:endParaRPr kumimoji="1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kumimoji="1" lang="zh-CN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定义函数体为空的函数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34"/>
          <p:cNvSpPr>
            <a:spLocks noChangeArrowheads="1"/>
          </p:cNvSpPr>
          <p:nvPr/>
        </p:nvSpPr>
        <p:spPr bwMode="auto">
          <a:xfrm>
            <a:off x="7740352" y="1556792"/>
            <a:ext cx="1008063" cy="1800225"/>
          </a:xfrm>
          <a:prstGeom prst="wedgeRectCallout">
            <a:avLst>
              <a:gd name="adj1" fmla="val -92926"/>
              <a:gd name="adj2" fmla="val 5413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函数定义时要注意</a:t>
            </a:r>
            <a:endParaRPr kumimoji="1"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4022" grpId="0" build="p"/>
      <p:bldP spid="9" grpId="0" animBg="1"/>
      <p:bldP spid="19" grpId="0" animBg="1" build="p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4200" y="1095375"/>
            <a:ext cx="8283575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kumimoji="1"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  <a:endParaRPr kumimoji="1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函数名（</a:t>
            </a:r>
            <a:r>
              <a:rPr kumimoji="1"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实际参数表</a:t>
            </a:r>
            <a:r>
              <a:rPr kumimoji="1"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2"/>
          <p:cNvSpPr>
            <a:spLocks noChangeArrowheads="1"/>
          </p:cNvSpPr>
          <p:nvPr/>
        </p:nvSpPr>
        <p:spPr bwMode="auto">
          <a:xfrm>
            <a:off x="304800" y="2514600"/>
            <a:ext cx="8570913" cy="3543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</p:spPr>
        <p:txBody>
          <a:bodyPr/>
          <a:lstStyle/>
          <a:p>
            <a:pPr marL="609600" indent="-609600" algn="just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kumimoji="1" lang="zh-CN" altLang="en-US" sz="28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 algn="just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kumimoji="1" lang="zh-CN" altLang="en-US" sz="28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可以是常量、变量、表达式、函数等，但在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 algn="just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进行函数调用时必须</a:t>
            </a:r>
            <a:r>
              <a:rPr kumimoji="1" lang="zh-CN" altLang="en-US" sz="28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有确定的值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 algn="just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函数的实参和形参应在</a:t>
            </a:r>
            <a:r>
              <a:rPr kumimoji="1" lang="zh-CN" altLang="en-US" sz="28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个数、类型和顺序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上        一 一对应。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 algn="just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对于无参函数，调用时实参表列为空，但</a:t>
            </a:r>
            <a:r>
              <a:rPr kumimoji="1" lang="en-US" altLang="zh-CN" sz="28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不能省。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5.1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402431"/>
            <a:ext cx="8343900" cy="722313"/>
          </a:xfrm>
        </p:spPr>
        <p:txBody>
          <a:bodyPr/>
          <a:lstStyle/>
          <a:p>
            <a:pPr marL="114300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例：编写函数，求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个数中的最大值。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609600" y="1179513"/>
            <a:ext cx="5257800" cy="5262562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def getMax(a,b,c):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if a&gt;b: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     max=a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else: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     max =b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 smtClean="0">
                <a:latin typeface="Times New Roman" panose="02020603050405020304" pitchFamily="18" charset="0"/>
                <a:ea typeface="楷体_GB2312" pitchFamily="49" charset="-122"/>
              </a:rPr>
              <a:t>if(c&gt;max):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     max =c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return max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a,b,c=eval(input("input a,b,c:"))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n= getMax (a,b,c)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print("max=",n)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爆炸形: 14 pt  3"/>
          <p:cNvSpPr>
            <a:spLocks noChangeArrowheads="1"/>
          </p:cNvSpPr>
          <p:nvPr/>
        </p:nvSpPr>
        <p:spPr bwMode="auto">
          <a:xfrm>
            <a:off x="4038600" y="1179513"/>
            <a:ext cx="4705350" cy="3697287"/>
          </a:xfrm>
          <a:prstGeom prst="irregularSeal2">
            <a:avLst/>
          </a:prstGeom>
          <a:solidFill>
            <a:srgbClr val="FFCC00"/>
          </a:solidFill>
          <a:ln w="9525" cap="sq" algn="ctr">
            <a:solidFill>
              <a:schemeClr val="tx1"/>
            </a:solidFill>
            <a:round/>
          </a:ln>
        </p:spPr>
        <p:txBody>
          <a:bodyPr/>
          <a:lstStyle/>
          <a:p>
            <a:pPr eaLnBrk="1" hangingPunct="1"/>
            <a:r>
              <a:rPr lang="zh-CN" altLang="zh-CN" sz="2200" b="1"/>
              <a:t>在</a:t>
            </a:r>
            <a:r>
              <a:rPr lang="en-US" altLang="zh-CN" sz="2200" b="1"/>
              <a:t>Python</a:t>
            </a:r>
            <a:r>
              <a:rPr lang="zh-CN" altLang="zh-CN" sz="2200" b="1"/>
              <a:t>中不允许前向引用，即在函数定义之前，不允许调用该函数。</a:t>
            </a:r>
            <a:endParaRPr lang="zh-CN" altLang="zh-CN" sz="2200" b="1"/>
          </a:p>
          <a:p>
            <a:pPr eaLnBrk="1" hangingPunct="1"/>
            <a:endParaRPr kumimoji="1" lang="zh-CN" altLang="en-US" sz="2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9138" grpId="0" build="p"/>
      <p:bldP spid="219146" grpId="0" animBg="1" autoUpdateAnimBg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1" name="Rectangle 21"/>
          <p:cNvSpPr>
            <a:spLocks noChangeArrowheads="1"/>
          </p:cNvSpPr>
          <p:nvPr/>
        </p:nvSpPr>
        <p:spPr bwMode="auto">
          <a:xfrm>
            <a:off x="73025" y="1124744"/>
            <a:ext cx="9070975" cy="17414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defRPr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函数的参数和函数的返回值</a:t>
            </a: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0"/>
              </a:spcBef>
              <a:buClr>
                <a:srgbClr val="6699FF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形式参数：定义函数时函数名后面括号中的变量名</a:t>
            </a:r>
            <a:endParaRPr kumimoji="1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0"/>
              </a:spcBef>
              <a:buClr>
                <a:srgbClr val="6699FF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实际参数：调用函数时函数名后面括号中对应的参数</a:t>
            </a:r>
            <a:endParaRPr kumimoji="1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75" name="Rectangle 35"/>
          <p:cNvSpPr>
            <a:spLocks noChangeArrowheads="1"/>
          </p:cNvSpPr>
          <p:nvPr/>
        </p:nvSpPr>
        <p:spPr bwMode="auto">
          <a:xfrm>
            <a:off x="73025" y="2987675"/>
            <a:ext cx="9070975" cy="36417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</p:spPr>
        <p:txBody>
          <a:bodyPr/>
          <a:lstStyle/>
          <a:p>
            <a:pPr marL="342900" indent="-342900" algn="just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kumimoji="1"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 eaLnBrk="1" hangingPunct="1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实参可以是常量、变量和表达式，但必须在函数</a:t>
            </a:r>
            <a:endParaRPr kumimoji="1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 eaLnBrk="1" hangingPunct="1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None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调用之间有确定的值。</a:t>
            </a:r>
            <a:endParaRPr kumimoji="1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 eaLnBrk="1" hangingPunct="1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形参与实参</a:t>
            </a:r>
            <a:r>
              <a:rPr kumimoji="1" lang="zh-CN" altLang="en-US" sz="2800" dirty="0">
                <a:solidFill>
                  <a:srgbClr val="373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个数相同</a:t>
            </a:r>
            <a:endParaRPr kumimoji="1" lang="zh-CN" altLang="en-US" sz="2800" dirty="0">
              <a:solidFill>
                <a:srgbClr val="373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 eaLnBrk="1" hangingPunct="1">
              <a:lnSpc>
                <a:spcPct val="115000"/>
              </a:lnSpc>
              <a:spcBef>
                <a:spcPct val="25000"/>
              </a:spcBef>
              <a:buClr>
                <a:srgbClr val="6699FF"/>
              </a:buClr>
              <a:buFont typeface="Wingdings" panose="05000000000000000000" pitchFamily="2" charset="2"/>
              <a:buChar char="«"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kumimoji="1" lang="zh-CN" altLang="en-US" sz="28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定义时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编译系统并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为其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无初值；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只有在函数</a:t>
            </a:r>
            <a:r>
              <a:rPr kumimoji="1" lang="zh-CN" altLang="en-US" sz="28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调用时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临时分配存储空间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，接受来自实参的值；函数</a:t>
            </a:r>
            <a:r>
              <a:rPr kumimoji="1" lang="zh-CN" altLang="en-US" sz="28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调用结束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8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内存空间释放。</a:t>
            </a:r>
            <a:endParaRPr kumimoji="1" lang="zh-CN" altLang="en-US" sz="2800" dirty="0">
              <a:solidFill>
                <a:srgbClr val="FF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72000" y="1124744"/>
            <a:ext cx="4491037" cy="3281363"/>
          </a:xfrm>
          <a:prstGeom prst="rect">
            <a:avLst/>
          </a:prstGeom>
          <a:solidFill>
            <a:srgbClr val="E7FFFF"/>
          </a:solidFill>
          <a:ln w="38100" cap="sq">
            <a:solidFill>
              <a:srgbClr val="00CCFF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6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def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average(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x,y,z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):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aver=(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x+y+z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)/3;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return(aver)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eval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(input("please input a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c:"))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=average(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  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print("average=%f"%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5061" grpId="0" bldLvl="3" autoUpdateAnimBg="0" build="p"/>
      <p:bldP spid="215075" grpId="0" animBg="1" build="p"/>
      <p:bldP spid="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0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33375" y="1124744"/>
            <a:ext cx="8501063" cy="309634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的值传递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实参和形参之间是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单向的值传递。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在函数调用时，将各实参表达式的值计算出来，赋给形参变量。因此，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实参与形参必须类型相同或赋值兼容，个数相等，一一对应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。在函数调用中，即使实参为变量，形参值的改变也不会改变实参变量的值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FF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990600" y="4201269"/>
            <a:ext cx="6351588" cy="523875"/>
          </a:xfrm>
          <a:prstGeom prst="rect">
            <a:avLst/>
          </a:prstGeom>
          <a:solidFill>
            <a:srgbClr val="FFFFCC"/>
          </a:solidFill>
          <a:ln w="38100">
            <a:solidFill>
              <a:srgbClr val="FF9900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实参和形参占用不同的内存单元</a:t>
            </a:r>
            <a:endParaRPr kumimoji="1" lang="zh-CN" altLang="en-US" sz="2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2400" y="4800600"/>
            <a:ext cx="8686800" cy="16435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传地址方式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函数调用时，将实参数据的存储地址作为参数传递给形参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6070" grpId="0" bldLvl="5" autoUpdateAnimBg="0" build="p"/>
      <p:bldP spid="216072" grpId="0" animBg="1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1047750" y="2051149"/>
            <a:ext cx="4895850" cy="3638550"/>
          </a:xfrm>
          <a:prstGeom prst="rect">
            <a:avLst/>
          </a:prstGeom>
          <a:solidFill>
            <a:schemeClr val="bg1"/>
          </a:solidFill>
          <a:ln w="38100">
            <a:solidFill>
              <a:srgbClr val="333399"/>
            </a:solidFill>
            <a:miter lim="800000"/>
          </a:ln>
        </p:spPr>
        <p:txBody>
          <a:bodyPr anchor="ctr">
            <a:spAutoFit/>
          </a:bodyPr>
          <a:lstStyle/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def swap(a, b):</a:t>
            </a: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     </a:t>
            </a:r>
            <a:r>
              <a:rPr kumimoji="1" lang="es-ES" altLang="zh-CN" sz="2800" b="1" smtClean="0">
                <a:latin typeface="Times New Roman" panose="02020603050405020304" pitchFamily="18" charset="0"/>
              </a:rPr>
              <a:t>a,b=b,a</a:t>
            </a: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     print("a=",a,"b=",b)</a:t>
            </a: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x,y=eval(input("input x,y:"))</a:t>
            </a: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swap(x,  y)</a:t>
            </a:r>
            <a:endParaRPr kumimoji="1" lang="es-ES" altLang="zh-CN" sz="2800" b="1">
              <a:latin typeface="Times New Roman" panose="02020603050405020304" pitchFamily="18" charset="0"/>
            </a:endParaRPr>
          </a:p>
          <a:p>
            <a:pPr indent="279400" eaLnBrk="1" hangingPunct="1">
              <a:lnSpc>
                <a:spcPts val="4000"/>
              </a:lnSpc>
            </a:pPr>
            <a:r>
              <a:rPr kumimoji="1" lang="es-ES" altLang="zh-CN" sz="2800" b="1">
                <a:latin typeface="Times New Roman" panose="02020603050405020304" pitchFamily="18" charset="0"/>
              </a:rPr>
              <a:t>print("x=",x,"y=",y)</a:t>
            </a:r>
            <a:endParaRPr kumimoji="1" lang="es-E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337925" name="AutoShape 5"/>
          <p:cNvSpPr>
            <a:spLocks noChangeArrowheads="1"/>
          </p:cNvSpPr>
          <p:nvPr/>
        </p:nvSpPr>
        <p:spPr bwMode="auto">
          <a:xfrm rot="-4585083">
            <a:off x="1528763" y="3608487"/>
            <a:ext cx="2216150" cy="1333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6600"/>
          </a:solidFill>
          <a:ln w="9525">
            <a:solidFill>
              <a:schemeClr val="tx1"/>
            </a:solidFill>
            <a:miter lim="800000"/>
          </a:ln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5997575" y="4913412"/>
            <a:ext cx="3095625" cy="1709737"/>
          </a:xfrm>
          <a:prstGeom prst="rect">
            <a:avLst/>
          </a:prstGeom>
          <a:solidFill>
            <a:srgbClr val="FFFF99">
              <a:alpha val="50195"/>
            </a:srgbClr>
          </a:solidFill>
          <a:ln w="25400" algn="ctr">
            <a:solidFill>
              <a:srgbClr val="FF9900"/>
            </a:solidFill>
            <a:miter lim="800000"/>
          </a:ln>
        </p:spPr>
        <p:txBody>
          <a:bodyPr/>
          <a:lstStyle/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运行结果：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es-E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input x,y:3,5</a:t>
            </a:r>
            <a:endParaRPr kumimoji="1" lang="es-E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es-E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a= 5 b= 3</a:t>
            </a:r>
            <a:endParaRPr kumimoji="1" lang="es-E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es-E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x= 3 y= 5</a:t>
            </a:r>
            <a:endParaRPr kumimoji="1" lang="es-E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5600700" y="2462312"/>
            <a:ext cx="3095625" cy="52863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形式参数（形参）</a:t>
            </a:r>
            <a:endParaRPr kumimoji="1"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342" name="Group 10"/>
          <p:cNvGrpSpPr/>
          <p:nvPr/>
        </p:nvGrpSpPr>
        <p:grpSpPr bwMode="auto">
          <a:xfrm>
            <a:off x="3152775" y="2606774"/>
            <a:ext cx="2447925" cy="144463"/>
            <a:chOff x="2835" y="2251"/>
            <a:chExt cx="952" cy="90"/>
          </a:xfrm>
        </p:grpSpPr>
        <p:sp>
          <p:nvSpPr>
            <p:cNvPr id="14352" name="Line 11"/>
            <p:cNvSpPr>
              <a:spLocks noChangeShapeType="1"/>
            </p:cNvSpPr>
            <p:nvPr/>
          </p:nvSpPr>
          <p:spPr bwMode="auto">
            <a:xfrm>
              <a:off x="2835" y="2251"/>
              <a:ext cx="0" cy="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3" name="Line 12"/>
            <p:cNvSpPr>
              <a:spLocks noChangeShapeType="1"/>
            </p:cNvSpPr>
            <p:nvPr/>
          </p:nvSpPr>
          <p:spPr bwMode="auto">
            <a:xfrm>
              <a:off x="2835" y="2341"/>
              <a:ext cx="9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343" name="Line 13"/>
          <p:cNvSpPr>
            <a:spLocks noChangeShapeType="1"/>
          </p:cNvSpPr>
          <p:nvPr/>
        </p:nvSpPr>
        <p:spPr bwMode="auto">
          <a:xfrm>
            <a:off x="2647950" y="2606774"/>
            <a:ext cx="936625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4" name="Rectangle 14"/>
          <p:cNvSpPr>
            <a:spLocks noChangeArrowheads="1"/>
          </p:cNvSpPr>
          <p:nvPr/>
        </p:nvSpPr>
        <p:spPr bwMode="auto">
          <a:xfrm>
            <a:off x="5600700" y="3687862"/>
            <a:ext cx="3168650" cy="52863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2484755" indent="-2484755" eaLnBrk="1" hangingPunct="1"/>
            <a:r>
              <a:rPr lang="zh-CN" altLang="en-US" sz="2800" b="1">
                <a:solidFill>
                  <a:srgbClr val="FF0066"/>
                </a:solidFill>
                <a:latin typeface="宋体" panose="02010600030101010101" pitchFamily="2" charset="-122"/>
                <a:ea typeface="楷体_GB2312" pitchFamily="49" charset="-122"/>
              </a:rPr>
              <a:t>实际参数（实参）</a:t>
            </a:r>
            <a:endParaRPr lang="zh-CN" altLang="en-US" sz="2800" b="1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14345" name="Rectangle 15"/>
          <p:cNvSpPr>
            <a:spLocks noChangeArrowheads="1"/>
          </p:cNvSpPr>
          <p:nvPr/>
        </p:nvSpPr>
        <p:spPr bwMode="auto">
          <a:xfrm>
            <a:off x="236536" y="1104999"/>
            <a:ext cx="8727951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例：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编一程序，将主函数中的两个变量的值传递给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swap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函数中的两个形参，交换两个形参的值。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346" name="Group 16"/>
          <p:cNvGrpSpPr/>
          <p:nvPr/>
        </p:nvGrpSpPr>
        <p:grpSpPr bwMode="auto">
          <a:xfrm>
            <a:off x="1927225" y="4046637"/>
            <a:ext cx="3673475" cy="1079500"/>
            <a:chOff x="1292" y="2795"/>
            <a:chExt cx="2314" cy="680"/>
          </a:xfrm>
        </p:grpSpPr>
        <p:sp>
          <p:nvSpPr>
            <p:cNvPr id="14349" name="Line 17"/>
            <p:cNvSpPr>
              <a:spLocks noChangeShapeType="1"/>
            </p:cNvSpPr>
            <p:nvPr/>
          </p:nvSpPr>
          <p:spPr bwMode="auto">
            <a:xfrm>
              <a:off x="1292" y="3475"/>
              <a:ext cx="14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0" name="Line 18"/>
            <p:cNvSpPr>
              <a:spLocks noChangeShapeType="1"/>
            </p:cNvSpPr>
            <p:nvPr/>
          </p:nvSpPr>
          <p:spPr bwMode="auto">
            <a:xfrm>
              <a:off x="2789" y="2795"/>
              <a:ext cx="0" cy="68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1" name="Line 19"/>
            <p:cNvSpPr>
              <a:spLocks noChangeShapeType="1"/>
            </p:cNvSpPr>
            <p:nvPr/>
          </p:nvSpPr>
          <p:spPr bwMode="auto">
            <a:xfrm>
              <a:off x="2789" y="2795"/>
              <a:ext cx="81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7940" name="AutoShape 20"/>
          <p:cNvSpPr>
            <a:spLocks noChangeArrowheads="1"/>
          </p:cNvSpPr>
          <p:nvPr/>
        </p:nvSpPr>
        <p:spPr bwMode="auto">
          <a:xfrm rot="-4808633">
            <a:off x="2025650" y="3559274"/>
            <a:ext cx="2133600" cy="1841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337941" name="AutoShape 21"/>
          <p:cNvSpPr>
            <a:spLocks noChangeArrowheads="1"/>
          </p:cNvSpPr>
          <p:nvPr/>
        </p:nvSpPr>
        <p:spPr bwMode="auto">
          <a:xfrm>
            <a:off x="3152775" y="3470374"/>
            <a:ext cx="3095625" cy="1728788"/>
          </a:xfrm>
          <a:prstGeom prst="irregularSeal1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1" hangingPunct="1"/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单向值传递</a:t>
            </a:r>
            <a:endParaRPr kumimoji="1"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37925" grpId="0" animBg="1"/>
      <p:bldP spid="337925" grpId="1" animBg="1"/>
      <p:bldP spid="337928" grpId="0" animBg="1"/>
      <p:bldP spid="337940" grpId="0" animBg="1"/>
      <p:bldP spid="337940" grpId="1" animBg="1"/>
      <p:bldP spid="337941" grpId="0" animBg="1"/>
      <p:bldP spid="33794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324048" y="1556792"/>
            <a:ext cx="8280400" cy="3638550"/>
          </a:xfrm>
          <a:prstGeom prst="rect">
            <a:avLst/>
          </a:prstGeom>
          <a:solidFill>
            <a:schemeClr val="bg1"/>
          </a:solidFill>
          <a:ln w="38100">
            <a:solidFill>
              <a:srgbClr val="333399"/>
            </a:solidFill>
            <a:miter lim="800000"/>
          </a:ln>
          <a:effectLst/>
        </p:spPr>
        <p:txBody>
          <a:bodyPr anchor="ctr">
            <a:spAutoFit/>
          </a:bodyPr>
          <a:lstStyle>
            <a:lvl1pPr indent="2794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def swap(</a:t>
            </a:r>
            <a:r>
              <a:rPr kumimoji="1" lang="en-US" altLang="zh-CN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):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[1]=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print("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[0]=",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[0],"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[1]=",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[1])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=[3,5]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swap(</a:t>
            </a:r>
            <a:r>
              <a:rPr kumimoji="1" lang="en-US" altLang="zh-CN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print("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[0]=",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[0],"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[1]=",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x_list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[1])</a:t>
            </a:r>
            <a:endParaRPr kumimoji="1"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4067944" y="5268614"/>
            <a:ext cx="4826000" cy="1328738"/>
          </a:xfrm>
          <a:prstGeom prst="rect">
            <a:avLst/>
          </a:prstGeom>
          <a:solidFill>
            <a:srgbClr val="FFFF99">
              <a:alpha val="50195"/>
            </a:srgbClr>
          </a:solidFill>
          <a:ln w="25400" algn="ctr">
            <a:solidFill>
              <a:srgbClr val="FF9900"/>
            </a:solidFill>
            <a:miter lim="800000"/>
          </a:ln>
        </p:spPr>
        <p:txBody>
          <a:bodyPr/>
          <a:lstStyle/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运行结果：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a_list[0]= 5 a_list[1]= 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12700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x_list[0]= 5 x_list[1]= 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364" name="Rectangle 15"/>
          <p:cNvSpPr>
            <a:spLocks noChangeArrowheads="1"/>
          </p:cNvSpPr>
          <p:nvPr/>
        </p:nvSpPr>
        <p:spPr bwMode="auto">
          <a:xfrm>
            <a:off x="107504" y="1034505"/>
            <a:ext cx="8280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传地址方式。</a:t>
            </a: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2530" grpId="0" animBg="1"/>
      <p:bldP spid="3379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4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47985" y="1052736"/>
            <a:ext cx="8928100" cy="3052192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函数的返回值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 smtClean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指函数被调用、执行完后，返回给主调函数的值。</a:t>
            </a:r>
            <a:endParaRPr lang="zh-CN" altLang="en-US" sz="2800" dirty="0" smtClean="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函数的返回语句</a:t>
            </a:r>
            <a:endParaRPr lang="zh-CN" altLang="en-US" sz="2800" dirty="0" smtClean="0">
              <a:solidFill>
                <a:srgbClr val="FF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一般形式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smtClean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 </a:t>
            </a:r>
            <a:r>
              <a:rPr lang="zh-CN" altLang="en-US" dirty="0" smtClean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en-US" dirty="0" smtClean="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使程序控制从被调用函数返回到调用函数中，同时把返回值带给调用函数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612035" y="1103135"/>
            <a:ext cx="4491037" cy="2400657"/>
          </a:xfrm>
          <a:prstGeom prst="rect">
            <a:avLst/>
          </a:prstGeom>
          <a:solidFill>
            <a:srgbClr val="E7FFFF"/>
          </a:solidFill>
          <a:ln w="38100" cap="sq">
            <a:solidFill>
              <a:srgbClr val="00CCFF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6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def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add(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):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c=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a+b</a:t>
            </a:r>
            <a:endParaRPr kumimoji="1" lang="en-US" altLang="zh-CN" sz="24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endParaRPr kumimoji="1" lang="en-US" altLang="zh-CN" sz="24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x=add(3,20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print(x)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251520" y="4184650"/>
            <a:ext cx="8721030" cy="2340694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</p:spPr>
        <p:txBody>
          <a:bodyPr/>
          <a:lstStyle/>
          <a:p>
            <a:pPr marL="342900" indent="-342900" algn="just" eaLnBrk="1" hangingPunct="1">
              <a:spcBef>
                <a:spcPts val="600"/>
              </a:spcBef>
              <a:buClr>
                <a:srgbClr val="0000FF"/>
              </a:buClr>
            </a:pPr>
            <a:r>
              <a:rPr kumimoji="1" lang="zh-CN" altLang="en-US" sz="2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kumimoji="1" lang="zh-CN" altLang="en-US" sz="28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ts val="6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kumimoji="1" lang="zh-CN" altLang="en-US" sz="2800">
                <a:solidFill>
                  <a:srgbClr val="FF3B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函数内可有</a:t>
            </a:r>
            <a:r>
              <a:rPr kumimoji="1" lang="zh-CN" altLang="en-US" sz="2800" u="sng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多条返回语句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ts val="6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如果没有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语句，会自动返回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；如果有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语句，但是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后面没有表达式也返回</a:t>
            </a:r>
            <a:r>
              <a:rPr kumimoji="1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>
              <a:solidFill>
                <a:srgbClr val="FF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7094" grpId="0" bldLvl="5" autoUpdateAnimBg="0" build="p"/>
      <p:bldP spid="4" grpId="0" animBg="1" autoUpdateAnimBg="0"/>
      <p:bldP spid="5" grpId="0" animBg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196752"/>
            <a:ext cx="8343900" cy="722313"/>
          </a:xfrm>
        </p:spPr>
        <p:txBody>
          <a:bodyPr/>
          <a:lstStyle/>
          <a:p>
            <a:pPr marL="114300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例：编写函数，判断一个数是否是素数。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3707904" y="1988840"/>
            <a:ext cx="5256584" cy="3970318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  <a:effectLst/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kumimoji="1"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m=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(input("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请输入一个整数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:"))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flag=</a:t>
            </a:r>
            <a:r>
              <a:rPr kumimoji="1"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isprime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(m)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if(flag==1):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    print("%d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是素数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"%m)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else: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    print("%d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不是素数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"%m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)</a:t>
            </a:r>
            <a:endParaRPr kumimoji="1" lang="en-US" altLang="zh-CN" sz="2800" dirty="0" smtClean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07504" y="1986260"/>
            <a:ext cx="3456384" cy="3970318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  <a:effectLst/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endParaRPr kumimoji="1" lang="en-US" altLang="zh-CN" sz="28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def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isprime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(n):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for 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in range(2,n):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     if(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n%i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==0):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         return 0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return 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1</a:t>
            </a:r>
            <a:endParaRPr kumimoji="1" lang="en-US" altLang="zh-CN" sz="2800" dirty="0" smtClean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 smtClean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9138" grpId="0" build="p"/>
      <p:bldP spid="219146" grpId="0" animBg="1" autoUpdateAnimBg="0"/>
      <p:bldP spid="4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504" y="1124744"/>
            <a:ext cx="9418638" cy="722313"/>
          </a:xfrm>
        </p:spPr>
        <p:txBody>
          <a:bodyPr/>
          <a:lstStyle/>
          <a:p>
            <a:pPr marL="114300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求一个数列中的最大值和最小值。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251520" y="1700808"/>
            <a:ext cx="4464496" cy="4893647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def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getMaxMin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( x ):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max = x[0]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min = x[0]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for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in range( 0,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len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(x)):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    if max&lt;x[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]:                                                                                                                                                              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        max = x[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    if min&gt;x[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]: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        min = x[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   return (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max,min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6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4788025" y="1700808"/>
            <a:ext cx="4176464" cy="4893647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en-US" sz="2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实参是列表</a:t>
            </a:r>
            <a:endParaRPr kumimoji="1" lang="en-US" altLang="zh-CN" sz="2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600" b="1" dirty="0" err="1" smtClean="0">
                <a:latin typeface="Times New Roman" panose="02020603050405020304" pitchFamily="18" charset="0"/>
                <a:ea typeface="楷体_GB2312" pitchFamily="49" charset="-122"/>
              </a:rPr>
              <a:t>a_list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 [-1,28,-15,5, 10 ]</a:t>
            </a:r>
            <a:endParaRPr kumimoji="1" lang="zh-CN" altLang="en-US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x,y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getMaxMin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a_list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print( "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a_list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=",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a_list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print( "</a:t>
            </a:r>
            <a:r>
              <a:rPr kumimoji="1" lang="zh-CN" altLang="en-US" sz="2600" b="1" dirty="0">
                <a:latin typeface="Times New Roman" panose="02020603050405020304" pitchFamily="18" charset="0"/>
                <a:ea typeface="楷体_GB2312" pitchFamily="49" charset="-122"/>
              </a:rPr>
              <a:t>最大元素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=",x, "</a:t>
            </a:r>
            <a:r>
              <a:rPr kumimoji="1" lang="zh-CN" altLang="en-US" sz="2600" b="1" dirty="0">
                <a:latin typeface="Times New Roman" panose="02020603050405020304" pitchFamily="18" charset="0"/>
                <a:ea typeface="楷体_GB2312" pitchFamily="49" charset="-122"/>
              </a:rPr>
              <a:t>最小元素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=", y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6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实参是字符串</a:t>
            </a:r>
            <a:endParaRPr kumimoji="1" lang="en-US" altLang="zh-CN" sz="2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600" b="1" dirty="0" smtClean="0">
                <a:latin typeface="Times New Roman" panose="02020603050405020304" pitchFamily="18" charset="0"/>
                <a:ea typeface="楷体_GB2312" pitchFamily="49" charset="-122"/>
              </a:rPr>
              <a:t>string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 "Hello"                </a:t>
            </a:r>
            <a:endParaRPr kumimoji="1" lang="zh-CN" altLang="en-US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x,y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600" b="1" dirty="0" err="1">
                <a:latin typeface="Times New Roman" panose="02020603050405020304" pitchFamily="18" charset="0"/>
                <a:ea typeface="楷体_GB2312" pitchFamily="49" charset="-122"/>
              </a:rPr>
              <a:t>getMaxMin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( string )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print( "string=", string)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print( "</a:t>
            </a:r>
            <a:r>
              <a:rPr kumimoji="1" lang="zh-CN" altLang="en-US" sz="2600" b="1" dirty="0">
                <a:latin typeface="Times New Roman" panose="02020603050405020304" pitchFamily="18" charset="0"/>
                <a:ea typeface="楷体_GB2312" pitchFamily="49" charset="-122"/>
              </a:rPr>
              <a:t>最大元素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=",x, "</a:t>
            </a:r>
            <a:r>
              <a:rPr kumimoji="1" lang="zh-CN" altLang="en-US" sz="2600" b="1" dirty="0">
                <a:latin typeface="Times New Roman" panose="02020603050405020304" pitchFamily="18" charset="0"/>
                <a:ea typeface="楷体_GB2312" pitchFamily="49" charset="-122"/>
              </a:rPr>
              <a:t>最小元素</a:t>
            </a:r>
            <a:r>
              <a:rPr kumimoji="1" lang="en-US" altLang="zh-CN" sz="2600" b="1" dirty="0">
                <a:latin typeface="Times New Roman" panose="02020603050405020304" pitchFamily="18" charset="0"/>
                <a:ea typeface="楷体_GB2312" pitchFamily="49" charset="-122"/>
              </a:rPr>
              <a:t>=", y) </a:t>
            </a:r>
            <a:endParaRPr kumimoji="1" lang="en-US" altLang="zh-CN" sz="26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 Python</a:t>
            </a: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函数的参数传递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19138" grpId="0" build="p"/>
      <p:bldP spid="219146" grpId="0" animBg="1" autoUpdateAnimBg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35757" y="1124744"/>
            <a:ext cx="8748712" cy="316835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990600" indent="-53340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371600" indent="-4572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52600" indent="-381000"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209800" indent="-381000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67000" indent="-3810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124200" indent="-3810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581400" indent="-3810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38600" indent="-3810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0000FF"/>
              </a:buClr>
              <a:buSzTx/>
              <a:buFontTx/>
              <a:buNone/>
              <a:defRPr/>
            </a:pPr>
            <a:r>
              <a:rPr kumimoji="1" lang="zh-CN" altLang="en-US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数的递归调用</a:t>
            </a:r>
            <a:endParaRPr kumimoji="1"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0000FF"/>
              </a:buClr>
              <a:buSzTx/>
              <a:buFontTx/>
              <a:buNone/>
              <a:defRPr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在函数的执行过程中又直接或间接调用该函数本身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  <a:endParaRPr kumimoji="1"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6699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直接递归调用</a:t>
            </a:r>
            <a:endParaRPr kumimoji="1"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6699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在函数中直接调用函数本身</a:t>
            </a:r>
            <a:endParaRPr kumimoji="1"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6699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间接递归调用</a:t>
            </a:r>
            <a:endParaRPr kumimoji="1"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6699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在函数中调用其它函数，其它函数又调用原函数</a:t>
            </a:r>
            <a:endParaRPr kumimoji="1"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836763" y="4452070"/>
            <a:ext cx="866775" cy="1900237"/>
            <a:chOff x="1104" y="1744"/>
            <a:chExt cx="546" cy="1197"/>
          </a:xfrm>
        </p:grpSpPr>
        <p:sp>
          <p:nvSpPr>
            <p:cNvPr id="19478" name="Text Box 9"/>
            <p:cNvSpPr txBox="1">
              <a:spLocks noChangeArrowheads="1"/>
            </p:cNvSpPr>
            <p:nvPr/>
          </p:nvSpPr>
          <p:spPr bwMode="auto">
            <a:xfrm>
              <a:off x="1329" y="1744"/>
              <a:ext cx="321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f( )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79" name="Text Box 10"/>
            <p:cNvSpPr txBox="1">
              <a:spLocks noChangeArrowheads="1"/>
            </p:cNvSpPr>
            <p:nvPr/>
          </p:nvSpPr>
          <p:spPr bwMode="auto">
            <a:xfrm>
              <a:off x="1293" y="2685"/>
              <a:ext cx="335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zh-CN" sz="2000" b="1">
                  <a:latin typeface="Times New Roman" panose="02020603050405020304" pitchFamily="18" charset="0"/>
                  <a:ea typeface="楷体_GB2312" pitchFamily="49" charset="-122"/>
                </a:rPr>
                <a:t>调</a:t>
              </a: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80" name="Line 11"/>
            <p:cNvSpPr>
              <a:spLocks noChangeShapeType="1"/>
            </p:cNvSpPr>
            <p:nvPr/>
          </p:nvSpPr>
          <p:spPr bwMode="auto">
            <a:xfrm>
              <a:off x="1488" y="2016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1" name="Line 12"/>
            <p:cNvSpPr>
              <a:spLocks noChangeShapeType="1"/>
            </p:cNvSpPr>
            <p:nvPr/>
          </p:nvSpPr>
          <p:spPr bwMode="auto">
            <a:xfrm flipH="1">
              <a:off x="1104" y="27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Line 13"/>
            <p:cNvSpPr>
              <a:spLocks noChangeShapeType="1"/>
            </p:cNvSpPr>
            <p:nvPr/>
          </p:nvSpPr>
          <p:spPr bwMode="auto">
            <a:xfrm flipV="1">
              <a:off x="1104" y="1872"/>
              <a:ext cx="0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Line 14"/>
            <p:cNvSpPr>
              <a:spLocks noChangeShapeType="1"/>
            </p:cNvSpPr>
            <p:nvPr/>
          </p:nvSpPr>
          <p:spPr bwMode="auto">
            <a:xfrm>
              <a:off x="1104" y="1872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4510113" y="4315545"/>
            <a:ext cx="2290763" cy="2001837"/>
            <a:chOff x="2397" y="1776"/>
            <a:chExt cx="1443" cy="1261"/>
          </a:xfrm>
        </p:grpSpPr>
        <p:sp>
          <p:nvSpPr>
            <p:cNvPr id="19467" name="Text Box 16"/>
            <p:cNvSpPr txBox="1">
              <a:spLocks noChangeArrowheads="1"/>
            </p:cNvSpPr>
            <p:nvPr/>
          </p:nvSpPr>
          <p:spPr bwMode="auto">
            <a:xfrm>
              <a:off x="2397" y="2781"/>
              <a:ext cx="415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zh-CN" sz="2000" b="1">
                  <a:latin typeface="Times New Roman" panose="02020603050405020304" pitchFamily="18" charset="0"/>
                  <a:ea typeface="楷体_GB2312" pitchFamily="49" charset="-122"/>
                </a:rPr>
                <a:t>调</a:t>
              </a: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f2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68" name="Text Box 17"/>
            <p:cNvSpPr txBox="1">
              <a:spLocks noChangeArrowheads="1"/>
            </p:cNvSpPr>
            <p:nvPr/>
          </p:nvSpPr>
          <p:spPr bwMode="auto">
            <a:xfrm>
              <a:off x="3312" y="2781"/>
              <a:ext cx="432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zh-CN" sz="2000" b="1">
                  <a:latin typeface="Times New Roman" panose="02020603050405020304" pitchFamily="18" charset="0"/>
                  <a:ea typeface="楷体_GB2312" pitchFamily="49" charset="-122"/>
                </a:rPr>
                <a:t>调</a:t>
              </a: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f1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69" name="Text Box 18"/>
            <p:cNvSpPr txBox="1">
              <a:spLocks noChangeArrowheads="1"/>
            </p:cNvSpPr>
            <p:nvPr/>
          </p:nvSpPr>
          <p:spPr bwMode="auto">
            <a:xfrm>
              <a:off x="2453" y="1917"/>
              <a:ext cx="401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f1( )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70" name="Text Box 19"/>
            <p:cNvSpPr txBox="1">
              <a:spLocks noChangeArrowheads="1"/>
            </p:cNvSpPr>
            <p:nvPr/>
          </p:nvSpPr>
          <p:spPr bwMode="auto">
            <a:xfrm>
              <a:off x="3365" y="1917"/>
              <a:ext cx="401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f2( )</a:t>
              </a:r>
              <a:endParaRPr kumimoji="1"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71" name="Line 20"/>
            <p:cNvSpPr>
              <a:spLocks noChangeShapeType="1"/>
            </p:cNvSpPr>
            <p:nvPr/>
          </p:nvSpPr>
          <p:spPr bwMode="auto">
            <a:xfrm>
              <a:off x="2592" y="216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2" name="Line 21"/>
            <p:cNvSpPr>
              <a:spLocks noChangeShapeType="1"/>
            </p:cNvSpPr>
            <p:nvPr/>
          </p:nvSpPr>
          <p:spPr bwMode="auto">
            <a:xfrm flipV="1">
              <a:off x="2736" y="2112"/>
              <a:ext cx="768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Line 22"/>
            <p:cNvSpPr>
              <a:spLocks noChangeShapeType="1"/>
            </p:cNvSpPr>
            <p:nvPr/>
          </p:nvSpPr>
          <p:spPr bwMode="auto">
            <a:xfrm>
              <a:off x="3504" y="2208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Line 23"/>
            <p:cNvSpPr>
              <a:spLocks noChangeShapeType="1"/>
            </p:cNvSpPr>
            <p:nvPr/>
          </p:nvSpPr>
          <p:spPr bwMode="auto">
            <a:xfrm>
              <a:off x="3648" y="292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5" name="Line 24"/>
            <p:cNvSpPr>
              <a:spLocks noChangeShapeType="1"/>
            </p:cNvSpPr>
            <p:nvPr/>
          </p:nvSpPr>
          <p:spPr bwMode="auto">
            <a:xfrm flipV="1">
              <a:off x="3840" y="1776"/>
              <a:ext cx="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6" name="Line 25"/>
            <p:cNvSpPr>
              <a:spLocks noChangeShapeType="1"/>
            </p:cNvSpPr>
            <p:nvPr/>
          </p:nvSpPr>
          <p:spPr bwMode="auto">
            <a:xfrm flipH="1">
              <a:off x="2592" y="1776"/>
              <a:ext cx="12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7" name="Line 26"/>
            <p:cNvSpPr>
              <a:spLocks noChangeShapeType="1"/>
            </p:cNvSpPr>
            <p:nvPr/>
          </p:nvSpPr>
          <p:spPr bwMode="auto">
            <a:xfrm>
              <a:off x="2592" y="1776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8"/>
          <p:cNvGrpSpPr/>
          <p:nvPr/>
        </p:nvGrpSpPr>
        <p:grpSpPr bwMode="auto">
          <a:xfrm>
            <a:off x="3217069" y="2151708"/>
            <a:ext cx="4465637" cy="1631950"/>
            <a:chOff x="2338" y="2048"/>
            <a:chExt cx="2697" cy="1028"/>
          </a:xfrm>
        </p:grpSpPr>
        <p:sp>
          <p:nvSpPr>
            <p:cNvPr id="19463" name="Text Box 29"/>
            <p:cNvSpPr txBox="1">
              <a:spLocks noChangeArrowheads="1"/>
            </p:cNvSpPr>
            <p:nvPr/>
          </p:nvSpPr>
          <p:spPr bwMode="auto">
            <a:xfrm>
              <a:off x="2338" y="2059"/>
              <a:ext cx="1059" cy="1017"/>
            </a:xfrm>
            <a:prstGeom prst="rect">
              <a:avLst/>
            </a:prstGeom>
            <a:solidFill>
              <a:srgbClr val="E7FFFF"/>
            </a:solidFill>
            <a:ln w="38100">
              <a:solidFill>
                <a:srgbClr val="00CCFF"/>
              </a:solidFill>
              <a:miter lim="800000"/>
            </a:ln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def  a(x):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……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kumimoji="1" lang="en-US" altLang="zh-CN" sz="2000" b="1">
                  <a:solidFill>
                    <a:srgbClr val="FF3B7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z=b(y)</a:t>
              </a:r>
              <a:endParaRPr kumimoji="1" lang="en-US" altLang="zh-CN" sz="2000" b="1">
                <a:solidFill>
                  <a:srgbClr val="FF3B7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…….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return(2*z)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64" name="Text Box 30"/>
            <p:cNvSpPr txBox="1">
              <a:spLocks noChangeArrowheads="1"/>
            </p:cNvSpPr>
            <p:nvPr/>
          </p:nvSpPr>
          <p:spPr bwMode="auto">
            <a:xfrm>
              <a:off x="3927" y="2048"/>
              <a:ext cx="1108" cy="1017"/>
            </a:xfrm>
            <a:prstGeom prst="rect">
              <a:avLst/>
            </a:prstGeom>
            <a:solidFill>
              <a:srgbClr val="E7FFFF"/>
            </a:solidFill>
            <a:ln w="38100">
              <a:solidFill>
                <a:srgbClr val="00CCFF"/>
              </a:solidFill>
              <a:miter lim="800000"/>
            </a:ln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def  b(t):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……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kumimoji="1" lang="en-US" altLang="zh-CN" sz="2000" b="1">
                  <a:solidFill>
                    <a:srgbClr val="FF3B7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m=a(x)</a:t>
              </a:r>
              <a:endParaRPr kumimoji="1" lang="en-US" altLang="zh-CN" sz="2000" b="1">
                <a:solidFill>
                  <a:srgbClr val="FF3B7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…….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737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return(3+c)</a:t>
              </a:r>
              <a:endParaRPr kumimoji="1" lang="en-US" altLang="zh-CN" sz="2000" b="1">
                <a:solidFill>
                  <a:srgbClr val="3737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65" name="Line 31"/>
            <p:cNvSpPr>
              <a:spLocks noChangeShapeType="1"/>
            </p:cNvSpPr>
            <p:nvPr/>
          </p:nvSpPr>
          <p:spPr bwMode="auto">
            <a:xfrm flipV="1">
              <a:off x="3212" y="2211"/>
              <a:ext cx="766" cy="60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66" name="Line 32"/>
            <p:cNvSpPr>
              <a:spLocks noChangeShapeType="1"/>
            </p:cNvSpPr>
            <p:nvPr/>
          </p:nvSpPr>
          <p:spPr bwMode="auto">
            <a:xfrm flipH="1" flipV="1">
              <a:off x="3178" y="2189"/>
              <a:ext cx="823" cy="56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723106" y="2200921"/>
            <a:ext cx="1981200" cy="1614487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def  f(x):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……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2000" b="1">
                <a:solidFill>
                  <a:srgbClr val="FF3B7C"/>
                </a:solidFill>
                <a:latin typeface="Times New Roman" panose="02020603050405020304" pitchFamily="18" charset="0"/>
                <a:ea typeface="楷体_GB2312" pitchFamily="49" charset="-122"/>
              </a:rPr>
              <a:t>z=f(y)</a:t>
            </a:r>
            <a:endParaRPr kumimoji="1" lang="en-US" altLang="zh-CN" sz="2000" b="1">
              <a:solidFill>
                <a:srgbClr val="FF3B7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…….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return(2*z)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bldLvl="2" autoUpdateAnimBg="0" build="p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6" name="Rectangle 16"/>
          <p:cNvSpPr>
            <a:spLocks noChangeArrowheads="1"/>
          </p:cNvSpPr>
          <p:nvPr/>
        </p:nvSpPr>
        <p:spPr bwMode="auto">
          <a:xfrm>
            <a:off x="395536" y="1265040"/>
            <a:ext cx="828092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>
              <a:lnSpc>
                <a:spcPct val="125000"/>
              </a:lnSpc>
              <a:buClr>
                <a:srgbClr val="6699FF"/>
              </a:buClr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递归算法的两个基本特征</a:t>
            </a:r>
            <a:endParaRPr kumimoji="1" lang="zh-CN" altLang="en-US" sz="26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eaLnBrk="1" hangingPunct="1">
              <a:lnSpc>
                <a:spcPct val="125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递推归纳</a:t>
            </a:r>
            <a:endParaRPr lang="zh-CN" altLang="en-US" sz="26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eaLnBrk="1" hangingPunct="1">
              <a:lnSpc>
                <a:spcPct val="125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将问题转化为比原问题小的同类规模，归纳出一般递推公式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故所处理的</a:t>
            </a:r>
            <a:r>
              <a:rPr kumimoji="1" lang="zh-CN" altLang="en-US" sz="26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对象要有规律地递增或递减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eaLnBrk="1" hangingPunct="1">
              <a:lnSpc>
                <a:spcPct val="125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递归终止</a:t>
            </a:r>
            <a:endParaRPr lang="zh-CN" altLang="en-US" sz="26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eaLnBrk="1" hangingPunct="1">
              <a:lnSpc>
                <a:spcPct val="125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当规模小到一定的程度应该结束递归调用，逐层返回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eaLnBrk="1" hangingPunct="1">
              <a:lnSpc>
                <a:spcPct val="125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常用条件语句来控制何时结束递归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4577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48" name="Object 1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74553" y="2578671"/>
          <a:ext cx="4483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公式" r:id="rId1" imgW="2273300" imgH="203200" progId="Equation.3">
                  <p:embed/>
                </p:oleObj>
              </mc:Choice>
              <mc:Fallback>
                <p:oleObj name="公式" r:id="rId1" imgW="2273300" imgH="203200" progId="Equation.3">
                  <p:embed/>
                  <p:pic>
                    <p:nvPicPr>
                      <p:cNvPr id="0" name="图片 1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553" y="2578671"/>
                        <a:ext cx="44831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1" name="Object 1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74553" y="3073971"/>
          <a:ext cx="1535113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公式" r:id="rId3" imgW="914400" imgH="203200" progId="Equation.3">
                  <p:embed/>
                </p:oleObj>
              </mc:Choice>
              <mc:Fallback>
                <p:oleObj name="公式" r:id="rId3" imgW="914400" imgH="203200" progId="Equation.3">
                  <p:embed/>
                  <p:pic>
                    <p:nvPicPr>
                      <p:cNvPr id="0" name="图片 1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553" y="3073971"/>
                        <a:ext cx="1535113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289248" y="1124744"/>
            <a:ext cx="822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 求递归方法求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的阶乘</a:t>
            </a: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4746" name="Object 10"/>
          <p:cNvGraphicFramePr>
            <a:graphicFrameLocks noChangeAspect="1"/>
          </p:cNvGraphicFramePr>
          <p:nvPr/>
        </p:nvGraphicFramePr>
        <p:xfrm>
          <a:off x="915666" y="1691258"/>
          <a:ext cx="314801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公式" r:id="rId5" imgW="1778000" imgH="457200" progId="Equation.3">
                  <p:embed/>
                </p:oleObj>
              </mc:Choice>
              <mc:Fallback>
                <p:oleObj name="公式" r:id="rId5" imgW="1778000" imgH="457200" progId="Equation.3">
                  <p:embed/>
                  <p:pic>
                    <p:nvPicPr>
                      <p:cNvPr id="0" name="图片 1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66" y="1691258"/>
                        <a:ext cx="314801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7" name="Text Box 11"/>
          <p:cNvSpPr txBox="1">
            <a:spLocks noChangeArrowheads="1"/>
          </p:cNvSpPr>
          <p:nvPr/>
        </p:nvSpPr>
        <p:spPr bwMode="auto">
          <a:xfrm>
            <a:off x="323528" y="2565971"/>
            <a:ext cx="2262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5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递推归纳：</a:t>
            </a:r>
            <a:endParaRPr kumimoji="1" lang="zh-CN" altLang="en-US" sz="25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750" name="Text Box 14"/>
          <p:cNvSpPr txBox="1">
            <a:spLocks noChangeArrowheads="1"/>
          </p:cNvSpPr>
          <p:nvPr/>
        </p:nvSpPr>
        <p:spPr bwMode="auto">
          <a:xfrm>
            <a:off x="323528" y="3027933"/>
            <a:ext cx="18224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5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递归终止：</a:t>
            </a:r>
            <a:endParaRPr kumimoji="1" lang="zh-CN" altLang="en-US" sz="25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754" name="Text Box 18"/>
          <p:cNvSpPr txBox="1">
            <a:spLocks noChangeArrowheads="1"/>
          </p:cNvSpPr>
          <p:nvPr/>
        </p:nvSpPr>
        <p:spPr bwMode="auto">
          <a:xfrm>
            <a:off x="4241751" y="3027933"/>
            <a:ext cx="4238848" cy="3478212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def fac(n):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   if  n==0: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        f=1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   else: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        f=fac(n-1)*n;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   return f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n=int(input("please input n: "))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f=fac(n)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>
                <a:latin typeface="Times New Roman" panose="02020603050405020304" pitchFamily="18" charset="0"/>
                <a:ea typeface="楷体_GB2312" pitchFamily="49" charset="-122"/>
              </a:rPr>
              <a:t>print("%d!=%d"%(n,f))</a:t>
            </a:r>
            <a:endParaRPr kumimoji="1" lang="en-US" altLang="zh-CN" sz="2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44745" grpId="0"/>
      <p:bldP spid="244747" grpId="0"/>
      <p:bldP spid="244750" grpId="0"/>
      <p:bldP spid="24475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323528" y="1268760"/>
            <a:ext cx="8501063" cy="42751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eaLnBrk="1" hangingPunct="1">
              <a:buNone/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递归调用需要注意：</a:t>
            </a:r>
            <a:endParaRPr lang="zh-CN" altLang="en-US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3" eaLnBrk="1" hangingPunct="1">
              <a:lnSpc>
                <a:spcPct val="105000"/>
              </a:lnSpc>
              <a:defRPr/>
            </a:pPr>
            <a:r>
              <a:rPr lang="zh-CN" altLang="en-US" sz="2200" kern="0" dirty="0" smtClean="0">
                <a:solidFill>
                  <a:srgbClr val="FF0066"/>
                </a:solidFill>
                <a:latin typeface="Times New Roman" panose="02020603050405020304" pitchFamily="18" charset="0"/>
              </a:rPr>
              <a:t>执行</a:t>
            </a:r>
            <a:r>
              <a:rPr lang="zh-CN" altLang="en-US" sz="2200" kern="0" dirty="0">
                <a:solidFill>
                  <a:srgbClr val="FF0066"/>
                </a:solidFill>
                <a:latin typeface="Times New Roman" panose="02020603050405020304" pitchFamily="18" charset="0"/>
              </a:rPr>
              <a:t>过程（两个阶段）</a:t>
            </a:r>
            <a:endParaRPr lang="zh-CN" altLang="en-US" sz="2200" kern="0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914400" lvl="5">
              <a:lnSpc>
                <a:spcPct val="105000"/>
              </a:lnSpc>
              <a:defRPr/>
            </a:pPr>
            <a:r>
              <a:rPr lang="zh-CN" altLang="en-US" sz="2600" kern="0" dirty="0">
                <a:latin typeface="Times New Roman" panose="02020603050405020304" pitchFamily="18" charset="0"/>
              </a:rPr>
              <a:t>   第一阶段：逐层调用，调用函数自身</a:t>
            </a:r>
            <a:endParaRPr lang="zh-CN" altLang="en-US" sz="2600" kern="0" dirty="0">
              <a:latin typeface="Times New Roman" panose="02020603050405020304" pitchFamily="18" charset="0"/>
            </a:endParaRPr>
          </a:p>
          <a:p>
            <a:pPr marL="914400" lvl="5">
              <a:lnSpc>
                <a:spcPct val="105000"/>
              </a:lnSpc>
              <a:defRPr/>
            </a:pPr>
            <a:r>
              <a:rPr lang="zh-CN" altLang="en-US" sz="2600" kern="0" dirty="0">
                <a:latin typeface="Times New Roman" panose="02020603050405020304" pitchFamily="18" charset="0"/>
              </a:rPr>
              <a:t>   第二阶段：逐层返回，返回到调用该层的位置</a:t>
            </a:r>
            <a:endParaRPr lang="zh-CN" altLang="en-US" sz="2600" kern="0" dirty="0">
              <a:latin typeface="Times New Roman" panose="02020603050405020304" pitchFamily="18" charset="0"/>
            </a:endParaRPr>
          </a:p>
          <a:p>
            <a:pPr marL="457200" lvl="3" eaLnBrk="1" hangingPunct="1">
              <a:lnSpc>
                <a:spcPct val="105000"/>
              </a:lnSpc>
              <a:defRPr/>
            </a:pPr>
            <a:r>
              <a:rPr lang="zh-CN" altLang="en-US" sz="2200" kern="0" dirty="0">
                <a:solidFill>
                  <a:srgbClr val="FF0066"/>
                </a:solidFill>
                <a:latin typeface="Times New Roman" panose="02020603050405020304" pitchFamily="18" charset="0"/>
              </a:rPr>
              <a:t>递归调用是多重嵌套调用的一种特殊情况</a:t>
            </a:r>
            <a:endParaRPr lang="zh-CN" altLang="en-US" sz="2200" kern="0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457200" lvl="3" eaLnBrk="1" hangingPunct="1">
              <a:lnSpc>
                <a:spcPct val="105000"/>
              </a:lnSpc>
              <a:defRPr/>
            </a:pPr>
            <a:r>
              <a:rPr lang="zh-CN" altLang="en-US" sz="2200" kern="0" dirty="0">
                <a:solidFill>
                  <a:srgbClr val="FF0066"/>
                </a:solidFill>
                <a:latin typeface="Times New Roman" panose="02020603050405020304" pitchFamily="18" charset="0"/>
              </a:rPr>
              <a:t>调用的深度：</a:t>
            </a:r>
            <a:r>
              <a:rPr lang="zh-CN" altLang="en-US" sz="2200" kern="0" dirty="0">
                <a:latin typeface="Times New Roman" panose="02020603050405020304" pitchFamily="18" charset="0"/>
              </a:rPr>
              <a:t>调用的层数</a:t>
            </a:r>
            <a:r>
              <a:rPr lang="zh-CN" altLang="en-US" kern="0" dirty="0">
                <a:latin typeface="Times New Roman" panose="02020603050405020304" pitchFamily="18" charset="0"/>
              </a:rPr>
              <a:t>	</a:t>
            </a:r>
            <a:endParaRPr lang="zh-CN" altLang="en-US" kern="0" dirty="0">
              <a:latin typeface="Times New Roman" panose="02020603050405020304" pitchFamily="18" charset="0"/>
            </a:endParaRPr>
          </a:p>
          <a:p>
            <a:pPr lvl="3" eaLnBrk="1" hangingPunct="1">
              <a:defRPr/>
            </a:pPr>
            <a:endParaRPr lang="en-US" altLang="zh-CN" sz="2400" kern="0" dirty="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 bldLvl="4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3537" y="980728"/>
            <a:ext cx="8816975" cy="2159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例：有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个人，第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个人说他的年龄比第第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岁，第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个人说他的年龄比第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岁，第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个人说他的年龄比第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岁，第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个人说他的年龄比第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岁；第一个人说他是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岁。请问第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个人多大？</a:t>
            </a:r>
            <a:endParaRPr lang="zh-CN" alt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539552" y="3212976"/>
            <a:ext cx="80010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思路：建立函数求个人的年龄，以每人的序号为参数，根据题意可知：</a:t>
            </a:r>
            <a:endParaRPr kumimoji="1" lang="zh-CN" altLang="en-US" sz="28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FF3B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age(5)=age(4)+2   age(4)=age(3)+2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age(3)=age(2)+2   age(2)=age(1)+2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age(1)=10;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ct val="35000"/>
              </a:spcBef>
              <a:buClr>
                <a:srgbClr val="0000FF"/>
              </a:buClr>
            </a:pP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    </a:t>
            </a:r>
            <a:r>
              <a:rPr kumimoji="1" lang="en-US" altLang="zh-CN" sz="28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age(n)=</a:t>
            </a:r>
            <a:endParaRPr kumimoji="1" lang="en-US" altLang="zh-CN" sz="28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2881313" y="5579194"/>
            <a:ext cx="3644900" cy="946150"/>
            <a:chOff x="1815" y="3187"/>
            <a:chExt cx="2296" cy="596"/>
          </a:xfrm>
        </p:grpSpPr>
        <p:sp>
          <p:nvSpPr>
            <p:cNvPr id="23558" name="Text Box 5"/>
            <p:cNvSpPr txBox="1">
              <a:spLocks noChangeArrowheads="1"/>
            </p:cNvSpPr>
            <p:nvPr/>
          </p:nvSpPr>
          <p:spPr bwMode="auto">
            <a:xfrm>
              <a:off x="1951" y="3187"/>
              <a:ext cx="216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AutoNum type="arabicPlain" startAt="10"/>
              </a:pPr>
              <a:r>
                <a:rPr kumimoji="1" lang="en-US" altLang="zh-CN" sz="2800" b="1">
                  <a:solidFill>
                    <a:srgbClr val="99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(n=1)</a:t>
              </a:r>
              <a:endParaRPr kumimoji="1" lang="en-US" altLang="zh-CN" sz="2800" b="1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eaLnBrk="1" hangingPunct="1"/>
              <a:r>
                <a:rPr kumimoji="1" lang="en-US" altLang="zh-CN" sz="2800" b="1">
                  <a:solidFill>
                    <a:srgbClr val="99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age(n-1)+2         (n&gt;1)</a:t>
              </a:r>
              <a:endParaRPr kumimoji="1" lang="en-US" altLang="zh-CN" sz="2800" b="1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59" name="AutoShape 6"/>
            <p:cNvSpPr/>
            <p:nvPr/>
          </p:nvSpPr>
          <p:spPr bwMode="auto">
            <a:xfrm>
              <a:off x="1815" y="3324"/>
              <a:ext cx="96" cy="317"/>
            </a:xfrm>
            <a:prstGeom prst="leftBrace">
              <a:avLst>
                <a:gd name="adj1" fmla="val 2751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kumimoji="1" lang="zh-CN" altLang="zh-CN" sz="2800" b="1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91171" grpId="0" build="p"/>
      <p:bldP spid="39117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40" y="1191915"/>
            <a:ext cx="4335463" cy="5405437"/>
          </a:xfr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chemeClr val="tx2"/>
                </a:solidFill>
                <a:latin typeface="Times New Roman" panose="02020603050405020304" pitchFamily="18" charset="0"/>
              </a:rPr>
              <a:t>def  age(int n):</a:t>
            </a:r>
            <a:endParaRPr lang="en-US" altLang="zh-CN" sz="28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 if  n==1:</a:t>
            </a:r>
            <a:endParaRPr lang="en-US" altLang="zh-CN" sz="280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       c=10</a:t>
            </a:r>
            <a:endParaRPr lang="en-US" altLang="zh-CN" sz="280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 else:</a:t>
            </a:r>
            <a:endParaRPr lang="en-US" altLang="zh-CN" sz="280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     c=age(n-1) + 2</a:t>
            </a:r>
            <a:endParaRPr lang="en-US" altLang="zh-CN" sz="280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chemeClr val="tx2"/>
                </a:solidFill>
                <a:latin typeface="Times New Roman" panose="02020603050405020304" pitchFamily="18" charset="0"/>
              </a:rPr>
              <a:t>    return c</a:t>
            </a:r>
            <a:endParaRPr lang="en-US" altLang="zh-CN" sz="28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smtClean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Times New Roman" panose="02020603050405020304" pitchFamily="18" charset="0"/>
              </a:rPr>
              <a:t>n=int(input(“input n:”))</a:t>
            </a:r>
            <a:endParaRPr lang="en-US" altLang="zh-CN" sz="2800" smtClean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Times New Roman" panose="02020603050405020304" pitchFamily="18" charset="0"/>
              </a:rPr>
              <a:t>print(“%d”%age(</a:t>
            </a:r>
            <a:r>
              <a:rPr lang="en-US" altLang="zh-CN" sz="2800" smtClean="0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smtClean="0">
                <a:latin typeface="Times New Roman" panose="02020603050405020304" pitchFamily="18" charset="0"/>
              </a:rPr>
              <a:t>))</a:t>
            </a:r>
            <a:endParaRPr lang="en-US" altLang="zh-CN" sz="2800" smtClean="0">
              <a:latin typeface="Times New Roman" panose="02020603050405020304" pitchFamily="18" charset="0"/>
            </a:endParaRPr>
          </a:p>
        </p:txBody>
      </p:sp>
      <p:sp>
        <p:nvSpPr>
          <p:cNvPr id="392196" name="Text Box 4"/>
          <p:cNvSpPr txBox="1">
            <a:spLocks noChangeArrowheads="1"/>
          </p:cNvSpPr>
          <p:nvPr/>
        </p:nvSpPr>
        <p:spPr bwMode="auto">
          <a:xfrm>
            <a:off x="4479478" y="1037927"/>
            <a:ext cx="16970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age(5)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=age(4)+2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197" name="Line 5"/>
          <p:cNvSpPr>
            <a:spLocks noChangeShapeType="1"/>
          </p:cNvSpPr>
          <p:nvPr/>
        </p:nvSpPr>
        <p:spPr bwMode="auto">
          <a:xfrm>
            <a:off x="4479478" y="1520527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4839840" y="2107902"/>
            <a:ext cx="1697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age(4)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=age(3)+2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199" name="Line 7"/>
          <p:cNvSpPr>
            <a:spLocks noChangeShapeType="1"/>
          </p:cNvSpPr>
          <p:nvPr/>
        </p:nvSpPr>
        <p:spPr bwMode="auto">
          <a:xfrm>
            <a:off x="4839840" y="2590502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00" name="Text Box 8"/>
          <p:cNvSpPr txBox="1">
            <a:spLocks noChangeArrowheads="1"/>
          </p:cNvSpPr>
          <p:nvPr/>
        </p:nvSpPr>
        <p:spPr bwMode="auto">
          <a:xfrm>
            <a:off x="5200203" y="3269952"/>
            <a:ext cx="16970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age(3)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=age(2)+2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01" name="Line 9"/>
          <p:cNvSpPr>
            <a:spLocks noChangeShapeType="1"/>
          </p:cNvSpPr>
          <p:nvPr/>
        </p:nvSpPr>
        <p:spPr bwMode="auto">
          <a:xfrm>
            <a:off x="5200203" y="3752552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02" name="Text Box 10"/>
          <p:cNvSpPr txBox="1">
            <a:spLocks noChangeArrowheads="1"/>
          </p:cNvSpPr>
          <p:nvPr/>
        </p:nvSpPr>
        <p:spPr bwMode="auto">
          <a:xfrm>
            <a:off x="5546278" y="4349452"/>
            <a:ext cx="16970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age(2)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=age(1)+2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03" name="Line 11"/>
          <p:cNvSpPr>
            <a:spLocks noChangeShapeType="1"/>
          </p:cNvSpPr>
          <p:nvPr/>
        </p:nvSpPr>
        <p:spPr bwMode="auto">
          <a:xfrm>
            <a:off x="5546278" y="4832052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04" name="Text Box 12"/>
          <p:cNvSpPr txBox="1">
            <a:spLocks noChangeArrowheads="1"/>
          </p:cNvSpPr>
          <p:nvPr/>
        </p:nvSpPr>
        <p:spPr bwMode="auto">
          <a:xfrm>
            <a:off x="6700390" y="5492452"/>
            <a:ext cx="11128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age(1)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05" name="Line 13"/>
          <p:cNvSpPr>
            <a:spLocks noChangeShapeType="1"/>
          </p:cNvSpPr>
          <p:nvPr/>
        </p:nvSpPr>
        <p:spPr bwMode="auto">
          <a:xfrm>
            <a:off x="6700390" y="6006802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06" name="Text Box 14"/>
          <p:cNvSpPr txBox="1">
            <a:spLocks noChangeArrowheads="1"/>
          </p:cNvSpPr>
          <p:nvPr/>
        </p:nvSpPr>
        <p:spPr bwMode="auto">
          <a:xfrm>
            <a:off x="8211690" y="1037927"/>
            <a:ext cx="11128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age(5)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=18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07" name="Line 15"/>
          <p:cNvSpPr>
            <a:spLocks noChangeShapeType="1"/>
          </p:cNvSpPr>
          <p:nvPr/>
        </p:nvSpPr>
        <p:spPr bwMode="auto">
          <a:xfrm>
            <a:off x="8297415" y="1541165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08" name="Text Box 16"/>
          <p:cNvSpPr txBox="1">
            <a:spLocks noChangeArrowheads="1"/>
          </p:cNvSpPr>
          <p:nvPr/>
        </p:nvSpPr>
        <p:spPr bwMode="auto">
          <a:xfrm>
            <a:off x="7995790" y="2107902"/>
            <a:ext cx="11128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age(4)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=16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09" name="Line 17"/>
          <p:cNvSpPr>
            <a:spLocks noChangeShapeType="1"/>
          </p:cNvSpPr>
          <p:nvPr/>
        </p:nvSpPr>
        <p:spPr bwMode="auto">
          <a:xfrm>
            <a:off x="8010078" y="2622252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0" name="Text Box 18"/>
          <p:cNvSpPr txBox="1">
            <a:spLocks noChangeArrowheads="1"/>
          </p:cNvSpPr>
          <p:nvPr/>
        </p:nvSpPr>
        <p:spPr bwMode="auto">
          <a:xfrm>
            <a:off x="7708453" y="3269952"/>
            <a:ext cx="1112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age(3)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=14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11" name="Line 19"/>
          <p:cNvSpPr>
            <a:spLocks noChangeShapeType="1"/>
          </p:cNvSpPr>
          <p:nvPr/>
        </p:nvSpPr>
        <p:spPr bwMode="auto">
          <a:xfrm>
            <a:off x="7779890" y="3773190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2" name="Text Box 20"/>
          <p:cNvSpPr txBox="1">
            <a:spLocks noChangeArrowheads="1"/>
          </p:cNvSpPr>
          <p:nvPr/>
        </p:nvSpPr>
        <p:spPr bwMode="auto">
          <a:xfrm>
            <a:off x="7419528" y="4349452"/>
            <a:ext cx="1112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age(2)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=12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2213" name="Line 21"/>
          <p:cNvSpPr>
            <a:spLocks noChangeShapeType="1"/>
          </p:cNvSpPr>
          <p:nvPr/>
        </p:nvSpPr>
        <p:spPr bwMode="auto">
          <a:xfrm>
            <a:off x="7505253" y="4854277"/>
            <a:ext cx="93503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4" name="Line 22"/>
          <p:cNvSpPr>
            <a:spLocks noChangeShapeType="1"/>
          </p:cNvSpPr>
          <p:nvPr/>
        </p:nvSpPr>
        <p:spPr bwMode="auto">
          <a:xfrm>
            <a:off x="7144890" y="1109365"/>
            <a:ext cx="71438" cy="44640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5" name="Line 23"/>
          <p:cNvSpPr>
            <a:spLocks noChangeShapeType="1"/>
          </p:cNvSpPr>
          <p:nvPr/>
        </p:nvSpPr>
        <p:spPr bwMode="auto">
          <a:xfrm>
            <a:off x="4984303" y="1901527"/>
            <a:ext cx="144462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6" name="Line 24"/>
          <p:cNvSpPr>
            <a:spLocks noChangeShapeType="1"/>
          </p:cNvSpPr>
          <p:nvPr/>
        </p:nvSpPr>
        <p:spPr bwMode="auto">
          <a:xfrm>
            <a:off x="5344665" y="2981027"/>
            <a:ext cx="215900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7" name="Line 25"/>
          <p:cNvSpPr>
            <a:spLocks noChangeShapeType="1"/>
          </p:cNvSpPr>
          <p:nvPr/>
        </p:nvSpPr>
        <p:spPr bwMode="auto">
          <a:xfrm>
            <a:off x="5847903" y="4133552"/>
            <a:ext cx="144462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8" name="Line 26"/>
          <p:cNvSpPr>
            <a:spLocks noChangeShapeType="1"/>
          </p:cNvSpPr>
          <p:nvPr/>
        </p:nvSpPr>
        <p:spPr bwMode="auto">
          <a:xfrm>
            <a:off x="6424165" y="5214640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9" name="Line 27"/>
          <p:cNvSpPr>
            <a:spLocks noChangeShapeType="1"/>
          </p:cNvSpPr>
          <p:nvPr/>
        </p:nvSpPr>
        <p:spPr bwMode="auto">
          <a:xfrm flipV="1">
            <a:off x="7576690" y="5214640"/>
            <a:ext cx="287338" cy="3587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20" name="Line 28"/>
          <p:cNvSpPr>
            <a:spLocks noChangeShapeType="1"/>
          </p:cNvSpPr>
          <p:nvPr/>
        </p:nvSpPr>
        <p:spPr bwMode="auto">
          <a:xfrm flipV="1">
            <a:off x="7792590" y="4133552"/>
            <a:ext cx="360363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21" name="Line 29"/>
          <p:cNvSpPr>
            <a:spLocks noChangeShapeType="1"/>
          </p:cNvSpPr>
          <p:nvPr/>
        </p:nvSpPr>
        <p:spPr bwMode="auto">
          <a:xfrm flipV="1">
            <a:off x="8152953" y="2981027"/>
            <a:ext cx="287337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22" name="Line 30"/>
          <p:cNvSpPr>
            <a:spLocks noChangeShapeType="1"/>
          </p:cNvSpPr>
          <p:nvPr/>
        </p:nvSpPr>
        <p:spPr bwMode="auto">
          <a:xfrm flipV="1">
            <a:off x="8511728" y="1901527"/>
            <a:ext cx="215900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23" name="AutoShape 31"/>
          <p:cNvSpPr>
            <a:spLocks noChangeArrowheads="1"/>
          </p:cNvSpPr>
          <p:nvPr/>
        </p:nvSpPr>
        <p:spPr bwMode="auto">
          <a:xfrm>
            <a:off x="2601465" y="1250652"/>
            <a:ext cx="1439863" cy="863600"/>
          </a:xfrm>
          <a:prstGeom prst="wedgeRoundRectCallout">
            <a:avLst>
              <a:gd name="adj1" fmla="val -100167"/>
              <a:gd name="adj2" fmla="val 69486"/>
              <a:gd name="adj3" fmla="val 16667"/>
            </a:avLst>
          </a:prstGeom>
          <a:solidFill>
            <a:srgbClr val="FFFFCC"/>
          </a:solidFill>
          <a:ln w="9525">
            <a:solidFill>
              <a:srgbClr val="FF9900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kumimoji="1" lang="zh-CN" altLang="en-US" sz="2600" b="1">
                <a:latin typeface="Times New Roman" panose="02020603050405020304" pitchFamily="18" charset="0"/>
                <a:ea typeface="楷体_GB2312" pitchFamily="49" charset="-122"/>
              </a:rPr>
              <a:t>递归结束条件</a:t>
            </a:r>
            <a:endParaRPr kumimoji="1" lang="zh-CN" altLang="en-US" sz="26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92195" grpId="0" animBg="1"/>
      <p:bldP spid="392196" grpId="0"/>
      <p:bldP spid="392197" grpId="0" animBg="1"/>
      <p:bldP spid="392198" grpId="0"/>
      <p:bldP spid="392199" grpId="0" animBg="1"/>
      <p:bldP spid="392200" grpId="0"/>
      <p:bldP spid="392201" grpId="0" animBg="1"/>
      <p:bldP spid="392202" grpId="0"/>
      <p:bldP spid="392203" grpId="0" animBg="1"/>
      <p:bldP spid="392204" grpId="0"/>
      <p:bldP spid="392205" grpId="0" animBg="1"/>
      <p:bldP spid="392206" grpId="0"/>
      <p:bldP spid="392207" grpId="0" animBg="1"/>
      <p:bldP spid="392208" grpId="0"/>
      <p:bldP spid="392209" grpId="0" animBg="1"/>
      <p:bldP spid="392210" grpId="0"/>
      <p:bldP spid="392211" grpId="0" animBg="1"/>
      <p:bldP spid="392212" grpId="0"/>
      <p:bldP spid="392213" grpId="0" animBg="1"/>
      <p:bldP spid="392214" grpId="0" animBg="1"/>
      <p:bldP spid="392215" grpId="0" animBg="1"/>
      <p:bldP spid="392216" grpId="0" animBg="1"/>
      <p:bldP spid="392217" grpId="0" animBg="1"/>
      <p:bldP spid="392218" grpId="0" animBg="1"/>
      <p:bldP spid="392219" grpId="0" animBg="1"/>
      <p:bldP spid="392220" grpId="0" animBg="1"/>
      <p:bldP spid="392221" grpId="0" animBg="1"/>
      <p:bldP spid="392222" grpId="0" animBg="1"/>
      <p:bldP spid="3922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31640" y="188640"/>
            <a:ext cx="6048672" cy="800100"/>
          </a:xfrm>
        </p:spPr>
        <p:txBody>
          <a:bodyPr anchor="b"/>
          <a:lstStyle/>
          <a:p>
            <a:pPr eaLnBrk="1" hangingPunct="1">
              <a:defRPr/>
            </a:pPr>
            <a:r>
              <a:rPr lang="zh-CN" altLang="en-US" dirty="0"/>
              <a:t>设计递归算法的方法</a:t>
            </a:r>
            <a:endParaRPr lang="zh-CN" altLang="en-US" dirty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95288" y="1125538"/>
            <a:ext cx="36099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前提：</a:t>
            </a:r>
            <a:endParaRPr kumimoji="1" lang="zh-CN" altLang="en-US" sz="3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23850" y="1773238"/>
            <a:ext cx="8712200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10000"/>
              </a:lnSpc>
              <a:spcBef>
                <a:spcPct val="5000"/>
              </a:spcBef>
              <a:buFontTx/>
              <a:buAutoNum type="arabicPeriod"/>
            </a:pP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原问题可以层层分解为类似的子问题，且子问题比原问题规模更小</a:t>
            </a:r>
            <a:endParaRPr kumimoji="1" lang="zh-CN" altLang="en-US" sz="30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5000"/>
              </a:spcBef>
              <a:buFontTx/>
              <a:buAutoNum type="arabicPeriod"/>
            </a:pP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规模最小的问题具有直接解</a:t>
            </a:r>
            <a:endParaRPr kumimoji="1" lang="zh-CN" altLang="en-US" sz="30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85763" y="3467100"/>
            <a:ext cx="36099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方法：</a:t>
            </a:r>
            <a:endParaRPr kumimoji="1" lang="zh-CN" altLang="en-US" sz="3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23850" y="4110038"/>
            <a:ext cx="8712200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10000"/>
              </a:lnSpc>
              <a:spcBef>
                <a:spcPct val="5000"/>
              </a:spcBef>
              <a:buFontTx/>
              <a:buAutoNum type="arabicPeriod"/>
            </a:pP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寻找分解方法：将原问题转化为子问题求解，例：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n!=n*(n-1)!</a:t>
            </a:r>
            <a:endParaRPr kumimoji="1" lang="en-US" altLang="zh-CN" sz="30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5000"/>
              </a:spcBef>
              <a:buFontTx/>
              <a:buAutoNum type="arabicPeriod"/>
            </a:pP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设计递归出口：根据规模最小的子问题确定递归终止条件，例：求解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</a:rPr>
              <a:t>n! </a:t>
            </a: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</a:rPr>
              <a:t>，当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</a:rPr>
              <a:t>时，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</a:rPr>
              <a:t>n!</a:t>
            </a: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3000" b="1">
                <a:solidFill>
                  <a:srgbClr val="080808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3000" b="1">
                <a:solidFill>
                  <a:srgbClr val="080808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30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zh-CN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34950" y="1412776"/>
            <a:ext cx="8467725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汉诺塔问题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。设有三座塔座（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），在一个塔座（设为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）上有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64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个盘片，盘片不等，按大盘在下，小盘在上的顺序依次叠放。现要将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塔上的盘片借助于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塔，移到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塔上并保持同样顺序叠排，移动盘片时必须遵守以下规则：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558800" y="3765451"/>
            <a:ext cx="75946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）每次只能移动一个圆盘；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）圆盘可以插在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任意一个塔座上；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）任何时候都不能将一个较大的圆盘放到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较小的圆盘之上。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build="allAtOnce"/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zh-CN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611560" y="2551075"/>
            <a:ext cx="8467725" cy="138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塔上的红、黄两盘移动到</a:t>
            </a: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kumimoji="1" lang="zh-CN" altLang="en-US" sz="26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蓝盘放到</a:t>
            </a: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kumimoji="1" lang="zh-CN" altLang="en-US" sz="26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将红、黄两盘从</a:t>
            </a: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移动到</a:t>
            </a:r>
            <a:r>
              <a:rPr kumimoji="1" lang="en-US" altLang="zh-CN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盘上。（完成）</a:t>
            </a:r>
            <a:endParaRPr kumimoji="1" lang="zh-CN" altLang="en-US" sz="26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417638" y="1053157"/>
            <a:ext cx="1587500" cy="1655763"/>
            <a:chOff x="720" y="0"/>
            <a:chExt cx="1248" cy="1453"/>
          </a:xfrm>
        </p:grpSpPr>
        <p:grpSp>
          <p:nvGrpSpPr>
            <p:cNvPr id="28729" name="Group 13"/>
            <p:cNvGrpSpPr/>
            <p:nvPr/>
          </p:nvGrpSpPr>
          <p:grpSpPr bwMode="auto">
            <a:xfrm>
              <a:off x="720" y="0"/>
              <a:ext cx="1248" cy="1104"/>
              <a:chOff x="720" y="0"/>
              <a:chExt cx="1248" cy="1104"/>
            </a:xfrm>
          </p:grpSpPr>
          <p:sp>
            <p:nvSpPr>
              <p:cNvPr id="28731" name="Line 14"/>
              <p:cNvSpPr>
                <a:spLocks noChangeShapeType="1"/>
              </p:cNvSpPr>
              <p:nvPr/>
            </p:nvSpPr>
            <p:spPr bwMode="auto">
              <a:xfrm>
                <a:off x="720" y="1104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2" name="Line 15"/>
              <p:cNvSpPr>
                <a:spLocks noChangeShapeType="1"/>
              </p:cNvSpPr>
              <p:nvPr/>
            </p:nvSpPr>
            <p:spPr bwMode="auto">
              <a:xfrm>
                <a:off x="1296" y="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30" name="Text Box 16"/>
            <p:cNvSpPr txBox="1">
              <a:spLocks noChangeArrowheads="1"/>
            </p:cNvSpPr>
            <p:nvPr/>
          </p:nvSpPr>
          <p:spPr bwMode="auto">
            <a:xfrm>
              <a:off x="1171" y="1104"/>
              <a:ext cx="28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>
                  <a:latin typeface="Times New Roman" panose="02020603050405020304" pitchFamily="18" charset="0"/>
                </a:rPr>
                <a:t>A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 bwMode="auto">
          <a:xfrm>
            <a:off x="3187700" y="1053157"/>
            <a:ext cx="1587500" cy="1655763"/>
            <a:chOff x="2112" y="0"/>
            <a:chExt cx="1248" cy="1453"/>
          </a:xfrm>
        </p:grpSpPr>
        <p:grpSp>
          <p:nvGrpSpPr>
            <p:cNvPr id="28725" name="Group 18"/>
            <p:cNvGrpSpPr/>
            <p:nvPr/>
          </p:nvGrpSpPr>
          <p:grpSpPr bwMode="auto">
            <a:xfrm>
              <a:off x="2112" y="0"/>
              <a:ext cx="1248" cy="1104"/>
              <a:chOff x="720" y="0"/>
              <a:chExt cx="1248" cy="1104"/>
            </a:xfrm>
          </p:grpSpPr>
          <p:sp>
            <p:nvSpPr>
              <p:cNvPr id="28727" name="Line 19"/>
              <p:cNvSpPr>
                <a:spLocks noChangeShapeType="1"/>
              </p:cNvSpPr>
              <p:nvPr/>
            </p:nvSpPr>
            <p:spPr bwMode="auto">
              <a:xfrm>
                <a:off x="720" y="1104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28" name="Line 20"/>
              <p:cNvSpPr>
                <a:spLocks noChangeShapeType="1"/>
              </p:cNvSpPr>
              <p:nvPr/>
            </p:nvSpPr>
            <p:spPr bwMode="auto">
              <a:xfrm>
                <a:off x="1296" y="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26" name="Text Box 21"/>
            <p:cNvSpPr txBox="1">
              <a:spLocks noChangeArrowheads="1"/>
            </p:cNvSpPr>
            <p:nvPr/>
          </p:nvSpPr>
          <p:spPr bwMode="auto">
            <a:xfrm>
              <a:off x="2569" y="1104"/>
              <a:ext cx="27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>
                  <a:latin typeface="Times New Roman" panose="02020603050405020304" pitchFamily="18" charset="0"/>
                </a:rPr>
                <a:t>B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4895850" y="1053157"/>
            <a:ext cx="1587500" cy="1655763"/>
            <a:chOff x="3456" y="0"/>
            <a:chExt cx="1248" cy="1453"/>
          </a:xfrm>
        </p:grpSpPr>
        <p:grpSp>
          <p:nvGrpSpPr>
            <p:cNvPr id="28721" name="Group 23"/>
            <p:cNvGrpSpPr/>
            <p:nvPr/>
          </p:nvGrpSpPr>
          <p:grpSpPr bwMode="auto">
            <a:xfrm>
              <a:off x="3456" y="0"/>
              <a:ext cx="1248" cy="1104"/>
              <a:chOff x="720" y="0"/>
              <a:chExt cx="1248" cy="1104"/>
            </a:xfrm>
          </p:grpSpPr>
          <p:sp>
            <p:nvSpPr>
              <p:cNvPr id="28723" name="Line 24"/>
              <p:cNvSpPr>
                <a:spLocks noChangeShapeType="1"/>
              </p:cNvSpPr>
              <p:nvPr/>
            </p:nvSpPr>
            <p:spPr bwMode="auto">
              <a:xfrm>
                <a:off x="720" y="1104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24" name="Line 25"/>
              <p:cNvSpPr>
                <a:spLocks noChangeShapeType="1"/>
              </p:cNvSpPr>
              <p:nvPr/>
            </p:nvSpPr>
            <p:spPr bwMode="auto">
              <a:xfrm>
                <a:off x="1296" y="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22" name="Text Box 26"/>
            <p:cNvSpPr txBox="1">
              <a:spLocks noChangeArrowheads="1"/>
            </p:cNvSpPr>
            <p:nvPr/>
          </p:nvSpPr>
          <p:spPr bwMode="auto">
            <a:xfrm>
              <a:off x="3912" y="1104"/>
              <a:ext cx="27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000">
                  <a:latin typeface="Times New Roman" panose="02020603050405020304" pitchFamily="18" charset="0"/>
                </a:rPr>
                <a:t>C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27"/>
          <p:cNvGrpSpPr/>
          <p:nvPr/>
        </p:nvGrpSpPr>
        <p:grpSpPr bwMode="auto">
          <a:xfrm>
            <a:off x="1662113" y="1811982"/>
            <a:ext cx="976312" cy="492125"/>
            <a:chOff x="847" y="2210"/>
            <a:chExt cx="615" cy="310"/>
          </a:xfrm>
        </p:grpSpPr>
        <p:sp>
          <p:nvSpPr>
            <p:cNvPr id="28718" name="Rectangle 28"/>
            <p:cNvSpPr>
              <a:spLocks noChangeArrowheads="1"/>
            </p:cNvSpPr>
            <p:nvPr/>
          </p:nvSpPr>
          <p:spPr bwMode="auto">
            <a:xfrm>
              <a:off x="847" y="2417"/>
              <a:ext cx="615" cy="103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sp>
          <p:nvSpPr>
            <p:cNvPr id="28719" name="Rectangle 29"/>
            <p:cNvSpPr>
              <a:spLocks noChangeArrowheads="1"/>
            </p:cNvSpPr>
            <p:nvPr/>
          </p:nvSpPr>
          <p:spPr bwMode="auto">
            <a:xfrm>
              <a:off x="1039" y="2210"/>
              <a:ext cx="231" cy="10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sp>
          <p:nvSpPr>
            <p:cNvPr id="28720" name="Rectangle 30"/>
            <p:cNvSpPr>
              <a:spLocks noChangeArrowheads="1"/>
            </p:cNvSpPr>
            <p:nvPr/>
          </p:nvSpPr>
          <p:spPr bwMode="auto">
            <a:xfrm>
              <a:off x="971" y="2314"/>
              <a:ext cx="357" cy="1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</p:grpSp>
      <p:grpSp>
        <p:nvGrpSpPr>
          <p:cNvPr id="10" name="Group 67"/>
          <p:cNvGrpSpPr/>
          <p:nvPr/>
        </p:nvGrpSpPr>
        <p:grpSpPr bwMode="auto">
          <a:xfrm>
            <a:off x="1924050" y="1523057"/>
            <a:ext cx="3886200" cy="784225"/>
            <a:chOff x="1012" y="2024"/>
            <a:chExt cx="2448" cy="494"/>
          </a:xfrm>
        </p:grpSpPr>
        <p:grpSp>
          <p:nvGrpSpPr>
            <p:cNvPr id="28714" name="Group 31"/>
            <p:cNvGrpSpPr/>
            <p:nvPr/>
          </p:nvGrpSpPr>
          <p:grpSpPr bwMode="auto">
            <a:xfrm>
              <a:off x="1012" y="2024"/>
              <a:ext cx="279" cy="280"/>
              <a:chOff x="1010" y="2944"/>
              <a:chExt cx="279" cy="280"/>
            </a:xfrm>
          </p:grpSpPr>
          <p:sp>
            <p:nvSpPr>
              <p:cNvPr id="28716" name="Rectangle 32"/>
              <p:cNvSpPr>
                <a:spLocks noChangeArrowheads="1"/>
              </p:cNvSpPr>
              <p:nvPr/>
            </p:nvSpPr>
            <p:spPr bwMode="auto">
              <a:xfrm>
                <a:off x="1010" y="3120"/>
                <a:ext cx="279" cy="104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717" name="Line 33"/>
              <p:cNvSpPr>
                <a:spLocks noChangeShapeType="1"/>
              </p:cNvSpPr>
              <p:nvPr/>
            </p:nvSpPr>
            <p:spPr bwMode="auto">
              <a:xfrm>
                <a:off x="1155" y="2944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715" name="Rectangle 34"/>
            <p:cNvSpPr>
              <a:spLocks noChangeArrowheads="1"/>
            </p:cNvSpPr>
            <p:nvPr/>
          </p:nvSpPr>
          <p:spPr bwMode="auto">
            <a:xfrm>
              <a:off x="3229" y="2414"/>
              <a:ext cx="231" cy="10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</p:grpSp>
      <p:grpSp>
        <p:nvGrpSpPr>
          <p:cNvPr id="12" name="Group 35"/>
          <p:cNvGrpSpPr/>
          <p:nvPr/>
        </p:nvGrpSpPr>
        <p:grpSpPr bwMode="auto">
          <a:xfrm>
            <a:off x="1819275" y="1484957"/>
            <a:ext cx="2406650" cy="825500"/>
            <a:chOff x="946" y="2000"/>
            <a:chExt cx="1516" cy="520"/>
          </a:xfrm>
        </p:grpSpPr>
        <p:sp>
          <p:nvSpPr>
            <p:cNvPr id="28710" name="Rectangle 36"/>
            <p:cNvSpPr>
              <a:spLocks noChangeArrowheads="1"/>
            </p:cNvSpPr>
            <p:nvPr/>
          </p:nvSpPr>
          <p:spPr bwMode="auto">
            <a:xfrm>
              <a:off x="2077" y="2417"/>
              <a:ext cx="385" cy="1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grpSp>
          <p:nvGrpSpPr>
            <p:cNvPr id="28711" name="Group 37"/>
            <p:cNvGrpSpPr/>
            <p:nvPr/>
          </p:nvGrpSpPr>
          <p:grpSpPr bwMode="auto">
            <a:xfrm>
              <a:off x="946" y="2000"/>
              <a:ext cx="413" cy="403"/>
              <a:chOff x="1443" y="3064"/>
              <a:chExt cx="413" cy="403"/>
            </a:xfrm>
          </p:grpSpPr>
          <p:sp>
            <p:nvSpPr>
              <p:cNvPr id="28712" name="Rectangle 38"/>
              <p:cNvSpPr>
                <a:spLocks noChangeArrowheads="1"/>
              </p:cNvSpPr>
              <p:nvPr/>
            </p:nvSpPr>
            <p:spPr bwMode="auto">
              <a:xfrm>
                <a:off x="1443" y="3364"/>
                <a:ext cx="413" cy="103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713" name="Line 39"/>
              <p:cNvSpPr>
                <a:spLocks noChangeShapeType="1"/>
              </p:cNvSpPr>
              <p:nvPr/>
            </p:nvSpPr>
            <p:spPr bwMode="auto">
              <a:xfrm flipH="1">
                <a:off x="1655" y="3064"/>
                <a:ext cx="0" cy="3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Group 68"/>
          <p:cNvGrpSpPr/>
          <p:nvPr/>
        </p:nvGrpSpPr>
        <p:grpSpPr bwMode="auto">
          <a:xfrm>
            <a:off x="3736975" y="1853257"/>
            <a:ext cx="2105025" cy="444500"/>
            <a:chOff x="2154" y="2232"/>
            <a:chExt cx="1326" cy="280"/>
          </a:xfrm>
        </p:grpSpPr>
        <p:sp>
          <p:nvSpPr>
            <p:cNvPr id="28706" name="Rectangle 41"/>
            <p:cNvSpPr>
              <a:spLocks noChangeArrowheads="1"/>
            </p:cNvSpPr>
            <p:nvPr/>
          </p:nvSpPr>
          <p:spPr bwMode="auto">
            <a:xfrm>
              <a:off x="2154" y="2305"/>
              <a:ext cx="231" cy="10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kumimoji="1" lang="zh-CN" altLang="zh-CN" b="1"/>
            </a:p>
          </p:txBody>
        </p:sp>
        <p:grpSp>
          <p:nvGrpSpPr>
            <p:cNvPr id="28707" name="Group 42"/>
            <p:cNvGrpSpPr/>
            <p:nvPr/>
          </p:nvGrpSpPr>
          <p:grpSpPr bwMode="auto">
            <a:xfrm>
              <a:off x="3201" y="2232"/>
              <a:ext cx="279" cy="280"/>
              <a:chOff x="1010" y="2944"/>
              <a:chExt cx="279" cy="280"/>
            </a:xfrm>
          </p:grpSpPr>
          <p:sp>
            <p:nvSpPr>
              <p:cNvPr id="28708" name="Rectangle 43"/>
              <p:cNvSpPr>
                <a:spLocks noChangeArrowheads="1"/>
              </p:cNvSpPr>
              <p:nvPr/>
            </p:nvSpPr>
            <p:spPr bwMode="auto">
              <a:xfrm>
                <a:off x="1010" y="3120"/>
                <a:ext cx="279" cy="104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709" name="Line 44"/>
              <p:cNvSpPr>
                <a:spLocks noChangeShapeType="1"/>
              </p:cNvSpPr>
              <p:nvPr/>
            </p:nvSpPr>
            <p:spPr bwMode="auto">
              <a:xfrm>
                <a:off x="1155" y="2944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Group 45"/>
          <p:cNvGrpSpPr/>
          <p:nvPr/>
        </p:nvGrpSpPr>
        <p:grpSpPr bwMode="auto">
          <a:xfrm>
            <a:off x="1627188" y="1386532"/>
            <a:ext cx="4489450" cy="939800"/>
            <a:chOff x="825" y="1939"/>
            <a:chExt cx="2828" cy="592"/>
          </a:xfrm>
        </p:grpSpPr>
        <p:grpSp>
          <p:nvGrpSpPr>
            <p:cNvPr id="28702" name="Group 46"/>
            <p:cNvGrpSpPr/>
            <p:nvPr/>
          </p:nvGrpSpPr>
          <p:grpSpPr bwMode="auto">
            <a:xfrm>
              <a:off x="825" y="1939"/>
              <a:ext cx="671" cy="592"/>
              <a:chOff x="834" y="2254"/>
              <a:chExt cx="643" cy="575"/>
            </a:xfrm>
          </p:grpSpPr>
          <p:sp>
            <p:nvSpPr>
              <p:cNvPr id="28704" name="Rectangle 47"/>
              <p:cNvSpPr>
                <a:spLocks noChangeArrowheads="1"/>
              </p:cNvSpPr>
              <p:nvPr/>
            </p:nvSpPr>
            <p:spPr bwMode="auto">
              <a:xfrm>
                <a:off x="834" y="2700"/>
                <a:ext cx="643" cy="117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705" name="Line 48"/>
              <p:cNvSpPr>
                <a:spLocks noChangeShapeType="1"/>
              </p:cNvSpPr>
              <p:nvPr/>
            </p:nvSpPr>
            <p:spPr bwMode="auto">
              <a:xfrm>
                <a:off x="1152" y="2254"/>
                <a:ext cx="0" cy="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703" name="Rectangle 49"/>
            <p:cNvSpPr>
              <a:spLocks noChangeArrowheads="1"/>
            </p:cNvSpPr>
            <p:nvPr/>
          </p:nvSpPr>
          <p:spPr bwMode="auto">
            <a:xfrm>
              <a:off x="3038" y="2421"/>
              <a:ext cx="615" cy="103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</p:grpSp>
      <p:grpSp>
        <p:nvGrpSpPr>
          <p:cNvPr id="18" name="Group 71"/>
          <p:cNvGrpSpPr/>
          <p:nvPr/>
        </p:nvGrpSpPr>
        <p:grpSpPr bwMode="auto">
          <a:xfrm>
            <a:off x="1970088" y="1667520"/>
            <a:ext cx="2165350" cy="639762"/>
            <a:chOff x="1041" y="1701"/>
            <a:chExt cx="1364" cy="403"/>
          </a:xfrm>
        </p:grpSpPr>
        <p:sp>
          <p:nvSpPr>
            <p:cNvPr id="28698" name="Rectangle 51"/>
            <p:cNvSpPr>
              <a:spLocks noChangeArrowheads="1"/>
            </p:cNvSpPr>
            <p:nvPr/>
          </p:nvSpPr>
          <p:spPr bwMode="auto">
            <a:xfrm>
              <a:off x="1041" y="2000"/>
              <a:ext cx="231" cy="10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grpSp>
          <p:nvGrpSpPr>
            <p:cNvPr id="28699" name="Group 52"/>
            <p:cNvGrpSpPr/>
            <p:nvPr/>
          </p:nvGrpSpPr>
          <p:grpSpPr bwMode="auto">
            <a:xfrm>
              <a:off x="2126" y="1701"/>
              <a:ext cx="279" cy="299"/>
              <a:chOff x="1010" y="2944"/>
              <a:chExt cx="279" cy="280"/>
            </a:xfrm>
          </p:grpSpPr>
          <p:sp>
            <p:nvSpPr>
              <p:cNvPr id="28700" name="Rectangle 53"/>
              <p:cNvSpPr>
                <a:spLocks noChangeArrowheads="1"/>
              </p:cNvSpPr>
              <p:nvPr/>
            </p:nvSpPr>
            <p:spPr bwMode="auto">
              <a:xfrm>
                <a:off x="1010" y="3120"/>
                <a:ext cx="279" cy="104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701" name="Line 54"/>
              <p:cNvSpPr>
                <a:spLocks noChangeShapeType="1"/>
              </p:cNvSpPr>
              <p:nvPr/>
            </p:nvSpPr>
            <p:spPr bwMode="auto">
              <a:xfrm>
                <a:off x="1155" y="2944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70"/>
          <p:cNvGrpSpPr/>
          <p:nvPr/>
        </p:nvGrpSpPr>
        <p:grpSpPr bwMode="auto">
          <a:xfrm>
            <a:off x="3578225" y="1616720"/>
            <a:ext cx="2373313" cy="695325"/>
            <a:chOff x="2054" y="2083"/>
            <a:chExt cx="1495" cy="438"/>
          </a:xfrm>
        </p:grpSpPr>
        <p:sp>
          <p:nvSpPr>
            <p:cNvPr id="28694" name="Rectangle 56"/>
            <p:cNvSpPr>
              <a:spLocks noChangeArrowheads="1"/>
            </p:cNvSpPr>
            <p:nvPr/>
          </p:nvSpPr>
          <p:spPr bwMode="auto">
            <a:xfrm>
              <a:off x="3157" y="2311"/>
              <a:ext cx="392" cy="1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grpSp>
          <p:nvGrpSpPr>
            <p:cNvPr id="28695" name="Group 57"/>
            <p:cNvGrpSpPr/>
            <p:nvPr/>
          </p:nvGrpSpPr>
          <p:grpSpPr bwMode="auto">
            <a:xfrm>
              <a:off x="2054" y="2083"/>
              <a:ext cx="421" cy="438"/>
              <a:chOff x="1443" y="3064"/>
              <a:chExt cx="413" cy="403"/>
            </a:xfrm>
          </p:grpSpPr>
          <p:sp>
            <p:nvSpPr>
              <p:cNvPr id="28696" name="Rectangle 58"/>
              <p:cNvSpPr>
                <a:spLocks noChangeArrowheads="1"/>
              </p:cNvSpPr>
              <p:nvPr/>
            </p:nvSpPr>
            <p:spPr bwMode="auto">
              <a:xfrm>
                <a:off x="1443" y="3364"/>
                <a:ext cx="413" cy="103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697" name="Line 59"/>
              <p:cNvSpPr>
                <a:spLocks noChangeShapeType="1"/>
              </p:cNvSpPr>
              <p:nvPr/>
            </p:nvSpPr>
            <p:spPr bwMode="auto">
              <a:xfrm flipH="1">
                <a:off x="1655" y="3064"/>
                <a:ext cx="0" cy="3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Group 74"/>
          <p:cNvGrpSpPr/>
          <p:nvPr/>
        </p:nvGrpSpPr>
        <p:grpSpPr bwMode="auto">
          <a:xfrm>
            <a:off x="1922463" y="1816745"/>
            <a:ext cx="3884612" cy="484187"/>
            <a:chOff x="1011" y="2209"/>
            <a:chExt cx="2447" cy="305"/>
          </a:xfrm>
        </p:grpSpPr>
        <p:sp>
          <p:nvSpPr>
            <p:cNvPr id="28690" name="Rectangle 61"/>
            <p:cNvSpPr>
              <a:spLocks noChangeArrowheads="1"/>
            </p:cNvSpPr>
            <p:nvPr/>
          </p:nvSpPr>
          <p:spPr bwMode="auto">
            <a:xfrm>
              <a:off x="3227" y="2211"/>
              <a:ext cx="231" cy="10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kumimoji="1" lang="zh-CN" altLang="en-US" b="1"/>
            </a:p>
          </p:txBody>
        </p:sp>
        <p:grpSp>
          <p:nvGrpSpPr>
            <p:cNvPr id="28691" name="Group 62"/>
            <p:cNvGrpSpPr/>
            <p:nvPr/>
          </p:nvGrpSpPr>
          <p:grpSpPr bwMode="auto">
            <a:xfrm>
              <a:off x="1011" y="2209"/>
              <a:ext cx="279" cy="305"/>
              <a:chOff x="1010" y="2944"/>
              <a:chExt cx="279" cy="280"/>
            </a:xfrm>
          </p:grpSpPr>
          <p:sp>
            <p:nvSpPr>
              <p:cNvPr id="28692" name="Rectangle 63"/>
              <p:cNvSpPr>
                <a:spLocks noChangeArrowheads="1"/>
              </p:cNvSpPr>
              <p:nvPr/>
            </p:nvSpPr>
            <p:spPr bwMode="auto">
              <a:xfrm>
                <a:off x="1010" y="3120"/>
                <a:ext cx="279" cy="104"/>
              </a:xfrm>
              <a:prstGeom prst="rect">
                <a:avLst/>
              </a:prstGeom>
              <a:solidFill>
                <a:srgbClr val="FFEF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kumimoji="1" lang="zh-CN" altLang="en-US" b="1"/>
              </a:p>
            </p:txBody>
          </p:sp>
          <p:sp>
            <p:nvSpPr>
              <p:cNvPr id="28693" name="Line 64"/>
              <p:cNvSpPr>
                <a:spLocks noChangeShapeType="1"/>
              </p:cNvSpPr>
              <p:nvPr/>
            </p:nvSpPr>
            <p:spPr bwMode="auto">
              <a:xfrm>
                <a:off x="1155" y="2944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8" name="Rectangle 75"/>
          <p:cNvSpPr>
            <a:spLocks noChangeArrowheads="1"/>
          </p:cNvSpPr>
          <p:nvPr/>
        </p:nvSpPr>
        <p:spPr bwMode="auto">
          <a:xfrm>
            <a:off x="317500" y="3999731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问题分析：</a:t>
            </a:r>
            <a:endParaRPr kumimoji="1"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Rectangle 77"/>
          <p:cNvSpPr>
            <a:spLocks noChangeArrowheads="1"/>
          </p:cNvSpPr>
          <p:nvPr/>
        </p:nvSpPr>
        <p:spPr bwMode="auto">
          <a:xfrm>
            <a:off x="241300" y="4592910"/>
            <a:ext cx="890270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n=1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时，直接将其从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&gt;C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6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n&gt;1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时，只要先将前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个借助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&gt;B,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那么可以 </a:t>
            </a:r>
            <a:endParaRPr kumimoji="1" lang="zh-CN" altLang="en-US" sz="26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把第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个直接从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&gt;C;</a:t>
            </a:r>
            <a:endParaRPr kumimoji="1" lang="en-US" altLang="zh-CN" sz="26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）如何将剩下的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个圆盘遵守规则借助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&gt;C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zh-CN" altLang="en-US" sz="26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问题性质同（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6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600" b="1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" name="Rectangle 80"/>
          <p:cNvSpPr>
            <a:spLocks noChangeArrowheads="1"/>
          </p:cNvSpPr>
          <p:nvPr/>
        </p:nvSpPr>
        <p:spPr bwMode="auto">
          <a:xfrm>
            <a:off x="2133600" y="3999731"/>
            <a:ext cx="6794500" cy="557212"/>
          </a:xfrm>
          <a:prstGeom prst="rect">
            <a:avLst/>
          </a:prstGeom>
          <a:solidFill>
            <a:srgbClr val="FFFF99"/>
          </a:solidFill>
          <a:ln w="38100">
            <a:solidFill>
              <a:srgbClr val="FF9900"/>
            </a:solidFill>
            <a:miter lim="800000"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问题性质相同，因此适合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采用递归过程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！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utoUpdateAnimBg="0" build="p"/>
      <p:bldP spid="58" grpId="0" autoUpdateAnimBg="0"/>
      <p:bldP spid="59" grpId="0" build="p"/>
      <p:bldP spid="6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72751" y="1052736"/>
            <a:ext cx="7987681" cy="213556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若将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个盘片按规定从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塔移至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塔，移动步骤可分为三步：</a:t>
            </a:r>
            <a:endParaRPr lang="zh-CN" altLang="en-US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defRPr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塔上的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个盘片借助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</a:t>
            </a:r>
            <a:endParaRPr lang="zh-CN" altLang="en-US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defRPr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把第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个盘片从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塔移至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</a:t>
            </a:r>
            <a:endParaRPr lang="zh-CN" altLang="en-US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defRPr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塔上的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个盘片借助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塔移至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塔</a:t>
            </a:r>
            <a:endParaRPr lang="zh-CN" altLang="en-US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defRPr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算法用函数</a:t>
            </a:r>
            <a:r>
              <a:rPr lang="en-US" altLang="zh-CN" sz="22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hanoi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n,x,y,z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以递归算法实现</a:t>
            </a:r>
            <a:endParaRPr lang="zh-CN" altLang="en-US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9" name="日期占位符 3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zh-CN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676400" y="3123902"/>
            <a:ext cx="2266950" cy="1227137"/>
            <a:chOff x="1334" y="2087"/>
            <a:chExt cx="1109" cy="773"/>
          </a:xfrm>
        </p:grpSpPr>
        <p:sp>
          <p:nvSpPr>
            <p:cNvPr id="29712" name="Line 7"/>
            <p:cNvSpPr>
              <a:spLocks noChangeShapeType="1"/>
            </p:cNvSpPr>
            <p:nvPr/>
          </p:nvSpPr>
          <p:spPr bwMode="auto">
            <a:xfrm flipH="1">
              <a:off x="1614" y="2087"/>
              <a:ext cx="829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3" name="Text Box 11"/>
            <p:cNvSpPr txBox="1">
              <a:spLocks noChangeArrowheads="1"/>
            </p:cNvSpPr>
            <p:nvPr/>
          </p:nvSpPr>
          <p:spPr bwMode="auto">
            <a:xfrm>
              <a:off x="1334" y="2337"/>
              <a:ext cx="63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盘片数</a:t>
              </a:r>
              <a:endParaRPr lang="zh-CN" altLang="en-US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3149600" y="3122314"/>
            <a:ext cx="838200" cy="1206500"/>
            <a:chOff x="2262" y="2086"/>
            <a:chExt cx="410" cy="760"/>
          </a:xfrm>
        </p:grpSpPr>
        <p:sp>
          <p:nvSpPr>
            <p:cNvPr id="29710" name="Line 8"/>
            <p:cNvSpPr>
              <a:spLocks noChangeShapeType="1"/>
            </p:cNvSpPr>
            <p:nvPr/>
          </p:nvSpPr>
          <p:spPr bwMode="auto">
            <a:xfrm flipH="1">
              <a:off x="2478" y="2086"/>
              <a:ext cx="166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1" name="Text Box 12"/>
            <p:cNvSpPr txBox="1">
              <a:spLocks noChangeArrowheads="1"/>
            </p:cNvSpPr>
            <p:nvPr/>
          </p:nvSpPr>
          <p:spPr bwMode="auto">
            <a:xfrm>
              <a:off x="2262" y="2323"/>
              <a:ext cx="410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源塔</a:t>
              </a:r>
              <a:endParaRPr lang="zh-CN" altLang="en-US" sz="24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" name="Group 17"/>
          <p:cNvGrpSpPr/>
          <p:nvPr/>
        </p:nvGrpSpPr>
        <p:grpSpPr bwMode="auto">
          <a:xfrm>
            <a:off x="4033838" y="3123902"/>
            <a:ext cx="1284287" cy="1193800"/>
            <a:chOff x="2819" y="2087"/>
            <a:chExt cx="628" cy="752"/>
          </a:xfrm>
        </p:grpSpPr>
        <p:sp>
          <p:nvSpPr>
            <p:cNvPr id="29708" name="Line 9"/>
            <p:cNvSpPr>
              <a:spLocks noChangeShapeType="1"/>
            </p:cNvSpPr>
            <p:nvPr/>
          </p:nvSpPr>
          <p:spPr bwMode="auto">
            <a:xfrm>
              <a:off x="2825" y="2087"/>
              <a:ext cx="157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9" name="Text Box 13"/>
            <p:cNvSpPr txBox="1">
              <a:spLocks noChangeArrowheads="1"/>
            </p:cNvSpPr>
            <p:nvPr/>
          </p:nvSpPr>
          <p:spPr bwMode="auto">
            <a:xfrm>
              <a:off x="2819" y="2316"/>
              <a:ext cx="6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借用塔</a:t>
              </a:r>
              <a:endParaRPr lang="zh-CN" altLang="en-US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4352925" y="3122314"/>
            <a:ext cx="2349500" cy="1187450"/>
            <a:chOff x="3020" y="2086"/>
            <a:chExt cx="1149" cy="748"/>
          </a:xfrm>
        </p:grpSpPr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3020" y="2086"/>
              <a:ext cx="75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7" name="Text Box 14"/>
            <p:cNvSpPr txBox="1">
              <a:spLocks noChangeArrowheads="1"/>
            </p:cNvSpPr>
            <p:nvPr/>
          </p:nvSpPr>
          <p:spPr bwMode="auto">
            <a:xfrm>
              <a:off x="3541" y="2311"/>
              <a:ext cx="6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目标塔</a:t>
              </a:r>
              <a:endParaRPr lang="zh-CN" altLang="en-US" sz="24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411163" y="3936702"/>
            <a:ext cx="87376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0000FF"/>
              </a:buClr>
            </a:pPr>
            <a:r>
              <a:rPr kumimoji="1" lang="en-US" altLang="zh-CN" sz="250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递归终止：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当递归调用到盘片数为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899592" y="4437112"/>
            <a:ext cx="6932612" cy="2125663"/>
          </a:xfrm>
          <a:prstGeom prst="rect">
            <a:avLst/>
          </a:prstGeom>
          <a:solidFill>
            <a:srgbClr val="FFFFCC"/>
          </a:solidFill>
          <a:ln w="25400">
            <a:solidFill>
              <a:srgbClr val="FF9900"/>
            </a:solidFill>
            <a:miter lim="800000"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算法描述：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递归调用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hanoi(n-1,a,c,b)</a:t>
            </a:r>
            <a:endParaRPr kumimoji="1" lang="en-US" altLang="zh-CN" sz="24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2)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号盘片从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塔移动到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塔</a:t>
            </a:r>
            <a:endParaRPr kumimoji="1" lang="zh-CN" altLang="en-US" sz="24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3)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递归调用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hanoi(n-1,b,a,c)</a:t>
            </a:r>
            <a:endParaRPr kumimoji="1" lang="zh-CN" altLang="en-US" sz="24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160463" y="260648"/>
            <a:ext cx="810312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0" kern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函数的递归调用</a:t>
            </a:r>
            <a:endParaRPr kumimoji="1" lang="en-US" altLang="zh-CN" b="0" kern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 build="p"/>
      <p:bldP spid="1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4300" y="0"/>
            <a:ext cx="9029700" cy="6740525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count=0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def hanoi(n,x,y,z):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global count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if n==1: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    count+=1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    move(count,x,z)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else: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   hanoi(n-1,x,z,y);                 </a:t>
            </a:r>
            <a:endParaRPr lang="zh-CN" altLang="en-US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ea typeface="楷体_GB2312" pitchFamily="49" charset="-122"/>
              </a:rPr>
              <a:t>       </a:t>
            </a:r>
            <a:r>
              <a:rPr lang="en-US" altLang="zh-CN" sz="2400" b="1">
                <a:ea typeface="楷体_GB2312" pitchFamily="49" charset="-122"/>
              </a:rPr>
              <a:t>count+=1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   move(count,x,z)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   hanoi(n-1,y,x,z);               </a:t>
            </a:r>
            <a:endParaRPr lang="zh-CN" altLang="en-US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ea typeface="楷体_GB2312" pitchFamily="49" charset="-122"/>
              </a:rPr>
              <a:t>       </a:t>
            </a:r>
            <a:endParaRPr lang="zh-CN" altLang="en-US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def move(n,x,y):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    print("step %d: Move disk form %c to %c"%(count,x,y))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m=int(input("Input the number of disks:"))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print("The steps to moving %d disks:"%m)</a:t>
            </a:r>
            <a:endParaRPr lang="en-US" altLang="zh-CN" sz="2400" b="1">
              <a:ea typeface="楷体_GB2312" pitchFamily="49" charset="-122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ea typeface="楷体_GB2312" pitchFamily="49" charset="-122"/>
              </a:rPr>
              <a:t>hanoi(m,'A','B','C')</a:t>
            </a:r>
            <a:endParaRPr lang="en-US" altLang="zh-CN" sz="2400" b="1"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5" grpId="0" animBg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内容占位符 2"/>
          <p:cNvSpPr>
            <a:spLocks noGrp="1" noChangeArrowheads="1"/>
          </p:cNvSpPr>
          <p:nvPr>
            <p:ph idx="1"/>
          </p:nvPr>
        </p:nvSpPr>
        <p:spPr>
          <a:xfrm>
            <a:off x="1136860" y="260648"/>
            <a:ext cx="7311603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Python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的作用域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14300" y="1143000"/>
            <a:ext cx="8915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当程序中有多个函数时，定义的每个变量只能在一定的范围内访问，称之为变量的作用域。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9925" y="2143125"/>
            <a:ext cx="82454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按作用域划分，将变量分为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150" y="2681288"/>
            <a:ext cx="82454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82575" y="3219450"/>
            <a:ext cx="8747125" cy="196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在一个函数内或者语句块内定义的变量称为局部变量。局部变量的作用域仅限于定义它的函数体或语句块中</a:t>
            </a: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6384925" y="3021013"/>
            <a:ext cx="2590800" cy="3532187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def fun1(a):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   x=a+10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   ……             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def fun2(a,b):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   x,y=a,b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   ……</a:t>
            </a:r>
            <a:endParaRPr lang="es-ES" altLang="zh-CN" sz="2800" b="1"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219" grpId="0" build="p"/>
      <p:bldP spid="2" grpId="0"/>
      <p:bldP spid="3" grpId="0"/>
      <p:bldP spid="6" grpId="0"/>
      <p:bldP spid="7" grpId="0" build="allAtOnce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3168" y="1081335"/>
            <a:ext cx="82454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0824" y="1589638"/>
            <a:ext cx="8747125" cy="1047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20000"/>
              </a:lnSpc>
            </a:pPr>
            <a:r>
              <a:rPr lang="zh-CN" altLang="zh-CN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所有函数之外定义的变量称为全局变量，它可以在多个函数中被引用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521444" y="2708920"/>
            <a:ext cx="7908925" cy="3885679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x = 30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def func():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        global x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        print('x</a:t>
            </a:r>
            <a:r>
              <a:rPr lang="zh-CN" altLang="en-US" sz="2600" b="1">
                <a:ea typeface="楷体_GB2312" pitchFamily="49" charset="-122"/>
              </a:rPr>
              <a:t>的值是</a:t>
            </a:r>
            <a:r>
              <a:rPr lang="en-US" altLang="zh-CN" sz="2600" b="1">
                <a:ea typeface="楷体_GB2312" pitchFamily="49" charset="-122"/>
              </a:rPr>
              <a:t>', </a:t>
            </a:r>
            <a:r>
              <a:rPr lang="es-ES" altLang="zh-CN" sz="2600" b="1">
                <a:ea typeface="楷体_GB2312" pitchFamily="49" charset="-122"/>
              </a:rPr>
              <a:t>x)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        x = 20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        print('</a:t>
            </a:r>
            <a:r>
              <a:rPr lang="zh-CN" altLang="en-US" sz="2600" b="1">
                <a:ea typeface="楷体_GB2312" pitchFamily="49" charset="-122"/>
              </a:rPr>
              <a:t>全局变量</a:t>
            </a:r>
            <a:r>
              <a:rPr lang="es-ES" altLang="zh-CN" sz="2600" b="1">
                <a:ea typeface="楷体_GB2312" pitchFamily="49" charset="-122"/>
              </a:rPr>
              <a:t>x</a:t>
            </a:r>
            <a:r>
              <a:rPr lang="zh-CN" altLang="en-US" sz="2600" b="1">
                <a:ea typeface="楷体_GB2312" pitchFamily="49" charset="-122"/>
              </a:rPr>
              <a:t>改为</a:t>
            </a:r>
            <a:r>
              <a:rPr lang="en-US" altLang="zh-CN" sz="2600" b="1">
                <a:ea typeface="楷体_GB2312" pitchFamily="49" charset="-122"/>
              </a:rPr>
              <a:t>', </a:t>
            </a:r>
            <a:r>
              <a:rPr lang="es-ES" altLang="zh-CN" sz="2600" b="1">
                <a:ea typeface="楷体_GB2312" pitchFamily="49" charset="-122"/>
              </a:rPr>
              <a:t>x)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func()</a:t>
            </a:r>
            <a:endParaRPr lang="es-ES" altLang="zh-CN" sz="2600" b="1"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600" b="1">
                <a:ea typeface="楷体_GB2312" pitchFamily="49" charset="-122"/>
              </a:rPr>
              <a:t>print('x</a:t>
            </a:r>
            <a:r>
              <a:rPr lang="zh-CN" altLang="en-US" sz="2600" b="1">
                <a:ea typeface="楷体_GB2312" pitchFamily="49" charset="-122"/>
              </a:rPr>
              <a:t>的值是</a:t>
            </a:r>
            <a:r>
              <a:rPr lang="en-US" altLang="zh-CN" sz="2600" b="1">
                <a:ea typeface="楷体_GB2312" pitchFamily="49" charset="-122"/>
              </a:rPr>
              <a:t>', </a:t>
            </a:r>
            <a:r>
              <a:rPr lang="es-ES" altLang="zh-CN" sz="2600" b="1">
                <a:ea typeface="楷体_GB2312" pitchFamily="49" charset="-122"/>
              </a:rPr>
              <a:t>x)</a:t>
            </a:r>
            <a:endParaRPr lang="es-ES" altLang="zh-CN" sz="2600" b="1">
              <a:ea typeface="楷体_GB2312" pitchFamily="49" charset="-122"/>
            </a:endParaRPr>
          </a:p>
        </p:txBody>
      </p:sp>
      <p:sp>
        <p:nvSpPr>
          <p:cNvPr id="8" name="内容占位符 2"/>
          <p:cNvSpPr>
            <a:spLocks noGrp="1" noChangeArrowheads="1"/>
          </p:cNvSpPr>
          <p:nvPr>
            <p:ph idx="1"/>
          </p:nvPr>
        </p:nvSpPr>
        <p:spPr>
          <a:xfrm>
            <a:off x="1150020" y="368300"/>
            <a:ext cx="7311603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Python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的作用域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7" grpId="0"/>
      <p:bldP spid="9" grpId="0" animBg="1" build="p"/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内容占位符 2"/>
          <p:cNvSpPr>
            <a:spLocks noGrp="1" noChangeArrowheads="1"/>
          </p:cNvSpPr>
          <p:nvPr>
            <p:ph idx="1"/>
          </p:nvPr>
        </p:nvSpPr>
        <p:spPr>
          <a:xfrm>
            <a:off x="1206203" y="316855"/>
            <a:ext cx="7817817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Python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5496" y="1106760"/>
            <a:ext cx="8915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     </a:t>
            </a:r>
            <a:r>
              <a:rPr lang="zh-CN" altLang="zh-CN" sz="2800" b="1" dirty="0"/>
              <a:t>将一些常用的功能单独放置到一个文件中，方便其他文件来调用</a:t>
            </a:r>
            <a:r>
              <a:rPr lang="zh-CN" altLang="en-US" sz="2800" b="1" dirty="0"/>
              <a:t>，这些文件即为模块。</a:t>
            </a:r>
            <a:endParaRPr lang="en-US" altLang="zh-CN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65125" y="3051448"/>
            <a:ext cx="8245475" cy="367023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标准库模块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标准库模块是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自带的函数模块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文本处理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文件处理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操作系统功能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网络通信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网络协议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14300" y="2021160"/>
            <a:ext cx="8747125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800" b="1" dirty="0"/>
              <a:t>    </a:t>
            </a:r>
            <a:r>
              <a:rPr lang="zh-CN" altLang="zh-CN" sz="2800" b="1" dirty="0"/>
              <a:t>从用户的角度看，模块也分为</a:t>
            </a:r>
            <a:r>
              <a:rPr lang="zh-CN" altLang="zh-CN" sz="2800" b="1" dirty="0">
                <a:solidFill>
                  <a:srgbClr val="FF0000"/>
                </a:solidFill>
              </a:rPr>
              <a:t>标准库模块</a:t>
            </a:r>
            <a:r>
              <a:rPr lang="zh-CN" altLang="zh-CN" sz="2800" b="1" dirty="0"/>
              <a:t>和</a:t>
            </a:r>
            <a:r>
              <a:rPr lang="zh-CN" altLang="zh-CN" sz="2800" b="1" dirty="0">
                <a:solidFill>
                  <a:srgbClr val="FF0000"/>
                </a:solidFill>
              </a:rPr>
              <a:t>用户自定义模块</a:t>
            </a:r>
            <a:r>
              <a:rPr lang="zh-CN" altLang="zh-CN" sz="2800" b="1" dirty="0"/>
              <a:t>。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4800" y="1374874"/>
            <a:ext cx="8683625" cy="17081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用户自定义模块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用户建立一个模块就是建立扩展名为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5"/>
          <p:cNvSpPr>
            <a:spLocks noChangeArrowheads="1"/>
          </p:cNvSpPr>
          <p:nvPr/>
        </p:nvSpPr>
        <p:spPr bwMode="auto">
          <a:xfrm>
            <a:off x="1524000" y="3038574"/>
            <a:ext cx="2590800" cy="1155700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def printer(x)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es-ES" altLang="zh-CN" sz="28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s-ES" altLang="zh-CN" sz="2800" b="1">
                <a:ea typeface="楷体_GB2312" pitchFamily="49" charset="-122"/>
              </a:rPr>
              <a:t>    print(x)</a:t>
            </a:r>
            <a:endParaRPr lang="es-ES" altLang="zh-CN" sz="2800" b="1">
              <a:ea typeface="楷体_GB2312" pitchFamily="49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38163" y="4347121"/>
            <a:ext cx="8458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将以上程序代码保存成</a:t>
            </a:r>
            <a:r>
              <a:rPr lang="en-US" altLang="zh-CN" sz="2800" b="1"/>
              <a:t>.py</a:t>
            </a:r>
            <a:r>
              <a:rPr lang="zh-CN" altLang="en-US" sz="2800" b="1"/>
              <a:t>程序，例如</a:t>
            </a:r>
            <a:r>
              <a:rPr lang="en-US" altLang="zh-CN" sz="2800" b="1"/>
              <a:t>module.py</a:t>
            </a:r>
            <a:endParaRPr lang="en-US" altLang="zh-CN" sz="2800" b="1"/>
          </a:p>
          <a:p>
            <a:endParaRPr lang="zh-CN" altLang="en-US" sz="2800"/>
          </a:p>
        </p:txBody>
      </p:sp>
      <p:sp>
        <p:nvSpPr>
          <p:cNvPr id="7" name="内容占位符 2"/>
          <p:cNvSpPr>
            <a:spLocks noGrp="1" noChangeArrowheads="1"/>
          </p:cNvSpPr>
          <p:nvPr>
            <p:ph idx="1"/>
          </p:nvPr>
        </p:nvSpPr>
        <p:spPr>
          <a:xfrm>
            <a:off x="1206203" y="316855"/>
            <a:ext cx="7817817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Python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8" grpId="0" animBg="1"/>
      <p:bldP spid="5" grpId="0"/>
      <p:bldP spid="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4799" y="1245369"/>
            <a:ext cx="8683625" cy="17081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导入模块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导入模块就是给出一个访问模块提供的函数、对象和类的方法。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04800" y="2924944"/>
            <a:ext cx="8458200" cy="364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）引入模块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</a:rPr>
              <a:t>import </a:t>
            </a:r>
            <a:r>
              <a:rPr lang="zh-CN" altLang="zh-CN" b="1" dirty="0">
                <a:solidFill>
                  <a:srgbClr val="FF0000"/>
                </a:solidFill>
              </a:rPr>
              <a:t>模块</a:t>
            </a:r>
            <a:endParaRPr lang="zh-CN" altLang="zh-CN" b="1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</a:t>
            </a:r>
            <a:r>
              <a:rPr lang="zh-CN" altLang="zh-CN" b="1" dirty="0"/>
              <a:t>引入模块中的函数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       </a:t>
            </a:r>
            <a:r>
              <a:rPr lang="en-US" altLang="zh-CN" b="1" dirty="0">
                <a:solidFill>
                  <a:srgbClr val="FF0000"/>
                </a:solidFill>
              </a:rPr>
              <a:t>from </a:t>
            </a:r>
            <a:r>
              <a:rPr lang="zh-CN" altLang="zh-CN" b="1" dirty="0">
                <a:solidFill>
                  <a:srgbClr val="FF0000"/>
                </a:solidFill>
              </a:rPr>
              <a:t>模块名</a:t>
            </a:r>
            <a:r>
              <a:rPr lang="en-US" altLang="zh-CN" b="1" dirty="0">
                <a:solidFill>
                  <a:srgbClr val="FF0000"/>
                </a:solidFill>
              </a:rPr>
              <a:t> import </a:t>
            </a:r>
            <a:r>
              <a:rPr lang="zh-CN" altLang="zh-CN" b="1" dirty="0">
                <a:solidFill>
                  <a:srgbClr val="FF0000"/>
                </a:solidFill>
              </a:rPr>
              <a:t>函数名</a:t>
            </a:r>
            <a:endParaRPr lang="zh-CN" altLang="zh-CN" b="1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r>
              <a:rPr lang="zh-CN" altLang="zh-CN" b="1" dirty="0"/>
              <a:t>引入模块中的所有函数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       from </a:t>
            </a:r>
            <a:r>
              <a:rPr lang="zh-CN" altLang="zh-CN" b="1" dirty="0">
                <a:solidFill>
                  <a:srgbClr val="FF0000"/>
                </a:solidFill>
              </a:rPr>
              <a:t>模块名</a:t>
            </a:r>
            <a:r>
              <a:rPr lang="en-US" altLang="zh-CN" b="1" dirty="0">
                <a:solidFill>
                  <a:srgbClr val="FF0000"/>
                </a:solidFill>
              </a:rPr>
              <a:t> import *</a:t>
            </a:r>
            <a:endParaRPr lang="zh-CN" altLang="zh-CN" b="1" dirty="0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>
            <a:spLocks noGrp="1" noChangeArrowheads="1"/>
          </p:cNvSpPr>
          <p:nvPr>
            <p:ph idx="1"/>
          </p:nvPr>
        </p:nvSpPr>
        <p:spPr>
          <a:xfrm>
            <a:off x="1206203" y="316855"/>
            <a:ext cx="7817817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Python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6" grpId="0"/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Arial" panose="020B0604020202020204" pitchFamily="34" charset="0"/>
              <a:defRPr/>
            </a:pPr>
            <a:r>
              <a:rPr lang="zh-CN" altLang="zh-CN" sz="2800" b="1" kern="12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zh-CN" altLang="zh-CN" sz="28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</a:t>
            </a:r>
            <a:endParaRPr lang="zh-CN" altLang="zh-CN" sz="2800" b="1" kern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）是通过目录的形式来组织模块的方法。包类似于文件夹的组织结构，但是与文件夹不同的是，每个包中都包含一个“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”文件（前后各有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个下划线‘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’）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1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创建包时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，类似于文件夹的创建，步骤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新建一个文件夹，文件夹的名称就是新建包的包名；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在新建的包中，创建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__init__.py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文件，该文件内可以包含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初始化语句，也可以没有任何语句。当该新建的包被其他程序导入时，将触发执行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包是一个分层次的文件目录结构，它定义了一个由模块、子包，以及多级子包等组成的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应用环境。</a:t>
            </a:r>
            <a:endPara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476500"/>
            <a:ext cx="2982507" cy="3616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zh-CN" sz="2800" b="1" kern="12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zh-CN" altLang="zh-CN" sz="28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的导入</a:t>
            </a:r>
            <a:endParaRPr lang="zh-CN" altLang="zh-CN" sz="2800" b="1" kern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包本质上是一种通过目录的形式来组织模块的方法。因此，包的导入方式类似于模块的导入方式，主要有以下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种方法： 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包名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[.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[as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]]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包名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[as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[as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 [] </a:t>
            </a:r>
            <a:r>
              <a:rPr lang="zh-CN" altLang="zh-CN" sz="2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括起来的部分，是可省略项。</a:t>
            </a:r>
            <a:endParaRPr lang="zh-CN" altLang="zh-CN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583760" cy="533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3400" noProof="1" smtClean="0"/>
              <a:t>函</a:t>
            </a:r>
            <a:r>
              <a:rPr lang="zh-CN" altLang="en-US" sz="3400" noProof="1"/>
              <a:t>数应用举例</a:t>
            </a:r>
            <a:endParaRPr lang="zh-CN" altLang="en-US" sz="3400" noProof="1"/>
          </a:p>
        </p:txBody>
      </p:sp>
      <p:sp>
        <p:nvSpPr>
          <p:cNvPr id="9219" name="内容占位符 2"/>
          <p:cNvSpPr>
            <a:spLocks noGrp="1" noChangeArrowheads="1"/>
          </p:cNvSpPr>
          <p:nvPr>
            <p:ph idx="1"/>
          </p:nvPr>
        </p:nvSpPr>
        <p:spPr>
          <a:xfrm>
            <a:off x="228600" y="1125690"/>
            <a:ext cx="8763000" cy="68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例：采取插入排序法将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个数据从小到大进行排序。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52400" y="1811490"/>
            <a:ext cx="8915400" cy="4785862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def insert_sort(array):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for i in range(1, len(array)):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 if array[i - 1] &gt; array[i]: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     temp = array[i]</a:t>
            </a:r>
            <a:endParaRPr lang="zh-CN" altLang="en-US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700" b="1">
                <a:ea typeface="楷体_GB2312" pitchFamily="49" charset="-122"/>
              </a:rPr>
              <a:t>        </a:t>
            </a:r>
            <a:r>
              <a:rPr lang="en-US" altLang="zh-CN" sz="2700" b="1">
                <a:ea typeface="楷体_GB2312" pitchFamily="49" charset="-122"/>
              </a:rPr>
              <a:t>index = i</a:t>
            </a:r>
            <a:endParaRPr lang="zh-CN" altLang="en-US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700" b="1">
                <a:ea typeface="楷体_GB2312" pitchFamily="49" charset="-122"/>
              </a:rPr>
              <a:t>        </a:t>
            </a:r>
            <a:r>
              <a:rPr lang="en-US" altLang="zh-CN" sz="2700" b="1">
                <a:ea typeface="楷体_GB2312" pitchFamily="49" charset="-122"/>
              </a:rPr>
              <a:t>while index &gt; 0 and array[index - 1] &gt; temp: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         array[index] = array[index - 1]     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         index -= 1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     array[index] = temp</a:t>
            </a:r>
            <a:endParaRPr lang="zh-CN" altLang="en-US" sz="2700" b="1"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219" grpId="0" build="p"/>
      <p:bldP spid="5" grpId="0" animBg="1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323528" y="1340768"/>
            <a:ext cx="8591872" cy="5149850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b=input("</a:t>
            </a:r>
            <a:r>
              <a:rPr lang="zh-CN" altLang="en-US" sz="2700" b="1">
                <a:ea typeface="楷体_GB2312" pitchFamily="49" charset="-122"/>
              </a:rPr>
              <a:t>请输入一组数据：</a:t>
            </a:r>
            <a:r>
              <a:rPr lang="en-US" altLang="zh-CN" sz="2700" b="1">
                <a:ea typeface="楷体_GB2312" pitchFamily="49" charset="-122"/>
              </a:rPr>
              <a:t>")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array=[ ]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for i in b.split(','):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   array.append(int(i))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print("</a:t>
            </a:r>
            <a:r>
              <a:rPr lang="zh-CN" altLang="en-US" sz="2700" b="1">
                <a:ea typeface="楷体_GB2312" pitchFamily="49" charset="-122"/>
              </a:rPr>
              <a:t>排序前的数据：</a:t>
            </a:r>
            <a:r>
              <a:rPr lang="en-US" altLang="zh-CN" sz="2700" b="1">
                <a:ea typeface="楷体_GB2312" pitchFamily="49" charset="-122"/>
              </a:rPr>
              <a:t>")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print(array)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insert_sort(array)           </a:t>
            </a:r>
            <a:endParaRPr lang="zh-CN" altLang="en-US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print("</a:t>
            </a:r>
            <a:r>
              <a:rPr lang="zh-CN" altLang="en-US" sz="2700" b="1">
                <a:ea typeface="楷体_GB2312" pitchFamily="49" charset="-122"/>
              </a:rPr>
              <a:t>排序后的数据：</a:t>
            </a:r>
            <a:r>
              <a:rPr lang="en-US" altLang="zh-CN" sz="2700" b="1">
                <a:ea typeface="楷体_GB2312" pitchFamily="49" charset="-122"/>
              </a:rPr>
              <a:t>")</a:t>
            </a:r>
            <a:endParaRPr lang="en-US" altLang="zh-CN" sz="2700" b="1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700" b="1">
                <a:ea typeface="楷体_GB2312" pitchFamily="49" charset="-122"/>
              </a:rPr>
              <a:t>print(array)</a:t>
            </a:r>
            <a:endParaRPr lang="en-US" altLang="zh-CN" sz="2700" b="1">
              <a:ea typeface="楷体_GB2312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15616" y="332656"/>
            <a:ext cx="7583760" cy="533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sz="3400" noProof="1" smtClean="0"/>
              <a:t>函数应用举例</a:t>
            </a:r>
            <a:endParaRPr lang="zh-CN" altLang="en-US" sz="34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 animBg="1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693391" y="1124744"/>
            <a:ext cx="520749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r>
              <a:rPr lang="zh-CN" altLang="zh-CN" sz="2800" b="1">
                <a:ea typeface="楷体_GB2312" pitchFamily="49" charset="-122"/>
              </a:rPr>
              <a:t>用递归的方法求</a:t>
            </a:r>
            <a:r>
              <a:rPr lang="en-US" altLang="zh-CN" sz="2800" b="1">
                <a:ea typeface="楷体_GB2312" pitchFamily="49" charset="-122"/>
              </a:rPr>
              <a:t>x</a:t>
            </a:r>
            <a:r>
              <a:rPr lang="en-US" altLang="zh-CN" sz="2800" b="1" baseline="30000">
                <a:ea typeface="楷体_GB2312" pitchFamily="49" charset="-122"/>
              </a:rPr>
              <a:t>n</a:t>
            </a:r>
            <a:r>
              <a:rPr lang="zh-CN" altLang="zh-CN" sz="2800" b="1">
                <a:ea typeface="楷体_GB2312" pitchFamily="49" charset="-122"/>
              </a:rPr>
              <a:t>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47" name="Text Box 11"/>
          <p:cNvSpPr txBox="1">
            <a:spLocks noChangeArrowheads="1"/>
          </p:cNvSpPr>
          <p:nvPr/>
        </p:nvSpPr>
        <p:spPr bwMode="auto">
          <a:xfrm>
            <a:off x="502890" y="2477294"/>
            <a:ext cx="2262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5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递推归纳：</a:t>
            </a:r>
            <a:endParaRPr kumimoji="1" lang="zh-CN" altLang="en-US" sz="25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50" name="Text Box 14"/>
          <p:cNvSpPr txBox="1">
            <a:spLocks noChangeArrowheads="1"/>
          </p:cNvSpPr>
          <p:nvPr/>
        </p:nvSpPr>
        <p:spPr bwMode="auto">
          <a:xfrm>
            <a:off x="464790" y="2939257"/>
            <a:ext cx="18224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5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递归终止：</a:t>
            </a:r>
            <a:endParaRPr kumimoji="1" lang="zh-CN" altLang="en-US" sz="25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54" name="Text Box 18"/>
          <p:cNvSpPr txBox="1">
            <a:spLocks noChangeArrowheads="1"/>
          </p:cNvSpPr>
          <p:nvPr/>
        </p:nvSpPr>
        <p:spPr bwMode="auto">
          <a:xfrm>
            <a:off x="343420" y="3687187"/>
            <a:ext cx="3508499" cy="2800767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def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( x, n):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if  n==0: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    f=1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else: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    f=x*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x,n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return </a:t>
            </a:r>
            <a:r>
              <a:rPr kumimoji="1" lang="en-US" altLang="zh-CN" sz="2200" b="1" dirty="0" smtClean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endParaRPr kumimoji="1" lang="en-US" altLang="zh-CN" sz="22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1387128" y="1629569"/>
          <a:ext cx="35242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公式" r:id="rId1" imgW="1714500" imgH="482600" progId="Equation.3">
                  <p:embed/>
                </p:oleObj>
              </mc:Choice>
              <mc:Fallback>
                <p:oleObj name="公式" r:id="rId1" imgW="1714500" imgH="482600" progId="Equation.3">
                  <p:embed/>
                  <p:pic>
                    <p:nvPicPr>
                      <p:cNvPr id="0" name="图片 2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128" y="1629569"/>
                        <a:ext cx="35242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106265" y="2436019"/>
            <a:ext cx="4625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x</a:t>
            </a:r>
            <a:r>
              <a:rPr lang="en-US" altLang="zh-CN" sz="2800" baseline="30000"/>
              <a:t>n</a:t>
            </a:r>
            <a:r>
              <a:rPr lang="en-US" altLang="zh-CN" sz="2800"/>
              <a:t>→x</a:t>
            </a:r>
            <a:r>
              <a:rPr lang="en-US" altLang="zh-CN" sz="2800" baseline="30000"/>
              <a:t>n-1 </a:t>
            </a:r>
            <a:r>
              <a:rPr lang="en-US" altLang="zh-CN" sz="2800"/>
              <a:t>→ x</a:t>
            </a:r>
            <a:r>
              <a:rPr lang="en-US" altLang="zh-CN" sz="2800" baseline="30000"/>
              <a:t>n-2 </a:t>
            </a:r>
            <a:r>
              <a:rPr lang="en-US" altLang="zh-CN" sz="2800"/>
              <a:t>→</a:t>
            </a:r>
            <a:r>
              <a:rPr lang="zh-CN" altLang="zh-CN" sz="2800"/>
              <a:t>…</a:t>
            </a:r>
            <a:r>
              <a:rPr lang="en-US" altLang="zh-CN" sz="2800"/>
              <a:t>→x</a:t>
            </a:r>
            <a:r>
              <a:rPr lang="en-US" altLang="zh-CN" sz="2800" baseline="30000"/>
              <a:t>2 </a:t>
            </a:r>
            <a:r>
              <a:rPr lang="en-US" altLang="zh-CN" sz="2800"/>
              <a:t>→x</a:t>
            </a:r>
            <a:r>
              <a:rPr lang="en-US" altLang="zh-CN" sz="2800" baseline="30000"/>
              <a:t>1</a:t>
            </a:r>
            <a:endParaRPr lang="zh-CN" altLang="en-US" sz="2800"/>
          </a:p>
        </p:txBody>
      </p:sp>
      <p:sp>
        <p:nvSpPr>
          <p:cNvPr id="3" name="矩形 2"/>
          <p:cNvSpPr/>
          <p:nvPr/>
        </p:nvSpPr>
        <p:spPr>
          <a:xfrm>
            <a:off x="2050703" y="2888457"/>
            <a:ext cx="2452687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n=0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100" baseline="300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995935" y="3687187"/>
            <a:ext cx="4943475" cy="2800767"/>
          </a:xfrm>
          <a:prstGeom prst="rect">
            <a:avLst/>
          </a:prstGeom>
          <a:solidFill>
            <a:srgbClr val="E7FFFF"/>
          </a:solidFill>
          <a:ln w="38100">
            <a:solidFill>
              <a:srgbClr val="00CCFF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200" b="1" dirty="0" err="1" smtClean="0">
                <a:latin typeface="Times New Roman" panose="02020603050405020304" pitchFamily="18" charset="0"/>
                <a:ea typeface="楷体_GB2312" pitchFamily="49" charset="-122"/>
              </a:rPr>
              <a:t>x,n</a:t>
            </a:r>
            <a:r>
              <a:rPr kumimoji="1" lang="en-US" altLang="zh-CN" sz="2200" b="1" dirty="0" smtClean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1" lang="en-US" altLang="zh-CN" sz="2200" b="1" dirty="0" err="1" smtClean="0">
                <a:latin typeface="Times New Roman" panose="02020603050405020304" pitchFamily="18" charset="0"/>
                <a:ea typeface="楷体_GB2312" pitchFamily="49" charset="-122"/>
              </a:rPr>
              <a:t>eval</a:t>
            </a:r>
            <a:r>
              <a:rPr kumimoji="1" lang="en-US" altLang="zh-CN" sz="2200" b="1" dirty="0" smtClean="0">
                <a:latin typeface="Times New Roman" panose="02020603050405020304" pitchFamily="18" charset="0"/>
                <a:ea typeface="楷体_GB2312" pitchFamily="49" charset="-122"/>
              </a:rPr>
              <a:t>(input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("please input x and n"))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if n&lt;0: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n=-n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y=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x,n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y=1/y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else: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 y=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楷体_GB2312" pitchFamily="49" charset="-122"/>
              </a:rPr>
              <a:t>x,n</a:t>
            </a:r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print(y)</a:t>
            </a:r>
            <a:endParaRPr kumimoji="1" lang="en-US" altLang="zh-CN" sz="2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115616" y="332656"/>
            <a:ext cx="7583760" cy="576064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sz="3400" noProof="1" smtClean="0"/>
              <a:t>函数应用举例</a:t>
            </a:r>
            <a:endParaRPr lang="zh-CN" altLang="en-US" sz="34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44745" grpId="0"/>
      <p:bldP spid="244747" grpId="0"/>
      <p:bldP spid="244750" grpId="0"/>
      <p:bldP spid="244754" grpId="0" animBg="1" autoUpdateAnimBg="0"/>
      <p:bldP spid="2" grpId="0"/>
      <p:bldP spid="3" grpId="0"/>
      <p:bldP spid="11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59632" y="332656"/>
            <a:ext cx="4349115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en-US" altLang="zh-CN" sz="3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7054" y="1124744"/>
            <a:ext cx="7874000" cy="56323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函数概述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函数定义和调用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参数传递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变量作用域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函数递归调用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模块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33124" grpId="0" autoUpdateAnimBg="0" build="p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628.148031496063,&quot;width&quot;:2586.492913385827}"/>
</p:tagLst>
</file>

<file path=ppt/tags/tag2.xml><?xml version="1.0" encoding="utf-8"?>
<p:tagLst xmlns:p="http://schemas.openxmlformats.org/presentationml/2006/main">
  <p:tag name="COMMONDATA" val="eyJoZGlkIjoiNzBjZmIyMTU1Y2MwZjFjNDA0ZTk0YmNlZGI1Y2ViMDkifQ=="/>
  <p:tag name="KSO_WPP_MARK_KEY" val="c43cd849-dee3-4b9d-8b30-31a2cfb87273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solidFill>
          <a:srgbClr val="00CCFF">
            <a:alpha val="92000"/>
          </a:srgbClr>
        </a:solidFill>
        <a:ln w="9525">
          <a:solidFill>
            <a:srgbClr val="9900CC"/>
          </a:solidFill>
          <a:miter lim="800000"/>
        </a:ln>
      </a:spPr>
      <a:bodyPr wrap="none" anchor="ctr"/>
      <a:lstStyle>
        <a:defPPr>
          <a:lnSpc>
            <a:spcPct val="150000"/>
          </a:lnSpc>
          <a:defRPr sz="2800" dirty="0">
            <a:solidFill>
              <a:schemeClr val="tx1"/>
            </a:solidFill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7465</Words>
  <Application>WPS 演示</Application>
  <PresentationFormat>全屏显示(4:3)</PresentationFormat>
  <Paragraphs>600</Paragraphs>
  <Slides>38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38</vt:i4>
      </vt:variant>
    </vt:vector>
  </HeadingPairs>
  <TitlesOfParts>
    <vt:vector size="56" baseType="lpstr">
      <vt:lpstr>Arial</vt:lpstr>
      <vt:lpstr>宋体</vt:lpstr>
      <vt:lpstr>Wingdings</vt:lpstr>
      <vt:lpstr>黑体</vt:lpstr>
      <vt:lpstr>微软雅黑</vt:lpstr>
      <vt:lpstr>Times New Roman</vt:lpstr>
      <vt:lpstr>Tahoma</vt:lpstr>
      <vt:lpstr>楷体_GB2312</vt:lpstr>
      <vt:lpstr>新宋体</vt:lpstr>
      <vt:lpstr>隶书</vt:lpstr>
      <vt:lpstr>Arial Unicode MS</vt:lpstr>
      <vt:lpstr>Calibri</vt:lpstr>
      <vt:lpstr>Wingdings</vt:lpstr>
      <vt:lpstr>默认设计模板</vt:lpstr>
      <vt:lpstr>Equation.3</vt:lpstr>
      <vt:lpstr>Equation.3</vt:lpstr>
      <vt:lpstr>Equation.3</vt:lpstr>
      <vt:lpstr>Equation.3</vt:lpstr>
      <vt:lpstr>PowerPoint 演示文稿</vt:lpstr>
      <vt:lpstr>《Python程序设计》</vt:lpstr>
      <vt:lpstr>第2章  Python语言基础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设计递归算法的方法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函数应用举例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大学计算机基础A</dc:title>
  <dc:creator>张双狮</dc:creator>
  <cp:lastModifiedBy>Dylan</cp:lastModifiedBy>
  <cp:revision>232</cp:revision>
  <dcterms:created xsi:type="dcterms:W3CDTF">2018-03-01T14:09:00Z</dcterms:created>
  <dcterms:modified xsi:type="dcterms:W3CDTF">2023-01-09T06:50:52Z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AE65FD6E22704E25B9E0215FB73E3D58</vt:lpwstr>
  </property>
</Properties>
</file>