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9"/>
  </p:notesMasterIdLst>
  <p:handoutMasterIdLst>
    <p:handoutMasterId r:id="rId50"/>
  </p:handoutMasterIdLst>
  <p:sldIdLst>
    <p:sldId id="777" r:id="rId2"/>
    <p:sldId id="256" r:id="rId3"/>
    <p:sldId id="420" r:id="rId4"/>
    <p:sldId id="594" r:id="rId5"/>
    <p:sldId id="734" r:id="rId6"/>
    <p:sldId id="735" r:id="rId7"/>
    <p:sldId id="736" r:id="rId8"/>
    <p:sldId id="737" r:id="rId9"/>
    <p:sldId id="738" r:id="rId10"/>
    <p:sldId id="739" r:id="rId11"/>
    <p:sldId id="740" r:id="rId12"/>
    <p:sldId id="741" r:id="rId13"/>
    <p:sldId id="742" r:id="rId14"/>
    <p:sldId id="743" r:id="rId15"/>
    <p:sldId id="744" r:id="rId16"/>
    <p:sldId id="745" r:id="rId17"/>
    <p:sldId id="746" r:id="rId18"/>
    <p:sldId id="747" r:id="rId19"/>
    <p:sldId id="748" r:id="rId20"/>
    <p:sldId id="749" r:id="rId21"/>
    <p:sldId id="750" r:id="rId22"/>
    <p:sldId id="751" r:id="rId23"/>
    <p:sldId id="752" r:id="rId24"/>
    <p:sldId id="753" r:id="rId25"/>
    <p:sldId id="754" r:id="rId26"/>
    <p:sldId id="755" r:id="rId27"/>
    <p:sldId id="756" r:id="rId28"/>
    <p:sldId id="757" r:id="rId29"/>
    <p:sldId id="758" r:id="rId30"/>
    <p:sldId id="759" r:id="rId31"/>
    <p:sldId id="760" r:id="rId32"/>
    <p:sldId id="761" r:id="rId33"/>
    <p:sldId id="762" r:id="rId34"/>
    <p:sldId id="763" r:id="rId35"/>
    <p:sldId id="764" r:id="rId36"/>
    <p:sldId id="765" r:id="rId37"/>
    <p:sldId id="766" r:id="rId38"/>
    <p:sldId id="767" r:id="rId39"/>
    <p:sldId id="768" r:id="rId40"/>
    <p:sldId id="769" r:id="rId41"/>
    <p:sldId id="770" r:id="rId42"/>
    <p:sldId id="771" r:id="rId43"/>
    <p:sldId id="772" r:id="rId44"/>
    <p:sldId id="773" r:id="rId45"/>
    <p:sldId id="774" r:id="rId46"/>
    <p:sldId id="775" r:id="rId47"/>
    <p:sldId id="776" r:id="rId48"/>
  </p:sldIdLst>
  <p:sldSz cx="9144000" cy="6858000" type="screen4x3"/>
  <p:notesSz cx="6858000" cy="9144000"/>
  <p:custDataLst>
    <p:tags r:id="rId51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1" userDrawn="1">
          <p15:clr>
            <a:srgbClr val="A4A3A4"/>
          </p15:clr>
        </p15:guide>
        <p15:guide id="2" pos="285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3300"/>
    <a:srgbClr val="FFFFCC"/>
    <a:srgbClr val="FFCC66"/>
    <a:srgbClr val="CC6600"/>
    <a:srgbClr val="00CC00"/>
    <a:srgbClr val="666633"/>
    <a:srgbClr val="EAEA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6" autoAdjust="0"/>
    <p:restoredTop sz="94660" autoAdjust="0"/>
  </p:normalViewPr>
  <p:slideViewPr>
    <p:cSldViewPr>
      <p:cViewPr varScale="1">
        <p:scale>
          <a:sx n="114" d="100"/>
          <a:sy n="114" d="100"/>
        </p:scale>
        <p:origin x="1560" y="84"/>
      </p:cViewPr>
      <p:guideLst>
        <p:guide orient="horz" pos="2161"/>
        <p:guide pos="285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135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handoutMaster" Target="handoutMasters/handoutMaster1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tags" Target="tags/tag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2025/4/27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buFont typeface="Arial" panose="020B0604020202020204" pitchFamily="34" charset="0"/>
              <a:buNone/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r">
              <a:buFont typeface="Arial" panose="020B0604020202020204" pitchFamily="34" charset="0"/>
              <a:buNone/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5604" name="Rectangle 4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20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buFont typeface="Arial" panose="020B0604020202020204" pitchFamily="34" charset="0"/>
              <a:buNone/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/>
            </a:lvl1pPr>
          </a:lstStyle>
          <a:p>
            <a:fld id="{D3A0B013-71C8-4941-9559-40A0550433EF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200"/>
              <a:t>第一章第一节</a:t>
            </a:r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200"/>
              <a:t>第一章第一节</a:t>
            </a:r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群众少跑腿，数据多跑路</a:t>
            </a:r>
            <a:endParaRPr lang="en-US" altLang="zh-CN" dirty="0"/>
          </a:p>
          <a:p>
            <a:r>
              <a:rPr lang="zh-CN" altLang="en-US" dirty="0"/>
              <a:t>民警少流汗，机器多计算</a:t>
            </a:r>
            <a:endParaRPr lang="en-US" altLang="zh-CN"/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A0B013-71C8-4941-9559-40A0550433EF}" type="slidenum">
              <a:rPr lang="en-US" altLang="zh-CN" smtClean="0"/>
              <a:t>5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Tx/>
              <a:buNone/>
            </a:pPr>
            <a:fld id="{E043B9CA-24E0-4DF2-B10D-F71D42BBBD4D}" type="slidenum">
              <a:rPr lang="en-US" altLang="zh-CN" sz="1200" smtClean="0"/>
              <a:t>9</a:t>
            </a:fld>
            <a:endParaRPr lang="en-US" altLang="zh-CN" sz="1200"/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/>
      </p:sp>
      <p:sp>
        <p:nvSpPr>
          <p:cNvPr id="48132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Tx/>
              <a:buNone/>
            </a:pPr>
            <a:fld id="{4BADA36A-69F6-4BDC-BC3C-4913E7C2FC4F}" type="slidenum">
              <a:rPr lang="en-US" altLang="zh-CN" sz="1200" smtClean="0"/>
              <a:t>19</a:t>
            </a:fld>
            <a:endParaRPr lang="en-US" altLang="zh-CN" sz="1200"/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/>
      </p:sp>
      <p:sp>
        <p:nvSpPr>
          <p:cNvPr id="44036" name="Rectangle 3"/>
          <p:cNvSpPr>
            <a:spLocks noGrp="1" noChangeArrowheads="1"/>
          </p:cNvSpPr>
          <p:nvPr>
            <p:ph type="body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/>
              <a:t>问题分析： </a:t>
            </a:r>
            <a:r>
              <a:rPr lang="en-US" altLang="zh-CN"/>
              <a:t>pow=1*x*x*…*x</a:t>
            </a:r>
          </a:p>
          <a:p>
            <a:pPr eaLnBrk="1" hangingPunct="1"/>
            <a:r>
              <a:rPr lang="en-US" altLang="zh-CN"/>
              <a:t>      </a:t>
            </a:r>
            <a:r>
              <a:rPr lang="zh-CN" altLang="en-US"/>
              <a:t>可用一变量</a:t>
            </a:r>
            <a:r>
              <a:rPr lang="en-US" altLang="zh-CN"/>
              <a:t>pow</a:t>
            </a:r>
            <a:r>
              <a:rPr lang="zh-CN" altLang="en-US"/>
              <a:t>存储累乘结果，初值</a:t>
            </a:r>
            <a:r>
              <a:rPr lang="en-US" altLang="zh-CN"/>
              <a:t>pow=1</a:t>
            </a:r>
            <a:r>
              <a:rPr lang="zh-CN" altLang="en-US"/>
              <a:t>，不断给其乘</a:t>
            </a:r>
            <a:r>
              <a:rPr lang="en-US" altLang="zh-CN"/>
              <a:t>pow*=x</a:t>
            </a:r>
            <a:r>
              <a:rPr lang="zh-CN" altLang="en-US"/>
              <a:t>，累乘</a:t>
            </a:r>
            <a:r>
              <a:rPr lang="en-US" altLang="zh-CN"/>
              <a:t>10</a:t>
            </a:r>
            <a:r>
              <a:rPr lang="zh-CN" altLang="en-US"/>
              <a:t>次</a:t>
            </a:r>
          </a:p>
          <a:p>
            <a:pPr eaLnBrk="1" hangingPunct="1"/>
            <a:r>
              <a:rPr lang="zh-CN" altLang="en-US"/>
              <a:t>循环体：</a:t>
            </a:r>
          </a:p>
          <a:p>
            <a:pPr eaLnBrk="1" hangingPunct="1"/>
            <a:r>
              <a:rPr lang="zh-CN" altLang="en-US"/>
              <a:t>     </a:t>
            </a:r>
            <a:r>
              <a:rPr lang="en-US" altLang="zh-CN"/>
              <a:t>pow*=x</a:t>
            </a:r>
          </a:p>
          <a:p>
            <a:pPr eaLnBrk="1" hangingPunct="1"/>
            <a:r>
              <a:rPr lang="zh-CN" altLang="en-US"/>
              <a:t>循环条件：</a:t>
            </a:r>
          </a:p>
          <a:p>
            <a:pPr eaLnBrk="1" hangingPunct="1"/>
            <a:r>
              <a:rPr lang="zh-CN" altLang="en-US"/>
              <a:t>       设置一循环控制变量 </a:t>
            </a:r>
            <a:r>
              <a:rPr lang="en-US" altLang="zh-CN"/>
              <a:t>i </a:t>
            </a:r>
            <a:r>
              <a:rPr lang="zh-CN" altLang="en-US"/>
              <a:t>统计累乘次数。</a:t>
            </a:r>
            <a:r>
              <a:rPr lang="en-US" altLang="zh-CN"/>
              <a:t>i</a:t>
            </a:r>
            <a:r>
              <a:rPr lang="zh-CN" altLang="en-US"/>
              <a:t>初值</a:t>
            </a:r>
            <a:r>
              <a:rPr lang="en-US" altLang="zh-CN"/>
              <a:t>1</a:t>
            </a:r>
            <a:r>
              <a:rPr lang="zh-CN" altLang="en-US"/>
              <a:t>， 循环条件 </a:t>
            </a:r>
            <a:r>
              <a:rPr lang="en-US" altLang="zh-CN"/>
              <a:t>i&lt;10</a:t>
            </a:r>
            <a:r>
              <a:rPr lang="zh-CN" altLang="en-US"/>
              <a:t>，</a:t>
            </a:r>
          </a:p>
          <a:p>
            <a:pPr eaLnBrk="1" hangingPunct="1"/>
            <a:r>
              <a:rPr lang="zh-CN" altLang="en-US"/>
              <a:t>循环变量的修改：</a:t>
            </a:r>
          </a:p>
          <a:p>
            <a:pPr eaLnBrk="1" hangingPunct="1"/>
            <a:r>
              <a:rPr lang="zh-CN" altLang="en-US"/>
              <a:t>      每循环一次，</a:t>
            </a:r>
            <a:r>
              <a:rPr lang="en-US" altLang="zh-CN"/>
              <a:t>i++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Tx/>
              <a:buNone/>
            </a:pPr>
            <a:fld id="{021D8AAB-DCED-46A9-BF08-B453012F5F2F}" type="slidenum">
              <a:rPr lang="en-US" altLang="zh-CN" sz="1200" smtClean="0"/>
              <a:t>20</a:t>
            </a:fld>
            <a:endParaRPr lang="en-US" altLang="zh-CN" sz="1200"/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/>
      </p:sp>
      <p:sp>
        <p:nvSpPr>
          <p:cNvPr id="45060" name="Rectangle 3"/>
          <p:cNvSpPr>
            <a:spLocks noGrp="1" noChangeArrowheads="1"/>
          </p:cNvSpPr>
          <p:nvPr>
            <p:ph type="body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Tx/>
              <a:buNone/>
            </a:pPr>
            <a:fld id="{76BDC559-78B3-46D4-9306-A4FFE413409E}" type="slidenum">
              <a:rPr lang="en-US" altLang="zh-CN" sz="1200" smtClean="0"/>
              <a:t>25</a:t>
            </a:fld>
            <a:endParaRPr lang="en-US" altLang="zh-CN" sz="1200"/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/>
      </p:sp>
      <p:sp>
        <p:nvSpPr>
          <p:cNvPr id="49156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Tx/>
              <a:buNone/>
            </a:pPr>
            <a:fld id="{0C6E52C4-612F-459E-A576-DEEF4E576008}" type="slidenum">
              <a:rPr lang="en-US" altLang="zh-CN" sz="1200" smtClean="0"/>
              <a:t>26</a:t>
            </a:fld>
            <a:endParaRPr lang="en-US" altLang="zh-CN" sz="1200"/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/>
      </p:sp>
      <p:sp>
        <p:nvSpPr>
          <p:cNvPr id="50180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Tx/>
              <a:buNone/>
            </a:pPr>
            <a:fld id="{76B0C39D-8265-49B9-B2EC-A310906F71EA}" type="slidenum">
              <a:rPr lang="en-US" altLang="zh-CN" sz="1200" smtClean="0"/>
              <a:t>29</a:t>
            </a:fld>
            <a:endParaRPr lang="en-US" altLang="zh-CN" sz="1200"/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/>
      </p:sp>
      <p:sp>
        <p:nvSpPr>
          <p:cNvPr id="51204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Tx/>
              <a:buNone/>
            </a:pPr>
            <a:fld id="{EACF8899-0CA3-4BA4-B6E7-2B614CAC4424}" type="slidenum">
              <a:rPr lang="en-US" altLang="zh-CN" sz="1200" smtClean="0"/>
              <a:t>33</a:t>
            </a:fld>
            <a:endParaRPr lang="en-US" altLang="zh-CN" sz="1200"/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/>
      </p:sp>
      <p:sp>
        <p:nvSpPr>
          <p:cNvPr id="52228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Tx/>
              <a:buNone/>
            </a:pPr>
            <a:fld id="{C922BD8E-F624-4211-BBDD-C0C811A9ECAD}" type="slidenum">
              <a:rPr lang="en-US" altLang="zh-CN" sz="1200" smtClean="0"/>
              <a:t>34</a:t>
            </a:fld>
            <a:endParaRPr lang="en-US" altLang="zh-CN" sz="1200"/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/>
      </p:sp>
      <p:sp>
        <p:nvSpPr>
          <p:cNvPr id="53252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Tx/>
              <a:buNone/>
            </a:pPr>
            <a:fld id="{36530AEE-F778-442C-9525-C88CB2CA34CD}" type="slidenum">
              <a:rPr lang="en-US" altLang="zh-CN" sz="1200" smtClean="0"/>
              <a:t>35</a:t>
            </a:fld>
            <a:endParaRPr lang="en-US" altLang="zh-CN" sz="1200"/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/>
      </p:sp>
      <p:sp>
        <p:nvSpPr>
          <p:cNvPr id="54276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Tx/>
              <a:buNone/>
            </a:pPr>
            <a:fld id="{5A60D87C-92AE-4C23-AB53-B318003FCA56}" type="slidenum">
              <a:rPr lang="en-US" altLang="zh-CN" sz="1200" smtClean="0"/>
              <a:t>36</a:t>
            </a:fld>
            <a:endParaRPr lang="en-US" altLang="zh-CN" sz="1200"/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/>
      </p:sp>
      <p:sp>
        <p:nvSpPr>
          <p:cNvPr id="55300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6323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632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Tx/>
              <a:buNone/>
            </a:pPr>
            <a:fld id="{477C25A6-F2E2-47E0-B77D-EC317D1BC240}" type="slidenum">
              <a:rPr lang="en-US" altLang="zh-CN" sz="1200" smtClean="0"/>
              <a:t>40</a:t>
            </a:fld>
            <a:endParaRPr lang="en-US" altLang="zh-CN" sz="12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5" name="Rectangle 2"/>
          <p:cNvSpPr txBox="1">
            <a:spLocks noChangeArrowheads="1"/>
          </p:cNvSpPr>
          <p:nvPr userDrawn="1"/>
        </p:nvSpPr>
        <p:spPr bwMode="auto">
          <a:xfrm>
            <a:off x="1186780" y="138336"/>
            <a:ext cx="59055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>
              <a:buFontTx/>
            </a:pPr>
            <a:endParaRPr lang="zh-CN" altLang="en-US" b="1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advTm="6046"/>
    </mc:Choice>
    <mc:Fallback xmlns="">
      <p:transition advTm="6046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2"/>
          <p:cNvSpPr txBox="1">
            <a:spLocks noChangeArrowheads="1"/>
          </p:cNvSpPr>
          <p:nvPr userDrawn="1"/>
        </p:nvSpPr>
        <p:spPr bwMode="auto">
          <a:xfrm>
            <a:off x="1186780" y="138336"/>
            <a:ext cx="59055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>
              <a:buFontTx/>
            </a:pPr>
            <a:endParaRPr lang="zh-CN" altLang="en-US" b="1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advTm="6046"/>
    </mc:Choice>
    <mc:Fallback xmlns="">
      <p:transition advTm="6046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43000" y="76200"/>
            <a:ext cx="8001000" cy="9144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advTm="6046"/>
    </mc:Choice>
    <mc:Fallback xmlns="">
      <p:transition advTm="6046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advTm="6046"/>
    </mc:Choice>
    <mc:Fallback xmlns="">
      <p:transition advTm="6046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advTm="6046"/>
    </mc:Choice>
    <mc:Fallback xmlns="">
      <p:transition advTm="6046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85800" y="152400"/>
            <a:ext cx="7696200" cy="53340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13716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5560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7183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F8307B-0457-49B6-BE50-0722BDC6F14F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advTm="6046"/>
    </mc:Choice>
    <mc:Fallback xmlns="">
      <p:transition advTm="6046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FFD017-E1FD-47DD-9F0A-7DD84D3BCED7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advTm="6046"/>
    </mc:Choice>
    <mc:Fallback xmlns="">
      <p:transition advTm="6046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7" name="Rectangle 7"/>
          <p:cNvSpPr>
            <a:spLocks noChangeArrowheads="1"/>
          </p:cNvSpPr>
          <p:nvPr userDrawn="1"/>
        </p:nvSpPr>
        <p:spPr bwMode="auto">
          <a:xfrm>
            <a:off x="0" y="0"/>
            <a:ext cx="9144000" cy="1066800"/>
          </a:xfrm>
          <a:prstGeom prst="rect">
            <a:avLst/>
          </a:prstGeom>
          <a:solidFill>
            <a:srgbClr val="0056AC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2053" name="Rectangle 11"/>
          <p:cNvSpPr>
            <a:spLocks noGrp="1" noChangeArrowheads="1"/>
          </p:cNvSpPr>
          <p:nvPr>
            <p:ph type="title"/>
          </p:nvPr>
        </p:nvSpPr>
        <p:spPr bwMode="auto">
          <a:xfrm>
            <a:off x="1143000" y="76200"/>
            <a:ext cx="80010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0" name="Rectangle 12"/>
          <p:cNvSpPr>
            <a:spLocks noChangeArrowheads="1"/>
          </p:cNvSpPr>
          <p:nvPr userDrawn="1"/>
        </p:nvSpPr>
        <p:spPr bwMode="auto">
          <a:xfrm>
            <a:off x="0" y="6629400"/>
            <a:ext cx="9144000" cy="228600"/>
          </a:xfrm>
          <a:prstGeom prst="rect">
            <a:avLst/>
          </a:prstGeom>
          <a:gradFill rotWithShape="1">
            <a:gsLst>
              <a:gs pos="0">
                <a:srgbClr val="0056AC"/>
              </a:gs>
              <a:gs pos="100000">
                <a:schemeClr val="folHlink"/>
              </a:gs>
            </a:gsLst>
            <a:lin ang="0" scaled="1"/>
          </a:gradFill>
          <a:ln w="9525">
            <a:noFill/>
            <a:miter lim="800000"/>
          </a:ln>
        </p:spPr>
        <p:txBody>
          <a:bodyPr wrap="none" anchor="ctr"/>
          <a:lstStyle/>
          <a:p>
            <a:pPr algn="l">
              <a:defRPr/>
            </a:pPr>
            <a:r>
              <a:rPr lang="en-US" sz="1200" dirty="0">
                <a:solidFill>
                  <a:schemeClr val="bg1"/>
                </a:solidFill>
              </a:rPr>
              <a:t>《</a:t>
            </a:r>
            <a:r>
              <a:rPr lang="en-US" altLang="zh-CN" sz="1200" dirty="0">
                <a:solidFill>
                  <a:schemeClr val="bg1"/>
                </a:solidFill>
              </a:rPr>
              <a:t>Python</a:t>
            </a:r>
            <a:r>
              <a:rPr lang="zh-CN" altLang="en-US" sz="1200" dirty="0">
                <a:solidFill>
                  <a:schemeClr val="bg1"/>
                </a:solidFill>
              </a:rPr>
              <a:t>程序设计</a:t>
            </a:r>
            <a:r>
              <a:rPr lang="en-US" sz="1200" dirty="0">
                <a:solidFill>
                  <a:schemeClr val="bg1"/>
                </a:solidFill>
              </a:rPr>
              <a:t>》</a:t>
            </a:r>
          </a:p>
        </p:txBody>
      </p:sp>
      <p:grpSp>
        <p:nvGrpSpPr>
          <p:cNvPr id="8" name="组合 7"/>
          <p:cNvGrpSpPr/>
          <p:nvPr userDrawn="1"/>
        </p:nvGrpSpPr>
        <p:grpSpPr>
          <a:xfrm>
            <a:off x="36316" y="0"/>
            <a:ext cx="1084458" cy="1080120"/>
            <a:chOff x="-37861" y="1124744"/>
            <a:chExt cx="1084458" cy="1080120"/>
          </a:xfrm>
        </p:grpSpPr>
        <p:sp>
          <p:nvSpPr>
            <p:cNvPr id="9" name="椭圆 8"/>
            <p:cNvSpPr/>
            <p:nvPr userDrawn="1"/>
          </p:nvSpPr>
          <p:spPr bwMode="auto">
            <a:xfrm>
              <a:off x="36316" y="1196752"/>
              <a:ext cx="936104" cy="936104"/>
            </a:xfrm>
            <a:prstGeom prst="ellips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pic>
          <p:nvPicPr>
            <p:cNvPr id="10" name="图片 9"/>
            <p:cNvPicPr>
              <a:picLocks noChangeAspect="1"/>
            </p:cNvPicPr>
            <p:nvPr userDrawn="1"/>
          </p:nvPicPr>
          <p:blipFill>
            <a:blip r:embed="rId9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37861" y="1124744"/>
              <a:ext cx="1084458" cy="1080120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mc:AlternateContent xmlns:mc="http://schemas.openxmlformats.org/markup-compatibility/2006" xmlns:p14="http://schemas.microsoft.com/office/powerpoint/2010/main">
    <mc:Choice Requires="p14">
      <p:transition advTm="6046"/>
    </mc:Choice>
    <mc:Fallback xmlns="">
      <p:transition advTm="6046"/>
    </mc:Fallback>
  </mc:AlternateContent>
  <p:txStyles>
    <p:titleStyle>
      <a:lvl1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panose="020B0604020202020204" pitchFamily="34" charset="0"/>
          <a:ea typeface="黑体" panose="02010609060101010101" pitchFamily="49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panose="020B0604020202020204" pitchFamily="34" charset="0"/>
          <a:ea typeface="黑体" panose="02010609060101010101" pitchFamily="49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panose="020B0604020202020204" pitchFamily="34" charset="0"/>
          <a:ea typeface="黑体" panose="02010609060101010101" pitchFamily="49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panose="020B0604020202020204" pitchFamily="34" charset="0"/>
          <a:ea typeface="黑体" panose="02010609060101010101" pitchFamily="49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panose="020B0604020202020204" pitchFamily="34" charset="0"/>
          <a:ea typeface="黑体" panose="02010609060101010101" pitchFamily="49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panose="020B0604020202020204" pitchFamily="34" charset="0"/>
          <a:ea typeface="黑体" panose="02010609060101010101" pitchFamily="49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panose="020B0604020202020204" pitchFamily="34" charset="0"/>
          <a:ea typeface="黑体" panose="02010609060101010101" pitchFamily="49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panose="020B0604020202020204" pitchFamily="34" charset="0"/>
          <a:ea typeface="黑体" panose="02010609060101010101" pitchFamily="49" charset="-122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" Target="slide45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1914302"/>
            <a:ext cx="9144000" cy="1512168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0" name="Rectangle 2"/>
          <p:cNvSpPr txBox="1">
            <a:spLocks noChangeArrowheads="1"/>
          </p:cNvSpPr>
          <p:nvPr/>
        </p:nvSpPr>
        <p:spPr bwMode="gray">
          <a:xfrm>
            <a:off x="-36195" y="1916748"/>
            <a:ext cx="9144000" cy="15001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algn="ctr">
              <a:defRPr/>
            </a:pPr>
            <a:r>
              <a:rPr lang="zh-CN" altLang="en-US" sz="4400" b="1" dirty="0">
                <a:solidFill>
                  <a:schemeClr val="bg1"/>
                </a:solidFill>
                <a:sym typeface="+mn-ea"/>
              </a:rPr>
              <a:t>Python程序设计</a:t>
            </a:r>
            <a:br>
              <a:rPr lang="zh-CN" altLang="en-US" sz="4400" dirty="0">
                <a:solidFill>
                  <a:schemeClr val="bg1"/>
                </a:solidFill>
              </a:rPr>
            </a:br>
            <a:r>
              <a:rPr lang="zh-CN" altLang="zh-CN" sz="4400" dirty="0">
                <a:solidFill>
                  <a:schemeClr val="bg1"/>
                </a:solidFill>
                <a:effectLst/>
              </a:rPr>
              <a:t> </a:t>
            </a:r>
            <a:r>
              <a:rPr lang="en-US" altLang="zh-CN" sz="3200" b="1" dirty="0">
                <a:solidFill>
                  <a:schemeClr val="bg1"/>
                </a:solidFill>
                <a:effectLst/>
              </a:rPr>
              <a:t>Python Programming</a:t>
            </a:r>
          </a:p>
        </p:txBody>
      </p:sp>
      <p:pic>
        <p:nvPicPr>
          <p:cNvPr id="18438" name="图片 7" descr="saiip_logo_landscape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195" y="1052830"/>
            <a:ext cx="3643313" cy="501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39" name="图片 5" descr="nwpu_logo+name.gif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2067" y="1104171"/>
            <a:ext cx="1642423" cy="398874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1547495" y="3645535"/>
            <a:ext cx="6704330" cy="2794000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/>
          <a:p>
            <a:pPr defTabSz="678180">
              <a:lnSpc>
                <a:spcPct val="90000"/>
              </a:lnSpc>
              <a:defRPr/>
            </a:pPr>
            <a:r>
              <a:rPr lang="zh-CN" altLang="en-US" sz="3200" b="1" dirty="0">
                <a:latin typeface="Arial" panose="020B0604020202020204" pitchFamily="34" charset="0"/>
              </a:rPr>
              <a:t>主    讲：	邹晓春  电子信息学院</a:t>
            </a:r>
            <a:br>
              <a:rPr lang="zh-CN" altLang="en-US" sz="3200" b="1" dirty="0">
                <a:latin typeface="Arial" panose="020B0604020202020204" pitchFamily="34" charset="0"/>
              </a:rPr>
            </a:br>
            <a:endParaRPr lang="en-US" altLang="zh-CN" sz="3200" b="1" dirty="0">
              <a:latin typeface="Arial" panose="020B0604020202020204" pitchFamily="34" charset="0"/>
            </a:endParaRPr>
          </a:p>
          <a:p>
            <a:pPr defTabSz="678180">
              <a:lnSpc>
                <a:spcPct val="90000"/>
              </a:lnSpc>
              <a:defRPr/>
            </a:pPr>
            <a:r>
              <a:rPr lang="en-US" altLang="zh-CN" sz="3200" b="1" dirty="0">
                <a:latin typeface="Arial" panose="020B0604020202020204" pitchFamily="34" charset="0"/>
              </a:rPr>
              <a:t>QQ  </a:t>
            </a:r>
            <a:r>
              <a:rPr lang="zh-CN" altLang="en-US" sz="3200" b="1" dirty="0">
                <a:latin typeface="Arial" panose="020B0604020202020204" pitchFamily="34" charset="0"/>
              </a:rPr>
              <a:t>群：   Python程序设计</a:t>
            </a:r>
            <a:r>
              <a:rPr lang="en-US" altLang="zh-CN" sz="3200" b="1" dirty="0">
                <a:latin typeface="Arial" panose="020B0604020202020204" pitchFamily="34" charset="0"/>
              </a:rPr>
              <a:t>                  </a:t>
            </a:r>
          </a:p>
          <a:p>
            <a:pPr defTabSz="678180">
              <a:lnSpc>
                <a:spcPct val="90000"/>
              </a:lnSpc>
              <a:defRPr/>
            </a:pPr>
            <a:r>
              <a:rPr lang="en-US" altLang="zh-CN" sz="3200" b="1" dirty="0">
                <a:latin typeface="Arial" panose="020B0604020202020204" pitchFamily="34" charset="0"/>
              </a:rPr>
              <a:t>                  760581125</a:t>
            </a:r>
            <a:br>
              <a:rPr lang="zh-CN" altLang="en-US" sz="3200" b="1" dirty="0">
                <a:latin typeface="Arial" panose="020B0604020202020204" pitchFamily="34" charset="0"/>
              </a:rPr>
            </a:br>
            <a:endParaRPr lang="zh-CN" altLang="en-US" sz="3200" b="1" dirty="0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panose="020B0604020202020204" pitchFamily="34" charset="0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3674" y="1124270"/>
            <a:ext cx="488159" cy="476565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3965907" y="1124905"/>
            <a:ext cx="3587036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空天地海一体化大数据应用技术国家工程实验室</a:t>
            </a:r>
            <a:endParaRPr lang="en-US" altLang="zh-CN" sz="12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8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Integrated Air-Space-Ground-Ocean Big Data Application Technology</a:t>
            </a:r>
            <a:endParaRPr lang="zh-CN" altLang="en-US" sz="8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" name="标题 3"/>
          <p:cNvSpPr txBox="1"/>
          <p:nvPr/>
        </p:nvSpPr>
        <p:spPr>
          <a:xfrm>
            <a:off x="1187624" y="189146"/>
            <a:ext cx="7772400" cy="720080"/>
          </a:xfrm>
          <a:prstGeom prst="rect">
            <a:avLst/>
          </a:prstGeom>
        </p:spPr>
        <p:txBody>
          <a:bodyPr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r>
              <a:rPr lang="zh-CN" altLang="en-US" dirty="0"/>
              <a:t>第</a:t>
            </a:r>
            <a:r>
              <a:rPr lang="en-US" altLang="zh-CN" dirty="0"/>
              <a:t>4</a:t>
            </a:r>
            <a:r>
              <a:rPr lang="zh-CN" altLang="en-US" dirty="0"/>
              <a:t>章 </a:t>
            </a:r>
            <a:r>
              <a:rPr lang="en-US" altLang="zh-CN" dirty="0"/>
              <a:t>Python</a:t>
            </a:r>
            <a:r>
              <a:rPr lang="zh-CN" altLang="en-US" dirty="0"/>
              <a:t>控制结构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advTm="6046"/>
    </mc:Choice>
    <mc:Fallback xmlns="">
      <p:transition advTm="6046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2"/>
          <p:cNvSpPr>
            <a:spLocks noChangeArrowheads="1"/>
          </p:cNvSpPr>
          <p:nvPr/>
        </p:nvSpPr>
        <p:spPr bwMode="auto">
          <a:xfrm>
            <a:off x="0" y="0"/>
            <a:ext cx="9144000" cy="2133600"/>
          </a:xfrm>
          <a:prstGeom prst="rect">
            <a:avLst/>
          </a:prstGeom>
          <a:solidFill>
            <a:srgbClr val="0056AC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103" name="Oval 7"/>
          <p:cNvSpPr>
            <a:spLocks noChangeArrowheads="1"/>
          </p:cNvSpPr>
          <p:nvPr/>
        </p:nvSpPr>
        <p:spPr bwMode="auto">
          <a:xfrm>
            <a:off x="1447800" y="304800"/>
            <a:ext cx="990600" cy="1600200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105" name="Rectangle 9"/>
          <p:cNvSpPr>
            <a:spLocks noChangeArrowheads="1"/>
          </p:cNvSpPr>
          <p:nvPr/>
        </p:nvSpPr>
        <p:spPr bwMode="auto">
          <a:xfrm>
            <a:off x="0" y="2133600"/>
            <a:ext cx="9144000" cy="152400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100000">
                <a:srgbClr val="C0C0C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1683147" y="686354"/>
            <a:ext cx="7065317" cy="914400"/>
          </a:xfrm>
        </p:spPr>
        <p:txBody>
          <a:bodyPr/>
          <a:lstStyle/>
          <a:p>
            <a:r>
              <a:rPr lang="en-US" altLang="zh-CN" sz="4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《Python</a:t>
            </a:r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程序设计</a:t>
            </a:r>
            <a:r>
              <a:rPr lang="en-US" altLang="zh-CN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endParaRPr lang="zh-CN" altLang="en-US" sz="4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标题 5"/>
          <p:cNvSpPr txBox="1"/>
          <p:nvPr/>
        </p:nvSpPr>
        <p:spPr bwMode="auto">
          <a:xfrm>
            <a:off x="2267585" y="3306445"/>
            <a:ext cx="5123815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>
              <a:buFontTx/>
            </a:pPr>
            <a:r>
              <a:rPr lang="zh-CN" altLang="en-US" sz="3600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第</a:t>
            </a:r>
            <a:r>
              <a:rPr lang="en-US" altLang="zh-CN" sz="3600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</a:t>
            </a:r>
            <a:r>
              <a:rPr lang="zh-CN" altLang="en-US" sz="3600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章  </a:t>
            </a:r>
            <a:r>
              <a:rPr sz="3600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Python</a:t>
            </a:r>
            <a:r>
              <a:rPr lang="zh-CN" altLang="en-US" sz="3600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控制结构</a:t>
            </a:r>
            <a:endParaRPr sz="3600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323528" y="404664"/>
            <a:ext cx="1579758" cy="1573439"/>
            <a:chOff x="-37861" y="1124744"/>
            <a:chExt cx="1084458" cy="1080120"/>
          </a:xfrm>
        </p:grpSpPr>
        <p:sp>
          <p:nvSpPr>
            <p:cNvPr id="17" name="椭圆 16"/>
            <p:cNvSpPr/>
            <p:nvPr userDrawn="1"/>
          </p:nvSpPr>
          <p:spPr bwMode="auto">
            <a:xfrm>
              <a:off x="36316" y="1196752"/>
              <a:ext cx="936104" cy="936104"/>
            </a:xfrm>
            <a:prstGeom prst="ellips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pic>
          <p:nvPicPr>
            <p:cNvPr id="19" name="图片 18"/>
            <p:cNvPicPr>
              <a:picLocks noChangeAspect="1"/>
            </p:cNvPicPr>
            <p:nvPr userDrawn="1"/>
          </p:nvPicPr>
          <p:blipFill>
            <a:blip r:embed="rId2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37861" y="1124744"/>
              <a:ext cx="1084458" cy="1080120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advTm="6046"/>
    </mc:Choice>
    <mc:Fallback xmlns="">
      <p:transition advTm="6046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/>
          </p:nvPr>
        </p:nvSpPr>
        <p:spPr>
          <a:xfrm>
            <a:off x="1187624" y="34721"/>
            <a:ext cx="7772400" cy="1018015"/>
          </a:xfrm>
        </p:spPr>
        <p:txBody>
          <a:bodyPr/>
          <a:lstStyle/>
          <a:p>
            <a:r>
              <a:rPr lang="zh-CN" altLang="en-US" dirty="0"/>
              <a:t>第</a:t>
            </a:r>
            <a:r>
              <a:rPr lang="en-US" altLang="zh-CN" dirty="0"/>
              <a:t>4</a:t>
            </a:r>
            <a:r>
              <a:rPr lang="zh-CN" altLang="en-US" dirty="0"/>
              <a:t>章 </a:t>
            </a:r>
            <a:r>
              <a:rPr lang="en-US" altLang="zh-CN" dirty="0"/>
              <a:t>Python</a:t>
            </a:r>
            <a:r>
              <a:rPr lang="zh-CN" altLang="en-US" dirty="0"/>
              <a:t>控制结构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5776" y="1268760"/>
            <a:ext cx="4254848" cy="515719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advTm="6046"/>
    </mc:Choice>
    <mc:Fallback xmlns="">
      <p:transition advTm="6046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36"/>
          <p:cNvGrpSpPr/>
          <p:nvPr/>
        </p:nvGrpSpPr>
        <p:grpSpPr bwMode="auto">
          <a:xfrm>
            <a:off x="1469941" y="1817191"/>
            <a:ext cx="5410200" cy="665163"/>
            <a:chOff x="1248" y="1200"/>
            <a:chExt cx="3408" cy="419"/>
          </a:xfrm>
        </p:grpSpPr>
        <p:grpSp>
          <p:nvGrpSpPr>
            <p:cNvPr id="30" name="Group 8"/>
            <p:cNvGrpSpPr/>
            <p:nvPr/>
          </p:nvGrpSpPr>
          <p:grpSpPr bwMode="auto">
            <a:xfrm>
              <a:off x="1248" y="1200"/>
              <a:ext cx="480" cy="419"/>
              <a:chOff x="1110" y="2656"/>
              <a:chExt cx="1549" cy="1351"/>
            </a:xfrm>
          </p:grpSpPr>
          <p:sp>
            <p:nvSpPr>
              <p:cNvPr id="34" name="AutoShape 9"/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35" name="AutoShape 10"/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36" name="AutoShape 11"/>
              <p:cNvSpPr>
                <a:spLocks noChangeArrowheads="1"/>
              </p:cNvSpPr>
              <p:nvPr/>
            </p:nvSpPr>
            <p:spPr bwMode="gray">
              <a:xfrm>
                <a:off x="1200" y="2737"/>
                <a:ext cx="1349" cy="1167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tx2">
                      <a:gamma/>
                      <a:shade val="46275"/>
                      <a:invGamma/>
                    </a:schemeClr>
                  </a:gs>
                  <a:gs pos="100000">
                    <a:schemeClr val="tx2"/>
                  </a:gs>
                </a:gsLst>
                <a:lin ang="2700000" scaled="1"/>
              </a:gradFill>
              <a:ln w="9525">
                <a:solidFill>
                  <a:schemeClr val="bg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zh-CN" altLang="en-US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31" name="Line 16"/>
            <p:cNvSpPr>
              <a:spLocks noChangeShapeType="1"/>
            </p:cNvSpPr>
            <p:nvPr/>
          </p:nvSpPr>
          <p:spPr bwMode="auto">
            <a:xfrm>
              <a:off x="1632" y="1584"/>
              <a:ext cx="3024" cy="0"/>
            </a:xfrm>
            <a:prstGeom prst="line">
              <a:avLst/>
            </a:prstGeom>
            <a:noFill/>
            <a:ln w="25400">
              <a:solidFill>
                <a:schemeClr val="folHlink"/>
              </a:solidFill>
              <a:prstDash val="sysDot"/>
              <a:rou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" name="Text Box 17">
              <a:hlinkClick r:id="" action="ppaction://hlinkshowjump?jump=nextslide"/>
            </p:cNvPr>
            <p:cNvSpPr txBox="1">
              <a:spLocks noChangeArrowheads="1"/>
            </p:cNvSpPr>
            <p:nvPr/>
          </p:nvSpPr>
          <p:spPr bwMode="auto">
            <a:xfrm>
              <a:off x="1866" y="1207"/>
              <a:ext cx="1971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l"/>
              <a:r>
                <a:rPr lang="zh-CN" altLang="en-US" sz="28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Python顺序结构</a:t>
              </a:r>
              <a:endParaRPr lang="en-US" altLang="zh-CN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" name="Text Box 18"/>
            <p:cNvSpPr txBox="1">
              <a:spLocks noChangeArrowheads="1"/>
            </p:cNvSpPr>
            <p:nvPr/>
          </p:nvSpPr>
          <p:spPr bwMode="gray">
            <a:xfrm>
              <a:off x="1289" y="1262"/>
              <a:ext cx="386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2400" b="1" dirty="0">
                  <a:solidFill>
                    <a:srgbClr val="FFFFFF"/>
                  </a:solidFill>
                </a:rPr>
                <a:t>4.1</a:t>
              </a:r>
            </a:p>
          </p:txBody>
        </p:sp>
      </p:grpSp>
      <p:grpSp>
        <p:nvGrpSpPr>
          <p:cNvPr id="37" name="Group 37"/>
          <p:cNvGrpSpPr/>
          <p:nvPr/>
        </p:nvGrpSpPr>
        <p:grpSpPr bwMode="auto">
          <a:xfrm>
            <a:off x="1501860" y="2825303"/>
            <a:ext cx="5410200" cy="665163"/>
            <a:chOff x="1248" y="1776"/>
            <a:chExt cx="3408" cy="419"/>
          </a:xfrm>
        </p:grpSpPr>
        <p:grpSp>
          <p:nvGrpSpPr>
            <p:cNvPr id="38" name="Group 12"/>
            <p:cNvGrpSpPr/>
            <p:nvPr/>
          </p:nvGrpSpPr>
          <p:grpSpPr bwMode="auto">
            <a:xfrm>
              <a:off x="1248" y="1776"/>
              <a:ext cx="480" cy="419"/>
              <a:chOff x="3174" y="2656"/>
              <a:chExt cx="1549" cy="1351"/>
            </a:xfrm>
          </p:grpSpPr>
          <p:sp>
            <p:nvSpPr>
              <p:cNvPr id="42" name="AutoShape 13"/>
              <p:cNvSpPr>
                <a:spLocks noChangeArrowheads="1"/>
              </p:cNvSpPr>
              <p:nvPr/>
            </p:nvSpPr>
            <p:spPr bwMode="gray">
              <a:xfrm>
                <a:off x="3187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43" name="AutoShape 14"/>
              <p:cNvSpPr>
                <a:spLocks noChangeArrowheads="1"/>
              </p:cNvSpPr>
              <p:nvPr/>
            </p:nvSpPr>
            <p:spPr bwMode="gray">
              <a:xfrm>
                <a:off x="3174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44" name="AutoShape 15"/>
              <p:cNvSpPr>
                <a:spLocks noChangeArrowheads="1"/>
              </p:cNvSpPr>
              <p:nvPr/>
            </p:nvSpPr>
            <p:spPr bwMode="gray">
              <a:xfrm>
                <a:off x="3264" y="2737"/>
                <a:ext cx="1349" cy="1167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accent2">
                      <a:gamma/>
                      <a:shade val="46275"/>
                      <a:invGamma/>
                    </a:schemeClr>
                  </a:gs>
                  <a:gs pos="100000">
                    <a:schemeClr val="accent2"/>
                  </a:gs>
                </a:gsLst>
                <a:lin ang="2700000" scaled="1"/>
              </a:gradFill>
              <a:ln w="9525">
                <a:solidFill>
                  <a:schemeClr val="bg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zh-CN" altLang="en-US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39" name="Line 19"/>
            <p:cNvSpPr>
              <a:spLocks noChangeShapeType="1"/>
            </p:cNvSpPr>
            <p:nvPr/>
          </p:nvSpPr>
          <p:spPr bwMode="auto">
            <a:xfrm>
              <a:off x="1632" y="2160"/>
              <a:ext cx="3024" cy="0"/>
            </a:xfrm>
            <a:prstGeom prst="line">
              <a:avLst/>
            </a:prstGeom>
            <a:noFill/>
            <a:ln w="25400">
              <a:solidFill>
                <a:schemeClr val="folHlink"/>
              </a:solidFill>
              <a:prstDash val="sysDot"/>
              <a:rou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" name="Text Box 20"/>
            <p:cNvSpPr txBox="1">
              <a:spLocks noChangeArrowheads="1"/>
            </p:cNvSpPr>
            <p:nvPr/>
          </p:nvSpPr>
          <p:spPr bwMode="auto">
            <a:xfrm>
              <a:off x="1866" y="1824"/>
              <a:ext cx="1835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l">
                <a:buClrTx/>
                <a:buSzTx/>
              </a:pPr>
              <a:r>
                <a:rPr lang="zh-CN" altLang="en-US" sz="2800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Python选择结构</a:t>
              </a:r>
              <a:endPara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1" name="Text Box 21"/>
            <p:cNvSpPr txBox="1">
              <a:spLocks noChangeArrowheads="1"/>
            </p:cNvSpPr>
            <p:nvPr/>
          </p:nvSpPr>
          <p:spPr bwMode="gray">
            <a:xfrm>
              <a:off x="1289" y="1838"/>
              <a:ext cx="386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2400" b="1" dirty="0">
                  <a:solidFill>
                    <a:srgbClr val="FFFFFF"/>
                  </a:solidFill>
                </a:rPr>
                <a:t>4.2</a:t>
              </a:r>
            </a:p>
          </p:txBody>
        </p:sp>
      </p:grpSp>
      <p:grpSp>
        <p:nvGrpSpPr>
          <p:cNvPr id="45" name="Group 38"/>
          <p:cNvGrpSpPr/>
          <p:nvPr/>
        </p:nvGrpSpPr>
        <p:grpSpPr bwMode="auto">
          <a:xfrm>
            <a:off x="1514215" y="3833415"/>
            <a:ext cx="5410200" cy="747713"/>
            <a:chOff x="1248" y="2286"/>
            <a:chExt cx="3408" cy="471"/>
          </a:xfrm>
        </p:grpSpPr>
        <p:grpSp>
          <p:nvGrpSpPr>
            <p:cNvPr id="46" name="Group 22"/>
            <p:cNvGrpSpPr/>
            <p:nvPr/>
          </p:nvGrpSpPr>
          <p:grpSpPr bwMode="auto">
            <a:xfrm>
              <a:off x="1248" y="2338"/>
              <a:ext cx="480" cy="419"/>
              <a:chOff x="1110" y="2656"/>
              <a:chExt cx="1549" cy="1351"/>
            </a:xfrm>
          </p:grpSpPr>
          <p:sp>
            <p:nvSpPr>
              <p:cNvPr id="50" name="AutoShape 23"/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51" name="AutoShape 24"/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52" name="AutoShape 25"/>
              <p:cNvSpPr>
                <a:spLocks noChangeArrowheads="1"/>
              </p:cNvSpPr>
              <p:nvPr/>
            </p:nvSpPr>
            <p:spPr bwMode="gray">
              <a:xfrm>
                <a:off x="1200" y="2737"/>
                <a:ext cx="1349" cy="1167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tx2">
                      <a:gamma/>
                      <a:shade val="46275"/>
                      <a:invGamma/>
                    </a:schemeClr>
                  </a:gs>
                  <a:gs pos="100000">
                    <a:schemeClr val="tx2"/>
                  </a:gs>
                </a:gsLst>
                <a:lin ang="2700000" scaled="1"/>
              </a:gradFill>
              <a:ln w="9525">
                <a:solidFill>
                  <a:schemeClr val="bg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zh-CN" altLang="en-US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47" name="Line 30"/>
            <p:cNvSpPr>
              <a:spLocks noChangeShapeType="1"/>
            </p:cNvSpPr>
            <p:nvPr/>
          </p:nvSpPr>
          <p:spPr bwMode="auto">
            <a:xfrm>
              <a:off x="1632" y="2722"/>
              <a:ext cx="3024" cy="0"/>
            </a:xfrm>
            <a:prstGeom prst="line">
              <a:avLst/>
            </a:prstGeom>
            <a:noFill/>
            <a:ln w="25400">
              <a:solidFill>
                <a:schemeClr val="folHlink"/>
              </a:solidFill>
              <a:prstDash val="sysDot"/>
              <a:rou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" name="Text Box 31"/>
            <p:cNvSpPr txBox="1">
              <a:spLocks noChangeArrowheads="1"/>
            </p:cNvSpPr>
            <p:nvPr/>
          </p:nvSpPr>
          <p:spPr bwMode="auto">
            <a:xfrm>
              <a:off x="1866" y="2286"/>
              <a:ext cx="2762" cy="4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l">
                <a:lnSpc>
                  <a:spcPct val="150000"/>
                </a:lnSpc>
                <a:buClrTx/>
                <a:buSzTx/>
              </a:pPr>
              <a:r>
                <a:rPr lang="zh-CN" altLang="en-US" sz="28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Python循环结构</a:t>
              </a:r>
              <a:endPara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9" name="Text Box 32"/>
            <p:cNvSpPr txBox="1">
              <a:spLocks noChangeArrowheads="1"/>
            </p:cNvSpPr>
            <p:nvPr/>
          </p:nvSpPr>
          <p:spPr bwMode="gray">
            <a:xfrm>
              <a:off x="1289" y="2400"/>
              <a:ext cx="386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2400" b="1" dirty="0">
                  <a:solidFill>
                    <a:srgbClr val="FFFFFF"/>
                  </a:solidFill>
                </a:rPr>
                <a:t>4.3</a:t>
              </a:r>
            </a:p>
          </p:txBody>
        </p:sp>
      </p:grpSp>
      <p:grpSp>
        <p:nvGrpSpPr>
          <p:cNvPr id="53" name="Group 38"/>
          <p:cNvGrpSpPr/>
          <p:nvPr/>
        </p:nvGrpSpPr>
        <p:grpSpPr bwMode="auto">
          <a:xfrm>
            <a:off x="1534920" y="4841527"/>
            <a:ext cx="5410200" cy="747713"/>
            <a:chOff x="1248" y="2286"/>
            <a:chExt cx="3408" cy="471"/>
          </a:xfrm>
        </p:grpSpPr>
        <p:grpSp>
          <p:nvGrpSpPr>
            <p:cNvPr id="54" name="Group 22"/>
            <p:cNvGrpSpPr/>
            <p:nvPr/>
          </p:nvGrpSpPr>
          <p:grpSpPr bwMode="auto">
            <a:xfrm>
              <a:off x="1248" y="2338"/>
              <a:ext cx="480" cy="419"/>
              <a:chOff x="1110" y="2656"/>
              <a:chExt cx="1549" cy="1351"/>
            </a:xfrm>
          </p:grpSpPr>
          <p:sp>
            <p:nvSpPr>
              <p:cNvPr id="58" name="AutoShape 23"/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59" name="AutoShape 24"/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60" name="AutoShape 25"/>
              <p:cNvSpPr>
                <a:spLocks noChangeArrowheads="1"/>
              </p:cNvSpPr>
              <p:nvPr/>
            </p:nvSpPr>
            <p:spPr bwMode="gray">
              <a:xfrm>
                <a:off x="1200" y="2737"/>
                <a:ext cx="1349" cy="1167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tx2">
                      <a:gamma/>
                      <a:shade val="46275"/>
                      <a:invGamma/>
                    </a:schemeClr>
                  </a:gs>
                  <a:gs pos="100000">
                    <a:schemeClr val="tx2"/>
                  </a:gs>
                </a:gsLst>
                <a:lin ang="2700000" scaled="1"/>
              </a:gradFill>
              <a:ln w="9525">
                <a:solidFill>
                  <a:schemeClr val="bg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zh-CN" altLang="en-US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55" name="Line 30"/>
            <p:cNvSpPr>
              <a:spLocks noChangeShapeType="1"/>
            </p:cNvSpPr>
            <p:nvPr/>
          </p:nvSpPr>
          <p:spPr bwMode="auto">
            <a:xfrm>
              <a:off x="1632" y="2722"/>
              <a:ext cx="3024" cy="0"/>
            </a:xfrm>
            <a:prstGeom prst="line">
              <a:avLst/>
            </a:prstGeom>
            <a:noFill/>
            <a:ln w="25400">
              <a:solidFill>
                <a:schemeClr val="folHlink"/>
              </a:solidFill>
              <a:prstDash val="sysDot"/>
              <a:rou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6" name="Text Box 31"/>
            <p:cNvSpPr txBox="1">
              <a:spLocks noChangeArrowheads="1"/>
            </p:cNvSpPr>
            <p:nvPr/>
          </p:nvSpPr>
          <p:spPr bwMode="auto">
            <a:xfrm>
              <a:off x="1866" y="2286"/>
              <a:ext cx="2762" cy="4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l">
                <a:lnSpc>
                  <a:spcPct val="150000"/>
                </a:lnSpc>
                <a:buClrTx/>
                <a:buSzTx/>
              </a:pPr>
              <a:r>
                <a:rPr lang="zh-CN" altLang="en-US" sz="28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Python控制结构应用举例</a:t>
              </a:r>
              <a:endParaRPr lang="zh-CN" altLang="en-US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7" name="Text Box 32"/>
            <p:cNvSpPr txBox="1">
              <a:spLocks noChangeArrowheads="1"/>
            </p:cNvSpPr>
            <p:nvPr/>
          </p:nvSpPr>
          <p:spPr bwMode="gray">
            <a:xfrm>
              <a:off x="1289" y="2400"/>
              <a:ext cx="386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2400" b="1" dirty="0">
                  <a:solidFill>
                    <a:srgbClr val="FFFFFF"/>
                  </a:solidFill>
                </a:rPr>
                <a:t>4.4</a:t>
              </a:r>
            </a:p>
          </p:txBody>
        </p:sp>
      </p:grpSp>
      <p:sp>
        <p:nvSpPr>
          <p:cNvPr id="61" name="标题 3"/>
          <p:cNvSpPr txBox="1"/>
          <p:nvPr/>
        </p:nvSpPr>
        <p:spPr>
          <a:xfrm>
            <a:off x="1187624" y="332656"/>
            <a:ext cx="7772400" cy="720080"/>
          </a:xfrm>
          <a:prstGeom prst="rect">
            <a:avLst/>
          </a:prstGeom>
        </p:spPr>
        <p:txBody>
          <a:bodyPr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r>
              <a:rPr lang="zh-CN" altLang="en-US" dirty="0"/>
              <a:t>第</a:t>
            </a:r>
            <a:r>
              <a:rPr lang="en-US" altLang="zh-CN" dirty="0"/>
              <a:t>4</a:t>
            </a:r>
            <a:r>
              <a:rPr lang="zh-CN" altLang="en-US" dirty="0"/>
              <a:t>章 </a:t>
            </a:r>
            <a:r>
              <a:rPr lang="en-US" altLang="zh-CN" dirty="0"/>
              <a:t>Python</a:t>
            </a:r>
            <a:r>
              <a:rPr lang="zh-CN" altLang="en-US" dirty="0"/>
              <a:t>控制结构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advTm="6046"/>
    </mc:Choice>
    <mc:Fallback xmlns="">
      <p:transition advTm="6046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Rectangle 2"/>
          <p:cNvSpPr>
            <a:spLocks noGrp="1" noChangeArrowheads="1"/>
          </p:cNvSpPr>
          <p:nvPr>
            <p:ph type="title"/>
          </p:nvPr>
        </p:nvSpPr>
        <p:spPr>
          <a:xfrm>
            <a:off x="1043608" y="260648"/>
            <a:ext cx="6408737" cy="576263"/>
          </a:xfrm>
        </p:spPr>
        <p:txBody>
          <a:bodyPr/>
          <a:lstStyle/>
          <a:p>
            <a:pPr algn="l" eaLnBrk="1" hangingPunct="1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华文隶书"/>
              </a:rPr>
              <a:t>引例</a:t>
            </a:r>
          </a:p>
        </p:txBody>
      </p:sp>
      <p:sp>
        <p:nvSpPr>
          <p:cNvPr id="81922" name="Text Box 6"/>
          <p:cNvSpPr txBox="1">
            <a:spLocks noChangeArrowheads="1"/>
          </p:cNvSpPr>
          <p:nvPr/>
        </p:nvSpPr>
        <p:spPr bwMode="auto">
          <a:xfrm>
            <a:off x="539750" y="1341438"/>
            <a:ext cx="7704138" cy="3667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zh-CN" altLang="zh-CN"/>
          </a:p>
        </p:txBody>
      </p:sp>
      <p:sp>
        <p:nvSpPr>
          <p:cNvPr id="81923" name="Rectangle 7"/>
          <p:cNvSpPr>
            <a:spLocks noChangeArrowheads="1"/>
          </p:cNvSpPr>
          <p:nvPr/>
        </p:nvSpPr>
        <p:spPr bwMode="auto">
          <a:xfrm>
            <a:off x="282476" y="1133475"/>
            <a:ext cx="8218685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要求：打印由星型构成的等腰三角形，图案如下：</a:t>
            </a:r>
          </a:p>
        </p:txBody>
      </p:sp>
      <p:pic>
        <p:nvPicPr>
          <p:cNvPr id="4505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1906987"/>
            <a:ext cx="1419225" cy="1409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505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3861048"/>
            <a:ext cx="3577357" cy="1944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2472245" y="1808205"/>
            <a:ext cx="1419225" cy="1409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5060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2080" y="1656695"/>
            <a:ext cx="2286000" cy="2647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5061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8882" y="4833156"/>
            <a:ext cx="3838575" cy="942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advTm="6046"/>
    </mc:Choice>
    <mc:Fallback xmlns="">
      <p:transition advTm="6046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4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循环结构程序设计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idx="1"/>
          </p:nvPr>
        </p:nvSpPr>
        <p:spPr>
          <a:xfrm>
            <a:off x="2051720" y="1844824"/>
            <a:ext cx="4608512" cy="3240360"/>
          </a:xfrm>
        </p:spPr>
        <p:txBody>
          <a:bodyPr/>
          <a:lstStyle/>
          <a:p>
            <a:pPr marL="0" indent="0">
              <a:lnSpc>
                <a:spcPct val="125000"/>
              </a:lnSpc>
              <a:buNone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4.3.1 for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循环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4.3.2 while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循环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hangingPunct="1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4.3.3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循环的嵌套</a:t>
            </a:r>
          </a:p>
          <a:p>
            <a:pPr marL="0" indent="0" eaLnBrk="1" hangingPunct="1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4.3.4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循环控制语句</a:t>
            </a:r>
          </a:p>
          <a:p>
            <a:pPr marL="0" indent="0" eaLnBrk="1" hangingPunct="1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4.3.5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循环结构程序举例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advTm="6046"/>
    </mc:Choice>
    <mc:Fallback xmlns="">
      <p:transition advTm="6046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0866" name="Rectangle 2"/>
          <p:cNvSpPr>
            <a:spLocks noGrp="1" noChangeArrowheads="1"/>
          </p:cNvSpPr>
          <p:nvPr>
            <p:ph type="title"/>
          </p:nvPr>
        </p:nvSpPr>
        <p:spPr>
          <a:xfrm>
            <a:off x="1087388" y="260648"/>
            <a:ext cx="6359624" cy="685800"/>
          </a:xfrm>
        </p:spPr>
        <p:txBody>
          <a:bodyPr/>
          <a:lstStyle/>
          <a:p>
            <a:pPr eaLnBrk="1" hangingPunct="1">
              <a:defRPr/>
            </a:pP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循环结构的基本类型</a:t>
            </a:r>
          </a:p>
        </p:txBody>
      </p:sp>
      <p:sp>
        <p:nvSpPr>
          <p:cNvPr id="1060867" name="Rectangle 3"/>
          <p:cNvSpPr>
            <a:spLocks noChangeArrowheads="1"/>
          </p:cNvSpPr>
          <p:nvPr/>
        </p:nvSpPr>
        <p:spPr bwMode="auto">
          <a:xfrm>
            <a:off x="539552" y="2132856"/>
            <a:ext cx="2520280" cy="10402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1" hangingPunct="1">
              <a:lnSpc>
                <a:spcPct val="110000"/>
              </a:lnSpc>
              <a:buSzPct val="80000"/>
              <a:buFont typeface="Wingdings" panose="05000000000000000000" pitchFamily="2" charset="2"/>
              <a:buChar char="n"/>
            </a:pPr>
            <a:r>
              <a:rPr lang="en-US" altLang="zh-CN" sz="28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8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当型循环</a:t>
            </a:r>
          </a:p>
          <a:p>
            <a:pPr lvl="1">
              <a:lnSpc>
                <a:spcPct val="110000"/>
              </a:lnSpc>
            </a:pPr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for,</a:t>
            </a:r>
            <a:r>
              <a:rPr lang="en-US" altLang="zh-CN" sz="28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800" b="1" dirty="0">
                <a:solidFill>
                  <a:srgbClr val="3333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while</a:t>
            </a:r>
          </a:p>
        </p:txBody>
      </p:sp>
      <p:pic>
        <p:nvPicPr>
          <p:cNvPr id="35842" name="图片 5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1880" y="1159741"/>
            <a:ext cx="3894070" cy="52565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advTm="6046"/>
    </mc:Choice>
    <mc:Fallback xmlns="">
      <p:transition advTm="6046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9842" name="Rectangle 2"/>
          <p:cNvSpPr>
            <a:spLocks noGrp="1" noChangeArrowheads="1"/>
          </p:cNvSpPr>
          <p:nvPr>
            <p:ph type="title"/>
          </p:nvPr>
        </p:nvSpPr>
        <p:spPr>
          <a:xfrm>
            <a:off x="1164704" y="304800"/>
            <a:ext cx="5855568" cy="685800"/>
          </a:xfrm>
        </p:spPr>
        <p:txBody>
          <a:bodyPr/>
          <a:lstStyle/>
          <a:p>
            <a:pPr eaLnBrk="1" hangingPunct="1">
              <a:defRPr/>
            </a:pP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循环结构程序设计</a:t>
            </a:r>
          </a:p>
        </p:txBody>
      </p:sp>
      <p:sp>
        <p:nvSpPr>
          <p:cNvPr id="1059843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1066800"/>
            <a:ext cx="8763000" cy="1143000"/>
          </a:xfrm>
        </p:spPr>
        <p:txBody>
          <a:bodyPr/>
          <a:lstStyle/>
          <a:p>
            <a:pPr eaLnBrk="1" hangingPunct="1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zh-CN" altLang="en-US" sz="28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循环结构程序设计的应用场合：</a:t>
            </a: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当某个条件满足时，需要多次反复进行同样工作</a:t>
            </a:r>
            <a:r>
              <a:rPr lang="zh-CN" altLang="en-US" sz="28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59844" name="Rectangle 4"/>
          <p:cNvSpPr>
            <a:spLocks noChangeArrowheads="1"/>
          </p:cNvSpPr>
          <p:nvPr/>
        </p:nvSpPr>
        <p:spPr bwMode="auto">
          <a:xfrm>
            <a:off x="609600" y="2514600"/>
            <a:ext cx="6172200" cy="461665"/>
          </a:xfrm>
          <a:prstGeom prst="rect">
            <a:avLst/>
          </a:prstGeom>
          <a:noFill/>
          <a:ln w="38100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kumimoji="1" lang="zh-CN" altLang="en-US" sz="24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例如</a:t>
            </a:r>
            <a:r>
              <a:rPr kumimoji="1" lang="en-US" altLang="zh-CN" sz="24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</a:p>
        </p:txBody>
      </p:sp>
      <p:sp>
        <p:nvSpPr>
          <p:cNvPr id="1059845" name="Rectangle 5"/>
          <p:cNvSpPr>
            <a:spLocks noChangeArrowheads="1"/>
          </p:cNvSpPr>
          <p:nvPr/>
        </p:nvSpPr>
        <p:spPr bwMode="auto">
          <a:xfrm>
            <a:off x="1181100" y="3858156"/>
            <a:ext cx="7200900" cy="461665"/>
          </a:xfrm>
          <a:prstGeom prst="rect">
            <a:avLst/>
          </a:prstGeom>
          <a:noFill/>
          <a:ln w="38100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kumimoji="1" lang="en-US" altLang="zh-CN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kumimoji="1" lang="zh-CN" alt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、求实数</a:t>
            </a:r>
            <a:r>
              <a:rPr kumimoji="1" lang="en-US" altLang="zh-CN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e</a:t>
            </a:r>
            <a:r>
              <a:rPr kumimoji="1" lang="zh-CN" alt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kumimoji="1" lang="en-US" altLang="zh-CN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kumimoji="1" lang="zh-CN" alt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次方</a:t>
            </a:r>
          </a:p>
        </p:txBody>
      </p:sp>
      <p:sp>
        <p:nvSpPr>
          <p:cNvPr id="1059846" name="Rectangle 6"/>
          <p:cNvSpPr>
            <a:spLocks noChangeArrowheads="1"/>
          </p:cNvSpPr>
          <p:nvPr/>
        </p:nvSpPr>
        <p:spPr bwMode="auto">
          <a:xfrm>
            <a:off x="1181100" y="3196434"/>
            <a:ext cx="7200900" cy="461665"/>
          </a:xfrm>
          <a:prstGeom prst="rect">
            <a:avLst/>
          </a:prstGeom>
          <a:noFill/>
          <a:ln w="38100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kumimoji="1" lang="en-US" altLang="zh-CN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kumimoji="1" lang="zh-CN" alt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、求数列</a:t>
            </a:r>
            <a:r>
              <a:rPr kumimoji="1" lang="en-US" altLang="zh-CN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kumimoji="1" lang="zh-CN" alt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kumimoji="1" lang="en-US" altLang="zh-CN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kumimoji="1" lang="zh-CN" alt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kumimoji="1" lang="en-US" altLang="zh-CN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  <a:r>
              <a:rPr kumimoji="1" lang="zh-CN" alt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kumimoji="1" lang="en-US" altLang="zh-CN" sz="2400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kumimoji="1" lang="en-US" altLang="zh-CN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, … </a:t>
            </a:r>
            <a:r>
              <a:rPr kumimoji="1" lang="zh-CN" alt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的前</a:t>
            </a:r>
            <a:r>
              <a:rPr kumimoji="1" lang="en-US" altLang="zh-CN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kumimoji="1" lang="zh-CN" alt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项和</a:t>
            </a:r>
          </a:p>
        </p:txBody>
      </p:sp>
      <p:sp>
        <p:nvSpPr>
          <p:cNvPr id="1059847" name="Rectangle 7"/>
          <p:cNvSpPr>
            <a:spLocks noChangeArrowheads="1"/>
          </p:cNvSpPr>
          <p:nvPr/>
        </p:nvSpPr>
        <p:spPr bwMode="auto">
          <a:xfrm>
            <a:off x="1181100" y="4519878"/>
            <a:ext cx="7200900" cy="461665"/>
          </a:xfrm>
          <a:prstGeom prst="rect">
            <a:avLst/>
          </a:prstGeom>
          <a:noFill/>
          <a:ln w="38100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kumimoji="1" lang="en-US" altLang="zh-CN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kumimoji="1" lang="zh-CN" alt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、判断一个整数是否是素数</a:t>
            </a:r>
          </a:p>
        </p:txBody>
      </p:sp>
      <p:sp>
        <p:nvSpPr>
          <p:cNvPr id="1059848" name="Rectangle 8"/>
          <p:cNvSpPr>
            <a:spLocks noChangeArrowheads="1"/>
          </p:cNvSpPr>
          <p:nvPr/>
        </p:nvSpPr>
        <p:spPr bwMode="auto">
          <a:xfrm>
            <a:off x="1181100" y="5181600"/>
            <a:ext cx="6134100" cy="461665"/>
          </a:xfrm>
          <a:prstGeom prst="rect">
            <a:avLst/>
          </a:prstGeom>
          <a:noFill/>
          <a:ln w="38100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kumimoji="1" lang="en-US" altLang="zh-CN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………………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advTm="6046"/>
    </mc:Choice>
    <mc:Fallback xmlns="">
      <p:transition advTm="6046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491" name="Text Box 3"/>
          <p:cNvSpPr txBox="1">
            <a:spLocks noChangeArrowheads="1"/>
          </p:cNvSpPr>
          <p:nvPr/>
        </p:nvSpPr>
        <p:spPr bwMode="auto">
          <a:xfrm>
            <a:off x="304800" y="1174750"/>
            <a:ext cx="380682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eaLnBrk="1" hangingPunct="1">
              <a:buFont typeface="Wingdings" panose="05000000000000000000" pitchFamily="2" charset="2"/>
              <a:buChar char="p"/>
            </a:pPr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for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循环一般形式：</a:t>
            </a:r>
          </a:p>
        </p:txBody>
      </p:sp>
      <p:sp>
        <p:nvSpPr>
          <p:cNvPr id="959492" name="Text Box 4"/>
          <p:cNvSpPr txBox="1">
            <a:spLocks noChangeArrowheads="1"/>
          </p:cNvSpPr>
          <p:nvPr/>
        </p:nvSpPr>
        <p:spPr bwMode="auto">
          <a:xfrm>
            <a:off x="685799" y="1643697"/>
            <a:ext cx="6619875" cy="1477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 eaLnBrk="1" hangingPunct="1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</a:t>
            </a:r>
            <a:r>
              <a:rPr lang="en-US" altLang="zh-CN" sz="2800" b="1" dirty="0">
                <a:solidFill>
                  <a:srgbClr val="3333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for   </a:t>
            </a:r>
            <a:r>
              <a:rPr lang="zh-CN" altLang="en-US" sz="2800" b="1" dirty="0">
                <a:solidFill>
                  <a:srgbClr val="3333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目标变量 </a:t>
            </a:r>
            <a:r>
              <a:rPr lang="en-US" altLang="zh-CN" sz="2800" b="1" dirty="0">
                <a:solidFill>
                  <a:srgbClr val="3333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 </a:t>
            </a:r>
            <a:r>
              <a:rPr lang="zh-CN" altLang="en-US" sz="2800" b="1" dirty="0">
                <a:solidFill>
                  <a:srgbClr val="3333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序列对象：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pPr lvl="1" eaLnBrk="1" hangingPunct="1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循环体语句</a:t>
            </a:r>
          </a:p>
        </p:txBody>
      </p:sp>
      <p:sp>
        <p:nvSpPr>
          <p:cNvPr id="959497" name="Rectangle 9"/>
          <p:cNvSpPr>
            <a:spLocks noChangeArrowheads="1"/>
          </p:cNvSpPr>
          <p:nvPr/>
        </p:nvSpPr>
        <p:spPr bwMode="auto">
          <a:xfrm>
            <a:off x="179512" y="3121024"/>
            <a:ext cx="8712968" cy="3476327"/>
          </a:xfrm>
          <a:prstGeom prst="rect">
            <a:avLst/>
          </a:prstGeom>
          <a:solidFill>
            <a:srgbClr val="CCECFF"/>
          </a:solidFill>
          <a:ln w="38100">
            <a:solidFill>
              <a:schemeClr val="bg2"/>
            </a:solidFill>
            <a:miter lim="800000"/>
          </a:ln>
        </p:spPr>
        <p:txBody>
          <a:bodyPr/>
          <a:lstStyle/>
          <a:p>
            <a:pPr marL="342900" indent="-342900" eaLnBrk="1" hangingPunct="1">
              <a:lnSpc>
                <a:spcPct val="115000"/>
              </a:lnSpc>
              <a:spcBef>
                <a:spcPct val="15000"/>
              </a:spcBef>
              <a:buFont typeface="Arial" panose="020B0604020202020204" pitchFamily="34" charset="0"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说明：</a:t>
            </a:r>
          </a:p>
          <a:p>
            <a:pPr indent="457200" eaLnBrk="1" hangingPunct="1">
              <a:lnSpc>
                <a:spcPct val="150000"/>
              </a:lnSpc>
              <a:spcBef>
                <a:spcPct val="15000"/>
              </a:spcBef>
              <a:buFont typeface="Arial" panose="020B0604020202020204" pitchFamily="34" charset="0"/>
              <a:buNone/>
            </a:pPr>
            <a:r>
              <a:rPr lang="en-US" altLang="zh-CN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</a:t>
            </a:r>
            <a:r>
              <a:rPr lang="zh-CN" altLang="en-US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or循环的首行定义了目标变量和遍历的序列对象，后面是需要重复执行的语句块。语句块中的语句要向右缩进，且缩进量要一致。</a:t>
            </a:r>
          </a:p>
          <a:p>
            <a:pPr marL="342900" indent="-342900" eaLnBrk="1" hangingPunct="1">
              <a:lnSpc>
                <a:spcPct val="115000"/>
              </a:lnSpc>
              <a:spcBef>
                <a:spcPct val="15000"/>
              </a:spcBef>
              <a:buFont typeface="Arial" panose="020B0604020202020204" pitchFamily="34" charset="0"/>
              <a:buNone/>
            </a:pP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eaLnBrk="1" hangingPunct="1">
              <a:lnSpc>
                <a:spcPct val="115000"/>
              </a:lnSpc>
              <a:spcBef>
                <a:spcPct val="15000"/>
              </a:spcBef>
              <a:buFont typeface="Arial" panose="020B0604020202020204" pitchFamily="34" charset="0"/>
              <a:buNone/>
            </a:pP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971600" y="188640"/>
            <a:ext cx="8001000" cy="914400"/>
          </a:xfrm>
        </p:spPr>
        <p:txBody>
          <a:bodyPr/>
          <a:lstStyle/>
          <a:p>
            <a:pPr rtl="0" eaLnBrk="1" fontAlgn="base" hangingPunct="1"/>
            <a:r>
              <a:rPr kumimoji="1" lang="en-US" altLang="zh-CN" sz="3200" kern="1200" dirty="0">
                <a:solidFill>
                  <a:srgbClr val="FFFF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4.3.1  for</a:t>
            </a:r>
            <a:r>
              <a:rPr kumimoji="1" lang="zh-CN" altLang="zh-CN" sz="3200" kern="1200" dirty="0">
                <a:solidFill>
                  <a:srgbClr val="FFFF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循环（遍历循环）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advTm="6046"/>
    </mc:Choice>
    <mc:Fallback xmlns="">
      <p:transition advTm="6046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文本框 1"/>
          <p:cNvSpPr txBox="1">
            <a:spLocks noChangeArrowheads="1"/>
          </p:cNvSpPr>
          <p:nvPr/>
        </p:nvSpPr>
        <p:spPr bwMode="auto">
          <a:xfrm>
            <a:off x="35496" y="1124744"/>
            <a:ext cx="8920863" cy="59093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15000"/>
              </a:spcBef>
              <a:buFont typeface="Arial" panose="020B0604020202020204" pitchFamily="34" charset="0"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楷体_GB2312" pitchFamily="49" charset="-122"/>
              </a:rPr>
              <a:t>注意：</a:t>
            </a:r>
          </a:p>
          <a:p>
            <a:pPr marL="0" indent="0" eaLnBrk="1" hangingPunct="1">
              <a:lnSpc>
                <a:spcPct val="125000"/>
              </a:lnSpc>
              <a:spcBef>
                <a:spcPct val="15000"/>
              </a:spcBef>
              <a:buFont typeface="Arial" panose="020B0604020202020204" pitchFamily="34" charset="0"/>
              <a:buNone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sym typeface="楷体_GB2312" pitchFamily="49" charset="-122"/>
              </a:rPr>
              <a:t>（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sym typeface="楷体_GB2312" pitchFamily="49" charset="-122"/>
              </a:rPr>
              <a:t>1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sym typeface="楷体_GB2312" pitchFamily="49" charset="-122"/>
              </a:rPr>
              <a:t>）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sym typeface="楷体_GB2312" pitchFamily="49" charset="-122"/>
              </a:rPr>
              <a:t>for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sym typeface="楷体_GB2312" pitchFamily="49" charset="-122"/>
              </a:rPr>
              <a:t>语句是通过遍历任意序列的元素来建立循环的。</a:t>
            </a:r>
          </a:p>
          <a:p>
            <a:pPr marL="0" indent="0" eaLnBrk="1" hangingPunct="1">
              <a:lnSpc>
                <a:spcPct val="125000"/>
              </a:lnSpc>
              <a:spcBef>
                <a:spcPct val="15000"/>
              </a:spcBef>
              <a:buFont typeface="Arial" panose="020B0604020202020204" pitchFamily="34" charset="0"/>
              <a:buNone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sym typeface="楷体_GB2312" pitchFamily="49" charset="-122"/>
              </a:rPr>
              <a:t>（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sym typeface="楷体_GB2312" pitchFamily="49" charset="-122"/>
              </a:rPr>
              <a:t>2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sym typeface="楷体_GB2312" pitchFamily="49" charset="-122"/>
              </a:rPr>
              <a:t>）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sym typeface="楷体_GB2312" pitchFamily="49" charset="-122"/>
              </a:rPr>
              <a:t>for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sym typeface="楷体_GB2312" pitchFamily="49" charset="-122"/>
              </a:rPr>
              <a:t>语句也支持一个可选的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sym typeface="楷体_GB2312" pitchFamily="49" charset="-122"/>
              </a:rPr>
              <a:t>else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sym typeface="楷体_GB2312" pitchFamily="49" charset="-122"/>
              </a:rPr>
              <a:t>块，一般格式如下：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hangingPunct="1">
              <a:lnSpc>
                <a:spcPct val="125000"/>
              </a:lnSpc>
              <a:spcBef>
                <a:spcPct val="15000"/>
              </a:spcBef>
              <a:buFont typeface="Arial" panose="020B0604020202020204" pitchFamily="34" charset="0"/>
              <a:buNone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sym typeface="楷体_GB2312" pitchFamily="49" charset="-122"/>
              </a:rPr>
              <a:t>			</a:t>
            </a:r>
            <a:r>
              <a:rPr lang="en-US" altLang="zh-CN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楷体_GB2312" pitchFamily="49" charset="-122"/>
              </a:rPr>
              <a:t>for </a:t>
            </a: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楷体_GB2312" pitchFamily="49" charset="-122"/>
              </a:rPr>
              <a:t>目标变量 </a:t>
            </a:r>
            <a:r>
              <a:rPr lang="en-US" altLang="zh-CN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楷体_GB2312" pitchFamily="49" charset="-122"/>
              </a:rPr>
              <a:t>in</a:t>
            </a: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楷体_GB2312" pitchFamily="49" charset="-122"/>
              </a:rPr>
              <a:t>序列对象：</a:t>
            </a:r>
          </a:p>
          <a:p>
            <a:pPr marL="800100" lvl="2" indent="0">
              <a:lnSpc>
                <a:spcPct val="125000"/>
              </a:lnSpc>
              <a:spcBef>
                <a:spcPct val="15000"/>
              </a:spcBef>
            </a:pP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楷体_GB2312" pitchFamily="49" charset="-122"/>
              </a:rPr>
              <a:t>          </a:t>
            </a:r>
            <a:r>
              <a:rPr lang="en-US" altLang="zh-CN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楷体_GB2312" pitchFamily="49" charset="-122"/>
              </a:rPr>
              <a:t>		</a:t>
            </a: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楷体_GB2312" pitchFamily="49" charset="-122"/>
              </a:rPr>
              <a:t>语句块</a:t>
            </a:r>
          </a:p>
          <a:p>
            <a:pPr marL="0" indent="0" eaLnBrk="1" hangingPunct="1">
              <a:lnSpc>
                <a:spcPct val="125000"/>
              </a:lnSpc>
              <a:spcBef>
                <a:spcPct val="15000"/>
              </a:spcBef>
              <a:buFont typeface="Arial" panose="020B0604020202020204" pitchFamily="34" charset="0"/>
              <a:buNone/>
            </a:pPr>
            <a:r>
              <a:rPr lang="en-US" altLang="zh-CN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楷体_GB2312" pitchFamily="49" charset="-122"/>
              </a:rPr>
              <a:t>			else</a:t>
            </a: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楷体_GB2312" pitchFamily="49" charset="-122"/>
              </a:rPr>
              <a:t>：</a:t>
            </a:r>
          </a:p>
          <a:p>
            <a:pPr marL="800100" lvl="2" indent="0">
              <a:lnSpc>
                <a:spcPct val="125000"/>
              </a:lnSpc>
              <a:spcBef>
                <a:spcPct val="15000"/>
              </a:spcBef>
            </a:pP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楷体_GB2312" pitchFamily="49" charset="-122"/>
              </a:rPr>
              <a:t>           </a:t>
            </a:r>
            <a:r>
              <a:rPr lang="en-US" altLang="zh-CN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楷体_GB2312" pitchFamily="49" charset="-122"/>
              </a:rPr>
              <a:t>		</a:t>
            </a: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楷体_GB2312" pitchFamily="49" charset="-122"/>
              </a:rPr>
              <a:t>语句</a:t>
            </a:r>
            <a:endParaRPr lang="en-US" altLang="zh-CN" sz="28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楷体_GB2312" pitchFamily="49" charset="-122"/>
            </a:endParaRPr>
          </a:p>
          <a:p>
            <a:pPr marL="0" indent="0">
              <a:lnSpc>
                <a:spcPct val="125000"/>
              </a:lnSpc>
              <a:spcBef>
                <a:spcPct val="15000"/>
              </a:spcBef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sym typeface="楷体_GB2312" pitchFamily="49" charset="-122"/>
              </a:rPr>
              <a:t>（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sym typeface="楷体_GB2312" pitchFamily="49" charset="-122"/>
              </a:rPr>
              <a:t>3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sym typeface="楷体_GB2312" pitchFamily="49" charset="-122"/>
              </a:rPr>
              <a:t>）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else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语句只在循环正常执行后才执行并结束，因此，可以在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语句块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2&gt;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中放置评价循环执行情况的语句。</a:t>
            </a:r>
          </a:p>
          <a:p>
            <a:pPr eaLnBrk="1" hangingPunct="1">
              <a:lnSpc>
                <a:spcPct val="115000"/>
              </a:lnSpc>
              <a:spcBef>
                <a:spcPct val="15000"/>
              </a:spcBef>
              <a:buFont typeface="Arial" panose="020B0604020202020204" pitchFamily="34" charset="0"/>
              <a:buNone/>
            </a:pPr>
            <a:endParaRPr lang="zh-CN" altLang="en-US" sz="28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楷体_GB2312" pitchFamily="49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kumimoji="1" lang="en-US" altLang="zh-CN" sz="3200" kern="1200" dirty="0">
                <a:solidFill>
                  <a:srgbClr val="FFFF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4.3.1  for</a:t>
            </a:r>
            <a:r>
              <a:rPr kumimoji="1" lang="zh-CN" altLang="zh-CN" sz="3200" kern="1200" dirty="0">
                <a:solidFill>
                  <a:srgbClr val="FFFF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循环（遍历循环</a:t>
            </a:r>
            <a:r>
              <a:rPr kumimoji="1" lang="zh-CN" altLang="en-US" sz="3200" kern="1200" dirty="0">
                <a:solidFill>
                  <a:srgbClr val="FFFF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）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advTm="6046"/>
    </mc:Choice>
    <mc:Fallback xmlns="">
      <p:transition advTm="6046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kumimoji="1" lang="en-US" altLang="zh-CN" sz="3200" kern="1200" dirty="0">
                <a:solidFill>
                  <a:srgbClr val="FFFF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4.3.1  for</a:t>
            </a:r>
            <a:r>
              <a:rPr kumimoji="1" lang="zh-CN" altLang="zh-CN" sz="3200" kern="1200" dirty="0">
                <a:solidFill>
                  <a:srgbClr val="FFFF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循环（遍历循环</a:t>
            </a:r>
            <a:r>
              <a:rPr kumimoji="1" lang="zh-CN" altLang="en-US" sz="3200" kern="1200" dirty="0">
                <a:solidFill>
                  <a:srgbClr val="FFFF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）</a:t>
            </a:r>
            <a:endParaRPr lang="zh-CN" altLang="en-US" dirty="0"/>
          </a:p>
        </p:txBody>
      </p:sp>
      <p:sp>
        <p:nvSpPr>
          <p:cNvPr id="4" name="Text Box 32"/>
          <p:cNvSpPr txBox="1">
            <a:spLocks noChangeArrowheads="1"/>
          </p:cNvSpPr>
          <p:nvPr/>
        </p:nvSpPr>
        <p:spPr bwMode="auto">
          <a:xfrm>
            <a:off x="971600" y="1484784"/>
            <a:ext cx="7416824" cy="4392488"/>
          </a:xfrm>
          <a:prstGeom prst="rect">
            <a:avLst/>
          </a:prstGeom>
          <a:solidFill>
            <a:srgbClr val="FFFFE7"/>
          </a:solidFill>
          <a:ln w="38100">
            <a:solidFill>
              <a:srgbClr val="FF0000"/>
            </a:solidFill>
            <a:miter lim="800000"/>
          </a:ln>
        </p:spPr>
        <p:txBody>
          <a:bodyPr/>
          <a:lstStyle>
            <a:lvl1pPr marL="342900" indent="-3429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zh-CN" altLang="en-US" b="1" dirty="0">
                <a:solidFill>
                  <a:srgbClr val="0000FF"/>
                </a:solidFill>
                <a:ea typeface="楷体_GB2312" pitchFamily="49" charset="-122"/>
              </a:rPr>
              <a:t>循环语句四要素：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zh-CN" altLang="en-US" b="1" dirty="0">
                <a:solidFill>
                  <a:srgbClr val="FF0000"/>
                </a:solidFill>
                <a:ea typeface="楷体_GB2312" pitchFamily="49" charset="-122"/>
              </a:rPr>
              <a:t>循环（控制）变量</a:t>
            </a:r>
            <a:r>
              <a:rPr lang="zh-CN" altLang="en-US" b="1" dirty="0">
                <a:solidFill>
                  <a:srgbClr val="0000FF"/>
                </a:solidFill>
                <a:ea typeface="楷体_GB2312" pitchFamily="49" charset="-122"/>
              </a:rPr>
              <a:t>初始化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zh-CN" altLang="en-US" b="1" dirty="0">
                <a:solidFill>
                  <a:srgbClr val="FF0000"/>
                </a:solidFill>
                <a:ea typeface="楷体_GB2312" pitchFamily="49" charset="-122"/>
              </a:rPr>
              <a:t>循环控制条件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zh-CN" altLang="en-US" b="1" dirty="0">
                <a:solidFill>
                  <a:srgbClr val="FF0000"/>
                </a:solidFill>
                <a:ea typeface="楷体_GB2312" pitchFamily="49" charset="-122"/>
              </a:rPr>
              <a:t>循环体（关键是找规律）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zh-CN" altLang="en-US" b="1" dirty="0">
                <a:solidFill>
                  <a:srgbClr val="FF0000"/>
                </a:solidFill>
                <a:ea typeface="楷体_GB2312" pitchFamily="49" charset="-122"/>
              </a:rPr>
              <a:t>循环变量的</a:t>
            </a:r>
            <a:r>
              <a:rPr lang="zh-CN" altLang="en-US" b="1" dirty="0">
                <a:solidFill>
                  <a:srgbClr val="0000FF"/>
                </a:solidFill>
                <a:ea typeface="楷体_GB2312" pitchFamily="49" charset="-122"/>
              </a:rPr>
              <a:t>修改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advTm="6046"/>
    </mc:Choice>
    <mc:Fallback xmlns="">
      <p:transition advTm="6046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文本框 2"/>
          <p:cNvSpPr txBox="1">
            <a:spLocks noChangeArrowheads="1"/>
          </p:cNvSpPr>
          <p:nvPr/>
        </p:nvSpPr>
        <p:spPr bwMode="auto">
          <a:xfrm>
            <a:off x="467542" y="1241601"/>
            <a:ext cx="833437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>
              <a:buClr>
                <a:srgbClr val="FF0000"/>
              </a:buClr>
              <a:buFont typeface="Wingdings" panose="05000000000000000000" pitchFamily="2" charset="2"/>
              <a:buChar char="p"/>
            </a:pPr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range 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函数在</a:t>
            </a:r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for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循环中的应用</a:t>
            </a:r>
          </a:p>
        </p:txBody>
      </p:sp>
      <p:sp>
        <p:nvSpPr>
          <p:cNvPr id="20483" name="文本框 3"/>
          <p:cNvSpPr txBox="1">
            <a:spLocks noChangeArrowheads="1"/>
          </p:cNvSpPr>
          <p:nvPr/>
        </p:nvSpPr>
        <p:spPr bwMode="auto">
          <a:xfrm>
            <a:off x="376978" y="1844824"/>
            <a:ext cx="8424939" cy="44422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indent="457200">
              <a:lnSpc>
                <a:spcPct val="125000"/>
              </a:lnSpc>
              <a:buFont typeface="Arial" panose="020B0604020202020204" pitchFamily="34" charset="0"/>
              <a:buNone/>
            </a:pPr>
            <a:r>
              <a:rPr lang="en-US" altLang="zh-CN" sz="28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楷体_GB2312" pitchFamily="49" charset="-122"/>
              </a:rPr>
              <a:t>range</a:t>
            </a:r>
            <a:r>
              <a:rPr lang="zh-CN" altLang="en-US" sz="28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楷体_GB2312" pitchFamily="49" charset="-122"/>
              </a:rPr>
              <a:t>函数返回的是可迭代对象，</a:t>
            </a:r>
            <a:r>
              <a:rPr lang="en-US" altLang="zh-CN" sz="28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楷体_GB2312" pitchFamily="49" charset="-122"/>
              </a:rPr>
              <a:t>range</a:t>
            </a:r>
            <a:r>
              <a:rPr lang="zh-CN" altLang="en-US" sz="28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楷体_GB2312" pitchFamily="49" charset="-122"/>
              </a:rPr>
              <a:t>（）函数的一般格式为：</a:t>
            </a:r>
          </a:p>
          <a:p>
            <a:pPr indent="457200"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None/>
            </a:pPr>
            <a:r>
              <a:rPr lang="en-US" altLang="zh-CN" sz="2800" dirty="0">
                <a:solidFill>
                  <a:srgbClr val="3333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楷体_GB2312" pitchFamily="49" charset="-122"/>
              </a:rPr>
              <a:t>range</a:t>
            </a:r>
            <a:r>
              <a:rPr lang="zh-CN" altLang="en-US" sz="2800" dirty="0">
                <a:solidFill>
                  <a:srgbClr val="3333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楷体_GB2312" pitchFamily="49" charset="-122"/>
              </a:rPr>
              <a:t>（</a:t>
            </a:r>
            <a:r>
              <a:rPr lang="en-US" altLang="zh-CN" sz="2800" dirty="0">
                <a:solidFill>
                  <a:srgbClr val="3333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楷体_GB2312" pitchFamily="49" charset="-122"/>
              </a:rPr>
              <a:t>[start,]end[,step]</a:t>
            </a:r>
            <a:r>
              <a:rPr lang="zh-CN" altLang="en-US" sz="2800" dirty="0">
                <a:solidFill>
                  <a:srgbClr val="3333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楷体_GB2312" pitchFamily="49" charset="-122"/>
              </a:rPr>
              <a:t>）</a:t>
            </a:r>
          </a:p>
          <a:p>
            <a:pPr indent="457200">
              <a:lnSpc>
                <a:spcPct val="125000"/>
              </a:lnSpc>
              <a:buFont typeface="Arial" panose="020B0604020202020204" pitchFamily="34" charset="0"/>
              <a:buNone/>
            </a:pPr>
            <a:r>
              <a:rPr lang="en-US" altLang="zh-CN" sz="28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楷体_GB2312" pitchFamily="49" charset="-122"/>
              </a:rPr>
              <a:t>range ()</a:t>
            </a:r>
            <a:r>
              <a:rPr lang="zh-CN" altLang="en-US" sz="28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楷体_GB2312" pitchFamily="49" charset="-122"/>
              </a:rPr>
              <a:t>函数共有三个参数，</a:t>
            </a:r>
            <a:r>
              <a:rPr lang="en-US" altLang="zh-CN" sz="28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楷体_GB2312" pitchFamily="49" charset="-122"/>
              </a:rPr>
              <a:t>start</a:t>
            </a:r>
            <a:r>
              <a:rPr lang="zh-CN" altLang="en-US" sz="28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楷体_GB2312" pitchFamily="49" charset="-122"/>
              </a:rPr>
              <a:t>和</a:t>
            </a:r>
            <a:r>
              <a:rPr lang="en-US" altLang="zh-CN" sz="28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楷体_GB2312" pitchFamily="49" charset="-122"/>
              </a:rPr>
              <a:t>step</a:t>
            </a:r>
            <a:r>
              <a:rPr lang="zh-CN" altLang="en-US" sz="28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楷体_GB2312" pitchFamily="49" charset="-122"/>
              </a:rPr>
              <a:t>是可选的，</a:t>
            </a:r>
            <a:r>
              <a:rPr lang="en-US" altLang="zh-CN" sz="28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楷体_GB2312" pitchFamily="49" charset="-122"/>
              </a:rPr>
              <a:t>start</a:t>
            </a:r>
            <a:r>
              <a:rPr lang="zh-CN" altLang="en-US" sz="28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楷体_GB2312" pitchFamily="49" charset="-122"/>
              </a:rPr>
              <a:t>表示开始，默认值为</a:t>
            </a:r>
            <a:r>
              <a:rPr lang="en-US" altLang="zh-CN" sz="28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楷体_GB2312" pitchFamily="49" charset="-122"/>
              </a:rPr>
              <a:t>0</a:t>
            </a:r>
            <a:r>
              <a:rPr lang="zh-CN" altLang="en-US" sz="28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楷体_GB2312" pitchFamily="49" charset="-122"/>
              </a:rPr>
              <a:t>，</a:t>
            </a:r>
            <a:r>
              <a:rPr lang="en-US" altLang="zh-CN" sz="28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楷体_GB2312" pitchFamily="49" charset="-122"/>
              </a:rPr>
              <a:t>end</a:t>
            </a:r>
            <a:r>
              <a:rPr lang="zh-CN" altLang="en-US" sz="28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楷体_GB2312" pitchFamily="49" charset="-122"/>
              </a:rPr>
              <a:t>表示结束，</a:t>
            </a:r>
            <a:r>
              <a:rPr lang="en-US" altLang="zh-CN" sz="28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楷体_GB2312" pitchFamily="49" charset="-122"/>
              </a:rPr>
              <a:t>step</a:t>
            </a:r>
            <a:r>
              <a:rPr lang="zh-CN" altLang="en-US" sz="28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楷体_GB2312" pitchFamily="49" charset="-122"/>
              </a:rPr>
              <a:t>表示步长，默认值为</a:t>
            </a:r>
            <a:r>
              <a:rPr lang="en-US" altLang="zh-CN" sz="28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楷体_GB2312" pitchFamily="49" charset="-122"/>
              </a:rPr>
              <a:t>1</a:t>
            </a:r>
            <a:r>
              <a:rPr lang="zh-CN" altLang="en-US" sz="28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楷体_GB2312" pitchFamily="49" charset="-122"/>
              </a:rPr>
              <a:t>。函数的功能是从一个</a:t>
            </a:r>
            <a:r>
              <a:rPr lang="en-US" altLang="zh-CN" sz="28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楷体_GB2312" pitchFamily="49" charset="-122"/>
              </a:rPr>
              <a:t>start</a:t>
            </a:r>
            <a:r>
              <a:rPr lang="zh-CN" altLang="en-US" sz="28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楷体_GB2312" pitchFamily="49" charset="-122"/>
              </a:rPr>
              <a:t>参数的值开始，到</a:t>
            </a:r>
            <a:r>
              <a:rPr lang="en-US" altLang="zh-CN" sz="28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楷体_GB2312" pitchFamily="49" charset="-122"/>
              </a:rPr>
              <a:t>end</a:t>
            </a:r>
            <a:r>
              <a:rPr lang="zh-CN" altLang="en-US" sz="28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楷体_GB2312" pitchFamily="49" charset="-122"/>
              </a:rPr>
              <a:t>参数的值结束的数字序列。</a:t>
            </a:r>
          </a:p>
          <a:p>
            <a:pPr>
              <a:buFont typeface="Arial" panose="020B0604020202020204" pitchFamily="34" charset="0"/>
              <a:buNone/>
            </a:pPr>
            <a:endParaRPr lang="en-US" altLang="zh-CN" sz="28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楷体_GB2312" pitchFamily="49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1130195" y="188640"/>
            <a:ext cx="8001000" cy="914400"/>
          </a:xfrm>
        </p:spPr>
        <p:txBody>
          <a:bodyPr/>
          <a:lstStyle/>
          <a:p>
            <a:r>
              <a:rPr kumimoji="1" lang="en-US" altLang="zh-CN" sz="3200" kern="1200" dirty="0">
                <a:solidFill>
                  <a:srgbClr val="FFFF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4.3.1  for</a:t>
            </a:r>
            <a:r>
              <a:rPr kumimoji="1" lang="zh-CN" altLang="zh-CN" sz="3200" kern="1200" dirty="0">
                <a:solidFill>
                  <a:srgbClr val="FFFF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循环（遍历循环</a:t>
            </a:r>
            <a:r>
              <a:rPr kumimoji="1" lang="zh-CN" altLang="en-US" sz="3200" kern="1200" dirty="0">
                <a:solidFill>
                  <a:srgbClr val="FFFF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）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advTm="6046"/>
    </mc:Choice>
    <mc:Fallback xmlns="">
      <p:transition advTm="6046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>
            <a:spLocks noChangeArrowheads="1"/>
          </p:cNvSpPr>
          <p:nvPr/>
        </p:nvSpPr>
        <p:spPr bwMode="auto">
          <a:xfrm>
            <a:off x="619125" y="1671339"/>
            <a:ext cx="5825083" cy="1384995"/>
          </a:xfrm>
          <a:prstGeom prst="rect">
            <a:avLst/>
          </a:prstGeom>
          <a:solidFill>
            <a:srgbClr val="B2B2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传递一个参数的range()函数：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&gt;&gt;&gt; for i in range(5):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print(i)</a:t>
            </a:r>
          </a:p>
        </p:txBody>
      </p:sp>
      <p:sp>
        <p:nvSpPr>
          <p:cNvPr id="3" name="文本框 2"/>
          <p:cNvSpPr txBox="1">
            <a:spLocks noChangeArrowheads="1"/>
          </p:cNvSpPr>
          <p:nvPr/>
        </p:nvSpPr>
        <p:spPr bwMode="auto">
          <a:xfrm>
            <a:off x="609600" y="3381077"/>
            <a:ext cx="5834608" cy="1384995"/>
          </a:xfrm>
          <a:prstGeom prst="rect">
            <a:avLst/>
          </a:prstGeom>
          <a:solidFill>
            <a:srgbClr val="CCE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传递两个参数的range()函数：</a:t>
            </a:r>
          </a:p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&gt;&gt;&gt; for i in range(2,4):</a:t>
            </a:r>
          </a:p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print(i)</a:t>
            </a:r>
          </a:p>
        </p:txBody>
      </p:sp>
      <p:sp>
        <p:nvSpPr>
          <p:cNvPr id="4" name="文本框 3"/>
          <p:cNvSpPr txBox="1">
            <a:spLocks noChangeArrowheads="1"/>
          </p:cNvSpPr>
          <p:nvPr/>
        </p:nvSpPr>
        <p:spPr bwMode="auto">
          <a:xfrm>
            <a:off x="619125" y="5027314"/>
            <a:ext cx="5825083" cy="1384995"/>
          </a:xfrm>
          <a:prstGeom prst="rect">
            <a:avLst/>
          </a:prstGeom>
          <a:solidFill>
            <a:srgbClr val="B2B2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传递三个参数的range()函数：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&gt;&gt;&gt; for i in range(2,20,3):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print(i)</a:t>
            </a:r>
          </a:p>
        </p:txBody>
      </p:sp>
      <p:sp>
        <p:nvSpPr>
          <p:cNvPr id="22533" name="文本框 4"/>
          <p:cNvSpPr txBox="1">
            <a:spLocks noChangeArrowheads="1"/>
          </p:cNvSpPr>
          <p:nvPr/>
        </p:nvSpPr>
        <p:spPr bwMode="auto">
          <a:xfrm>
            <a:off x="634557" y="1087139"/>
            <a:ext cx="3163045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4-1 range(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  <p:sp>
        <p:nvSpPr>
          <p:cNvPr id="5" name="标题 4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kumimoji="1" lang="en-US" altLang="zh-CN" sz="3200" kern="1200" dirty="0">
                <a:solidFill>
                  <a:srgbClr val="FFFF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4.3.1  for</a:t>
            </a:r>
            <a:r>
              <a:rPr kumimoji="1" lang="zh-CN" altLang="zh-CN" sz="3200" kern="1200" dirty="0">
                <a:solidFill>
                  <a:srgbClr val="FFFF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循环（遍历循环</a:t>
            </a:r>
            <a:r>
              <a:rPr kumimoji="1" lang="zh-CN" altLang="en-US" sz="3200" kern="1200" dirty="0">
                <a:solidFill>
                  <a:srgbClr val="FFFF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）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advTm="6046"/>
    </mc:Choice>
    <mc:Fallback xmlns="">
      <p:transition advTm="6046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91" name="Text Box 3"/>
              <p:cNvSpPr txBox="1">
                <a:spLocks noChangeArrowheads="1"/>
              </p:cNvSpPr>
              <p:nvPr/>
            </p:nvSpPr>
            <p:spPr bwMode="auto">
              <a:xfrm>
                <a:off x="276101" y="1176388"/>
                <a:ext cx="8496300" cy="5250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 typeface="Arial" panose="020B0604020202020204" pitchFamily="34" charset="0"/>
                  <a:buNone/>
                </a:pPr>
                <a:r>
                  <a:rPr lang="zh-CN" altLang="en-US" sz="2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例</a:t>
                </a:r>
                <a:r>
                  <a:rPr lang="en-US" altLang="zh-CN" sz="2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4-2:</a:t>
                </a:r>
                <a:r>
                  <a:rPr lang="zh-CN" altLang="en-US" sz="2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用</a:t>
                </a:r>
                <a:r>
                  <a:rPr lang="en-US" altLang="zh-CN" sz="2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for</a:t>
                </a:r>
                <a:r>
                  <a:rPr lang="zh-CN" altLang="zh-CN" sz="2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循环求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zh-CN" altLang="en-US" sz="2800" i="1" smtClean="0">
                            <a:latin typeface="Cambria Math" panose="02040503050406030204" pitchFamily="18" charset="0"/>
                            <a:ea typeface="楷体_GB2312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800" b="0" i="1" smtClean="0">
                            <a:latin typeface="Cambria Math" panose="02040503050406030204"/>
                            <a:ea typeface="楷体_GB2312" pitchFamily="49" charset="-122"/>
                          </a:rPr>
                          <m:t>𝑖</m:t>
                        </m:r>
                        <m:r>
                          <a:rPr lang="en-US" altLang="zh-CN" sz="2800" b="0" i="1" smtClean="0">
                            <a:latin typeface="Cambria Math" panose="02040503050406030204"/>
                            <a:ea typeface="楷体_GB2312" pitchFamily="49" charset="-122"/>
                          </a:rPr>
                          <m:t>=0</m:t>
                        </m:r>
                      </m:sub>
                      <m:sup>
                        <m:r>
                          <a:rPr lang="en-US" altLang="zh-CN" sz="2800" b="0" i="1" smtClean="0">
                            <a:latin typeface="Cambria Math" panose="02040503050406030204"/>
                            <a:ea typeface="楷体_GB2312" pitchFamily="49" charset="-122"/>
                          </a:rPr>
                          <m:t>𝑛</m:t>
                        </m:r>
                      </m:sup>
                      <m:e>
                        <m:r>
                          <a:rPr lang="en-US" altLang="zh-CN" sz="2800" b="0" i="1" smtClean="0">
                            <a:latin typeface="Cambria Math" panose="02040503050406030204"/>
                            <a:ea typeface="楷体_GB2312" pitchFamily="49" charset="-122"/>
                          </a:rPr>
                          <m:t>𝑖</m:t>
                        </m:r>
                      </m:e>
                    </m:nary>
                  </m:oMath>
                </a14:m>
                <a:endParaRPr lang="zh-CN" altLang="en-US" sz="28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3091" name="Text 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6101" y="1176388"/>
                <a:ext cx="8496300" cy="525016"/>
              </a:xfrm>
              <a:prstGeom prst="rect">
                <a:avLst/>
              </a:prstGeom>
              <a:blipFill rotWithShape="1">
                <a:blip r:embed="rId2"/>
                <a:stretch>
                  <a:fillRect l="-6" t="-70" r="6" b="-4913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61541" name="Text Box 5"/>
          <p:cNvSpPr txBox="1">
            <a:spLocks noChangeArrowheads="1"/>
          </p:cNvSpPr>
          <p:nvPr/>
        </p:nvSpPr>
        <p:spPr bwMode="auto">
          <a:xfrm>
            <a:off x="259841" y="2492896"/>
            <a:ext cx="4803775" cy="2967159"/>
          </a:xfrm>
          <a:prstGeom prst="rect">
            <a:avLst/>
          </a:prstGeom>
          <a:solidFill>
            <a:srgbClr val="CCECFF"/>
          </a:solidFill>
          <a:ln w="38100">
            <a:solidFill>
              <a:srgbClr val="000066"/>
            </a:solidFill>
            <a:miter lim="800000"/>
          </a:ln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5000"/>
              </a:lnSpc>
              <a:buFont typeface="Arial" panose="020B0604020202020204" pitchFamily="34" charset="0"/>
              <a:buNone/>
            </a:pPr>
            <a:r>
              <a:rPr lang="en-US" altLang="zh-CN" sz="3000" b="1" dirty="0">
                <a:ea typeface="楷体_GB2312" pitchFamily="49" charset="-122"/>
              </a:rPr>
              <a:t>sum=0</a:t>
            </a:r>
          </a:p>
          <a:p>
            <a:pPr eaLnBrk="1" hangingPunct="1">
              <a:lnSpc>
                <a:spcPct val="105000"/>
              </a:lnSpc>
              <a:buFont typeface="Arial" panose="020B0604020202020204" pitchFamily="34" charset="0"/>
              <a:buNone/>
            </a:pPr>
            <a:r>
              <a:rPr lang="en-US" altLang="zh-CN" sz="3000" b="1" dirty="0">
                <a:ea typeface="楷体_GB2312" pitchFamily="49" charset="-122"/>
              </a:rPr>
              <a:t>for </a:t>
            </a:r>
            <a:r>
              <a:rPr lang="en-US" altLang="zh-CN" sz="3000" b="1" dirty="0" err="1">
                <a:ea typeface="楷体_GB2312" pitchFamily="49" charset="-122"/>
              </a:rPr>
              <a:t>i</a:t>
            </a:r>
            <a:r>
              <a:rPr lang="en-US" altLang="zh-CN" sz="3000" b="1" dirty="0">
                <a:ea typeface="楷体_GB2312" pitchFamily="49" charset="-122"/>
              </a:rPr>
              <a:t> in range(101):</a:t>
            </a:r>
          </a:p>
          <a:p>
            <a:pPr eaLnBrk="1" hangingPunct="1">
              <a:lnSpc>
                <a:spcPct val="105000"/>
              </a:lnSpc>
              <a:buFont typeface="Arial" panose="020B0604020202020204" pitchFamily="34" charset="0"/>
              <a:buNone/>
            </a:pPr>
            <a:r>
              <a:rPr lang="en-US" altLang="zh-CN" sz="3000" b="1" dirty="0">
                <a:ea typeface="楷体_GB2312" pitchFamily="49" charset="-122"/>
              </a:rPr>
              <a:t>	sum=</a:t>
            </a:r>
            <a:r>
              <a:rPr lang="en-US" altLang="zh-CN" sz="3000" b="1" dirty="0" err="1">
                <a:ea typeface="楷体_GB2312" pitchFamily="49" charset="-122"/>
              </a:rPr>
              <a:t>sum+i</a:t>
            </a:r>
            <a:endParaRPr lang="en-US" altLang="zh-CN" sz="3000" b="1" dirty="0">
              <a:ea typeface="楷体_GB2312" pitchFamily="49" charset="-122"/>
            </a:endParaRPr>
          </a:p>
          <a:p>
            <a:pPr eaLnBrk="1" hangingPunct="1">
              <a:lnSpc>
                <a:spcPct val="105000"/>
              </a:lnSpc>
              <a:buFont typeface="Arial" panose="020B0604020202020204" pitchFamily="34" charset="0"/>
              <a:buNone/>
            </a:pPr>
            <a:r>
              <a:rPr lang="en-US" altLang="zh-CN" sz="3000" b="1" dirty="0">
                <a:ea typeface="楷体_GB2312" pitchFamily="49" charset="-122"/>
              </a:rPr>
              <a:t>print(“1+2+3+....+100”,</a:t>
            </a:r>
          </a:p>
          <a:p>
            <a:pPr eaLnBrk="1" hangingPunct="1">
              <a:lnSpc>
                <a:spcPct val="105000"/>
              </a:lnSpc>
              <a:buFont typeface="Arial" panose="020B0604020202020204" pitchFamily="34" charset="0"/>
              <a:buNone/>
            </a:pPr>
            <a:r>
              <a:rPr lang="en-US" altLang="zh-CN" sz="3000" b="1" dirty="0">
                <a:ea typeface="楷体_GB2312" pitchFamily="49" charset="-122"/>
              </a:rPr>
              <a:t>sum)</a:t>
            </a:r>
          </a:p>
          <a:p>
            <a:pPr eaLnBrk="1" hangingPunct="1">
              <a:lnSpc>
                <a:spcPct val="105000"/>
              </a:lnSpc>
              <a:buFont typeface="Arial" panose="020B0604020202020204" pitchFamily="34" charset="0"/>
              <a:buNone/>
            </a:pPr>
            <a:endParaRPr lang="en-US" altLang="zh-CN" sz="3000" b="1" dirty="0">
              <a:ea typeface="楷体_GB2312" pitchFamily="49" charset="-122"/>
            </a:endParaRPr>
          </a:p>
        </p:txBody>
      </p:sp>
      <p:graphicFrame>
        <p:nvGraphicFramePr>
          <p:cNvPr id="961591" name="Group 55"/>
          <p:cNvGraphicFramePr>
            <a:graphicFrameLocks noGrp="1"/>
          </p:cNvGraphicFramePr>
          <p:nvPr>
            <p:ph idx="4294967295"/>
          </p:nvPr>
        </p:nvGraphicFramePr>
        <p:xfrm>
          <a:off x="5220072" y="2492896"/>
          <a:ext cx="3654425" cy="2819399"/>
        </p:xfrm>
        <a:graphic>
          <a:graphicData uri="http://schemas.openxmlformats.org/drawingml/2006/table">
            <a:tbl>
              <a:tblPr/>
              <a:tblGrid>
                <a:gridCol w="8972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71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00247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3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sum=0</a:t>
                      </a:r>
                    </a:p>
                  </a:txBody>
                  <a:tcPr marT="45710" marB="45710" horzOverflow="overflow">
                    <a:lnL w="38100" cap="flat" cmpd="sng" algn="ctr">
                      <a:solidFill>
                        <a:srgbClr val="C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C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0247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3000" b="1" dirty="0">
                          <a:latin typeface="Arial" panose="020B0604020202020204" pitchFamily="34" charset="0"/>
                          <a:ea typeface="楷体_GB2312" pitchFamily="49" charset="-122"/>
                          <a:sym typeface="+mn-ea"/>
                        </a:rPr>
                        <a:t>for i in rang(101):</a:t>
                      </a:r>
                      <a:endParaRPr kumimoji="0" lang="en-US" altLang="zh-CN" sz="30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10" marB="45710" horzOverflow="overflow">
                    <a:lnL w="38100" cap="flat" cmpd="sng" algn="ctr">
                      <a:solidFill>
                        <a:srgbClr val="C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C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024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3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10" marB="45710" horzOverflow="overflow">
                    <a:lnL w="38100" cap="flat" cmpd="sng" algn="ctr">
                      <a:solidFill>
                        <a:srgbClr val="C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C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3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sum=</a:t>
                      </a:r>
                      <a:r>
                        <a:rPr kumimoji="0" lang="en-US" altLang="zh-CN" sz="3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sum+i</a:t>
                      </a:r>
                      <a:endParaRPr kumimoji="0" lang="en-US" altLang="zh-CN" sz="3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10" marB="45710" horzOverflow="overflow">
                    <a:lnL w="12700" cap="flat" cmpd="sng" algn="ctr">
                      <a:solidFill>
                        <a:srgbClr val="C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C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8658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3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输出</a:t>
                      </a:r>
                      <a:r>
                        <a:rPr kumimoji="0" lang="en-US" altLang="zh-CN" sz="3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sum</a:t>
                      </a:r>
                    </a:p>
                  </a:txBody>
                  <a:tcPr marT="45710" marB="45710" horzOverflow="overflow">
                    <a:lnL w="38100" cap="flat" cmpd="sng" algn="ctr">
                      <a:solidFill>
                        <a:srgbClr val="C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C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标题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kumimoji="1" lang="en-US" altLang="zh-CN" sz="3200" kern="1200" dirty="0">
                <a:solidFill>
                  <a:srgbClr val="FFFF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4.3.1  for</a:t>
            </a:r>
            <a:r>
              <a:rPr kumimoji="1" lang="zh-CN" altLang="zh-CN" sz="3200" kern="1200" dirty="0">
                <a:solidFill>
                  <a:srgbClr val="FFFF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循环（遍历循环</a:t>
            </a:r>
            <a:r>
              <a:rPr kumimoji="1" lang="en-US" altLang="zh-CN" sz="3200" kern="1200" dirty="0">
                <a:solidFill>
                  <a:srgbClr val="FFFF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)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advTm="6046"/>
    </mc:Choice>
    <mc:Fallback xmlns="">
      <p:transition advTm="6046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682" name="Text Box 2"/>
          <p:cNvSpPr txBox="1">
            <a:spLocks noChangeArrowheads="1"/>
          </p:cNvSpPr>
          <p:nvPr/>
        </p:nvSpPr>
        <p:spPr bwMode="auto">
          <a:xfrm>
            <a:off x="228600" y="1878360"/>
            <a:ext cx="5567536" cy="4044184"/>
          </a:xfrm>
          <a:prstGeom prst="rect">
            <a:avLst/>
          </a:prstGeom>
          <a:solidFill>
            <a:srgbClr val="CCECFF"/>
          </a:solidFill>
          <a:ln w="38100">
            <a:solidFill>
              <a:schemeClr val="bg2">
                <a:lumMod val="60000"/>
                <a:lumOff val="40000"/>
              </a:schemeClr>
            </a:solidFill>
            <a:miter lim="800000"/>
          </a:ln>
        </p:spPr>
        <p:txBody>
          <a:bodyPr wrap="square">
            <a:spAutoFit/>
          </a:bodyPr>
          <a:lstStyle>
            <a:defPPr>
              <a:defRPr lang="zh-CN"/>
            </a:defPPr>
            <a:lvl1pPr eaLnBrk="1" hangingPunct="1">
              <a:lnSpc>
                <a:spcPct val="95000"/>
              </a:lnSpc>
              <a:defRPr sz="2800" b="1">
                <a:ea typeface="楷体_GB2312" pitchFamily="49" charset="-122"/>
              </a:defRPr>
            </a:lvl1pPr>
            <a:lvl2pPr marL="742950" indent="-285750" eaLnBrk="0" hangingPunct="0"/>
            <a:lvl3pPr marL="1143000" indent="-228600" eaLnBrk="0" hangingPunct="0"/>
            <a:lvl4pPr marL="1600200" indent="-228600" eaLnBrk="0" hangingPunct="0"/>
            <a:lvl5pPr marL="2057400" indent="-228600" eaLnBrk="0" hangingPunct="0"/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</a:lvl9pPr>
          </a:lstStyle>
          <a:p>
            <a:pPr>
              <a:defRPr/>
            </a:pPr>
            <a:r>
              <a:rPr lang="en-US" altLang="zh-CN" sz="2400" dirty="0" err="1"/>
              <a:t>num</a:t>
            </a:r>
            <a:r>
              <a:rPr lang="en-US" altLang="zh-CN" sz="2400" dirty="0"/>
              <a:t>=</a:t>
            </a:r>
            <a:r>
              <a:rPr lang="en-US" altLang="zh-CN" sz="2400" dirty="0" err="1"/>
              <a:t>int</a:t>
            </a:r>
            <a:r>
              <a:rPr lang="zh-CN" altLang="en-US" sz="2400" dirty="0"/>
              <a:t>（</a:t>
            </a:r>
            <a:r>
              <a:rPr lang="en-US" altLang="zh-CN" sz="2400" dirty="0"/>
              <a:t>input(“</a:t>
            </a:r>
            <a:r>
              <a:rPr lang="zh-CN" altLang="en-US" sz="2400" dirty="0"/>
              <a:t>请输入要判断的正整数</a:t>
            </a:r>
            <a:r>
              <a:rPr lang="en-US" altLang="zh-CN" sz="2400" dirty="0" err="1"/>
              <a:t>num</a:t>
            </a:r>
            <a:r>
              <a:rPr lang="en-US" altLang="zh-CN" sz="2400" dirty="0"/>
              <a:t>”)</a:t>
            </a:r>
            <a:r>
              <a:rPr lang="zh-CN" altLang="en-US" sz="2400" dirty="0"/>
              <a:t>）</a:t>
            </a:r>
          </a:p>
          <a:p>
            <a:pPr>
              <a:buFont typeface="Arial" panose="020B0604020202020204" pitchFamily="34" charset="0"/>
              <a:buNone/>
              <a:defRPr/>
            </a:pPr>
            <a:r>
              <a:rPr lang="en-US" altLang="zh-CN" sz="2400" dirty="0"/>
              <a:t>flag=1</a:t>
            </a:r>
          </a:p>
          <a:p>
            <a:pPr>
              <a:defRPr/>
            </a:pPr>
            <a:r>
              <a:rPr lang="en-US" altLang="zh-CN" sz="2400" dirty="0"/>
              <a:t>for i in range(2, </a:t>
            </a:r>
            <a:r>
              <a:rPr lang="en-US" altLang="zh-CN" sz="2400" dirty="0" err="1"/>
              <a:t>num</a:t>
            </a:r>
            <a:r>
              <a:rPr lang="en-US" altLang="zh-CN" sz="2400" dirty="0"/>
              <a:t>):</a:t>
            </a:r>
          </a:p>
          <a:p>
            <a:pPr lvl="1">
              <a:defRPr/>
            </a:pPr>
            <a:r>
              <a:rPr lang="en-US" altLang="zh-CN" sz="2400" b="1" dirty="0"/>
              <a:t>if  </a:t>
            </a:r>
            <a:r>
              <a:rPr lang="en-US" altLang="zh-CN" sz="2400" dirty="0" err="1"/>
              <a:t>num</a:t>
            </a:r>
            <a:r>
              <a:rPr lang="en-US" altLang="zh-CN" sz="2400" b="1" dirty="0" err="1"/>
              <a:t>%i</a:t>
            </a:r>
            <a:r>
              <a:rPr lang="en-US" altLang="zh-CN" sz="2400" b="1" dirty="0"/>
              <a:t>==0:</a:t>
            </a:r>
          </a:p>
          <a:p>
            <a:pPr lvl="1">
              <a:defRPr/>
            </a:pPr>
            <a:r>
              <a:rPr lang="en-US" altLang="zh-CN" sz="2400" b="1" dirty="0"/>
              <a:t>   flag=0</a:t>
            </a:r>
          </a:p>
          <a:p>
            <a:pPr lvl="1">
              <a:defRPr/>
            </a:pPr>
            <a:r>
              <a:rPr lang="en-US" altLang="zh-CN" sz="2400" b="1">
                <a:solidFill>
                  <a:srgbClr val="FF0000"/>
                </a:solidFill>
              </a:rPr>
              <a:t>   break </a:t>
            </a:r>
            <a:r>
              <a:rPr lang="en-US" altLang="zh-CN" sz="2400" b="1"/>
              <a:t>   </a:t>
            </a:r>
            <a:endParaRPr lang="zh-CN" altLang="en-US" sz="2400" b="1" dirty="0"/>
          </a:p>
          <a:p>
            <a:pPr>
              <a:buFont typeface="Arial" panose="020B0604020202020204" pitchFamily="34" charset="0"/>
              <a:buNone/>
              <a:defRPr/>
            </a:pPr>
            <a:r>
              <a:rPr lang="en-US" altLang="zh-CN" sz="2400" dirty="0"/>
              <a:t>if  flag==1:</a:t>
            </a:r>
          </a:p>
          <a:p>
            <a:pPr lvl="1">
              <a:defRPr/>
            </a:pPr>
            <a:r>
              <a:rPr lang="en-US" altLang="zh-CN" sz="2400" b="1" dirty="0"/>
              <a:t>print(“%d </a:t>
            </a:r>
            <a:r>
              <a:rPr lang="zh-CN" altLang="en-US" sz="2400" b="1" dirty="0"/>
              <a:t>是素数</a:t>
            </a:r>
            <a:r>
              <a:rPr lang="en-US" altLang="zh-CN" sz="2400" b="1" dirty="0"/>
              <a:t>”%</a:t>
            </a:r>
            <a:r>
              <a:rPr lang="en-US" altLang="zh-CN" sz="2400" dirty="0" err="1"/>
              <a:t>num</a:t>
            </a:r>
            <a:r>
              <a:rPr lang="en-US" altLang="zh-CN" sz="2400" b="1" dirty="0"/>
              <a:t>)</a:t>
            </a:r>
          </a:p>
          <a:p>
            <a:pPr>
              <a:buFont typeface="Arial" panose="020B0604020202020204" pitchFamily="34" charset="0"/>
              <a:buNone/>
              <a:defRPr/>
            </a:pPr>
            <a:r>
              <a:rPr lang="en-US" altLang="zh-CN" sz="2400" dirty="0"/>
              <a:t>else:</a:t>
            </a:r>
          </a:p>
          <a:p>
            <a:pPr lvl="1">
              <a:defRPr/>
            </a:pPr>
            <a:r>
              <a:rPr lang="en-US" altLang="zh-CN" sz="2400" b="1" dirty="0"/>
              <a:t>print(“%d</a:t>
            </a:r>
            <a:r>
              <a:rPr lang="zh-CN" altLang="en-US" sz="2400" b="1" dirty="0"/>
              <a:t>不是素数</a:t>
            </a:r>
            <a:r>
              <a:rPr lang="en-US" altLang="zh-CN" sz="2400" b="1" dirty="0"/>
              <a:t>”%</a:t>
            </a:r>
            <a:r>
              <a:rPr lang="en-US" altLang="zh-CN" sz="2400" dirty="0" err="1"/>
              <a:t>num</a:t>
            </a:r>
            <a:r>
              <a:rPr lang="en-US" altLang="zh-CN" sz="2400" b="1" dirty="0"/>
              <a:t>)        </a:t>
            </a:r>
          </a:p>
        </p:txBody>
      </p:sp>
      <p:sp>
        <p:nvSpPr>
          <p:cNvPr id="967683" name="Text Box 3"/>
          <p:cNvSpPr txBox="1">
            <a:spLocks noChangeArrowheads="1"/>
          </p:cNvSpPr>
          <p:nvPr/>
        </p:nvSpPr>
        <p:spPr bwMode="auto">
          <a:xfrm>
            <a:off x="76200" y="1268760"/>
            <a:ext cx="901223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b="1" dirty="0">
                <a:solidFill>
                  <a:srgbClr val="0000CC"/>
                </a:solidFill>
                <a:ea typeface="楷体_GB2312" pitchFamily="49" charset="-122"/>
              </a:rPr>
              <a:t>例</a:t>
            </a:r>
            <a:r>
              <a:rPr lang="en-US" altLang="zh-CN" b="1" dirty="0">
                <a:solidFill>
                  <a:srgbClr val="0000CC"/>
                </a:solidFill>
                <a:ea typeface="楷体_GB2312" pitchFamily="49" charset="-122"/>
              </a:rPr>
              <a:t>4-3:</a:t>
            </a:r>
            <a:r>
              <a:rPr lang="zh-CN" altLang="en-US" b="1" dirty="0">
                <a:solidFill>
                  <a:srgbClr val="0000CC"/>
                </a:solidFill>
                <a:ea typeface="楷体_GB2312" pitchFamily="49" charset="-122"/>
              </a:rPr>
              <a:t> 判断</a:t>
            </a:r>
            <a:r>
              <a:rPr lang="en-US" altLang="zh-CN" b="1" dirty="0" err="1">
                <a:solidFill>
                  <a:srgbClr val="0000CC"/>
                </a:solidFill>
                <a:ea typeface="楷体_GB2312" pitchFamily="49" charset="-122"/>
              </a:rPr>
              <a:t>num</a:t>
            </a:r>
            <a:r>
              <a:rPr lang="zh-CN" altLang="en-US" b="1" dirty="0">
                <a:solidFill>
                  <a:srgbClr val="0000CC"/>
                </a:solidFill>
                <a:ea typeface="楷体_GB2312" pitchFamily="49" charset="-122"/>
              </a:rPr>
              <a:t>是否为素数。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kumimoji="1" lang="en-US" altLang="zh-CN" sz="3200" kern="1200" dirty="0">
                <a:solidFill>
                  <a:srgbClr val="FFFF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4.3.1  for</a:t>
            </a:r>
            <a:r>
              <a:rPr kumimoji="1" lang="zh-CN" altLang="zh-CN" sz="3200" kern="1200" dirty="0">
                <a:solidFill>
                  <a:srgbClr val="FFFF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循环（遍历循环</a:t>
            </a:r>
            <a:r>
              <a:rPr kumimoji="1" lang="en-US" altLang="zh-CN" sz="3200" kern="1200" dirty="0">
                <a:solidFill>
                  <a:srgbClr val="FFFF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)</a:t>
            </a:r>
            <a:endParaRPr lang="zh-CN" altLang="en-US" dirty="0"/>
          </a:p>
        </p:txBody>
      </p:sp>
      <p:pic>
        <p:nvPicPr>
          <p:cNvPr id="40962" name="图片 5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4168" y="1257072"/>
            <a:ext cx="2736304" cy="51944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advTm="6046"/>
    </mc:Choice>
    <mc:Fallback xmlns="">
      <p:transition advTm="6046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文本框 2"/>
          <p:cNvSpPr txBox="1">
            <a:spLocks noChangeArrowheads="1"/>
          </p:cNvSpPr>
          <p:nvPr/>
        </p:nvSpPr>
        <p:spPr bwMode="auto">
          <a:xfrm>
            <a:off x="342081" y="1107901"/>
            <a:ext cx="8334375" cy="1988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zh-CN" altLang="en-US" sz="280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楷体_GB2312" pitchFamily="49" charset="-122"/>
              </a:rPr>
              <a:t>例</a:t>
            </a:r>
            <a:r>
              <a:rPr lang="en-US" altLang="zh-CN" sz="280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楷体_GB2312" pitchFamily="49" charset="-122"/>
              </a:rPr>
              <a:t>4-4</a:t>
            </a:r>
            <a:r>
              <a:rPr lang="zh-CN" altLang="en-US" sz="280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楷体_GB2312" pitchFamily="49" charset="-122"/>
              </a:rPr>
              <a:t>：已知四位数</a:t>
            </a:r>
            <a:r>
              <a:rPr lang="en-US" altLang="zh-CN" sz="280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楷体_GB2312" pitchFamily="49" charset="-122"/>
              </a:rPr>
              <a:t>3025</a:t>
            </a:r>
            <a:r>
              <a:rPr lang="zh-CN" altLang="en-US" sz="280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楷体_GB2312" pitchFamily="49" charset="-122"/>
              </a:rPr>
              <a:t>具有特殊性质：它的前两位数字</a:t>
            </a:r>
            <a:r>
              <a:rPr lang="en-US" altLang="zh-CN" sz="280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楷体_GB2312" pitchFamily="49" charset="-122"/>
              </a:rPr>
              <a:t>30</a:t>
            </a:r>
            <a:r>
              <a:rPr lang="zh-CN" altLang="en-US" sz="280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楷体_GB2312" pitchFamily="49" charset="-122"/>
              </a:rPr>
              <a:t>与后两位数字</a:t>
            </a:r>
            <a:r>
              <a:rPr lang="en-US" altLang="zh-CN" sz="280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楷体_GB2312" pitchFamily="49" charset="-122"/>
              </a:rPr>
              <a:t>25</a:t>
            </a:r>
            <a:r>
              <a:rPr lang="zh-CN" altLang="en-US" sz="280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楷体_GB2312" pitchFamily="49" charset="-122"/>
              </a:rPr>
              <a:t>之和是</a:t>
            </a:r>
            <a:r>
              <a:rPr lang="en-US" altLang="zh-CN" sz="280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楷体_GB2312" pitchFamily="49" charset="-122"/>
              </a:rPr>
              <a:t>55</a:t>
            </a:r>
            <a:r>
              <a:rPr lang="zh-CN" altLang="en-US" sz="280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楷体_GB2312" pitchFamily="49" charset="-122"/>
              </a:rPr>
              <a:t>，而</a:t>
            </a:r>
            <a:r>
              <a:rPr lang="en-US" altLang="zh-CN" sz="280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楷体_GB2312" pitchFamily="49" charset="-122"/>
              </a:rPr>
              <a:t>55</a:t>
            </a:r>
            <a:r>
              <a:rPr lang="zh-CN" altLang="en-US" sz="280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楷体_GB2312" pitchFamily="49" charset="-122"/>
              </a:rPr>
              <a:t>的平方正好等于其本身</a:t>
            </a:r>
            <a:r>
              <a:rPr lang="en-US" altLang="zh-CN" sz="280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楷体_GB2312" pitchFamily="49" charset="-122"/>
              </a:rPr>
              <a:t>3025</a:t>
            </a:r>
            <a:r>
              <a:rPr lang="zh-CN" altLang="en-US" sz="280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楷体_GB2312" pitchFamily="49" charset="-122"/>
              </a:rPr>
              <a:t>。编程列举出具有该性质的四位数。</a:t>
            </a:r>
          </a:p>
        </p:txBody>
      </p:sp>
      <p:sp>
        <p:nvSpPr>
          <p:cNvPr id="24579" name="文本框 3"/>
          <p:cNvSpPr txBox="1">
            <a:spLocks noChangeArrowheads="1"/>
          </p:cNvSpPr>
          <p:nvPr/>
        </p:nvSpPr>
        <p:spPr bwMode="auto">
          <a:xfrm>
            <a:off x="282129" y="2636912"/>
            <a:ext cx="8538343" cy="3970338"/>
          </a:xfrm>
          <a:prstGeom prst="rect">
            <a:avLst/>
          </a:prstGeom>
          <a:solidFill>
            <a:srgbClr val="CCECFF"/>
          </a:solidFill>
          <a:ln w="38100">
            <a:solidFill>
              <a:schemeClr val="bg2">
                <a:lumMod val="60000"/>
                <a:lumOff val="40000"/>
              </a:schemeClr>
            </a:solidFill>
            <a:miter lim="800000"/>
          </a:ln>
        </p:spPr>
        <p:txBody>
          <a:bodyPr wrap="square">
            <a:spAutoFit/>
          </a:bodyPr>
          <a:lstStyle>
            <a:defPPr>
              <a:defRPr lang="zh-CN"/>
            </a:defPPr>
            <a:lvl1pPr eaLnBrk="1" hangingPunct="1">
              <a:lnSpc>
                <a:spcPct val="95000"/>
              </a:lnSpc>
              <a:defRPr sz="2800" b="1">
                <a:ea typeface="楷体_GB2312" pitchFamily="49" charset="-122"/>
              </a:defRPr>
            </a:lvl1pPr>
            <a:lvl2pPr marL="742950" indent="-285750" eaLnBrk="0" hangingPunct="0"/>
            <a:lvl3pPr marL="1143000" indent="-228600" eaLnBrk="0" hangingPunct="0"/>
            <a:lvl4pPr marL="1600200" indent="-228600" eaLnBrk="0" hangingPunct="0"/>
            <a:lvl5pPr marL="2057400" indent="-228600" eaLnBrk="0" hangingPunct="0"/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</a:lvl9pPr>
          </a:lstStyle>
          <a:p>
            <a:pPr>
              <a:lnSpc>
                <a:spcPct val="150000"/>
              </a:lnSpc>
              <a:buFont typeface="Arial" panose="020B0604020202020204" pitchFamily="34" charset="0"/>
              <a:buNone/>
              <a:defRPr/>
            </a:pPr>
            <a:r>
              <a:rPr lang="en-US" altLang="zh-CN" dirty="0">
                <a:sym typeface="楷体_GB2312" pitchFamily="49" charset="-122"/>
              </a:rPr>
              <a:t>print(“</a:t>
            </a:r>
            <a:r>
              <a:rPr lang="zh-CN" altLang="en-US" dirty="0">
                <a:sym typeface="楷体_GB2312" pitchFamily="49" charset="-122"/>
              </a:rPr>
              <a:t>满足条件的四位数分别是：</a:t>
            </a:r>
            <a:r>
              <a:rPr lang="en-US" altLang="zh-CN" dirty="0">
                <a:sym typeface="楷体_GB2312" pitchFamily="49" charset="-122"/>
              </a:rPr>
              <a:t>”)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None/>
              <a:defRPr/>
            </a:pPr>
            <a:r>
              <a:rPr lang="en-US" altLang="zh-CN" dirty="0">
                <a:sym typeface="楷体_GB2312" pitchFamily="49" charset="-122"/>
              </a:rPr>
              <a:t> for i in range(1000,10000):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None/>
              <a:defRPr/>
            </a:pPr>
            <a:r>
              <a:rPr lang="zh-CN" altLang="en-US" dirty="0">
                <a:sym typeface="楷体_GB2312" pitchFamily="49" charset="-122"/>
              </a:rPr>
              <a:t>       </a:t>
            </a:r>
            <a:r>
              <a:rPr lang="en-US" altLang="zh-CN" dirty="0">
                <a:sym typeface="楷体_GB2312" pitchFamily="49" charset="-122"/>
              </a:rPr>
              <a:t>		a=</a:t>
            </a:r>
            <a:r>
              <a:rPr lang="en-US" altLang="zh-CN" dirty="0" err="1">
                <a:sym typeface="楷体_GB2312" pitchFamily="49" charset="-122"/>
              </a:rPr>
              <a:t>i</a:t>
            </a:r>
            <a:r>
              <a:rPr lang="en-US" altLang="zh-CN" dirty="0">
                <a:sym typeface="楷体_GB2312" pitchFamily="49" charset="-122"/>
              </a:rPr>
              <a:t>//100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None/>
              <a:defRPr/>
            </a:pPr>
            <a:r>
              <a:rPr lang="en-US" altLang="zh-CN" dirty="0">
                <a:sym typeface="楷体_GB2312" pitchFamily="49" charset="-122"/>
              </a:rPr>
              <a:t>		b=i%100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None/>
              <a:defRPr/>
            </a:pPr>
            <a:r>
              <a:rPr lang="en-US" altLang="zh-CN" dirty="0">
                <a:sym typeface="楷体_GB2312" pitchFamily="49" charset="-122"/>
              </a:rPr>
              <a:t>		if (</a:t>
            </a:r>
            <a:r>
              <a:rPr lang="en-US" altLang="zh-CN" dirty="0" err="1">
                <a:sym typeface="楷体_GB2312" pitchFamily="49" charset="-122"/>
              </a:rPr>
              <a:t>a+b</a:t>
            </a:r>
            <a:r>
              <a:rPr lang="en-US" altLang="zh-CN" dirty="0">
                <a:sym typeface="楷体_GB2312" pitchFamily="49" charset="-122"/>
              </a:rPr>
              <a:t>)* *2==</a:t>
            </a:r>
            <a:r>
              <a:rPr lang="en-US" altLang="zh-CN" dirty="0" err="1">
                <a:sym typeface="楷体_GB2312" pitchFamily="49" charset="-122"/>
              </a:rPr>
              <a:t>i</a:t>
            </a:r>
            <a:r>
              <a:rPr lang="en-US" altLang="zh-CN" dirty="0">
                <a:sym typeface="楷体_GB2312" pitchFamily="49" charset="-122"/>
              </a:rPr>
              <a:t>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None/>
              <a:defRPr/>
            </a:pPr>
            <a:r>
              <a:rPr lang="en-US" altLang="zh-CN" dirty="0">
                <a:sym typeface="楷体_GB2312" pitchFamily="49" charset="-122"/>
              </a:rPr>
              <a:t>			print(</a:t>
            </a:r>
            <a:r>
              <a:rPr lang="en-US" altLang="zh-CN" dirty="0" err="1">
                <a:sym typeface="楷体_GB2312" pitchFamily="49" charset="-122"/>
              </a:rPr>
              <a:t>i</a:t>
            </a:r>
            <a:r>
              <a:rPr lang="en-US" altLang="zh-CN" dirty="0">
                <a:sym typeface="楷体_GB2312" pitchFamily="49" charset="-122"/>
              </a:rPr>
              <a:t>)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kumimoji="1" lang="en-US" altLang="zh-CN" sz="3200" kern="1200" dirty="0">
                <a:solidFill>
                  <a:srgbClr val="FFFF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4.3.1  for</a:t>
            </a:r>
            <a:r>
              <a:rPr kumimoji="1" lang="zh-CN" altLang="zh-CN" sz="3200" kern="1200" dirty="0">
                <a:solidFill>
                  <a:srgbClr val="FFFF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循环（遍历循环</a:t>
            </a:r>
            <a:r>
              <a:rPr kumimoji="1" lang="en-US" altLang="zh-CN" sz="3200" kern="1200" dirty="0">
                <a:solidFill>
                  <a:srgbClr val="FFFF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)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advTm="6046"/>
    </mc:Choice>
    <mc:Fallback xmlns="">
      <p:transition advTm="6046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429979" y="2341726"/>
            <a:ext cx="8292395" cy="3805657"/>
          </a:xfrm>
          <a:prstGeom prst="rect">
            <a:avLst/>
          </a:prstGeom>
          <a:solidFill>
            <a:srgbClr val="CCECFF"/>
          </a:solidFill>
          <a:ln w="38100">
            <a:solidFill>
              <a:schemeClr val="bg2">
                <a:lumMod val="60000"/>
                <a:lumOff val="40000"/>
              </a:schemeClr>
            </a:solidFill>
            <a:miter lim="800000"/>
          </a:ln>
        </p:spPr>
        <p:txBody>
          <a:bodyPr wrap="square">
            <a:spAutoFit/>
          </a:bodyPr>
          <a:lstStyle>
            <a:lvl1pPr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5000"/>
              </a:lnSpc>
              <a:buFont typeface="Arial" panose="020B0604020202020204" pitchFamily="34" charset="0"/>
              <a:buNone/>
              <a:defRPr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print(“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满足条件的数分别是：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”)</a:t>
            </a:r>
          </a:p>
          <a:p>
            <a:pPr eaLnBrk="1" hangingPunct="1">
              <a:lnSpc>
                <a:spcPct val="95000"/>
              </a:lnSpc>
              <a:buFont typeface="Arial" panose="020B0604020202020204" pitchFamily="34" charset="0"/>
              <a:buNone/>
              <a:defRPr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count=0</a:t>
            </a:r>
          </a:p>
          <a:p>
            <a:pPr eaLnBrk="1" hangingPunct="1">
              <a:lnSpc>
                <a:spcPct val="95000"/>
              </a:lnSpc>
              <a:buFont typeface="Arial" panose="020B0604020202020204" pitchFamily="34" charset="0"/>
              <a:buNone/>
              <a:defRPr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for </a:t>
            </a:r>
            <a:r>
              <a:rPr lang="en-US" altLang="zh-CN" sz="2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in range(1,100):</a:t>
            </a:r>
          </a:p>
          <a:p>
            <a:pPr eaLnBrk="1" hangingPunct="1">
              <a:lnSpc>
                <a:spcPct val="95000"/>
              </a:lnSpc>
              <a:buFont typeface="Arial" panose="020B0604020202020204" pitchFamily="34" charset="0"/>
              <a:buNone/>
              <a:defRPr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if i%7==0 and i%11!=0 or i%11==0 and i%7!=0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pPr eaLnBrk="1" hangingPunct="1">
              <a:lnSpc>
                <a:spcPct val="95000"/>
              </a:lnSpc>
              <a:buFont typeface="Arial" panose="020B0604020202020204" pitchFamily="34" charset="0"/>
              <a:buNone/>
              <a:defRPr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print(</a:t>
            </a:r>
            <a:r>
              <a:rPr lang="en-US" altLang="zh-CN" sz="2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,end=”   ”)     </a:t>
            </a:r>
          </a:p>
          <a:p>
            <a:pPr eaLnBrk="1" hangingPunct="1">
              <a:lnSpc>
                <a:spcPct val="95000"/>
              </a:lnSpc>
              <a:buFont typeface="Arial" panose="020B0604020202020204" pitchFamily="34" charset="0"/>
              <a:buNone/>
              <a:defRPr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count=coun+1</a:t>
            </a:r>
          </a:p>
          <a:p>
            <a:pPr eaLnBrk="1" hangingPunct="1">
              <a:lnSpc>
                <a:spcPct val="95000"/>
              </a:lnSpc>
              <a:buFont typeface="Arial" panose="020B0604020202020204" pitchFamily="34" charset="0"/>
              <a:buNone/>
              <a:defRPr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		if count%10==0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</a:p>
          <a:p>
            <a:pPr eaLnBrk="1" hangingPunct="1">
              <a:lnSpc>
                <a:spcPct val="95000"/>
              </a:lnSpc>
              <a:buFont typeface="Arial" panose="020B0604020202020204" pitchFamily="34" charset="0"/>
              <a:buNone/>
              <a:defRPr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	print(“ ”)   </a:t>
            </a:r>
            <a:r>
              <a:rPr lang="en-US" altLang="zh-CN" sz="3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312053" y="1407317"/>
            <a:ext cx="8528248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240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240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4-5:</a:t>
            </a:r>
            <a:r>
              <a:rPr lang="zh-CN" altLang="en-US" sz="240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求出</a:t>
            </a:r>
            <a:r>
              <a:rPr lang="en-US" altLang="zh-CN" sz="240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到</a:t>
            </a:r>
            <a:r>
              <a:rPr lang="en-US" altLang="zh-CN" sz="240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100</a:t>
            </a:r>
            <a:r>
              <a:rPr lang="zh-CN" altLang="en-US" sz="240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能被</a:t>
            </a:r>
            <a:r>
              <a:rPr lang="en-US" altLang="zh-CN" sz="240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sz="240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en-US" altLang="zh-CN" sz="240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</a:t>
            </a:r>
            <a:r>
              <a:rPr lang="zh-CN" altLang="en-US" sz="240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整除但不能被</a:t>
            </a:r>
            <a:r>
              <a:rPr lang="en-US" altLang="zh-CN" sz="240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sz="240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40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</a:t>
            </a:r>
            <a:r>
              <a:rPr lang="zh-CN" altLang="en-US" sz="240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同时整除的所有整数并将它们输出。每行</a:t>
            </a:r>
            <a:r>
              <a:rPr lang="en-US" altLang="zh-CN" sz="240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sz="240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个。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kumimoji="1" lang="en-US" altLang="zh-CN" sz="3200" kern="1200" dirty="0">
                <a:solidFill>
                  <a:srgbClr val="FFFF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4.3.1  for</a:t>
            </a:r>
            <a:r>
              <a:rPr kumimoji="1" lang="zh-CN" altLang="zh-CN" sz="3200" kern="1200" dirty="0">
                <a:solidFill>
                  <a:srgbClr val="FFFF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循环（遍历循环</a:t>
            </a:r>
            <a:r>
              <a:rPr kumimoji="1" lang="zh-CN" altLang="en-US" sz="3200" kern="1200" dirty="0">
                <a:solidFill>
                  <a:srgbClr val="FFFF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）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advTm="6046"/>
    </mc:Choice>
    <mc:Fallback xmlns="">
      <p:transition advTm="6046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1890" name="Rectangle 2"/>
          <p:cNvSpPr>
            <a:spLocks noGrp="1" noChangeArrowheads="1"/>
          </p:cNvSpPr>
          <p:nvPr>
            <p:ph type="title"/>
          </p:nvPr>
        </p:nvSpPr>
        <p:spPr>
          <a:xfrm>
            <a:off x="1127365" y="260648"/>
            <a:ext cx="7151712" cy="685800"/>
          </a:xfrm>
        </p:spPr>
        <p:txBody>
          <a:bodyPr/>
          <a:lstStyle/>
          <a:p>
            <a:pPr eaLnBrk="1" hangingPunct="1">
              <a:defRPr/>
            </a:pPr>
            <a:r>
              <a:rPr kumimoji="1" lang="en-US" altLang="zh-CN" sz="3200" dirty="0"/>
              <a:t>4.3.2  while</a:t>
            </a:r>
            <a:r>
              <a:rPr kumimoji="1" lang="zh-CN" altLang="en-US" sz="3200" dirty="0"/>
              <a:t>语句</a:t>
            </a:r>
            <a:r>
              <a:rPr kumimoji="1" lang="en-US" altLang="zh-CN" sz="3200" dirty="0"/>
              <a:t>(</a:t>
            </a:r>
            <a:r>
              <a:rPr kumimoji="1" lang="zh-CN" altLang="en-US" sz="3200" dirty="0"/>
              <a:t>无限循环</a:t>
            </a:r>
            <a:r>
              <a:rPr kumimoji="1" lang="en-US" altLang="zh-CN" sz="3200" dirty="0"/>
              <a:t>)</a:t>
            </a:r>
          </a:p>
        </p:txBody>
      </p:sp>
      <p:sp>
        <p:nvSpPr>
          <p:cNvPr id="1061891" name="Rectangle 3"/>
          <p:cNvSpPr>
            <a:spLocks noGrp="1" noChangeArrowheads="1"/>
          </p:cNvSpPr>
          <p:nvPr>
            <p:ph idx="1"/>
          </p:nvPr>
        </p:nvSpPr>
        <p:spPr>
          <a:xfrm>
            <a:off x="417512" y="1117993"/>
            <a:ext cx="8763000" cy="5410200"/>
          </a:xfrm>
        </p:spPr>
        <p:txBody>
          <a:bodyPr/>
          <a:lstStyle/>
          <a:p>
            <a:pPr eaLnBrk="1" hangingPunct="1">
              <a:lnSpc>
                <a:spcPct val="95000"/>
              </a:lnSpc>
              <a:spcBef>
                <a:spcPct val="0"/>
              </a:spcBef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特点：</a:t>
            </a: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先判断，再执行</a:t>
            </a:r>
          </a:p>
          <a:p>
            <a:pPr eaLnBrk="1" hangingPunct="1">
              <a:lnSpc>
                <a:spcPct val="95000"/>
              </a:lnSpc>
              <a:spcBef>
                <a:spcPct val="0"/>
              </a:spcBef>
            </a:pPr>
            <a:r>
              <a:rPr lang="en-US" altLang="zh-CN" sz="28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while </a:t>
            </a:r>
            <a:r>
              <a:rPr lang="zh-CN" altLang="en-US" sz="28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语句的语法格式：</a:t>
            </a:r>
          </a:p>
          <a:p>
            <a:pPr eaLnBrk="1" hangingPunct="1">
              <a:lnSpc>
                <a:spcPct val="95000"/>
              </a:lnSpc>
              <a:spcBef>
                <a:spcPct val="0"/>
              </a:spcBef>
            </a:pPr>
            <a:endParaRPr lang="zh-CN" altLang="en-US" dirty="0">
              <a:solidFill>
                <a:srgbClr val="0000FF"/>
              </a:solidFill>
              <a:latin typeface="楷体_GB2312" pitchFamily="49" charset="-122"/>
            </a:endParaRPr>
          </a:p>
          <a:p>
            <a:pPr eaLnBrk="1" hangingPunct="1">
              <a:lnSpc>
                <a:spcPct val="95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zh-CN" altLang="en-US" dirty="0">
              <a:solidFill>
                <a:srgbClr val="0000FF"/>
              </a:solidFill>
              <a:latin typeface="楷体_GB2312" pitchFamily="49" charset="-122"/>
            </a:endParaRPr>
          </a:p>
          <a:p>
            <a:pPr eaLnBrk="1" hangingPunct="1">
              <a:lnSpc>
                <a:spcPct val="95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zh-CN" altLang="en-US" dirty="0">
              <a:solidFill>
                <a:srgbClr val="0000FF"/>
              </a:solidFill>
              <a:latin typeface="楷体_GB2312" pitchFamily="49" charset="-122"/>
            </a:endParaRPr>
          </a:p>
          <a:p>
            <a:pPr eaLnBrk="1" hangingPunct="1">
              <a:lnSpc>
                <a:spcPct val="95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zh-CN" altLang="en-US" dirty="0">
              <a:solidFill>
                <a:srgbClr val="0000FF"/>
              </a:solidFill>
              <a:latin typeface="楷体_GB2312" pitchFamily="49" charset="-122"/>
            </a:endParaRPr>
          </a:p>
          <a:p>
            <a:pPr eaLnBrk="1" hangingPunct="1">
              <a:lnSpc>
                <a:spcPct val="95000"/>
              </a:lnSpc>
              <a:spcBef>
                <a:spcPct val="0"/>
              </a:spcBef>
            </a:pPr>
            <a:endParaRPr lang="en-US" altLang="zh-CN" dirty="0">
              <a:solidFill>
                <a:srgbClr val="FF0000"/>
              </a:solidFill>
              <a:latin typeface="楷体_GB2312" pitchFamily="49" charset="-122"/>
            </a:endParaRPr>
          </a:p>
        </p:txBody>
      </p:sp>
      <p:sp>
        <p:nvSpPr>
          <p:cNvPr id="1061892" name="Rectangle 4"/>
          <p:cNvSpPr>
            <a:spLocks noChangeArrowheads="1"/>
          </p:cNvSpPr>
          <p:nvPr/>
        </p:nvSpPr>
        <p:spPr bwMode="auto">
          <a:xfrm>
            <a:off x="214563" y="4005064"/>
            <a:ext cx="8610600" cy="2448272"/>
          </a:xfrm>
          <a:prstGeom prst="rect">
            <a:avLst/>
          </a:prstGeom>
          <a:solidFill>
            <a:srgbClr val="CCECFF"/>
          </a:solidFill>
          <a:ln w="38100">
            <a:solidFill>
              <a:srgbClr val="0000FF"/>
            </a:solidFill>
            <a:miter lim="800000"/>
          </a:ln>
        </p:spPr>
        <p:txBody>
          <a:bodyPr/>
          <a:lstStyle/>
          <a:p>
            <a:pPr marL="342900" indent="-342900" eaLnBrk="1" hangingPunct="1">
              <a:lnSpc>
                <a:spcPct val="85000"/>
              </a:lnSpc>
              <a:buFont typeface="Arial" panose="020B0604020202020204" pitchFamily="34" charset="0"/>
              <a:buNone/>
            </a:pPr>
            <a:r>
              <a:rPr lang="zh-CN" altLang="en-US" sz="2400" b="1" dirty="0">
                <a:solidFill>
                  <a:schemeClr val="bg2"/>
                </a:solidFill>
                <a:ea typeface="楷体_GB2312" pitchFamily="49" charset="-122"/>
              </a:rPr>
              <a:t>注意：</a:t>
            </a:r>
          </a:p>
          <a:p>
            <a:pPr marL="342900" indent="-342900" eaLnBrk="1" hangingPunct="1">
              <a:buClr>
                <a:srgbClr val="FF0000"/>
              </a:buClr>
              <a:buFont typeface="Arial" panose="020B0604020202020204" pitchFamily="34" charset="0"/>
              <a:buAutoNum type="arabicPeriod"/>
            </a:pPr>
            <a:r>
              <a:rPr lang="zh-CN" altLang="en-US" sz="2400" b="1" dirty="0">
                <a:ea typeface="楷体_GB2312" pitchFamily="49" charset="-122"/>
              </a:rPr>
              <a:t> </a:t>
            </a:r>
            <a:r>
              <a:rPr lang="zh-CN" altLang="zh-CN" sz="2400" b="1" dirty="0">
                <a:ea typeface="楷体_GB2312" pitchFamily="49" charset="-122"/>
              </a:rPr>
              <a:t>循环体</a:t>
            </a:r>
            <a:r>
              <a:rPr lang="zh-CN" altLang="zh-CN" sz="2400" b="1" dirty="0">
                <a:solidFill>
                  <a:srgbClr val="FF0000"/>
                </a:solidFill>
                <a:ea typeface="楷体_GB2312" pitchFamily="49" charset="-122"/>
              </a:rPr>
              <a:t>可能一次也不执行</a:t>
            </a:r>
            <a:r>
              <a:rPr lang="zh-CN" altLang="en-US" sz="2400" b="1" dirty="0">
                <a:solidFill>
                  <a:srgbClr val="FF0000"/>
                </a:solidFill>
                <a:ea typeface="楷体_GB2312" pitchFamily="49" charset="-122"/>
              </a:rPr>
              <a:t>，可能无限次循环；</a:t>
            </a:r>
            <a:endParaRPr lang="zh-CN" altLang="en-US" sz="2400" b="1" dirty="0">
              <a:ea typeface="楷体_GB2312" pitchFamily="49" charset="-122"/>
            </a:endParaRPr>
          </a:p>
          <a:p>
            <a:pPr marL="342900" indent="-342900" eaLnBrk="1" hangingPunct="1">
              <a:buClr>
                <a:srgbClr val="FF0000"/>
              </a:buClr>
              <a:buFont typeface="Arial" panose="020B0604020202020204" pitchFamily="34" charset="0"/>
              <a:buAutoNum type="arabicPeriod"/>
            </a:pPr>
            <a:r>
              <a:rPr lang="zh-CN" altLang="en-US" sz="2400" b="1" dirty="0">
                <a:ea typeface="楷体_GB2312" pitchFamily="49" charset="-122"/>
              </a:rPr>
              <a:t> </a:t>
            </a:r>
            <a:r>
              <a:rPr lang="zh-CN" altLang="zh-CN" sz="2400" b="1" dirty="0">
                <a:ea typeface="楷体_GB2312" pitchFamily="49" charset="-122"/>
              </a:rPr>
              <a:t>循环体可为</a:t>
            </a:r>
            <a:r>
              <a:rPr lang="zh-CN" altLang="zh-CN" sz="2400" b="1" dirty="0">
                <a:solidFill>
                  <a:srgbClr val="FF0000"/>
                </a:solidFill>
                <a:ea typeface="楷体_GB2312" pitchFamily="49" charset="-122"/>
              </a:rPr>
              <a:t>任意类型语句</a:t>
            </a:r>
            <a:r>
              <a:rPr lang="zh-CN" altLang="en-US" sz="2400" b="1" dirty="0">
                <a:solidFill>
                  <a:srgbClr val="FF0000"/>
                </a:solidFill>
                <a:ea typeface="楷体_GB2312" pitchFamily="49" charset="-122"/>
              </a:rPr>
              <a:t>；</a:t>
            </a:r>
            <a:endParaRPr lang="zh-CN" altLang="en-US" sz="2400" b="1" dirty="0">
              <a:ea typeface="楷体_GB2312" pitchFamily="49" charset="-122"/>
            </a:endParaRPr>
          </a:p>
          <a:p>
            <a:pPr marL="342900" indent="-342900" eaLnBrk="1" hangingPunct="1">
              <a:buClr>
                <a:srgbClr val="FF0000"/>
              </a:buClr>
              <a:buFont typeface="Arial" panose="020B0604020202020204" pitchFamily="34" charset="0"/>
              <a:buAutoNum type="arabicPeriod"/>
            </a:pPr>
            <a:r>
              <a:rPr lang="zh-CN" altLang="en-US" sz="2400" b="1" dirty="0">
                <a:ea typeface="楷体_GB2312" pitchFamily="49" charset="-122"/>
              </a:rPr>
              <a:t> </a:t>
            </a:r>
            <a:r>
              <a:rPr lang="zh-CN" altLang="zh-CN" sz="2400" b="1" dirty="0">
                <a:ea typeface="楷体_GB2312" pitchFamily="49" charset="-122"/>
              </a:rPr>
              <a:t>退出</a:t>
            </a:r>
            <a:r>
              <a:rPr lang="en-US" altLang="zh-CN" sz="2400" b="1" dirty="0">
                <a:ea typeface="楷体_GB2312" pitchFamily="49" charset="-122"/>
              </a:rPr>
              <a:t>while</a:t>
            </a:r>
            <a:r>
              <a:rPr lang="zh-CN" altLang="zh-CN" sz="2400" b="1" dirty="0">
                <a:ea typeface="楷体_GB2312" pitchFamily="49" charset="-122"/>
              </a:rPr>
              <a:t>循环</a:t>
            </a:r>
            <a:r>
              <a:rPr lang="zh-CN" altLang="en-US" sz="2400" b="1" dirty="0">
                <a:ea typeface="楷体_GB2312" pitchFamily="49" charset="-122"/>
              </a:rPr>
              <a:t>的情况</a:t>
            </a:r>
            <a:r>
              <a:rPr lang="en-US" altLang="zh-CN" sz="2400" b="1" dirty="0">
                <a:ea typeface="楷体_GB2312" pitchFamily="49" charset="-122"/>
              </a:rPr>
              <a:t>:</a:t>
            </a:r>
          </a:p>
          <a:p>
            <a:pPr marL="800100" lvl="1" indent="-342900" eaLnBrk="1" hangingPunct="1">
              <a:buClr>
                <a:schemeClr val="bg2"/>
              </a:buClr>
              <a:buSzPct val="85000"/>
              <a:buFont typeface="Wingdings" panose="05000000000000000000" pitchFamily="2" charset="2"/>
              <a:buChar char="p"/>
            </a:pPr>
            <a:r>
              <a:rPr lang="en-US" altLang="zh-CN" sz="2400" b="1" dirty="0">
                <a:solidFill>
                  <a:srgbClr val="FF0000"/>
                </a:solidFill>
                <a:ea typeface="楷体_GB2312" pitchFamily="49" charset="-122"/>
              </a:rPr>
              <a:t> </a:t>
            </a:r>
            <a:r>
              <a:rPr lang="en-US" altLang="zh-CN" sz="2400" b="1" dirty="0" err="1">
                <a:solidFill>
                  <a:srgbClr val="FF0000"/>
                </a:solidFill>
                <a:ea typeface="楷体_GB2312" pitchFamily="49" charset="-122"/>
              </a:rPr>
              <a:t>exp</a:t>
            </a:r>
            <a:r>
              <a:rPr lang="zh-CN" altLang="en-US" sz="2400" b="1" dirty="0">
                <a:solidFill>
                  <a:srgbClr val="FF0000"/>
                </a:solidFill>
                <a:ea typeface="楷体_GB2312" pitchFamily="49" charset="-122"/>
              </a:rPr>
              <a:t>不成立</a:t>
            </a:r>
            <a:endParaRPr lang="zh-CN" altLang="en-US" sz="2400" b="1" dirty="0">
              <a:ea typeface="楷体_GB2312" pitchFamily="49" charset="-122"/>
            </a:endParaRPr>
          </a:p>
          <a:p>
            <a:pPr marL="800100" lvl="1" indent="-342900" eaLnBrk="1" hangingPunct="1">
              <a:buClr>
                <a:schemeClr val="bg2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sz="2400" b="1" dirty="0">
                <a:ea typeface="楷体_GB2312" pitchFamily="49" charset="-122"/>
              </a:rPr>
              <a:t> 循环体</a:t>
            </a:r>
            <a:r>
              <a:rPr lang="zh-CN" altLang="en-US" sz="2400" b="1" dirty="0">
                <a:solidFill>
                  <a:srgbClr val="FF0000"/>
                </a:solidFill>
                <a:ea typeface="楷体_GB2312" pitchFamily="49" charset="-122"/>
              </a:rPr>
              <a:t>内遇</a:t>
            </a:r>
            <a:r>
              <a:rPr lang="en-US" altLang="zh-CN" sz="2400" b="1" dirty="0">
                <a:solidFill>
                  <a:srgbClr val="FF0000"/>
                </a:solidFill>
                <a:ea typeface="楷体_GB2312" pitchFamily="49" charset="-122"/>
              </a:rPr>
              <a:t>break, return, exit</a:t>
            </a:r>
            <a:r>
              <a:rPr lang="zh-CN" altLang="en-US" sz="2400" b="1" dirty="0">
                <a:solidFill>
                  <a:srgbClr val="FF0000"/>
                </a:solidFill>
                <a:ea typeface="楷体_GB2312" pitchFamily="49" charset="-122"/>
              </a:rPr>
              <a:t>等。</a:t>
            </a:r>
          </a:p>
        </p:txBody>
      </p:sp>
      <p:grpSp>
        <p:nvGrpSpPr>
          <p:cNvPr id="2" name="Group 5"/>
          <p:cNvGrpSpPr/>
          <p:nvPr/>
        </p:nvGrpSpPr>
        <p:grpSpPr bwMode="auto">
          <a:xfrm>
            <a:off x="5276353" y="1193031"/>
            <a:ext cx="3040063" cy="2740025"/>
            <a:chOff x="3504" y="2594"/>
            <a:chExt cx="1915" cy="1726"/>
          </a:xfrm>
        </p:grpSpPr>
        <p:sp>
          <p:nvSpPr>
            <p:cNvPr id="11271" name="Line 6"/>
            <p:cNvSpPr>
              <a:spLocks noChangeShapeType="1"/>
            </p:cNvSpPr>
            <p:nvPr/>
          </p:nvSpPr>
          <p:spPr bwMode="auto">
            <a:xfrm>
              <a:off x="4412" y="2594"/>
              <a:ext cx="0" cy="30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72" name="AutoShape 7"/>
            <p:cNvSpPr>
              <a:spLocks noChangeArrowheads="1"/>
            </p:cNvSpPr>
            <p:nvPr/>
          </p:nvSpPr>
          <p:spPr bwMode="auto">
            <a:xfrm>
              <a:off x="3780" y="2902"/>
              <a:ext cx="1270" cy="306"/>
            </a:xfrm>
            <a:prstGeom prst="flowChartDecision">
              <a:avLst/>
            </a:prstGeom>
            <a:noFill/>
            <a:ln w="3810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>
                <a:buFont typeface="Arial" panose="020B0604020202020204" pitchFamily="34" charset="0"/>
                <a:buNone/>
              </a:pPr>
              <a:r>
                <a:rPr lang="en-US" altLang="zh-CN" b="1">
                  <a:ea typeface="楷体_GB2312" pitchFamily="49" charset="-122"/>
                </a:rPr>
                <a:t>exp</a:t>
              </a:r>
            </a:p>
          </p:txBody>
        </p:sp>
        <p:sp>
          <p:nvSpPr>
            <p:cNvPr id="11273" name="Line 8"/>
            <p:cNvSpPr>
              <a:spLocks noChangeShapeType="1"/>
            </p:cNvSpPr>
            <p:nvPr/>
          </p:nvSpPr>
          <p:spPr bwMode="auto">
            <a:xfrm>
              <a:off x="4412" y="3208"/>
              <a:ext cx="0" cy="23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 useBgFill="1">
          <p:nvSpPr>
            <p:cNvPr id="11274" name="Text Box 9"/>
            <p:cNvSpPr txBox="1">
              <a:spLocks noChangeArrowheads="1"/>
            </p:cNvSpPr>
            <p:nvPr/>
          </p:nvSpPr>
          <p:spPr bwMode="auto">
            <a:xfrm>
              <a:off x="3876" y="3429"/>
              <a:ext cx="1056" cy="358"/>
            </a:xfrm>
            <a:prstGeom prst="rect">
              <a:avLst/>
            </a:prstGeom>
            <a:ln w="38100">
              <a:solidFill>
                <a:schemeClr val="tx1"/>
              </a:solidFill>
              <a:miter lim="800000"/>
            </a:ln>
          </p:spPr>
          <p:txBody>
            <a:bodyPr anchor="ctr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50000"/>
                </a:spcBef>
                <a:buFont typeface="Arial" panose="020B0604020202020204" pitchFamily="34" charset="0"/>
                <a:buNone/>
              </a:pPr>
              <a:r>
                <a:rPr lang="zh-CN" altLang="en-US" b="1" dirty="0">
                  <a:ea typeface="楷体_GB2312" pitchFamily="49" charset="-122"/>
                </a:rPr>
                <a:t>循环体</a:t>
              </a:r>
            </a:p>
          </p:txBody>
        </p:sp>
        <p:sp>
          <p:nvSpPr>
            <p:cNvPr id="11275" name="Line 10"/>
            <p:cNvSpPr>
              <a:spLocks noChangeShapeType="1"/>
            </p:cNvSpPr>
            <p:nvPr/>
          </p:nvSpPr>
          <p:spPr bwMode="auto">
            <a:xfrm>
              <a:off x="4412" y="3782"/>
              <a:ext cx="0" cy="18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76" name="Line 11"/>
            <p:cNvSpPr>
              <a:spLocks noChangeShapeType="1"/>
            </p:cNvSpPr>
            <p:nvPr/>
          </p:nvSpPr>
          <p:spPr bwMode="auto">
            <a:xfrm flipH="1">
              <a:off x="3506" y="3956"/>
              <a:ext cx="91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77" name="Line 12"/>
            <p:cNvSpPr>
              <a:spLocks noChangeShapeType="1"/>
            </p:cNvSpPr>
            <p:nvPr/>
          </p:nvSpPr>
          <p:spPr bwMode="auto">
            <a:xfrm flipV="1">
              <a:off x="3504" y="2729"/>
              <a:ext cx="13" cy="123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78" name="Line 13"/>
            <p:cNvSpPr>
              <a:spLocks noChangeShapeType="1"/>
            </p:cNvSpPr>
            <p:nvPr/>
          </p:nvSpPr>
          <p:spPr bwMode="auto">
            <a:xfrm>
              <a:off x="3506" y="2729"/>
              <a:ext cx="91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79" name="Line 14"/>
            <p:cNvSpPr>
              <a:spLocks noChangeShapeType="1"/>
            </p:cNvSpPr>
            <p:nvPr/>
          </p:nvSpPr>
          <p:spPr bwMode="auto">
            <a:xfrm>
              <a:off x="5050" y="3056"/>
              <a:ext cx="35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80" name="Line 15"/>
            <p:cNvSpPr>
              <a:spLocks noChangeShapeType="1"/>
            </p:cNvSpPr>
            <p:nvPr/>
          </p:nvSpPr>
          <p:spPr bwMode="auto">
            <a:xfrm>
              <a:off x="5406" y="3056"/>
              <a:ext cx="0" cy="101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81" name="Line 16"/>
            <p:cNvSpPr>
              <a:spLocks noChangeShapeType="1"/>
            </p:cNvSpPr>
            <p:nvPr/>
          </p:nvSpPr>
          <p:spPr bwMode="auto">
            <a:xfrm flipH="1">
              <a:off x="4445" y="4059"/>
              <a:ext cx="97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82" name="Line 17"/>
            <p:cNvSpPr>
              <a:spLocks noChangeShapeType="1"/>
            </p:cNvSpPr>
            <p:nvPr/>
          </p:nvSpPr>
          <p:spPr bwMode="auto">
            <a:xfrm>
              <a:off x="4432" y="4049"/>
              <a:ext cx="0" cy="27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83" name="Text Box 18"/>
            <p:cNvSpPr txBox="1">
              <a:spLocks noChangeArrowheads="1"/>
            </p:cNvSpPr>
            <p:nvPr/>
          </p:nvSpPr>
          <p:spPr bwMode="auto">
            <a:xfrm>
              <a:off x="5032" y="2735"/>
              <a:ext cx="272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buFont typeface="Arial" panose="020B0604020202020204" pitchFamily="34" charset="0"/>
                <a:buNone/>
              </a:pPr>
              <a:r>
                <a:rPr lang="en-US" altLang="zh-CN" b="1">
                  <a:ea typeface="楷体_GB2312" pitchFamily="49" charset="-122"/>
                </a:rPr>
                <a:t>F</a:t>
              </a:r>
            </a:p>
          </p:txBody>
        </p:sp>
        <p:sp>
          <p:nvSpPr>
            <p:cNvPr id="11284" name="Text Box 19"/>
            <p:cNvSpPr txBox="1">
              <a:spLocks noChangeArrowheads="1"/>
            </p:cNvSpPr>
            <p:nvPr/>
          </p:nvSpPr>
          <p:spPr bwMode="auto">
            <a:xfrm>
              <a:off x="4539" y="3128"/>
              <a:ext cx="356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buFont typeface="Arial" panose="020B0604020202020204" pitchFamily="34" charset="0"/>
                <a:buNone/>
              </a:pPr>
              <a:r>
                <a:rPr lang="en-US" altLang="zh-CN" b="1">
                  <a:ea typeface="楷体_GB2312" pitchFamily="49" charset="-122"/>
                </a:rPr>
                <a:t>T</a:t>
              </a:r>
            </a:p>
          </p:txBody>
        </p:sp>
      </p:grpSp>
      <p:sp>
        <p:nvSpPr>
          <p:cNvPr id="1061908" name="Rectangle 20"/>
          <p:cNvSpPr>
            <a:spLocks noChangeArrowheads="1"/>
          </p:cNvSpPr>
          <p:nvPr/>
        </p:nvSpPr>
        <p:spPr bwMode="auto">
          <a:xfrm>
            <a:off x="1187624" y="2106722"/>
            <a:ext cx="2819400" cy="1754326"/>
          </a:xfrm>
          <a:prstGeom prst="rect">
            <a:avLst/>
          </a:prstGeom>
          <a:solidFill>
            <a:srgbClr val="FFFFE7"/>
          </a:solidFill>
          <a:ln w="57150">
            <a:solidFill>
              <a:srgbClr val="FF0000"/>
            </a:solidFill>
            <a:miter lim="800000"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sz="3600" b="1" dirty="0">
                <a:ea typeface="楷体_GB2312" pitchFamily="49" charset="-122"/>
              </a:rPr>
              <a:t>while </a:t>
            </a:r>
            <a:r>
              <a:rPr lang="en-US" altLang="zh-CN" sz="3600" b="1" dirty="0" err="1">
                <a:ea typeface="楷体_GB2312" pitchFamily="49" charset="-122"/>
              </a:rPr>
              <a:t>exp</a:t>
            </a:r>
            <a:r>
              <a:rPr lang="en-US" altLang="zh-CN" sz="3600" b="1" dirty="0">
                <a:ea typeface="楷体_GB2312" pitchFamily="49" charset="-122"/>
              </a:rPr>
              <a:t>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sz="3600" b="1" dirty="0">
                <a:ea typeface="楷体_GB2312" pitchFamily="49" charset="-122"/>
              </a:rPr>
              <a:t>     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循环体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advTm="6046"/>
    </mc:Choice>
    <mc:Fallback xmlns="">
      <p:transition advTm="6046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2914" name="Rectangle 2"/>
          <p:cNvSpPr>
            <a:spLocks noChangeArrowheads="1"/>
          </p:cNvSpPr>
          <p:nvPr/>
        </p:nvSpPr>
        <p:spPr bwMode="auto">
          <a:xfrm>
            <a:off x="4972050" y="95399"/>
            <a:ext cx="4095750" cy="6357937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  <a:miter lim="800000"/>
          </a:ln>
        </p:spPr>
        <p:txBody>
          <a:bodyPr wrap="none" anchor="ctr"/>
          <a:lstStyle/>
          <a:p>
            <a:pPr eaLnBrk="1" hangingPunct="1">
              <a:buFont typeface="Arial" panose="020B0604020202020204" pitchFamily="34" charset="0"/>
              <a:buNone/>
            </a:pPr>
            <a:endParaRPr lang="zh-CN" altLang="en-US" sz="2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62915" name="Rectangle 3"/>
              <p:cNvSpPr>
                <a:spLocks noGrp="1" noChangeArrowheads="1"/>
              </p:cNvSpPr>
              <p:nvPr>
                <p:ph type="title"/>
              </p:nvPr>
            </p:nvSpPr>
            <p:spPr>
              <a:xfrm>
                <a:off x="1047750" y="260648"/>
                <a:ext cx="8763000" cy="685800"/>
              </a:xfrm>
            </p:spPr>
            <p:txBody>
              <a:bodyPr/>
              <a:lstStyle/>
              <a:p>
                <a:pPr>
                  <a:defRPr/>
                </a:pPr>
                <a:r>
                  <a:rPr kumimoji="1" lang="zh-CN" altLang="en-US" sz="3200" dirty="0"/>
                  <a:t>例</a:t>
                </a:r>
                <a:r>
                  <a:rPr kumimoji="1" lang="en-US" altLang="zh-CN" sz="3200" dirty="0"/>
                  <a:t>4-6:</a:t>
                </a:r>
                <a:r>
                  <a:rPr kumimoji="1" lang="zh-CN" altLang="en-US" dirty="0"/>
                  <a:t>求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kumimoji="1" lang="zh-CN" alt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kumimoji="1" lang="en-US" altLang="zh-CN" i="1">
                            <a:latin typeface="Cambria Math" panose="02040503050406030204"/>
                          </a:rPr>
                          <m:t>𝑛</m:t>
                        </m:r>
                        <m:r>
                          <a:rPr kumimoji="1" lang="en-US" altLang="zh-CN" i="1">
                            <a:latin typeface="Cambria Math" panose="02040503050406030204"/>
                          </a:rPr>
                          <m:t>=1</m:t>
                        </m:r>
                      </m:sub>
                      <m:sup>
                        <m:r>
                          <a:rPr kumimoji="1" lang="en-US" altLang="zh-CN" i="1">
                            <a:latin typeface="Cambria Math" panose="02040503050406030204"/>
                          </a:rPr>
                          <m:t>100</m:t>
                        </m:r>
                      </m:sup>
                      <m:e>
                        <m:r>
                          <a:rPr kumimoji="1" lang="en-US" altLang="zh-CN" i="1">
                            <a:latin typeface="Cambria Math" panose="02040503050406030204"/>
                          </a:rPr>
                          <m:t>𝑛</m:t>
                        </m:r>
                      </m:e>
                    </m:nary>
                  </m:oMath>
                </a14:m>
                <a:endParaRPr kumimoji="1" lang="zh-CN" altLang="en-US" sz="3200" dirty="0"/>
              </a:p>
            </p:txBody>
          </p:sp>
        </mc:Choice>
        <mc:Fallback xmlns="">
          <p:sp>
            <p:nvSpPr>
              <p:cNvPr id="1062915" name="Rectangle 3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1047750" y="260648"/>
                <a:ext cx="8763000" cy="685800"/>
              </a:xfrm>
              <a:blipFill rotWithShape="1">
                <a:blip r:embed="rId3"/>
                <a:stretch>
                  <a:fillRect t="-3284" b="-33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62916" name="Rectangle 4"/>
          <p:cNvSpPr>
            <a:spLocks noChangeArrowheads="1"/>
          </p:cNvSpPr>
          <p:nvPr/>
        </p:nvSpPr>
        <p:spPr bwMode="auto">
          <a:xfrm>
            <a:off x="186962" y="1156444"/>
            <a:ext cx="4648200" cy="182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342900" indent="-342900" eaLnBrk="1" hangingPunct="1"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</a:pPr>
            <a:r>
              <a:rPr lang="en-US" altLang="zh-CN" sz="3400" b="1" dirty="0">
                <a:ea typeface="楷体_GB2312" pitchFamily="49" charset="-122"/>
              </a:rPr>
              <a:t>1</a:t>
            </a:r>
            <a:r>
              <a:rPr lang="zh-CN" altLang="en-US" sz="3400" b="1" dirty="0">
                <a:ea typeface="楷体_GB2312" pitchFamily="49" charset="-122"/>
              </a:rPr>
              <a:t>）问题分析：</a:t>
            </a:r>
            <a:r>
              <a:rPr lang="zh-CN" altLang="en-US" sz="3400" b="1" dirty="0">
                <a:solidFill>
                  <a:srgbClr val="0000FF"/>
                </a:solidFill>
                <a:ea typeface="楷体_GB2312" pitchFamily="49" charset="-122"/>
              </a:rPr>
              <a:t>     </a:t>
            </a:r>
          </a:p>
          <a:p>
            <a:pPr marL="342900" indent="-342900" eaLnBrk="1" hangingPunct="1"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sz="3400" b="1" dirty="0">
                <a:solidFill>
                  <a:srgbClr val="0000FF"/>
                </a:solidFill>
                <a:ea typeface="楷体_GB2312" pitchFamily="49" charset="-122"/>
              </a:rPr>
              <a:t>     </a:t>
            </a:r>
            <a:endParaRPr lang="zh-CN" altLang="en-US" sz="3400" b="1" baseline="30000" dirty="0">
              <a:solidFill>
                <a:srgbClr val="0000FF"/>
              </a:solidFill>
              <a:ea typeface="楷体_GB2312" pitchFamily="49" charset="-122"/>
            </a:endParaRPr>
          </a:p>
          <a:p>
            <a:pPr marL="342900" indent="-342900" eaLnBrk="1" hangingPunct="1"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endParaRPr lang="zh-CN" altLang="en-US" sz="3400" b="1" baseline="30000" dirty="0">
              <a:solidFill>
                <a:srgbClr val="0000FF"/>
              </a:solidFill>
              <a:ea typeface="楷体_GB2312" pitchFamily="49" charset="-122"/>
            </a:endParaRPr>
          </a:p>
          <a:p>
            <a:pPr marL="342900" indent="-342900" eaLnBrk="1" hangingPunct="1"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endParaRPr lang="en-US" altLang="zh-CN" sz="3400" b="1" baseline="30000" dirty="0">
              <a:solidFill>
                <a:srgbClr val="0000FF"/>
              </a:solidFill>
              <a:ea typeface="楷体_GB2312" pitchFamily="49" charset="-122"/>
            </a:endParaRPr>
          </a:p>
        </p:txBody>
      </p:sp>
      <p:sp>
        <p:nvSpPr>
          <p:cNvPr id="13316" name="Line 7"/>
          <p:cNvSpPr>
            <a:spLocks noChangeShapeType="1"/>
          </p:cNvSpPr>
          <p:nvPr/>
        </p:nvSpPr>
        <p:spPr bwMode="auto">
          <a:xfrm>
            <a:off x="7065963" y="663724"/>
            <a:ext cx="6350" cy="473075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321" name="Rectangle 9"/>
          <p:cNvSpPr>
            <a:spLocks noChangeArrowheads="1"/>
          </p:cNvSpPr>
          <p:nvPr/>
        </p:nvSpPr>
        <p:spPr bwMode="auto">
          <a:xfrm>
            <a:off x="5638800" y="1135211"/>
            <a:ext cx="2840038" cy="6096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lnSpc>
                <a:spcPct val="80000"/>
              </a:lnSpc>
              <a:buFont typeface="Arial" panose="020B0604020202020204" pitchFamily="34" charset="0"/>
              <a:buNone/>
            </a:pPr>
            <a:r>
              <a:rPr lang="en-US" altLang="zh-CN" sz="3100" b="1">
                <a:solidFill>
                  <a:srgbClr val="FF0000"/>
                </a:solidFill>
                <a:ea typeface="楷体_GB2312" pitchFamily="49" charset="-122"/>
              </a:rPr>
              <a:t>sum,n=0,1</a:t>
            </a:r>
          </a:p>
        </p:txBody>
      </p:sp>
      <p:grpSp>
        <p:nvGrpSpPr>
          <p:cNvPr id="2" name="Group 11"/>
          <p:cNvGrpSpPr/>
          <p:nvPr/>
        </p:nvGrpSpPr>
        <p:grpSpPr bwMode="auto">
          <a:xfrm>
            <a:off x="5886450" y="1744811"/>
            <a:ext cx="2324100" cy="1317625"/>
            <a:chOff x="3792" y="1464"/>
            <a:chExt cx="1423" cy="696"/>
          </a:xfrm>
        </p:grpSpPr>
        <p:sp>
          <p:nvSpPr>
            <p:cNvPr id="1059" name="AutoShape 12"/>
            <p:cNvSpPr>
              <a:spLocks noChangeArrowheads="1"/>
            </p:cNvSpPr>
            <p:nvPr/>
          </p:nvSpPr>
          <p:spPr bwMode="auto">
            <a:xfrm>
              <a:off x="3792" y="1680"/>
              <a:ext cx="1423" cy="480"/>
            </a:xfrm>
            <a:prstGeom prst="diamond">
              <a:avLst/>
            </a:prstGeom>
            <a:noFill/>
            <a:ln w="3810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>
                <a:lnSpc>
                  <a:spcPct val="80000"/>
                </a:lnSpc>
                <a:buFont typeface="Arial" panose="020B0604020202020204" pitchFamily="34" charset="0"/>
                <a:buNone/>
              </a:pPr>
              <a:r>
                <a:rPr lang="en-US" altLang="zh-CN" sz="3100" b="1" dirty="0">
                  <a:solidFill>
                    <a:srgbClr val="FF0000"/>
                  </a:solidFill>
                  <a:ea typeface="楷体_GB2312" pitchFamily="49" charset="-122"/>
                </a:rPr>
                <a:t>n&lt;=100</a:t>
              </a:r>
            </a:p>
          </p:txBody>
        </p:sp>
        <p:sp>
          <p:nvSpPr>
            <p:cNvPr id="1060" name="Line 13"/>
            <p:cNvSpPr>
              <a:spLocks noChangeShapeType="1"/>
            </p:cNvSpPr>
            <p:nvPr/>
          </p:nvSpPr>
          <p:spPr bwMode="auto">
            <a:xfrm>
              <a:off x="4512" y="1464"/>
              <a:ext cx="0" cy="215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062926" name="Line 14"/>
          <p:cNvSpPr>
            <a:spLocks noChangeShapeType="1"/>
          </p:cNvSpPr>
          <p:nvPr/>
        </p:nvSpPr>
        <p:spPr bwMode="auto">
          <a:xfrm>
            <a:off x="7029450" y="4053036"/>
            <a:ext cx="0" cy="352425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62927" name="Line 15"/>
          <p:cNvSpPr>
            <a:spLocks noChangeShapeType="1"/>
          </p:cNvSpPr>
          <p:nvPr/>
        </p:nvSpPr>
        <p:spPr bwMode="auto">
          <a:xfrm flipH="1">
            <a:off x="5421313" y="4383236"/>
            <a:ext cx="1619250" cy="1588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62928" name="Line 16"/>
          <p:cNvSpPr>
            <a:spLocks noChangeShapeType="1"/>
          </p:cNvSpPr>
          <p:nvPr/>
        </p:nvSpPr>
        <p:spPr bwMode="auto">
          <a:xfrm>
            <a:off x="5429250" y="2076599"/>
            <a:ext cx="0" cy="2320925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62929" name="Line 17"/>
          <p:cNvSpPr>
            <a:spLocks noChangeShapeType="1"/>
          </p:cNvSpPr>
          <p:nvPr/>
        </p:nvSpPr>
        <p:spPr bwMode="auto">
          <a:xfrm>
            <a:off x="5421313" y="2076599"/>
            <a:ext cx="1641475" cy="1587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4" name="Group 18"/>
          <p:cNvGrpSpPr/>
          <p:nvPr/>
        </p:nvGrpSpPr>
        <p:grpSpPr bwMode="auto">
          <a:xfrm>
            <a:off x="5638800" y="3049736"/>
            <a:ext cx="3087688" cy="1003300"/>
            <a:chOff x="3636" y="2152"/>
            <a:chExt cx="1739" cy="632"/>
          </a:xfrm>
        </p:grpSpPr>
        <p:sp>
          <p:nvSpPr>
            <p:cNvPr id="1056" name="Rectangle 19"/>
            <p:cNvSpPr>
              <a:spLocks noChangeArrowheads="1"/>
            </p:cNvSpPr>
            <p:nvPr/>
          </p:nvSpPr>
          <p:spPr bwMode="auto">
            <a:xfrm>
              <a:off x="3636" y="2400"/>
              <a:ext cx="1739" cy="384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>
                <a:lnSpc>
                  <a:spcPct val="80000"/>
                </a:lnSpc>
                <a:buFont typeface="Arial" panose="020B0604020202020204" pitchFamily="34" charset="0"/>
                <a:buNone/>
              </a:pPr>
              <a:r>
                <a:rPr lang="en-US" altLang="zh-CN" sz="2000" b="1">
                  <a:solidFill>
                    <a:srgbClr val="FF0000"/>
                  </a:solidFill>
                  <a:ea typeface="楷体_GB2312" pitchFamily="49" charset="-122"/>
                </a:rPr>
                <a:t>sum=sum+n</a:t>
              </a:r>
            </a:p>
            <a:p>
              <a:pPr algn="ctr">
                <a:lnSpc>
                  <a:spcPct val="80000"/>
                </a:lnSpc>
                <a:buFont typeface="Arial" panose="020B0604020202020204" pitchFamily="34" charset="0"/>
                <a:buNone/>
              </a:pPr>
              <a:r>
                <a:rPr lang="en-US" altLang="zh-CN" sz="2000" b="1">
                  <a:solidFill>
                    <a:srgbClr val="FF0000"/>
                  </a:solidFill>
                  <a:ea typeface="楷体_GB2312" pitchFamily="49" charset="-122"/>
                </a:rPr>
                <a:t> n=n+1</a:t>
              </a:r>
            </a:p>
          </p:txBody>
        </p:sp>
        <p:sp>
          <p:nvSpPr>
            <p:cNvPr id="1057" name="Line 20"/>
            <p:cNvSpPr>
              <a:spLocks noChangeShapeType="1"/>
            </p:cNvSpPr>
            <p:nvPr/>
          </p:nvSpPr>
          <p:spPr bwMode="auto">
            <a:xfrm>
              <a:off x="4512" y="2160"/>
              <a:ext cx="0" cy="24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8" name="Rectangle 21"/>
            <p:cNvSpPr>
              <a:spLocks noChangeArrowheads="1"/>
            </p:cNvSpPr>
            <p:nvPr/>
          </p:nvSpPr>
          <p:spPr bwMode="auto">
            <a:xfrm>
              <a:off x="4239" y="2152"/>
              <a:ext cx="273" cy="2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>
                <a:lnSpc>
                  <a:spcPct val="80000"/>
                </a:lnSpc>
                <a:buFont typeface="Arial" panose="020B0604020202020204" pitchFamily="34" charset="0"/>
                <a:buNone/>
              </a:pPr>
              <a:r>
                <a:rPr lang="en-US" altLang="zh-CN" sz="3100" b="1">
                  <a:solidFill>
                    <a:srgbClr val="FF0000"/>
                  </a:solidFill>
                  <a:ea typeface="楷体_GB2312" pitchFamily="49" charset="-122"/>
                </a:rPr>
                <a:t>Y</a:t>
              </a:r>
            </a:p>
          </p:txBody>
        </p:sp>
      </p:grpSp>
      <p:sp>
        <p:nvSpPr>
          <p:cNvPr id="1062934" name="Line 22"/>
          <p:cNvSpPr>
            <a:spLocks noChangeShapeType="1"/>
          </p:cNvSpPr>
          <p:nvPr/>
        </p:nvSpPr>
        <p:spPr bwMode="auto">
          <a:xfrm flipH="1">
            <a:off x="7105650" y="4662636"/>
            <a:ext cx="1655763" cy="1588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62935" name="Line 23"/>
          <p:cNvSpPr>
            <a:spLocks noChangeShapeType="1"/>
          </p:cNvSpPr>
          <p:nvPr/>
        </p:nvSpPr>
        <p:spPr bwMode="auto">
          <a:xfrm>
            <a:off x="8743950" y="2681436"/>
            <a:ext cx="0" cy="198120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5" name="Group 24"/>
          <p:cNvGrpSpPr/>
          <p:nvPr/>
        </p:nvGrpSpPr>
        <p:grpSpPr bwMode="auto">
          <a:xfrm>
            <a:off x="8193088" y="2186136"/>
            <a:ext cx="563562" cy="495300"/>
            <a:chOff x="5245" y="1608"/>
            <a:chExt cx="345" cy="312"/>
          </a:xfrm>
        </p:grpSpPr>
        <p:sp>
          <p:nvSpPr>
            <p:cNvPr id="1054" name="Line 25"/>
            <p:cNvSpPr>
              <a:spLocks noChangeShapeType="1"/>
            </p:cNvSpPr>
            <p:nvPr/>
          </p:nvSpPr>
          <p:spPr bwMode="auto">
            <a:xfrm>
              <a:off x="5245" y="1920"/>
              <a:ext cx="345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5" name="Rectangle 26"/>
            <p:cNvSpPr>
              <a:spLocks noChangeArrowheads="1"/>
            </p:cNvSpPr>
            <p:nvPr/>
          </p:nvSpPr>
          <p:spPr bwMode="auto">
            <a:xfrm>
              <a:off x="5285" y="1608"/>
              <a:ext cx="287" cy="2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>
                <a:lnSpc>
                  <a:spcPct val="80000"/>
                </a:lnSpc>
                <a:buFont typeface="Arial" panose="020B0604020202020204" pitchFamily="34" charset="0"/>
                <a:buNone/>
              </a:pPr>
              <a:r>
                <a:rPr lang="en-US" altLang="zh-CN" sz="3100" b="1">
                  <a:solidFill>
                    <a:srgbClr val="FF0000"/>
                  </a:solidFill>
                  <a:ea typeface="楷体_GB2312" pitchFamily="49" charset="-122"/>
                </a:rPr>
                <a:t>N</a:t>
              </a:r>
            </a:p>
          </p:txBody>
        </p:sp>
      </p:grpSp>
      <p:grpSp>
        <p:nvGrpSpPr>
          <p:cNvPr id="6" name="Group 27"/>
          <p:cNvGrpSpPr/>
          <p:nvPr/>
        </p:nvGrpSpPr>
        <p:grpSpPr bwMode="auto">
          <a:xfrm>
            <a:off x="5624513" y="4653111"/>
            <a:ext cx="2887662" cy="895350"/>
            <a:chOff x="3627" y="3162"/>
            <a:chExt cx="1768" cy="564"/>
          </a:xfrm>
        </p:grpSpPr>
        <p:sp>
          <p:nvSpPr>
            <p:cNvPr id="1052" name="AutoShape 28"/>
            <p:cNvSpPr>
              <a:spLocks noChangeArrowheads="1"/>
            </p:cNvSpPr>
            <p:nvPr/>
          </p:nvSpPr>
          <p:spPr bwMode="auto">
            <a:xfrm>
              <a:off x="3627" y="3390"/>
              <a:ext cx="1768" cy="336"/>
            </a:xfrm>
            <a:prstGeom prst="parallelogram">
              <a:avLst>
                <a:gd name="adj" fmla="val 131548"/>
              </a:avLst>
            </a:prstGeom>
            <a:noFill/>
            <a:ln w="3810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>
                <a:lnSpc>
                  <a:spcPct val="80000"/>
                </a:lnSpc>
                <a:buFont typeface="Arial" panose="020B0604020202020204" pitchFamily="34" charset="0"/>
                <a:buNone/>
              </a:pPr>
              <a:r>
                <a:rPr lang="zh-CN" altLang="en-US" sz="3100" b="1">
                  <a:ea typeface="楷体_GB2312" pitchFamily="49" charset="-122"/>
                </a:rPr>
                <a:t>输出</a:t>
              </a:r>
              <a:r>
                <a:rPr lang="en-US" altLang="zh-CN" sz="3100" b="1">
                  <a:ea typeface="楷体_GB2312" pitchFamily="49" charset="-122"/>
                </a:rPr>
                <a:t>sum</a:t>
              </a:r>
            </a:p>
          </p:txBody>
        </p:sp>
        <p:sp>
          <p:nvSpPr>
            <p:cNvPr id="1053" name="Line 29"/>
            <p:cNvSpPr>
              <a:spLocks noChangeShapeType="1"/>
            </p:cNvSpPr>
            <p:nvPr/>
          </p:nvSpPr>
          <p:spPr bwMode="auto">
            <a:xfrm>
              <a:off x="4538" y="3162"/>
              <a:ext cx="0" cy="227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7" name="Group 30"/>
          <p:cNvGrpSpPr/>
          <p:nvPr/>
        </p:nvGrpSpPr>
        <p:grpSpPr bwMode="auto">
          <a:xfrm>
            <a:off x="6062663" y="5564336"/>
            <a:ext cx="1979612" cy="774700"/>
            <a:chOff x="3903" y="3736"/>
            <a:chExt cx="1212" cy="488"/>
          </a:xfrm>
        </p:grpSpPr>
        <p:sp>
          <p:nvSpPr>
            <p:cNvPr id="1050" name="AutoShape 31"/>
            <p:cNvSpPr>
              <a:spLocks noChangeArrowheads="1"/>
            </p:cNvSpPr>
            <p:nvPr/>
          </p:nvSpPr>
          <p:spPr bwMode="auto">
            <a:xfrm>
              <a:off x="3903" y="3888"/>
              <a:ext cx="1212" cy="336"/>
            </a:xfrm>
            <a:prstGeom prst="roundRect">
              <a:avLst>
                <a:gd name="adj" fmla="val 16667"/>
              </a:avLst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>
                <a:lnSpc>
                  <a:spcPct val="80000"/>
                </a:lnSpc>
                <a:buFont typeface="Arial" panose="020B0604020202020204" pitchFamily="34" charset="0"/>
                <a:buNone/>
              </a:pPr>
              <a:r>
                <a:rPr lang="zh-CN" altLang="en-US" sz="3100" b="1">
                  <a:ea typeface="楷体_GB2312" pitchFamily="49" charset="-122"/>
                </a:rPr>
                <a:t>结束</a:t>
              </a:r>
            </a:p>
          </p:txBody>
        </p:sp>
        <p:sp>
          <p:nvSpPr>
            <p:cNvPr id="1051" name="Line 32"/>
            <p:cNvSpPr>
              <a:spLocks noChangeShapeType="1"/>
            </p:cNvSpPr>
            <p:nvPr/>
          </p:nvSpPr>
          <p:spPr bwMode="auto">
            <a:xfrm>
              <a:off x="4512" y="3736"/>
              <a:ext cx="0" cy="152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062945" name="AutoShape 33"/>
          <p:cNvSpPr>
            <a:spLocks noChangeArrowheads="1"/>
          </p:cNvSpPr>
          <p:nvPr/>
        </p:nvSpPr>
        <p:spPr bwMode="auto">
          <a:xfrm>
            <a:off x="6122988" y="95399"/>
            <a:ext cx="1919287" cy="568325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lnSpc>
                <a:spcPct val="80000"/>
              </a:lnSpc>
              <a:buFont typeface="Arial" panose="020B0604020202020204" pitchFamily="34" charset="0"/>
              <a:buNone/>
            </a:pPr>
            <a:r>
              <a:rPr lang="zh-CN" altLang="en-US" sz="3100" b="1">
                <a:ea typeface="楷体_GB2312" pitchFamily="49" charset="-122"/>
              </a:rPr>
              <a:t>开始</a:t>
            </a:r>
          </a:p>
        </p:txBody>
      </p:sp>
      <p:sp>
        <p:nvSpPr>
          <p:cNvPr id="1062946" name="Rectangle 34"/>
          <p:cNvSpPr>
            <a:spLocks noChangeArrowheads="1"/>
          </p:cNvSpPr>
          <p:nvPr/>
        </p:nvSpPr>
        <p:spPr bwMode="auto">
          <a:xfrm>
            <a:off x="533400" y="1880369"/>
            <a:ext cx="3448050" cy="1044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buFont typeface="Arial" panose="020B0604020202020204" pitchFamily="34" charset="0"/>
              <a:buNone/>
            </a:pPr>
            <a:r>
              <a:rPr lang="en-US" altLang="zh-CN" sz="2800" b="1" dirty="0">
                <a:solidFill>
                  <a:srgbClr val="0000FF"/>
                </a:solidFill>
                <a:ea typeface="楷体_GB2312" pitchFamily="49" charset="-122"/>
              </a:rPr>
              <a:t>sum = </a:t>
            </a:r>
            <a:r>
              <a:rPr lang="en-US" altLang="zh-CN" sz="2800" b="1" u="sng" dirty="0">
                <a:solidFill>
                  <a:srgbClr val="0000FF"/>
                </a:solidFill>
                <a:ea typeface="楷体_GB2312" pitchFamily="49" charset="-122"/>
              </a:rPr>
              <a:t>1+2+…+100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CN" sz="3400" b="1" dirty="0">
                <a:solidFill>
                  <a:srgbClr val="0000FF"/>
                </a:solidFill>
                <a:ea typeface="楷体_GB2312" pitchFamily="49" charset="-122"/>
              </a:rPr>
              <a:t>            </a:t>
            </a:r>
            <a:r>
              <a:rPr lang="en-US" altLang="zh-CN" sz="3400" b="1" dirty="0">
                <a:solidFill>
                  <a:srgbClr val="FF0000"/>
                </a:solidFill>
                <a:ea typeface="楷体_GB2312" pitchFamily="49" charset="-122"/>
              </a:rPr>
              <a:t>100</a:t>
            </a:r>
            <a:r>
              <a:rPr lang="zh-CN" altLang="en-US" sz="3400" b="1" dirty="0">
                <a:solidFill>
                  <a:srgbClr val="FF0000"/>
                </a:solidFill>
                <a:ea typeface="楷体_GB2312" pitchFamily="49" charset="-122"/>
              </a:rPr>
              <a:t>个数</a:t>
            </a:r>
          </a:p>
        </p:txBody>
      </p:sp>
      <p:sp>
        <p:nvSpPr>
          <p:cNvPr id="1062947" name="Rectangle 35"/>
          <p:cNvSpPr>
            <a:spLocks noChangeArrowheads="1"/>
          </p:cNvSpPr>
          <p:nvPr/>
        </p:nvSpPr>
        <p:spPr bwMode="auto">
          <a:xfrm>
            <a:off x="96838" y="3166102"/>
            <a:ext cx="4779962" cy="2856167"/>
          </a:xfrm>
          <a:prstGeom prst="rect">
            <a:avLst/>
          </a:prstGeom>
          <a:solidFill>
            <a:srgbClr val="CCECFF"/>
          </a:solidFill>
          <a:ln w="38100">
            <a:solidFill>
              <a:srgbClr val="0000CC"/>
            </a:solidFill>
            <a:miter lim="800000"/>
          </a:ln>
        </p:spPr>
        <p:txBody>
          <a:bodyPr>
            <a:spAutoFit/>
          </a:bodyPr>
          <a:lstStyle/>
          <a:p>
            <a:pPr>
              <a:spcBef>
                <a:spcPct val="3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</a:pPr>
            <a:r>
              <a:rPr lang="en-US" altLang="zh-CN" sz="3400" b="1" dirty="0">
                <a:ea typeface="楷体_GB2312" pitchFamily="49" charset="-122"/>
              </a:rPr>
              <a:t> </a:t>
            </a:r>
            <a:r>
              <a:rPr lang="zh-CN" altLang="en-US" sz="3400" b="1" dirty="0">
                <a:ea typeface="楷体_GB2312" pitchFamily="49" charset="-122"/>
              </a:rPr>
              <a:t>循环语句：</a:t>
            </a:r>
          </a:p>
          <a:p>
            <a:pPr>
              <a:spcBef>
                <a:spcPct val="30000"/>
              </a:spcBef>
              <a:buFont typeface="Arial" panose="020B0604020202020204" pitchFamily="34" charset="0"/>
              <a:buNone/>
            </a:pPr>
            <a:r>
              <a:rPr lang="zh-CN" altLang="en-US" sz="2800" b="1" dirty="0">
                <a:solidFill>
                  <a:srgbClr val="0000CC"/>
                </a:solidFill>
                <a:ea typeface="楷体_GB2312" pitchFamily="49" charset="-122"/>
              </a:rPr>
              <a:t>循环变量初始化：</a:t>
            </a:r>
          </a:p>
          <a:p>
            <a:pPr>
              <a:spcBef>
                <a:spcPct val="30000"/>
              </a:spcBef>
              <a:buFont typeface="Arial" panose="020B0604020202020204" pitchFamily="34" charset="0"/>
              <a:buNone/>
            </a:pPr>
            <a:r>
              <a:rPr lang="zh-CN" altLang="en-US" sz="2800" b="1" dirty="0">
                <a:solidFill>
                  <a:srgbClr val="0000CC"/>
                </a:solidFill>
                <a:ea typeface="楷体_GB2312" pitchFamily="49" charset="-122"/>
              </a:rPr>
              <a:t>循环控制条件：</a:t>
            </a:r>
          </a:p>
          <a:p>
            <a:pPr>
              <a:spcBef>
                <a:spcPct val="30000"/>
              </a:spcBef>
              <a:buFont typeface="Arial" panose="020B0604020202020204" pitchFamily="34" charset="0"/>
              <a:buNone/>
            </a:pPr>
            <a:r>
              <a:rPr lang="zh-CN" altLang="en-US" sz="2800" b="1" dirty="0">
                <a:solidFill>
                  <a:srgbClr val="0000CC"/>
                </a:solidFill>
                <a:ea typeface="楷体_GB2312" pitchFamily="49" charset="-122"/>
              </a:rPr>
              <a:t>循环体：</a:t>
            </a:r>
          </a:p>
          <a:p>
            <a:pPr>
              <a:spcBef>
                <a:spcPct val="30000"/>
              </a:spcBef>
              <a:buFont typeface="Arial" panose="020B0604020202020204" pitchFamily="34" charset="0"/>
              <a:buNone/>
            </a:pPr>
            <a:r>
              <a:rPr lang="zh-CN" altLang="en-US" sz="2800" b="1" dirty="0">
                <a:solidFill>
                  <a:srgbClr val="0000CC"/>
                </a:solidFill>
                <a:ea typeface="楷体_GB2312" pitchFamily="49" charset="-122"/>
              </a:rPr>
              <a:t>循环变量的修改：</a:t>
            </a:r>
          </a:p>
        </p:txBody>
      </p:sp>
      <p:sp>
        <p:nvSpPr>
          <p:cNvPr id="3" name="TextBox 2"/>
          <p:cNvSpPr txBox="1">
            <a:spLocks noChangeArrowheads="1"/>
          </p:cNvSpPr>
          <p:nvPr/>
        </p:nvSpPr>
        <p:spPr bwMode="auto">
          <a:xfrm>
            <a:off x="2915816" y="3789040"/>
            <a:ext cx="10668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b="1" dirty="0">
                <a:solidFill>
                  <a:srgbClr val="FF0000"/>
                </a:solidFill>
                <a:ea typeface="楷体_GB2312" pitchFamily="49" charset="-122"/>
              </a:rPr>
              <a:t>n</a:t>
            </a:r>
            <a:r>
              <a:rPr lang="zh-CN" altLang="en-US" b="1" dirty="0">
                <a:solidFill>
                  <a:srgbClr val="FF0000"/>
                </a:solidFill>
                <a:ea typeface="楷体_GB2312" pitchFamily="49" charset="-122"/>
              </a:rPr>
              <a:t>＝</a:t>
            </a:r>
            <a:r>
              <a:rPr lang="en-US" altLang="zh-CN" b="1" dirty="0">
                <a:solidFill>
                  <a:srgbClr val="FF0000"/>
                </a:solidFill>
                <a:ea typeface="楷体_GB2312" pitchFamily="49" charset="-122"/>
              </a:rPr>
              <a:t>1</a:t>
            </a:r>
            <a:endParaRPr lang="zh-CN" altLang="en-US" b="1" dirty="0">
              <a:solidFill>
                <a:srgbClr val="FF0000"/>
              </a:solidFill>
              <a:ea typeface="楷体_GB2312" pitchFamily="49" charset="-122"/>
            </a:endParaRPr>
          </a:p>
        </p:txBody>
      </p:sp>
      <p:sp>
        <p:nvSpPr>
          <p:cNvPr id="36" name="TextBox 35"/>
          <p:cNvSpPr txBox="1">
            <a:spLocks noChangeArrowheads="1"/>
          </p:cNvSpPr>
          <p:nvPr/>
        </p:nvSpPr>
        <p:spPr bwMode="auto">
          <a:xfrm>
            <a:off x="2915816" y="4293096"/>
            <a:ext cx="16764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b="1" dirty="0">
                <a:solidFill>
                  <a:srgbClr val="FF0000"/>
                </a:solidFill>
                <a:ea typeface="楷体_GB2312" pitchFamily="49" charset="-122"/>
              </a:rPr>
              <a:t>n&lt;=100</a:t>
            </a:r>
            <a:endParaRPr lang="zh-CN" altLang="en-US" b="1" dirty="0">
              <a:solidFill>
                <a:srgbClr val="FF0000"/>
              </a:solidFill>
              <a:ea typeface="楷体_GB2312" pitchFamily="49" charset="-122"/>
            </a:endParaRPr>
          </a:p>
        </p:txBody>
      </p:sp>
      <p:sp>
        <p:nvSpPr>
          <p:cNvPr id="37" name="TextBox 36"/>
          <p:cNvSpPr txBox="1">
            <a:spLocks noChangeArrowheads="1"/>
          </p:cNvSpPr>
          <p:nvPr/>
        </p:nvSpPr>
        <p:spPr bwMode="auto">
          <a:xfrm>
            <a:off x="2915816" y="4854525"/>
            <a:ext cx="22701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b="1" dirty="0">
                <a:solidFill>
                  <a:srgbClr val="FF0000"/>
                </a:solidFill>
                <a:ea typeface="楷体_GB2312" pitchFamily="49" charset="-122"/>
              </a:rPr>
              <a:t>sum+=n</a:t>
            </a:r>
            <a:endParaRPr lang="zh-CN" altLang="en-US" b="1" dirty="0">
              <a:solidFill>
                <a:srgbClr val="FF0000"/>
              </a:solidFill>
              <a:ea typeface="楷体_GB2312" pitchFamily="49" charset="-122"/>
            </a:endParaRPr>
          </a:p>
        </p:txBody>
      </p:sp>
      <p:sp>
        <p:nvSpPr>
          <p:cNvPr id="38" name="TextBox 37"/>
          <p:cNvSpPr txBox="1">
            <a:spLocks noChangeArrowheads="1"/>
          </p:cNvSpPr>
          <p:nvPr/>
        </p:nvSpPr>
        <p:spPr bwMode="auto">
          <a:xfrm>
            <a:off x="2915816" y="5365750"/>
            <a:ext cx="15081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b="1" dirty="0">
                <a:solidFill>
                  <a:srgbClr val="FF0000"/>
                </a:solidFill>
                <a:ea typeface="楷体_GB2312" pitchFamily="49" charset="-122"/>
              </a:rPr>
              <a:t>n=</a:t>
            </a:r>
            <a:r>
              <a:rPr lang="en-US" altLang="zh-CN" b="1" dirty="0" err="1">
                <a:solidFill>
                  <a:srgbClr val="FF0000"/>
                </a:solidFill>
                <a:ea typeface="楷体_GB2312" pitchFamily="49" charset="-122"/>
              </a:rPr>
              <a:t>n+1</a:t>
            </a:r>
            <a:endParaRPr lang="zh-CN" altLang="en-US" b="1" dirty="0">
              <a:solidFill>
                <a:srgbClr val="FF0000"/>
              </a:solidFill>
              <a:ea typeface="楷体_GB2312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advTm="6046"/>
    </mc:Choice>
    <mc:Fallback xmlns="">
      <p:transition advTm="6046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064962" name="Rectangle 2"/>
              <p:cNvSpPr>
                <a:spLocks noGrp="1" noChangeArrowheads="1"/>
              </p:cNvSpPr>
              <p:nvPr>
                <p:ph type="title"/>
              </p:nvPr>
            </p:nvSpPr>
            <p:spPr>
              <a:xfrm>
                <a:off x="1115616" y="260648"/>
                <a:ext cx="3971949" cy="685800"/>
              </a:xfrm>
            </p:spPr>
            <p:txBody>
              <a:bodyPr/>
              <a:lstStyle/>
              <a:p>
                <a:pPr eaLnBrk="1" hangingPunct="1">
                  <a:defRPr/>
                </a:pPr>
                <a:r>
                  <a:rPr kumimoji="1" lang="zh-CN" altLang="en-US" dirty="0">
                    <a:solidFill>
                      <a:schemeClr val="bg1"/>
                    </a:solidFill>
                  </a:rPr>
                  <a:t>例</a:t>
                </a:r>
                <a:r>
                  <a:rPr kumimoji="1" lang="en-US" altLang="zh-CN" dirty="0">
                    <a:solidFill>
                      <a:schemeClr val="bg1"/>
                    </a:solidFill>
                  </a:rPr>
                  <a:t>4-6:</a:t>
                </a:r>
                <a:r>
                  <a:rPr kumimoji="1" lang="zh-CN" altLang="en-US" dirty="0">
                    <a:solidFill>
                      <a:schemeClr val="bg1"/>
                    </a:solidFill>
                  </a:rPr>
                  <a:t>求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kumimoji="1" lang="zh-CN" altLang="en-US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kumimoji="1" lang="en-US" altLang="zh-CN" b="0" i="1" smtClean="0">
                            <a:solidFill>
                              <a:schemeClr val="bg1"/>
                            </a:solidFill>
                            <a:latin typeface="Cambria Math" panose="02040503050406030204"/>
                          </a:rPr>
                          <m:t>𝑛</m:t>
                        </m:r>
                        <m:r>
                          <a:rPr kumimoji="1" lang="en-US" altLang="zh-CN" b="0" i="1" smtClean="0">
                            <a:solidFill>
                              <a:schemeClr val="bg1"/>
                            </a:solidFill>
                            <a:latin typeface="Cambria Math" panose="02040503050406030204"/>
                          </a:rPr>
                          <m:t>=1</m:t>
                        </m:r>
                      </m:sub>
                      <m:sup>
                        <m:r>
                          <a:rPr kumimoji="1" lang="en-US" altLang="zh-CN" b="0" i="1" smtClean="0">
                            <a:solidFill>
                              <a:schemeClr val="bg1"/>
                            </a:solidFill>
                            <a:latin typeface="Cambria Math" panose="02040503050406030204"/>
                          </a:rPr>
                          <m:t>100</m:t>
                        </m:r>
                      </m:sup>
                      <m:e>
                        <m:r>
                          <a:rPr kumimoji="1" lang="en-US" altLang="zh-CN" b="0" i="1" smtClean="0">
                            <a:solidFill>
                              <a:schemeClr val="bg1"/>
                            </a:solidFill>
                            <a:latin typeface="Cambria Math" panose="02040503050406030204"/>
                          </a:rPr>
                          <m:t>𝑛</m:t>
                        </m:r>
                      </m:e>
                    </m:nary>
                  </m:oMath>
                </a14:m>
                <a:endParaRPr kumimoji="1" lang="zh-CN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64962" name="Rectangle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1115616" y="260648"/>
                <a:ext cx="3971949" cy="685800"/>
              </a:xfrm>
              <a:blipFill rotWithShape="1">
                <a:blip r:embed="rId3"/>
                <a:stretch>
                  <a:fillRect l="-14" t="-3284" r="15" b="-33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64987" name="Text Box 27"/>
          <p:cNvSpPr txBox="1">
            <a:spLocks noChangeArrowheads="1"/>
          </p:cNvSpPr>
          <p:nvPr/>
        </p:nvSpPr>
        <p:spPr bwMode="auto">
          <a:xfrm>
            <a:off x="1209054" y="1412776"/>
            <a:ext cx="6535738" cy="4267200"/>
          </a:xfrm>
          <a:prstGeom prst="rect">
            <a:avLst/>
          </a:prstGeom>
          <a:solidFill>
            <a:srgbClr val="CCECFF"/>
          </a:solidFill>
          <a:ln w="38100">
            <a:solidFill>
              <a:srgbClr val="0000FF"/>
            </a:solidFill>
            <a:miter lim="800000"/>
          </a:ln>
        </p:spPr>
        <p:txBody>
          <a:bodyPr/>
          <a:lstStyle>
            <a:lvl1pPr marL="342900" indent="-3429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80000"/>
              </a:lnSpc>
              <a:buFont typeface="Arial" panose="020B0604020202020204" pitchFamily="34" charset="0"/>
              <a:buNone/>
            </a:pPr>
            <a:endParaRPr lang="en-US" altLang="zh-CN" b="1">
              <a:ea typeface="楷体_GB2312" pitchFamily="49" charset="-122"/>
            </a:endParaRPr>
          </a:p>
          <a:p>
            <a:pPr>
              <a:lnSpc>
                <a:spcPct val="70000"/>
              </a:lnSpc>
              <a:buFont typeface="Arial" panose="020B0604020202020204" pitchFamily="34" charset="0"/>
              <a:buNone/>
            </a:pPr>
            <a:r>
              <a:rPr lang="en-US" altLang="zh-CN" b="1">
                <a:ea typeface="楷体_GB2312" pitchFamily="49" charset="-122"/>
              </a:rPr>
              <a:t>    sum,n=0,1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-US" altLang="zh-CN" b="1">
                <a:ea typeface="楷体_GB2312" pitchFamily="49" charset="-122"/>
              </a:rPr>
              <a:t>    while n&lt;=100: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-US" altLang="zh-CN" b="1">
                <a:ea typeface="楷体_GB2312" pitchFamily="49" charset="-122"/>
              </a:rPr>
              <a:t>    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CN" b="1">
                <a:ea typeface="楷体_GB2312" pitchFamily="49" charset="-122"/>
              </a:rPr>
              <a:t>		</a:t>
            </a:r>
            <a:r>
              <a:rPr lang="en-US" altLang="zh-CN" b="1">
                <a:solidFill>
                  <a:srgbClr val="0000CC"/>
                </a:solidFill>
                <a:ea typeface="楷体_GB2312" pitchFamily="49" charset="-122"/>
              </a:rPr>
              <a:t>sum=sum+n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CN" b="1">
                <a:ea typeface="楷体_GB2312" pitchFamily="49" charset="-122"/>
              </a:rPr>
              <a:t>		</a:t>
            </a:r>
            <a:r>
              <a:rPr lang="en-US" altLang="zh-CN" b="1">
                <a:solidFill>
                  <a:srgbClr val="FF0000"/>
                </a:solidFill>
                <a:ea typeface="楷体_GB2312" pitchFamily="49" charset="-122"/>
              </a:rPr>
              <a:t>n=n+1</a:t>
            </a:r>
          </a:p>
          <a:p>
            <a:pPr>
              <a:lnSpc>
                <a:spcPct val="70000"/>
              </a:lnSpc>
              <a:buFont typeface="Arial" panose="020B0604020202020204" pitchFamily="34" charset="0"/>
              <a:buNone/>
            </a:pPr>
            <a:r>
              <a:rPr lang="en-US" altLang="zh-CN" b="1">
                <a:ea typeface="楷体_GB2312" pitchFamily="49" charset="-122"/>
              </a:rPr>
              <a:t>    </a:t>
            </a:r>
          </a:p>
          <a:p>
            <a:pPr>
              <a:lnSpc>
                <a:spcPct val="70000"/>
              </a:lnSpc>
              <a:buFont typeface="Arial" panose="020B0604020202020204" pitchFamily="34" charset="0"/>
              <a:buNone/>
            </a:pPr>
            <a:endParaRPr lang="en-US" altLang="zh-CN" b="1">
              <a:ea typeface="楷体_GB2312" pitchFamily="49" charset="-122"/>
            </a:endParaRPr>
          </a:p>
          <a:p>
            <a:pPr>
              <a:lnSpc>
                <a:spcPct val="70000"/>
              </a:lnSpc>
              <a:buFont typeface="Arial" panose="020B0604020202020204" pitchFamily="34" charset="0"/>
              <a:buNone/>
            </a:pPr>
            <a:r>
              <a:rPr lang="en-US" altLang="zh-CN" b="1">
                <a:ea typeface="楷体_GB2312" pitchFamily="49" charset="-122"/>
              </a:rPr>
              <a:t>  printf("1+2+3+....+100=",sum)</a:t>
            </a:r>
          </a:p>
          <a:p>
            <a:pPr>
              <a:lnSpc>
                <a:spcPct val="60000"/>
              </a:lnSpc>
              <a:buFont typeface="Arial" panose="020B0604020202020204" pitchFamily="34" charset="0"/>
              <a:buNone/>
            </a:pPr>
            <a:endParaRPr lang="en-US" altLang="zh-CN" b="1">
              <a:ea typeface="楷体_GB2312" pitchFamily="49" charset="-122"/>
            </a:endParaRPr>
          </a:p>
        </p:txBody>
      </p:sp>
      <p:sp>
        <p:nvSpPr>
          <p:cNvPr id="1064989" name="Rectangle 29"/>
          <p:cNvSpPr>
            <a:spLocks noChangeArrowheads="1"/>
          </p:cNvSpPr>
          <p:nvPr/>
        </p:nvSpPr>
        <p:spPr bwMode="auto">
          <a:xfrm>
            <a:off x="1883742" y="3049488"/>
            <a:ext cx="2771775" cy="431800"/>
          </a:xfrm>
          <a:prstGeom prst="rect">
            <a:avLst/>
          </a:prstGeom>
          <a:solidFill>
            <a:srgbClr val="FF0000">
              <a:alpha val="30980"/>
            </a:srgbClr>
          </a:solidFill>
          <a:ln w="38100" cap="sq">
            <a:solidFill>
              <a:srgbClr val="FF9900"/>
            </a:solidFill>
            <a:miter lim="800000"/>
          </a:ln>
        </p:spPr>
        <p:txBody>
          <a:bodyPr wrap="none" anchor="ctr"/>
          <a:lstStyle/>
          <a:p>
            <a:pPr eaLnBrk="1" hangingPunct="1">
              <a:buFont typeface="Arial" panose="020B0604020202020204" pitchFamily="34" charset="0"/>
              <a:buNone/>
            </a:pPr>
            <a:endParaRPr lang="zh-CN" altLang="en-US"/>
          </a:p>
        </p:txBody>
      </p:sp>
      <p:sp>
        <p:nvSpPr>
          <p:cNvPr id="1064991" name="Rectangle 31"/>
          <p:cNvSpPr>
            <a:spLocks noChangeArrowheads="1"/>
          </p:cNvSpPr>
          <p:nvPr/>
        </p:nvSpPr>
        <p:spPr bwMode="auto">
          <a:xfrm>
            <a:off x="1883742" y="3565426"/>
            <a:ext cx="2771775" cy="431800"/>
          </a:xfrm>
          <a:prstGeom prst="rect">
            <a:avLst/>
          </a:prstGeom>
          <a:solidFill>
            <a:srgbClr val="FF0000">
              <a:alpha val="30980"/>
            </a:srgbClr>
          </a:solidFill>
          <a:ln w="38100" cap="sq">
            <a:solidFill>
              <a:srgbClr val="FF9900"/>
            </a:solidFill>
            <a:miter lim="800000"/>
          </a:ln>
        </p:spPr>
        <p:txBody>
          <a:bodyPr wrap="none" anchor="ctr"/>
          <a:lstStyle/>
          <a:p>
            <a:pPr eaLnBrk="1" hangingPunct="1">
              <a:buFont typeface="Arial" panose="020B0604020202020204" pitchFamily="34" charset="0"/>
              <a:buNone/>
            </a:pPr>
            <a:endParaRPr lang="zh-CN" altLang="en-US"/>
          </a:p>
        </p:txBody>
      </p:sp>
      <p:sp>
        <p:nvSpPr>
          <p:cNvPr id="3" name="文本框 2"/>
          <p:cNvSpPr txBox="1">
            <a:spLocks noChangeArrowheads="1"/>
          </p:cNvSpPr>
          <p:nvPr/>
        </p:nvSpPr>
        <p:spPr bwMode="auto">
          <a:xfrm>
            <a:off x="1115616" y="5679976"/>
            <a:ext cx="6216650" cy="582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dirty="0"/>
              <a:t>运行结果：</a:t>
            </a:r>
            <a:r>
              <a:rPr lang="en-US" altLang="zh-CN" dirty="0"/>
              <a:t>1+2+3.......+100=5050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advTm="6046"/>
    </mc:Choice>
    <mc:Fallback xmlns="">
      <p:transition advTm="6046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noProof="1"/>
              <a:t>在</a:t>
            </a:r>
            <a:r>
              <a:rPr lang="en-US" altLang="zh-CN" noProof="1"/>
              <a:t>while</a:t>
            </a:r>
            <a:r>
              <a:rPr lang="zh-CN" altLang="en-US" noProof="1"/>
              <a:t>语句中使用</a:t>
            </a:r>
            <a:r>
              <a:rPr lang="en-US" altLang="zh-CN" noProof="1"/>
              <a:t>else</a:t>
            </a:r>
            <a:r>
              <a:rPr lang="zh-CN" altLang="en-US" noProof="1"/>
              <a:t>子句</a:t>
            </a:r>
          </a:p>
        </p:txBody>
      </p:sp>
      <p:sp>
        <p:nvSpPr>
          <p:cNvPr id="12291" name="内容占位符 2"/>
          <p:cNvSpPr>
            <a:spLocks noGrp="1" noChangeArrowheads="1"/>
          </p:cNvSpPr>
          <p:nvPr>
            <p:ph idx="1"/>
          </p:nvPr>
        </p:nvSpPr>
        <p:spPr>
          <a:xfrm>
            <a:off x="539552" y="1526693"/>
            <a:ext cx="4392488" cy="3528392"/>
          </a:xfrm>
        </p:spPr>
        <p:txBody>
          <a:bodyPr/>
          <a:lstStyle/>
          <a:p>
            <a:pPr marL="0" indent="0" eaLnBrk="1" hangingPunct="1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可以在循环语句中使用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else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子句，即构成：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hangingPunct="1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while.......else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循环结构。</a:t>
            </a:r>
          </a:p>
        </p:txBody>
      </p:sp>
      <p:sp>
        <p:nvSpPr>
          <p:cNvPr id="4" name="Rectangle 20"/>
          <p:cNvSpPr>
            <a:spLocks noChangeArrowheads="1"/>
          </p:cNvSpPr>
          <p:nvPr/>
        </p:nvSpPr>
        <p:spPr bwMode="auto">
          <a:xfrm>
            <a:off x="5292080" y="1484784"/>
            <a:ext cx="3312368" cy="2677656"/>
          </a:xfrm>
          <a:prstGeom prst="rect">
            <a:avLst/>
          </a:prstGeom>
          <a:solidFill>
            <a:srgbClr val="FFFFE7"/>
          </a:solidFill>
          <a:ln w="57150">
            <a:solidFill>
              <a:srgbClr val="FF0000"/>
            </a:solidFill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sz="2800" b="1" dirty="0">
                <a:ea typeface="楷体_GB2312" pitchFamily="49" charset="-122"/>
              </a:rPr>
              <a:t>while </a:t>
            </a:r>
            <a:r>
              <a:rPr lang="en-US" altLang="zh-CN" sz="2800" b="1" dirty="0" err="1">
                <a:ea typeface="楷体_GB2312" pitchFamily="49" charset="-122"/>
              </a:rPr>
              <a:t>exp</a:t>
            </a:r>
            <a:r>
              <a:rPr lang="en-US" altLang="zh-CN" sz="2800" b="1" dirty="0">
                <a:ea typeface="楷体_GB2312" pitchFamily="49" charset="-122"/>
              </a:rPr>
              <a:t>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sz="2800" b="1" dirty="0">
                <a:ea typeface="楷体_GB2312" pitchFamily="49" charset="-122"/>
              </a:rPr>
              <a:t>     </a:t>
            </a:r>
            <a:r>
              <a:rPr lang="zh-CN" altLang="en-US" sz="2800" b="1" dirty="0">
                <a:ea typeface="楷体_GB2312" pitchFamily="49" charset="-122"/>
              </a:rPr>
              <a:t>语句块</a:t>
            </a:r>
            <a:r>
              <a:rPr lang="en-US" altLang="zh-CN" sz="2800" b="1" dirty="0">
                <a:ea typeface="楷体_GB2312" pitchFamily="49" charset="-122"/>
              </a:rPr>
              <a:t>1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sz="2800" b="1" dirty="0">
                <a:ea typeface="楷体_GB2312" pitchFamily="49" charset="-122"/>
              </a:rPr>
              <a:t>else: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sz="2800" b="1" dirty="0">
                <a:ea typeface="楷体_GB2312" pitchFamily="49" charset="-122"/>
              </a:rPr>
              <a:t>      </a:t>
            </a:r>
            <a:r>
              <a:rPr lang="zh-CN" altLang="en-US" sz="2800" b="1" dirty="0">
                <a:ea typeface="楷体_GB2312" pitchFamily="49" charset="-122"/>
              </a:rPr>
              <a:t>语句块</a:t>
            </a:r>
            <a:r>
              <a:rPr lang="en-US" altLang="zh-CN" sz="2800" b="1" dirty="0">
                <a:ea typeface="楷体_GB2312" pitchFamily="49" charset="-122"/>
              </a:rPr>
              <a:t>2</a:t>
            </a:r>
          </a:p>
        </p:txBody>
      </p:sp>
      <p:sp>
        <p:nvSpPr>
          <p:cNvPr id="3" name="矩形 2"/>
          <p:cNvSpPr/>
          <p:nvPr/>
        </p:nvSpPr>
        <p:spPr>
          <a:xfrm>
            <a:off x="720080" y="4465853"/>
            <a:ext cx="7884368" cy="1708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lnSpc>
                <a:spcPct val="125000"/>
              </a:lnSpc>
              <a:spcBef>
                <a:spcPct val="15000"/>
              </a:spcBef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else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语句只在循环正常执行后才执行并结束，因此，可以在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语句块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2&gt;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中放置评价循环执行情况的语句。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advTm="6046"/>
    </mc:Choice>
    <mc:Fallback xmlns="">
      <p:transition advTm="6046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noProof="1"/>
              <a:t>while....else</a:t>
            </a:r>
            <a:r>
              <a:rPr lang="zh-CN" altLang="en-US" noProof="1"/>
              <a:t>循环结构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528" y="1268760"/>
            <a:ext cx="5904656" cy="4525963"/>
          </a:xfrm>
        </p:spPr>
        <p:txBody>
          <a:bodyPr/>
          <a:lstStyle/>
          <a:p>
            <a:pPr marL="0" indent="0">
              <a:buNone/>
            </a:pP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4-7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while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循环实现素数判断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en-US" altLang="zh-CN" sz="2000" dirty="0"/>
              <a:t>x=</a:t>
            </a:r>
            <a:r>
              <a:rPr lang="en-US" altLang="zh-CN" sz="2000" dirty="0" err="1"/>
              <a:t>eval</a:t>
            </a:r>
            <a:r>
              <a:rPr lang="en-US" altLang="zh-CN" sz="2000" dirty="0"/>
              <a:t>(input("</a:t>
            </a:r>
            <a:r>
              <a:rPr lang="zh-CN" altLang="zh-CN" sz="2000" dirty="0"/>
              <a:t>请输入一个大于</a:t>
            </a:r>
            <a:r>
              <a:rPr lang="en-US" altLang="zh-CN" sz="2000" dirty="0"/>
              <a:t>1</a:t>
            </a:r>
            <a:r>
              <a:rPr lang="zh-CN" altLang="zh-CN" sz="2000" dirty="0"/>
              <a:t>的自然数：</a:t>
            </a:r>
            <a:r>
              <a:rPr lang="en-US" altLang="zh-CN" sz="2000" dirty="0"/>
              <a:t>")) </a:t>
            </a:r>
            <a:endParaRPr lang="zh-CN" altLang="zh-CN" sz="2000" dirty="0"/>
          </a:p>
          <a:p>
            <a:pPr marL="0" indent="0">
              <a:buNone/>
            </a:pPr>
            <a:r>
              <a:rPr lang="en-US" altLang="zh-CN" sz="2000" dirty="0"/>
              <a:t>judge=""                                    </a:t>
            </a:r>
            <a:endParaRPr lang="zh-CN" altLang="zh-CN" sz="2000" dirty="0"/>
          </a:p>
          <a:p>
            <a:pPr marL="0" indent="0">
              <a:buNone/>
            </a:pPr>
            <a:r>
              <a:rPr lang="en-US" altLang="zh-CN" sz="2000" dirty="0" err="1"/>
              <a:t>i</a:t>
            </a:r>
            <a:r>
              <a:rPr lang="en-US" altLang="zh-CN" sz="2000" dirty="0"/>
              <a:t>=2</a:t>
            </a:r>
            <a:endParaRPr lang="zh-CN" altLang="zh-CN" sz="2000" dirty="0"/>
          </a:p>
          <a:p>
            <a:pPr marL="0" indent="0">
              <a:buNone/>
            </a:pPr>
            <a:r>
              <a:rPr lang="en-US" altLang="zh-CN" sz="2000" dirty="0"/>
              <a:t>while </a:t>
            </a:r>
            <a:r>
              <a:rPr lang="en-US" altLang="zh-CN" sz="2000" dirty="0" err="1"/>
              <a:t>i</a:t>
            </a:r>
            <a:r>
              <a:rPr lang="en-US" altLang="zh-CN" sz="2000" dirty="0"/>
              <a:t>&lt;x:</a:t>
            </a:r>
            <a:endParaRPr lang="zh-CN" altLang="zh-CN" sz="2000" dirty="0"/>
          </a:p>
          <a:p>
            <a:pPr marL="0" indent="0">
              <a:buNone/>
            </a:pPr>
            <a:r>
              <a:rPr lang="en-US" altLang="zh-CN" sz="2000" dirty="0"/>
              <a:t>    if </a:t>
            </a:r>
            <a:r>
              <a:rPr lang="en-US" altLang="zh-CN" sz="2000" dirty="0" err="1"/>
              <a:t>x%i</a:t>
            </a:r>
            <a:r>
              <a:rPr lang="en-US" altLang="zh-CN" sz="2000" dirty="0"/>
              <a:t>==0:</a:t>
            </a:r>
            <a:endParaRPr lang="zh-CN" altLang="zh-CN" sz="2000" dirty="0"/>
          </a:p>
          <a:p>
            <a:pPr marL="0" indent="0">
              <a:buNone/>
            </a:pPr>
            <a:r>
              <a:rPr lang="en-US" altLang="zh-CN" sz="2000" dirty="0"/>
              <a:t>        judge=</a:t>
            </a:r>
            <a:r>
              <a:rPr lang="en-US" altLang="zh-CN" sz="2000" dirty="0" err="1"/>
              <a:t>str</a:t>
            </a:r>
            <a:r>
              <a:rPr lang="en-US" altLang="zh-CN" sz="2000" dirty="0"/>
              <a:t>(x)+"</a:t>
            </a:r>
            <a:r>
              <a:rPr lang="zh-CN" altLang="zh-CN" sz="2000" dirty="0"/>
              <a:t>不是素数。</a:t>
            </a:r>
            <a:r>
              <a:rPr lang="en-US" altLang="zh-CN" sz="2000" dirty="0"/>
              <a:t>"</a:t>
            </a:r>
            <a:endParaRPr lang="zh-CN" altLang="zh-CN" sz="2000" dirty="0"/>
          </a:p>
          <a:p>
            <a:pPr marL="0" indent="0">
              <a:buNone/>
            </a:pPr>
            <a:r>
              <a:rPr lang="en-US" altLang="zh-CN" sz="2000" dirty="0"/>
              <a:t>        break</a:t>
            </a:r>
            <a:endParaRPr lang="zh-CN" altLang="zh-CN" sz="2000" dirty="0"/>
          </a:p>
          <a:p>
            <a:pPr marL="0" indent="0">
              <a:buNone/>
            </a:pPr>
            <a:r>
              <a:rPr lang="en-US" altLang="zh-CN" sz="2000" dirty="0"/>
              <a:t>    else:</a:t>
            </a:r>
            <a:endParaRPr lang="zh-CN" altLang="zh-CN" sz="2000" dirty="0"/>
          </a:p>
          <a:p>
            <a:pPr marL="0" indent="0">
              <a:buNone/>
            </a:pPr>
            <a:r>
              <a:rPr lang="en-US" altLang="zh-CN" sz="2000" dirty="0"/>
              <a:t>        </a:t>
            </a:r>
            <a:r>
              <a:rPr lang="en-US" altLang="zh-CN" sz="2000" dirty="0" err="1"/>
              <a:t>i</a:t>
            </a:r>
            <a:r>
              <a:rPr lang="en-US" altLang="zh-CN" sz="2000" dirty="0"/>
              <a:t>+=1</a:t>
            </a:r>
            <a:endParaRPr lang="zh-CN" altLang="zh-CN" sz="2000" dirty="0"/>
          </a:p>
          <a:p>
            <a:pPr marL="0" indent="0">
              <a:buNone/>
            </a:pPr>
            <a:r>
              <a:rPr lang="en-US" altLang="zh-CN" sz="2000" dirty="0"/>
              <a:t>else:   </a:t>
            </a:r>
            <a:endParaRPr lang="zh-CN" altLang="zh-CN" sz="2000" dirty="0"/>
          </a:p>
          <a:p>
            <a:pPr marL="0" indent="0">
              <a:buNone/>
            </a:pPr>
            <a:r>
              <a:rPr lang="en-US" altLang="zh-CN" sz="2000" dirty="0"/>
              <a:t>    judge=</a:t>
            </a:r>
            <a:r>
              <a:rPr lang="en-US" altLang="zh-CN" sz="2000" dirty="0" err="1"/>
              <a:t>str</a:t>
            </a:r>
            <a:r>
              <a:rPr lang="en-US" altLang="zh-CN" sz="2000" dirty="0"/>
              <a:t>(x)+"</a:t>
            </a:r>
            <a:r>
              <a:rPr lang="zh-CN" altLang="zh-CN" sz="2000" dirty="0"/>
              <a:t>是素数。</a:t>
            </a:r>
            <a:r>
              <a:rPr lang="en-US" altLang="zh-CN" sz="2000" dirty="0"/>
              <a:t>"  </a:t>
            </a:r>
            <a:endParaRPr lang="zh-CN" altLang="zh-CN" sz="2000" dirty="0"/>
          </a:p>
          <a:p>
            <a:pPr marL="0" indent="0">
              <a:buNone/>
            </a:pPr>
            <a:r>
              <a:rPr lang="en-US" altLang="zh-CN" sz="2000" dirty="0"/>
              <a:t>print(judge)</a:t>
            </a:r>
            <a:endParaRPr lang="zh-CN" altLang="zh-CN" sz="2000" dirty="0"/>
          </a:p>
          <a:p>
            <a:pPr marL="0" indent="0">
              <a:buNone/>
            </a:pP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1986" name="图片 5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3273" y="1124744"/>
            <a:ext cx="2693183" cy="51125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advTm="6046"/>
    </mc:Choice>
    <mc:Fallback xmlns="">
      <p:transition advTm="6046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noProof="1"/>
              <a:t>温馨提示：</a:t>
            </a:r>
          </a:p>
        </p:txBody>
      </p:sp>
      <p:sp>
        <p:nvSpPr>
          <p:cNvPr id="14339" name="内容占位符 2"/>
          <p:cNvSpPr>
            <a:spLocks noGrp="1" noChangeArrowheads="1"/>
          </p:cNvSpPr>
          <p:nvPr>
            <p:ph idx="1"/>
          </p:nvPr>
        </p:nvSpPr>
        <p:spPr>
          <a:xfrm>
            <a:off x="446856" y="1268760"/>
            <a:ext cx="8229600" cy="4525963"/>
          </a:xfrm>
        </p:spPr>
        <p:txBody>
          <a:bodyPr/>
          <a:lstStyle/>
          <a:p>
            <a:pPr marL="0" indent="0" eaLnBrk="1" hangingPunct="1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对于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while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语句的用法，要注意以下几点：</a:t>
            </a:r>
          </a:p>
          <a:p>
            <a:pPr eaLnBrk="1" hangingPunct="1">
              <a:lnSpc>
                <a:spcPct val="125000"/>
              </a:lnSpc>
              <a:buClr>
                <a:srgbClr val="FF0000"/>
              </a:buClr>
              <a:buFont typeface="Wingdings 2" pitchFamily="18" charset="2"/>
              <a:buChar char="ê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如果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while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后面表达式的值一开始就为</a:t>
            </a: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假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，则循环体一次也不执行。</a:t>
            </a:r>
          </a:p>
          <a:p>
            <a:pPr eaLnBrk="1" hangingPunct="1">
              <a:lnSpc>
                <a:spcPct val="125000"/>
              </a:lnSpc>
              <a:buClr>
                <a:srgbClr val="FF0000"/>
              </a:buClr>
              <a:buFont typeface="Wingdings 2" pitchFamily="18" charset="2"/>
              <a:buChar char="ê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循环体中的语句可以任意类型的语句。</a:t>
            </a:r>
          </a:p>
          <a:p>
            <a:pPr eaLnBrk="1" hangingPunct="1">
              <a:lnSpc>
                <a:spcPct val="125000"/>
              </a:lnSpc>
              <a:buClr>
                <a:srgbClr val="FF0000"/>
              </a:buClr>
              <a:buFont typeface="Wingdings 2" pitchFamily="18" charset="2"/>
              <a:buChar char="ê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遇到下列情况，退出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while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循环：</a:t>
            </a:r>
          </a:p>
          <a:p>
            <a:pPr marL="0" indent="0" eaLnBrk="1" hangingPunct="1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en-US" altLang="zh-CN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  </a:t>
            </a: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表达式不成立</a:t>
            </a:r>
          </a:p>
          <a:p>
            <a:pPr marL="0" indent="0" eaLnBrk="1" hangingPunct="1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en-US" altLang="zh-CN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  </a:t>
            </a: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循环体内遇到</a:t>
            </a:r>
            <a:r>
              <a:rPr lang="en-US" altLang="zh-CN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break</a:t>
            </a: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return</a:t>
            </a: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advTm="6046"/>
    </mc:Choice>
    <mc:Fallback xmlns="">
      <p:transition advTm="6046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606" name="Rectangle 30"/>
          <p:cNvSpPr>
            <a:spLocks noChangeArrowheads="1"/>
          </p:cNvSpPr>
          <p:nvPr/>
        </p:nvSpPr>
        <p:spPr bwMode="auto">
          <a:xfrm>
            <a:off x="1115616" y="188640"/>
            <a:ext cx="5999584" cy="685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ctr"/>
          <a:lstStyle/>
          <a:p>
            <a:pPr eaLnBrk="1" hangingPunct="1">
              <a:defRPr/>
            </a:pPr>
            <a:r>
              <a:rPr kumimoji="1"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温馨提示：</a:t>
            </a:r>
          </a:p>
        </p:txBody>
      </p:sp>
      <p:sp>
        <p:nvSpPr>
          <p:cNvPr id="920610" name="Text Box 34"/>
          <p:cNvSpPr txBox="1">
            <a:spLocks noChangeArrowheads="1"/>
          </p:cNvSpPr>
          <p:nvPr/>
        </p:nvSpPr>
        <p:spPr bwMode="auto">
          <a:xfrm>
            <a:off x="299775" y="1340768"/>
            <a:ext cx="8593137" cy="44012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indent="0" eaLnBrk="1" hangingPunct="1">
              <a:lnSpc>
                <a:spcPct val="125000"/>
              </a:lnSpc>
              <a:buClr>
                <a:srgbClr val="3333FF"/>
              </a:buClr>
              <a:buFont typeface="Wingdings 2" pitchFamily="18" charset="2"/>
              <a:buChar char="ê"/>
            </a:pPr>
            <a:r>
              <a:rPr lang="en-GB" altLang="zh-CN" sz="28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while </a:t>
            </a:r>
            <a:r>
              <a:rPr lang="zh-CN" altLang="en-GB" sz="28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语句之前必须</a:t>
            </a:r>
            <a:r>
              <a:rPr lang="zh-CN" altLang="en-GB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预先设置判断的初始条件</a:t>
            </a: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zh-CN" altLang="en-GB" sz="28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hangingPunct="1">
              <a:lnSpc>
                <a:spcPct val="125000"/>
              </a:lnSpc>
              <a:buClr>
                <a:srgbClr val="3333FF"/>
              </a:buClr>
              <a:buFont typeface="Wingdings 2" pitchFamily="18" charset="2"/>
              <a:buChar char="ê"/>
            </a:pP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防止“死循环”</a:t>
            </a:r>
            <a:r>
              <a:rPr lang="zh-CN" altLang="en-US" sz="28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的发生，在循环体中必须有使循环趋向结束的操作，即 在循环体中要有能让逻辑表达式值改变的语句；</a:t>
            </a:r>
          </a:p>
          <a:p>
            <a:pPr marL="0" indent="0" eaLnBrk="1" hangingPunct="1">
              <a:lnSpc>
                <a:spcPct val="125000"/>
              </a:lnSpc>
              <a:buClr>
                <a:srgbClr val="3333FF"/>
              </a:buClr>
              <a:buFont typeface="Wingdings 2" pitchFamily="18" charset="2"/>
              <a:buChar char="ê"/>
            </a:pP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正确使用缩进；</a:t>
            </a:r>
            <a:r>
              <a:rPr lang="zh-CN" altLang="en-US" sz="28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当循环体中含多条语句时</a:t>
            </a:r>
            <a:r>
              <a:rPr lang="en-US" altLang="zh-CN" sz="28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28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需用缩进这些多条语句，而且缩进一定要符合逻辑关系；    </a:t>
            </a:r>
          </a:p>
          <a:p>
            <a:pPr marL="0" indent="0" eaLnBrk="1" hangingPunct="1">
              <a:lnSpc>
                <a:spcPct val="125000"/>
              </a:lnSpc>
              <a:buClr>
                <a:srgbClr val="3333FF"/>
              </a:buClr>
              <a:buFont typeface="Wingdings 2" pitchFamily="18" charset="2"/>
              <a:buChar char="ê"/>
            </a:pPr>
            <a:r>
              <a:rPr lang="zh-CN" altLang="en-US" sz="28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在循环体中，</a:t>
            </a: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语句的先后位置必须符合逻辑，</a:t>
            </a:r>
            <a:r>
              <a:rPr lang="zh-CN" altLang="en-US" sz="28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否则会影响运算结果。</a:t>
            </a:r>
          </a:p>
        </p:txBody>
      </p:sp>
      <p:sp>
        <p:nvSpPr>
          <p:cNvPr id="2" name="等腰三角形 1">
            <a:hlinkClick r:id="rId2" action="ppaction://hlinksldjump"/>
          </p:cNvPr>
          <p:cNvSpPr/>
          <p:nvPr/>
        </p:nvSpPr>
        <p:spPr bwMode="auto">
          <a:xfrm flipV="1">
            <a:off x="8028384" y="6021288"/>
            <a:ext cx="432048" cy="288032"/>
          </a:xfrm>
          <a:prstGeom prst="triangle">
            <a:avLst/>
          </a:prstGeom>
          <a:solidFill>
            <a:srgbClr val="3333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advTm="6046"/>
    </mc:Choice>
    <mc:Fallback xmlns="">
      <p:transition advTm="6046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970" name="Rectangle 2"/>
          <p:cNvSpPr>
            <a:spLocks noChangeArrowheads="1"/>
          </p:cNvSpPr>
          <p:nvPr/>
        </p:nvSpPr>
        <p:spPr bwMode="auto">
          <a:xfrm>
            <a:off x="1043608" y="228600"/>
            <a:ext cx="8763000" cy="685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ctr"/>
          <a:lstStyle/>
          <a:p>
            <a:pPr eaLnBrk="1" hangingPunct="1">
              <a:defRPr/>
            </a:pPr>
            <a:r>
              <a:rPr kumimoji="1" lang="en-US" altLang="zh-CN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4.3.3  </a:t>
            </a:r>
            <a:r>
              <a:rPr kumimoji="1"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循环嵌套 </a:t>
            </a:r>
          </a:p>
        </p:txBody>
      </p:sp>
      <p:sp>
        <p:nvSpPr>
          <p:cNvPr id="26627" name="Rectangle 7"/>
          <p:cNvSpPr>
            <a:spLocks noChangeArrowheads="1"/>
          </p:cNvSpPr>
          <p:nvPr/>
        </p:nvSpPr>
        <p:spPr bwMode="auto">
          <a:xfrm>
            <a:off x="228600" y="1844824"/>
            <a:ext cx="876300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 eaLnBrk="1" hangingPunct="1">
              <a:lnSpc>
                <a:spcPct val="95000"/>
              </a:lnSpc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3400" b="1" dirty="0">
                <a:ea typeface="楷体_GB2312" pitchFamily="49" charset="-122"/>
              </a:rPr>
              <a:t>          </a:t>
            </a:r>
            <a:r>
              <a:rPr lang="zh-CN" altLang="en-US" sz="3400" b="1" dirty="0">
                <a:solidFill>
                  <a:srgbClr val="0000FF"/>
                </a:solidFill>
                <a:ea typeface="楷体_GB2312" pitchFamily="49" charset="-122"/>
              </a:rPr>
              <a:t>循环的嵌套，又称</a:t>
            </a:r>
            <a:r>
              <a:rPr lang="zh-CN" altLang="en-US" sz="3400" b="1" dirty="0">
                <a:solidFill>
                  <a:srgbClr val="FF0000"/>
                </a:solidFill>
                <a:ea typeface="楷体_GB2312" pitchFamily="49" charset="-122"/>
              </a:rPr>
              <a:t>多层循环</a:t>
            </a:r>
            <a:r>
              <a:rPr lang="zh-CN" altLang="en-US" sz="3400" b="1" dirty="0">
                <a:solidFill>
                  <a:srgbClr val="0000FF"/>
                </a:solidFill>
                <a:ea typeface="楷体_GB2312" pitchFamily="49" charset="-122"/>
              </a:rPr>
              <a:t>，应用于</a:t>
            </a:r>
            <a:r>
              <a:rPr lang="zh-CN" altLang="en-US" sz="3400" b="1" dirty="0">
                <a:solidFill>
                  <a:srgbClr val="FF0000"/>
                </a:solidFill>
                <a:ea typeface="楷体_GB2312" pitchFamily="49" charset="-122"/>
              </a:rPr>
              <a:t>多个变量同时变化</a:t>
            </a:r>
            <a:r>
              <a:rPr lang="zh-CN" altLang="en-US" sz="3400" b="1" dirty="0">
                <a:solidFill>
                  <a:srgbClr val="0000FF"/>
                </a:solidFill>
                <a:ea typeface="楷体_GB2312" pitchFamily="49" charset="-122"/>
              </a:rPr>
              <a:t>的情况。</a:t>
            </a:r>
          </a:p>
        </p:txBody>
      </p:sp>
      <p:sp>
        <p:nvSpPr>
          <p:cNvPr id="979980" name="Text Box 12"/>
          <p:cNvSpPr txBox="1">
            <a:spLocks noChangeArrowheads="1"/>
          </p:cNvSpPr>
          <p:nvPr/>
        </p:nvSpPr>
        <p:spPr bwMode="auto">
          <a:xfrm>
            <a:off x="828675" y="3445024"/>
            <a:ext cx="7562850" cy="1044575"/>
          </a:xfrm>
          <a:prstGeom prst="rect">
            <a:avLst/>
          </a:prstGeom>
          <a:solidFill>
            <a:srgbClr val="FFFFE7"/>
          </a:solidFill>
          <a:ln w="38100">
            <a:solidFill>
              <a:srgbClr val="CC0000"/>
            </a:solidFill>
            <a:miter lim="800000"/>
          </a:ln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rgbClr val="3399FF"/>
              </a:buClr>
              <a:buSzPct val="90000"/>
              <a:buFont typeface="隶书" pitchFamily="49" charset="-122"/>
              <a:buNone/>
            </a:pPr>
            <a:r>
              <a:rPr lang="zh-CN" altLang="en-US" sz="3000" b="1">
                <a:solidFill>
                  <a:srgbClr val="0000CC"/>
                </a:solidFill>
                <a:ea typeface="楷体_GB2312" pitchFamily="49" charset="-122"/>
              </a:rPr>
              <a:t>说明：</a:t>
            </a:r>
            <a:r>
              <a:rPr lang="en-US" altLang="zh-CN" sz="3000" b="1">
                <a:solidFill>
                  <a:srgbClr val="0000CC"/>
                </a:solidFill>
                <a:ea typeface="楷体_GB2312" pitchFamily="49" charset="-122"/>
              </a:rPr>
              <a:t>1.  </a:t>
            </a:r>
            <a:r>
              <a:rPr lang="zh-CN" altLang="en-US" sz="3000" b="1">
                <a:ea typeface="楷体_GB2312" pitchFamily="49" charset="-122"/>
              </a:rPr>
              <a:t>外层循环可包含两个以上内循环</a:t>
            </a:r>
          </a:p>
          <a:p>
            <a:pPr lvl="1" eaLnBrk="1" hangingPunct="1">
              <a:lnSpc>
                <a:spcPct val="9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None/>
            </a:pPr>
            <a:r>
              <a:rPr lang="zh-CN" altLang="en-US" sz="3000" b="1">
                <a:ea typeface="楷体_GB2312" pitchFamily="49" charset="-122"/>
              </a:rPr>
              <a:t>       </a:t>
            </a:r>
            <a:r>
              <a:rPr lang="en-US" altLang="zh-CN" sz="3000" b="1">
                <a:solidFill>
                  <a:srgbClr val="0000CC"/>
                </a:solidFill>
                <a:ea typeface="楷体_GB2312" pitchFamily="49" charset="-122"/>
              </a:rPr>
              <a:t>2. </a:t>
            </a:r>
            <a:r>
              <a:rPr lang="zh-CN" altLang="en-US" sz="3000" b="1">
                <a:ea typeface="楷体_GB2312" pitchFamily="49" charset="-122"/>
              </a:rPr>
              <a:t>嵌套的循环的执行流程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advTm="6046"/>
    </mc:Choice>
    <mc:Fallback xmlns="">
      <p:transition advTm="6046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282" name="Rectangle 2"/>
          <p:cNvSpPr>
            <a:spLocks noChangeArrowheads="1"/>
          </p:cNvSpPr>
          <p:nvPr/>
        </p:nvSpPr>
        <p:spPr bwMode="auto">
          <a:xfrm>
            <a:off x="971600" y="228600"/>
            <a:ext cx="8763000" cy="685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ctr"/>
          <a:lstStyle/>
          <a:p>
            <a:pPr eaLnBrk="1" hangingPunct="1">
              <a:defRPr/>
            </a:pPr>
            <a:r>
              <a:rPr kumimoji="1" lang="en-US" altLang="zh-CN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4.3.3  </a:t>
            </a:r>
            <a:r>
              <a:rPr kumimoji="1"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循环嵌套 </a:t>
            </a:r>
          </a:p>
        </p:txBody>
      </p:sp>
      <p:sp>
        <p:nvSpPr>
          <p:cNvPr id="27651" name="Rectangle 3"/>
          <p:cNvSpPr>
            <a:spLocks noChangeArrowheads="1"/>
          </p:cNvSpPr>
          <p:nvPr/>
        </p:nvSpPr>
        <p:spPr bwMode="auto">
          <a:xfrm>
            <a:off x="196497" y="1052736"/>
            <a:ext cx="8763000" cy="26642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609600" indent="-609600" eaLnBrk="1" hangingPunct="1">
              <a:lnSpc>
                <a:spcPct val="105000"/>
              </a:lnSpc>
              <a:spcBef>
                <a:spcPct val="1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3600" b="1" dirty="0">
                <a:solidFill>
                  <a:srgbClr val="0000CC"/>
                </a:solidFill>
                <a:ea typeface="楷体_GB2312" pitchFamily="49" charset="-122"/>
              </a:rPr>
              <a:t> </a:t>
            </a:r>
            <a:r>
              <a:rPr lang="zh-CN" altLang="en-US" sz="3600" b="1" dirty="0">
                <a:solidFill>
                  <a:srgbClr val="0000CC"/>
                </a:solidFill>
                <a:ea typeface="楷体_GB2312" pitchFamily="49" charset="-122"/>
              </a:rPr>
              <a:t>注意：</a:t>
            </a:r>
          </a:p>
          <a:p>
            <a:pPr marL="457200" indent="-457200" eaLnBrk="1" hangingPunct="1">
              <a:lnSpc>
                <a:spcPct val="110000"/>
              </a:lnSpc>
              <a:spcBef>
                <a:spcPct val="10000"/>
              </a:spcBef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while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for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循环语句可以并列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也可以相互嵌套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但要</a:t>
            </a:r>
            <a:r>
              <a:rPr lang="zh-CN" altLang="en-US" sz="2800" dirty="0">
                <a:solidFill>
                  <a:srgbClr val="FF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层次清楚</a:t>
            </a:r>
            <a:r>
              <a:rPr lang="en-US" altLang="zh-CN" sz="2800" dirty="0">
                <a:solidFill>
                  <a:srgbClr val="FF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2800" dirty="0">
                <a:solidFill>
                  <a:srgbClr val="FF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不能出现交叉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eaLnBrk="1" hangingPunct="1">
              <a:lnSpc>
                <a:spcPct val="110000"/>
              </a:lnSpc>
              <a:spcBef>
                <a:spcPct val="10000"/>
              </a:spcBef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多重循环程序执行时，外层循环每执行一次，内层循环都需要循环执行多次。</a:t>
            </a:r>
          </a:p>
          <a:p>
            <a:pPr marL="609600" indent="-609600" eaLnBrk="1" hangingPunct="1">
              <a:lnSpc>
                <a:spcPct val="105000"/>
              </a:lnSpc>
              <a:spcBef>
                <a:spcPct val="10000"/>
              </a:spcBef>
              <a:buClr>
                <a:srgbClr val="FF0066"/>
              </a:buClr>
              <a:buSzPct val="75000"/>
              <a:buFont typeface="Wingdings" panose="05000000000000000000" pitchFamily="2" charset="2"/>
              <a:buChar char="v"/>
            </a:pPr>
            <a:endParaRPr lang="en-US" altLang="zh-CN" b="1" dirty="0">
              <a:solidFill>
                <a:srgbClr val="0000FF"/>
              </a:solidFill>
              <a:ea typeface="楷体_GB2312" pitchFamily="49" charset="-122"/>
            </a:endParaRPr>
          </a:p>
        </p:txBody>
      </p:sp>
      <p:sp>
        <p:nvSpPr>
          <p:cNvPr id="993288" name="Text Box 8"/>
          <p:cNvSpPr txBox="1">
            <a:spLocks noChangeArrowheads="1"/>
          </p:cNvSpPr>
          <p:nvPr/>
        </p:nvSpPr>
        <p:spPr bwMode="auto">
          <a:xfrm>
            <a:off x="4914900" y="3900636"/>
            <a:ext cx="4076700" cy="2552700"/>
          </a:xfrm>
          <a:prstGeom prst="rect">
            <a:avLst/>
          </a:prstGeom>
          <a:solidFill>
            <a:srgbClr val="FFFFE7"/>
          </a:solidFill>
          <a:ln w="38100">
            <a:solidFill>
              <a:srgbClr val="CC0000"/>
            </a:solidFill>
            <a:miter lim="800000"/>
          </a:ln>
        </p:spPr>
        <p:txBody>
          <a:bodyPr>
            <a:spAutoFit/>
          </a:bodyPr>
          <a:lstStyle>
            <a:lvl1pPr marL="342900" indent="-3429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AutoNum type="arabicPeriod"/>
            </a:pPr>
            <a:r>
              <a:rPr lang="en-US" altLang="zh-CN" b="1">
                <a:solidFill>
                  <a:srgbClr val="0000CC"/>
                </a:solidFill>
                <a:ea typeface="楷体_GB2312" pitchFamily="49" charset="-122"/>
              </a:rPr>
              <a:t> </a:t>
            </a:r>
            <a:r>
              <a:rPr lang="zh-CN" altLang="en-US" b="1">
                <a:solidFill>
                  <a:srgbClr val="0000CC"/>
                </a:solidFill>
                <a:ea typeface="楷体_GB2312" pitchFamily="49" charset="-122"/>
              </a:rPr>
              <a:t>外循环</a:t>
            </a:r>
            <a:r>
              <a:rPr lang="zh-CN" altLang="en-US" b="1">
                <a:solidFill>
                  <a:srgbClr val="000000"/>
                </a:solidFill>
                <a:ea typeface="楷体_GB2312" pitchFamily="49" charset="-122"/>
              </a:rPr>
              <a:t>执行了</a:t>
            </a:r>
            <a:r>
              <a:rPr lang="en-US" altLang="zh-CN" b="1">
                <a:solidFill>
                  <a:srgbClr val="000000"/>
                </a:solidFill>
                <a:ea typeface="楷体_GB2312" pitchFamily="49" charset="-122"/>
              </a:rPr>
              <a:t>6</a:t>
            </a:r>
            <a:r>
              <a:rPr lang="zh-CN" altLang="en-US" b="1">
                <a:solidFill>
                  <a:srgbClr val="000000"/>
                </a:solidFill>
                <a:ea typeface="楷体_GB2312" pitchFamily="49" charset="-122"/>
              </a:rPr>
              <a:t>次</a:t>
            </a:r>
          </a:p>
          <a:p>
            <a:pPr eaLnBrk="1" hangingPunct="1">
              <a:buFont typeface="Arial" panose="020B0604020202020204" pitchFamily="34" charset="0"/>
              <a:buAutoNum type="arabicPeriod"/>
            </a:pPr>
            <a:r>
              <a:rPr lang="zh-CN" altLang="en-US" b="1">
                <a:solidFill>
                  <a:srgbClr val="0000CC"/>
                </a:solidFill>
                <a:ea typeface="楷体_GB2312" pitchFamily="49" charset="-122"/>
              </a:rPr>
              <a:t> 内循环</a:t>
            </a:r>
            <a:r>
              <a:rPr lang="zh-CN" altLang="en-US" b="1">
                <a:solidFill>
                  <a:srgbClr val="000000"/>
                </a:solidFill>
                <a:ea typeface="楷体_GB2312" pitchFamily="49" charset="-122"/>
              </a:rPr>
              <a:t>执行</a:t>
            </a:r>
            <a:r>
              <a:rPr lang="en-US" altLang="zh-CN" b="1">
                <a:solidFill>
                  <a:srgbClr val="000000"/>
                </a:solidFill>
                <a:ea typeface="楷体_GB2312" pitchFamily="49" charset="-122"/>
              </a:rPr>
              <a:t>10</a:t>
            </a:r>
            <a:r>
              <a:rPr lang="zh-CN" altLang="en-US" b="1">
                <a:solidFill>
                  <a:srgbClr val="000000"/>
                </a:solidFill>
                <a:ea typeface="楷体_GB2312" pitchFamily="49" charset="-122"/>
              </a:rPr>
              <a:t>次</a:t>
            </a:r>
          </a:p>
          <a:p>
            <a:pPr eaLnBrk="1" hangingPunct="1">
              <a:buFont typeface="Arial" panose="020B0604020202020204" pitchFamily="34" charset="0"/>
              <a:buAutoNum type="arabicPeriod"/>
            </a:pPr>
            <a:r>
              <a:rPr lang="zh-CN" altLang="en-US" b="1">
                <a:solidFill>
                  <a:srgbClr val="0000CC"/>
                </a:solidFill>
                <a:ea typeface="楷体_GB2312" pitchFamily="49" charset="-122"/>
              </a:rPr>
              <a:t> 循环正常结束时</a:t>
            </a:r>
            <a:r>
              <a:rPr lang="zh-CN" altLang="en-US" b="1">
                <a:solidFill>
                  <a:srgbClr val="000000"/>
                </a:solidFill>
                <a:ea typeface="楷体_GB2312" pitchFamily="49" charset="-122"/>
              </a:rPr>
              <a:t>，   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b="1">
                <a:solidFill>
                  <a:srgbClr val="000000"/>
                </a:solidFill>
                <a:ea typeface="楷体_GB2312" pitchFamily="49" charset="-122"/>
              </a:rPr>
              <a:t>      内循环执行了  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b="1">
                <a:solidFill>
                  <a:srgbClr val="FF0000"/>
                </a:solidFill>
                <a:ea typeface="楷体_GB2312" pitchFamily="49" charset="-122"/>
              </a:rPr>
              <a:t>      </a:t>
            </a:r>
            <a:r>
              <a:rPr lang="en-US" altLang="zh-CN" b="1">
                <a:solidFill>
                  <a:srgbClr val="FF0000"/>
                </a:solidFill>
                <a:ea typeface="楷体_GB2312" pitchFamily="49" charset="-122"/>
              </a:rPr>
              <a:t>10×6=60</a:t>
            </a:r>
            <a:r>
              <a:rPr lang="zh-CN" altLang="en-US" b="1">
                <a:solidFill>
                  <a:srgbClr val="000000"/>
                </a:solidFill>
                <a:ea typeface="楷体_GB2312" pitchFamily="49" charset="-122"/>
              </a:rPr>
              <a:t>次</a:t>
            </a:r>
          </a:p>
        </p:txBody>
      </p:sp>
      <p:sp>
        <p:nvSpPr>
          <p:cNvPr id="993289" name="Rectangle 9"/>
          <p:cNvSpPr>
            <a:spLocks noChangeArrowheads="1"/>
          </p:cNvSpPr>
          <p:nvPr/>
        </p:nvSpPr>
        <p:spPr bwMode="auto">
          <a:xfrm>
            <a:off x="228600" y="3900636"/>
            <a:ext cx="4572000" cy="2306638"/>
          </a:xfrm>
          <a:prstGeom prst="rect">
            <a:avLst/>
          </a:prstGeom>
          <a:solidFill>
            <a:srgbClr val="CCECFF"/>
          </a:solidFill>
          <a:ln w="38100">
            <a:solidFill>
              <a:schemeClr val="bg2"/>
            </a:solidFill>
            <a:miter lim="800000"/>
          </a:ln>
        </p:spPr>
        <p:txBody>
          <a:bodyPr>
            <a:spAutoFit/>
          </a:bodyPr>
          <a:lstStyle/>
          <a:p>
            <a:pPr eaLnBrk="1" hangingPunct="1">
              <a:lnSpc>
                <a:spcPct val="12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zh-CN" sz="3000" b="1">
                <a:ea typeface="楷体_GB2312" pitchFamily="49" charset="-122"/>
              </a:rPr>
              <a:t>for i in range (6):</a:t>
            </a:r>
          </a:p>
          <a:p>
            <a:pPr eaLnBrk="1" hangingPunct="1">
              <a:lnSpc>
                <a:spcPct val="12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zh-CN" sz="3000" b="1">
                <a:ea typeface="楷体_GB2312" pitchFamily="49" charset="-122"/>
              </a:rPr>
              <a:t>        for j in range (10):</a:t>
            </a:r>
          </a:p>
          <a:p>
            <a:pPr eaLnBrk="1" hangingPunct="1">
              <a:lnSpc>
                <a:spcPct val="12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zh-CN" sz="3000" b="1">
                <a:ea typeface="楷体_GB2312" pitchFamily="49" charset="-122"/>
              </a:rPr>
              <a:t>                ……  </a:t>
            </a:r>
          </a:p>
          <a:p>
            <a:pPr eaLnBrk="1" hangingPunct="1">
              <a:lnSpc>
                <a:spcPct val="12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zh-CN" sz="3000" b="1">
                <a:ea typeface="楷体_GB2312" pitchFamily="49" charset="-122"/>
              </a:rPr>
              <a:t>   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advTm="6046"/>
    </mc:Choice>
    <mc:Fallback xmlns="">
      <p:transition advTm="6046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282" name="Rectangle 2"/>
          <p:cNvSpPr>
            <a:spLocks noChangeArrowheads="1"/>
          </p:cNvSpPr>
          <p:nvPr/>
        </p:nvSpPr>
        <p:spPr bwMode="auto">
          <a:xfrm>
            <a:off x="1043608" y="294928"/>
            <a:ext cx="8763000" cy="685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ctr"/>
          <a:lstStyle/>
          <a:p>
            <a:pPr eaLnBrk="1" hangingPunct="1">
              <a:defRPr/>
            </a:pPr>
            <a:r>
              <a:rPr kumimoji="1" lang="en-US" altLang="zh-CN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4.3.3  </a:t>
            </a:r>
            <a:r>
              <a:rPr kumimoji="1"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循环嵌套 </a:t>
            </a:r>
          </a:p>
        </p:txBody>
      </p:sp>
      <p:sp>
        <p:nvSpPr>
          <p:cNvPr id="28675" name="文本框 1"/>
          <p:cNvSpPr txBox="1">
            <a:spLocks noChangeArrowheads="1"/>
          </p:cNvSpPr>
          <p:nvPr/>
        </p:nvSpPr>
        <p:spPr bwMode="auto">
          <a:xfrm>
            <a:off x="443607" y="1143000"/>
            <a:ext cx="8448873" cy="105952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  <a:buFont typeface="Arial" panose="020B0604020202020204" pitchFamily="34" charset="0"/>
              <a:buNone/>
            </a:pPr>
            <a:r>
              <a:rPr lang="zh-CN" altLang="en-US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循环语句while和for可以相互嵌套。在使用循环嵌套时，</a:t>
            </a:r>
          </a:p>
          <a:p>
            <a:pPr eaLnBrk="1" hangingPunct="1">
              <a:lnSpc>
                <a:spcPct val="125000"/>
              </a:lnSpc>
              <a:buFont typeface="Arial" panose="020B0604020202020204" pitchFamily="34" charset="0"/>
              <a:buNone/>
            </a:pPr>
            <a:r>
              <a:rPr lang="zh-CN" altLang="en-US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应注意以下几个问题：</a:t>
            </a:r>
          </a:p>
          <a:p>
            <a:pPr marL="457200" indent="-457200" eaLnBrk="1" hangingPunct="1">
              <a:lnSpc>
                <a:spcPct val="125000"/>
              </a:lnSpc>
              <a:buFont typeface="Wingdings" panose="05000000000000000000" pitchFamily="2" charset="2"/>
              <a:buChar char="p"/>
            </a:pPr>
            <a:r>
              <a:rPr lang="zh-CN" altLang="en-US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外层循环和内层循环控制变量不能同名，以免造成混乱。</a:t>
            </a:r>
          </a:p>
          <a:p>
            <a:pPr marL="457200" indent="-457200" eaLnBrk="1" hangingPunct="1">
              <a:lnSpc>
                <a:spcPct val="125000"/>
              </a:lnSpc>
              <a:buFont typeface="Wingdings" panose="05000000000000000000" pitchFamily="2" charset="2"/>
              <a:buChar char="p"/>
            </a:pPr>
            <a:r>
              <a:rPr lang="zh-CN" altLang="en-US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循环嵌套的缩进在逻辑上一定要注意，以保证逻辑上的重要性。</a:t>
            </a:r>
          </a:p>
          <a:p>
            <a:pPr marL="457200" indent="-457200" eaLnBrk="1" hangingPunct="1">
              <a:lnSpc>
                <a:spcPct val="125000"/>
              </a:lnSpc>
              <a:buFont typeface="Wingdings" panose="05000000000000000000" pitchFamily="2" charset="2"/>
              <a:buChar char="p"/>
            </a:pPr>
            <a:r>
              <a:rPr lang="zh-CN" altLang="en-US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循环嵌套不能交叉，即在一个循环体内必须完整地包含另一个循环，如图所示的循环嵌套都是合法的嵌套形式。</a:t>
            </a:r>
          </a:p>
          <a:p>
            <a:pPr eaLnBrk="1" hangingPunct="1">
              <a:lnSpc>
                <a:spcPct val="125000"/>
              </a:lnSpc>
              <a:buFont typeface="Arial" panose="020B0604020202020204" pitchFamily="34" charset="0"/>
              <a:buNone/>
            </a:pPr>
            <a:endParaRPr lang="zh-CN" altLang="en-US" sz="2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25000"/>
              </a:lnSpc>
              <a:buFont typeface="Arial" panose="020B0604020202020204" pitchFamily="34" charset="0"/>
              <a:buNone/>
            </a:pPr>
            <a:endParaRPr lang="zh-CN" altLang="en-US" sz="2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25000"/>
              </a:lnSpc>
              <a:buFont typeface="Arial" panose="020B0604020202020204" pitchFamily="34" charset="0"/>
              <a:buNone/>
            </a:pPr>
            <a:endParaRPr lang="zh-CN" altLang="en-US" sz="2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25000"/>
              </a:lnSpc>
              <a:buFont typeface="Arial" panose="020B0604020202020204" pitchFamily="34" charset="0"/>
              <a:buNone/>
            </a:pPr>
            <a:endParaRPr lang="zh-CN" altLang="en-US" sz="2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25000"/>
              </a:lnSpc>
              <a:buFont typeface="Arial" panose="020B0604020202020204" pitchFamily="34" charset="0"/>
              <a:buNone/>
            </a:pPr>
            <a:endParaRPr lang="zh-CN" altLang="en-US" sz="2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25000"/>
              </a:lnSpc>
              <a:buFont typeface="Arial" panose="020B0604020202020204" pitchFamily="34" charset="0"/>
              <a:buNone/>
            </a:pPr>
            <a:endParaRPr lang="zh-CN" altLang="en-US" sz="2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25000"/>
              </a:lnSpc>
              <a:buFont typeface="Arial" panose="020B0604020202020204" pitchFamily="34" charset="0"/>
              <a:buNone/>
            </a:pPr>
            <a:endParaRPr lang="zh-CN" altLang="en-US" sz="2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25000"/>
              </a:lnSpc>
              <a:buFont typeface="Arial" panose="020B0604020202020204" pitchFamily="34" charset="0"/>
              <a:buNone/>
            </a:pPr>
            <a:endParaRPr lang="zh-CN" altLang="en-US" sz="2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25000"/>
              </a:lnSpc>
              <a:buFont typeface="Arial" panose="020B0604020202020204" pitchFamily="34" charset="0"/>
              <a:buNone/>
            </a:pPr>
            <a:endParaRPr lang="zh-CN" altLang="en-US" sz="2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25000"/>
              </a:lnSpc>
              <a:buFont typeface="Arial" panose="020B0604020202020204" pitchFamily="34" charset="0"/>
              <a:buNone/>
            </a:pPr>
            <a:endParaRPr lang="zh-CN" altLang="en-US" sz="2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25000"/>
              </a:lnSpc>
              <a:buFont typeface="Arial" panose="020B0604020202020204" pitchFamily="34" charset="0"/>
              <a:buNone/>
            </a:pPr>
            <a:endParaRPr lang="zh-CN" altLang="en-US" sz="2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25000"/>
              </a:lnSpc>
              <a:buFont typeface="Arial" panose="020B0604020202020204" pitchFamily="34" charset="0"/>
              <a:buNone/>
            </a:pPr>
            <a:endParaRPr lang="zh-CN" altLang="en-US" sz="2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advTm="6046"/>
    </mc:Choice>
    <mc:Fallback xmlns="">
      <p:transition advTm="6046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282" name="Rectangle 2"/>
          <p:cNvSpPr>
            <a:spLocks noChangeArrowheads="1"/>
          </p:cNvSpPr>
          <p:nvPr/>
        </p:nvSpPr>
        <p:spPr bwMode="auto">
          <a:xfrm>
            <a:off x="1043608" y="294928"/>
            <a:ext cx="8763000" cy="685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ctr"/>
          <a:lstStyle/>
          <a:p>
            <a:pPr eaLnBrk="1" hangingPunct="1">
              <a:defRPr/>
            </a:pPr>
            <a:r>
              <a:rPr kumimoji="1" lang="en-US" altLang="zh-CN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4.3.3  </a:t>
            </a:r>
            <a:r>
              <a:rPr kumimoji="1"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循环嵌套 </a:t>
            </a:r>
          </a:p>
        </p:txBody>
      </p:sp>
      <p:pic>
        <p:nvPicPr>
          <p:cNvPr id="430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621" y="2132856"/>
            <a:ext cx="8172450" cy="3419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文本框 1"/>
          <p:cNvSpPr txBox="1">
            <a:spLocks noChangeArrowheads="1"/>
          </p:cNvSpPr>
          <p:nvPr/>
        </p:nvSpPr>
        <p:spPr bwMode="auto">
          <a:xfrm>
            <a:off x="443607" y="1143000"/>
            <a:ext cx="8448873" cy="10468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  <a:buFont typeface="Arial" panose="020B0604020202020204" pitchFamily="34" charset="0"/>
              <a:buNone/>
            </a:pPr>
            <a:r>
              <a:rPr lang="zh-CN" altLang="en-US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合法的嵌套格式：</a:t>
            </a:r>
            <a:endParaRPr lang="en-US" altLang="zh-CN" sz="2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25000"/>
              </a:lnSpc>
              <a:buFont typeface="Arial" panose="020B0604020202020204" pitchFamily="34" charset="0"/>
              <a:buNone/>
            </a:pPr>
            <a:endParaRPr lang="zh-CN" altLang="en-US" sz="2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advTm="6046"/>
    </mc:Choice>
    <mc:Fallback xmlns="">
      <p:transition advTm="6046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114" name="Rectangle 2"/>
          <p:cNvSpPr>
            <a:spLocks noChangeArrowheads="1"/>
          </p:cNvSpPr>
          <p:nvPr/>
        </p:nvSpPr>
        <p:spPr bwMode="auto">
          <a:xfrm>
            <a:off x="370087" y="1412776"/>
            <a:ext cx="8522393" cy="423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 eaLnBrk="1" hangingPunct="1">
              <a:lnSpc>
                <a:spcPct val="135000"/>
              </a:lnSpc>
              <a:spcBef>
                <a:spcPct val="3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循环嵌套在使用中的</a:t>
            </a:r>
            <a:r>
              <a:rPr lang="zh-CN" altLang="en-US" sz="2800" dirty="0">
                <a:solidFill>
                  <a:srgbClr val="FF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重点内容：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 eaLnBrk="1" hangingPunct="1">
              <a:lnSpc>
                <a:spcPct val="135000"/>
              </a:lnSpc>
              <a:spcBef>
                <a:spcPct val="3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能够正确判断内层循环体的范围</a:t>
            </a:r>
          </a:p>
          <a:p>
            <a:pPr marL="742950" lvl="1" indent="-285750" eaLnBrk="1" hangingPunct="1">
              <a:lnSpc>
                <a:spcPct val="135000"/>
              </a:lnSpc>
              <a:spcBef>
                <a:spcPct val="3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能够正确判断内层循环体的执行次数</a:t>
            </a:r>
          </a:p>
          <a:p>
            <a:pPr marL="742950" lvl="1" indent="-285750" eaLnBrk="1" hangingPunct="1">
              <a:lnSpc>
                <a:spcPct val="135000"/>
              </a:lnSpc>
              <a:spcBef>
                <a:spcPct val="3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注意内层循环的初值设定</a:t>
            </a:r>
          </a:p>
          <a:p>
            <a:pPr marL="742950" lvl="1" indent="-285750" eaLnBrk="1" hangingPunct="1">
              <a:lnSpc>
                <a:spcPct val="135000"/>
              </a:lnSpc>
              <a:spcBef>
                <a:spcPct val="3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能正确处理内层循环与外层循环变量的关系</a:t>
            </a:r>
          </a:p>
          <a:p>
            <a:pPr marL="742950" lvl="1" indent="-285750" eaLnBrk="1" hangingPunct="1">
              <a:lnSpc>
                <a:spcPct val="135000"/>
              </a:lnSpc>
              <a:spcBef>
                <a:spcPct val="3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endParaRPr lang="en-US" altLang="zh-CN" sz="2800" dirty="0">
              <a:solidFill>
                <a:srgbClr val="3366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58115" name="Rectangle 3"/>
          <p:cNvSpPr>
            <a:spLocks noChangeArrowheads="1"/>
          </p:cNvSpPr>
          <p:nvPr/>
        </p:nvSpPr>
        <p:spPr bwMode="auto">
          <a:xfrm>
            <a:off x="1115616" y="258763"/>
            <a:ext cx="8763000" cy="685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ctr"/>
          <a:lstStyle/>
          <a:p>
            <a:pPr eaLnBrk="1" hangingPunct="1">
              <a:defRPr/>
            </a:pPr>
            <a:r>
              <a:rPr kumimoji="1" lang="en-US" altLang="zh-CN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4.3.3  </a:t>
            </a:r>
            <a:r>
              <a:rPr kumimoji="1"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循环嵌套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advTm="6046"/>
    </mc:Choice>
    <mc:Fallback xmlns="">
      <p:transition advTm="6046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6707" name="Text Box 3"/>
          <p:cNvSpPr txBox="1">
            <a:spLocks noChangeArrowheads="1"/>
          </p:cNvSpPr>
          <p:nvPr/>
        </p:nvSpPr>
        <p:spPr bwMode="auto">
          <a:xfrm>
            <a:off x="971600" y="373899"/>
            <a:ext cx="9012238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4-8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：输出九九表，输出格式如下：</a:t>
            </a:r>
          </a:p>
        </p:txBody>
      </p:sp>
      <p:graphicFrame>
        <p:nvGraphicFramePr>
          <p:cNvPr id="1097232" name="Group 528"/>
          <p:cNvGraphicFramePr>
            <a:graphicFrameLocks noGrp="1"/>
          </p:cNvGraphicFramePr>
          <p:nvPr/>
        </p:nvGraphicFramePr>
        <p:xfrm>
          <a:off x="152400" y="1466850"/>
          <a:ext cx="8901113" cy="4743450"/>
        </p:xfrm>
        <a:graphic>
          <a:graphicData uri="http://schemas.openxmlformats.org/drawingml/2006/table">
            <a:tbl>
              <a:tblPr/>
              <a:tblGrid>
                <a:gridCol w="9890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90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90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890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890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890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8901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8901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8901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270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1*1=1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rgbClr val="000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rgbClr val="000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1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rgbClr val="000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1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rgbClr val="000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1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rgbClr val="000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1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rgbClr val="000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1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rgbClr val="000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1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rgbClr val="000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1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rgbClr val="000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1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 w="38100" cap="flat" cmpd="sng" algn="ctr">
                      <a:solidFill>
                        <a:srgbClr val="000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70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1*2=2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rgbClr val="000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2*2=4 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1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1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1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1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1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1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1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 w="38100" cap="flat" cmpd="sng" algn="ctr">
                      <a:solidFill>
                        <a:srgbClr val="000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70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1*3=3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rgbClr val="000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2*3=6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3*3=9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1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1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1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1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1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1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 w="38100" cap="flat" cmpd="sng" algn="ctr">
                      <a:solidFill>
                        <a:srgbClr val="000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70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1*4=4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rgbClr val="000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2*4=8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3*4=12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4*4=16 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1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1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1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1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1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 w="38100" cap="flat" cmpd="sng" algn="ctr">
                      <a:solidFill>
                        <a:srgbClr val="000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70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1*5=5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rgbClr val="000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2*5=10 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3*5=15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4*5=20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5*5=25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1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1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1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1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 w="38100" cap="flat" cmpd="sng" algn="ctr">
                      <a:solidFill>
                        <a:srgbClr val="000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70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1*6=6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rgbClr val="000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2*6=12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3*6=18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4*6=24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5*6=30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6*6=36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1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1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1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 w="38100" cap="flat" cmpd="sng" algn="ctr">
                      <a:solidFill>
                        <a:srgbClr val="000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70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1*7=7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rgbClr val="000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2*7=14 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3*7=21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4*7=28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5*7=35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6*7=42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7*7=49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1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1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 w="38100" cap="flat" cmpd="sng" algn="ctr">
                      <a:solidFill>
                        <a:srgbClr val="000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70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1*8=8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rgbClr val="000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2*8=16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3*8=24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4*8=32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5*8=40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6*8=48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7*8=56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8*8=64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1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 w="38100" cap="flat" cmpd="sng" algn="ctr">
                      <a:solidFill>
                        <a:srgbClr val="000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270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1*9=9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rgbClr val="000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38100" cap="flat" cmpd="sng" algn="ctr">
                      <a:solidFill>
                        <a:srgbClr val="000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2*9=18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8100" cap="flat" cmpd="sng" algn="ctr">
                      <a:solidFill>
                        <a:srgbClr val="000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3*9=27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8100" cap="flat" cmpd="sng" algn="ctr">
                      <a:solidFill>
                        <a:srgbClr val="000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4*9=36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8100" cap="flat" cmpd="sng" algn="ctr">
                      <a:solidFill>
                        <a:srgbClr val="000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5*9=45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8100" cap="flat" cmpd="sng" algn="ctr">
                      <a:solidFill>
                        <a:srgbClr val="000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6*9=54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8100" cap="flat" cmpd="sng" algn="ctr">
                      <a:solidFill>
                        <a:srgbClr val="000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7*9=63 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8100" cap="flat" cmpd="sng" algn="ctr">
                      <a:solidFill>
                        <a:srgbClr val="000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8*9=72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8100" cap="flat" cmpd="sng" algn="ctr">
                      <a:solidFill>
                        <a:srgbClr val="000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9*9=81</a:t>
                      </a:r>
                    </a:p>
                  </a:txBody>
                  <a:tcPr anchor="ctr" horzOverflow="overflow">
                    <a:lnL>
                      <a:noFill/>
                    </a:lnL>
                    <a:lnR w="38100" cap="flat" cmpd="sng" algn="ctr">
                      <a:solidFill>
                        <a:srgbClr val="000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8100" cap="flat" cmpd="sng" algn="ctr">
                      <a:solidFill>
                        <a:srgbClr val="000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4033" name="内容占位符 1"/>
          <p:cNvSpPr>
            <a:spLocks noGrp="1" noChangeArrowheads="1"/>
          </p:cNvSpPr>
          <p:nvPr/>
        </p:nvSpPr>
        <p:spPr bwMode="auto">
          <a:xfrm>
            <a:off x="98425" y="3733800"/>
            <a:ext cx="8267700" cy="2724150"/>
          </a:xfrm>
          <a:prstGeom prst="rect">
            <a:avLst/>
          </a:prstGeom>
          <a:solidFill>
            <a:srgbClr val="B2B2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120000"/>
              </a:lnSpc>
              <a:spcBef>
                <a:spcPct val="3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2800" b="1">
                <a:ea typeface="楷体_GB2312" pitchFamily="49" charset="-122"/>
              </a:rPr>
              <a:t>for i in range (1,10,1):</a:t>
            </a:r>
          </a:p>
          <a:p>
            <a:pPr eaLnBrk="1" hangingPunct="1">
              <a:lnSpc>
                <a:spcPct val="120000"/>
              </a:lnSpc>
              <a:spcBef>
                <a:spcPct val="3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2800" b="1">
                <a:ea typeface="楷体_GB2312" pitchFamily="49" charset="-122"/>
              </a:rPr>
              <a:t>	for j in range(1,i+1,1)</a:t>
            </a:r>
            <a:r>
              <a:rPr lang="zh-CN" altLang="en-US" sz="2800" b="1">
                <a:ea typeface="楷体_GB2312" pitchFamily="49" charset="-122"/>
              </a:rPr>
              <a:t>：</a:t>
            </a:r>
          </a:p>
          <a:p>
            <a:pPr eaLnBrk="1" hangingPunct="1">
              <a:lnSpc>
                <a:spcPct val="120000"/>
              </a:lnSpc>
              <a:spcBef>
                <a:spcPct val="3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2800" b="1">
                <a:ea typeface="楷体_GB2312" pitchFamily="49" charset="-122"/>
              </a:rPr>
              <a:t>	    print(“%d*%d=%2d  ”%(j,i,i*j),end=” ”)</a:t>
            </a:r>
          </a:p>
          <a:p>
            <a:pPr eaLnBrk="1" hangingPunct="1">
              <a:lnSpc>
                <a:spcPct val="120000"/>
              </a:lnSpc>
              <a:spcBef>
                <a:spcPct val="3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2800" b="1">
                <a:ea typeface="楷体_GB2312" pitchFamily="49" charset="-122"/>
              </a:rPr>
              <a:t>	print(“”)</a:t>
            </a:r>
          </a:p>
          <a:p>
            <a:pPr eaLnBrk="1" hangingPunct="1">
              <a:lnSpc>
                <a:spcPct val="120000"/>
              </a:lnSpc>
              <a:spcBef>
                <a:spcPct val="3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endParaRPr lang="en-US" altLang="zh-CN" sz="2800" b="1">
              <a:ea typeface="楷体_GB2312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advTm="6046"/>
    </mc:Choice>
    <mc:Fallback xmlns="">
      <p:transition advTm="6046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6707" name="Text Box 3"/>
          <p:cNvSpPr txBox="1">
            <a:spLocks noChangeArrowheads="1"/>
          </p:cNvSpPr>
          <p:nvPr/>
        </p:nvSpPr>
        <p:spPr bwMode="auto">
          <a:xfrm>
            <a:off x="195262" y="1231599"/>
            <a:ext cx="9012237" cy="1660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3400" b="1" dirty="0">
                <a:solidFill>
                  <a:srgbClr val="FF0000"/>
                </a:solidFill>
                <a:ea typeface="楷体_GB2312" pitchFamily="49" charset="-122"/>
              </a:rPr>
              <a:t>例</a:t>
            </a:r>
            <a:r>
              <a:rPr lang="en-US" altLang="zh-CN" sz="3400" b="1" dirty="0">
                <a:solidFill>
                  <a:srgbClr val="FF0000"/>
                </a:solidFill>
                <a:ea typeface="楷体_GB2312" pitchFamily="49" charset="-122"/>
              </a:rPr>
              <a:t>4-9</a:t>
            </a:r>
            <a:r>
              <a:rPr lang="zh-CN" altLang="en-US" sz="3400" b="1" dirty="0">
                <a:solidFill>
                  <a:srgbClr val="FF0000"/>
                </a:solidFill>
                <a:ea typeface="楷体_GB2312" pitchFamily="49" charset="-122"/>
              </a:rPr>
              <a:t>：</a:t>
            </a:r>
            <a:r>
              <a:rPr lang="zh-CN" altLang="en-US" sz="3400" b="1" dirty="0">
                <a:solidFill>
                  <a:srgbClr val="0000CC"/>
                </a:solidFill>
                <a:ea typeface="楷体_GB2312" pitchFamily="49" charset="-122"/>
              </a:rPr>
              <a:t>找出所有的三位数，要求它的各位数字的立方和正好等于这个三位数。例如：15</a:t>
            </a:r>
            <a:r>
              <a:rPr lang="en-US" altLang="zh-CN" sz="3400" b="1" dirty="0">
                <a:solidFill>
                  <a:srgbClr val="0000CC"/>
                </a:solidFill>
                <a:ea typeface="楷体_GB2312" pitchFamily="49" charset="-122"/>
              </a:rPr>
              <a:t>3</a:t>
            </a:r>
            <a:r>
              <a:rPr lang="zh-CN" altLang="en-US" sz="3400" b="1" dirty="0">
                <a:solidFill>
                  <a:srgbClr val="0000CC"/>
                </a:solidFill>
                <a:ea typeface="楷体_GB2312" pitchFamily="49" charset="-122"/>
              </a:rPr>
              <a:t>=1</a:t>
            </a:r>
            <a:r>
              <a:rPr lang="zh-CN" altLang="en-US" sz="3400" b="1" baseline="30000" dirty="0">
                <a:solidFill>
                  <a:srgbClr val="0000CC"/>
                </a:solidFill>
                <a:ea typeface="楷体_GB2312" pitchFamily="49" charset="-122"/>
              </a:rPr>
              <a:t>3</a:t>
            </a:r>
            <a:r>
              <a:rPr lang="zh-CN" altLang="en-US" sz="3400" b="1" dirty="0">
                <a:solidFill>
                  <a:srgbClr val="0000CC"/>
                </a:solidFill>
                <a:ea typeface="楷体_GB2312" pitchFamily="49" charset="-122"/>
              </a:rPr>
              <a:t>+5</a:t>
            </a:r>
            <a:r>
              <a:rPr lang="zh-CN" altLang="en-US" sz="3400" b="1" baseline="30000" dirty="0">
                <a:solidFill>
                  <a:srgbClr val="0000CC"/>
                </a:solidFill>
                <a:ea typeface="楷体_GB2312" pitchFamily="49" charset="-122"/>
              </a:rPr>
              <a:t>3</a:t>
            </a:r>
            <a:r>
              <a:rPr lang="zh-CN" altLang="en-US" sz="3400" b="1" dirty="0">
                <a:solidFill>
                  <a:srgbClr val="0000CC"/>
                </a:solidFill>
                <a:ea typeface="楷体_GB2312" pitchFamily="49" charset="-122"/>
              </a:rPr>
              <a:t>+3</a:t>
            </a:r>
            <a:r>
              <a:rPr lang="zh-CN" altLang="en-US" sz="3400" b="1" baseline="30000" dirty="0">
                <a:solidFill>
                  <a:srgbClr val="0000CC"/>
                </a:solidFill>
                <a:ea typeface="楷体_GB2312" pitchFamily="49" charset="-122"/>
              </a:rPr>
              <a:t>3</a:t>
            </a:r>
            <a:r>
              <a:rPr lang="zh-CN" altLang="en-US" sz="3400" b="1" dirty="0">
                <a:solidFill>
                  <a:srgbClr val="0000CC"/>
                </a:solidFill>
                <a:ea typeface="楷体_GB2312" pitchFamily="49" charset="-122"/>
              </a:rPr>
              <a:t>就是这样的数。</a:t>
            </a:r>
          </a:p>
        </p:txBody>
      </p:sp>
      <p:sp>
        <p:nvSpPr>
          <p:cNvPr id="31747" name="文本框 2"/>
          <p:cNvSpPr txBox="1">
            <a:spLocks noChangeArrowheads="1"/>
          </p:cNvSpPr>
          <p:nvPr/>
        </p:nvSpPr>
        <p:spPr bwMode="auto">
          <a:xfrm>
            <a:off x="412750" y="2916262"/>
            <a:ext cx="8577263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dirty="0"/>
              <a:t>for i in range(1,10):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dirty="0"/>
              <a:t>    for j in range(0,10):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dirty="0"/>
              <a:t>          for k in range(0,10):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dirty="0"/>
              <a:t>               if i**3+j**3+k**3==i*100+j*10+k: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dirty="0"/>
              <a:t>                         print("%d%d%d"%(i,j,k))</a:t>
            </a:r>
          </a:p>
        </p:txBody>
      </p:sp>
      <p:sp>
        <p:nvSpPr>
          <p:cNvPr id="4" name="文本框 3"/>
          <p:cNvSpPr txBox="1">
            <a:spLocks noChangeArrowheads="1"/>
          </p:cNvSpPr>
          <p:nvPr/>
        </p:nvSpPr>
        <p:spPr bwMode="auto">
          <a:xfrm>
            <a:off x="5735638" y="2924944"/>
            <a:ext cx="3027362" cy="2554287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dirty="0"/>
              <a:t>程序运行结果：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dirty="0"/>
              <a:t>153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dirty="0"/>
              <a:t>370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dirty="0"/>
              <a:t>371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dirty="0"/>
              <a:t>407</a:t>
            </a:r>
          </a:p>
        </p:txBody>
      </p:sp>
      <p:sp>
        <p:nvSpPr>
          <p:cNvPr id="2" name="矩形 1"/>
          <p:cNvSpPr/>
          <p:nvPr/>
        </p:nvSpPr>
        <p:spPr>
          <a:xfrm>
            <a:off x="1187624" y="260648"/>
            <a:ext cx="311174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kumimoji="1" lang="en-US" altLang="zh-CN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4.3.3  </a:t>
            </a:r>
            <a:r>
              <a:rPr kumimoji="1"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循环嵌套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advTm="6046"/>
    </mc:Choice>
    <mc:Fallback xmlns="">
      <p:transition advTm="6046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内容占位符 1"/>
          <p:cNvSpPr>
            <a:spLocks noGrp="1" noChangeArrowheads="1"/>
          </p:cNvSpPr>
          <p:nvPr>
            <p:ph/>
          </p:nvPr>
        </p:nvSpPr>
        <p:spPr>
          <a:xfrm>
            <a:off x="467544" y="1124744"/>
            <a:ext cx="7696200" cy="1188368"/>
          </a:xfrm>
        </p:spPr>
        <p:txBody>
          <a:bodyPr/>
          <a:lstStyle/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zh-CN" altLang="en-US" dirty="0"/>
              <a:t>例</a:t>
            </a:r>
            <a:r>
              <a:rPr lang="en-US" altLang="zh-CN" dirty="0"/>
              <a:t>4-10</a:t>
            </a:r>
            <a:r>
              <a:rPr lang="zh-CN" altLang="en-US" dirty="0"/>
              <a:t>：求100~200之间的全部素数。</a:t>
            </a:r>
          </a:p>
        </p:txBody>
      </p:sp>
      <p:sp>
        <p:nvSpPr>
          <p:cNvPr id="4" name="Rectangle 9"/>
          <p:cNvSpPr>
            <a:spLocks noChangeArrowheads="1"/>
          </p:cNvSpPr>
          <p:nvPr/>
        </p:nvSpPr>
        <p:spPr bwMode="auto">
          <a:xfrm>
            <a:off x="611560" y="1817305"/>
            <a:ext cx="6705600" cy="4000500"/>
          </a:xfrm>
          <a:prstGeom prst="rect">
            <a:avLst/>
          </a:prstGeom>
          <a:solidFill>
            <a:srgbClr val="CCECFF"/>
          </a:solidFill>
          <a:ln w="38100">
            <a:solidFill>
              <a:schemeClr val="bg2"/>
            </a:solidFill>
            <a:miter lim="800000"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2800" dirty="0"/>
              <a:t>print("100~200之间的素数有：")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2800" dirty="0"/>
              <a:t>for m in range(100,200):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2800" dirty="0"/>
              <a:t>      </a:t>
            </a:r>
            <a:r>
              <a:rPr lang="zh-CN" altLang="en-US" sz="2800" dirty="0">
                <a:solidFill>
                  <a:srgbClr val="FF0000"/>
                </a:solidFill>
              </a:rPr>
              <a:t>flag=1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2800" dirty="0"/>
              <a:t>      for i in range(2,m):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2800" dirty="0"/>
              <a:t>         if  m%i==0: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dirty="0"/>
              <a:t>             flag=0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dirty="0"/>
              <a:t>	    </a:t>
            </a:r>
            <a:r>
              <a:rPr lang="en-US" altLang="zh-CN" sz="2800" dirty="0" err="1"/>
              <a:t>i</a:t>
            </a:r>
            <a:r>
              <a:rPr lang="en-US" altLang="zh-CN" sz="2800" dirty="0"/>
              <a:t>=m</a:t>
            </a:r>
            <a:endParaRPr lang="zh-CN" altLang="en-US" sz="2800" dirty="0"/>
          </a:p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2800" dirty="0"/>
              <a:t>      if flag==1: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2800" dirty="0"/>
              <a:t>              print(m,end=" ")</a:t>
            </a:r>
            <a:r>
              <a:rPr lang="en-US" altLang="zh-CN" sz="3000" b="1" dirty="0">
                <a:ea typeface="楷体_GB2312" pitchFamily="49" charset="-122"/>
              </a:rPr>
              <a:t>    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rtl="0" eaLnBrk="1" fontAlgn="base" hangingPunct="1"/>
            <a:r>
              <a:rPr kumimoji="1" lang="en-US" altLang="zh-CN" sz="3200" kern="1200" dirty="0">
                <a:solidFill>
                  <a:srgbClr val="FFFF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4.3.3  </a:t>
            </a:r>
            <a:r>
              <a:rPr kumimoji="1" lang="zh-CN" altLang="zh-CN" sz="3200" kern="1200" dirty="0">
                <a:solidFill>
                  <a:srgbClr val="FFFF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循环嵌套 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advTm="6046"/>
    </mc:Choice>
    <mc:Fallback xmlns="">
      <p:transition advTm="6046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331" name="Rectangle 3"/>
          <p:cNvSpPr>
            <a:spLocks noChangeArrowheads="1"/>
          </p:cNvSpPr>
          <p:nvPr/>
        </p:nvSpPr>
        <p:spPr bwMode="auto">
          <a:xfrm>
            <a:off x="1043608" y="304800"/>
            <a:ext cx="8763000" cy="685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ctr"/>
          <a:lstStyle/>
          <a:p>
            <a:pPr eaLnBrk="1" hangingPunct="1">
              <a:defRPr/>
            </a:pPr>
            <a:r>
              <a:rPr kumimoji="1" lang="en-US" altLang="zh-CN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4.3.4   </a:t>
            </a:r>
            <a:r>
              <a:rPr kumimoji="1"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循环控制语句 </a:t>
            </a:r>
          </a:p>
        </p:txBody>
      </p:sp>
      <p:sp>
        <p:nvSpPr>
          <p:cNvPr id="33795" name="文本框 1"/>
          <p:cNvSpPr txBox="1">
            <a:spLocks noChangeArrowheads="1"/>
          </p:cNvSpPr>
          <p:nvPr/>
        </p:nvSpPr>
        <p:spPr bwMode="auto">
          <a:xfrm>
            <a:off x="467544" y="1412776"/>
            <a:ext cx="8219256" cy="31700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indent="457200" eaLnBrk="1" hangingPunct="1">
              <a:lnSpc>
                <a:spcPct val="125000"/>
              </a:lnSpc>
              <a:buFont typeface="Arial" panose="020B0604020202020204" pitchFamily="34" charset="0"/>
              <a:buNone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有时候我们需要在循环体中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提前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跳出循环，或者在某种条件满足时，不执行循环体中的某些语句而立即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从头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开始新的一轮循环，这时就要用到循环控制语句</a:t>
            </a:r>
            <a:r>
              <a:rPr lang="zh-CN" altLang="en-US" b="1" dirty="0">
                <a:solidFill>
                  <a:srgbClr val="3333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break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b="1" dirty="0">
                <a:solidFill>
                  <a:srgbClr val="3333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continue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b="1" dirty="0">
                <a:solidFill>
                  <a:srgbClr val="3333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pass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语句。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advTm="6046"/>
    </mc:Choice>
    <mc:Fallback xmlns="">
      <p:transition advTm="6046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426" name="Rectangle 2"/>
          <p:cNvSpPr>
            <a:spLocks noChangeArrowheads="1"/>
          </p:cNvSpPr>
          <p:nvPr/>
        </p:nvSpPr>
        <p:spPr bwMode="auto">
          <a:xfrm>
            <a:off x="304800" y="1401763"/>
            <a:ext cx="5419328" cy="51235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609600" indent="-609600">
              <a:lnSpc>
                <a:spcPct val="115000"/>
              </a:lnSpc>
              <a:spcBef>
                <a:spcPct val="25000"/>
              </a:spcBef>
              <a:buClr>
                <a:schemeClr val="bg2"/>
              </a:buClr>
              <a:buSzPct val="75000"/>
            </a:pPr>
            <a:r>
              <a:rPr lang="zh-CN" altLang="en-US" sz="28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一般格式：</a:t>
            </a:r>
          </a:p>
          <a:p>
            <a:pPr marL="609600" eaLnBrk="1" hangingPunct="1">
              <a:lnSpc>
                <a:spcPct val="115000"/>
              </a:lnSpc>
              <a:spcBef>
                <a:spcPct val="25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3400" b="1" dirty="0">
                <a:solidFill>
                  <a:srgbClr val="FF0000"/>
                </a:solidFill>
                <a:ea typeface="楷体_GB2312" pitchFamily="49" charset="-122"/>
              </a:rPr>
              <a:t>break</a:t>
            </a:r>
            <a:endParaRPr lang="zh-CN" altLang="en-US" sz="3400" b="1" dirty="0">
              <a:solidFill>
                <a:srgbClr val="FF0000"/>
              </a:solidFill>
              <a:ea typeface="楷体_GB2312" pitchFamily="49" charset="-122"/>
            </a:endParaRPr>
          </a:p>
          <a:p>
            <a:pPr marL="609600" indent="-609600" eaLnBrk="1" hangingPunct="1">
              <a:lnSpc>
                <a:spcPct val="115000"/>
              </a:lnSpc>
              <a:spcBef>
                <a:spcPct val="25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endParaRPr lang="zh-CN" altLang="en-US" sz="3400" b="1" dirty="0">
              <a:solidFill>
                <a:srgbClr val="FF0000"/>
              </a:solidFill>
              <a:ea typeface="楷体_GB2312" pitchFamily="49" charset="-122"/>
            </a:endParaRPr>
          </a:p>
          <a:p>
            <a:pPr marL="609600" indent="-609600" eaLnBrk="1" hangingPunct="1">
              <a:lnSpc>
                <a:spcPct val="115000"/>
              </a:lnSpc>
              <a:spcBef>
                <a:spcPct val="25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sz="28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功能：</a:t>
            </a:r>
          </a:p>
          <a:p>
            <a:pPr indent="457200" eaLnBrk="1" hangingPunct="1">
              <a:lnSpc>
                <a:spcPct val="115000"/>
              </a:lnSpc>
              <a:spcBef>
                <a:spcPct val="25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zh-CN" sz="28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break语句用在循环体内，迫使所在循环</a:t>
            </a:r>
            <a:r>
              <a:rPr lang="zh-CN" altLang="zh-CN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立即终止</a:t>
            </a:r>
            <a:r>
              <a:rPr lang="zh-CN" altLang="zh-CN" sz="28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，即</a:t>
            </a:r>
            <a:r>
              <a:rPr lang="zh-CN" altLang="zh-CN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跳出</a:t>
            </a:r>
            <a:r>
              <a:rPr lang="zh-CN" altLang="zh-CN" sz="28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所在循环体，</a:t>
            </a:r>
            <a:r>
              <a:rPr lang="zh-CN" altLang="zh-CN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继续</a:t>
            </a:r>
            <a:r>
              <a:rPr lang="zh-CN" altLang="zh-CN" sz="28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执行循环结构</a:t>
            </a:r>
            <a:r>
              <a:rPr lang="zh-CN" altLang="zh-CN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</a:t>
            </a:r>
            <a:r>
              <a:rPr lang="zh-CN" altLang="zh-CN" sz="28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面的语句。</a:t>
            </a:r>
          </a:p>
        </p:txBody>
      </p:sp>
      <p:sp>
        <p:nvSpPr>
          <p:cNvPr id="999427" name="Rectangle 3"/>
          <p:cNvSpPr>
            <a:spLocks noChangeArrowheads="1"/>
          </p:cNvSpPr>
          <p:nvPr/>
        </p:nvSpPr>
        <p:spPr bwMode="auto">
          <a:xfrm>
            <a:off x="1137592" y="266700"/>
            <a:ext cx="8763000" cy="685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ctr"/>
          <a:lstStyle/>
          <a:p>
            <a:pPr eaLnBrk="1" hangingPunct="1">
              <a:defRPr/>
            </a:pPr>
            <a:r>
              <a:rPr kumimoji="1" lang="en-US" altLang="zh-CN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break</a:t>
            </a:r>
            <a:r>
              <a:rPr kumimoji="1"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</a:t>
            </a:r>
          </a:p>
        </p:txBody>
      </p:sp>
      <p:grpSp>
        <p:nvGrpSpPr>
          <p:cNvPr id="34820" name="Group 23"/>
          <p:cNvGrpSpPr/>
          <p:nvPr/>
        </p:nvGrpSpPr>
        <p:grpSpPr bwMode="auto">
          <a:xfrm>
            <a:off x="5923268" y="1631678"/>
            <a:ext cx="2932112" cy="4278313"/>
            <a:chOff x="1488" y="1440"/>
            <a:chExt cx="1847" cy="2695"/>
          </a:xfrm>
        </p:grpSpPr>
        <p:sp>
          <p:nvSpPr>
            <p:cNvPr id="34821" name="Text Box 24"/>
            <p:cNvSpPr txBox="1">
              <a:spLocks noChangeArrowheads="1"/>
            </p:cNvSpPr>
            <p:nvPr/>
          </p:nvSpPr>
          <p:spPr bwMode="auto">
            <a:xfrm>
              <a:off x="1700" y="2400"/>
              <a:ext cx="1248" cy="808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90000"/>
                </a:lnSpc>
                <a:buFont typeface="Arial" panose="020B0604020202020204" pitchFamily="34" charset="0"/>
                <a:buNone/>
              </a:pPr>
              <a:r>
                <a:rPr lang="en-US" altLang="zh-CN" sz="2800" b="1" dirty="0">
                  <a:ea typeface="楷体_GB2312" pitchFamily="49" charset="-122"/>
                </a:rPr>
                <a:t> ……</a:t>
              </a:r>
            </a:p>
            <a:p>
              <a:pPr>
                <a:lnSpc>
                  <a:spcPct val="90000"/>
                </a:lnSpc>
                <a:buFont typeface="Arial" panose="020B0604020202020204" pitchFamily="34" charset="0"/>
                <a:buNone/>
              </a:pPr>
              <a:r>
                <a:rPr lang="en-US" altLang="zh-CN" sz="2800" b="1" dirty="0">
                  <a:solidFill>
                    <a:srgbClr val="FF0000"/>
                  </a:solidFill>
                  <a:ea typeface="楷体_GB2312" pitchFamily="49" charset="-122"/>
                </a:rPr>
                <a:t> break</a:t>
              </a:r>
            </a:p>
            <a:p>
              <a:pPr>
                <a:lnSpc>
                  <a:spcPct val="90000"/>
                </a:lnSpc>
                <a:buFont typeface="Arial" panose="020B0604020202020204" pitchFamily="34" charset="0"/>
                <a:buNone/>
              </a:pPr>
              <a:r>
                <a:rPr lang="en-US" altLang="zh-CN" sz="2800" b="1" dirty="0">
                  <a:ea typeface="楷体_GB2312" pitchFamily="49" charset="-122"/>
                </a:rPr>
                <a:t> ……</a:t>
              </a:r>
            </a:p>
          </p:txBody>
        </p:sp>
        <p:sp>
          <p:nvSpPr>
            <p:cNvPr id="34822" name="Line 25"/>
            <p:cNvSpPr>
              <a:spLocks noChangeShapeType="1"/>
            </p:cNvSpPr>
            <p:nvPr/>
          </p:nvSpPr>
          <p:spPr bwMode="auto">
            <a:xfrm>
              <a:off x="2356" y="1440"/>
              <a:ext cx="0" cy="32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23" name="AutoShape 26"/>
            <p:cNvSpPr>
              <a:spLocks noChangeArrowheads="1"/>
            </p:cNvSpPr>
            <p:nvPr/>
          </p:nvSpPr>
          <p:spPr bwMode="auto">
            <a:xfrm>
              <a:off x="1656" y="1768"/>
              <a:ext cx="1388" cy="325"/>
            </a:xfrm>
            <a:prstGeom prst="flowChartDecision">
              <a:avLst/>
            </a:prstGeom>
            <a:noFill/>
            <a:ln w="3810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>
                <a:buFont typeface="Arial" panose="020B0604020202020204" pitchFamily="34" charset="0"/>
                <a:buNone/>
              </a:pPr>
              <a:r>
                <a:rPr lang="en-US" altLang="zh-CN" sz="2800" b="1">
                  <a:ea typeface="楷体_GB2312" pitchFamily="49" charset="-122"/>
                </a:rPr>
                <a:t>exp</a:t>
              </a:r>
            </a:p>
          </p:txBody>
        </p:sp>
        <p:sp>
          <p:nvSpPr>
            <p:cNvPr id="34824" name="Line 27"/>
            <p:cNvSpPr>
              <a:spLocks noChangeShapeType="1"/>
            </p:cNvSpPr>
            <p:nvPr/>
          </p:nvSpPr>
          <p:spPr bwMode="auto">
            <a:xfrm>
              <a:off x="2356" y="2093"/>
              <a:ext cx="0" cy="29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25" name="Line 28"/>
            <p:cNvSpPr>
              <a:spLocks noChangeShapeType="1"/>
            </p:cNvSpPr>
            <p:nvPr/>
          </p:nvSpPr>
          <p:spPr bwMode="auto">
            <a:xfrm flipH="1">
              <a:off x="1488" y="3456"/>
              <a:ext cx="88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26" name="Line 29"/>
            <p:cNvSpPr>
              <a:spLocks noChangeShapeType="1"/>
            </p:cNvSpPr>
            <p:nvPr/>
          </p:nvSpPr>
          <p:spPr bwMode="auto">
            <a:xfrm flipV="1">
              <a:off x="1499" y="1548"/>
              <a:ext cx="0" cy="191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27" name="Line 30"/>
            <p:cNvSpPr>
              <a:spLocks noChangeShapeType="1"/>
            </p:cNvSpPr>
            <p:nvPr/>
          </p:nvSpPr>
          <p:spPr bwMode="auto">
            <a:xfrm>
              <a:off x="1488" y="1572"/>
              <a:ext cx="88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28" name="Line 31"/>
            <p:cNvSpPr>
              <a:spLocks noChangeShapeType="1"/>
            </p:cNvSpPr>
            <p:nvPr/>
          </p:nvSpPr>
          <p:spPr bwMode="auto">
            <a:xfrm>
              <a:off x="2372" y="3668"/>
              <a:ext cx="0" cy="46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29" name="Text Box 32"/>
            <p:cNvSpPr txBox="1">
              <a:spLocks noChangeArrowheads="1"/>
            </p:cNvSpPr>
            <p:nvPr/>
          </p:nvSpPr>
          <p:spPr bwMode="auto">
            <a:xfrm>
              <a:off x="2996" y="1621"/>
              <a:ext cx="27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buFont typeface="Arial" panose="020B0604020202020204" pitchFamily="34" charset="0"/>
                <a:buNone/>
              </a:pPr>
              <a:r>
                <a:rPr lang="en-US" altLang="zh-CN" sz="2800" b="1">
                  <a:ea typeface="楷体_GB2312" pitchFamily="49" charset="-122"/>
                </a:rPr>
                <a:t>N</a:t>
              </a:r>
            </a:p>
          </p:txBody>
        </p:sp>
        <p:sp>
          <p:nvSpPr>
            <p:cNvPr id="34830" name="Text Box 33"/>
            <p:cNvSpPr txBox="1">
              <a:spLocks noChangeArrowheads="1"/>
            </p:cNvSpPr>
            <p:nvPr/>
          </p:nvSpPr>
          <p:spPr bwMode="auto">
            <a:xfrm>
              <a:off x="2191" y="2023"/>
              <a:ext cx="1144" cy="3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buFont typeface="Arial" panose="020B0604020202020204" pitchFamily="34" charset="0"/>
                <a:buNone/>
              </a:pPr>
              <a:r>
                <a:rPr lang="en-US" altLang="zh-CN" sz="2800" b="1">
                  <a:ea typeface="楷体_GB2312" pitchFamily="49" charset="-122"/>
                </a:rPr>
                <a:t>  Y</a:t>
              </a:r>
            </a:p>
          </p:txBody>
        </p:sp>
        <p:sp>
          <p:nvSpPr>
            <p:cNvPr id="34831" name="Line 34"/>
            <p:cNvSpPr>
              <a:spLocks noChangeShapeType="1"/>
            </p:cNvSpPr>
            <p:nvPr/>
          </p:nvSpPr>
          <p:spPr bwMode="auto">
            <a:xfrm>
              <a:off x="2372" y="3197"/>
              <a:ext cx="0" cy="25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32" name="Line 35"/>
            <p:cNvSpPr>
              <a:spLocks noChangeShapeType="1"/>
            </p:cNvSpPr>
            <p:nvPr/>
          </p:nvSpPr>
          <p:spPr bwMode="auto">
            <a:xfrm>
              <a:off x="3188" y="1906"/>
              <a:ext cx="0" cy="176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34833" name="Group 36"/>
            <p:cNvGrpSpPr/>
            <p:nvPr/>
          </p:nvGrpSpPr>
          <p:grpSpPr bwMode="auto">
            <a:xfrm>
              <a:off x="2357" y="1919"/>
              <a:ext cx="831" cy="1752"/>
              <a:chOff x="4161" y="1535"/>
              <a:chExt cx="888" cy="1752"/>
            </a:xfrm>
          </p:grpSpPr>
          <p:sp>
            <p:nvSpPr>
              <p:cNvPr id="34835" name="Line 37"/>
              <p:cNvSpPr>
                <a:spLocks noChangeShapeType="1"/>
              </p:cNvSpPr>
              <p:nvPr/>
            </p:nvSpPr>
            <p:spPr bwMode="auto">
              <a:xfrm>
                <a:off x="4848" y="1535"/>
                <a:ext cx="192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836" name="Line 38"/>
              <p:cNvSpPr>
                <a:spLocks noChangeShapeType="1"/>
              </p:cNvSpPr>
              <p:nvPr/>
            </p:nvSpPr>
            <p:spPr bwMode="auto">
              <a:xfrm flipH="1" flipV="1">
                <a:off x="4161" y="3287"/>
                <a:ext cx="888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4834" name="Line 39"/>
            <p:cNvSpPr>
              <a:spLocks noChangeShapeType="1"/>
            </p:cNvSpPr>
            <p:nvPr/>
          </p:nvSpPr>
          <p:spPr bwMode="auto">
            <a:xfrm flipH="1">
              <a:off x="2713" y="2832"/>
              <a:ext cx="491" cy="12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advTm="6046"/>
    </mc:Choice>
    <mc:Fallback xmlns="">
      <p:transition advTm="6046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714" name="Rectangle 2"/>
          <p:cNvSpPr>
            <a:spLocks noChangeArrowheads="1"/>
          </p:cNvSpPr>
          <p:nvPr/>
        </p:nvSpPr>
        <p:spPr bwMode="auto">
          <a:xfrm>
            <a:off x="144463" y="1236911"/>
            <a:ext cx="8676009" cy="19760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 eaLnBrk="1" hangingPunct="1">
              <a:lnSpc>
                <a:spcPct val="110000"/>
              </a:lnSpc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</a:pPr>
            <a:r>
              <a:rPr lang="zh-CN" altLang="en-US" sz="2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分析：</a:t>
            </a:r>
            <a:r>
              <a:rPr lang="zh-CN" altLang="en-US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找出</a:t>
            </a:r>
            <a:r>
              <a:rPr lang="en-US" altLang="zh-CN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zh-CN" altLang="en-US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en-US" altLang="zh-CN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中较小的一个，则最大公约数必在1与较小整数的范围内。使用for语句，循环变量i从较小整数变化到1。一旦循环控制变量i同时能被</a:t>
            </a:r>
            <a:r>
              <a:rPr lang="en-US" altLang="zh-CN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zh-CN" altLang="en-US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en-US" altLang="zh-CN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整除，则i就是最大公约数，然后使用break语句强制退出循环。</a:t>
            </a:r>
          </a:p>
          <a:p>
            <a:pPr marL="1143000" lvl="2" indent="-228600" algn="ctr">
              <a:lnSpc>
                <a:spcPct val="110000"/>
              </a:lnSpc>
              <a:buSzPct val="65000"/>
              <a:buFont typeface="Arial" panose="020B0604020202020204" pitchFamily="34" charset="0"/>
              <a:buNone/>
            </a:pPr>
            <a:endParaRPr lang="en-US" altLang="zh-CN" sz="2800" b="1" dirty="0">
              <a:ea typeface="楷体_GB2312" pitchFamily="49" charset="-122"/>
            </a:endParaRPr>
          </a:p>
        </p:txBody>
      </p:sp>
      <p:sp>
        <p:nvSpPr>
          <p:cNvPr id="1011719" name="Rectangle 7"/>
          <p:cNvSpPr>
            <a:spLocks noChangeArrowheads="1"/>
          </p:cNvSpPr>
          <p:nvPr/>
        </p:nvSpPr>
        <p:spPr bwMode="auto">
          <a:xfrm>
            <a:off x="971600" y="228600"/>
            <a:ext cx="8763000" cy="685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ctr"/>
          <a:lstStyle/>
          <a:p>
            <a:pPr eaLnBrk="1" hangingPunct="1">
              <a:defRPr/>
            </a:pPr>
            <a:r>
              <a:rPr kumimoji="1"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kumimoji="1" 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4-11</a:t>
            </a:r>
            <a:r>
              <a:rPr kumimoji="1"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kumimoji="1" sz="32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求两个整数</a:t>
            </a:r>
            <a:r>
              <a:rPr kumimoji="1" lang="en-US" sz="32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kumimoji="1" sz="32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kumimoji="1" lang="en-US" sz="32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kumimoji="1" sz="32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的最大公约数</a:t>
            </a:r>
            <a:endParaRPr kumimoji="1" sz="3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11715" name="Text Box 3"/>
          <p:cNvSpPr txBox="1">
            <a:spLocks noChangeArrowheads="1"/>
          </p:cNvSpPr>
          <p:nvPr/>
        </p:nvSpPr>
        <p:spPr bwMode="auto">
          <a:xfrm>
            <a:off x="1372195" y="3068960"/>
            <a:ext cx="6220544" cy="3418501"/>
          </a:xfrm>
          <a:prstGeom prst="rect">
            <a:avLst/>
          </a:prstGeom>
          <a:solidFill>
            <a:srgbClr val="CCECFF"/>
          </a:solidFill>
          <a:ln w="38100">
            <a:solidFill>
              <a:schemeClr val="bg2"/>
            </a:solidFill>
            <a:miter lim="800000"/>
          </a:ln>
        </p:spPr>
        <p:txBody>
          <a:bodyPr wrap="square" lIns="0" tIns="46800" rIns="90000" bIns="46800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zh-CN" sz="2400" b="1" dirty="0" err="1">
                <a:ea typeface="楷体_GB2312" pitchFamily="49" charset="-122"/>
              </a:rPr>
              <a:t>m,n</a:t>
            </a:r>
            <a:r>
              <a:rPr lang="en-US" altLang="zh-CN" sz="2400" b="1" dirty="0">
                <a:ea typeface="楷体_GB2312" pitchFamily="49" charset="-122"/>
              </a:rPr>
              <a:t>=</a:t>
            </a:r>
            <a:r>
              <a:rPr lang="en-US" altLang="zh-CN" sz="2400" b="1" dirty="0" err="1">
                <a:ea typeface="楷体_GB2312" pitchFamily="49" charset="-122"/>
              </a:rPr>
              <a:t>eval</a:t>
            </a:r>
            <a:r>
              <a:rPr lang="en-US" altLang="zh-CN" sz="2400" b="1" dirty="0">
                <a:ea typeface="楷体_GB2312" pitchFamily="49" charset="-122"/>
              </a:rPr>
              <a:t>(input("</a:t>
            </a:r>
            <a:r>
              <a:rPr lang="en-US" altLang="zh-CN" sz="2400" b="1" dirty="0" err="1">
                <a:ea typeface="楷体_GB2312" pitchFamily="49" charset="-122"/>
              </a:rPr>
              <a:t>请输入两个整数</a:t>
            </a:r>
            <a:r>
              <a:rPr lang="en-US" altLang="zh-CN" sz="2400" b="1" dirty="0">
                <a:ea typeface="楷体_GB2312" pitchFamily="49" charset="-122"/>
              </a:rPr>
              <a:t>："))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CN" sz="2400" b="1" dirty="0">
                <a:ea typeface="楷体_GB2312" pitchFamily="49" charset="-122"/>
              </a:rPr>
              <a:t>if m&lt;n: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CN" sz="2400" b="1" dirty="0">
                <a:ea typeface="楷体_GB2312" pitchFamily="49" charset="-122"/>
              </a:rPr>
              <a:t>       min=m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CN" sz="2400" b="1" dirty="0">
                <a:ea typeface="楷体_GB2312" pitchFamily="49" charset="-122"/>
              </a:rPr>
              <a:t>else: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CN" sz="2400" b="1" dirty="0">
                <a:ea typeface="楷体_GB2312" pitchFamily="49" charset="-122"/>
              </a:rPr>
              <a:t>       min=n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CN" sz="2400" b="1" dirty="0">
                <a:ea typeface="楷体_GB2312" pitchFamily="49" charset="-122"/>
              </a:rPr>
              <a:t>for </a:t>
            </a:r>
            <a:r>
              <a:rPr lang="en-US" altLang="zh-CN" sz="2400" b="1" dirty="0" err="1">
                <a:ea typeface="楷体_GB2312" pitchFamily="49" charset="-122"/>
              </a:rPr>
              <a:t>i</a:t>
            </a:r>
            <a:r>
              <a:rPr lang="en-US" altLang="zh-CN" sz="2400" b="1" dirty="0">
                <a:ea typeface="楷体_GB2312" pitchFamily="49" charset="-122"/>
              </a:rPr>
              <a:t> in range(</a:t>
            </a:r>
            <a:r>
              <a:rPr lang="en-US" altLang="zh-CN" sz="2400" b="1" dirty="0" err="1">
                <a:ea typeface="楷体_GB2312" pitchFamily="49" charset="-122"/>
              </a:rPr>
              <a:t>min,1</a:t>
            </a:r>
            <a:r>
              <a:rPr lang="en-US" altLang="zh-CN" sz="2400" b="1" dirty="0">
                <a:ea typeface="楷体_GB2312" pitchFamily="49" charset="-122"/>
              </a:rPr>
              <a:t>,-1):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CN" sz="2400" b="1" dirty="0">
                <a:ea typeface="楷体_GB2312" pitchFamily="49" charset="-122"/>
              </a:rPr>
              <a:t>   if </a:t>
            </a:r>
            <a:r>
              <a:rPr lang="en-US" altLang="zh-CN" sz="2400" b="1" dirty="0" err="1">
                <a:ea typeface="楷体_GB2312" pitchFamily="49" charset="-122"/>
              </a:rPr>
              <a:t>m%i</a:t>
            </a:r>
            <a:r>
              <a:rPr lang="en-US" altLang="zh-CN" sz="2400" b="1" dirty="0">
                <a:ea typeface="楷体_GB2312" pitchFamily="49" charset="-122"/>
              </a:rPr>
              <a:t>==0 and </a:t>
            </a:r>
            <a:r>
              <a:rPr lang="en-US" altLang="zh-CN" sz="2400" b="1" dirty="0" err="1">
                <a:ea typeface="楷体_GB2312" pitchFamily="49" charset="-122"/>
              </a:rPr>
              <a:t>n%i</a:t>
            </a:r>
            <a:r>
              <a:rPr lang="en-US" altLang="zh-CN" sz="2400" b="1" dirty="0">
                <a:ea typeface="楷体_GB2312" pitchFamily="49" charset="-122"/>
              </a:rPr>
              <a:t>==0: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CN" sz="2400" b="1" dirty="0">
                <a:ea typeface="楷体_GB2312" pitchFamily="49" charset="-122"/>
              </a:rPr>
              <a:t>          print("</a:t>
            </a:r>
            <a:r>
              <a:rPr lang="en-US" altLang="zh-CN" sz="2400" b="1" dirty="0" err="1">
                <a:ea typeface="楷体_GB2312" pitchFamily="49" charset="-122"/>
              </a:rPr>
              <a:t>最大公约数是</a:t>
            </a:r>
            <a:r>
              <a:rPr lang="en-US" altLang="zh-CN" sz="2400" b="1" dirty="0">
                <a:ea typeface="楷体_GB2312" pitchFamily="49" charset="-122"/>
              </a:rPr>
              <a:t>：",</a:t>
            </a:r>
            <a:r>
              <a:rPr lang="en-US" altLang="zh-CN" sz="2400" b="1" dirty="0" err="1">
                <a:ea typeface="楷体_GB2312" pitchFamily="49" charset="-122"/>
              </a:rPr>
              <a:t>i</a:t>
            </a:r>
            <a:r>
              <a:rPr lang="en-US" altLang="zh-CN" sz="2400" b="1" dirty="0">
                <a:ea typeface="楷体_GB2312" pitchFamily="49" charset="-122"/>
              </a:rPr>
              <a:t>)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CN" sz="2400" b="1" dirty="0">
                <a:ea typeface="楷体_GB2312" pitchFamily="49" charset="-122"/>
              </a:rPr>
              <a:t>          break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advTm="6046"/>
    </mc:Choice>
    <mc:Fallback xmlns="">
      <p:transition advTm="6046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6834" name="Rectangle 2"/>
          <p:cNvSpPr>
            <a:spLocks noChangeArrowheads="1"/>
          </p:cNvSpPr>
          <p:nvPr/>
        </p:nvSpPr>
        <p:spPr bwMode="auto">
          <a:xfrm>
            <a:off x="304800" y="1935163"/>
            <a:ext cx="5635352" cy="286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609600" indent="-609600" eaLnBrk="1" hangingPunct="1">
              <a:lnSpc>
                <a:spcPct val="115000"/>
              </a:lnSpc>
              <a:spcBef>
                <a:spcPct val="25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sz="280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一般格式：</a:t>
            </a:r>
          </a:p>
          <a:p>
            <a:pPr marL="609600" indent="-609600" eaLnBrk="1" hangingPunct="1">
              <a:lnSpc>
                <a:spcPct val="115000"/>
              </a:lnSpc>
              <a:spcBef>
                <a:spcPct val="25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continue</a:t>
            </a:r>
            <a:endParaRPr lang="zh-CN" altLang="en-US" sz="28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09600" indent="-609600" eaLnBrk="1" hangingPunct="1">
              <a:lnSpc>
                <a:spcPct val="115000"/>
              </a:lnSpc>
              <a:spcBef>
                <a:spcPct val="25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sz="280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功能： </a:t>
            </a:r>
          </a:p>
          <a:p>
            <a:pPr marL="609600" indent="-609600" eaLnBrk="1" hangingPunct="1">
              <a:lnSpc>
                <a:spcPct val="115000"/>
              </a:lnSpc>
              <a:spcBef>
                <a:spcPct val="25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在循环语句中强行</a:t>
            </a: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提前结束本次循环，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而</a:t>
            </a:r>
            <a:r>
              <a:rPr lang="zh-CN" altLang="zh-CN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不是终止循环</a:t>
            </a: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1016835" name="Rectangle 3"/>
          <p:cNvSpPr>
            <a:spLocks noChangeArrowheads="1"/>
          </p:cNvSpPr>
          <p:nvPr/>
        </p:nvSpPr>
        <p:spPr bwMode="auto">
          <a:xfrm>
            <a:off x="1291124" y="260684"/>
            <a:ext cx="6792764" cy="685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ctr"/>
          <a:lstStyle/>
          <a:p>
            <a:pPr eaLnBrk="1" hangingPunct="1">
              <a:defRPr/>
            </a:pPr>
            <a:r>
              <a:rPr kumimoji="1" lang="en-US" altLang="zh-CN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continue</a:t>
            </a:r>
            <a:r>
              <a:rPr kumimoji="1"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</a:t>
            </a:r>
          </a:p>
        </p:txBody>
      </p:sp>
      <p:grpSp>
        <p:nvGrpSpPr>
          <p:cNvPr id="36868" name="Group 21"/>
          <p:cNvGrpSpPr/>
          <p:nvPr/>
        </p:nvGrpSpPr>
        <p:grpSpPr bwMode="auto">
          <a:xfrm>
            <a:off x="6072982" y="1603876"/>
            <a:ext cx="2932112" cy="4278313"/>
            <a:chOff x="3292" y="1056"/>
            <a:chExt cx="1847" cy="2695"/>
          </a:xfrm>
        </p:grpSpPr>
        <p:sp>
          <p:nvSpPr>
            <p:cNvPr id="36869" name="Text Box 22"/>
            <p:cNvSpPr txBox="1">
              <a:spLocks noChangeArrowheads="1"/>
            </p:cNvSpPr>
            <p:nvPr/>
          </p:nvSpPr>
          <p:spPr bwMode="auto">
            <a:xfrm>
              <a:off x="3504" y="2016"/>
              <a:ext cx="1248" cy="808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90000"/>
                </a:lnSpc>
                <a:buFont typeface="Arial" panose="020B0604020202020204" pitchFamily="34" charset="0"/>
                <a:buNone/>
              </a:pPr>
              <a:r>
                <a:rPr lang="en-US" altLang="zh-CN" sz="2800" b="1" dirty="0">
                  <a:ea typeface="楷体_GB2312" pitchFamily="49" charset="-122"/>
                </a:rPr>
                <a:t> ……</a:t>
              </a:r>
            </a:p>
            <a:p>
              <a:pPr>
                <a:lnSpc>
                  <a:spcPct val="90000"/>
                </a:lnSpc>
                <a:buFont typeface="Arial" panose="020B0604020202020204" pitchFamily="34" charset="0"/>
                <a:buNone/>
              </a:pPr>
              <a:r>
                <a:rPr lang="en-US" altLang="zh-CN" sz="2800" b="1" dirty="0">
                  <a:solidFill>
                    <a:srgbClr val="FF0000"/>
                  </a:solidFill>
                  <a:ea typeface="楷体_GB2312" pitchFamily="49" charset="-122"/>
                </a:rPr>
                <a:t> continue</a:t>
              </a:r>
            </a:p>
            <a:p>
              <a:pPr>
                <a:lnSpc>
                  <a:spcPct val="90000"/>
                </a:lnSpc>
                <a:buFont typeface="Arial" panose="020B0604020202020204" pitchFamily="34" charset="0"/>
                <a:buNone/>
              </a:pPr>
              <a:r>
                <a:rPr lang="en-US" altLang="zh-CN" sz="2800" b="1" dirty="0">
                  <a:ea typeface="楷体_GB2312" pitchFamily="49" charset="-122"/>
                </a:rPr>
                <a:t> ……</a:t>
              </a:r>
            </a:p>
          </p:txBody>
        </p:sp>
        <p:sp>
          <p:nvSpPr>
            <p:cNvPr id="36870" name="Line 23"/>
            <p:cNvSpPr>
              <a:spLocks noChangeShapeType="1"/>
            </p:cNvSpPr>
            <p:nvPr/>
          </p:nvSpPr>
          <p:spPr bwMode="auto">
            <a:xfrm>
              <a:off x="4160" y="1056"/>
              <a:ext cx="0" cy="32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71" name="AutoShape 24"/>
            <p:cNvSpPr>
              <a:spLocks noChangeArrowheads="1"/>
            </p:cNvSpPr>
            <p:nvPr/>
          </p:nvSpPr>
          <p:spPr bwMode="auto">
            <a:xfrm>
              <a:off x="3460" y="1384"/>
              <a:ext cx="1388" cy="325"/>
            </a:xfrm>
            <a:prstGeom prst="flowChartDecision">
              <a:avLst/>
            </a:prstGeom>
            <a:noFill/>
            <a:ln w="3810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>
                <a:buFont typeface="Arial" panose="020B0604020202020204" pitchFamily="34" charset="0"/>
                <a:buNone/>
              </a:pPr>
              <a:r>
                <a:rPr lang="en-US" altLang="zh-CN" sz="2800" b="1">
                  <a:ea typeface="楷体_GB2312" pitchFamily="49" charset="-122"/>
                </a:rPr>
                <a:t>exp</a:t>
              </a:r>
            </a:p>
          </p:txBody>
        </p:sp>
        <p:sp>
          <p:nvSpPr>
            <p:cNvPr id="36872" name="Line 25"/>
            <p:cNvSpPr>
              <a:spLocks noChangeShapeType="1"/>
            </p:cNvSpPr>
            <p:nvPr/>
          </p:nvSpPr>
          <p:spPr bwMode="auto">
            <a:xfrm>
              <a:off x="4160" y="1709"/>
              <a:ext cx="0" cy="29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73" name="Line 26"/>
            <p:cNvSpPr>
              <a:spLocks noChangeShapeType="1"/>
            </p:cNvSpPr>
            <p:nvPr/>
          </p:nvSpPr>
          <p:spPr bwMode="auto">
            <a:xfrm flipH="1">
              <a:off x="3292" y="3072"/>
              <a:ext cx="88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74" name="Line 27"/>
            <p:cNvSpPr>
              <a:spLocks noChangeShapeType="1"/>
            </p:cNvSpPr>
            <p:nvPr/>
          </p:nvSpPr>
          <p:spPr bwMode="auto">
            <a:xfrm flipV="1">
              <a:off x="3303" y="1164"/>
              <a:ext cx="0" cy="191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75" name="Line 28"/>
            <p:cNvSpPr>
              <a:spLocks noChangeShapeType="1"/>
            </p:cNvSpPr>
            <p:nvPr/>
          </p:nvSpPr>
          <p:spPr bwMode="auto">
            <a:xfrm>
              <a:off x="3292" y="1188"/>
              <a:ext cx="88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76" name="Line 29"/>
            <p:cNvSpPr>
              <a:spLocks noChangeShapeType="1"/>
            </p:cNvSpPr>
            <p:nvPr/>
          </p:nvSpPr>
          <p:spPr bwMode="auto">
            <a:xfrm>
              <a:off x="4176" y="3284"/>
              <a:ext cx="0" cy="46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77" name="Text Box 30"/>
            <p:cNvSpPr txBox="1">
              <a:spLocks noChangeArrowheads="1"/>
            </p:cNvSpPr>
            <p:nvPr/>
          </p:nvSpPr>
          <p:spPr bwMode="auto">
            <a:xfrm>
              <a:off x="4800" y="1237"/>
              <a:ext cx="27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buFont typeface="Arial" panose="020B0604020202020204" pitchFamily="34" charset="0"/>
                <a:buNone/>
              </a:pPr>
              <a:r>
                <a:rPr lang="en-US" altLang="zh-CN" sz="2800" b="1">
                  <a:ea typeface="楷体_GB2312" pitchFamily="49" charset="-122"/>
                </a:rPr>
                <a:t>N</a:t>
              </a:r>
            </a:p>
          </p:txBody>
        </p:sp>
        <p:sp>
          <p:nvSpPr>
            <p:cNvPr id="36878" name="Text Box 31"/>
            <p:cNvSpPr txBox="1">
              <a:spLocks noChangeArrowheads="1"/>
            </p:cNvSpPr>
            <p:nvPr/>
          </p:nvSpPr>
          <p:spPr bwMode="auto">
            <a:xfrm>
              <a:off x="3995" y="1639"/>
              <a:ext cx="1144" cy="3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buFont typeface="Arial" panose="020B0604020202020204" pitchFamily="34" charset="0"/>
                <a:buNone/>
              </a:pPr>
              <a:r>
                <a:rPr lang="en-US" altLang="zh-CN" sz="2800" b="1">
                  <a:ea typeface="楷体_GB2312" pitchFamily="49" charset="-122"/>
                </a:rPr>
                <a:t>  Y</a:t>
              </a:r>
            </a:p>
          </p:txBody>
        </p:sp>
        <p:sp>
          <p:nvSpPr>
            <p:cNvPr id="36879" name="Line 32"/>
            <p:cNvSpPr>
              <a:spLocks noChangeShapeType="1"/>
            </p:cNvSpPr>
            <p:nvPr/>
          </p:nvSpPr>
          <p:spPr bwMode="auto">
            <a:xfrm>
              <a:off x="4176" y="2813"/>
              <a:ext cx="0" cy="25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80" name="Line 33"/>
            <p:cNvSpPr>
              <a:spLocks noChangeShapeType="1"/>
            </p:cNvSpPr>
            <p:nvPr/>
          </p:nvSpPr>
          <p:spPr bwMode="auto">
            <a:xfrm>
              <a:off x="4992" y="1522"/>
              <a:ext cx="0" cy="176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36881" name="Group 34"/>
            <p:cNvGrpSpPr/>
            <p:nvPr/>
          </p:nvGrpSpPr>
          <p:grpSpPr bwMode="auto">
            <a:xfrm>
              <a:off x="4161" y="1535"/>
              <a:ext cx="831" cy="1752"/>
              <a:chOff x="4161" y="1535"/>
              <a:chExt cx="888" cy="1752"/>
            </a:xfrm>
          </p:grpSpPr>
          <p:sp>
            <p:nvSpPr>
              <p:cNvPr id="36883" name="Line 35"/>
              <p:cNvSpPr>
                <a:spLocks noChangeShapeType="1"/>
              </p:cNvSpPr>
              <p:nvPr/>
            </p:nvSpPr>
            <p:spPr bwMode="auto">
              <a:xfrm>
                <a:off x="4848" y="1535"/>
                <a:ext cx="192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884" name="Line 36"/>
              <p:cNvSpPr>
                <a:spLocks noChangeShapeType="1"/>
              </p:cNvSpPr>
              <p:nvPr/>
            </p:nvSpPr>
            <p:spPr bwMode="auto">
              <a:xfrm flipH="1" flipV="1">
                <a:off x="4161" y="3287"/>
                <a:ext cx="888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6882" name="Line 37"/>
            <p:cNvSpPr>
              <a:spLocks noChangeShapeType="1"/>
            </p:cNvSpPr>
            <p:nvPr/>
          </p:nvSpPr>
          <p:spPr bwMode="auto">
            <a:xfrm flipH="1">
              <a:off x="3300" y="2448"/>
              <a:ext cx="359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advTm="6046"/>
    </mc:Choice>
    <mc:Fallback xmlns="">
      <p:transition advTm="6046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930" name="Text Box 2"/>
          <p:cNvSpPr txBox="1">
            <a:spLocks noChangeArrowheads="1"/>
          </p:cNvSpPr>
          <p:nvPr/>
        </p:nvSpPr>
        <p:spPr bwMode="auto">
          <a:xfrm>
            <a:off x="1034735" y="287338"/>
            <a:ext cx="729055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4-12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求1～100之间的全部奇数之和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1020931" name="Text Box 3"/>
          <p:cNvSpPr txBox="1">
            <a:spLocks noChangeArrowheads="1"/>
          </p:cNvSpPr>
          <p:nvPr/>
        </p:nvSpPr>
        <p:spPr bwMode="auto">
          <a:xfrm>
            <a:off x="611561" y="1700808"/>
            <a:ext cx="8136904" cy="4340225"/>
          </a:xfrm>
          <a:prstGeom prst="rect">
            <a:avLst/>
          </a:prstGeom>
          <a:solidFill>
            <a:srgbClr val="CCECFF"/>
          </a:solidFill>
          <a:ln w="38100">
            <a:solidFill>
              <a:srgbClr val="000066"/>
            </a:solidFill>
            <a:miter lim="800000"/>
          </a:ln>
        </p:spPr>
        <p:txBody>
          <a:bodyPr wrap="square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buFont typeface="Arial" panose="020B0604020202020204" pitchFamily="34" charset="0"/>
              <a:buNone/>
            </a:pPr>
            <a:r>
              <a:rPr lang="en-US" altLang="zh-CN" sz="30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程序如下</a:t>
            </a:r>
            <a:r>
              <a:rPr lang="en-US" altLang="zh-CN" sz="3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</a:p>
          <a:p>
            <a:pPr eaLnBrk="1" hangingPunct="1">
              <a:lnSpc>
                <a:spcPct val="115000"/>
              </a:lnSpc>
              <a:buFont typeface="Arial" panose="020B0604020202020204" pitchFamily="34" charset="0"/>
              <a:buNone/>
            </a:pPr>
            <a:r>
              <a:rPr lang="en-US" altLang="zh-CN" sz="3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x=y=0</a:t>
            </a:r>
          </a:p>
          <a:p>
            <a:pPr eaLnBrk="1" hangingPunct="1">
              <a:lnSpc>
                <a:spcPct val="115000"/>
              </a:lnSpc>
              <a:buFont typeface="Arial" panose="020B0604020202020204" pitchFamily="34" charset="0"/>
              <a:buNone/>
            </a:pPr>
            <a:r>
              <a:rPr lang="en-US" altLang="zh-CN" sz="3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while True:</a:t>
            </a:r>
          </a:p>
          <a:p>
            <a:pPr eaLnBrk="1" hangingPunct="1">
              <a:lnSpc>
                <a:spcPct val="115000"/>
              </a:lnSpc>
              <a:buFont typeface="Arial" panose="020B0604020202020204" pitchFamily="34" charset="0"/>
              <a:buNone/>
            </a:pPr>
            <a:r>
              <a:rPr lang="en-US" altLang="zh-CN" sz="3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x+=1</a:t>
            </a:r>
          </a:p>
          <a:p>
            <a:pPr eaLnBrk="1" hangingPunct="1">
              <a:lnSpc>
                <a:spcPct val="115000"/>
              </a:lnSpc>
              <a:buFont typeface="Arial" panose="020B0604020202020204" pitchFamily="34" charset="0"/>
              <a:buNone/>
            </a:pPr>
            <a:r>
              <a:rPr lang="en-US" altLang="zh-CN" sz="3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if  </a:t>
            </a:r>
            <a:r>
              <a:rPr lang="en-US" altLang="zh-CN" sz="3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x%2</a:t>
            </a:r>
            <a:r>
              <a:rPr lang="en-US" altLang="zh-CN" sz="3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==</a:t>
            </a:r>
            <a:r>
              <a:rPr lang="en-US" altLang="zh-CN" sz="3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0:continue</a:t>
            </a:r>
            <a:r>
              <a:rPr lang="en-US" altLang="zh-CN" sz="3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pPr eaLnBrk="1" hangingPunct="1">
              <a:lnSpc>
                <a:spcPct val="115000"/>
              </a:lnSpc>
              <a:buFont typeface="Arial" panose="020B0604020202020204" pitchFamily="34" charset="0"/>
              <a:buNone/>
            </a:pPr>
            <a:r>
              <a:rPr lang="en-US" altLang="zh-CN" sz="3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en-US" altLang="zh-CN" sz="3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elif</a:t>
            </a:r>
            <a:r>
              <a:rPr lang="en-US" altLang="zh-CN" sz="3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x&gt;</a:t>
            </a:r>
            <a:r>
              <a:rPr lang="en-US" altLang="zh-CN" sz="3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100:</a:t>
            </a:r>
            <a:r>
              <a:rPr lang="en-US" altLang="zh-CN" sz="30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break</a:t>
            </a:r>
            <a:r>
              <a:rPr lang="en-US" altLang="zh-CN" sz="3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en-US" altLang="zh-CN" sz="3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	    </a:t>
            </a:r>
          </a:p>
          <a:p>
            <a:pPr eaLnBrk="1" hangingPunct="1">
              <a:lnSpc>
                <a:spcPct val="115000"/>
              </a:lnSpc>
              <a:buFont typeface="Arial" panose="020B0604020202020204" pitchFamily="34" charset="0"/>
              <a:buNone/>
            </a:pPr>
            <a:r>
              <a:rPr lang="en-US" altLang="zh-CN" sz="3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en-US" altLang="zh-CN" sz="3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else:y</a:t>
            </a:r>
            <a:r>
              <a:rPr lang="en-US" altLang="zh-CN" sz="3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+=x                       </a:t>
            </a:r>
          </a:p>
          <a:p>
            <a:pPr eaLnBrk="1" hangingPunct="1">
              <a:lnSpc>
                <a:spcPct val="115000"/>
              </a:lnSpc>
              <a:buFont typeface="Arial" panose="020B0604020202020204" pitchFamily="34" charset="0"/>
              <a:buNone/>
            </a:pPr>
            <a:r>
              <a:rPr lang="en-US" altLang="zh-CN" sz="3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print("y=",y)</a:t>
            </a:r>
          </a:p>
        </p:txBody>
      </p:sp>
      <p:sp>
        <p:nvSpPr>
          <p:cNvPr id="3" name="文本框 2"/>
          <p:cNvSpPr txBox="1">
            <a:spLocks noChangeArrowheads="1"/>
          </p:cNvSpPr>
          <p:nvPr/>
        </p:nvSpPr>
        <p:spPr bwMode="auto">
          <a:xfrm>
            <a:off x="4572000" y="2276872"/>
            <a:ext cx="3886200" cy="1076325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/>
              <a:t>程序运行结果：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/>
              <a:t>y= 2500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advTm="6046"/>
    </mc:Choice>
    <mc:Fallback xmlns="">
      <p:transition advTm="6046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noProof="1">
                <a:latin typeface="微软雅黑" panose="020B0503020204020204" pitchFamily="34" charset="-122"/>
                <a:ea typeface="微软雅黑" panose="020B0503020204020204" pitchFamily="34" charset="-122"/>
              </a:rPr>
              <a:t>pass语句</a:t>
            </a:r>
          </a:p>
        </p:txBody>
      </p:sp>
      <p:sp>
        <p:nvSpPr>
          <p:cNvPr id="38915" name="内容占位符 2"/>
          <p:cNvSpPr>
            <a:spLocks noGrp="1" noChangeArrowheads="1"/>
          </p:cNvSpPr>
          <p:nvPr>
            <p:ph sz="half" idx="1"/>
          </p:nvPr>
        </p:nvSpPr>
        <p:spPr>
          <a:xfrm>
            <a:off x="467544" y="1219200"/>
            <a:ext cx="8208912" cy="5410200"/>
          </a:xfrm>
        </p:spPr>
        <p:txBody>
          <a:bodyPr/>
          <a:lstStyle/>
          <a:p>
            <a:pPr marL="0" indent="457200" eaLnBrk="1" hangingPunct="1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pass语句是一个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空语句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，它不做任何操作，代表一个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空操作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，在特别的时候用来保证格式或是语义的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完整性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。例如下面的循环语句：</a:t>
            </a:r>
          </a:p>
          <a:p>
            <a:pPr marL="400050" lvl="1" indent="0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for i in range(5):</a:t>
            </a:r>
          </a:p>
          <a:p>
            <a:pPr marL="400050" lvl="1" indent="0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pass</a:t>
            </a:r>
          </a:p>
          <a:p>
            <a:pPr marL="0" indent="457200" eaLnBrk="1" hangingPunct="1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该语句的确会循环5次，但是除了循环本身之外，它什么也没做。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advTm="6046"/>
    </mc:Choice>
    <mc:Fallback xmlns="">
      <p:transition advTm="6046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536" y="1196752"/>
            <a:ext cx="8001000" cy="9144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2800" b="1" noProof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2800" b="1" noProof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4-13</a:t>
            </a:r>
            <a:r>
              <a:rPr lang="zh-CN" altLang="en-US" sz="2800" b="1" noProof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800" noProof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pass语句应用：逐个输出“Python”字符串中的字符。</a:t>
            </a:r>
          </a:p>
        </p:txBody>
      </p:sp>
      <p:sp>
        <p:nvSpPr>
          <p:cNvPr id="39939" name="内容占位符 2"/>
          <p:cNvSpPr>
            <a:spLocks noGrp="1" noChangeArrowheads="1"/>
          </p:cNvSpPr>
          <p:nvPr>
            <p:ph sz="half" idx="1"/>
          </p:nvPr>
        </p:nvSpPr>
        <p:spPr>
          <a:xfrm>
            <a:off x="395536" y="2276872"/>
            <a:ext cx="5112568" cy="3240360"/>
          </a:xfrm>
          <a:solidFill>
            <a:srgbClr val="CCECFF"/>
          </a:solidFill>
        </p:spPr>
        <p:txBody>
          <a:bodyPr/>
          <a:lstStyle/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zh-CN" altLang="en-US" dirty="0"/>
              <a:t>for letter in "Python":</a:t>
            </a: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zh-CN" altLang="en-US" dirty="0"/>
              <a:t>  if letter == "o":</a:t>
            </a: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zh-CN" altLang="en-US" dirty="0"/>
              <a:t>     pass</a:t>
            </a: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zh-CN" altLang="en-US" dirty="0"/>
              <a:t>     print("This is pass block")</a:t>
            </a: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zh-CN" altLang="en-US" dirty="0"/>
              <a:t>  print("Current Letter :", letter)</a:t>
            </a: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zh-CN" altLang="en-US" dirty="0"/>
              <a:t>print("End!")</a:t>
            </a:r>
          </a:p>
        </p:txBody>
      </p:sp>
      <p:sp>
        <p:nvSpPr>
          <p:cNvPr id="4" name="内容占位符 3"/>
          <p:cNvSpPr>
            <a:spLocks noGrp="1" noChangeArrowheads="1"/>
          </p:cNvSpPr>
          <p:nvPr>
            <p:ph sz="half" idx="2"/>
          </p:nvPr>
        </p:nvSpPr>
        <p:spPr>
          <a:xfrm>
            <a:off x="5652120" y="1772816"/>
            <a:ext cx="3384376" cy="4734272"/>
          </a:xfrm>
          <a:solidFill>
            <a:srgbClr val="B2B2FF"/>
          </a:solidFill>
        </p:spPr>
        <p:txBody>
          <a:bodyPr/>
          <a:lstStyle/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zh-CN" altLang="en-US" dirty="0"/>
              <a:t>程序运行结果：</a:t>
            </a: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zh-CN" altLang="en-US" dirty="0"/>
              <a:t>Current Letter : P</a:t>
            </a: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zh-CN" altLang="en-US" dirty="0"/>
              <a:t>Current Letter : y</a:t>
            </a: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zh-CN" altLang="en-US" dirty="0"/>
              <a:t>Current Letter : t</a:t>
            </a: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zh-CN" altLang="en-US" dirty="0"/>
              <a:t>Current Letter : h</a:t>
            </a: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zh-CN" altLang="en-US" dirty="0"/>
              <a:t>This is pass block</a:t>
            </a: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zh-CN" altLang="en-US" dirty="0"/>
              <a:t>Current Letter : o</a:t>
            </a: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zh-CN" altLang="en-US" dirty="0"/>
              <a:t>Current Letter : n</a:t>
            </a: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zh-CN" altLang="en-US" dirty="0"/>
              <a:t>End!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advTm="6046"/>
    </mc:Choice>
    <mc:Fallback xmlns="">
      <p:transition advTm="6046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026" name="Text Box 2"/>
          <p:cNvSpPr txBox="1">
            <a:spLocks noChangeArrowheads="1"/>
          </p:cNvSpPr>
          <p:nvPr/>
        </p:nvSpPr>
        <p:spPr bwMode="auto">
          <a:xfrm>
            <a:off x="1001954" y="260648"/>
            <a:ext cx="9012238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4.3.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  循环结构程序举例</a:t>
            </a:r>
          </a:p>
        </p:txBody>
      </p:sp>
      <p:sp>
        <p:nvSpPr>
          <p:cNvPr id="1025027" name="Text Box 3"/>
          <p:cNvSpPr txBox="1">
            <a:spLocks noChangeArrowheads="1"/>
          </p:cNvSpPr>
          <p:nvPr/>
        </p:nvSpPr>
        <p:spPr bwMode="auto">
          <a:xfrm>
            <a:off x="575279" y="2996952"/>
            <a:ext cx="3186545" cy="2197525"/>
          </a:xfrm>
          <a:prstGeom prst="rect">
            <a:avLst/>
          </a:prstGeom>
          <a:solidFill>
            <a:srgbClr val="CCECFF"/>
          </a:solidFill>
          <a:ln w="38100">
            <a:solidFill>
              <a:srgbClr val="000066"/>
            </a:solidFill>
            <a:miter lim="800000"/>
          </a:ln>
        </p:spPr>
        <p:txBody>
          <a:bodyPr wrap="square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5000"/>
              </a:lnSpc>
              <a:buFont typeface="Arial" panose="020B0604020202020204" pitchFamily="34" charset="0"/>
              <a:buNone/>
            </a:pPr>
            <a:r>
              <a:rPr lang="en-US" altLang="zh-CN" sz="2400" b="1" dirty="0" err="1">
                <a:ea typeface="楷体_GB2312" pitchFamily="49" charset="-122"/>
              </a:rPr>
              <a:t>程序如下</a:t>
            </a:r>
            <a:r>
              <a:rPr lang="en-US" altLang="zh-CN" sz="2400" b="1" dirty="0">
                <a:ea typeface="楷体_GB2312" pitchFamily="49" charset="-122"/>
              </a:rPr>
              <a:t>：</a:t>
            </a:r>
          </a:p>
          <a:p>
            <a:pPr eaLnBrk="1" hangingPunct="1">
              <a:lnSpc>
                <a:spcPct val="95000"/>
              </a:lnSpc>
              <a:buFont typeface="Arial" panose="020B0604020202020204" pitchFamily="34" charset="0"/>
              <a:buNone/>
            </a:pPr>
            <a:r>
              <a:rPr lang="en-US" altLang="zh-CN" sz="2400" b="1" dirty="0">
                <a:ea typeface="楷体_GB2312" pitchFamily="49" charset="-122"/>
              </a:rPr>
              <a:t>import math</a:t>
            </a:r>
          </a:p>
          <a:p>
            <a:pPr eaLnBrk="1" hangingPunct="1">
              <a:lnSpc>
                <a:spcPct val="95000"/>
              </a:lnSpc>
              <a:buFont typeface="Arial" panose="020B0604020202020204" pitchFamily="34" charset="0"/>
              <a:buNone/>
            </a:pPr>
            <a:r>
              <a:rPr lang="en-US" altLang="zh-CN" sz="2400" b="1" dirty="0">
                <a:ea typeface="楷体_GB2312" pitchFamily="49" charset="-122"/>
              </a:rPr>
              <a:t>s=1</a:t>
            </a:r>
          </a:p>
          <a:p>
            <a:pPr eaLnBrk="1" hangingPunct="1">
              <a:lnSpc>
                <a:spcPct val="95000"/>
              </a:lnSpc>
              <a:buFont typeface="Arial" panose="020B0604020202020204" pitchFamily="34" charset="0"/>
              <a:buNone/>
            </a:pPr>
            <a:r>
              <a:rPr lang="en-US" altLang="zh-CN" sz="2400" b="1" dirty="0">
                <a:ea typeface="楷体_GB2312" pitchFamily="49" charset="-122"/>
              </a:rPr>
              <a:t>n=1.0</a:t>
            </a:r>
          </a:p>
          <a:p>
            <a:pPr eaLnBrk="1" hangingPunct="1">
              <a:lnSpc>
                <a:spcPct val="95000"/>
              </a:lnSpc>
              <a:buFont typeface="Arial" panose="020B0604020202020204" pitchFamily="34" charset="0"/>
              <a:buNone/>
            </a:pPr>
            <a:r>
              <a:rPr lang="en-US" altLang="zh-CN" sz="2400" b="1" dirty="0">
                <a:ea typeface="楷体_GB2312" pitchFamily="49" charset="-122"/>
              </a:rPr>
              <a:t>t=1.0</a:t>
            </a:r>
          </a:p>
          <a:p>
            <a:pPr eaLnBrk="1" hangingPunct="1">
              <a:lnSpc>
                <a:spcPct val="95000"/>
              </a:lnSpc>
              <a:buFont typeface="Arial" panose="020B0604020202020204" pitchFamily="34" charset="0"/>
              <a:buNone/>
            </a:pPr>
            <a:r>
              <a:rPr lang="en-US" altLang="zh-CN" sz="2400" b="1" dirty="0">
                <a:ea typeface="楷体_GB2312" pitchFamily="49" charset="-122"/>
              </a:rPr>
              <a:t>pi=0</a:t>
            </a:r>
          </a:p>
        </p:txBody>
      </p:sp>
      <p:pic>
        <p:nvPicPr>
          <p:cNvPr id="55299" name="图片 -2147482580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320" y="2110874"/>
            <a:ext cx="2938462" cy="817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文本框 2"/>
          <p:cNvSpPr txBox="1">
            <a:spLocks noChangeArrowheads="1"/>
          </p:cNvSpPr>
          <p:nvPr/>
        </p:nvSpPr>
        <p:spPr bwMode="auto">
          <a:xfrm>
            <a:off x="575279" y="5445224"/>
            <a:ext cx="3027363" cy="1076325"/>
          </a:xfrm>
          <a:prstGeom prst="rect">
            <a:avLst/>
          </a:prstGeom>
          <a:solidFill>
            <a:srgbClr val="B2B2FF"/>
          </a:solidFill>
          <a:ln w="9525">
            <a:solidFill>
              <a:schemeClr val="accent1"/>
            </a:solidFill>
            <a:round/>
          </a:ln>
        </p:spPr>
        <p:txBody>
          <a:bodyPr wrap="none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dirty="0"/>
              <a:t>程序运行结果：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dirty="0"/>
              <a:t>PI=3.141591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/>
              <p:cNvSpPr/>
              <p:nvPr/>
            </p:nvSpPr>
            <p:spPr>
              <a:xfrm>
                <a:off x="449351" y="1124744"/>
                <a:ext cx="8295393" cy="109472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CN" altLang="en-US" sz="2800" b="1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例</a:t>
                </a:r>
                <a:r>
                  <a:rPr lang="en-US" altLang="zh-CN" sz="2800" b="1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4-14</a:t>
                </a:r>
                <a:r>
                  <a:rPr lang="zh-CN" altLang="en-US" sz="2800" b="1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</a:t>
                </a:r>
                <a:r>
                  <a:rPr lang="zh-CN" altLang="en-US" sz="2800" dirty="0">
                    <a:solidFill>
                      <a:schemeClr val="tx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利用下面的公式求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r>
                          <a:rPr lang="zh-CN" altLang="en-US" sz="2800" i="1">
                            <a:solidFill>
                              <a:schemeClr val="tx2"/>
                            </a:solidFill>
                            <a:latin typeface="Cambria Math" panose="02040503050406030204"/>
                            <a:ea typeface="微软雅黑" panose="020B0503020204020204" pitchFamily="34" charset="-122"/>
                          </a:rPr>
                          <m:t>𝜋</m:t>
                        </m:r>
                      </m:num>
                      <m:den>
                        <m:r>
                          <a:rPr lang="en-US" altLang="zh-CN" sz="2800" b="0" i="1" smtClean="0">
                            <a:solidFill>
                              <a:schemeClr val="tx2"/>
                            </a:solidFill>
                            <a:latin typeface="Cambria Math" panose="02040503050406030204"/>
                            <a:ea typeface="微软雅黑" panose="020B0503020204020204" pitchFamily="34" charset="-122"/>
                          </a:rPr>
                          <m:t>4</m:t>
                        </m:r>
                      </m:den>
                    </m:f>
                  </m:oMath>
                </a14:m>
                <a:r>
                  <a:rPr lang="zh-CN" altLang="en-US" sz="2800" dirty="0">
                    <a:solidFill>
                      <a:schemeClr val="tx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的近似值，要求累加到最后一项小于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2800" b="0" i="1" smtClean="0">
                            <a:solidFill>
                              <a:schemeClr val="tx2"/>
                            </a:solidFill>
                            <a:latin typeface="Cambria Math" panose="02040503050406030204"/>
                            <a:ea typeface="微软雅黑" panose="020B0503020204020204" pitchFamily="34" charset="-122"/>
                          </a:rPr>
                          <m:t>10</m:t>
                        </m:r>
                      </m:e>
                      <m:sup>
                        <m:r>
                          <a:rPr lang="en-US" altLang="zh-CN" sz="2800" b="0" i="1" smtClean="0">
                            <a:solidFill>
                              <a:schemeClr val="tx2"/>
                            </a:solidFill>
                            <a:latin typeface="Cambria Math" panose="02040503050406030204"/>
                            <a:ea typeface="微软雅黑" panose="020B0503020204020204" pitchFamily="34" charset="-122"/>
                          </a:rPr>
                          <m:t>−6</m:t>
                        </m:r>
                      </m:sup>
                    </m:sSup>
                  </m:oMath>
                </a14:m>
                <a:r>
                  <a:rPr lang="zh-CN" altLang="en-US" sz="2800" dirty="0">
                    <a:solidFill>
                      <a:schemeClr val="tx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为止。</a:t>
                </a:r>
              </a:p>
            </p:txBody>
          </p:sp>
        </mc:Choice>
        <mc:Fallback xmlns=""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351" y="1124744"/>
                <a:ext cx="8295393" cy="1094723"/>
              </a:xfrm>
              <a:prstGeom prst="rect">
                <a:avLst/>
              </a:prstGeom>
              <a:blipFill rotWithShape="1">
                <a:blip r:embed="rId4"/>
                <a:stretch>
                  <a:fillRect l="-5" t="-15" r="2" b="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4237132" y="2996952"/>
            <a:ext cx="4440138" cy="2548390"/>
          </a:xfrm>
          <a:prstGeom prst="rect">
            <a:avLst/>
          </a:prstGeom>
          <a:solidFill>
            <a:srgbClr val="CCECFF"/>
          </a:solidFill>
          <a:ln w="38100">
            <a:solidFill>
              <a:srgbClr val="000066"/>
            </a:solidFill>
            <a:miter lim="800000"/>
          </a:ln>
        </p:spPr>
        <p:txBody>
          <a:bodyPr wrap="square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5000"/>
              </a:lnSpc>
              <a:buFont typeface="Arial" panose="020B0604020202020204" pitchFamily="34" charset="0"/>
              <a:buNone/>
            </a:pPr>
            <a:r>
              <a:rPr lang="en-US" altLang="zh-CN" sz="2400" b="1" dirty="0">
                <a:ea typeface="楷体_GB2312" pitchFamily="49" charset="-122"/>
              </a:rPr>
              <a:t>while </a:t>
            </a:r>
            <a:r>
              <a:rPr lang="en-US" altLang="zh-CN" sz="2400" b="1" dirty="0" err="1">
                <a:ea typeface="楷体_GB2312" pitchFamily="49" charset="-122"/>
              </a:rPr>
              <a:t>math.fabs</a:t>
            </a:r>
            <a:r>
              <a:rPr lang="en-US" altLang="zh-CN" sz="2400" b="1" dirty="0">
                <a:ea typeface="楷体_GB2312" pitchFamily="49" charset="-122"/>
              </a:rPr>
              <a:t>(t)&gt;=</a:t>
            </a:r>
            <a:r>
              <a:rPr lang="en-US" altLang="zh-CN" sz="2400" b="1" dirty="0" err="1">
                <a:ea typeface="楷体_GB2312" pitchFamily="49" charset="-122"/>
              </a:rPr>
              <a:t>1e</a:t>
            </a:r>
            <a:r>
              <a:rPr lang="en-US" altLang="zh-CN" sz="2400" b="1" dirty="0">
                <a:ea typeface="楷体_GB2312" pitchFamily="49" charset="-122"/>
              </a:rPr>
              <a:t>-6:</a:t>
            </a:r>
          </a:p>
          <a:p>
            <a:pPr eaLnBrk="1" hangingPunct="1">
              <a:lnSpc>
                <a:spcPct val="95000"/>
              </a:lnSpc>
              <a:buFont typeface="Arial" panose="020B0604020202020204" pitchFamily="34" charset="0"/>
              <a:buNone/>
            </a:pPr>
            <a:r>
              <a:rPr lang="en-US" altLang="zh-CN" sz="2400" b="1" dirty="0">
                <a:ea typeface="楷体_GB2312" pitchFamily="49" charset="-122"/>
              </a:rPr>
              <a:t>       pi=</a:t>
            </a:r>
            <a:r>
              <a:rPr lang="en-US" altLang="zh-CN" sz="2400" b="1" dirty="0" err="1">
                <a:ea typeface="楷体_GB2312" pitchFamily="49" charset="-122"/>
              </a:rPr>
              <a:t>pi+t</a:t>
            </a:r>
            <a:endParaRPr lang="en-US" altLang="zh-CN" sz="2400" b="1" dirty="0">
              <a:ea typeface="楷体_GB2312" pitchFamily="49" charset="-122"/>
            </a:endParaRPr>
          </a:p>
          <a:p>
            <a:pPr eaLnBrk="1" hangingPunct="1">
              <a:lnSpc>
                <a:spcPct val="95000"/>
              </a:lnSpc>
              <a:buFont typeface="Arial" panose="020B0604020202020204" pitchFamily="34" charset="0"/>
              <a:buNone/>
            </a:pPr>
            <a:r>
              <a:rPr lang="en-US" altLang="zh-CN" sz="2400" b="1" dirty="0">
                <a:ea typeface="楷体_GB2312" pitchFamily="49" charset="-122"/>
              </a:rPr>
              <a:t>       n=</a:t>
            </a:r>
            <a:r>
              <a:rPr lang="en-US" altLang="zh-CN" sz="2400" b="1" dirty="0" err="1">
                <a:ea typeface="楷体_GB2312" pitchFamily="49" charset="-122"/>
              </a:rPr>
              <a:t>n+2</a:t>
            </a:r>
            <a:endParaRPr lang="en-US" altLang="zh-CN" sz="2400" b="1" dirty="0">
              <a:ea typeface="楷体_GB2312" pitchFamily="49" charset="-122"/>
            </a:endParaRPr>
          </a:p>
          <a:p>
            <a:pPr eaLnBrk="1" hangingPunct="1">
              <a:lnSpc>
                <a:spcPct val="95000"/>
              </a:lnSpc>
              <a:buFont typeface="Arial" panose="020B0604020202020204" pitchFamily="34" charset="0"/>
              <a:buNone/>
            </a:pPr>
            <a:r>
              <a:rPr lang="en-US" altLang="zh-CN" sz="2400" b="1" dirty="0">
                <a:ea typeface="楷体_GB2312" pitchFamily="49" charset="-122"/>
              </a:rPr>
              <a:t>       s=-s</a:t>
            </a:r>
          </a:p>
          <a:p>
            <a:pPr eaLnBrk="1" hangingPunct="1">
              <a:lnSpc>
                <a:spcPct val="95000"/>
              </a:lnSpc>
              <a:buFont typeface="Arial" panose="020B0604020202020204" pitchFamily="34" charset="0"/>
              <a:buNone/>
            </a:pPr>
            <a:r>
              <a:rPr lang="en-US" altLang="zh-CN" sz="2400" b="1" dirty="0">
                <a:ea typeface="楷体_GB2312" pitchFamily="49" charset="-122"/>
              </a:rPr>
              <a:t>     t=s/n</a:t>
            </a:r>
          </a:p>
          <a:p>
            <a:pPr eaLnBrk="1" hangingPunct="1">
              <a:lnSpc>
                <a:spcPct val="95000"/>
              </a:lnSpc>
              <a:buFont typeface="Arial" panose="020B0604020202020204" pitchFamily="34" charset="0"/>
              <a:buNone/>
            </a:pPr>
            <a:r>
              <a:rPr lang="en-US" altLang="zh-CN" sz="2400" b="1" dirty="0">
                <a:ea typeface="楷体_GB2312" pitchFamily="49" charset="-122"/>
              </a:rPr>
              <a:t>pi=pi*4</a:t>
            </a:r>
          </a:p>
          <a:p>
            <a:pPr eaLnBrk="1" hangingPunct="1">
              <a:lnSpc>
                <a:spcPct val="95000"/>
              </a:lnSpc>
              <a:buFont typeface="Arial" panose="020B0604020202020204" pitchFamily="34" charset="0"/>
              <a:buNone/>
            </a:pPr>
            <a:r>
              <a:rPr lang="en-US" altLang="zh-CN" sz="2400" b="1" dirty="0">
                <a:ea typeface="楷体_GB2312" pitchFamily="49" charset="-122"/>
              </a:rPr>
              <a:t>print("PI=%</a:t>
            </a:r>
            <a:r>
              <a:rPr lang="en-US" altLang="zh-CN" sz="2400" b="1" dirty="0" err="1">
                <a:ea typeface="楷体_GB2312" pitchFamily="49" charset="-122"/>
              </a:rPr>
              <a:t>f"%pi</a:t>
            </a:r>
            <a:r>
              <a:rPr lang="en-US" altLang="zh-CN" sz="2400" b="1" dirty="0">
                <a:ea typeface="楷体_GB2312" pitchFamily="49" charset="-122"/>
              </a:rPr>
              <a:t>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advTm="6046"/>
    </mc:Choice>
    <mc:Fallback xmlns="">
      <p:transition advTm="6046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594" name="Rectangle 2"/>
          <p:cNvSpPr/>
          <p:nvPr/>
        </p:nvSpPr>
        <p:spPr>
          <a:xfrm>
            <a:off x="948833" y="299752"/>
            <a:ext cx="8970962" cy="566738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609600" indent="-609600" eaLnBrk="1" hangingPunct="1">
              <a:lnSpc>
                <a:spcPct val="105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lang="zh-CN" altLang="en-US" sz="3400" noProof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3400" noProof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4-15</a:t>
            </a:r>
            <a:r>
              <a:rPr lang="zh-CN" altLang="en-US" sz="3400" noProof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：百钱买百鸡</a:t>
            </a:r>
          </a:p>
        </p:txBody>
      </p:sp>
      <p:sp>
        <p:nvSpPr>
          <p:cNvPr id="3" name="矩形 2"/>
          <p:cNvSpPr/>
          <p:nvPr/>
        </p:nvSpPr>
        <p:spPr>
          <a:xfrm>
            <a:off x="504825" y="1126544"/>
            <a:ext cx="8324850" cy="38995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eaLnBrk="1" hangingPunct="1">
              <a:lnSpc>
                <a:spcPct val="125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lang="zh-CN" altLang="en-US" sz="2800" noProof="1">
                <a:latin typeface="微软雅黑" panose="020B0503020204020204" pitchFamily="34" charset="-122"/>
                <a:ea typeface="微软雅黑" panose="020B0503020204020204" pitchFamily="34" charset="-122"/>
              </a:rPr>
              <a:t>公鸡5文钱一只，母鸡3文钱一只，小鸡3只一文钱，用100文钱买一百只鸡，其中公鸡、母鸡、小鸡都必须要有，问公鸡，母鸡，小鸡要买多少只刚好凑足100文钱？</a:t>
            </a:r>
          </a:p>
          <a:p>
            <a:pPr indent="457200" eaLnBrk="1" hangingPunct="1">
              <a:lnSpc>
                <a:spcPct val="125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lang="zh-CN" altLang="en-US" sz="2800" noProof="1">
                <a:latin typeface="微软雅黑" panose="020B0503020204020204" pitchFamily="34" charset="-122"/>
                <a:ea typeface="微软雅黑" panose="020B0503020204020204" pitchFamily="34" charset="-122"/>
              </a:rPr>
              <a:t>分析：显然这是一个组合问题，也可以看作是解不定方程的问题，采用列举的方法实现。令i、j、k分别表示公鸡、母鸡和小鸡的数目。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advTm="6046"/>
    </mc:Choice>
    <mc:Fallback xmlns="">
      <p:transition advTm="6046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594" name="Rectangle 2"/>
          <p:cNvSpPr/>
          <p:nvPr/>
        </p:nvSpPr>
        <p:spPr>
          <a:xfrm>
            <a:off x="948833" y="299752"/>
            <a:ext cx="8970962" cy="566738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609600" indent="-609600" eaLnBrk="1" hangingPunct="1">
              <a:lnSpc>
                <a:spcPct val="105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lang="zh-CN" altLang="en-US" sz="3400" noProof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3400" noProof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4-15</a:t>
            </a:r>
            <a:r>
              <a:rPr lang="zh-CN" altLang="en-US" sz="3400" noProof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：百钱买百鸡</a:t>
            </a:r>
          </a:p>
        </p:txBody>
      </p:sp>
      <p:sp>
        <p:nvSpPr>
          <p:cNvPr id="1025027" name="Text Box 3"/>
          <p:cNvSpPr txBox="1">
            <a:spLocks noChangeArrowheads="1"/>
          </p:cNvSpPr>
          <p:nvPr/>
        </p:nvSpPr>
        <p:spPr bwMode="auto">
          <a:xfrm>
            <a:off x="385638" y="1261839"/>
            <a:ext cx="8324850" cy="4300538"/>
          </a:xfrm>
          <a:prstGeom prst="rect">
            <a:avLst/>
          </a:prstGeom>
          <a:solidFill>
            <a:srgbClr val="CCECFF"/>
          </a:solidFill>
          <a:ln w="38100">
            <a:solidFill>
              <a:srgbClr val="000066"/>
            </a:solidFill>
            <a:miter lim="800000"/>
          </a:ln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5000"/>
              </a:lnSpc>
              <a:buFont typeface="Arial" panose="020B0604020202020204" pitchFamily="34" charset="0"/>
              <a:buNone/>
            </a:pPr>
            <a:r>
              <a:rPr lang="en-US" altLang="zh-CN" sz="2400" b="1">
                <a:ea typeface="楷体_GB2312" pitchFamily="49" charset="-122"/>
              </a:rPr>
              <a:t>[方法一]令i、j、k的列举范围分别为：</a:t>
            </a:r>
          </a:p>
          <a:p>
            <a:pPr eaLnBrk="1" hangingPunct="1">
              <a:lnSpc>
                <a:spcPct val="95000"/>
              </a:lnSpc>
              <a:buFont typeface="Arial" panose="020B0604020202020204" pitchFamily="34" charset="0"/>
              <a:buNone/>
            </a:pPr>
            <a:r>
              <a:rPr lang="en-US" altLang="zh-CN" sz="2400" b="1">
                <a:ea typeface="楷体_GB2312" pitchFamily="49" charset="-122"/>
              </a:rPr>
              <a:t>i：1~20（公鸡最多能买20只）</a:t>
            </a:r>
          </a:p>
          <a:p>
            <a:pPr eaLnBrk="1" hangingPunct="1">
              <a:lnSpc>
                <a:spcPct val="95000"/>
              </a:lnSpc>
              <a:buFont typeface="Arial" panose="020B0604020202020204" pitchFamily="34" charset="0"/>
              <a:buNone/>
            </a:pPr>
            <a:r>
              <a:rPr lang="en-US" altLang="zh-CN" sz="2400" b="1">
                <a:ea typeface="楷体_GB2312" pitchFamily="49" charset="-122"/>
              </a:rPr>
              <a:t>j：1~33（母鸡最多能买33只）</a:t>
            </a:r>
          </a:p>
          <a:p>
            <a:pPr eaLnBrk="1" hangingPunct="1">
              <a:lnSpc>
                <a:spcPct val="95000"/>
              </a:lnSpc>
              <a:buFont typeface="Arial" panose="020B0604020202020204" pitchFamily="34" charset="0"/>
              <a:buNone/>
            </a:pPr>
            <a:r>
              <a:rPr lang="en-US" altLang="zh-CN" sz="2400" b="1">
                <a:ea typeface="楷体_GB2312" pitchFamily="49" charset="-122"/>
              </a:rPr>
              <a:t>k：1~100（小鸡最多能买100只）</a:t>
            </a:r>
          </a:p>
          <a:p>
            <a:pPr eaLnBrk="1" hangingPunct="1">
              <a:lnSpc>
                <a:spcPct val="95000"/>
              </a:lnSpc>
              <a:buFont typeface="Arial" panose="020B0604020202020204" pitchFamily="34" charset="0"/>
              <a:buNone/>
            </a:pPr>
            <a:r>
              <a:rPr lang="en-US" altLang="zh-CN" sz="2400" b="1">
                <a:ea typeface="楷体_GB2312" pitchFamily="49" charset="-122"/>
              </a:rPr>
              <a:t>可以采用三重循环逐个搜索。</a:t>
            </a:r>
          </a:p>
          <a:p>
            <a:pPr eaLnBrk="1" hangingPunct="1">
              <a:lnSpc>
                <a:spcPct val="95000"/>
              </a:lnSpc>
              <a:buFont typeface="Arial" panose="020B0604020202020204" pitchFamily="34" charset="0"/>
              <a:buNone/>
            </a:pPr>
            <a:r>
              <a:rPr lang="en-US" altLang="zh-CN" sz="2400" b="1">
                <a:ea typeface="楷体_GB2312" pitchFamily="49" charset="-122"/>
              </a:rPr>
              <a:t>程序如下：</a:t>
            </a:r>
          </a:p>
          <a:p>
            <a:pPr eaLnBrk="1" hangingPunct="1">
              <a:lnSpc>
                <a:spcPct val="95000"/>
              </a:lnSpc>
              <a:buFont typeface="Arial" panose="020B0604020202020204" pitchFamily="34" charset="0"/>
              <a:buNone/>
            </a:pPr>
            <a:r>
              <a:rPr lang="en-US" altLang="zh-CN" sz="2400" b="1">
                <a:ea typeface="楷体_GB2312" pitchFamily="49" charset="-122"/>
              </a:rPr>
              <a:t>for i in range(1,21):</a:t>
            </a:r>
          </a:p>
          <a:p>
            <a:pPr eaLnBrk="1" hangingPunct="1">
              <a:lnSpc>
                <a:spcPct val="95000"/>
              </a:lnSpc>
              <a:buFont typeface="Arial" panose="020B0604020202020204" pitchFamily="34" charset="0"/>
              <a:buNone/>
            </a:pPr>
            <a:r>
              <a:rPr lang="en-US" altLang="zh-CN" sz="2400" b="1">
                <a:ea typeface="楷体_GB2312" pitchFamily="49" charset="-122"/>
              </a:rPr>
              <a:t>       for j in range(1,34):</a:t>
            </a:r>
          </a:p>
          <a:p>
            <a:pPr eaLnBrk="1" hangingPunct="1">
              <a:lnSpc>
                <a:spcPct val="95000"/>
              </a:lnSpc>
              <a:buFont typeface="Arial" panose="020B0604020202020204" pitchFamily="34" charset="0"/>
              <a:buNone/>
            </a:pPr>
            <a:r>
              <a:rPr lang="en-US" altLang="zh-CN" sz="2400" b="1">
                <a:ea typeface="楷体_GB2312" pitchFamily="49" charset="-122"/>
              </a:rPr>
              <a:t>              for k in range(1,101):</a:t>
            </a:r>
          </a:p>
          <a:p>
            <a:pPr eaLnBrk="1" hangingPunct="1">
              <a:lnSpc>
                <a:spcPct val="95000"/>
              </a:lnSpc>
              <a:buFont typeface="Arial" panose="020B0604020202020204" pitchFamily="34" charset="0"/>
              <a:buNone/>
            </a:pPr>
            <a:r>
              <a:rPr lang="en-US" altLang="zh-CN" sz="2400" b="1">
                <a:ea typeface="楷体_GB2312" pitchFamily="49" charset="-122"/>
              </a:rPr>
              <a:t>                     if i+j+k==100 and i*5+j*3+k/3==100:</a:t>
            </a:r>
          </a:p>
          <a:p>
            <a:pPr eaLnBrk="1" hangingPunct="1">
              <a:lnSpc>
                <a:spcPct val="95000"/>
              </a:lnSpc>
              <a:buFont typeface="Arial" panose="020B0604020202020204" pitchFamily="34" charset="0"/>
              <a:buNone/>
            </a:pPr>
            <a:r>
              <a:rPr lang="en-US" altLang="zh-CN" sz="2400" b="1">
                <a:ea typeface="楷体_GB2312" pitchFamily="49" charset="-122"/>
              </a:rPr>
              <a:t>                        print("公鸡：%d只,母鸡：%d只,小鸡：%d只"%(i,j,k))</a:t>
            </a:r>
          </a:p>
        </p:txBody>
      </p:sp>
      <p:sp>
        <p:nvSpPr>
          <p:cNvPr id="2" name="文本框 1"/>
          <p:cNvSpPr txBox="1">
            <a:spLocks noChangeArrowheads="1"/>
          </p:cNvSpPr>
          <p:nvPr/>
        </p:nvSpPr>
        <p:spPr bwMode="auto">
          <a:xfrm>
            <a:off x="690438" y="3789139"/>
            <a:ext cx="7162800" cy="2676525"/>
          </a:xfrm>
          <a:prstGeom prst="rect">
            <a:avLst/>
          </a:prstGeom>
          <a:solidFill>
            <a:srgbClr val="B2B2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2800"/>
              <a:t>程序运行结果：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2800"/>
              <a:t>公鸡：4只,母鸡：18只,小鸡：78只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2800"/>
              <a:t>公鸡：8只,母鸡：11只,小鸡：81只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2800"/>
              <a:t>公鸡：12只,母鸡：4只,小鸡：84只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2800"/>
              <a:t>在程序中，循环体被执行了20×33×100=66000次。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advTm="6046"/>
    </mc:Choice>
    <mc:Fallback xmlns="">
      <p:transition advTm="6046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594" name="Rectangle 2"/>
          <p:cNvSpPr/>
          <p:nvPr/>
        </p:nvSpPr>
        <p:spPr>
          <a:xfrm>
            <a:off x="948833" y="299752"/>
            <a:ext cx="8970962" cy="566738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609600" indent="-609600" eaLnBrk="1" hangingPunct="1">
              <a:lnSpc>
                <a:spcPct val="105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lang="zh-CN" altLang="en-US" sz="3400" noProof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3400" noProof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4-15</a:t>
            </a:r>
            <a:r>
              <a:rPr lang="zh-CN" altLang="en-US" sz="3400" noProof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：百钱买百鸡</a:t>
            </a:r>
          </a:p>
        </p:txBody>
      </p:sp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395536" y="1196752"/>
            <a:ext cx="8324850" cy="5353050"/>
          </a:xfrm>
          <a:prstGeom prst="rect">
            <a:avLst/>
          </a:prstGeom>
          <a:solidFill>
            <a:srgbClr val="CCECFF"/>
          </a:solidFill>
          <a:ln w="38100">
            <a:solidFill>
              <a:srgbClr val="000066"/>
            </a:solidFill>
            <a:miter lim="800000"/>
          </a:ln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5000"/>
              </a:lnSpc>
              <a:buFont typeface="Arial" panose="020B0604020202020204" pitchFamily="34" charset="0"/>
              <a:buNone/>
            </a:pPr>
            <a:r>
              <a:rPr lang="en-US" altLang="zh-CN" sz="2400" b="1">
                <a:ea typeface="楷体_GB2312" pitchFamily="49" charset="-122"/>
              </a:rPr>
              <a:t>[方法二]令i、j、k的列举范围分别为（保证每种鸡至少买一只）：</a:t>
            </a:r>
          </a:p>
          <a:p>
            <a:pPr eaLnBrk="1" hangingPunct="1">
              <a:lnSpc>
                <a:spcPct val="95000"/>
              </a:lnSpc>
              <a:buFont typeface="Arial" panose="020B0604020202020204" pitchFamily="34" charset="0"/>
              <a:buNone/>
            </a:pPr>
            <a:r>
              <a:rPr lang="en-US" altLang="zh-CN" sz="2400" b="1">
                <a:ea typeface="楷体_GB2312" pitchFamily="49" charset="-122"/>
              </a:rPr>
              <a:t>i：1~18（公鸡最多能买18只）</a:t>
            </a:r>
          </a:p>
          <a:p>
            <a:pPr eaLnBrk="1" hangingPunct="1">
              <a:lnSpc>
                <a:spcPct val="95000"/>
              </a:lnSpc>
              <a:buFont typeface="Arial" panose="020B0604020202020204" pitchFamily="34" charset="0"/>
              <a:buNone/>
            </a:pPr>
            <a:r>
              <a:rPr lang="en-US" altLang="zh-CN" sz="2400" b="1">
                <a:ea typeface="楷体_GB2312" pitchFamily="49" charset="-122"/>
              </a:rPr>
              <a:t>j：1~31（母鸡最多能买31只）</a:t>
            </a:r>
          </a:p>
          <a:p>
            <a:pPr eaLnBrk="1" hangingPunct="1">
              <a:lnSpc>
                <a:spcPct val="95000"/>
              </a:lnSpc>
              <a:buFont typeface="Arial" panose="020B0604020202020204" pitchFamily="34" charset="0"/>
              <a:buNone/>
            </a:pPr>
            <a:r>
              <a:rPr lang="en-US" altLang="zh-CN" sz="2400" b="1">
                <a:ea typeface="楷体_GB2312" pitchFamily="49" charset="-122"/>
              </a:rPr>
              <a:t>k：100-i-k（当公鸡和小鸡数量确定后，小鸡的数量可计算得到）</a:t>
            </a:r>
          </a:p>
          <a:p>
            <a:pPr eaLnBrk="1" hangingPunct="1">
              <a:lnSpc>
                <a:spcPct val="95000"/>
              </a:lnSpc>
              <a:buFont typeface="Arial" panose="020B0604020202020204" pitchFamily="34" charset="0"/>
              <a:buNone/>
            </a:pPr>
            <a:r>
              <a:rPr lang="en-US" altLang="zh-CN" sz="2400" b="1">
                <a:ea typeface="楷体_GB2312" pitchFamily="49" charset="-122"/>
              </a:rPr>
              <a:t>可以采用两重循环逐个搜索。</a:t>
            </a:r>
          </a:p>
          <a:p>
            <a:pPr eaLnBrk="1" hangingPunct="1">
              <a:lnSpc>
                <a:spcPct val="95000"/>
              </a:lnSpc>
              <a:buFont typeface="Arial" panose="020B0604020202020204" pitchFamily="34" charset="0"/>
              <a:buNone/>
            </a:pPr>
            <a:r>
              <a:rPr lang="en-US" altLang="zh-CN" sz="2400" b="1">
                <a:ea typeface="楷体_GB2312" pitchFamily="49" charset="-122"/>
              </a:rPr>
              <a:t>程序如下：</a:t>
            </a:r>
          </a:p>
          <a:p>
            <a:pPr eaLnBrk="1" hangingPunct="1">
              <a:lnSpc>
                <a:spcPct val="95000"/>
              </a:lnSpc>
              <a:buFont typeface="Arial" panose="020B0604020202020204" pitchFamily="34" charset="0"/>
              <a:buNone/>
            </a:pPr>
            <a:r>
              <a:rPr lang="en-US" altLang="zh-CN" sz="2400" b="1">
                <a:ea typeface="楷体_GB2312" pitchFamily="49" charset="-122"/>
              </a:rPr>
              <a:t>for i in range(1,19):</a:t>
            </a:r>
          </a:p>
          <a:p>
            <a:pPr eaLnBrk="1" hangingPunct="1">
              <a:lnSpc>
                <a:spcPct val="95000"/>
              </a:lnSpc>
              <a:buFont typeface="Arial" panose="020B0604020202020204" pitchFamily="34" charset="0"/>
              <a:buNone/>
            </a:pPr>
            <a:r>
              <a:rPr lang="en-US" altLang="zh-CN" sz="2400" b="1">
                <a:ea typeface="楷体_GB2312" pitchFamily="49" charset="-122"/>
              </a:rPr>
              <a:t>       for j in range(1,32):</a:t>
            </a:r>
          </a:p>
          <a:p>
            <a:pPr eaLnBrk="1" hangingPunct="1">
              <a:lnSpc>
                <a:spcPct val="95000"/>
              </a:lnSpc>
              <a:buFont typeface="Arial" panose="020B0604020202020204" pitchFamily="34" charset="0"/>
              <a:buNone/>
            </a:pPr>
            <a:r>
              <a:rPr lang="en-US" altLang="zh-CN" sz="2400" b="1">
                <a:ea typeface="楷体_GB2312" pitchFamily="49" charset="-122"/>
              </a:rPr>
              <a:t>              k=100-i-j</a:t>
            </a:r>
          </a:p>
          <a:p>
            <a:pPr eaLnBrk="1" hangingPunct="1">
              <a:lnSpc>
                <a:spcPct val="95000"/>
              </a:lnSpc>
              <a:buFont typeface="Arial" panose="020B0604020202020204" pitchFamily="34" charset="0"/>
              <a:buNone/>
            </a:pPr>
            <a:r>
              <a:rPr lang="en-US" altLang="zh-CN" sz="2400" b="1">
                <a:ea typeface="楷体_GB2312" pitchFamily="49" charset="-122"/>
              </a:rPr>
              <a:t>              if i+j+k==100 and i*5+j*3+k/3==100:</a:t>
            </a:r>
          </a:p>
          <a:p>
            <a:pPr eaLnBrk="1" hangingPunct="1">
              <a:lnSpc>
                <a:spcPct val="95000"/>
              </a:lnSpc>
              <a:buFont typeface="Arial" panose="020B0604020202020204" pitchFamily="34" charset="0"/>
              <a:buNone/>
            </a:pPr>
            <a:r>
              <a:rPr lang="en-US" altLang="zh-CN" sz="2400" b="1">
                <a:ea typeface="楷体_GB2312" pitchFamily="49" charset="-122"/>
              </a:rPr>
              <a:t>                        print("公鸡：%d只,母鸡：%d只,小鸡：%d只"%(i,j,k))</a:t>
            </a:r>
          </a:p>
          <a:p>
            <a:pPr eaLnBrk="1" hangingPunct="1">
              <a:lnSpc>
                <a:spcPct val="95000"/>
              </a:lnSpc>
              <a:buFont typeface="Arial" panose="020B0604020202020204" pitchFamily="34" charset="0"/>
              <a:buNone/>
            </a:pPr>
            <a:r>
              <a:rPr lang="en-US" altLang="zh-CN" sz="2400" b="1">
                <a:ea typeface="楷体_GB2312" pitchFamily="49" charset="-122"/>
              </a:rPr>
              <a:t>在程序中，循环体被执行了18×81=558次。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advTm="6046"/>
    </mc:Choice>
    <mc:Fallback xmlns="">
      <p:transition advTm="6046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594" name="Rectangle 2"/>
          <p:cNvSpPr/>
          <p:nvPr/>
        </p:nvSpPr>
        <p:spPr>
          <a:xfrm>
            <a:off x="948833" y="299752"/>
            <a:ext cx="8970962" cy="566738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609600" indent="-609600" eaLnBrk="1" hangingPunct="1">
              <a:lnSpc>
                <a:spcPct val="105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lang="zh-CN" altLang="en-US" sz="3400" noProof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3400" noProof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4-15</a:t>
            </a:r>
            <a:r>
              <a:rPr lang="zh-CN" altLang="en-US" sz="3400" noProof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：百钱买百鸡</a:t>
            </a:r>
          </a:p>
        </p:txBody>
      </p:sp>
      <p:sp>
        <p:nvSpPr>
          <p:cNvPr id="8" name="Text Box 3"/>
          <p:cNvSpPr txBox="1">
            <a:spLocks noChangeArrowheads="1"/>
          </p:cNvSpPr>
          <p:nvPr/>
        </p:nvSpPr>
        <p:spPr bwMode="auto">
          <a:xfrm>
            <a:off x="395536" y="1412776"/>
            <a:ext cx="8324850" cy="4300537"/>
          </a:xfrm>
          <a:prstGeom prst="rect">
            <a:avLst/>
          </a:prstGeom>
          <a:solidFill>
            <a:srgbClr val="CCECFF"/>
          </a:solidFill>
          <a:ln w="38100">
            <a:solidFill>
              <a:srgbClr val="000066"/>
            </a:solidFill>
            <a:miter lim="800000"/>
          </a:ln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5000"/>
              </a:lnSpc>
              <a:buFont typeface="Arial" panose="020B0604020202020204" pitchFamily="34" charset="0"/>
              <a:buNone/>
            </a:pPr>
            <a:r>
              <a:rPr lang="en-US" altLang="zh-CN" sz="2400" b="1">
                <a:ea typeface="楷体_GB2312" pitchFamily="49" charset="-122"/>
              </a:rPr>
              <a:t>[方法三]从题意可得到下列方程组：</a:t>
            </a:r>
          </a:p>
          <a:p>
            <a:pPr eaLnBrk="1" hangingPunct="1">
              <a:lnSpc>
                <a:spcPct val="95000"/>
              </a:lnSpc>
              <a:buFont typeface="Arial" panose="020B0604020202020204" pitchFamily="34" charset="0"/>
              <a:buNone/>
            </a:pPr>
            <a:endParaRPr lang="en-US" altLang="zh-CN" sz="2400" b="1">
              <a:ea typeface="楷体_GB2312" pitchFamily="49" charset="-122"/>
            </a:endParaRPr>
          </a:p>
          <a:p>
            <a:pPr eaLnBrk="1" hangingPunct="1">
              <a:lnSpc>
                <a:spcPct val="95000"/>
              </a:lnSpc>
              <a:buFont typeface="Arial" panose="020B0604020202020204" pitchFamily="34" charset="0"/>
              <a:buNone/>
            </a:pPr>
            <a:r>
              <a:rPr lang="en-US" altLang="zh-CN" sz="2400" b="1">
                <a:ea typeface="楷体_GB2312" pitchFamily="49" charset="-122"/>
              </a:rPr>
              <a:t>由方程组可得到式子7i+4j=100。由于i和j至少为1，因此可知i最大为13，j最大为23。方法二的两重循环可改进为以下程序：</a:t>
            </a:r>
          </a:p>
          <a:p>
            <a:pPr eaLnBrk="1" hangingPunct="1">
              <a:lnSpc>
                <a:spcPct val="95000"/>
              </a:lnSpc>
              <a:buFont typeface="Arial" panose="020B0604020202020204" pitchFamily="34" charset="0"/>
              <a:buNone/>
            </a:pPr>
            <a:r>
              <a:rPr lang="en-US" altLang="zh-CN" sz="2400" b="1">
                <a:ea typeface="楷体_GB2312" pitchFamily="49" charset="-122"/>
              </a:rPr>
              <a:t>   for i in range(1,14):</a:t>
            </a:r>
          </a:p>
          <a:p>
            <a:pPr eaLnBrk="1" hangingPunct="1">
              <a:lnSpc>
                <a:spcPct val="95000"/>
              </a:lnSpc>
              <a:buFont typeface="Arial" panose="020B0604020202020204" pitchFamily="34" charset="0"/>
              <a:buNone/>
            </a:pPr>
            <a:r>
              <a:rPr lang="en-US" altLang="zh-CN" sz="2400" b="1">
                <a:ea typeface="楷体_GB2312" pitchFamily="49" charset="-122"/>
              </a:rPr>
              <a:t>       for j in range(1,24):</a:t>
            </a:r>
          </a:p>
          <a:p>
            <a:pPr eaLnBrk="1" hangingPunct="1">
              <a:lnSpc>
                <a:spcPct val="95000"/>
              </a:lnSpc>
              <a:buFont typeface="Arial" panose="020B0604020202020204" pitchFamily="34" charset="0"/>
              <a:buNone/>
            </a:pPr>
            <a:r>
              <a:rPr lang="en-US" altLang="zh-CN" sz="2400" b="1">
                <a:ea typeface="楷体_GB2312" pitchFamily="49" charset="-122"/>
              </a:rPr>
              <a:t>              k=100-i-j</a:t>
            </a:r>
          </a:p>
          <a:p>
            <a:pPr eaLnBrk="1" hangingPunct="1">
              <a:lnSpc>
                <a:spcPct val="95000"/>
              </a:lnSpc>
              <a:buFont typeface="Arial" panose="020B0604020202020204" pitchFamily="34" charset="0"/>
              <a:buNone/>
            </a:pPr>
            <a:r>
              <a:rPr lang="en-US" altLang="zh-CN" sz="2400" b="1">
                <a:ea typeface="楷体_GB2312" pitchFamily="49" charset="-122"/>
              </a:rPr>
              <a:t>              if i+j+k==100 and i*5+j*3+k/3==100:</a:t>
            </a:r>
          </a:p>
          <a:p>
            <a:pPr eaLnBrk="1" hangingPunct="1">
              <a:lnSpc>
                <a:spcPct val="95000"/>
              </a:lnSpc>
              <a:buFont typeface="Arial" panose="020B0604020202020204" pitchFamily="34" charset="0"/>
              <a:buNone/>
            </a:pPr>
            <a:r>
              <a:rPr lang="en-US" altLang="zh-CN" sz="2400" b="1">
                <a:ea typeface="楷体_GB2312" pitchFamily="49" charset="-122"/>
              </a:rPr>
              <a:t>                        print("公鸡：%d只,母鸡：%d只,小鸡：%d只"%(i,j,k))</a:t>
            </a:r>
          </a:p>
          <a:p>
            <a:pPr eaLnBrk="1" hangingPunct="1">
              <a:lnSpc>
                <a:spcPct val="95000"/>
              </a:lnSpc>
              <a:buFont typeface="Arial" panose="020B0604020202020204" pitchFamily="34" charset="0"/>
              <a:buNone/>
            </a:pPr>
            <a:r>
              <a:rPr lang="en-US" altLang="zh-CN" sz="2400" b="1">
                <a:ea typeface="楷体_GB2312" pitchFamily="49" charset="-122"/>
              </a:rPr>
              <a:t>该程序的循环体被执行了14×24=336次。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advTm="6046"/>
    </mc:Choice>
    <mc:Fallback xmlns="">
      <p:transition advTm="6046"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594" name="Rectangle 2"/>
          <p:cNvSpPr/>
          <p:nvPr/>
        </p:nvSpPr>
        <p:spPr>
          <a:xfrm>
            <a:off x="948833" y="299752"/>
            <a:ext cx="8970962" cy="566738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609600" indent="-609600" eaLnBrk="1" hangingPunct="1">
              <a:lnSpc>
                <a:spcPct val="105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lang="zh-CN" altLang="en-US" sz="3400" noProof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3400" noProof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4-15</a:t>
            </a:r>
            <a:r>
              <a:rPr lang="zh-CN" altLang="en-US" sz="3400" noProof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：百钱买百鸡</a:t>
            </a:r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501052" y="1277938"/>
            <a:ext cx="8324850" cy="4300537"/>
          </a:xfrm>
          <a:prstGeom prst="rect">
            <a:avLst/>
          </a:prstGeom>
          <a:solidFill>
            <a:srgbClr val="CCECFF"/>
          </a:solidFill>
          <a:ln w="38100">
            <a:solidFill>
              <a:srgbClr val="000066"/>
            </a:solidFill>
            <a:miter lim="800000"/>
          </a:ln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5000"/>
              </a:lnSpc>
              <a:buFont typeface="Arial" panose="020B0604020202020204" pitchFamily="34" charset="0"/>
              <a:buNone/>
            </a:pPr>
            <a:r>
              <a:rPr lang="en-US" altLang="zh-CN" sz="2400" b="1">
                <a:ea typeface="楷体_GB2312" pitchFamily="49" charset="-122"/>
              </a:rPr>
              <a:t>[方法四] 由方法三中的式7i+4j=100可得：j=(100-7i)/4。观察7i+4j=100，4j同100都是4的倍数，因此i一定也是4的倍数。有了这些条件，程序实现时只需要对i进行逐个搜索即可，i的搜索范围为1~13。</a:t>
            </a:r>
          </a:p>
          <a:p>
            <a:pPr eaLnBrk="1" hangingPunct="1">
              <a:lnSpc>
                <a:spcPct val="95000"/>
              </a:lnSpc>
              <a:buFont typeface="Arial" panose="020B0604020202020204" pitchFamily="34" charset="0"/>
              <a:buNone/>
            </a:pPr>
            <a:r>
              <a:rPr lang="en-US" altLang="zh-CN" sz="2400" b="1">
                <a:ea typeface="楷体_GB2312" pitchFamily="49" charset="-122"/>
              </a:rPr>
              <a:t>采用单层循环进行逐个搜索。</a:t>
            </a:r>
          </a:p>
          <a:p>
            <a:pPr eaLnBrk="1" hangingPunct="1">
              <a:lnSpc>
                <a:spcPct val="95000"/>
              </a:lnSpc>
              <a:buFont typeface="Arial" panose="020B0604020202020204" pitchFamily="34" charset="0"/>
              <a:buNone/>
            </a:pPr>
            <a:r>
              <a:rPr lang="en-US" altLang="zh-CN" sz="2400" b="1">
                <a:ea typeface="楷体_GB2312" pitchFamily="49" charset="-122"/>
              </a:rPr>
              <a:t>程序如下：</a:t>
            </a:r>
          </a:p>
          <a:p>
            <a:pPr eaLnBrk="1" hangingPunct="1">
              <a:lnSpc>
                <a:spcPct val="95000"/>
              </a:lnSpc>
              <a:buFont typeface="Arial" panose="020B0604020202020204" pitchFamily="34" charset="0"/>
              <a:buNone/>
            </a:pPr>
            <a:r>
              <a:rPr lang="en-US" altLang="zh-CN" sz="2400" b="1">
                <a:ea typeface="楷体_GB2312" pitchFamily="49" charset="-122"/>
              </a:rPr>
              <a:t>for i in range(1,14):</a:t>
            </a:r>
          </a:p>
          <a:p>
            <a:pPr eaLnBrk="1" hangingPunct="1">
              <a:lnSpc>
                <a:spcPct val="95000"/>
              </a:lnSpc>
              <a:buFont typeface="Arial" panose="020B0604020202020204" pitchFamily="34" charset="0"/>
              <a:buNone/>
            </a:pPr>
            <a:r>
              <a:rPr lang="en-US" altLang="zh-CN" sz="2400" b="1">
                <a:ea typeface="楷体_GB2312" pitchFamily="49" charset="-122"/>
              </a:rPr>
              <a:t>    j=(100-7*i)/4</a:t>
            </a:r>
          </a:p>
          <a:p>
            <a:pPr eaLnBrk="1" hangingPunct="1">
              <a:lnSpc>
                <a:spcPct val="95000"/>
              </a:lnSpc>
              <a:buFont typeface="Arial" panose="020B0604020202020204" pitchFamily="34" charset="0"/>
              <a:buNone/>
            </a:pPr>
            <a:r>
              <a:rPr lang="en-US" altLang="zh-CN" sz="2400" b="1">
                <a:ea typeface="楷体_GB2312" pitchFamily="49" charset="-122"/>
              </a:rPr>
              <a:t>    k=100-i-j</a:t>
            </a:r>
          </a:p>
          <a:p>
            <a:pPr eaLnBrk="1" hangingPunct="1">
              <a:lnSpc>
                <a:spcPct val="95000"/>
              </a:lnSpc>
              <a:buFont typeface="Arial" panose="020B0604020202020204" pitchFamily="34" charset="0"/>
              <a:buNone/>
            </a:pPr>
            <a:r>
              <a:rPr lang="en-US" altLang="zh-CN" sz="2400" b="1">
                <a:ea typeface="楷体_GB2312" pitchFamily="49" charset="-122"/>
              </a:rPr>
              <a:t>    if i%4==0:        </a:t>
            </a:r>
          </a:p>
          <a:p>
            <a:pPr eaLnBrk="1" hangingPunct="1">
              <a:lnSpc>
                <a:spcPct val="95000"/>
              </a:lnSpc>
              <a:buFont typeface="Arial" panose="020B0604020202020204" pitchFamily="34" charset="0"/>
              <a:buNone/>
            </a:pPr>
            <a:r>
              <a:rPr lang="en-US" altLang="zh-CN" sz="2400" b="1">
                <a:ea typeface="楷体_GB2312" pitchFamily="49" charset="-122"/>
              </a:rPr>
              <a:t>         print("公鸡：%d只,母鸡：%d只,小鸡：%d只"%(i,j,k))</a:t>
            </a:r>
          </a:p>
          <a:p>
            <a:pPr eaLnBrk="1" hangingPunct="1">
              <a:lnSpc>
                <a:spcPct val="95000"/>
              </a:lnSpc>
              <a:buFont typeface="Arial" panose="020B0604020202020204" pitchFamily="34" charset="0"/>
              <a:buNone/>
            </a:pPr>
            <a:r>
              <a:rPr lang="en-US" altLang="zh-CN" sz="2400" b="1">
                <a:ea typeface="楷体_GB2312" pitchFamily="49" charset="-122"/>
              </a:rPr>
              <a:t>该算法程序只循环了13次。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advTm="6046"/>
    </mc:Choice>
    <mc:Fallback xmlns="">
      <p:transition advTm="6046"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7" name="Rectangle 2"/>
          <p:cNvSpPr>
            <a:spLocks noGrp="1" noChangeArrowheads="1"/>
          </p:cNvSpPr>
          <p:nvPr>
            <p:ph type="title"/>
          </p:nvPr>
        </p:nvSpPr>
        <p:spPr>
          <a:xfrm>
            <a:off x="1187624" y="332656"/>
            <a:ext cx="6870700" cy="584200"/>
          </a:xfrm>
        </p:spPr>
        <p:txBody>
          <a:bodyPr/>
          <a:lstStyle/>
          <a:p>
            <a:pPr eaLnBrk="1" hangingPunct="1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华文隶书"/>
              </a:rPr>
              <a:t>小结</a:t>
            </a:r>
          </a:p>
        </p:txBody>
      </p:sp>
      <p:sp>
        <p:nvSpPr>
          <p:cNvPr id="10137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9592" y="1412776"/>
            <a:ext cx="7200800" cy="4392488"/>
          </a:xfrm>
        </p:spPr>
        <p:txBody>
          <a:bodyPr/>
          <a:lstStyle/>
          <a:p>
            <a:pPr>
              <a:lnSpc>
                <a:spcPct val="125000"/>
              </a:lnSpc>
              <a:buClr>
                <a:srgbClr val="FF0000"/>
              </a:buClr>
              <a:buFont typeface="Wingdings" panose="05000000000000000000" pitchFamily="2" charset="2"/>
              <a:buChar char="["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for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循环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5000"/>
              </a:lnSpc>
              <a:buClr>
                <a:srgbClr val="FF0000"/>
              </a:buClr>
              <a:buFont typeface="Wingdings" panose="05000000000000000000" pitchFamily="2" charset="2"/>
              <a:buChar char="["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while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循环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5000"/>
              </a:lnSpc>
              <a:buClr>
                <a:srgbClr val="FF0000"/>
              </a:buClr>
              <a:buFont typeface="Wingdings" panose="05000000000000000000" pitchFamily="2" charset="2"/>
              <a:buChar char="[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循环的嵌套</a:t>
            </a:r>
          </a:p>
          <a:p>
            <a:pPr>
              <a:lnSpc>
                <a:spcPct val="125000"/>
              </a:lnSpc>
              <a:buClr>
                <a:srgbClr val="FF0000"/>
              </a:buClr>
              <a:buFont typeface="Wingdings" panose="05000000000000000000" pitchFamily="2" charset="2"/>
              <a:buChar char="[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循环控制语句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25000"/>
              </a:lnSpc>
              <a:buClr>
                <a:srgbClr val="FF0000"/>
              </a:buClr>
              <a:buNone/>
            </a:pP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advTm="6046"/>
    </mc:Choice>
    <mc:Fallback xmlns="">
      <p:transition advTm="6046"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1" name="Rectangle 2"/>
          <p:cNvSpPr>
            <a:spLocks noGrp="1" noChangeArrowheads="1"/>
          </p:cNvSpPr>
          <p:nvPr>
            <p:ph type="title"/>
          </p:nvPr>
        </p:nvSpPr>
        <p:spPr>
          <a:xfrm>
            <a:off x="1187624" y="188640"/>
            <a:ext cx="5616575" cy="915988"/>
          </a:xfrm>
        </p:spPr>
        <p:txBody>
          <a:bodyPr/>
          <a:lstStyle/>
          <a:p>
            <a:pPr eaLnBrk="1" hangingPunct="1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作业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3427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539552" y="1124744"/>
                <a:ext cx="8280920" cy="2520280"/>
              </a:xfrm>
            </p:spPr>
            <p:txBody>
              <a:bodyPr/>
              <a:lstStyle/>
              <a:p>
                <a:pPr eaLnBrk="1" hangingPunct="1">
                  <a:lnSpc>
                    <a:spcPct val="125000"/>
                  </a:lnSpc>
                  <a:buClr>
                    <a:srgbClr val="3333FF"/>
                  </a:buClr>
                  <a:buFont typeface="Wingdings" panose="05000000000000000000" pitchFamily="2" charset="2"/>
                  <a:buChar char="["/>
                  <a:defRPr/>
                </a:pPr>
                <a:r>
                  <a:rPr lang="zh-CN" altLang="en-US" sz="2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思考题</a:t>
                </a:r>
                <a:endParaRPr lang="en-US" altLang="zh-CN" sz="28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0" indent="457200" eaLnBrk="1" hangingPunct="1">
                  <a:lnSpc>
                    <a:spcPct val="125000"/>
                  </a:lnSpc>
                  <a:buClr>
                    <a:srgbClr val="3333FF"/>
                  </a:buClr>
                  <a:buNone/>
                  <a:defRPr/>
                </a:pPr>
                <a:r>
                  <a:rPr lang="zh-CN" altLang="en-US" sz="2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编程实现求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2800" b="0" i="1" smtClean="0">
                            <a:latin typeface="Cambria Math" panose="02040503050406030204"/>
                            <a:ea typeface="微软雅黑" panose="020B0503020204020204" pitchFamily="34" charset="-122"/>
                          </a:rPr>
                          <m:t>𝑒</m:t>
                        </m:r>
                      </m:e>
                      <m:sup>
                        <m:r>
                          <a:rPr lang="en-US" altLang="zh-CN" sz="2800" b="0" i="1" smtClean="0">
                            <a:latin typeface="Cambria Math" panose="02040503050406030204"/>
                            <a:ea typeface="微软雅黑" panose="020B0503020204020204" pitchFamily="34" charset="-122"/>
                          </a:rPr>
                          <m:t>𝑥</m:t>
                        </m:r>
                      </m:sup>
                    </m:sSup>
                    <m:r>
                      <a:rPr lang="en-US" altLang="zh-CN" sz="2800" b="0" i="1" smtClean="0">
                        <a:latin typeface="Cambria Math" panose="02040503050406030204"/>
                        <a:ea typeface="微软雅黑" panose="020B0503020204020204" pitchFamily="34" charset="-122"/>
                      </a:rPr>
                      <m:t>,</m:t>
                    </m:r>
                    <m:func>
                      <m:func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2800" b="0" i="0" smtClean="0">
                            <a:latin typeface="Cambria Math" panose="02040503050406030204"/>
                            <a:ea typeface="微软雅黑" panose="020B0503020204020204" pitchFamily="34" charset="-122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r>
                              <a:rPr lang="en-US" altLang="zh-CN" sz="2800" b="0" i="1" smtClean="0">
                                <a:latin typeface="Cambria Math" panose="02040503050406030204"/>
                                <a:ea typeface="微软雅黑" panose="020B0503020204020204" pitchFamily="34" charset="-122"/>
                              </a:rPr>
                              <m:t>𝑥</m:t>
                            </m:r>
                          </m:e>
                        </m:d>
                      </m:e>
                    </m:func>
                    <m:r>
                      <a:rPr lang="en-US" altLang="zh-CN" sz="2800" b="0" i="1" smtClean="0">
                        <a:latin typeface="Cambria Math" panose="02040503050406030204"/>
                        <a:ea typeface="微软雅黑" panose="020B0503020204020204" pitchFamily="34" charset="-122"/>
                      </a:rPr>
                      <m:t>,</m:t>
                    </m:r>
                    <m:r>
                      <m:rPr>
                        <m:sty m:val="p"/>
                      </m:rPr>
                      <a:rPr lang="en-US" altLang="zh-CN" sz="2800" b="0" i="0" smtClean="0">
                        <a:latin typeface="Cambria Math" panose="02040503050406030204"/>
                        <a:ea typeface="微软雅黑" panose="020B0503020204020204" pitchFamily="34" charset="-122"/>
                      </a:rPr>
                      <m:t>cos</m:t>
                    </m:r>
                    <m:r>
                      <a:rPr lang="en-US" altLang="zh-CN" sz="2800" b="0" i="1" smtClean="0">
                        <a:latin typeface="Cambria Math" panose="02040503050406030204"/>
                        <a:ea typeface="微软雅黑" panose="020B0503020204020204" pitchFamily="34" charset="-122"/>
                      </a:rPr>
                      <m:t>⁡(</m:t>
                    </m:r>
                    <m:r>
                      <a:rPr lang="en-US" altLang="zh-CN" sz="2800" b="0" i="1" smtClean="0">
                        <a:latin typeface="Cambria Math" panose="02040503050406030204"/>
                        <a:ea typeface="微软雅黑" panose="020B0503020204020204" pitchFamily="34" charset="-122"/>
                      </a:rPr>
                      <m:t>𝑥</m:t>
                    </m:r>
                    <m:r>
                      <a:rPr lang="en-US" altLang="zh-CN" sz="2800" b="0" i="1" smtClean="0">
                        <a:latin typeface="Cambria Math" panose="02040503050406030204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zh-CN" altLang="en-US" sz="2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，先写出算法步骤，再画出流程图，最后编程实现。</a:t>
                </a:r>
                <a:endParaRPr lang="en-US" altLang="zh-CN" sz="28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0" indent="457200" eaLnBrk="1" hangingPunct="1">
                  <a:lnSpc>
                    <a:spcPct val="125000"/>
                  </a:lnSpc>
                  <a:buClr>
                    <a:srgbClr val="3333FF"/>
                  </a:buClr>
                  <a:buNone/>
                  <a:defRPr/>
                </a:pPr>
                <a:r>
                  <a:rPr lang="zh-CN" altLang="en-US" sz="2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提示：</a:t>
                </a:r>
              </a:p>
            </p:txBody>
          </p:sp>
        </mc:Choice>
        <mc:Fallback xmlns="">
          <p:sp>
            <p:nvSpPr>
              <p:cNvPr id="103427" name="Rectangle 3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539552" y="1124744"/>
                <a:ext cx="8280920" cy="2520280"/>
              </a:xfrm>
              <a:blipFill rotWithShape="1">
                <a:blip r:embed="rId2"/>
                <a:stretch>
                  <a:fillRect l="-5" t="-6" r="4" b="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403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5984" y="2751956"/>
            <a:ext cx="3619500" cy="828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403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7872" y="3576836"/>
            <a:ext cx="5705475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4036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7872" y="4293096"/>
            <a:ext cx="6029325" cy="723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advTm="6046"/>
    </mc:Choice>
    <mc:Fallback xmlns="">
      <p:transition advTm="6046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NzBjZmIyMTU1Y2MwZjFjNDA0ZTk0YmNlZGI1Y2ViMDkifQ=="/>
  <p:tag name="KSO_WPP_MARK_KEY" val="2b611161-6488-4d29-8d11-cc79a90127df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628.148031496063,&quot;width&quot;:2586.492913385827}"/>
</p:tagLst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黑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  <a:txDef>
      <a:spPr>
        <a:solidFill>
          <a:srgbClr val="00CCFF">
            <a:alpha val="92000"/>
          </a:srgbClr>
        </a:solidFill>
        <a:ln w="9525">
          <a:solidFill>
            <a:srgbClr val="9900CC"/>
          </a:solidFill>
          <a:miter lim="800000"/>
        </a:ln>
      </a:spPr>
      <a:bodyPr wrap="none" anchor="ctr"/>
      <a:lstStyle>
        <a:defPPr>
          <a:lnSpc>
            <a:spcPct val="150000"/>
          </a:lnSpc>
          <a:defRPr sz="2800" dirty="0">
            <a:solidFill>
              <a:schemeClr val="tx1"/>
            </a:solidFill>
          </a:defRPr>
        </a:defPPr>
      </a:lstStyle>
    </a:tx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模板</Template>
  <TotalTime>86</TotalTime>
  <Words>3383</Words>
  <Application>Microsoft Office PowerPoint</Application>
  <PresentationFormat>全屏显示(4:3)</PresentationFormat>
  <Paragraphs>486</Paragraphs>
  <Slides>47</Slides>
  <Notes>14</Notes>
  <HiddenSlides>3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47</vt:i4>
      </vt:variant>
    </vt:vector>
  </HeadingPairs>
  <TitlesOfParts>
    <vt:vector size="59" baseType="lpstr">
      <vt:lpstr>黑体</vt:lpstr>
      <vt:lpstr>华文隶书</vt:lpstr>
      <vt:lpstr>楷体_GB2312</vt:lpstr>
      <vt:lpstr>隶书</vt:lpstr>
      <vt:lpstr>宋体</vt:lpstr>
      <vt:lpstr>微软雅黑</vt:lpstr>
      <vt:lpstr>Arial</vt:lpstr>
      <vt:lpstr>Cambria Math</vt:lpstr>
      <vt:lpstr>Times New Roman</vt:lpstr>
      <vt:lpstr>Wingdings</vt:lpstr>
      <vt:lpstr>Wingdings 2</vt:lpstr>
      <vt:lpstr>默认设计模板</vt:lpstr>
      <vt:lpstr>PowerPoint 演示文稿</vt:lpstr>
      <vt:lpstr>《Python程序设计》</vt:lpstr>
      <vt:lpstr>第4章 Python控制结构</vt:lpstr>
      <vt:lpstr>PowerPoint 演示文稿</vt:lpstr>
      <vt:lpstr>引例</vt:lpstr>
      <vt:lpstr>循环结构程序设计</vt:lpstr>
      <vt:lpstr>循环结构的基本类型</vt:lpstr>
      <vt:lpstr>循环结构程序设计</vt:lpstr>
      <vt:lpstr>4.3.1  for循环（遍历循环）</vt:lpstr>
      <vt:lpstr>4.3.1  for循环（遍历循环）</vt:lpstr>
      <vt:lpstr>4.3.1  for循环（遍历循环）</vt:lpstr>
      <vt:lpstr>4.3.1  for循环（遍历循环）</vt:lpstr>
      <vt:lpstr>4.3.1  for循环（遍历循环）</vt:lpstr>
      <vt:lpstr>4.3.1  for循环（遍历循环)</vt:lpstr>
      <vt:lpstr>4.3.1  for循环（遍历循环)</vt:lpstr>
      <vt:lpstr>4.3.1  for循环（遍历循环)</vt:lpstr>
      <vt:lpstr>4.3.1  for循环（遍历循环）</vt:lpstr>
      <vt:lpstr>4.3.2  while语句(无限循环)</vt:lpstr>
      <vt:lpstr>例4-6:求∑_(n=1)^100▒n</vt:lpstr>
      <vt:lpstr>例4-6:求∑_(n=1)^100▒n</vt:lpstr>
      <vt:lpstr>在while语句中使用else子句</vt:lpstr>
      <vt:lpstr>while....else循环结构</vt:lpstr>
      <vt:lpstr>温馨提示：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4.3.3  循环嵌套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pass语句</vt:lpstr>
      <vt:lpstr>例4-13：pass语句应用：逐个输出“Python”字符串中的字符。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小结</vt:lpstr>
      <vt:lpstr>作业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大学计算机基础A</dc:title>
  <dc:creator>张双狮</dc:creator>
  <cp:lastModifiedBy>admin</cp:lastModifiedBy>
  <cp:revision>264</cp:revision>
  <dcterms:created xsi:type="dcterms:W3CDTF">2018-03-01T14:09:00Z</dcterms:created>
  <dcterms:modified xsi:type="dcterms:W3CDTF">2025-04-27T02:53:32Z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2052-11.1.0.12980</vt:lpwstr>
  </property>
  <property fmtid="{D5CDD505-2E9C-101B-9397-08002B2CF9AE}" pid="3" name="ICV">
    <vt:lpwstr>EA1D5D0A0CCF44AC841ABE988B672435</vt:lpwstr>
  </property>
</Properties>
</file>