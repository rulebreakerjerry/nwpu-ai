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  <p:sldMasterId id="2147483651" r:id="rId2"/>
    <p:sldMasterId id="2147483727" r:id="rId3"/>
  </p:sldMasterIdLst>
  <p:notesMasterIdLst>
    <p:notesMasterId r:id="rId43"/>
  </p:notesMasterIdLst>
  <p:handoutMasterIdLst>
    <p:handoutMasterId r:id="rId44"/>
  </p:handoutMasterIdLst>
  <p:sldIdLst>
    <p:sldId id="2159" r:id="rId4"/>
    <p:sldId id="2299" r:id="rId5"/>
    <p:sldId id="2297" r:id="rId6"/>
    <p:sldId id="2309" r:id="rId7"/>
    <p:sldId id="2298" r:id="rId8"/>
    <p:sldId id="2425" r:id="rId9"/>
    <p:sldId id="2427" r:id="rId10"/>
    <p:sldId id="2428" r:id="rId11"/>
    <p:sldId id="2387" r:id="rId12"/>
    <p:sldId id="2388" r:id="rId13"/>
    <p:sldId id="2300" r:id="rId14"/>
    <p:sldId id="2317" r:id="rId15"/>
    <p:sldId id="2318" r:id="rId16"/>
    <p:sldId id="2319" r:id="rId17"/>
    <p:sldId id="2320" r:id="rId18"/>
    <p:sldId id="2429" r:id="rId19"/>
    <p:sldId id="2430" r:id="rId20"/>
    <p:sldId id="2321" r:id="rId21"/>
    <p:sldId id="2385" r:id="rId22"/>
    <p:sldId id="2392" r:id="rId23"/>
    <p:sldId id="2323" r:id="rId24"/>
    <p:sldId id="2324" r:id="rId25"/>
    <p:sldId id="2325" r:id="rId26"/>
    <p:sldId id="2327" r:id="rId27"/>
    <p:sldId id="2328" r:id="rId28"/>
    <p:sldId id="2433" r:id="rId29"/>
    <p:sldId id="2329" r:id="rId30"/>
    <p:sldId id="2301" r:id="rId31"/>
    <p:sldId id="2396" r:id="rId32"/>
    <p:sldId id="2302" r:id="rId33"/>
    <p:sldId id="2398" r:id="rId34"/>
    <p:sldId id="2303" r:id="rId35"/>
    <p:sldId id="2401" r:id="rId36"/>
    <p:sldId id="2304" r:id="rId37"/>
    <p:sldId id="2407" r:id="rId38"/>
    <p:sldId id="2390" r:id="rId39"/>
    <p:sldId id="2426" r:id="rId40"/>
    <p:sldId id="2431" r:id="rId41"/>
    <p:sldId id="2432" r:id="rId42"/>
  </p:sldIdLst>
  <p:sldSz cx="9144000" cy="6858000" type="screen4x3"/>
  <p:notesSz cx="6815138" cy="9931400"/>
  <p:embeddedFontLst>
    <p:embeddedFont>
      <p:font typeface="Candara" panose="020E0502030303020204" pitchFamily="34" charset="0"/>
      <p:regular r:id="rId45"/>
      <p:bold r:id="rId46"/>
      <p:italic r:id="rId47"/>
      <p:boldItalic r:id="rId48"/>
    </p:embeddedFont>
    <p:embeddedFont>
      <p:font typeface="Verdana" panose="020B0604030504040204" pitchFamily="34" charset="0"/>
      <p:regular r:id="rId49"/>
      <p:bold r:id="rId50"/>
      <p:italic r:id="rId51"/>
      <p:boldItalic r:id="rId52"/>
    </p:embeddedFont>
    <p:embeddedFont>
      <p:font typeface="等线" panose="02010600030101010101" pitchFamily="2" charset="-122"/>
      <p:regular r:id="rId53"/>
      <p:bold r:id="rId54"/>
    </p:embeddedFont>
    <p:embeddedFont>
      <p:font typeface="黑体" panose="02010609060101010101" pitchFamily="49" charset="-122"/>
      <p:regular r:id="rId55"/>
    </p:embeddedFont>
    <p:embeddedFont>
      <p:font typeface="微软雅黑" panose="020B0503020204020204" pitchFamily="34" charset="-122"/>
      <p:regular r:id="rId56"/>
      <p:bold r:id="rId57"/>
    </p:embeddedFont>
  </p:embeddedFontLst>
  <p:custDataLst>
    <p:tags r:id="rId58"/>
  </p:custDataLst>
  <p:defaultTextStyle>
    <a:defPPr>
      <a:defRPr lang="zh-CN"/>
    </a:defPPr>
    <a:lvl1pPr algn="r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1pPr>
    <a:lvl2pPr marL="457200" algn="r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2pPr>
    <a:lvl3pPr marL="914400" algn="r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3pPr>
    <a:lvl4pPr marL="1371600" algn="r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4pPr>
    <a:lvl5pPr marL="1828800" algn="r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5pPr>
    <a:lvl6pPr marL="2286000" algn="l" defTabSz="914400" rtl="0" eaLnBrk="1" latinLnBrk="0" hangingPunct="1"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6pPr>
    <a:lvl7pPr marL="2743200" algn="l" defTabSz="914400" rtl="0" eaLnBrk="1" latinLnBrk="0" hangingPunct="1"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7pPr>
    <a:lvl8pPr marL="3200400" algn="l" defTabSz="914400" rtl="0" eaLnBrk="1" latinLnBrk="0" hangingPunct="1"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8pPr>
    <a:lvl9pPr marL="3657600" algn="l" defTabSz="914400" rtl="0" eaLnBrk="1" latinLnBrk="0" hangingPunct="1"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>
          <p15:clr>
            <a:srgbClr val="A4A3A4"/>
          </p15:clr>
        </p15:guide>
        <p15:guide id="2" pos="2880">
          <p15:clr>
            <a:srgbClr val="A4A3A4"/>
          </p15:clr>
        </p15:guide>
        <p15:guide id="3" pos="4195" userDrawn="1">
          <p15:clr>
            <a:srgbClr val="A4A3A4"/>
          </p15:clr>
        </p15:guide>
        <p15:guide id="4" pos="54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0D7157"/>
    <a:srgbClr val="FF99FF"/>
    <a:srgbClr val="FFCC00"/>
    <a:srgbClr val="CC3300"/>
    <a:srgbClr val="86BC64"/>
    <a:srgbClr val="FFFFCC"/>
    <a:srgbClr val="FF9999"/>
    <a:srgbClr val="0E7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4772" autoAdjust="0"/>
  </p:normalViewPr>
  <p:slideViewPr>
    <p:cSldViewPr>
      <p:cViewPr varScale="1">
        <p:scale>
          <a:sx n="86" d="100"/>
          <a:sy n="86" d="100"/>
        </p:scale>
        <p:origin x="963" y="48"/>
      </p:cViewPr>
      <p:guideLst>
        <p:guide orient="horz" pos="3748"/>
        <p:guide pos="2880"/>
        <p:guide pos="4195"/>
        <p:guide pos="5465"/>
      </p:guideLst>
    </p:cSldViewPr>
  </p:slideViewPr>
  <p:outlineViewPr>
    <p:cViewPr>
      <p:scale>
        <a:sx n="33" d="100"/>
        <a:sy n="33" d="100"/>
      </p:scale>
      <p:origin x="0" y="18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786"/>
    </p:cViewPr>
  </p:sorterViewPr>
  <p:notesViewPr>
    <p:cSldViewPr>
      <p:cViewPr varScale="1">
        <p:scale>
          <a:sx n="71" d="100"/>
          <a:sy n="71" d="100"/>
        </p:scale>
        <p:origin x="-2274" y="-114"/>
      </p:cViewPr>
      <p:guideLst>
        <p:guide orient="horz" pos="3128"/>
        <p:guide pos="21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tags" Target="tags/tag1.xml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8" Type="http://schemas.openxmlformats.org/officeDocument/2006/relationships/slide" Target="slides/slide5.xml"/><Relationship Id="rId51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2.fntdata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10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handoutMaster" Target="handoutMasters/handoutMaster1.xml"/><Relationship Id="rId52" Type="http://schemas.openxmlformats.org/officeDocument/2006/relationships/font" Target="fonts/font8.fntdata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6080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3DD7F52D-F085-4CD2-A7CA-4AE6214067E6}" type="datetimeFigureOut">
              <a:rPr lang="zh-CN" altLang="en-US"/>
              <a:pPr>
                <a:defRPr/>
              </a:pPr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60800" y="9432925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D923B7C-81D8-47A3-B5E4-D3EA080C53F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912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4538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18050"/>
            <a:ext cx="5453062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32925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latin typeface="Arial" charset="0"/>
              </a:defRPr>
            </a:lvl1pPr>
          </a:lstStyle>
          <a:p>
            <a:pPr>
              <a:defRPr/>
            </a:pPr>
            <a:fld id="{89A25885-19A0-4B7A-B2E2-AF4EC845AC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86761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华文细黑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华文细黑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华文细黑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华文细黑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华文细黑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3556" name="灯片编号占位符 3"/>
          <p:cNvSpPr txBox="1">
            <a:spLocks noGrp="1"/>
          </p:cNvSpPr>
          <p:nvPr/>
        </p:nvSpPr>
        <p:spPr bwMode="auto">
          <a:xfrm>
            <a:off x="3860800" y="9432925"/>
            <a:ext cx="295275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F9D0F3F-235A-4A0B-83EE-3E1B42D6A0DD}" type="slidenum">
              <a:rPr lang="zh-CN" altLang="en-US" i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1</a:t>
            </a:fld>
            <a:endParaRPr lang="en-US" altLang="zh-CN" i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0684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2A2441-49ED-4A52-B3CC-5A1149BC51AC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F6130-A1B0-40F4-A496-F2F55E2F44B1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12BED8-E368-4E8F-BE90-7083DDA10F91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D4AE9-050C-4B7F-B272-FA384BD23015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F81A83-785E-4D80-94E7-591D3C3AD6FF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57959B-1BC1-4FDE-88B2-3CAC26DD58F7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B9BA08-BA34-4DD9-B7F1-D711E644256C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14313"/>
            <a:ext cx="2057400" cy="58785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14313"/>
            <a:ext cx="6019800" cy="58785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F9DB9-E29A-49BF-A83A-344AADB27BAD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668344" y="6237312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400" dirty="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 dirty="0">
                <a:solidFill>
                  <a:srgbClr val="0D7157"/>
                </a:solidFill>
              </a:rPr>
              <a:t>- 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980728"/>
            <a:ext cx="8218488" cy="5040312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668344" y="6237312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400" dirty="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 dirty="0">
                <a:solidFill>
                  <a:srgbClr val="0D7157"/>
                </a:solidFill>
              </a:rPr>
              <a:t>- 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95536" y="1052984"/>
            <a:ext cx="4104456" cy="5040312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1"/>
          </p:nvPr>
        </p:nvSpPr>
        <p:spPr>
          <a:xfrm>
            <a:off x="4716016" y="1052984"/>
            <a:ext cx="4104456" cy="5040312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668344" y="6237312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400" dirty="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 dirty="0">
                <a:solidFill>
                  <a:srgbClr val="0D7157"/>
                </a:solidFill>
              </a:rPr>
              <a:t>-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668344" y="6237312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400" dirty="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 dirty="0">
                <a:solidFill>
                  <a:srgbClr val="0D7157"/>
                </a:solidFill>
              </a:rPr>
              <a:t>- 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668344" y="6237312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400" dirty="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 dirty="0">
                <a:solidFill>
                  <a:srgbClr val="0D7157"/>
                </a:solidFill>
              </a:rPr>
              <a:t>- 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668344" y="6237312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400" dirty="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 dirty="0">
                <a:solidFill>
                  <a:srgbClr val="0D7157"/>
                </a:solidFill>
              </a:rPr>
              <a:t>-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-99392"/>
            <a:ext cx="8001000" cy="1216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539552" y="980728"/>
            <a:ext cx="80010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083517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574675" y="-91281"/>
            <a:ext cx="8001000" cy="1216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667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667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3429000" y="6248400"/>
            <a:ext cx="19812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136285-3C6A-4A93-8657-E500CB968B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2A2441-49ED-4A52-B3CC-5A1149BC51AC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6F6130-A1B0-40F4-A496-F2F55E2F44B1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F97EB9-7652-462B-90E9-768B5D23F71B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F97EB9-7652-462B-90E9-768B5D23F71B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F97EB9-7652-462B-90E9-768B5D23F71B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12BED8-E368-4E8F-BE90-7083DDA10F91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AD4AE9-050C-4B7F-B272-FA384BD23015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F81A83-785E-4D80-94E7-591D3C3AD6FF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57959B-1BC1-4FDE-88B2-3CAC26DD58F7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5B9BA08-BA34-4DD9-B7F1-D711E644256C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3F9DB9-E29A-49BF-A83A-344AADB27BAD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0" cstate="print"/>
          <a:srcRect t="23912" b="39018"/>
          <a:stretch>
            <a:fillRect/>
          </a:stretch>
        </p:blipFill>
        <p:spPr bwMode="auto">
          <a:xfrm>
            <a:off x="0" y="2060575"/>
            <a:ext cx="91440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0"/>
          <p:cNvSpPr>
            <a:spLocks noChangeArrowheads="1"/>
          </p:cNvSpPr>
          <p:nvPr/>
        </p:nvSpPr>
        <p:spPr bwMode="auto">
          <a:xfrm>
            <a:off x="0" y="1989138"/>
            <a:ext cx="9144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en-US" i="0">
              <a:ea typeface="宋体" pitchFamily="2" charset="-122"/>
            </a:endParaRPr>
          </a:p>
        </p:txBody>
      </p:sp>
      <p:sp>
        <p:nvSpPr>
          <p:cNvPr id="1028" name="Rectangle 11"/>
          <p:cNvSpPr>
            <a:spLocks noChangeArrowheads="1"/>
          </p:cNvSpPr>
          <p:nvPr/>
        </p:nvSpPr>
        <p:spPr bwMode="auto">
          <a:xfrm rot="10800000">
            <a:off x="0" y="4292600"/>
            <a:ext cx="9144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en-US" i="0">
              <a:ea typeface="宋体" pitchFamily="2" charset="-122"/>
            </a:endParaRPr>
          </a:p>
        </p:txBody>
      </p:sp>
      <p:sp>
        <p:nvSpPr>
          <p:cNvPr id="1029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14313"/>
            <a:ext cx="8229600" cy="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052513"/>
            <a:ext cx="8218488" cy="504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 i="0">
                <a:solidFill>
                  <a:srgbClr val="898989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fld id="{B1F97EB9-7652-462B-90E9-768B5D23F71B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i="0">
                <a:solidFill>
                  <a:srgbClr val="898989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9144000" cy="836613"/>
            <a:chOff x="0" y="0"/>
            <a:chExt cx="9144000" cy="836613"/>
          </a:xfrm>
        </p:grpSpPr>
        <p:pic>
          <p:nvPicPr>
            <p:cNvPr id="2050" name="Picture 2"/>
            <p:cNvPicPr>
              <a:picLocks noChangeAspect="1" noChangeArrowheads="1"/>
            </p:cNvPicPr>
            <p:nvPr userDrawn="1"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7" name="Picture 8"/>
            <p:cNvPicPr>
              <a:picLocks noChangeAspect="1" noChangeArrowheads="1"/>
            </p:cNvPicPr>
            <p:nvPr userDrawn="1"/>
          </p:nvPicPr>
          <p:blipFill>
            <a:blip r:embed="rId1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14313"/>
            <a:ext cx="8229600" cy="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052513"/>
            <a:ext cx="8218488" cy="504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dirty="0"/>
              <a:t>单击此处编辑母版文本样式</a:t>
            </a:r>
          </a:p>
          <a:p>
            <a:pPr marL="812800" lvl="1" indent="-355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p"/>
            </a:pPr>
            <a:r>
              <a:rPr lang="zh-CN" altLang="en-US" dirty="0"/>
              <a:t>第二级</a:t>
            </a:r>
          </a:p>
          <a:p>
            <a:pPr marL="1143000" lvl="2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u"/>
            </a:pPr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53" name="Rectangle 14"/>
          <p:cNvSpPr>
            <a:spLocks noChangeArrowheads="1"/>
          </p:cNvSpPr>
          <p:nvPr/>
        </p:nvSpPr>
        <p:spPr bwMode="auto">
          <a:xfrm>
            <a:off x="0" y="800100"/>
            <a:ext cx="9144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en-US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668344" y="6237312"/>
            <a:ext cx="1015008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sz="1400" dirty="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 dirty="0">
                <a:solidFill>
                  <a:srgbClr val="0D7157"/>
                </a:solidFill>
              </a:rPr>
              <a:t>-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67" r:id="rId2"/>
    <p:sldLayoutId id="2147483669" r:id="rId3"/>
    <p:sldLayoutId id="2147483671" r:id="rId4"/>
    <p:sldLayoutId id="2147483672" r:id="rId5"/>
    <p:sldLayoutId id="2147483677" r:id="rId6"/>
    <p:sldLayoutId id="2147483706" r:id="rId7"/>
    <p:sldLayoutId id="2147483714" r:id="rId8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baseline="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lang="zh-CN" altLang="en-US" sz="2400" dirty="0" smtClean="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lang="zh-CN" altLang="en-US" sz="2000" dirty="0" smtClean="0">
          <a:solidFill>
            <a:srgbClr val="C00000"/>
          </a:solidFill>
          <a:latin typeface="+mn-ea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lang="zh-CN" altLang="en-US" sz="2000" dirty="0" smtClean="0">
          <a:solidFill>
            <a:schemeClr val="tx1"/>
          </a:solidFill>
          <a:latin typeface="+mn-ea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1F97EB9-7652-462B-90E9-768B5D23F71B}" type="datetime1">
              <a:rPr lang="zh-CN" altLang="en-US" smtClean="0"/>
              <a:pPr>
                <a:defRPr/>
              </a:pPr>
              <a:t>2025/12/10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9"/>
          <p:cNvSpPr>
            <a:spLocks noChangeArrowheads="1"/>
          </p:cNvSpPr>
          <p:nvPr/>
        </p:nvSpPr>
        <p:spPr bwMode="black">
          <a:xfrm>
            <a:off x="107504" y="1916832"/>
            <a:ext cx="9036496" cy="20882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tIns="540000" anchor="ctr"/>
          <a:lstStyle>
            <a:lvl1pPr indent="1778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marL="720000" algn="l">
              <a:spcBef>
                <a:spcPct val="0"/>
              </a:spcBef>
              <a:buFontTx/>
              <a:buNone/>
            </a:pPr>
            <a:endParaRPr lang="en-US" altLang="zh-CN" sz="4000" b="1" i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20000" algn="l">
              <a:spcBef>
                <a:spcPct val="0"/>
              </a:spcBef>
              <a:buFontTx/>
              <a:buNone/>
            </a:pPr>
            <a:r>
              <a:rPr lang="en-US" altLang="zh-CN" sz="4000" b="1" i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《</a:t>
            </a:r>
            <a:r>
              <a:rPr lang="zh-CN" altLang="en-US" sz="4000" b="1" i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计算机系统基础实验</a:t>
            </a:r>
            <a:r>
              <a:rPr lang="en-US" altLang="zh-CN" sz="4000" b="1" i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》</a:t>
            </a:r>
          </a:p>
          <a:p>
            <a:pPr algn="l">
              <a:spcBef>
                <a:spcPct val="0"/>
              </a:spcBef>
              <a:buNone/>
            </a:pPr>
            <a:r>
              <a:rPr lang="en-US" altLang="zh-CN" sz="2000" b="1" i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      Introduction to Computer</a:t>
            </a:r>
            <a:r>
              <a:rPr lang="en-US" altLang="zh-CN" sz="2000" dirty="0">
                <a:solidFill>
                  <a:srgbClr val="080808"/>
                </a:solidFill>
                <a:latin typeface="Verdana" panose="020B0604030504040204" pitchFamily="34" charset="0"/>
                <a:ea typeface="华文细黑" panose="02010600040101010101" pitchFamily="2" charset="-122"/>
              </a:rPr>
              <a:t> </a:t>
            </a:r>
            <a:r>
              <a:rPr lang="en-US" altLang="zh-CN" sz="2000" b="1" i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Systems</a:t>
            </a:r>
            <a:endParaRPr lang="en-US" altLang="zh-CN" sz="4000" b="1" i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spcBef>
                <a:spcPct val="0"/>
              </a:spcBef>
              <a:buFontTx/>
              <a:buNone/>
            </a:pPr>
            <a:r>
              <a:rPr lang="en-US" altLang="zh-CN" sz="4000" b="1" i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endParaRPr lang="en-US" altLang="zh-CN" sz="3200" b="1" i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 i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              </a:t>
            </a:r>
            <a:endParaRPr lang="zh-CN" altLang="en-US" sz="4000" i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2535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538" y="4365625"/>
            <a:ext cx="2811462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3568" y="4797152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/>
              <a:t>Lab4   ELF</a:t>
            </a:r>
            <a:r>
              <a:rPr lang="zh-CN" altLang="en-US" sz="2800" b="1" dirty="0"/>
              <a:t>与链接</a:t>
            </a:r>
          </a:p>
        </p:txBody>
      </p:sp>
    </p:spTree>
    <p:extLst>
      <p:ext uri="{BB962C8B-B14F-4D97-AF65-F5344CB8AC3E}">
        <p14:creationId xmlns:p14="http://schemas.microsoft.com/office/powerpoint/2010/main" val="2084152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412776"/>
            <a:ext cx="8640959" cy="4713387"/>
          </a:xfrm>
        </p:spPr>
        <p:txBody>
          <a:bodyPr>
            <a:normAutofit/>
          </a:bodyPr>
          <a:lstStyle/>
          <a:p>
            <a:pPr lvl="1" eaLnBrk="1" hangingPunct="1">
              <a:defRPr/>
            </a:pPr>
            <a:r>
              <a:rPr lang="zh-CN" altLang="en-US" sz="2800" dirty="0"/>
              <a:t>实验环境： </a:t>
            </a:r>
            <a:r>
              <a:rPr lang="en-US" altLang="zh-CN" sz="2800" dirty="0" err="1"/>
              <a:t>linux</a:t>
            </a:r>
            <a:r>
              <a:rPr lang="en-US" altLang="zh-CN" sz="2800" dirty="0"/>
              <a:t> 32</a:t>
            </a:r>
            <a:r>
              <a:rPr lang="zh-CN" altLang="en-US" sz="2800" dirty="0"/>
              <a:t>位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en-US" sz="2800" dirty="0"/>
              <a:t>实验工具： </a:t>
            </a:r>
            <a:r>
              <a:rPr lang="en-US" altLang="zh-CN" sz="2800" dirty="0" err="1"/>
              <a:t>gcc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readelf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objdump</a:t>
            </a:r>
            <a:r>
              <a:rPr lang="zh-CN" altLang="en-US" sz="2800" dirty="0"/>
              <a:t>，</a:t>
            </a:r>
            <a:r>
              <a:rPr lang="en-US" altLang="zh-CN" sz="2800" dirty="0"/>
              <a:t> vim</a:t>
            </a:r>
          </a:p>
          <a:p>
            <a:pPr lvl="1" eaLnBrk="1" hangingPunct="1">
              <a:defRPr/>
            </a:pPr>
            <a:r>
              <a:rPr lang="zh-CN" altLang="en-US" sz="2800" dirty="0"/>
              <a:t>实验语言：</a:t>
            </a:r>
            <a:r>
              <a:rPr lang="en-US" altLang="zh-CN" sz="2800" dirty="0"/>
              <a:t>C</a:t>
            </a:r>
            <a:r>
              <a:rPr lang="zh-CN" altLang="en-US" sz="2800" dirty="0"/>
              <a:t>语言，汇编语言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en-US" sz="2800" dirty="0"/>
              <a:t>实验原理：修改</a:t>
            </a:r>
            <a:r>
              <a:rPr lang="en-US" altLang="zh-CN" sz="2800" dirty="0"/>
              <a:t>.o</a:t>
            </a:r>
            <a:r>
              <a:rPr lang="zh-CN" altLang="en-US" sz="2800" dirty="0"/>
              <a:t>文件，使链接生成的可执行文件实现指定的行为。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en-US" sz="2800" dirty="0"/>
              <a:t>实验目的：掌握</a:t>
            </a:r>
            <a:r>
              <a:rPr lang="en-US" altLang="zh-CN" sz="2800" dirty="0"/>
              <a:t>ELF</a:t>
            </a:r>
            <a:r>
              <a:rPr lang="zh-CN" altLang="en-US" sz="2800" dirty="0"/>
              <a:t>文件的基本组成，加深对程序链接过程的理解。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en-US" sz="2800" dirty="0"/>
              <a:t>提交方式</a:t>
            </a:r>
            <a:r>
              <a:rPr lang="en-US" altLang="zh-CN" sz="2800" dirty="0"/>
              <a:t>:    </a:t>
            </a:r>
            <a:r>
              <a:rPr lang="zh-CN" altLang="en-US" sz="2800" dirty="0"/>
              <a:t>线上提交。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28000" y="6237288"/>
            <a:ext cx="10160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2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44624"/>
            <a:ext cx="8229600" cy="1252728"/>
          </a:xfrm>
        </p:spPr>
        <p:txBody>
          <a:bodyPr/>
          <a:lstStyle/>
          <a:p>
            <a:r>
              <a:rPr lang="zh-CN" altLang="en-US" dirty="0"/>
              <a:t>实验介绍</a:t>
            </a:r>
          </a:p>
        </p:txBody>
      </p:sp>
    </p:spTree>
    <p:extLst>
      <p:ext uri="{BB962C8B-B14F-4D97-AF65-F5344CB8AC3E}">
        <p14:creationId xmlns:p14="http://schemas.microsoft.com/office/powerpoint/2010/main" val="375870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28000" y="6237288"/>
            <a:ext cx="10160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3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252728"/>
          </a:xfrm>
        </p:spPr>
        <p:txBody>
          <a:bodyPr/>
          <a:lstStyle/>
          <a:p>
            <a:r>
              <a:rPr lang="zh-CN" altLang="en-US" dirty="0"/>
              <a:t>实验数据包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51520" y="1916832"/>
            <a:ext cx="8640960" cy="44284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  <a:defRPr/>
            </a:pPr>
            <a:r>
              <a:rPr lang="zh-CN" altLang="en-US" sz="2800" i="0" dirty="0"/>
              <a:t>实验数据包：</a:t>
            </a:r>
            <a:r>
              <a:rPr lang="en-US" altLang="zh-CN" sz="2800" i="0" dirty="0"/>
              <a:t> </a:t>
            </a:r>
            <a:r>
              <a:rPr lang="en-US" altLang="zh-CN" sz="2800" i="0" dirty="0" err="1"/>
              <a:t>linklab</a:t>
            </a:r>
            <a:r>
              <a:rPr lang="en-US" altLang="zh-CN" sz="2800" i="0" dirty="0"/>
              <a:t>-</a:t>
            </a:r>
            <a:r>
              <a:rPr lang="zh-CN" altLang="en-US" sz="2800" i="0" dirty="0"/>
              <a:t>学号</a:t>
            </a:r>
            <a:r>
              <a:rPr lang="en-US" altLang="zh-CN" sz="2800" i="0" dirty="0"/>
              <a:t>.tar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sz="2800" i="0" dirty="0"/>
              <a:t>数据包中包含下面文件：</a:t>
            </a:r>
          </a:p>
          <a:p>
            <a:pPr lvl="2" fontAlgn="auto">
              <a:spcAft>
                <a:spcPts val="0"/>
              </a:spcAft>
              <a:buFont typeface="Wingdings" panose="05000000000000000000" pitchFamily="2" charset="2"/>
              <a:buChar char="u"/>
              <a:defRPr/>
            </a:pPr>
            <a:r>
              <a:rPr lang="en-US" altLang="zh-CN" sz="2800" i="0" dirty="0"/>
              <a:t>main.o</a:t>
            </a:r>
            <a:r>
              <a:rPr lang="zh-CN" altLang="en-US" sz="2800" i="0" dirty="0"/>
              <a:t>：主程序</a:t>
            </a:r>
            <a:r>
              <a:rPr lang="zh-CN" altLang="en-US" sz="2800" i="0" dirty="0">
                <a:solidFill>
                  <a:srgbClr val="FF0000"/>
                </a:solidFill>
              </a:rPr>
              <a:t>（无需修改）</a:t>
            </a:r>
            <a:endParaRPr lang="en-US" altLang="zh-CN" sz="2800" i="0" dirty="0">
              <a:solidFill>
                <a:srgbClr val="FF0000"/>
              </a:solidFill>
            </a:endParaRPr>
          </a:p>
          <a:p>
            <a:pPr lvl="2" fontAlgn="auto">
              <a:spcAft>
                <a:spcPts val="0"/>
              </a:spcAft>
              <a:buFont typeface="Wingdings" panose="05000000000000000000" pitchFamily="2" charset="2"/>
              <a:buChar char="u"/>
              <a:defRPr/>
            </a:pPr>
            <a:r>
              <a:rPr lang="en-US" altLang="zh-CN" sz="2800" i="0" dirty="0"/>
              <a:t>phase1.o, phase2.o, phase3.o, phase4.o, phase5.o</a:t>
            </a:r>
            <a:r>
              <a:rPr lang="zh-CN" altLang="en-US" sz="2800" i="0" dirty="0"/>
              <a:t>：各阶段所对应的二进制可重定位目标文件</a:t>
            </a:r>
            <a:r>
              <a:rPr lang="zh-CN" altLang="en-US" sz="2800" i="0" dirty="0">
                <a:solidFill>
                  <a:srgbClr val="FF0000"/>
                </a:solidFill>
              </a:rPr>
              <a:t>（需修改）</a:t>
            </a:r>
          </a:p>
        </p:txBody>
      </p:sp>
    </p:spTree>
    <p:extLst>
      <p:ext uri="{BB962C8B-B14F-4D97-AF65-F5344CB8AC3E}">
        <p14:creationId xmlns:p14="http://schemas.microsoft.com/office/powerpoint/2010/main" val="1745838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43292" y="4459945"/>
            <a:ext cx="8420814" cy="230425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altLang="zh-CN" sz="2800" b="1" kern="0" dirty="0">
                <a:latin typeface="+mn-ea"/>
              </a:rPr>
              <a:t>        </a:t>
            </a:r>
            <a:r>
              <a:rPr lang="en-US" altLang="zh-CN" sz="2800" kern="0" dirty="0" err="1">
                <a:latin typeface="+mn-ea"/>
              </a:rPr>
              <a:t>main.c</a:t>
            </a:r>
            <a:r>
              <a:rPr lang="zh-CN" altLang="en-US" sz="2800" kern="0" dirty="0">
                <a:latin typeface="+mn-ea"/>
              </a:rPr>
              <a:t>中全局变量</a:t>
            </a:r>
            <a:r>
              <a:rPr lang="en-US" altLang="zh-CN" sz="2800" b="1" kern="0" dirty="0">
                <a:solidFill>
                  <a:srgbClr val="0D7157"/>
                </a:solidFill>
                <a:latin typeface="+mn-ea"/>
              </a:rPr>
              <a:t>phase</a:t>
            </a:r>
            <a:r>
              <a:rPr lang="zh-CN" altLang="en-US" sz="2800" kern="0" dirty="0">
                <a:latin typeface="+mn-ea"/>
              </a:rPr>
              <a:t>未初始化，是</a:t>
            </a:r>
            <a:r>
              <a:rPr lang="zh-CN" altLang="en-US" sz="2800" b="1" kern="0" dirty="0">
                <a:solidFill>
                  <a:srgbClr val="0000FF"/>
                </a:solidFill>
                <a:latin typeface="+mn-ea"/>
              </a:rPr>
              <a:t>弱符号</a:t>
            </a:r>
            <a:r>
              <a:rPr lang="zh-CN" altLang="en-US" sz="2800" kern="0" dirty="0">
                <a:latin typeface="+mn-ea"/>
              </a:rPr>
              <a:t>，</a:t>
            </a:r>
            <a:r>
              <a:rPr lang="en-US" altLang="zh-CN" sz="2800" kern="0" dirty="0">
                <a:latin typeface="+mn-ea"/>
              </a:rPr>
              <a:t> phase[n].c</a:t>
            </a:r>
            <a:r>
              <a:rPr lang="zh-CN" altLang="en-US" sz="2800" kern="0" dirty="0">
                <a:latin typeface="+mn-ea"/>
              </a:rPr>
              <a:t>中的</a:t>
            </a:r>
            <a:r>
              <a:rPr lang="en-US" altLang="zh-CN" sz="2800" b="1" kern="0" dirty="0">
                <a:solidFill>
                  <a:srgbClr val="0D7157"/>
                </a:solidFill>
                <a:latin typeface="+mn-ea"/>
              </a:rPr>
              <a:t>phase</a:t>
            </a:r>
            <a:r>
              <a:rPr lang="zh-CN" altLang="en-US" sz="2800" kern="0" dirty="0">
                <a:latin typeface="+mn-ea"/>
              </a:rPr>
              <a:t>是经初始化的</a:t>
            </a:r>
            <a:r>
              <a:rPr lang="zh-CN" altLang="en-US" sz="2800" b="1" kern="0" dirty="0">
                <a:solidFill>
                  <a:srgbClr val="0000FF"/>
                </a:solidFill>
                <a:latin typeface="+mn-ea"/>
              </a:rPr>
              <a:t>强符号</a:t>
            </a:r>
            <a:r>
              <a:rPr lang="zh-CN" altLang="en-US" sz="2800" kern="0" dirty="0">
                <a:latin typeface="+mn-ea"/>
              </a:rPr>
              <a:t>。</a:t>
            </a:r>
            <a:endParaRPr lang="en-US" altLang="zh-CN" sz="2800" kern="0" dirty="0">
              <a:latin typeface="+mn-ea"/>
            </a:endParaRPr>
          </a:p>
          <a:p>
            <a:pPr marL="0" indent="0" algn="just">
              <a:buNone/>
            </a:pPr>
            <a:r>
              <a:rPr lang="zh-CN" altLang="en-US" sz="2800" kern="0" dirty="0">
                <a:latin typeface="+mn-ea"/>
              </a:rPr>
              <a:t>       将</a:t>
            </a:r>
            <a:r>
              <a:rPr lang="en-US" altLang="zh-CN" sz="2800" kern="0" dirty="0">
                <a:latin typeface="+mn-ea"/>
              </a:rPr>
              <a:t>phase[n].o</a:t>
            </a:r>
            <a:r>
              <a:rPr lang="zh-CN" altLang="en-US" sz="2800" kern="0" dirty="0">
                <a:latin typeface="+mn-ea"/>
              </a:rPr>
              <a:t>与</a:t>
            </a:r>
            <a:r>
              <a:rPr lang="en-US" altLang="zh-CN" sz="2800" kern="0" dirty="0" err="1">
                <a:latin typeface="+mn-ea"/>
              </a:rPr>
              <a:t>main.o</a:t>
            </a:r>
            <a:r>
              <a:rPr lang="zh-CN" altLang="en-US" sz="2800" kern="0" dirty="0">
                <a:latin typeface="+mn-ea"/>
              </a:rPr>
              <a:t>链接后，</a:t>
            </a:r>
            <a:r>
              <a:rPr lang="en-US" altLang="zh-CN" sz="2800" kern="0" dirty="0">
                <a:latin typeface="+mn-ea"/>
              </a:rPr>
              <a:t> </a:t>
            </a:r>
            <a:r>
              <a:rPr lang="zh-CN" altLang="en-US" sz="2800" kern="0" dirty="0">
                <a:latin typeface="+mn-ea"/>
              </a:rPr>
              <a:t>将使用</a:t>
            </a:r>
            <a:r>
              <a:rPr lang="en-US" altLang="zh-CN" sz="2800" kern="0" dirty="0">
                <a:latin typeface="+mn-ea"/>
              </a:rPr>
              <a:t>phase[n].o</a:t>
            </a:r>
            <a:r>
              <a:rPr lang="zh-CN" altLang="en-US" sz="2800" kern="0" dirty="0">
                <a:latin typeface="+mn-ea"/>
              </a:rPr>
              <a:t>中的</a:t>
            </a:r>
            <a:r>
              <a:rPr lang="en-US" altLang="zh-CN" sz="2800" b="1" kern="0" dirty="0">
                <a:solidFill>
                  <a:srgbClr val="0D7157"/>
                </a:solidFill>
                <a:latin typeface="+mn-ea"/>
              </a:rPr>
              <a:t>phase</a:t>
            </a:r>
            <a:r>
              <a:rPr lang="zh-CN" altLang="en-US" sz="2800" kern="0" dirty="0">
                <a:latin typeface="+mn-ea"/>
              </a:rPr>
              <a:t>，因此</a:t>
            </a:r>
            <a:r>
              <a:rPr lang="en-US" altLang="zh-CN" sz="2800" kern="0" dirty="0">
                <a:latin typeface="+mn-ea"/>
              </a:rPr>
              <a:t>main</a:t>
            </a:r>
            <a:r>
              <a:rPr lang="zh-CN" altLang="en-US" sz="2800" kern="0" dirty="0">
                <a:latin typeface="+mn-ea"/>
              </a:rPr>
              <a:t>函数将会调用</a:t>
            </a:r>
            <a:r>
              <a:rPr lang="en-US" altLang="zh-CN" sz="2800" kern="0" dirty="0">
                <a:latin typeface="+mn-ea"/>
              </a:rPr>
              <a:t>phase[n].o</a:t>
            </a:r>
            <a:r>
              <a:rPr lang="zh-CN" altLang="en-US" sz="2800" kern="0" dirty="0">
                <a:latin typeface="+mn-ea"/>
              </a:rPr>
              <a:t>中的</a:t>
            </a:r>
            <a:r>
              <a:rPr lang="en-US" altLang="zh-CN" sz="2800" b="1" kern="0" dirty="0" err="1">
                <a:latin typeface="+mn-ea"/>
              </a:rPr>
              <a:t>do_phase</a:t>
            </a:r>
            <a:r>
              <a:rPr lang="zh-CN" altLang="en-US" sz="2800" b="1" kern="0" dirty="0">
                <a:latin typeface="+mn-ea"/>
              </a:rPr>
              <a:t>函数</a:t>
            </a:r>
            <a:r>
              <a:rPr lang="zh-CN" altLang="en-US" sz="2800" kern="0" dirty="0">
                <a:latin typeface="+mn-ea"/>
              </a:rPr>
              <a:t>。</a:t>
            </a:r>
            <a:endParaRPr lang="en-US" altLang="zh-CN" sz="2800" kern="0" dirty="0">
              <a:latin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7544" y="86297"/>
            <a:ext cx="8229600" cy="858424"/>
          </a:xfrm>
        </p:spPr>
        <p:txBody>
          <a:bodyPr/>
          <a:lstStyle/>
          <a:p>
            <a:r>
              <a:rPr lang="zh-CN" altLang="en-US" dirty="0"/>
              <a:t>程序框架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46701" y="971723"/>
            <a:ext cx="4248472" cy="3438385"/>
          </a:xfrm>
          <a:prstGeom prst="rect">
            <a:avLst/>
          </a:prstGeom>
          <a:ln>
            <a:solidFill>
              <a:srgbClr val="0D7157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Symbol" pitchFamily="18" charset="2"/>
              <a:buNone/>
            </a:pPr>
            <a:r>
              <a:rPr lang="en-US" altLang="zh-CN" sz="1600" b="1" i="0" u="sng" dirty="0">
                <a:solidFill>
                  <a:srgbClr val="FF0000"/>
                </a:solidFill>
              </a:rPr>
              <a:t>// </a:t>
            </a:r>
            <a:r>
              <a:rPr lang="en-US" altLang="zh-CN" sz="1600" b="1" i="0" u="sng" dirty="0" err="1">
                <a:solidFill>
                  <a:srgbClr val="FF0000"/>
                </a:solidFill>
              </a:rPr>
              <a:t>main.c</a:t>
            </a:r>
            <a:endParaRPr lang="en-US" altLang="zh-CN" sz="1600" b="1" i="0" u="sng" dirty="0">
              <a:solidFill>
                <a:srgbClr val="FF0000"/>
              </a:solidFill>
            </a:endParaRPr>
          </a:p>
          <a:p>
            <a:pPr marL="0" indent="0" fontAlgn="auto">
              <a:spcAft>
                <a:spcPts val="0"/>
              </a:spcAft>
              <a:buFont typeface="Symbol" pitchFamily="18" charset="2"/>
              <a:buNone/>
            </a:pPr>
            <a:r>
              <a:rPr lang="en-US" altLang="zh-CN" sz="1600" b="1" i="0" dirty="0">
                <a:solidFill>
                  <a:srgbClr val="0D7157"/>
                </a:solidFill>
              </a:rPr>
              <a:t>void (*phase)();   /*</a:t>
            </a:r>
            <a:r>
              <a:rPr lang="zh-CN" altLang="en-US" sz="1600" b="1" i="0" dirty="0">
                <a:solidFill>
                  <a:srgbClr val="0D7157"/>
                </a:solidFill>
              </a:rPr>
              <a:t>未初始化</a:t>
            </a:r>
            <a:r>
              <a:rPr lang="en-US" altLang="zh-CN" sz="1600" b="1" i="0" dirty="0">
                <a:solidFill>
                  <a:srgbClr val="0D7157"/>
                </a:solidFill>
              </a:rPr>
              <a:t>*/</a:t>
            </a:r>
          </a:p>
          <a:p>
            <a:pPr marL="0" indent="0" fontAlgn="auto">
              <a:spcAft>
                <a:spcPts val="0"/>
              </a:spcAft>
              <a:buFont typeface="Symbol" pitchFamily="18" charset="2"/>
              <a:buNone/>
            </a:pPr>
            <a:endParaRPr lang="en-US" altLang="zh-CN" sz="1600" b="1" i="0" dirty="0"/>
          </a:p>
          <a:p>
            <a:pPr marL="0" indent="0" fontAlgn="auto">
              <a:spcAft>
                <a:spcPts val="0"/>
              </a:spcAft>
              <a:buFont typeface="Symbol" pitchFamily="18" charset="2"/>
              <a:buNone/>
            </a:pPr>
            <a:r>
              <a:rPr lang="en-US" altLang="zh-CN" sz="1600" b="1" i="0" dirty="0" err="1">
                <a:solidFill>
                  <a:srgbClr val="0000FF"/>
                </a:solidFill>
              </a:rPr>
              <a:t>int</a:t>
            </a:r>
            <a:r>
              <a:rPr lang="en-US" altLang="zh-CN" sz="1600" b="1" i="0" dirty="0">
                <a:solidFill>
                  <a:srgbClr val="0000FF"/>
                </a:solidFill>
              </a:rPr>
              <a:t> </a:t>
            </a:r>
            <a:r>
              <a:rPr lang="en-US" altLang="zh-CN" sz="1600" b="1" i="0" dirty="0"/>
              <a:t>main( </a:t>
            </a:r>
            <a:r>
              <a:rPr lang="en-US" altLang="zh-CN" sz="1600" b="1" i="0" dirty="0" err="1">
                <a:solidFill>
                  <a:srgbClr val="0000FF"/>
                </a:solidFill>
              </a:rPr>
              <a:t>int</a:t>
            </a:r>
            <a:r>
              <a:rPr lang="en-US" altLang="zh-CN" sz="1600" b="1" i="0" dirty="0">
                <a:solidFill>
                  <a:srgbClr val="0000FF"/>
                </a:solidFill>
              </a:rPr>
              <a:t> </a:t>
            </a:r>
            <a:r>
              <a:rPr lang="en-US" altLang="zh-CN" sz="1600" b="1" i="0" dirty="0" err="1"/>
              <a:t>argc</a:t>
            </a:r>
            <a:r>
              <a:rPr lang="en-US" altLang="zh-CN" sz="1600" b="1" i="0" dirty="0"/>
              <a:t>, </a:t>
            </a:r>
            <a:r>
              <a:rPr lang="en-US" altLang="zh-CN" sz="1600" b="1" i="0" dirty="0" err="1">
                <a:solidFill>
                  <a:srgbClr val="0000FF"/>
                </a:solidFill>
              </a:rPr>
              <a:t>const</a:t>
            </a:r>
            <a:r>
              <a:rPr lang="en-US" altLang="zh-CN" sz="1600" b="1" i="0" dirty="0">
                <a:solidFill>
                  <a:srgbClr val="0000FF"/>
                </a:solidFill>
              </a:rPr>
              <a:t> char</a:t>
            </a:r>
            <a:r>
              <a:rPr lang="en-US" altLang="zh-CN" sz="1600" b="1" i="0" dirty="0"/>
              <a:t>* </a:t>
            </a:r>
            <a:r>
              <a:rPr lang="en-US" altLang="zh-CN" sz="1600" b="1" i="0" dirty="0" err="1"/>
              <a:t>argv</a:t>
            </a:r>
            <a:r>
              <a:rPr lang="en-US" altLang="zh-CN" sz="1600" b="1" i="0" dirty="0"/>
              <a:t>[] ) {</a:t>
            </a:r>
          </a:p>
          <a:p>
            <a:pPr marL="0" indent="0" fontAlgn="auto">
              <a:spcAft>
                <a:spcPts val="0"/>
              </a:spcAft>
              <a:buFont typeface="Symbol" pitchFamily="18" charset="2"/>
              <a:buNone/>
            </a:pPr>
            <a:r>
              <a:rPr lang="en-US" altLang="zh-CN" sz="1600" b="1" i="0" dirty="0"/>
              <a:t>        </a:t>
            </a:r>
            <a:r>
              <a:rPr lang="en-US" altLang="zh-CN" sz="1600" b="1" i="0" dirty="0">
                <a:solidFill>
                  <a:srgbClr val="0000FF"/>
                </a:solidFill>
              </a:rPr>
              <a:t>if</a:t>
            </a:r>
            <a:r>
              <a:rPr lang="en-US" altLang="zh-CN" sz="1600" b="1" i="0" dirty="0">
                <a:solidFill>
                  <a:srgbClr val="00B0F0"/>
                </a:solidFill>
              </a:rPr>
              <a:t> </a:t>
            </a:r>
            <a:r>
              <a:rPr lang="en-US" altLang="zh-CN" sz="1600" b="1" i="0" dirty="0"/>
              <a:t>( phase )</a:t>
            </a:r>
          </a:p>
          <a:p>
            <a:pPr marL="0" indent="0" fontAlgn="auto">
              <a:spcAft>
                <a:spcPts val="0"/>
              </a:spcAft>
              <a:buFont typeface="Symbol" pitchFamily="18" charset="2"/>
              <a:buNone/>
            </a:pPr>
            <a:r>
              <a:rPr lang="en-US" altLang="zh-CN" sz="1600" b="1" i="0" dirty="0"/>
              <a:t>               (*phase)();</a:t>
            </a:r>
          </a:p>
          <a:p>
            <a:pPr marL="0" indent="0" fontAlgn="auto">
              <a:spcAft>
                <a:spcPts val="0"/>
              </a:spcAft>
              <a:buFont typeface="Symbol" pitchFamily="18" charset="2"/>
              <a:buNone/>
            </a:pPr>
            <a:r>
              <a:rPr lang="en-US" altLang="zh-CN" sz="1600" b="1" i="0" dirty="0"/>
              <a:t>        </a:t>
            </a:r>
            <a:r>
              <a:rPr lang="en-US" altLang="zh-CN" sz="1600" b="1" i="0" dirty="0">
                <a:solidFill>
                  <a:srgbClr val="0000FF"/>
                </a:solidFill>
              </a:rPr>
              <a:t>else</a:t>
            </a:r>
          </a:p>
          <a:p>
            <a:pPr marL="0" indent="0" fontAlgn="auto">
              <a:spcAft>
                <a:spcPts val="0"/>
              </a:spcAft>
              <a:buFont typeface="Symbol" pitchFamily="18" charset="2"/>
              <a:buNone/>
            </a:pPr>
            <a:r>
              <a:rPr lang="en-US" altLang="zh-CN" sz="1600" b="1" i="0" dirty="0"/>
              <a:t>               </a:t>
            </a:r>
            <a:r>
              <a:rPr lang="en-US" altLang="zh-CN" sz="1600" b="1" i="0" dirty="0" err="1"/>
              <a:t>printf</a:t>
            </a:r>
            <a:r>
              <a:rPr lang="en-US" altLang="zh-CN" sz="1600" b="1" i="0" dirty="0"/>
              <a:t>("To run lab, please link the relevant object module with the main module.\n");</a:t>
            </a:r>
          </a:p>
          <a:p>
            <a:pPr marL="0" indent="0" fontAlgn="auto">
              <a:spcAft>
                <a:spcPts val="0"/>
              </a:spcAft>
              <a:buFont typeface="Symbol" pitchFamily="18" charset="2"/>
              <a:buNone/>
            </a:pPr>
            <a:r>
              <a:rPr lang="en-US" altLang="zh-CN" sz="1600" b="1" i="0" dirty="0"/>
              <a:t>        </a:t>
            </a:r>
            <a:r>
              <a:rPr lang="en-US" altLang="zh-CN" sz="1600" b="1" i="0" dirty="0">
                <a:solidFill>
                  <a:srgbClr val="0000FF"/>
                </a:solidFill>
              </a:rPr>
              <a:t>return </a:t>
            </a:r>
            <a:r>
              <a:rPr lang="en-US" altLang="zh-CN" sz="1600" b="1" i="0" dirty="0"/>
              <a:t>0;</a:t>
            </a:r>
          </a:p>
          <a:p>
            <a:pPr marL="0" indent="0" fontAlgn="auto">
              <a:spcAft>
                <a:spcPts val="0"/>
              </a:spcAft>
              <a:buFont typeface="Symbol" pitchFamily="18" charset="2"/>
              <a:buNone/>
            </a:pPr>
            <a:r>
              <a:rPr lang="en-US" altLang="zh-CN" sz="1600" b="1" i="0" dirty="0"/>
              <a:t>}</a:t>
            </a:r>
            <a:endParaRPr lang="en-US" altLang="zh-CN" sz="1600" i="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788024" y="1280175"/>
            <a:ext cx="4078796" cy="284431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en-US" altLang="zh-CN" sz="1600" kern="0" dirty="0">
                <a:solidFill>
                  <a:srgbClr val="FF0000"/>
                </a:solidFill>
              </a:rPr>
              <a:t>// p</a:t>
            </a:r>
            <a:r>
              <a:rPr lang="en-US" altLang="zh-CN" sz="1600" b="1" kern="0" dirty="0">
                <a:solidFill>
                  <a:srgbClr val="FF0000"/>
                </a:solidFill>
              </a:rPr>
              <a:t>hase[n].c     </a:t>
            </a:r>
            <a:r>
              <a:rPr lang="en-US" altLang="zh-CN" sz="1600" dirty="0"/>
              <a:t>(n=1…5)</a:t>
            </a:r>
            <a:endParaRPr lang="en-US" altLang="zh-CN" sz="1600" b="1" u="sng" kern="0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endParaRPr lang="en-US" altLang="zh-CN" sz="1600" kern="0" dirty="0">
              <a:solidFill>
                <a:srgbClr val="0000FF"/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-US" altLang="zh-CN" sz="1600" b="1" i="0" dirty="0">
                <a:solidFill>
                  <a:srgbClr val="7030A0"/>
                </a:solidFill>
              </a:rPr>
              <a:t>void </a:t>
            </a:r>
            <a:r>
              <a:rPr lang="en-US" altLang="zh-CN" sz="1600" b="1" i="0" dirty="0" err="1">
                <a:solidFill>
                  <a:srgbClr val="7030A0"/>
                </a:solidFill>
              </a:rPr>
              <a:t>do_phase</a:t>
            </a:r>
            <a:r>
              <a:rPr lang="en-US" altLang="zh-CN" sz="1600" b="1" i="0" dirty="0">
                <a:solidFill>
                  <a:srgbClr val="7030A0"/>
                </a:solidFill>
              </a:rPr>
              <a:t>() </a:t>
            </a:r>
            <a:r>
              <a:rPr lang="en-US" altLang="zh-CN" sz="1600" b="1" i="0" dirty="0">
                <a:solidFill>
                  <a:schemeClr val="tx2"/>
                </a:solidFill>
              </a:rPr>
              <a:t>{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endParaRPr lang="en-US" altLang="zh-CN" sz="1600" b="1" i="0" dirty="0">
              <a:solidFill>
                <a:schemeClr val="tx2"/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-US" altLang="zh-CN" sz="1600" b="1" i="0" dirty="0">
                <a:solidFill>
                  <a:schemeClr val="tx2"/>
                </a:solidFill>
              </a:rPr>
              <a:t>        … // </a:t>
            </a:r>
            <a:r>
              <a:rPr lang="zh-CN" altLang="en-US" sz="1600" b="1" i="0" dirty="0">
                <a:solidFill>
                  <a:schemeClr val="tx2"/>
                </a:solidFill>
              </a:rPr>
              <a:t>该阶段具体工作</a:t>
            </a:r>
            <a:endParaRPr lang="en-US" altLang="zh-CN" sz="1600" b="1" i="0" dirty="0">
              <a:solidFill>
                <a:schemeClr val="tx2"/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-US" altLang="zh-CN" sz="1600" b="1" i="0" dirty="0">
                <a:solidFill>
                  <a:schemeClr val="tx2"/>
                </a:solidFill>
              </a:rPr>
              <a:t>}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endParaRPr lang="en-US" altLang="zh-CN" sz="1600" b="1" i="0" dirty="0">
              <a:solidFill>
                <a:schemeClr val="tx2"/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-US" altLang="zh-CN" sz="1600" b="1" i="0" dirty="0">
                <a:solidFill>
                  <a:srgbClr val="0D7157"/>
                </a:solidFill>
              </a:rPr>
              <a:t>void (*phase)() = </a:t>
            </a:r>
            <a:r>
              <a:rPr lang="en-US" altLang="zh-CN" sz="1600" b="1" i="0" dirty="0" err="1">
                <a:solidFill>
                  <a:srgbClr val="0D7157"/>
                </a:solidFill>
              </a:rPr>
              <a:t>do_phase</a:t>
            </a:r>
            <a:r>
              <a:rPr lang="en-US" altLang="zh-CN" sz="1600" b="1" i="0" dirty="0">
                <a:solidFill>
                  <a:srgbClr val="0D7157"/>
                </a:solidFill>
              </a:rPr>
              <a:t>;  </a:t>
            </a:r>
          </a:p>
        </p:txBody>
      </p:sp>
    </p:spTree>
    <p:extLst>
      <p:ext uri="{BB962C8B-B14F-4D97-AF65-F5344CB8AC3E}">
        <p14:creationId xmlns:p14="http://schemas.microsoft.com/office/powerpoint/2010/main" val="569369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628800"/>
            <a:ext cx="8640959" cy="449736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zh-CN" altLang="en-US" sz="2800" dirty="0"/>
              <a:t>         每个阶段考察</a:t>
            </a:r>
            <a:r>
              <a:rPr lang="en-US" altLang="zh-CN" sz="2800" dirty="0"/>
              <a:t>ELF</a:t>
            </a:r>
            <a:r>
              <a:rPr lang="zh-CN" altLang="en-US" sz="2800" dirty="0"/>
              <a:t>文件组成与程序链接过程中不同方面的知识。</a:t>
            </a:r>
          </a:p>
          <a:p>
            <a:pPr lvl="1">
              <a:defRPr/>
            </a:pPr>
            <a:r>
              <a:rPr lang="zh-CN" altLang="en-US" sz="2800" dirty="0"/>
              <a:t>阶段</a:t>
            </a:r>
            <a:r>
              <a:rPr lang="en-US" altLang="zh-CN" sz="2800" dirty="0"/>
              <a:t>1</a:t>
            </a:r>
            <a:r>
              <a:rPr lang="zh-CN" altLang="en-US" sz="2800" dirty="0"/>
              <a:t>：</a:t>
            </a:r>
            <a:r>
              <a:rPr lang="zh-CN" altLang="en-US" sz="2800" b="1" dirty="0"/>
              <a:t>全局变量</a:t>
            </a:r>
          </a:p>
          <a:p>
            <a:pPr lvl="1">
              <a:defRPr/>
            </a:pPr>
            <a:r>
              <a:rPr lang="zh-CN" altLang="en-US" sz="2800" dirty="0"/>
              <a:t>阶段</a:t>
            </a:r>
            <a:r>
              <a:rPr lang="en-US" altLang="zh-CN" sz="2800" dirty="0"/>
              <a:t>2</a:t>
            </a:r>
            <a:r>
              <a:rPr lang="zh-CN" altLang="en-US" sz="2800" dirty="0"/>
              <a:t>：</a:t>
            </a:r>
            <a:r>
              <a:rPr lang="zh-CN" altLang="en-US" sz="2800" b="1" dirty="0"/>
              <a:t>指令</a:t>
            </a:r>
            <a:endParaRPr lang="en-US" altLang="zh-CN" sz="2800" b="1" dirty="0"/>
          </a:p>
          <a:p>
            <a:pPr lvl="1">
              <a:defRPr/>
            </a:pPr>
            <a:r>
              <a:rPr lang="zh-CN" altLang="en-US" sz="2800" dirty="0"/>
              <a:t>阶段</a:t>
            </a:r>
            <a:r>
              <a:rPr lang="en-US" altLang="zh-CN" sz="2800" dirty="0"/>
              <a:t>3</a:t>
            </a:r>
            <a:r>
              <a:rPr lang="zh-CN" altLang="en-US" sz="2800" dirty="0"/>
              <a:t>：</a:t>
            </a:r>
            <a:r>
              <a:rPr lang="zh-CN" altLang="en-US" sz="2800" b="1" dirty="0"/>
              <a:t>强弱符号</a:t>
            </a:r>
            <a:endParaRPr lang="en-US" altLang="zh-CN" sz="2800" b="1" dirty="0"/>
          </a:p>
          <a:p>
            <a:pPr lvl="1">
              <a:defRPr/>
            </a:pPr>
            <a:r>
              <a:rPr lang="zh-CN" altLang="en-US" sz="2800" dirty="0"/>
              <a:t>阶段</a:t>
            </a:r>
            <a:r>
              <a:rPr lang="en-US" altLang="zh-CN" sz="2800" dirty="0"/>
              <a:t>4</a:t>
            </a:r>
            <a:r>
              <a:rPr lang="zh-CN" altLang="en-US" sz="2800" dirty="0"/>
              <a:t>：</a:t>
            </a:r>
            <a:r>
              <a:rPr lang="en-US" altLang="zh-CN" sz="2800" b="1" dirty="0">
                <a:sym typeface="Wingdings" panose="05000000000000000000" pitchFamily="2" charset="2"/>
              </a:rPr>
              <a:t>switch</a:t>
            </a:r>
            <a:r>
              <a:rPr lang="zh-CN" altLang="en-US" sz="2800" b="1" dirty="0">
                <a:sym typeface="Wingdings" panose="05000000000000000000" pitchFamily="2" charset="2"/>
              </a:rPr>
              <a:t>语句与重定位</a:t>
            </a:r>
            <a:endParaRPr lang="en-US" altLang="zh-CN" sz="2800" b="1" dirty="0"/>
          </a:p>
          <a:p>
            <a:pPr lvl="1">
              <a:defRPr/>
            </a:pPr>
            <a:r>
              <a:rPr lang="zh-CN" altLang="en-US" sz="2800" dirty="0"/>
              <a:t>阶段</a:t>
            </a:r>
            <a:r>
              <a:rPr lang="en-US" altLang="zh-CN" sz="2800" dirty="0"/>
              <a:t>5</a:t>
            </a:r>
            <a:r>
              <a:rPr lang="zh-CN" altLang="en-US" sz="2800" dirty="0"/>
              <a:t>：</a:t>
            </a:r>
            <a:r>
              <a:rPr lang="zh-CN" altLang="en-US" sz="2800" b="1" dirty="0"/>
              <a:t>重定位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28000" y="6237288"/>
            <a:ext cx="10160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5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188640"/>
            <a:ext cx="8229600" cy="1252728"/>
          </a:xfrm>
        </p:spPr>
        <p:txBody>
          <a:bodyPr/>
          <a:lstStyle/>
          <a:p>
            <a:r>
              <a:rPr lang="zh-CN" altLang="en-US" dirty="0"/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1220041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总共</a:t>
            </a:r>
            <a:r>
              <a:rPr lang="en-US" altLang="zh-CN" dirty="0"/>
              <a:t>5</a:t>
            </a:r>
            <a:r>
              <a:rPr lang="zh-CN" altLang="en-US" dirty="0"/>
              <a:t>关，满分</a:t>
            </a:r>
            <a:r>
              <a:rPr lang="en-US" altLang="zh-CN" dirty="0"/>
              <a:t>20</a:t>
            </a:r>
            <a:r>
              <a:rPr lang="zh-CN" altLang="en-US" dirty="0"/>
              <a:t>分，各关分数分别为：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</a:t>
            </a:r>
            <a:r>
              <a:rPr lang="en-US" altLang="zh-CN" sz="3200" b="1" dirty="0">
                <a:solidFill>
                  <a:srgbClr val="3333FF"/>
                </a:solidFill>
              </a:rPr>
              <a:t>2, 4, 4, 4, 6</a:t>
            </a:r>
            <a:endParaRPr lang="zh-CN" altLang="en-US" sz="3200" b="1" dirty="0">
              <a:solidFill>
                <a:srgbClr val="3333FF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分数</a:t>
            </a:r>
          </a:p>
        </p:txBody>
      </p:sp>
    </p:spTree>
    <p:extLst>
      <p:ext uri="{BB962C8B-B14F-4D97-AF65-F5344CB8AC3E}">
        <p14:creationId xmlns:p14="http://schemas.microsoft.com/office/powerpoint/2010/main" val="2466495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23528" y="1268760"/>
            <a:ext cx="8496944" cy="540060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0</a:t>
            </a:r>
            <a:r>
              <a:rPr lang="zh-CN" altLang="en-US" sz="2800" dirty="0"/>
              <a:t>、解压缩实验包（注意</a:t>
            </a:r>
            <a:r>
              <a:rPr lang="zh-CN" altLang="en-US" sz="2800" b="1" dirty="0">
                <a:solidFill>
                  <a:srgbClr val="FF0000"/>
                </a:solidFill>
              </a:rPr>
              <a:t>在</a:t>
            </a:r>
            <a:r>
              <a:rPr lang="en-US" altLang="zh-CN" sz="2800" b="1" dirty="0" err="1">
                <a:solidFill>
                  <a:srgbClr val="FF0000"/>
                </a:solidFill>
              </a:rPr>
              <a:t>linux</a:t>
            </a:r>
            <a:r>
              <a:rPr lang="zh-CN" altLang="en-US" sz="2800" b="1" dirty="0">
                <a:solidFill>
                  <a:srgbClr val="FF0000"/>
                </a:solidFill>
              </a:rPr>
              <a:t>下解压缩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r>
              <a:rPr lang="en-US" altLang="zh-CN" sz="2800" dirty="0"/>
              <a:t>1</a:t>
            </a:r>
            <a:r>
              <a:rPr lang="zh-CN" altLang="en-US" sz="2800" dirty="0"/>
              <a:t>、多种方法综合分析</a:t>
            </a:r>
            <a:r>
              <a:rPr lang="en-US" altLang="zh-CN" sz="2800" b="1" kern="0" dirty="0">
                <a:latin typeface="+mn-ea"/>
              </a:rPr>
              <a:t>phase[n].o</a:t>
            </a:r>
            <a:r>
              <a:rPr lang="zh-CN" altLang="en-US" sz="2800" b="1" kern="0" dirty="0">
                <a:latin typeface="+mn-ea"/>
              </a:rPr>
              <a:t>。</a:t>
            </a:r>
            <a:r>
              <a:rPr lang="en-US" altLang="zh-CN" sz="2800" dirty="0"/>
              <a:t>(n=1…5)</a:t>
            </a:r>
            <a:endParaRPr lang="en-US" altLang="zh-CN" sz="2800" b="1" kern="0" dirty="0">
              <a:latin typeface="+mn-ea"/>
            </a:endParaRPr>
          </a:p>
          <a:p>
            <a:pPr marL="627063" lvl="2" indent="0">
              <a:buNone/>
            </a:pPr>
            <a:r>
              <a:rPr lang="zh-CN" altLang="en-US" sz="2400" b="1" kern="0" dirty="0">
                <a:latin typeface="+mn-ea"/>
              </a:rPr>
              <a:t>方法</a:t>
            </a:r>
            <a:r>
              <a:rPr lang="en-US" altLang="zh-CN" sz="2400" b="1" kern="0" dirty="0">
                <a:latin typeface="+mn-ea"/>
              </a:rPr>
              <a:t>1</a:t>
            </a:r>
            <a:r>
              <a:rPr lang="zh-CN" altLang="en-US" sz="2400" b="1" kern="0" dirty="0">
                <a:latin typeface="+mn-ea"/>
              </a:rPr>
              <a:t>：</a:t>
            </a:r>
            <a:r>
              <a:rPr lang="en-US" altLang="zh-CN" sz="2400" b="1" kern="0" dirty="0">
                <a:latin typeface="+mn-ea"/>
              </a:rPr>
              <a:t> </a:t>
            </a:r>
            <a:r>
              <a:rPr lang="zh-CN" altLang="en-US" sz="2400" b="1" kern="0" dirty="0">
                <a:latin typeface="+mn-ea"/>
              </a:rPr>
              <a:t>分析生成的可执行程序的反汇编代码。</a:t>
            </a:r>
            <a:endParaRPr lang="en-US" altLang="zh-CN" sz="2400" b="1" kern="0" dirty="0">
              <a:latin typeface="+mn-ea"/>
            </a:endParaRPr>
          </a:p>
          <a:p>
            <a:pPr marL="627063" lvl="2" indent="0">
              <a:buNone/>
            </a:pPr>
            <a:r>
              <a:rPr lang="en-US" altLang="zh-CN" sz="2400" b="1" kern="0" dirty="0">
                <a:latin typeface="+mn-ea"/>
              </a:rPr>
              <a:t>     </a:t>
            </a:r>
            <a:r>
              <a:rPr lang="en-US" altLang="zh-CN" sz="1800" i="1" dirty="0">
                <a:solidFill>
                  <a:srgbClr val="0000FF"/>
                </a:solidFill>
              </a:rPr>
              <a:t>$</a:t>
            </a:r>
            <a:r>
              <a:rPr lang="en-US" altLang="zh-CN" sz="2400" i="1" dirty="0">
                <a:solidFill>
                  <a:srgbClr val="0000FF"/>
                </a:solidFill>
              </a:rPr>
              <a:t> </a:t>
            </a:r>
            <a:r>
              <a:rPr lang="en-US" altLang="zh-CN" sz="1800" b="1" kern="0" dirty="0" err="1">
                <a:latin typeface="+mn-ea"/>
              </a:rPr>
              <a:t>gcc</a:t>
            </a:r>
            <a:r>
              <a:rPr lang="en-US" altLang="zh-CN" sz="1800" b="1" kern="0" dirty="0">
                <a:latin typeface="+mn-ea"/>
              </a:rPr>
              <a:t>   -m32   -o  </a:t>
            </a:r>
            <a:r>
              <a:rPr lang="en-US" altLang="zh-CN" sz="1800" i="1" dirty="0" err="1">
                <a:solidFill>
                  <a:srgbClr val="00B050"/>
                </a:solidFill>
              </a:rPr>
              <a:t>linkbomb</a:t>
            </a:r>
            <a:r>
              <a:rPr lang="en-US" altLang="zh-CN" sz="1800" b="1" kern="0" dirty="0">
                <a:latin typeface="+mn-ea"/>
              </a:rPr>
              <a:t>  </a:t>
            </a:r>
            <a:r>
              <a:rPr lang="en-US" altLang="zh-CN" sz="1800" b="1" kern="0" dirty="0" err="1">
                <a:latin typeface="+mn-ea"/>
              </a:rPr>
              <a:t>main.o</a:t>
            </a:r>
            <a:r>
              <a:rPr lang="en-US" altLang="zh-CN" sz="1800" b="1" kern="0" dirty="0">
                <a:latin typeface="+mn-ea"/>
              </a:rPr>
              <a:t>  phase[n].o</a:t>
            </a:r>
          </a:p>
          <a:p>
            <a:pPr marL="627063" lvl="2" indent="0">
              <a:buNone/>
            </a:pPr>
            <a:r>
              <a:rPr lang="en-US" altLang="zh-CN" sz="1800" b="1" kern="0" dirty="0">
                <a:latin typeface="+mn-ea"/>
              </a:rPr>
              <a:t>      </a:t>
            </a:r>
            <a:r>
              <a:rPr lang="en-US" altLang="zh-CN" sz="1800" i="1" dirty="0">
                <a:solidFill>
                  <a:srgbClr val="0000FF"/>
                </a:solidFill>
              </a:rPr>
              <a:t>$ </a:t>
            </a:r>
            <a:r>
              <a:rPr lang="en-US" altLang="zh-CN" sz="1800" i="1" dirty="0" err="1">
                <a:solidFill>
                  <a:srgbClr val="0000FF"/>
                </a:solidFill>
              </a:rPr>
              <a:t>objdump</a:t>
            </a:r>
            <a:r>
              <a:rPr lang="en-US" altLang="zh-CN" sz="1800" i="1" dirty="0">
                <a:solidFill>
                  <a:srgbClr val="0000FF"/>
                </a:solidFill>
              </a:rPr>
              <a:t>   -d   </a:t>
            </a:r>
            <a:r>
              <a:rPr lang="en-US" altLang="zh-CN" sz="1800" i="1" dirty="0" err="1">
                <a:solidFill>
                  <a:srgbClr val="00B050"/>
                </a:solidFill>
              </a:rPr>
              <a:t>linkbomb</a:t>
            </a:r>
            <a:r>
              <a:rPr lang="en-US" altLang="zh-CN" sz="1800" i="1" dirty="0">
                <a:solidFill>
                  <a:srgbClr val="00B050"/>
                </a:solidFill>
              </a:rPr>
              <a:t>  </a:t>
            </a:r>
            <a:r>
              <a:rPr lang="en-US" altLang="zh-CN" sz="1800" i="1" dirty="0">
                <a:solidFill>
                  <a:srgbClr val="0000FF"/>
                </a:solidFill>
              </a:rPr>
              <a:t>&gt;</a:t>
            </a:r>
            <a:r>
              <a:rPr lang="en-US" altLang="zh-CN" sz="1800" i="1" dirty="0">
                <a:solidFill>
                  <a:srgbClr val="00B050"/>
                </a:solidFill>
              </a:rPr>
              <a:t>linkbomb.asm</a:t>
            </a:r>
            <a:endParaRPr lang="en-US" altLang="zh-CN" sz="1800" b="1" kern="0" dirty="0">
              <a:latin typeface="+mn-ea"/>
            </a:endParaRPr>
          </a:p>
          <a:p>
            <a:pPr marL="627063" lvl="2" indent="0">
              <a:buNone/>
            </a:pPr>
            <a:r>
              <a:rPr lang="zh-CN" altLang="en-US" sz="2400" b="1" kern="0" dirty="0">
                <a:latin typeface="+mn-ea"/>
              </a:rPr>
              <a:t>方法</a:t>
            </a:r>
            <a:r>
              <a:rPr lang="en-US" altLang="zh-CN" sz="2400" b="1" kern="0" dirty="0">
                <a:latin typeface="+mn-ea"/>
              </a:rPr>
              <a:t>2</a:t>
            </a:r>
            <a:r>
              <a:rPr lang="zh-CN" altLang="en-US" sz="2400" b="1" kern="0" dirty="0">
                <a:latin typeface="+mn-ea"/>
              </a:rPr>
              <a:t>：分析</a:t>
            </a:r>
            <a:r>
              <a:rPr lang="en-US" altLang="zh-CN" sz="2400" b="1" kern="0" dirty="0">
                <a:latin typeface="+mn-ea"/>
              </a:rPr>
              <a:t>phase[n].o</a:t>
            </a:r>
            <a:r>
              <a:rPr lang="zh-CN" altLang="en-US" sz="2400" b="1" kern="0" dirty="0">
                <a:latin typeface="+mn-ea"/>
              </a:rPr>
              <a:t>的反汇编代码。</a:t>
            </a:r>
            <a:endParaRPr lang="en-US" altLang="zh-CN" sz="2400" b="1" kern="0" dirty="0">
              <a:latin typeface="+mn-ea"/>
            </a:endParaRPr>
          </a:p>
          <a:p>
            <a:pPr marL="627063" lvl="2" indent="0">
              <a:buNone/>
            </a:pPr>
            <a:r>
              <a:rPr lang="en-US" altLang="zh-CN" sz="2400" b="1" i="1" kern="0" dirty="0">
                <a:solidFill>
                  <a:srgbClr val="0000FF"/>
                </a:solidFill>
                <a:latin typeface="+mn-ea"/>
              </a:rPr>
              <a:t>       </a:t>
            </a:r>
            <a:r>
              <a:rPr lang="en-US" altLang="zh-CN" sz="1800" i="1" dirty="0">
                <a:solidFill>
                  <a:srgbClr val="0000FF"/>
                </a:solidFill>
              </a:rPr>
              <a:t>$ </a:t>
            </a:r>
            <a:r>
              <a:rPr lang="en-US" altLang="zh-CN" sz="1800" i="1" dirty="0" err="1">
                <a:solidFill>
                  <a:srgbClr val="0000FF"/>
                </a:solidFill>
              </a:rPr>
              <a:t>objdump</a:t>
            </a:r>
            <a:r>
              <a:rPr lang="en-US" altLang="zh-CN" sz="1800" i="1" dirty="0">
                <a:solidFill>
                  <a:srgbClr val="0000FF"/>
                </a:solidFill>
              </a:rPr>
              <a:t>  –d   phase[n].o   &gt;</a:t>
            </a:r>
            <a:r>
              <a:rPr lang="en-US" altLang="zh-CN" sz="1800" i="1" dirty="0">
                <a:solidFill>
                  <a:srgbClr val="00B050"/>
                </a:solidFill>
              </a:rPr>
              <a:t>phase[n].asm</a:t>
            </a:r>
            <a:r>
              <a:rPr lang="zh-CN" altLang="en-US" sz="1800" i="1" dirty="0">
                <a:solidFill>
                  <a:srgbClr val="00B050"/>
                </a:solidFill>
              </a:rPr>
              <a:t>       </a:t>
            </a:r>
            <a:endParaRPr lang="en-US" altLang="zh-CN" sz="1800" i="1" dirty="0">
              <a:solidFill>
                <a:srgbClr val="00B050"/>
              </a:solidFill>
            </a:endParaRPr>
          </a:p>
          <a:p>
            <a:pPr marL="627063" lvl="2" indent="0">
              <a:buNone/>
            </a:pPr>
            <a:r>
              <a:rPr lang="zh-CN" altLang="en-US" sz="2400" b="1" kern="0" dirty="0">
                <a:latin typeface="+mn-ea"/>
              </a:rPr>
              <a:t>方法</a:t>
            </a:r>
            <a:r>
              <a:rPr lang="en-US" altLang="zh-CN" sz="2400" b="1" kern="0" dirty="0">
                <a:latin typeface="+mn-ea"/>
              </a:rPr>
              <a:t>3</a:t>
            </a:r>
            <a:r>
              <a:rPr lang="zh-CN" altLang="en-US" sz="2400" b="1" kern="0" dirty="0">
                <a:latin typeface="+mn-ea"/>
              </a:rPr>
              <a:t>：使用</a:t>
            </a:r>
            <a:r>
              <a:rPr lang="en-US" altLang="zh-CN" sz="2400" b="1" kern="0" dirty="0" err="1">
                <a:latin typeface="+mn-ea"/>
              </a:rPr>
              <a:t>readelf</a:t>
            </a:r>
            <a:r>
              <a:rPr lang="zh-CN" altLang="en-US" sz="2400" b="1" kern="0" dirty="0">
                <a:latin typeface="+mn-ea"/>
              </a:rPr>
              <a:t>命令查看</a:t>
            </a:r>
            <a:r>
              <a:rPr lang="en-US" altLang="zh-CN" sz="2400" b="1" kern="0" dirty="0">
                <a:latin typeface="+mn-ea"/>
              </a:rPr>
              <a:t>phase[n].o</a:t>
            </a:r>
          </a:p>
          <a:p>
            <a:pPr marL="0" lvl="1" indent="0">
              <a:buNone/>
            </a:pPr>
            <a:r>
              <a:rPr lang="en-US" altLang="zh-CN" sz="2800" dirty="0"/>
              <a:t>               </a:t>
            </a:r>
            <a:r>
              <a:rPr lang="en-US" altLang="zh-CN" sz="1800" i="1" dirty="0">
                <a:solidFill>
                  <a:srgbClr val="0000FF"/>
                </a:solidFill>
              </a:rPr>
              <a:t>$</a:t>
            </a:r>
            <a:r>
              <a:rPr lang="en-US" altLang="zh-CN" sz="18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zh-CN" sz="1800" kern="0" dirty="0" err="1">
                <a:solidFill>
                  <a:srgbClr val="0000FF"/>
                </a:solidFill>
                <a:latin typeface="+mn-ea"/>
              </a:rPr>
              <a:t>readelf</a:t>
            </a:r>
            <a:r>
              <a:rPr lang="en-US" altLang="zh-CN" sz="1800" kern="0" dirty="0">
                <a:solidFill>
                  <a:srgbClr val="0000FF"/>
                </a:solidFill>
                <a:latin typeface="+mn-ea"/>
              </a:rPr>
              <a:t>   </a:t>
            </a:r>
            <a:r>
              <a:rPr lang="zh-CN" altLang="en-US" sz="1800" kern="0" dirty="0">
                <a:solidFill>
                  <a:srgbClr val="0000FF"/>
                </a:solidFill>
                <a:latin typeface="+mn-ea"/>
              </a:rPr>
              <a:t>选项   </a:t>
            </a:r>
            <a:r>
              <a:rPr lang="en-US" altLang="zh-CN" sz="1800" kern="0" dirty="0">
                <a:solidFill>
                  <a:srgbClr val="0000FF"/>
                </a:solidFill>
                <a:latin typeface="+mn-ea"/>
              </a:rPr>
              <a:t>phase[n].o </a:t>
            </a:r>
            <a:endParaRPr lang="en-US" altLang="zh-CN" sz="2800" dirty="0"/>
          </a:p>
          <a:p>
            <a:pPr marL="274320" lvl="1"/>
            <a:r>
              <a:rPr lang="en-US" altLang="zh-CN" sz="2800" dirty="0"/>
              <a:t>2</a:t>
            </a:r>
            <a:r>
              <a:rPr lang="zh-CN" altLang="en-US" sz="2800" dirty="0"/>
              <a:t>、修改</a:t>
            </a:r>
            <a:r>
              <a:rPr lang="en-US" altLang="zh-CN" sz="2800" dirty="0"/>
              <a:t>phase[n].o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736600" lvl="2" indent="-230400">
              <a:buFont typeface="Wingdings" panose="05000000000000000000" pitchFamily="2" charset="2"/>
              <a:buChar char="ü"/>
            </a:pPr>
            <a:r>
              <a:rPr lang="zh-CN" altLang="en-US" sz="2200" b="1" kern="0" dirty="0">
                <a:latin typeface="+mn-ea"/>
              </a:rPr>
              <a:t> </a:t>
            </a:r>
            <a:r>
              <a:rPr lang="en-US" altLang="zh-CN" sz="2400" b="1" kern="0" dirty="0">
                <a:latin typeface="+mn-ea"/>
              </a:rPr>
              <a:t>vim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95536" y="44624"/>
            <a:ext cx="8229600" cy="1252728"/>
          </a:xfrm>
        </p:spPr>
        <p:txBody>
          <a:bodyPr/>
          <a:lstStyle/>
          <a:p>
            <a:r>
              <a:rPr lang="zh-CN" altLang="en-US" dirty="0"/>
              <a:t>实验流程</a:t>
            </a:r>
          </a:p>
        </p:txBody>
      </p:sp>
    </p:spTree>
    <p:extLst>
      <p:ext uri="{BB962C8B-B14F-4D97-AF65-F5344CB8AC3E}">
        <p14:creationId xmlns:p14="http://schemas.microsoft.com/office/powerpoint/2010/main" val="169840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1" y="1916832"/>
            <a:ext cx="8291264" cy="3384376"/>
          </a:xfrm>
        </p:spPr>
        <p:txBody>
          <a:bodyPr/>
          <a:lstStyle/>
          <a:p>
            <a:pPr marL="274320" lvl="1"/>
            <a:r>
              <a:rPr lang="en-US" altLang="zh-CN" sz="2800" dirty="0"/>
              <a:t>3</a:t>
            </a:r>
            <a:r>
              <a:rPr lang="zh-CN" altLang="en-US" sz="2800" dirty="0"/>
              <a:t>、链接</a:t>
            </a:r>
            <a:endParaRPr lang="en-US" altLang="zh-CN" sz="2800" dirty="0"/>
          </a:p>
          <a:p>
            <a:pPr marL="0" lvl="1" indent="0">
              <a:buNone/>
            </a:pPr>
            <a:r>
              <a:rPr lang="en-US" altLang="zh-CN" sz="2800" dirty="0"/>
              <a:t>           </a:t>
            </a:r>
            <a:r>
              <a:rPr lang="en-US" altLang="zh-CN" sz="1800" i="1" dirty="0">
                <a:solidFill>
                  <a:srgbClr val="0000FF"/>
                </a:solidFill>
              </a:rPr>
              <a:t>$ </a:t>
            </a:r>
            <a:r>
              <a:rPr lang="en-US" altLang="zh-CN" sz="1800" i="1" dirty="0" err="1">
                <a:solidFill>
                  <a:srgbClr val="0000FF"/>
                </a:solidFill>
              </a:rPr>
              <a:t>gcc</a:t>
            </a:r>
            <a:r>
              <a:rPr lang="en-US" altLang="zh-CN" sz="1800" i="1" dirty="0">
                <a:solidFill>
                  <a:srgbClr val="0000FF"/>
                </a:solidFill>
              </a:rPr>
              <a:t>   –m32   -o   </a:t>
            </a:r>
            <a:r>
              <a:rPr lang="en-US" altLang="zh-CN" sz="1800" i="1" dirty="0" err="1">
                <a:solidFill>
                  <a:srgbClr val="00B050"/>
                </a:solidFill>
              </a:rPr>
              <a:t>linkbomb</a:t>
            </a:r>
            <a:r>
              <a:rPr lang="en-US" altLang="zh-CN" sz="1800" i="1" dirty="0">
                <a:solidFill>
                  <a:srgbClr val="0000FF"/>
                </a:solidFill>
              </a:rPr>
              <a:t>    </a:t>
            </a:r>
            <a:r>
              <a:rPr lang="en-US" altLang="zh-CN" sz="1800" i="1" dirty="0" err="1">
                <a:solidFill>
                  <a:srgbClr val="0000FF"/>
                </a:solidFill>
              </a:rPr>
              <a:t>main.o</a:t>
            </a:r>
            <a:r>
              <a:rPr lang="en-US" altLang="zh-CN" sz="1800" i="1" dirty="0">
                <a:solidFill>
                  <a:srgbClr val="0000FF"/>
                </a:solidFill>
              </a:rPr>
              <a:t>    phase[n].o </a:t>
            </a:r>
          </a:p>
          <a:p>
            <a:pPr marL="274320" lvl="1"/>
            <a:r>
              <a:rPr lang="en-US" altLang="zh-CN" sz="2800" dirty="0"/>
              <a:t>4</a:t>
            </a:r>
            <a:r>
              <a:rPr lang="zh-CN" altLang="en-US" sz="2800" dirty="0"/>
              <a:t>、运行</a:t>
            </a:r>
            <a:endParaRPr lang="en-US" altLang="zh-CN" sz="2800" dirty="0"/>
          </a:p>
          <a:p>
            <a:pPr marL="909637" lvl="3" indent="-342900">
              <a:buFont typeface="Wingdings" panose="05000000000000000000" pitchFamily="2" charset="2"/>
              <a:buChar char="l"/>
            </a:pPr>
            <a:r>
              <a:rPr lang="zh-CN" altLang="en-US" sz="2800" dirty="0"/>
              <a:t>离线运行：</a:t>
            </a:r>
            <a:r>
              <a:rPr lang="en-US" altLang="zh-CN" sz="2800" i="1" dirty="0">
                <a:solidFill>
                  <a:srgbClr val="0000FF"/>
                </a:solidFill>
              </a:rPr>
              <a:t>$ ./</a:t>
            </a:r>
            <a:r>
              <a:rPr lang="en-US" altLang="zh-CN" sz="2800" i="1" dirty="0" err="1">
                <a:solidFill>
                  <a:srgbClr val="0000FF"/>
                </a:solidFill>
              </a:rPr>
              <a:t>linkbomb</a:t>
            </a:r>
            <a:r>
              <a:rPr lang="en-US" altLang="zh-CN" sz="2800" i="1" dirty="0">
                <a:solidFill>
                  <a:srgbClr val="0000FF"/>
                </a:solidFill>
              </a:rPr>
              <a:t> </a:t>
            </a:r>
          </a:p>
          <a:p>
            <a:pPr marL="909637" lvl="3" indent="-342900">
              <a:buFont typeface="Wingdings" panose="05000000000000000000" pitchFamily="2" charset="2"/>
              <a:buChar char="l"/>
            </a:pPr>
            <a:r>
              <a:rPr lang="zh-CN" altLang="en-US" sz="2800" dirty="0"/>
              <a:t>在线提交：</a:t>
            </a:r>
            <a:r>
              <a:rPr lang="en-US" altLang="zh-CN" sz="2800" i="1" dirty="0">
                <a:solidFill>
                  <a:srgbClr val="0000FF"/>
                </a:solidFill>
              </a:rPr>
              <a:t>$ ./ </a:t>
            </a:r>
            <a:r>
              <a:rPr lang="en-US" altLang="zh-CN" sz="2800" i="1" dirty="0" err="1">
                <a:solidFill>
                  <a:srgbClr val="0000FF"/>
                </a:solidFill>
              </a:rPr>
              <a:t>linkbomb</a:t>
            </a:r>
            <a:r>
              <a:rPr lang="en-US" altLang="zh-CN" sz="2800" i="1" dirty="0">
                <a:solidFill>
                  <a:srgbClr val="0000FF"/>
                </a:solidFill>
              </a:rPr>
              <a:t>     –p </a:t>
            </a:r>
            <a:r>
              <a:rPr lang="zh-CN" altLang="en-US" sz="2800" i="1" dirty="0">
                <a:solidFill>
                  <a:srgbClr val="FF0000"/>
                </a:solidFill>
              </a:rPr>
              <a:t>密码</a:t>
            </a:r>
            <a:r>
              <a:rPr lang="zh-CN" altLang="en-US" sz="2800" i="1" dirty="0">
                <a:solidFill>
                  <a:srgbClr val="0000FF"/>
                </a:solidFill>
              </a:rPr>
              <a:t>   </a:t>
            </a:r>
            <a:r>
              <a:rPr lang="en-US" altLang="zh-CN" sz="2800" i="1" dirty="0">
                <a:solidFill>
                  <a:srgbClr val="0000FF"/>
                </a:solidFill>
              </a:rPr>
              <a:t>-s</a:t>
            </a:r>
          </a:p>
          <a:p>
            <a:pPr marL="274320" lvl="1"/>
            <a:r>
              <a:rPr lang="en-US" altLang="zh-CN" sz="2800" dirty="0"/>
              <a:t>5</a:t>
            </a:r>
            <a:r>
              <a:rPr lang="zh-CN" altLang="en-US" sz="2800" dirty="0"/>
              <a:t>、查看</a:t>
            </a:r>
            <a:r>
              <a:rPr lang="en-US" altLang="zh-CN" sz="2800" dirty="0"/>
              <a:t>scoreboard</a:t>
            </a:r>
          </a:p>
          <a:p>
            <a:endParaRPr lang="zh-CN" altLang="en-US" dirty="0"/>
          </a:p>
        </p:txBody>
      </p:sp>
      <p:sp>
        <p:nvSpPr>
          <p:cNvPr id="4" name="标题 2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252728"/>
          </a:xfrm>
        </p:spPr>
        <p:txBody>
          <a:bodyPr/>
          <a:lstStyle/>
          <a:p>
            <a:r>
              <a:rPr lang="zh-CN" altLang="en-US" dirty="0"/>
              <a:t>实验流程</a:t>
            </a:r>
          </a:p>
        </p:txBody>
      </p:sp>
    </p:spTree>
    <p:extLst>
      <p:ext uri="{BB962C8B-B14F-4D97-AF65-F5344CB8AC3E}">
        <p14:creationId xmlns:p14="http://schemas.microsoft.com/office/powerpoint/2010/main" val="3475609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2B5B965-9B25-6938-3C09-C48DB1AA1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262431"/>
            <a:ext cx="6804248" cy="49241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7340" y="44624"/>
            <a:ext cx="8229600" cy="1252728"/>
          </a:xfrm>
        </p:spPr>
        <p:txBody>
          <a:bodyPr/>
          <a:lstStyle/>
          <a:p>
            <a:r>
              <a:rPr kumimoji="1" lang="zh-CN" altLang="en-US" dirty="0"/>
              <a:t>查看计分板</a:t>
            </a:r>
          </a:p>
        </p:txBody>
      </p:sp>
      <p:sp>
        <p:nvSpPr>
          <p:cNvPr id="6" name="矩形 5"/>
          <p:cNvSpPr/>
          <p:nvPr/>
        </p:nvSpPr>
        <p:spPr>
          <a:xfrm>
            <a:off x="2915816" y="1324673"/>
            <a:ext cx="1800200" cy="28803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注: 线形 5">
            <a:extLst>
              <a:ext uri="{FF2B5EF4-FFF2-40B4-BE49-F238E27FC236}">
                <a16:creationId xmlns:a16="http://schemas.microsoft.com/office/drawing/2014/main" id="{96BCB7D2-DD05-4270-BC7D-629746BDAAC9}"/>
              </a:ext>
            </a:extLst>
          </p:cNvPr>
          <p:cNvSpPr/>
          <p:nvPr/>
        </p:nvSpPr>
        <p:spPr>
          <a:xfrm>
            <a:off x="6012160" y="835086"/>
            <a:ext cx="2880320" cy="979174"/>
          </a:xfrm>
          <a:prstGeom prst="borderCallout1">
            <a:avLst>
              <a:gd name="adj1" fmla="val 40446"/>
              <a:gd name="adj2" fmla="val -3523"/>
              <a:gd name="adj3" fmla="val 68166"/>
              <a:gd name="adj4" fmla="val -4435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i="0" dirty="0">
                <a:solidFill>
                  <a:srgbClr val="0000FF"/>
                </a:solidFill>
              </a:rPr>
              <a:t>网址：</a:t>
            </a:r>
            <a:r>
              <a:rPr lang="en-US" altLang="zh-CN" i="0" dirty="0">
                <a:solidFill>
                  <a:srgbClr val="0000FF"/>
                </a:solidFill>
              </a:rPr>
              <a:t>http://10.12.13.30</a:t>
            </a:r>
          </a:p>
          <a:p>
            <a:pPr algn="l"/>
            <a:r>
              <a:rPr lang="zh-CN" altLang="en-US" i="0" dirty="0">
                <a:solidFill>
                  <a:srgbClr val="0000FF"/>
                </a:solidFill>
              </a:rPr>
              <a:t>不同课头的端口不同，具体见下页</a:t>
            </a:r>
          </a:p>
        </p:txBody>
      </p:sp>
    </p:spTree>
    <p:extLst>
      <p:ext uri="{BB962C8B-B14F-4D97-AF65-F5344CB8AC3E}">
        <p14:creationId xmlns:p14="http://schemas.microsoft.com/office/powerpoint/2010/main" val="286991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6B4588DF-B615-44AD-9C59-A51AD5936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4522939"/>
              </p:ext>
            </p:extLst>
          </p:nvPr>
        </p:nvGraphicFramePr>
        <p:xfrm>
          <a:off x="1763688" y="2420888"/>
          <a:ext cx="5616624" cy="28068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3201">
                  <a:extLst>
                    <a:ext uri="{9D8B030D-6E8A-4147-A177-3AD203B41FA5}">
                      <a16:colId xmlns:a16="http://schemas.microsoft.com/office/drawing/2014/main" val="2204130525"/>
                    </a:ext>
                  </a:extLst>
                </a:gridCol>
                <a:gridCol w="3733423">
                  <a:extLst>
                    <a:ext uri="{9D8B030D-6E8A-4147-A177-3AD203B41FA5}">
                      <a16:colId xmlns:a16="http://schemas.microsoft.com/office/drawing/2014/main" val="2906048358"/>
                    </a:ext>
                  </a:extLst>
                </a:gridCol>
              </a:tblGrid>
              <a:tr h="284689">
                <a:tc>
                  <a:txBody>
                    <a:bodyPr/>
                    <a:lstStyle/>
                    <a:p>
                      <a:pPr indent="266700" algn="ctr"/>
                      <a:r>
                        <a:rPr lang="zh-CN" sz="1600" kern="100" dirty="0">
                          <a:effectLst/>
                        </a:rPr>
                        <a:t>课头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 dirty="0">
                          <a:effectLst/>
                        </a:rPr>
                        <a:t>$REQUESTD_PORT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9089089"/>
                  </a:ext>
                </a:extLst>
              </a:tr>
              <a:tr h="504427"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 dirty="0">
                          <a:effectLst/>
                        </a:rPr>
                        <a:t>U10M21003.1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 dirty="0">
                          <a:effectLst/>
                        </a:rPr>
                        <a:t>16002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0675778"/>
                  </a:ext>
                </a:extLst>
              </a:tr>
              <a:tr h="504427"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 dirty="0">
                          <a:effectLst/>
                        </a:rPr>
                        <a:t>U10M21003.2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 dirty="0">
                          <a:effectLst/>
                        </a:rPr>
                        <a:t>16004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227164"/>
                  </a:ext>
                </a:extLst>
              </a:tr>
              <a:tr h="504427"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>
                          <a:effectLst/>
                        </a:rPr>
                        <a:t>U10M21003.3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266700" algn="ctr" defTabSz="914400" rtl="0" eaLnBrk="1" latinLnBrk="0" hangingPunct="1"/>
                      <a:r>
                        <a:rPr lang="en-US" altLang="zh-CN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16006</a:t>
                      </a:r>
                      <a:endParaRPr lang="zh-CN" sz="16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6001654"/>
                  </a:ext>
                </a:extLst>
              </a:tr>
              <a:tr h="504427"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 dirty="0">
                          <a:effectLst/>
                        </a:rPr>
                        <a:t>U10M21003.4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266700" algn="ctr" defTabSz="914400" rtl="0" eaLnBrk="1" latinLnBrk="0" hangingPunct="1"/>
                      <a:r>
                        <a:rPr lang="en-US" altLang="zh-CN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16008</a:t>
                      </a:r>
                      <a:endParaRPr lang="zh-CN" sz="16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5644867"/>
                  </a:ext>
                </a:extLst>
              </a:tr>
              <a:tr h="504427">
                <a:tc>
                  <a:txBody>
                    <a:bodyPr/>
                    <a:lstStyle/>
                    <a:p>
                      <a:pPr marL="0" marR="0" indent="2667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effectLst/>
                        </a:rPr>
                        <a:t>U10M21003.5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266700" algn="ctr" defTabSz="914400" rtl="0" eaLnBrk="1" latinLnBrk="0" hangingPunct="1"/>
                      <a:r>
                        <a:rPr lang="en-US" altLang="zh-CN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16010</a:t>
                      </a:r>
                      <a:endParaRPr lang="zh-CN" sz="16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9875956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57E638C8-B8DB-4470-B4AC-AE1E2A31C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Lab4</a:t>
            </a:r>
            <a:r>
              <a:rPr lang="zh-CN" altLang="en-US" dirty="0"/>
              <a:t>各课头查看</a:t>
            </a:r>
            <a:r>
              <a:rPr lang="en-US" altLang="zh-CN" dirty="0"/>
              <a:t>scoreboard</a:t>
            </a:r>
            <a:r>
              <a:rPr lang="zh-CN" altLang="en-US" dirty="0"/>
              <a:t>端口</a:t>
            </a:r>
          </a:p>
        </p:txBody>
      </p:sp>
    </p:spTree>
    <p:extLst>
      <p:ext uri="{BB962C8B-B14F-4D97-AF65-F5344CB8AC3E}">
        <p14:creationId xmlns:p14="http://schemas.microsoft.com/office/powerpoint/2010/main" val="1941255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2420888"/>
            <a:ext cx="8640959" cy="3827512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zh-CN" altLang="en-US" sz="2800" dirty="0"/>
              <a:t>实验任务：修改</a:t>
            </a:r>
            <a:r>
              <a:rPr lang="en-US" altLang="zh-CN" sz="2800" dirty="0"/>
              <a:t>phase1.o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FF0000"/>
                </a:solidFill>
              </a:rPr>
              <a:t>数据段内容</a:t>
            </a:r>
            <a:r>
              <a:rPr lang="zh-CN" altLang="en-US" sz="2800" dirty="0"/>
              <a:t>，使其与</a:t>
            </a:r>
            <a:r>
              <a:rPr lang="en-US" altLang="zh-CN" sz="2800" dirty="0" err="1"/>
              <a:t>main.o</a:t>
            </a:r>
            <a:r>
              <a:rPr lang="zh-CN" altLang="en-US" sz="2800" dirty="0"/>
              <a:t>链接后运行能够输出自己的学号。</a:t>
            </a:r>
            <a:endParaRPr lang="en-US" altLang="zh-CN" sz="2800" dirty="0"/>
          </a:p>
          <a:p>
            <a:pPr marL="915987" lvl="3" indent="0">
              <a:lnSpc>
                <a:spcPct val="150000"/>
              </a:lnSpc>
              <a:buFont typeface="Symbol" pitchFamily="18" charset="2"/>
              <a:buNone/>
              <a:defRPr/>
            </a:pPr>
            <a:endParaRPr lang="en-US" altLang="zh-CN" dirty="0"/>
          </a:p>
          <a:p>
            <a:pPr marL="349250" lvl="1" indent="0">
              <a:lnSpc>
                <a:spcPct val="150000"/>
              </a:lnSpc>
              <a:buFont typeface="Symbol" pitchFamily="18" charset="2"/>
              <a:buNone/>
              <a:defRPr/>
            </a:pPr>
            <a:endParaRPr lang="en-US" altLang="zh-CN" dirty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阶段</a:t>
            </a:r>
            <a:r>
              <a:rPr lang="en-US" altLang="zh-CN" dirty="0"/>
              <a:t>1   </a:t>
            </a:r>
            <a:r>
              <a:rPr lang="zh-CN" altLang="en-US" dirty="0"/>
              <a:t>示例</a:t>
            </a:r>
          </a:p>
        </p:txBody>
      </p:sp>
    </p:spTree>
    <p:extLst>
      <p:ext uri="{BB962C8B-B14F-4D97-AF65-F5344CB8AC3E}">
        <p14:creationId xmlns:p14="http://schemas.microsoft.com/office/powerpoint/2010/main" val="3026476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92E549C-73F6-4BDD-B268-29BE7DD0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186392"/>
          </a:xfrm>
        </p:spPr>
        <p:txBody>
          <a:bodyPr/>
          <a:lstStyle/>
          <a:p>
            <a:pPr algn="l"/>
            <a:r>
              <a:rPr lang="en-US" altLang="zh-CN" dirty="0"/>
              <a:t>1.</a:t>
            </a:r>
            <a:r>
              <a:rPr lang="zh-CN" altLang="en-US" dirty="0"/>
              <a:t>解压实验包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EFB3A1B6-C582-486C-88E9-7CE6B9A2D844}"/>
              </a:ext>
            </a:extLst>
          </p:cNvPr>
          <p:cNvSpPr/>
          <p:nvPr/>
        </p:nvSpPr>
        <p:spPr>
          <a:xfrm>
            <a:off x="2714625" y="2371725"/>
            <a:ext cx="1600200" cy="1343025"/>
          </a:xfrm>
          <a:custGeom>
            <a:avLst/>
            <a:gdLst>
              <a:gd name="connsiteX0" fmla="*/ 0 w 1600200"/>
              <a:gd name="connsiteY0" fmla="*/ 0 h 1343025"/>
              <a:gd name="connsiteX1" fmla="*/ 1228725 w 1600200"/>
              <a:gd name="connsiteY1" fmla="*/ 600075 h 1343025"/>
              <a:gd name="connsiteX2" fmla="*/ 1600200 w 1600200"/>
              <a:gd name="connsiteY2" fmla="*/ 1343025 h 134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0200" h="1343025">
                <a:moveTo>
                  <a:pt x="0" y="0"/>
                </a:moveTo>
                <a:cubicBezTo>
                  <a:pt x="481012" y="188119"/>
                  <a:pt x="962025" y="376238"/>
                  <a:pt x="1228725" y="600075"/>
                </a:cubicBezTo>
                <a:cubicBezTo>
                  <a:pt x="1495425" y="823912"/>
                  <a:pt x="1547812" y="1083468"/>
                  <a:pt x="1600200" y="1343025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5AB48B-E786-4BEC-E6FC-32384B89B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469890"/>
            <a:ext cx="1459036" cy="102300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05DE472-5C5F-D5D5-1584-23ED33B45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589" y="3833080"/>
            <a:ext cx="7884368" cy="152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17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A991E32-AAE8-4A8B-907E-C3211CBF1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591056"/>
            <a:ext cx="8568952" cy="4430232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链接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gcc</a:t>
            </a:r>
            <a:r>
              <a:rPr lang="en-US" altLang="zh-CN" dirty="0"/>
              <a:t>  –m32  –o  </a:t>
            </a:r>
            <a:r>
              <a:rPr lang="en-US" altLang="zh-CN" dirty="0" err="1"/>
              <a:t>linkbomb</a:t>
            </a:r>
            <a:r>
              <a:rPr lang="en-US" altLang="zh-CN" dirty="0"/>
              <a:t>  </a:t>
            </a:r>
            <a:r>
              <a:rPr lang="en-US" altLang="zh-CN" dirty="0" err="1"/>
              <a:t>main.o</a:t>
            </a:r>
            <a:r>
              <a:rPr lang="en-US" altLang="zh-CN" dirty="0"/>
              <a:t>  phase1.o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运行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./</a:t>
            </a:r>
            <a:r>
              <a:rPr lang="en-US" altLang="zh-CN" dirty="0" err="1"/>
              <a:t>linkbomb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E41D4FF-CEA8-4A4D-A2E3-78B70E40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2. </a:t>
            </a:r>
            <a:r>
              <a:rPr lang="zh-CN" altLang="en-US" dirty="0"/>
              <a:t>直接运行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C57A21-2FA3-8867-565D-A0ACD80FF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3573016"/>
            <a:ext cx="8532440" cy="87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805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5BF1EEAE-E36B-0326-89A3-2E70F2555C74}"/>
              </a:ext>
            </a:extLst>
          </p:cNvPr>
          <p:cNvGrpSpPr/>
          <p:nvPr/>
        </p:nvGrpSpPr>
        <p:grpSpPr>
          <a:xfrm>
            <a:off x="289529" y="2112492"/>
            <a:ext cx="5867668" cy="2969526"/>
            <a:chOff x="0" y="1944237"/>
            <a:chExt cx="5867668" cy="2969526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31D9484-2CD5-EBDA-2331-46B7FB179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9919"/>
            <a:stretch>
              <a:fillRect/>
            </a:stretch>
          </p:blipFill>
          <p:spPr>
            <a:xfrm>
              <a:off x="0" y="1944237"/>
              <a:ext cx="1836236" cy="2969526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EA51D313-E909-9277-7DC0-E9C19005E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912"/>
            <a:stretch>
              <a:fillRect/>
            </a:stretch>
          </p:blipFill>
          <p:spPr>
            <a:xfrm>
              <a:off x="1836236" y="1944237"/>
              <a:ext cx="4031432" cy="2969526"/>
            </a:xfrm>
            <a:prstGeom prst="rect">
              <a:avLst/>
            </a:prstGeom>
          </p:spPr>
        </p:pic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CCEE9303-B7BE-44B0-AE2C-41D93622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查看反汇编代码（</a:t>
            </a:r>
            <a:r>
              <a:rPr lang="zh-CN" altLang="en-US" dirty="0">
                <a:solidFill>
                  <a:srgbClr val="FF0000"/>
                </a:solidFill>
              </a:rPr>
              <a:t>链接后</a:t>
            </a:r>
            <a:r>
              <a:rPr lang="zh-CN" altLang="en-US" dirty="0"/>
              <a:t>）</a:t>
            </a:r>
          </a:p>
        </p:txBody>
      </p:sp>
      <p:sp>
        <p:nvSpPr>
          <p:cNvPr id="9" name="标注: 线形 8">
            <a:extLst>
              <a:ext uri="{FF2B5EF4-FFF2-40B4-BE49-F238E27FC236}">
                <a16:creationId xmlns:a16="http://schemas.microsoft.com/office/drawing/2014/main" id="{97E0C0F0-5197-439A-838B-23B903C9B637}"/>
              </a:ext>
            </a:extLst>
          </p:cNvPr>
          <p:cNvSpPr/>
          <p:nvPr/>
        </p:nvSpPr>
        <p:spPr>
          <a:xfrm>
            <a:off x="5676203" y="2615041"/>
            <a:ext cx="1836236" cy="701780"/>
          </a:xfrm>
          <a:prstGeom prst="borderCallout1">
            <a:avLst>
              <a:gd name="adj1" fmla="val 18750"/>
              <a:gd name="adj2" fmla="val -8333"/>
              <a:gd name="adj3" fmla="val 89326"/>
              <a:gd name="adj4" fmla="val -56906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i="0" dirty="0">
                <a:solidFill>
                  <a:srgbClr val="0000FF"/>
                </a:solidFill>
              </a:rPr>
              <a:t>输出存储在这个地址的字符串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9A44DF-F010-4EF6-8D37-E7AAE78D3E85}"/>
              </a:ext>
            </a:extLst>
          </p:cNvPr>
          <p:cNvSpPr txBox="1"/>
          <p:nvPr/>
        </p:nvSpPr>
        <p:spPr>
          <a:xfrm>
            <a:off x="307409" y="5187602"/>
            <a:ext cx="8229600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分析：</a:t>
            </a:r>
            <a:endParaRPr lang="en-US" altLang="zh-CN" sz="2400" i="0" dirty="0">
              <a:solidFill>
                <a:schemeClr val="tx2"/>
              </a:solidFill>
              <a:latin typeface="+mn-lt"/>
              <a:ea typeface="+mn-ea"/>
            </a:endParaRPr>
          </a:p>
          <a:p>
            <a:pPr algn="l"/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1. </a:t>
            </a: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把字符串改成学号；</a:t>
            </a:r>
            <a:endParaRPr lang="en-US" altLang="zh-CN" sz="2400" i="0" dirty="0">
              <a:solidFill>
                <a:schemeClr val="tx2"/>
              </a:solidFill>
              <a:latin typeface="+mn-lt"/>
              <a:ea typeface="+mn-ea"/>
            </a:endParaRPr>
          </a:p>
          <a:p>
            <a:pPr algn="l"/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2. </a:t>
            </a: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这是一个全局变量或者常量；</a:t>
            </a:r>
            <a:endParaRPr lang="en-US" altLang="zh-CN" sz="2400" i="0" dirty="0">
              <a:solidFill>
                <a:schemeClr val="tx2"/>
              </a:solidFill>
              <a:latin typeface="+mn-lt"/>
              <a:ea typeface="+mn-ea"/>
            </a:endParaRPr>
          </a:p>
          <a:p>
            <a:pPr algn="l"/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3. </a:t>
            </a: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它存放在</a:t>
            </a:r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.o</a:t>
            </a: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文件的</a:t>
            </a:r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.data</a:t>
            </a: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节或者</a:t>
            </a:r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.</a:t>
            </a:r>
            <a:r>
              <a:rPr lang="en-US" altLang="zh-CN" sz="2400" i="0" dirty="0" err="1">
                <a:solidFill>
                  <a:schemeClr val="tx2"/>
                </a:solidFill>
                <a:latin typeface="+mn-lt"/>
                <a:ea typeface="+mn-ea"/>
              </a:rPr>
              <a:t>rodata</a:t>
            </a: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节。</a:t>
            </a:r>
            <a:endParaRPr lang="en-US" altLang="zh-CN" sz="2400" i="0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165698" y="3224094"/>
            <a:ext cx="1497823" cy="284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153016" y="3508647"/>
            <a:ext cx="3662634" cy="2915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79308E-5DE0-C361-E10A-046685ACC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589348"/>
            <a:ext cx="6585743" cy="41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4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6C3D165-BB42-1277-AD4F-ED4C5B5F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604"/>
          <a:stretch>
            <a:fillRect/>
          </a:stretch>
        </p:blipFill>
        <p:spPr>
          <a:xfrm>
            <a:off x="917848" y="1832763"/>
            <a:ext cx="7308304" cy="3048458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B407CB0-53C8-47FD-8070-8A6DD62BB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8328"/>
            <a:ext cx="8124800" cy="930432"/>
          </a:xfrm>
        </p:spPr>
        <p:txBody>
          <a:bodyPr>
            <a:normAutofit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查看反汇编代码（</a:t>
            </a:r>
            <a:r>
              <a:rPr lang="zh-CN" altLang="en-US" dirty="0">
                <a:solidFill>
                  <a:srgbClr val="FF0000"/>
                </a:solidFill>
              </a:rPr>
              <a:t>链接前</a:t>
            </a:r>
            <a:r>
              <a:rPr lang="zh-CN" altLang="en-US" dirty="0"/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7495E7-FA05-49CA-AD94-594EA0696C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683" t="-1" b="37186"/>
          <a:stretch>
            <a:fillRect/>
          </a:stretch>
        </p:blipFill>
        <p:spPr>
          <a:xfrm>
            <a:off x="1849387" y="1297295"/>
            <a:ext cx="5157193" cy="40351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9BF2D85-0091-4135-9267-B5EBAD8309C5}"/>
              </a:ext>
            </a:extLst>
          </p:cNvPr>
          <p:cNvSpPr/>
          <p:nvPr/>
        </p:nvSpPr>
        <p:spPr>
          <a:xfrm>
            <a:off x="2339752" y="2989726"/>
            <a:ext cx="1656184" cy="2111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6C4780-BA19-C07B-4357-7801CDBB8B9D}"/>
              </a:ext>
            </a:extLst>
          </p:cNvPr>
          <p:cNvSpPr txBox="1"/>
          <p:nvPr/>
        </p:nvSpPr>
        <p:spPr>
          <a:xfrm>
            <a:off x="1187624" y="5013176"/>
            <a:ext cx="712879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分析：</a:t>
            </a:r>
            <a:endParaRPr lang="en-US" altLang="zh-CN" sz="2400" i="0" dirty="0">
              <a:solidFill>
                <a:schemeClr val="tx2"/>
              </a:solidFill>
              <a:latin typeface="+mn-lt"/>
              <a:ea typeface="+mn-ea"/>
            </a:endParaRPr>
          </a:p>
          <a:p>
            <a:pPr algn="l"/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1. </a:t>
            </a: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这个位置需要重定位；</a:t>
            </a:r>
            <a:endParaRPr lang="en-US" altLang="zh-CN" sz="2400" i="0" dirty="0">
              <a:solidFill>
                <a:schemeClr val="tx2"/>
              </a:solidFill>
              <a:latin typeface="+mn-lt"/>
              <a:ea typeface="+mn-ea"/>
            </a:endParaRPr>
          </a:p>
          <a:p>
            <a:pPr algn="l"/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2. </a:t>
            </a: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查重定位信息确定需要引用的符号；</a:t>
            </a:r>
            <a:endParaRPr lang="en-US" altLang="zh-CN" sz="2400" i="0" dirty="0">
              <a:solidFill>
                <a:schemeClr val="tx2"/>
              </a:solidFill>
              <a:latin typeface="+mn-lt"/>
              <a:ea typeface="+mn-ea"/>
            </a:endParaRPr>
          </a:p>
          <a:p>
            <a:pPr algn="l"/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3. </a:t>
            </a: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查符号表确定符号位置。</a:t>
            </a:r>
            <a:endParaRPr lang="en-US" altLang="zh-CN" sz="2400" i="0" dirty="0">
              <a:solidFill>
                <a:schemeClr val="tx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964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87523" y="1700808"/>
            <a:ext cx="8593237" cy="4680520"/>
          </a:xfrm>
        </p:spPr>
        <p:txBody>
          <a:bodyPr>
            <a:normAutofit/>
          </a:bodyPr>
          <a:lstStyle/>
          <a:p>
            <a:r>
              <a:rPr lang="zh-CN" altLang="en-US" sz="2800" b="1" dirty="0"/>
              <a:t>重定位</a:t>
            </a:r>
            <a:r>
              <a:rPr lang="zh-CN" altLang="en-US" sz="2800" dirty="0"/>
              <a:t>就是把符号引用和符号定义关联起来的过程。</a:t>
            </a:r>
            <a:endParaRPr lang="en-US" altLang="zh-CN" sz="2800" dirty="0"/>
          </a:p>
          <a:p>
            <a:r>
              <a:rPr lang="zh-CN" altLang="en-US" sz="2800" b="1" dirty="0"/>
              <a:t>重定位节</a:t>
            </a:r>
            <a:r>
              <a:rPr lang="zh-CN" altLang="en-US" sz="2800" dirty="0"/>
              <a:t>包含重定位过程需要的信息。每个</a:t>
            </a:r>
            <a:r>
              <a:rPr lang="zh-CN" altLang="en-US" sz="2800" b="1" dirty="0"/>
              <a:t>条目</a:t>
            </a:r>
            <a:r>
              <a:rPr lang="zh-CN" altLang="en-US" sz="2800" dirty="0"/>
              <a:t>对应一个需要重定位的位置。</a:t>
            </a:r>
            <a:endParaRPr lang="en-US" altLang="zh-CN" sz="2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87524" y="188640"/>
            <a:ext cx="8568951" cy="1146456"/>
          </a:xfrm>
        </p:spPr>
        <p:txBody>
          <a:bodyPr/>
          <a:lstStyle/>
          <a:p>
            <a:r>
              <a:rPr lang="zh-CN" altLang="en-US" dirty="0"/>
              <a:t>重定位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2411760" y="592182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383816" y="4041068"/>
            <a:ext cx="3999326" cy="1533525"/>
            <a:chOff x="2568161" y="2662237"/>
            <a:chExt cx="3999326" cy="1533525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76512" y="2662237"/>
              <a:ext cx="3990975" cy="1533525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68161" y="2662237"/>
              <a:ext cx="2000250" cy="314325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4358857" y="3429000"/>
            <a:ext cx="4497618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l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</a:pPr>
            <a:r>
              <a:rPr lang="en-US" altLang="zh-CN" sz="2000" b="1" i="0" dirty="0" err="1">
                <a:solidFill>
                  <a:schemeClr val="tx2"/>
                </a:solidFill>
                <a:latin typeface="+mn-lt"/>
                <a:ea typeface="+mn-ea"/>
              </a:rPr>
              <a:t>r_offset</a:t>
            </a:r>
            <a:r>
              <a:rPr lang="en-US" altLang="zh-CN" sz="2000" i="0" dirty="0">
                <a:solidFill>
                  <a:schemeClr val="tx2"/>
                </a:solidFill>
                <a:latin typeface="+mn-lt"/>
                <a:ea typeface="+mn-ea"/>
              </a:rPr>
              <a:t>: </a:t>
            </a:r>
            <a:r>
              <a:rPr lang="zh-CN" altLang="en-US" sz="2000" i="0" dirty="0">
                <a:solidFill>
                  <a:schemeClr val="tx2"/>
                </a:solidFill>
                <a:latin typeface="+mn-lt"/>
                <a:ea typeface="+mn-ea"/>
              </a:rPr>
              <a:t>需要重定位的位置（节内的偏移）</a:t>
            </a:r>
            <a:endParaRPr lang="en-US" altLang="zh-CN" sz="2000" i="0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274320" indent="-274320" algn="l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</a:pPr>
            <a:r>
              <a:rPr lang="en-US" altLang="zh-CN" sz="2000" b="1" i="0" dirty="0" err="1">
                <a:solidFill>
                  <a:schemeClr val="tx2"/>
                </a:solidFill>
                <a:latin typeface="+mn-lt"/>
                <a:ea typeface="+mn-ea"/>
              </a:rPr>
              <a:t>r_info</a:t>
            </a:r>
            <a:r>
              <a:rPr lang="en-US" altLang="zh-CN" sz="2000" i="0" dirty="0">
                <a:solidFill>
                  <a:schemeClr val="tx2"/>
                </a:solidFill>
                <a:latin typeface="+mn-lt"/>
                <a:ea typeface="+mn-ea"/>
              </a:rPr>
              <a:t>:  </a:t>
            </a:r>
            <a:r>
              <a:rPr lang="zh-CN" altLang="en-US" sz="2000" i="0" dirty="0">
                <a:solidFill>
                  <a:schemeClr val="tx2"/>
                </a:solidFill>
                <a:latin typeface="+mn-lt"/>
                <a:ea typeface="+mn-ea"/>
              </a:rPr>
              <a:t>（</a:t>
            </a:r>
            <a:r>
              <a:rPr lang="en-US" altLang="zh-CN" sz="2000" i="0" dirty="0" err="1">
                <a:solidFill>
                  <a:schemeClr val="tx2"/>
                </a:solidFill>
                <a:latin typeface="+mn-lt"/>
                <a:ea typeface="+mn-ea"/>
              </a:rPr>
              <a:t>sym</a:t>
            </a:r>
            <a:r>
              <a:rPr lang="en-US" altLang="zh-CN" sz="2000" i="0" dirty="0">
                <a:solidFill>
                  <a:schemeClr val="tx2"/>
                </a:solidFill>
                <a:latin typeface="+mn-lt"/>
                <a:ea typeface="+mn-ea"/>
              </a:rPr>
              <a:t>(24</a:t>
            </a:r>
            <a:r>
              <a:rPr lang="zh-CN" altLang="en-US" sz="2000" i="0" dirty="0">
                <a:solidFill>
                  <a:schemeClr val="tx2"/>
                </a:solidFill>
                <a:latin typeface="+mn-lt"/>
                <a:ea typeface="+mn-ea"/>
              </a:rPr>
              <a:t>位</a:t>
            </a:r>
            <a:r>
              <a:rPr lang="en-US" altLang="zh-CN" sz="2000" i="0" dirty="0">
                <a:solidFill>
                  <a:schemeClr val="tx2"/>
                </a:solidFill>
                <a:latin typeface="+mn-lt"/>
                <a:ea typeface="+mn-ea"/>
              </a:rPr>
              <a:t>),type(8</a:t>
            </a:r>
            <a:r>
              <a:rPr lang="zh-CN" altLang="en-US" sz="2000" i="0" dirty="0">
                <a:solidFill>
                  <a:schemeClr val="tx2"/>
                </a:solidFill>
                <a:latin typeface="+mn-lt"/>
                <a:ea typeface="+mn-ea"/>
              </a:rPr>
              <a:t>位</a:t>
            </a:r>
            <a:r>
              <a:rPr lang="en-US" altLang="zh-CN" sz="2000" i="0" dirty="0">
                <a:solidFill>
                  <a:schemeClr val="tx2"/>
                </a:solidFill>
                <a:latin typeface="+mn-lt"/>
                <a:ea typeface="+mn-ea"/>
              </a:rPr>
              <a:t>)</a:t>
            </a:r>
            <a:r>
              <a:rPr lang="zh-CN" altLang="en-US" sz="2000" i="0" dirty="0">
                <a:solidFill>
                  <a:schemeClr val="tx2"/>
                </a:solidFill>
                <a:latin typeface="+mn-lt"/>
                <a:ea typeface="+mn-ea"/>
              </a:rPr>
              <a:t>）</a:t>
            </a:r>
            <a:endParaRPr lang="en-US" altLang="zh-CN" sz="2000" i="0" dirty="0">
              <a:solidFill>
                <a:schemeClr val="tx2"/>
              </a:solidFill>
              <a:latin typeface="+mn-lt"/>
              <a:ea typeface="+mn-ea"/>
            </a:endParaRP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sz="2000" i="0" dirty="0">
                <a:solidFill>
                  <a:schemeClr val="tx2"/>
                </a:solidFill>
                <a:latin typeface="+mn-lt"/>
                <a:ea typeface="+mn-ea"/>
              </a:rPr>
              <a:t>         </a:t>
            </a:r>
            <a:r>
              <a:rPr lang="en-US" altLang="zh-CN" sz="2000" b="1" i="0" dirty="0" err="1">
                <a:solidFill>
                  <a:schemeClr val="tx2"/>
                </a:solidFill>
                <a:latin typeface="+mn-lt"/>
                <a:ea typeface="+mn-ea"/>
              </a:rPr>
              <a:t>sym</a:t>
            </a:r>
            <a:r>
              <a:rPr lang="zh-CN" altLang="en-US" sz="2000" i="0" dirty="0">
                <a:solidFill>
                  <a:schemeClr val="tx2"/>
                </a:solidFill>
                <a:latin typeface="+mn-lt"/>
                <a:ea typeface="+mn-ea"/>
              </a:rPr>
              <a:t>：重定位到哪个符号（符号表索引）</a:t>
            </a:r>
            <a:endParaRPr lang="en-US" altLang="zh-CN" sz="2000" i="0" dirty="0">
              <a:solidFill>
                <a:schemeClr val="tx2"/>
              </a:solidFill>
              <a:latin typeface="+mn-lt"/>
              <a:ea typeface="+mn-ea"/>
            </a:endParaRP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sz="2000" i="0" dirty="0">
                <a:solidFill>
                  <a:schemeClr val="tx2"/>
                </a:solidFill>
                <a:latin typeface="+mn-lt"/>
                <a:ea typeface="+mn-ea"/>
              </a:rPr>
              <a:t>         </a:t>
            </a:r>
            <a:r>
              <a:rPr lang="en-US" altLang="zh-CN" sz="2000" b="1" i="0" dirty="0">
                <a:solidFill>
                  <a:schemeClr val="tx2"/>
                </a:solidFill>
                <a:latin typeface="+mn-lt"/>
                <a:ea typeface="+mn-ea"/>
              </a:rPr>
              <a:t>type</a:t>
            </a:r>
            <a:r>
              <a:rPr lang="zh-CN" altLang="en-US" sz="2000" i="0" dirty="0">
                <a:solidFill>
                  <a:schemeClr val="tx2"/>
                </a:solidFill>
                <a:latin typeface="+mn-lt"/>
                <a:ea typeface="+mn-ea"/>
              </a:rPr>
              <a:t>：重定位类型（如何计算重定位地址）</a:t>
            </a:r>
            <a:endParaRPr lang="en-US" altLang="zh-CN" sz="2000" i="0" dirty="0">
              <a:solidFill>
                <a:schemeClr val="tx2"/>
              </a:solidFill>
              <a:latin typeface="+mn-lt"/>
              <a:ea typeface="+mn-ea"/>
            </a:endParaRPr>
          </a:p>
          <a:p>
            <a:pPr algn="l"/>
            <a:endParaRPr lang="zh-CN" altLang="en-US" i="0" dirty="0"/>
          </a:p>
        </p:txBody>
      </p:sp>
    </p:spTree>
    <p:extLst>
      <p:ext uri="{BB962C8B-B14F-4D97-AF65-F5344CB8AC3E}">
        <p14:creationId xmlns:p14="http://schemas.microsoft.com/office/powerpoint/2010/main" val="818974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916832"/>
            <a:ext cx="8291263" cy="4176464"/>
          </a:xfrm>
        </p:spPr>
        <p:txBody>
          <a:bodyPr/>
          <a:lstStyle/>
          <a:p>
            <a:r>
              <a:rPr lang="en-US" altLang="zh-CN" dirty="0"/>
              <a:t>R_386_32 </a:t>
            </a:r>
            <a:r>
              <a:rPr lang="zh-CN" altLang="en-US" dirty="0"/>
              <a:t>：    </a:t>
            </a:r>
            <a:r>
              <a:rPr lang="en-US" altLang="zh-CN" dirty="0"/>
              <a:t>S+A</a:t>
            </a:r>
          </a:p>
          <a:p>
            <a:r>
              <a:rPr lang="en-US" altLang="zh-CN" dirty="0"/>
              <a:t>R_386_PC32</a:t>
            </a:r>
            <a:r>
              <a:rPr lang="zh-CN" altLang="en-US" dirty="0"/>
              <a:t>：</a:t>
            </a:r>
            <a:r>
              <a:rPr lang="en-US" altLang="zh-CN" dirty="0"/>
              <a:t>S+A-P</a:t>
            </a:r>
          </a:p>
          <a:p>
            <a:pPr marL="0" indent="0">
              <a:buNone/>
            </a:pPr>
            <a:r>
              <a:rPr lang="en-US" altLang="zh-CN" sz="2800" dirty="0"/>
              <a:t>    </a:t>
            </a:r>
          </a:p>
          <a:p>
            <a:pPr marL="0" indent="0">
              <a:buNone/>
            </a:pPr>
            <a:r>
              <a:rPr lang="en-US" altLang="zh-CN" sz="2800" dirty="0"/>
              <a:t>    </a:t>
            </a:r>
            <a:r>
              <a:rPr lang="zh-CN" altLang="en-US" sz="2800" dirty="0"/>
              <a:t>其中， </a:t>
            </a:r>
            <a:r>
              <a:rPr lang="en-US" altLang="zh-CN" sz="2800" b="1" dirty="0"/>
              <a:t>S</a:t>
            </a:r>
            <a:r>
              <a:rPr lang="zh-CN" altLang="en-US" sz="2800" dirty="0"/>
              <a:t>：</a:t>
            </a:r>
            <a:r>
              <a:rPr lang="en-US" altLang="zh-CN" sz="2800" b="1" i="0" dirty="0">
                <a:solidFill>
                  <a:schemeClr val="tx2"/>
                </a:solidFill>
                <a:latin typeface="+mn-lt"/>
                <a:ea typeface="+mn-ea"/>
              </a:rPr>
              <a:t> </a:t>
            </a:r>
            <a:r>
              <a:rPr lang="en-US" altLang="zh-CN" sz="2800" dirty="0" err="1"/>
              <a:t>sym</a:t>
            </a:r>
            <a:r>
              <a:rPr lang="zh-CN" altLang="en-US" sz="2800" dirty="0"/>
              <a:t>字段指向的符号的</a:t>
            </a:r>
            <a:r>
              <a:rPr lang="en-US" altLang="zh-CN" sz="2800" dirty="0"/>
              <a:t>value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b="1" dirty="0"/>
              <a:t>                  A</a:t>
            </a:r>
            <a:r>
              <a:rPr lang="zh-CN" altLang="en-US" sz="2800" dirty="0"/>
              <a:t>：对应节的</a:t>
            </a:r>
            <a:r>
              <a:rPr lang="en-US" altLang="zh-CN" sz="2800" dirty="0"/>
              <a:t> </a:t>
            </a:r>
            <a:r>
              <a:rPr lang="en-US" altLang="zh-CN" sz="2800" dirty="0" err="1"/>
              <a:t>r_offset</a:t>
            </a:r>
            <a:r>
              <a:rPr lang="zh-CN" altLang="en-US" sz="2800" dirty="0"/>
              <a:t>偏移位置上存储的值；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              </a:t>
            </a:r>
            <a:r>
              <a:rPr lang="en-US" altLang="zh-CN" sz="2800" b="1" dirty="0"/>
              <a:t>P</a:t>
            </a:r>
            <a:r>
              <a:rPr lang="zh-CN" altLang="en-US" sz="2800" dirty="0"/>
              <a:t>： </a:t>
            </a:r>
            <a:r>
              <a:rPr lang="en-US" altLang="zh-CN" sz="2800" dirty="0" err="1"/>
              <a:t>r_offset</a:t>
            </a:r>
            <a:endParaRPr lang="en-US" altLang="zh-CN" sz="2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重定位类型</a:t>
            </a:r>
          </a:p>
        </p:txBody>
      </p:sp>
    </p:spTree>
    <p:extLst>
      <p:ext uri="{BB962C8B-B14F-4D97-AF65-F5344CB8AC3E}">
        <p14:creationId xmlns:p14="http://schemas.microsoft.com/office/powerpoint/2010/main" val="25368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5680C02D-4C9F-79FC-C8CD-9E29A9AB4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4652362"/>
            <a:ext cx="5724128" cy="16300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F8C7229-283E-248B-0F4D-7BC5758BD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9" y="2636138"/>
            <a:ext cx="6300192" cy="142804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658B88E-49CD-910E-165E-F8E5D85C3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150946"/>
            <a:ext cx="5580112" cy="1187069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CFBE2E26-F976-434E-9021-E82FE088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930432"/>
          </a:xfrm>
        </p:spPr>
        <p:txBody>
          <a:bodyPr/>
          <a:lstStyle/>
          <a:p>
            <a:pPr algn="l"/>
            <a:r>
              <a:rPr lang="en-US" altLang="zh-CN" dirty="0"/>
              <a:t>5.</a:t>
            </a:r>
            <a:r>
              <a:rPr lang="zh-CN" altLang="en-US" dirty="0"/>
              <a:t>确定字符串位置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137438-5269-6183-62C1-E6CD99BADD54}"/>
              </a:ext>
            </a:extLst>
          </p:cNvPr>
          <p:cNvSpPr/>
          <p:nvPr/>
        </p:nvSpPr>
        <p:spPr>
          <a:xfrm>
            <a:off x="22659" y="1700808"/>
            <a:ext cx="4189301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10A16F-A192-68DE-2EA7-0F0AEA558EEF}"/>
              </a:ext>
            </a:extLst>
          </p:cNvPr>
          <p:cNvSpPr/>
          <p:nvPr/>
        </p:nvSpPr>
        <p:spPr>
          <a:xfrm>
            <a:off x="412757" y="3789040"/>
            <a:ext cx="3727195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AA51F49-2050-2377-093C-8A8F2DD3848C}"/>
              </a:ext>
            </a:extLst>
          </p:cNvPr>
          <p:cNvCxnSpPr/>
          <p:nvPr/>
        </p:nvCxnSpPr>
        <p:spPr>
          <a:xfrm flipH="1">
            <a:off x="539552" y="1844824"/>
            <a:ext cx="487207" cy="20162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A4F2C74-2A41-F320-DEAA-2F2203D4449B}"/>
              </a:ext>
            </a:extLst>
          </p:cNvPr>
          <p:cNvCxnSpPr/>
          <p:nvPr/>
        </p:nvCxnSpPr>
        <p:spPr>
          <a:xfrm flipH="1">
            <a:off x="810735" y="3861048"/>
            <a:ext cx="3113193" cy="20162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C0643C52-79C9-7ECA-581A-9D94029C6B51}"/>
              </a:ext>
            </a:extLst>
          </p:cNvPr>
          <p:cNvSpPr/>
          <p:nvPr/>
        </p:nvSpPr>
        <p:spPr>
          <a:xfrm>
            <a:off x="539552" y="5707054"/>
            <a:ext cx="5035190" cy="2174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41EFE2-0014-9B41-FB72-866BDA41B50E}"/>
              </a:ext>
            </a:extLst>
          </p:cNvPr>
          <p:cNvSpPr/>
          <p:nvPr/>
        </p:nvSpPr>
        <p:spPr>
          <a:xfrm>
            <a:off x="683568" y="3789040"/>
            <a:ext cx="696554" cy="144016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09CF93-EBD9-0C7D-4214-74F2630A36C2}"/>
              </a:ext>
            </a:extLst>
          </p:cNvPr>
          <p:cNvSpPr/>
          <p:nvPr/>
        </p:nvSpPr>
        <p:spPr>
          <a:xfrm>
            <a:off x="3563887" y="5780500"/>
            <a:ext cx="487207" cy="144016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8E9D6A-BB53-E694-A6B9-8F846A90AF94}"/>
              </a:ext>
            </a:extLst>
          </p:cNvPr>
          <p:cNvSpPr txBox="1"/>
          <p:nvPr/>
        </p:nvSpPr>
        <p:spPr>
          <a:xfrm>
            <a:off x="5804317" y="4349159"/>
            <a:ext cx="3223139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符号位置是：</a:t>
            </a:r>
            <a:endParaRPr lang="en-US" altLang="zh-CN" sz="2400" i="0" dirty="0">
              <a:solidFill>
                <a:schemeClr val="tx2"/>
              </a:solidFill>
              <a:latin typeface="+mn-lt"/>
              <a:ea typeface="+mn-ea"/>
            </a:endParaRPr>
          </a:p>
          <a:p>
            <a:pPr algn="l"/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.data</a:t>
            </a: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节偏移是</a:t>
            </a:r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0</a:t>
            </a: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的位置</a:t>
            </a:r>
            <a:endParaRPr lang="en-US" altLang="zh-CN" sz="2400" i="0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4FC3999-7D7C-FB5D-AF61-F849A99642CF}"/>
              </a:ext>
            </a:extLst>
          </p:cNvPr>
          <p:cNvSpPr txBox="1"/>
          <p:nvPr/>
        </p:nvSpPr>
        <p:spPr>
          <a:xfrm>
            <a:off x="5845925" y="5291555"/>
            <a:ext cx="3223139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重定位类型：</a:t>
            </a:r>
            <a:endParaRPr lang="en-US" altLang="zh-CN" sz="2400" i="0" dirty="0">
              <a:solidFill>
                <a:schemeClr val="tx2"/>
              </a:solidFill>
              <a:latin typeface="+mn-lt"/>
              <a:ea typeface="+mn-ea"/>
            </a:endParaRPr>
          </a:p>
          <a:p>
            <a:pPr algn="l"/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R_386_32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1FE728E-C123-8F96-7E5C-0826B360FE52}"/>
              </a:ext>
            </a:extLst>
          </p:cNvPr>
          <p:cNvSpPr/>
          <p:nvPr/>
        </p:nvSpPr>
        <p:spPr>
          <a:xfrm>
            <a:off x="1403648" y="1700808"/>
            <a:ext cx="792088" cy="144016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1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1" grpId="0" animBg="1"/>
      <p:bldP spid="22" grpId="0" animBg="1"/>
      <p:bldP spid="23" grpId="0" animBg="1"/>
      <p:bldP spid="25" grpId="0"/>
      <p:bldP spid="26" grpId="0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3A5FE0A-ADE2-1844-B71B-71CC32A2EA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8" b="6795"/>
          <a:stretch>
            <a:fillRect/>
          </a:stretch>
        </p:blipFill>
        <p:spPr>
          <a:xfrm>
            <a:off x="323528" y="404664"/>
            <a:ext cx="8280920" cy="331236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F1E1163-32D7-4482-86A7-DFCED4589E1A}"/>
              </a:ext>
            </a:extLst>
          </p:cNvPr>
          <p:cNvSpPr/>
          <p:nvPr/>
        </p:nvSpPr>
        <p:spPr>
          <a:xfrm>
            <a:off x="1907704" y="1772817"/>
            <a:ext cx="1584176" cy="2160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164CC86-9609-422E-8D03-71FBC8D04CE0}"/>
              </a:ext>
            </a:extLst>
          </p:cNvPr>
          <p:cNvSpPr txBox="1"/>
          <p:nvPr/>
        </p:nvSpPr>
        <p:spPr>
          <a:xfrm>
            <a:off x="467544" y="4077072"/>
            <a:ext cx="8280920" cy="171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l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</a:pPr>
            <a:r>
              <a:rPr lang="en-US" altLang="zh-CN" sz="2400" b="1" i="0" dirty="0">
                <a:solidFill>
                  <a:schemeClr val="tx2"/>
                </a:solidFill>
                <a:latin typeface="+mn-lt"/>
                <a:ea typeface="+mn-ea"/>
              </a:rPr>
              <a:t>R_386_32 </a:t>
            </a:r>
            <a:r>
              <a:rPr lang="zh-CN" altLang="en-US" sz="2400" b="1" i="0" dirty="0">
                <a:solidFill>
                  <a:schemeClr val="tx2"/>
                </a:solidFill>
                <a:latin typeface="+mn-lt"/>
                <a:ea typeface="+mn-ea"/>
              </a:rPr>
              <a:t>：    </a:t>
            </a:r>
            <a:r>
              <a:rPr lang="en-US" altLang="zh-CN" sz="2400" b="1" i="0" dirty="0">
                <a:solidFill>
                  <a:schemeClr val="tx2"/>
                </a:solidFill>
                <a:latin typeface="+mn-lt"/>
                <a:ea typeface="+mn-ea"/>
              </a:rPr>
              <a:t>S+A=0x32  </a:t>
            </a:r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(S = 0</a:t>
            </a: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；</a:t>
            </a:r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A = 0x32)</a:t>
            </a:r>
          </a:p>
          <a:p>
            <a:pPr marL="274320" indent="-274320" algn="l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</a:pPr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.data</a:t>
            </a: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节在文件中的偏移地址是</a:t>
            </a:r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0x60</a:t>
            </a:r>
          </a:p>
          <a:p>
            <a:pPr marL="274320" indent="-274320" algn="l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</a:pP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所以，字符串在</a:t>
            </a:r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phase1.o</a:t>
            </a: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文件中的位置是：</a:t>
            </a:r>
            <a:r>
              <a:rPr lang="en-US" altLang="zh-CN" sz="2400" i="0" dirty="0">
                <a:solidFill>
                  <a:schemeClr val="tx2"/>
                </a:solidFill>
                <a:latin typeface="+mn-lt"/>
                <a:ea typeface="+mn-ea"/>
              </a:rPr>
              <a:t>0x60 + 0x32= 0x92</a:t>
            </a:r>
          </a:p>
        </p:txBody>
      </p:sp>
    </p:spTree>
    <p:extLst>
      <p:ext uri="{BB962C8B-B14F-4D97-AF65-F5344CB8AC3E}">
        <p14:creationId xmlns:p14="http://schemas.microsoft.com/office/powerpoint/2010/main" val="28821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1520" y="1700808"/>
            <a:ext cx="8640959" cy="4464496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打开文件：</a:t>
            </a:r>
            <a:r>
              <a:rPr lang="en-US" altLang="zh-CN" sz="2800" dirty="0"/>
              <a:t>vim  phase1.o</a:t>
            </a:r>
          </a:p>
          <a:p>
            <a:r>
              <a:rPr lang="zh-CN" altLang="en-US" sz="2800" dirty="0"/>
              <a:t>末端模式输入：</a:t>
            </a:r>
            <a:r>
              <a:rPr lang="en-US" altLang="zh-CN" sz="2800" dirty="0"/>
              <a:t>%!</a:t>
            </a:r>
            <a:r>
              <a:rPr lang="en-US" altLang="zh-CN" sz="2800" dirty="0" err="1"/>
              <a:t>xxd</a:t>
            </a:r>
            <a:r>
              <a:rPr lang="en-US" altLang="zh-CN" sz="2800" dirty="0"/>
              <a:t> </a:t>
            </a:r>
            <a:r>
              <a:rPr lang="zh-CN" altLang="en-US" sz="2800" dirty="0"/>
              <a:t>转换为</a:t>
            </a:r>
            <a:r>
              <a:rPr lang="en-US" altLang="zh-CN" sz="2800" dirty="0"/>
              <a:t>16</a:t>
            </a:r>
            <a:r>
              <a:rPr lang="zh-CN" altLang="en-US" sz="2800" dirty="0"/>
              <a:t>进制格式</a:t>
            </a:r>
            <a:endParaRPr lang="en-US" altLang="zh-CN" sz="2800" dirty="0"/>
          </a:p>
          <a:p>
            <a:r>
              <a:rPr lang="zh-CN" altLang="en-US" sz="2800" dirty="0"/>
              <a:t>编辑</a:t>
            </a:r>
            <a:endParaRPr lang="en-US" altLang="zh-CN" sz="2800" dirty="0"/>
          </a:p>
          <a:p>
            <a:r>
              <a:rPr lang="zh-CN" altLang="en-US" sz="2800" dirty="0"/>
              <a:t>末端模式输入：</a:t>
            </a:r>
            <a:r>
              <a:rPr lang="en-US" altLang="zh-CN" sz="2800" dirty="0"/>
              <a:t>%!</a:t>
            </a:r>
            <a:r>
              <a:rPr lang="en-US" altLang="zh-CN" sz="2800" dirty="0" err="1"/>
              <a:t>xxd</a:t>
            </a:r>
            <a:r>
              <a:rPr lang="en-US" altLang="zh-CN" sz="2800" dirty="0"/>
              <a:t>   –r </a:t>
            </a:r>
            <a:r>
              <a:rPr lang="zh-CN" altLang="en-US" sz="2800" dirty="0"/>
              <a:t>转换回来</a:t>
            </a:r>
            <a:endParaRPr lang="en-US" altLang="zh-CN" sz="2800" dirty="0"/>
          </a:p>
          <a:p>
            <a:r>
              <a:rPr lang="zh-CN" altLang="en-US" sz="2800" dirty="0"/>
              <a:t>末端模式输入：</a:t>
            </a:r>
            <a:r>
              <a:rPr lang="en-US" altLang="zh-CN" sz="2800" dirty="0" err="1"/>
              <a:t>wq</a:t>
            </a:r>
            <a:r>
              <a:rPr lang="en-US" altLang="zh-CN" sz="2800" dirty="0"/>
              <a:t> </a:t>
            </a:r>
            <a:r>
              <a:rPr lang="zh-CN" altLang="en-US" sz="2800" dirty="0"/>
              <a:t>保存退出</a:t>
            </a:r>
            <a:endParaRPr lang="en-US" altLang="zh-CN" sz="2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6. </a:t>
            </a:r>
            <a:r>
              <a:rPr lang="zh-CN" altLang="en-US" dirty="0"/>
              <a:t>修改</a:t>
            </a:r>
            <a:r>
              <a:rPr lang="en-US" altLang="zh-CN" dirty="0"/>
              <a:t>phase1.o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1774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68AB3E8-AA41-4A6B-AC9C-B0760FAF3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8328"/>
            <a:ext cx="8075240" cy="930432"/>
          </a:xfr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8" name="箭头: 虚尾 7">
            <a:extLst>
              <a:ext uri="{FF2B5EF4-FFF2-40B4-BE49-F238E27FC236}">
                <a16:creationId xmlns:a16="http://schemas.microsoft.com/office/drawing/2014/main" id="{F800F8B7-EC6B-46D7-83ED-3931FD708FB6}"/>
              </a:ext>
            </a:extLst>
          </p:cNvPr>
          <p:cNvSpPr/>
          <p:nvPr/>
        </p:nvSpPr>
        <p:spPr>
          <a:xfrm rot="5217917">
            <a:off x="4277637" y="2429496"/>
            <a:ext cx="319215" cy="29902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34A223-9982-4BA9-9F1A-86DB6853328A}"/>
              </a:ext>
            </a:extLst>
          </p:cNvPr>
          <p:cNvSpPr txBox="1"/>
          <p:nvPr/>
        </p:nvSpPr>
        <p:spPr>
          <a:xfrm>
            <a:off x="755576" y="1268760"/>
            <a:ext cx="7560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i="0" dirty="0">
                <a:solidFill>
                  <a:schemeClr val="tx2"/>
                </a:solidFill>
                <a:latin typeface="+mn-lt"/>
                <a:ea typeface="+mn-ea"/>
              </a:rPr>
              <a:t>1.  </a:t>
            </a:r>
            <a:r>
              <a:rPr lang="zh-CN" altLang="en-US" sz="2800" i="0" dirty="0">
                <a:solidFill>
                  <a:schemeClr val="tx2"/>
                </a:solidFill>
                <a:latin typeface="+mn-lt"/>
                <a:ea typeface="+mn-ea"/>
              </a:rPr>
              <a:t>用</a:t>
            </a:r>
            <a:r>
              <a:rPr lang="en-US" altLang="zh-CN" sz="2800" i="0" dirty="0">
                <a:solidFill>
                  <a:schemeClr val="tx2"/>
                </a:solidFill>
                <a:latin typeface="+mn-lt"/>
                <a:ea typeface="+mn-ea"/>
              </a:rPr>
              <a:t>vim</a:t>
            </a:r>
            <a:r>
              <a:rPr lang="zh-CN" altLang="en-US" sz="2800" i="0" dirty="0">
                <a:solidFill>
                  <a:schemeClr val="tx2"/>
                </a:solidFill>
                <a:latin typeface="+mn-lt"/>
                <a:ea typeface="+mn-ea"/>
              </a:rPr>
              <a:t>打开二进制文件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76656" t="-19935" b="1"/>
          <a:stretch/>
        </p:blipFill>
        <p:spPr>
          <a:xfrm>
            <a:off x="2846333" y="1786339"/>
            <a:ext cx="2866317" cy="51073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6FD11B0-FA2C-CD80-85FC-5AC3EAB1A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790636"/>
            <a:ext cx="6831764" cy="36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90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9213BAEB-92FE-DA2B-D48D-B74111575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2426521"/>
            <a:ext cx="6156176" cy="4215451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768D66A0-EF13-4330-AE1B-58D64CFAD56C}"/>
              </a:ext>
            </a:extLst>
          </p:cNvPr>
          <p:cNvGrpSpPr/>
          <p:nvPr/>
        </p:nvGrpSpPr>
        <p:grpSpPr>
          <a:xfrm>
            <a:off x="650961" y="1460715"/>
            <a:ext cx="3384377" cy="483650"/>
            <a:chOff x="611560" y="2245643"/>
            <a:chExt cx="3384377" cy="48365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F9D59EE-D005-43AF-8344-3A2F06CFAE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8754" r="41075"/>
            <a:stretch>
              <a:fillRect/>
            </a:stretch>
          </p:blipFill>
          <p:spPr>
            <a:xfrm>
              <a:off x="611561" y="2245643"/>
              <a:ext cx="3384376" cy="483650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B9A320A-C70E-4E2F-8293-211D0CB71AEB}"/>
                </a:ext>
              </a:extLst>
            </p:cNvPr>
            <p:cNvSpPr/>
            <p:nvPr/>
          </p:nvSpPr>
          <p:spPr>
            <a:xfrm>
              <a:off x="611560" y="2348880"/>
              <a:ext cx="792088" cy="3804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4D1601CF-5466-4798-B9DE-D22E8E47B5DE}"/>
              </a:ext>
            </a:extLst>
          </p:cNvPr>
          <p:cNvSpPr/>
          <p:nvPr/>
        </p:nvSpPr>
        <p:spPr>
          <a:xfrm>
            <a:off x="3131840" y="2635478"/>
            <a:ext cx="3528392" cy="3889866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注: 线形 8">
            <a:extLst>
              <a:ext uri="{FF2B5EF4-FFF2-40B4-BE49-F238E27FC236}">
                <a16:creationId xmlns:a16="http://schemas.microsoft.com/office/drawing/2014/main" id="{E87C3BD0-E39F-4C04-804E-C1439005D740}"/>
              </a:ext>
            </a:extLst>
          </p:cNvPr>
          <p:cNvSpPr/>
          <p:nvPr/>
        </p:nvSpPr>
        <p:spPr>
          <a:xfrm>
            <a:off x="6599238" y="1648508"/>
            <a:ext cx="1728192" cy="792088"/>
          </a:xfrm>
          <a:prstGeom prst="borderCallout1">
            <a:avLst>
              <a:gd name="adj1" fmla="val 18750"/>
              <a:gd name="adj2" fmla="val -8333"/>
              <a:gd name="adj3" fmla="val 232460"/>
              <a:gd name="adj4" fmla="val -54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00FF"/>
                </a:solidFill>
              </a:rPr>
              <a:t>以</a:t>
            </a:r>
            <a:r>
              <a:rPr lang="en-US" altLang="zh-CN" dirty="0">
                <a:solidFill>
                  <a:srgbClr val="0000FF"/>
                </a:solidFill>
              </a:rPr>
              <a:t>16</a:t>
            </a:r>
            <a:r>
              <a:rPr lang="zh-CN" altLang="en-US" dirty="0">
                <a:solidFill>
                  <a:srgbClr val="0000FF"/>
                </a:solidFill>
              </a:rPr>
              <a:t>进制显示的文件内容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3E16D92-682E-4F7B-BD90-62A6C1B30D8D}"/>
              </a:ext>
            </a:extLst>
          </p:cNvPr>
          <p:cNvSpPr/>
          <p:nvPr/>
        </p:nvSpPr>
        <p:spPr>
          <a:xfrm>
            <a:off x="2343150" y="2635478"/>
            <a:ext cx="716682" cy="3889866"/>
          </a:xfrm>
          <a:prstGeom prst="rect">
            <a:avLst/>
          </a:prstGeom>
          <a:noFill/>
          <a:ln>
            <a:solidFill>
              <a:srgbClr val="FF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注: 线形 10">
            <a:extLst>
              <a:ext uri="{FF2B5EF4-FFF2-40B4-BE49-F238E27FC236}">
                <a16:creationId xmlns:a16="http://schemas.microsoft.com/office/drawing/2014/main" id="{590DE7C9-509F-40AC-A429-CBBEAC749DD8}"/>
              </a:ext>
            </a:extLst>
          </p:cNvPr>
          <p:cNvSpPr/>
          <p:nvPr/>
        </p:nvSpPr>
        <p:spPr>
          <a:xfrm>
            <a:off x="497617" y="4017704"/>
            <a:ext cx="1986151" cy="483650"/>
          </a:xfrm>
          <a:prstGeom prst="borderCallout1">
            <a:avLst>
              <a:gd name="adj1" fmla="val 54299"/>
              <a:gd name="adj2" fmla="val 101772"/>
              <a:gd name="adj3" fmla="val 137462"/>
              <a:gd name="adj4" fmla="val 106424"/>
            </a:avLst>
          </a:prstGeom>
          <a:noFill/>
          <a:ln>
            <a:solidFill>
              <a:srgbClr val="FF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99FF"/>
                </a:solidFill>
              </a:rPr>
              <a:t>文件内偏移地址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909A33-EAB0-42EC-BF9D-1E52FA0AB0F9}"/>
              </a:ext>
            </a:extLst>
          </p:cNvPr>
          <p:cNvSpPr txBox="1"/>
          <p:nvPr/>
        </p:nvSpPr>
        <p:spPr>
          <a:xfrm>
            <a:off x="395536" y="773084"/>
            <a:ext cx="8784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i="0" dirty="0">
                <a:solidFill>
                  <a:schemeClr val="tx2"/>
                </a:solidFill>
                <a:latin typeface="+mn-lt"/>
                <a:ea typeface="+mn-ea"/>
              </a:rPr>
              <a:t>2.  </a:t>
            </a:r>
            <a:r>
              <a:rPr lang="zh-CN" altLang="en-US" sz="2800" i="0" dirty="0">
                <a:solidFill>
                  <a:schemeClr val="tx2"/>
                </a:solidFill>
                <a:latin typeface="+mn-lt"/>
                <a:ea typeface="+mn-ea"/>
              </a:rPr>
              <a:t>末端模式下输入</a:t>
            </a:r>
            <a:r>
              <a:rPr lang="en-US" altLang="zh-CN" sz="2800" i="0" dirty="0">
                <a:solidFill>
                  <a:schemeClr val="tx2"/>
                </a:solidFill>
                <a:latin typeface="+mn-lt"/>
                <a:ea typeface="+mn-ea"/>
              </a:rPr>
              <a:t>%!</a:t>
            </a:r>
            <a:r>
              <a:rPr lang="en-US" altLang="zh-CN" sz="2800" i="0" dirty="0" err="1">
                <a:solidFill>
                  <a:schemeClr val="tx2"/>
                </a:solidFill>
                <a:latin typeface="+mn-lt"/>
                <a:ea typeface="+mn-ea"/>
              </a:rPr>
              <a:t>xxd</a:t>
            </a:r>
            <a:r>
              <a:rPr lang="zh-CN" altLang="en-US" sz="2800" i="0" dirty="0">
                <a:solidFill>
                  <a:schemeClr val="tx2"/>
                </a:solidFill>
                <a:latin typeface="+mn-lt"/>
                <a:ea typeface="+mn-ea"/>
              </a:rPr>
              <a:t>以</a:t>
            </a:r>
            <a:r>
              <a:rPr lang="en-US" altLang="zh-CN" sz="2800" i="0" dirty="0">
                <a:solidFill>
                  <a:schemeClr val="tx2"/>
                </a:solidFill>
                <a:latin typeface="+mn-lt"/>
                <a:ea typeface="+mn-ea"/>
              </a:rPr>
              <a:t>16</a:t>
            </a:r>
            <a:r>
              <a:rPr lang="zh-CN" altLang="en-US" sz="2800" i="0" dirty="0">
                <a:solidFill>
                  <a:schemeClr val="tx2"/>
                </a:solidFill>
                <a:latin typeface="+mn-lt"/>
                <a:ea typeface="+mn-ea"/>
              </a:rPr>
              <a:t>进制格式显示</a:t>
            </a:r>
            <a:r>
              <a:rPr lang="en-US" altLang="zh-CN" sz="2800" i="0" dirty="0">
                <a:solidFill>
                  <a:schemeClr val="tx2"/>
                </a:solidFill>
                <a:latin typeface="+mn-lt"/>
                <a:ea typeface="+mn-ea"/>
              </a:rPr>
              <a:t>.o</a:t>
            </a:r>
            <a:r>
              <a:rPr lang="zh-CN" altLang="en-US" sz="2800" i="0" dirty="0">
                <a:solidFill>
                  <a:schemeClr val="tx2"/>
                </a:solidFill>
                <a:latin typeface="+mn-lt"/>
                <a:ea typeface="+mn-ea"/>
              </a:rPr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9803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C0D10C74-71F6-F960-58A4-25F30A0F8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96" y="1844824"/>
            <a:ext cx="8244408" cy="3592724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01319786-9AC7-4C30-A6CA-D4595A9C11B3}"/>
              </a:ext>
            </a:extLst>
          </p:cNvPr>
          <p:cNvSpPr txBox="1"/>
          <p:nvPr/>
        </p:nvSpPr>
        <p:spPr>
          <a:xfrm>
            <a:off x="539552" y="613477"/>
            <a:ext cx="7560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i="0" dirty="0">
                <a:solidFill>
                  <a:schemeClr val="tx2"/>
                </a:solidFill>
                <a:latin typeface="+mn-lt"/>
                <a:ea typeface="+mn-ea"/>
              </a:rPr>
              <a:t>3.  </a:t>
            </a:r>
            <a:r>
              <a:rPr lang="zh-CN" altLang="en-US" sz="2800" i="0" dirty="0">
                <a:solidFill>
                  <a:schemeClr val="tx2"/>
                </a:solidFill>
                <a:latin typeface="+mn-lt"/>
                <a:ea typeface="+mn-ea"/>
              </a:rPr>
              <a:t>修改</a:t>
            </a:r>
            <a:r>
              <a:rPr lang="en-US" altLang="zh-CN" sz="2800" i="0" dirty="0">
                <a:solidFill>
                  <a:schemeClr val="tx2"/>
                </a:solidFill>
                <a:latin typeface="+mn-lt"/>
                <a:ea typeface="+mn-ea"/>
              </a:rPr>
              <a:t>.data</a:t>
            </a:r>
            <a:r>
              <a:rPr lang="zh-CN" altLang="en-US" sz="2800" i="0" dirty="0">
                <a:solidFill>
                  <a:schemeClr val="tx2"/>
                </a:solidFill>
                <a:latin typeface="+mn-lt"/>
                <a:ea typeface="+mn-ea"/>
              </a:rPr>
              <a:t>节</a:t>
            </a:r>
          </a:p>
        </p:txBody>
      </p:sp>
      <p:sp>
        <p:nvSpPr>
          <p:cNvPr id="3" name="矩形 2"/>
          <p:cNvSpPr/>
          <p:nvPr/>
        </p:nvSpPr>
        <p:spPr>
          <a:xfrm>
            <a:off x="2195736" y="4221089"/>
            <a:ext cx="324036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03848" y="6185650"/>
            <a:ext cx="3960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lvl="1" indent="-274320" algn="l">
              <a:spcBef>
                <a:spcPct val="20000"/>
              </a:spcBef>
              <a:buClr>
                <a:srgbClr val="0000FF"/>
              </a:buClr>
              <a:buSzPct val="100000"/>
              <a:buFont typeface="Symbol" pitchFamily="18" charset="2"/>
              <a:buChar char=""/>
            </a:pPr>
            <a:r>
              <a:rPr lang="zh-CN" altLang="en-US" sz="2800" i="0" dirty="0">
                <a:solidFill>
                  <a:srgbClr val="0000FF"/>
                </a:solidFill>
                <a:latin typeface="+mn-lt"/>
                <a:ea typeface="+mn-ea"/>
              </a:rPr>
              <a:t>注意字符串结束标志</a:t>
            </a:r>
          </a:p>
        </p:txBody>
      </p:sp>
    </p:spTree>
    <p:extLst>
      <p:ext uri="{BB962C8B-B14F-4D97-AF65-F5344CB8AC3E}">
        <p14:creationId xmlns:p14="http://schemas.microsoft.com/office/powerpoint/2010/main" val="260632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DCAC08FD-F7C6-48C5-8B76-0DD43B7EBFE5}"/>
              </a:ext>
            </a:extLst>
          </p:cNvPr>
          <p:cNvSpPr txBox="1"/>
          <p:nvPr/>
        </p:nvSpPr>
        <p:spPr>
          <a:xfrm>
            <a:off x="323528" y="620688"/>
            <a:ext cx="7560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i="0" dirty="0">
                <a:solidFill>
                  <a:schemeClr val="tx2"/>
                </a:solidFill>
                <a:latin typeface="+mn-lt"/>
                <a:ea typeface="+mn-ea"/>
              </a:rPr>
              <a:t>4.  </a:t>
            </a:r>
            <a:r>
              <a:rPr lang="zh-CN" altLang="en-US" sz="2800" i="0" dirty="0">
                <a:solidFill>
                  <a:schemeClr val="tx2"/>
                </a:solidFill>
                <a:latin typeface="+mn-lt"/>
                <a:ea typeface="+mn-ea"/>
              </a:rPr>
              <a:t>将十六进格式制转换回来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t="65714"/>
          <a:stretch/>
        </p:blipFill>
        <p:spPr>
          <a:xfrm>
            <a:off x="323528" y="2060848"/>
            <a:ext cx="8452628" cy="86409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23528" y="2636912"/>
            <a:ext cx="136815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58E0268-C124-4B87-9938-A6BB26EC40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1974"/>
          <a:stretch/>
        </p:blipFill>
        <p:spPr>
          <a:xfrm>
            <a:off x="1331640" y="3284984"/>
            <a:ext cx="6000750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3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28ECA11B-667D-40DF-B95F-2940B3A0DAFF}"/>
              </a:ext>
            </a:extLst>
          </p:cNvPr>
          <p:cNvGrpSpPr/>
          <p:nvPr/>
        </p:nvGrpSpPr>
        <p:grpSpPr>
          <a:xfrm>
            <a:off x="1403648" y="1916832"/>
            <a:ext cx="6024711" cy="4152900"/>
            <a:chOff x="1547664" y="1352550"/>
            <a:chExt cx="6024711" cy="415290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58E0268-C124-4B87-9938-A6BB26EC4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1625" y="1352550"/>
              <a:ext cx="6000750" cy="4152900"/>
            </a:xfrm>
            <a:prstGeom prst="rect">
              <a:avLst/>
            </a:prstGeom>
          </p:spPr>
        </p:pic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5867FD5-2930-490E-A8DF-76CCFD47FAB2}"/>
                </a:ext>
              </a:extLst>
            </p:cNvPr>
            <p:cNvSpPr/>
            <p:nvPr/>
          </p:nvSpPr>
          <p:spPr>
            <a:xfrm>
              <a:off x="1547664" y="5157192"/>
              <a:ext cx="576064" cy="28803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560CA921-256A-4019-A640-A3D03D92AF1D}"/>
              </a:ext>
            </a:extLst>
          </p:cNvPr>
          <p:cNvSpPr txBox="1"/>
          <p:nvPr/>
        </p:nvSpPr>
        <p:spPr>
          <a:xfrm>
            <a:off x="395536" y="620688"/>
            <a:ext cx="7560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i="0" dirty="0">
                <a:solidFill>
                  <a:schemeClr val="tx2"/>
                </a:solidFill>
                <a:latin typeface="+mn-lt"/>
                <a:ea typeface="+mn-ea"/>
              </a:rPr>
              <a:t>5.  </a:t>
            </a:r>
            <a:r>
              <a:rPr lang="zh-CN" altLang="en-US" sz="2800" i="0" dirty="0">
                <a:solidFill>
                  <a:schemeClr val="tx2"/>
                </a:solidFill>
                <a:latin typeface="+mn-lt"/>
                <a:ea typeface="+mn-ea"/>
              </a:rPr>
              <a:t>保存文件并退出</a:t>
            </a:r>
          </a:p>
        </p:txBody>
      </p:sp>
    </p:spTree>
    <p:extLst>
      <p:ext uri="{BB962C8B-B14F-4D97-AF65-F5344CB8AC3E}">
        <p14:creationId xmlns:p14="http://schemas.microsoft.com/office/powerpoint/2010/main" val="4496597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95536" y="2204864"/>
            <a:ext cx="8424935" cy="4320480"/>
          </a:xfrm>
        </p:spPr>
        <p:txBody>
          <a:bodyPr/>
          <a:lstStyle/>
          <a:p>
            <a:r>
              <a:rPr lang="en-US" altLang="zh-CN" dirty="0" err="1"/>
              <a:t>gcc</a:t>
            </a:r>
            <a:r>
              <a:rPr lang="en-US" altLang="zh-CN" dirty="0"/>
              <a:t>  –m32   -o    linkbomb1   </a:t>
            </a:r>
            <a:r>
              <a:rPr lang="en-US" altLang="zh-CN" dirty="0" err="1"/>
              <a:t>main.o</a:t>
            </a:r>
            <a:r>
              <a:rPr lang="en-US" altLang="zh-CN" dirty="0"/>
              <a:t>    phase1.o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7. </a:t>
            </a:r>
            <a:r>
              <a:rPr lang="zh-CN" altLang="en-US" dirty="0"/>
              <a:t>链接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57368" t="2742" r="2408" b="71948"/>
          <a:stretch/>
        </p:blipFill>
        <p:spPr>
          <a:xfrm>
            <a:off x="683568" y="3212976"/>
            <a:ext cx="7320813" cy="36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625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BE2034D4-F8E5-F542-78CA-3DBEC4774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61" y="4725144"/>
            <a:ext cx="8471908" cy="121275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EA5B386-F211-F9DA-A5E3-97BAC00CA6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32" r="3847"/>
          <a:stretch>
            <a:fillRect/>
          </a:stretch>
        </p:blipFill>
        <p:spPr>
          <a:xfrm>
            <a:off x="248801" y="2685734"/>
            <a:ext cx="8551028" cy="550648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DDAC4711-8658-42B4-AC19-56393238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47370" y="1832338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离线实验：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4652" y="3933056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在线提交：</a:t>
            </a:r>
          </a:p>
        </p:txBody>
      </p:sp>
      <p:sp>
        <p:nvSpPr>
          <p:cNvPr id="13" name="矩形 12"/>
          <p:cNvSpPr/>
          <p:nvPr/>
        </p:nvSpPr>
        <p:spPr>
          <a:xfrm>
            <a:off x="7380312" y="4715465"/>
            <a:ext cx="288032" cy="312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40352" y="4715465"/>
            <a:ext cx="946448" cy="3040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8053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457199" y="2204864"/>
            <a:ext cx="8136904" cy="3755504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zh-CN" altLang="en-US" sz="2800" dirty="0">
                <a:latin typeface="+mn-ea"/>
              </a:rPr>
              <a:t>实验任务：修改</a:t>
            </a:r>
            <a:r>
              <a:rPr lang="en-US" altLang="zh-CN" sz="2800" dirty="0">
                <a:latin typeface="+mn-ea"/>
              </a:rPr>
              <a:t>phase2.o</a:t>
            </a:r>
            <a:r>
              <a:rPr lang="zh-CN" altLang="en-US" sz="2800" dirty="0">
                <a:latin typeface="+mn-ea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代码段内容</a:t>
            </a:r>
            <a:r>
              <a:rPr lang="zh-CN" altLang="en-US" sz="2800" dirty="0">
                <a:latin typeface="+mn-ea"/>
              </a:rPr>
              <a:t>，调用</a:t>
            </a:r>
            <a:r>
              <a:rPr lang="en-US" altLang="zh-CN" sz="2800" dirty="0">
                <a:latin typeface="+mn-ea"/>
              </a:rPr>
              <a:t>phase2.o</a:t>
            </a:r>
            <a:r>
              <a:rPr lang="zh-CN" altLang="en-US" sz="2800" dirty="0">
                <a:latin typeface="+mn-ea"/>
              </a:rPr>
              <a:t>文件中的</a:t>
            </a:r>
            <a:r>
              <a:rPr lang="zh-CN" altLang="en-US" sz="2800" dirty="0">
                <a:solidFill>
                  <a:srgbClr val="00B050"/>
                </a:solidFill>
                <a:latin typeface="+mn-ea"/>
              </a:rPr>
              <a:t>另一个函数</a:t>
            </a:r>
            <a:r>
              <a:rPr lang="zh-CN" altLang="en-US" sz="2800" dirty="0">
                <a:latin typeface="+mn-ea"/>
              </a:rPr>
              <a:t>，使其与</a:t>
            </a:r>
            <a:r>
              <a:rPr lang="en-US" altLang="zh-CN" sz="2800" dirty="0" err="1">
                <a:latin typeface="+mn-ea"/>
              </a:rPr>
              <a:t>main.o</a:t>
            </a:r>
            <a:r>
              <a:rPr lang="zh-CN" altLang="en-US" sz="2800" dirty="0">
                <a:latin typeface="+mn-ea"/>
              </a:rPr>
              <a:t>链接后运行能够输出自己的学号（注意要保证</a:t>
            </a:r>
            <a:r>
              <a:rPr lang="en-US" altLang="zh-CN" sz="2800" dirty="0" err="1">
                <a:latin typeface="+mn-ea"/>
              </a:rPr>
              <a:t>do_phase</a:t>
            </a:r>
            <a:r>
              <a:rPr lang="zh-CN" altLang="en-US" sz="2800" dirty="0">
                <a:latin typeface="+mn-ea"/>
              </a:rPr>
              <a:t>函数正常返回</a:t>
            </a:r>
            <a:r>
              <a:rPr lang="en-US" altLang="zh-CN" sz="2800" dirty="0">
                <a:latin typeface="+mn-ea"/>
              </a:rPr>
              <a:t>main</a:t>
            </a:r>
            <a:r>
              <a:rPr lang="zh-CN" altLang="en-US" sz="2800" dirty="0">
                <a:latin typeface="+mn-ea"/>
              </a:rPr>
              <a:t>函数）。</a:t>
            </a:r>
            <a:endParaRPr lang="en-US" altLang="zh-CN" sz="2800" dirty="0">
              <a:latin typeface="+mn-ea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199" y="260648"/>
            <a:ext cx="8229600" cy="1252728"/>
          </a:xfrm>
        </p:spPr>
        <p:txBody>
          <a:bodyPr/>
          <a:lstStyle/>
          <a:p>
            <a:r>
              <a:rPr lang="zh-CN" altLang="en-US" dirty="0"/>
              <a:t>实验阶段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3445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DAC4711-8658-42B4-AC19-56393238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23528" y="2044004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离线实验：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23528" y="4109905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在线提交：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A5FA756-472B-497F-BB97-86D052F46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55" y="3040001"/>
            <a:ext cx="8229600" cy="38899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F2745FA-30E4-A82A-5E80-E07CD0B69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4725144"/>
            <a:ext cx="8229600" cy="124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000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484784"/>
            <a:ext cx="8640959" cy="4763616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zh-CN" altLang="en-US" sz="2800" dirty="0"/>
              <a:t>实验任务：</a:t>
            </a:r>
            <a:r>
              <a:rPr lang="en-US" altLang="zh-CN" sz="2800" dirty="0"/>
              <a:t>phase3.o</a:t>
            </a:r>
            <a:r>
              <a:rPr lang="zh-CN" altLang="en-US" sz="2800" dirty="0"/>
              <a:t>中有一个弱符号，新建一个</a:t>
            </a:r>
            <a:r>
              <a:rPr lang="en-US" altLang="zh-CN" sz="2800" dirty="0"/>
              <a:t>phase3_patch.o</a:t>
            </a:r>
            <a:r>
              <a:rPr lang="zh-CN" altLang="en-US" sz="2800" dirty="0"/>
              <a:t>（</a:t>
            </a:r>
            <a:r>
              <a:rPr lang="zh-CN" altLang="en-US" sz="2800" dirty="0">
                <a:solidFill>
                  <a:srgbClr val="FF0000"/>
                </a:solidFill>
              </a:rPr>
              <a:t>命名必须为此</a:t>
            </a:r>
            <a:r>
              <a:rPr lang="zh-CN" altLang="en-US" sz="2800" dirty="0"/>
              <a:t>），定义一个同名的强符号，使其与</a:t>
            </a:r>
            <a:r>
              <a:rPr lang="en-US" altLang="zh-CN" sz="2800" dirty="0" err="1"/>
              <a:t>main.o</a:t>
            </a:r>
            <a:r>
              <a:rPr lang="zh-CN" altLang="en-US" sz="2800" dirty="0"/>
              <a:t>和</a:t>
            </a:r>
            <a:r>
              <a:rPr lang="en-US" altLang="zh-CN" sz="2800" dirty="0"/>
              <a:t>phase3.o</a:t>
            </a:r>
            <a:r>
              <a:rPr lang="zh-CN" altLang="en-US" sz="2800" dirty="0"/>
              <a:t>链接后运行输出自己的学号。</a:t>
            </a:r>
            <a:endParaRPr lang="en-US" altLang="zh-CN" sz="2800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sz="2800" dirty="0"/>
              <a:t>实验提示：</a:t>
            </a:r>
            <a:endParaRPr lang="en-US" altLang="zh-CN" sz="2800" dirty="0"/>
          </a:p>
          <a:p>
            <a:pPr marL="914400" lvl="3" indent="0">
              <a:lnSpc>
                <a:spcPct val="150000"/>
              </a:lnSpc>
              <a:buNone/>
              <a:defRPr/>
            </a:pPr>
            <a:r>
              <a:rPr lang="zh-CN" altLang="en-US" sz="2800" dirty="0"/>
              <a:t>利用符号解析中的强弱符号规则。</a:t>
            </a:r>
            <a:r>
              <a:rPr lang="en-US" altLang="zh-CN" sz="2400" dirty="0"/>
              <a:t>   </a:t>
            </a:r>
            <a:endParaRPr lang="zh-CN" altLang="en-US" sz="2400" dirty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199" y="260648"/>
            <a:ext cx="8229600" cy="1002440"/>
          </a:xfrm>
        </p:spPr>
        <p:txBody>
          <a:bodyPr/>
          <a:lstStyle/>
          <a:p>
            <a:r>
              <a:rPr lang="zh-CN" altLang="en-US" dirty="0"/>
              <a:t>实验阶段</a:t>
            </a:r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19553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DAC4711-8658-42B4-AC19-56393238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7200" y="2156481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i="0" dirty="0">
                <a:solidFill>
                  <a:schemeClr val="tx2"/>
                </a:solidFill>
                <a:latin typeface="+mn-lt"/>
                <a:ea typeface="+mn-ea"/>
              </a:rPr>
              <a:t>离线实验</a:t>
            </a:r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22110" y="4221088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i="0" dirty="0">
                <a:solidFill>
                  <a:schemeClr val="tx2"/>
                </a:solidFill>
                <a:latin typeface="+mn-lt"/>
                <a:ea typeface="+mn-ea"/>
              </a:rPr>
              <a:t>在线提交：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3BC86E1-563E-2BE9-FF7C-DE27907F1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10" y="5039141"/>
            <a:ext cx="8063880" cy="96499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22ECB21-FE8F-A894-0FED-906E9866C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10" y="3017141"/>
            <a:ext cx="7740352" cy="45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53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844824"/>
            <a:ext cx="8640959" cy="4403576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zh-CN" altLang="en-US" sz="2800" dirty="0"/>
              <a:t>实验内容：修改</a:t>
            </a:r>
            <a:r>
              <a:rPr lang="en-US" altLang="zh-CN" sz="2800" dirty="0"/>
              <a:t>phase4.o</a:t>
            </a:r>
            <a:r>
              <a:rPr lang="zh-CN" altLang="en-US" sz="2800" dirty="0"/>
              <a:t>相应节中的内容，（</a:t>
            </a:r>
            <a:r>
              <a:rPr lang="zh-CN" altLang="en-US" sz="2800" dirty="0">
                <a:solidFill>
                  <a:srgbClr val="FF0000"/>
                </a:solidFill>
              </a:rPr>
              <a:t>不能修改</a:t>
            </a:r>
            <a:r>
              <a:rPr lang="en-US" altLang="zh-CN" sz="2800" dirty="0">
                <a:solidFill>
                  <a:srgbClr val="FF0000"/>
                </a:solidFill>
              </a:rPr>
              <a:t>.text</a:t>
            </a:r>
            <a:r>
              <a:rPr lang="zh-CN" altLang="en-US" sz="2800" dirty="0">
                <a:solidFill>
                  <a:srgbClr val="FF0000"/>
                </a:solidFill>
              </a:rPr>
              <a:t>节</a:t>
            </a:r>
            <a:r>
              <a:rPr lang="zh-CN" altLang="en-US" sz="2800" dirty="0"/>
              <a:t>）使其与</a:t>
            </a:r>
            <a:r>
              <a:rPr lang="en-US" altLang="zh-CN" sz="2800" dirty="0" err="1"/>
              <a:t>main.o</a:t>
            </a:r>
            <a:r>
              <a:rPr lang="zh-CN" altLang="en-US" sz="2800" dirty="0"/>
              <a:t>链接后运行能够输出自己的学号。</a:t>
            </a:r>
            <a:endParaRPr lang="en-US" altLang="zh-CN" sz="2800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sz="2800" dirty="0"/>
              <a:t>实验提示：</a:t>
            </a:r>
            <a:endParaRPr lang="en-US" altLang="zh-CN" sz="2800" dirty="0"/>
          </a:p>
          <a:p>
            <a:pPr marL="914400" lvl="3" indent="0">
              <a:lnSpc>
                <a:spcPct val="150000"/>
              </a:lnSpc>
              <a:buNone/>
              <a:defRPr/>
            </a:pPr>
            <a:r>
              <a:rPr lang="en-US" altLang="zh-CN" sz="2800" dirty="0"/>
              <a:t>switch</a:t>
            </a:r>
            <a:r>
              <a:rPr lang="zh-CN" altLang="en-US" sz="2800" dirty="0"/>
              <a:t>语句的重定位原理。</a:t>
            </a:r>
          </a:p>
          <a:p>
            <a:pPr marL="349250" lvl="1" indent="0">
              <a:lnSpc>
                <a:spcPct val="150000"/>
              </a:lnSpc>
              <a:buFont typeface="Symbol" pitchFamily="18" charset="2"/>
              <a:buNone/>
              <a:defRPr/>
            </a:pPr>
            <a:endParaRPr lang="en-US" altLang="zh-CN" sz="2800" dirty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实验阶段</a:t>
            </a:r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08192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DAC4711-8658-42B4-AC19-56393238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7200" y="2156481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离线实验：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22110" y="4221088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在线提交：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61CA85C-55D8-B669-5261-B742EEBBD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36" y="5000195"/>
            <a:ext cx="8495928" cy="106323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3F89594-D97B-AB73-7991-4814DC6C4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45981"/>
            <a:ext cx="8355562" cy="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9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844824"/>
            <a:ext cx="8568952" cy="4608512"/>
          </a:xfrm>
        </p:spPr>
        <p:txBody>
          <a:bodyPr>
            <a:noAutofit/>
          </a:bodyPr>
          <a:lstStyle/>
          <a:p>
            <a:pPr lvl="1">
              <a:lnSpc>
                <a:spcPts val="4000"/>
              </a:lnSpc>
              <a:spcBef>
                <a:spcPts val="300"/>
              </a:spcBef>
              <a:defRPr/>
            </a:pPr>
            <a:r>
              <a:rPr lang="zh-CN" altLang="en-US" sz="2800" dirty="0"/>
              <a:t>实验任务：补充</a:t>
            </a:r>
            <a:r>
              <a:rPr lang="en-US" altLang="zh-CN" sz="2800" dirty="0"/>
              <a:t>phase5.o</a:t>
            </a:r>
            <a:r>
              <a:rPr lang="zh-CN" altLang="en-US" sz="2800" dirty="0"/>
              <a:t>重定位节中被清零的重定位记录，使其与</a:t>
            </a:r>
            <a:r>
              <a:rPr lang="en-US" altLang="zh-CN" sz="2800" dirty="0" err="1"/>
              <a:t>main.o</a:t>
            </a:r>
            <a:r>
              <a:rPr lang="zh-CN" altLang="en-US" sz="2800" dirty="0"/>
              <a:t>链接后能够正确输出</a:t>
            </a:r>
            <a:r>
              <a:rPr lang="zh-CN" altLang="en-US" sz="2800" dirty="0">
                <a:solidFill>
                  <a:srgbClr val="FF0000"/>
                </a:solidFill>
              </a:rPr>
              <a:t>学号编码后的字符串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lvl="1">
              <a:lnSpc>
                <a:spcPts val="4000"/>
              </a:lnSpc>
              <a:spcBef>
                <a:spcPts val="300"/>
              </a:spcBef>
              <a:defRPr/>
            </a:pPr>
            <a:r>
              <a:rPr lang="zh-CN" altLang="en-US" sz="2800" dirty="0"/>
              <a:t>实验提示：</a:t>
            </a:r>
            <a:endParaRPr lang="en-US" altLang="zh-CN" sz="2800" dirty="0"/>
          </a:p>
          <a:p>
            <a:pPr marL="1257300" lvl="3" indent="-342900">
              <a:lnSpc>
                <a:spcPts val="4000"/>
              </a:lnSpc>
              <a:spcBef>
                <a:spcPts val="300"/>
              </a:spcBef>
              <a:buFont typeface="Symbol" pitchFamily="18" charset="2"/>
              <a:buAutoNum type="arabicPeriod"/>
              <a:defRPr/>
            </a:pPr>
            <a:r>
              <a:rPr lang="zh-CN" altLang="en-US" sz="2800" dirty="0"/>
              <a:t>重定位条目的相对位置不变，只是把有的重定位条目清零了。</a:t>
            </a:r>
            <a:endParaRPr lang="en-US" altLang="zh-CN" sz="2800" dirty="0"/>
          </a:p>
          <a:p>
            <a:pPr marL="1257300" lvl="3" indent="-342900">
              <a:lnSpc>
                <a:spcPts val="4000"/>
              </a:lnSpc>
              <a:spcBef>
                <a:spcPts val="300"/>
              </a:spcBef>
              <a:buFont typeface="Symbol" pitchFamily="18" charset="2"/>
              <a:buAutoNum type="arabicPeriod"/>
              <a:defRPr/>
            </a:pPr>
            <a:r>
              <a:rPr lang="zh-CN" altLang="en-US" sz="2800" dirty="0"/>
              <a:t>需要重定位的符号是</a:t>
            </a:r>
            <a:r>
              <a:rPr lang="en-US" altLang="zh-CN" sz="2800" dirty="0"/>
              <a:t>phase5.o</a:t>
            </a:r>
            <a:r>
              <a:rPr lang="zh-CN" altLang="en-US" sz="2800" dirty="0"/>
              <a:t>内部定义的变量和函数。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332656"/>
            <a:ext cx="8229600" cy="1052736"/>
          </a:xfrm>
        </p:spPr>
        <p:txBody>
          <a:bodyPr/>
          <a:lstStyle/>
          <a:p>
            <a:r>
              <a:rPr lang="zh-CN" altLang="en-US" dirty="0"/>
              <a:t>实验阶段</a:t>
            </a:r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6822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DAC4711-8658-42B4-AC19-56393238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7200" y="1716809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离线实验：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57200" y="3172598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i="0" dirty="0">
                <a:solidFill>
                  <a:schemeClr val="tx2"/>
                </a:solidFill>
                <a:latin typeface="+mn-lt"/>
                <a:ea typeface="+mn-ea"/>
              </a:rPr>
              <a:t>在线提交：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58DD15-FC0C-582F-C145-07AC4E9F2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11" y="2288403"/>
            <a:ext cx="8172400" cy="5152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BE33E65-8A39-6080-0F1E-1CC1103B7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62" y="3933056"/>
            <a:ext cx="8229600" cy="127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582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53D66E1-E4D7-48C2-8041-D500E02E9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484784"/>
            <a:ext cx="8640960" cy="5034888"/>
          </a:xfrm>
        </p:spPr>
        <p:txBody>
          <a:bodyPr>
            <a:noAutofit/>
          </a:bodyPr>
          <a:lstStyle/>
          <a:p>
            <a:pPr marL="301943" lvl="1" indent="0">
              <a:lnSpc>
                <a:spcPct val="170000"/>
              </a:lnSpc>
              <a:buNone/>
              <a:defRPr/>
            </a:pPr>
            <a:r>
              <a:rPr lang="en-US" altLang="zh-CN" sz="2800" dirty="0"/>
              <a:t>           </a:t>
            </a:r>
            <a:r>
              <a:rPr lang="en-US" altLang="zh-CN" sz="2800" dirty="0" err="1"/>
              <a:t>readelf</a:t>
            </a:r>
            <a:r>
              <a:rPr lang="zh-CN" altLang="en-US" sz="2800" dirty="0"/>
              <a:t>命令用于查看</a:t>
            </a:r>
            <a:r>
              <a:rPr lang="en-US" altLang="zh-CN" sz="2800" dirty="0"/>
              <a:t>ELF</a:t>
            </a:r>
            <a:r>
              <a:rPr lang="zh-CN" altLang="en-US" sz="2800" dirty="0"/>
              <a:t>格式的文件信息。基本格式为：</a:t>
            </a:r>
            <a:r>
              <a:rPr lang="en-US" altLang="zh-CN" sz="2800" dirty="0"/>
              <a:t>$ </a:t>
            </a:r>
            <a:r>
              <a:rPr lang="en-US" altLang="zh-CN" sz="2800" dirty="0" err="1"/>
              <a:t>readelf</a:t>
            </a:r>
            <a:r>
              <a:rPr lang="en-US" altLang="zh-CN" sz="2800" dirty="0"/>
              <a:t>   </a:t>
            </a:r>
            <a:r>
              <a:rPr lang="zh-CN" altLang="en-US" sz="2800" dirty="0"/>
              <a:t>选项  文件名。</a:t>
            </a:r>
            <a:endParaRPr lang="en-US" altLang="zh-CN" sz="2800" dirty="0"/>
          </a:p>
          <a:p>
            <a:pPr marL="301943" lvl="1" indent="0">
              <a:lnSpc>
                <a:spcPct val="170000"/>
              </a:lnSpc>
              <a:buNone/>
              <a:defRPr/>
            </a:pPr>
            <a:r>
              <a:rPr lang="en-US" altLang="zh-CN" sz="2800" dirty="0"/>
              <a:t>          </a:t>
            </a:r>
            <a:r>
              <a:rPr lang="zh-CN" altLang="en-US" sz="2800" dirty="0"/>
              <a:t>重要选项说明如下：</a:t>
            </a:r>
            <a:endParaRPr lang="en-US" altLang="zh-CN" sz="2800" dirty="0"/>
          </a:p>
          <a:p>
            <a:pPr marL="301943" lvl="1" indent="0">
              <a:lnSpc>
                <a:spcPct val="170000"/>
              </a:lnSpc>
              <a:buNone/>
              <a:defRPr/>
            </a:pPr>
            <a:r>
              <a:rPr lang="en-US" altLang="zh-CN" sz="2800" dirty="0"/>
              <a:t>1</a:t>
            </a:r>
            <a:r>
              <a:rPr lang="zh-CN" altLang="en-US" sz="2800" dirty="0"/>
              <a:t>、 </a:t>
            </a:r>
            <a:r>
              <a:rPr lang="en-US" altLang="zh-CN" sz="2800" dirty="0">
                <a:solidFill>
                  <a:srgbClr val="FF0000"/>
                </a:solidFill>
              </a:rPr>
              <a:t>-h</a:t>
            </a:r>
            <a:r>
              <a:rPr lang="en-US" altLang="zh-CN" sz="2800" dirty="0"/>
              <a:t>:  </a:t>
            </a:r>
            <a:r>
              <a:rPr lang="zh-CN" altLang="en-US" sz="2800" dirty="0"/>
              <a:t>显示</a:t>
            </a:r>
            <a:r>
              <a:rPr lang="en-US" altLang="zh-CN" sz="2800" dirty="0"/>
              <a:t>elf</a:t>
            </a:r>
            <a:r>
              <a:rPr lang="zh-CN" altLang="en-US" sz="2800" dirty="0"/>
              <a:t>文件的文件头信息。</a:t>
            </a:r>
            <a:endParaRPr lang="en-US" altLang="zh-CN" sz="2800" dirty="0"/>
          </a:p>
          <a:p>
            <a:pPr marL="301943" lvl="1" indent="0">
              <a:lnSpc>
                <a:spcPct val="170000"/>
              </a:lnSpc>
              <a:buNone/>
              <a:defRPr/>
            </a:pPr>
            <a:r>
              <a:rPr lang="en-US" altLang="zh-CN" sz="2800" dirty="0"/>
              <a:t>2</a:t>
            </a:r>
            <a:r>
              <a:rPr lang="zh-CN" altLang="en-US" sz="2800" dirty="0"/>
              <a:t>、 </a:t>
            </a:r>
            <a:r>
              <a:rPr lang="en-US" altLang="zh-CN" sz="2800" dirty="0">
                <a:solidFill>
                  <a:srgbClr val="FF0000"/>
                </a:solidFill>
              </a:rPr>
              <a:t>-l</a:t>
            </a:r>
            <a:r>
              <a:rPr lang="en-US" altLang="zh-CN" sz="2800" dirty="0"/>
              <a:t>:  </a:t>
            </a:r>
            <a:r>
              <a:rPr lang="zh-CN" altLang="en-US" sz="2800" dirty="0"/>
              <a:t>显示程序头（段头）信息</a:t>
            </a:r>
            <a:r>
              <a:rPr lang="en-US" altLang="zh-CN" sz="2800" dirty="0"/>
              <a:t> 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301943" lvl="1" indent="0">
              <a:lnSpc>
                <a:spcPct val="170000"/>
              </a:lnSpc>
              <a:buNone/>
              <a:defRPr/>
            </a:pPr>
            <a:r>
              <a:rPr lang="en-US" altLang="zh-CN" sz="2800" dirty="0"/>
              <a:t>3</a:t>
            </a:r>
            <a:r>
              <a:rPr lang="zh-CN" altLang="en-US" sz="2800" dirty="0"/>
              <a:t>、 </a:t>
            </a:r>
            <a:r>
              <a:rPr lang="en-US" altLang="zh-CN" sz="2800" dirty="0">
                <a:solidFill>
                  <a:srgbClr val="FF0000"/>
                </a:solidFill>
              </a:rPr>
              <a:t>-S</a:t>
            </a:r>
            <a:r>
              <a:rPr lang="en-US" altLang="zh-CN" sz="2800" dirty="0"/>
              <a:t>:  </a:t>
            </a:r>
            <a:r>
              <a:rPr lang="zh-CN" altLang="en-US" sz="2800" dirty="0"/>
              <a:t>显示节头信息。</a:t>
            </a:r>
            <a:endParaRPr lang="en-US" altLang="zh-CN" sz="28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545861F-8F18-4E69-A62D-A72F76095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readelf</a:t>
            </a:r>
            <a:r>
              <a:rPr lang="zh-CN" altLang="en-US" dirty="0"/>
              <a:t>用法（附）</a:t>
            </a:r>
          </a:p>
        </p:txBody>
      </p:sp>
    </p:spTree>
    <p:extLst>
      <p:ext uri="{BB962C8B-B14F-4D97-AF65-F5344CB8AC3E}">
        <p14:creationId xmlns:p14="http://schemas.microsoft.com/office/powerpoint/2010/main" val="12568523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23528" y="1772816"/>
            <a:ext cx="8496943" cy="4608512"/>
          </a:xfrm>
        </p:spPr>
        <p:txBody>
          <a:bodyPr>
            <a:normAutofit fontScale="92500"/>
          </a:bodyPr>
          <a:lstStyle/>
          <a:p>
            <a:pPr marL="301943" lvl="1" indent="0">
              <a:lnSpc>
                <a:spcPct val="170000"/>
              </a:lnSpc>
              <a:buNone/>
              <a:defRPr/>
            </a:pPr>
            <a:r>
              <a:rPr lang="en-US" altLang="zh-CN" sz="2800" dirty="0"/>
              <a:t>4</a:t>
            </a:r>
            <a:r>
              <a:rPr lang="zh-CN" altLang="en-US" sz="2800" dirty="0"/>
              <a:t>、 </a:t>
            </a:r>
            <a:r>
              <a:rPr lang="en-US" altLang="zh-CN" sz="2800" dirty="0">
                <a:solidFill>
                  <a:srgbClr val="FF0000"/>
                </a:solidFill>
              </a:rPr>
              <a:t>-s</a:t>
            </a:r>
            <a:r>
              <a:rPr lang="en-US" altLang="zh-CN" sz="2800" dirty="0"/>
              <a:t>:  </a:t>
            </a:r>
            <a:r>
              <a:rPr lang="zh-CN" altLang="en-US" sz="2800" dirty="0"/>
              <a:t>显示符号表信息。</a:t>
            </a:r>
            <a:endParaRPr lang="en-US" altLang="zh-CN" sz="2800" dirty="0"/>
          </a:p>
          <a:p>
            <a:pPr marL="301943" lvl="1" indent="0">
              <a:lnSpc>
                <a:spcPct val="170000"/>
              </a:lnSpc>
              <a:buNone/>
              <a:defRPr/>
            </a:pPr>
            <a:r>
              <a:rPr lang="en-US" altLang="zh-CN" sz="2800" dirty="0"/>
              <a:t>5</a:t>
            </a:r>
            <a:r>
              <a:rPr lang="zh-CN" altLang="en-US" sz="2800" dirty="0"/>
              <a:t>、 </a:t>
            </a:r>
            <a:r>
              <a:rPr lang="en-US" altLang="zh-CN" sz="2800" dirty="0">
                <a:solidFill>
                  <a:srgbClr val="FF0000"/>
                </a:solidFill>
              </a:rPr>
              <a:t>-r</a:t>
            </a:r>
            <a:r>
              <a:rPr lang="en-US" altLang="zh-CN" sz="2800" dirty="0"/>
              <a:t>:  </a:t>
            </a:r>
            <a:r>
              <a:rPr lang="zh-CN" altLang="en-US" sz="2800" dirty="0"/>
              <a:t>显示可重定位段的信息。</a:t>
            </a:r>
            <a:endParaRPr lang="en-US" altLang="zh-CN" sz="2800" dirty="0"/>
          </a:p>
          <a:p>
            <a:pPr marL="301943" lvl="1" indent="0">
              <a:lnSpc>
                <a:spcPct val="170000"/>
              </a:lnSpc>
              <a:buNone/>
              <a:defRPr/>
            </a:pPr>
            <a:r>
              <a:rPr lang="en-US" altLang="zh-CN" sz="2800" dirty="0"/>
              <a:t>6</a:t>
            </a:r>
            <a:r>
              <a:rPr lang="zh-CN" altLang="en-US" sz="2800" dirty="0"/>
              <a:t>、</a:t>
            </a:r>
            <a:r>
              <a:rPr lang="en-US" altLang="zh-CN" sz="2800" dirty="0">
                <a:solidFill>
                  <a:srgbClr val="FF0000"/>
                </a:solidFill>
              </a:rPr>
              <a:t>-x   &lt;number or name&gt; </a:t>
            </a:r>
            <a:r>
              <a:rPr lang="en-US" altLang="zh-CN" sz="2800" dirty="0"/>
              <a:t>:  </a:t>
            </a:r>
            <a:r>
              <a:rPr lang="zh-CN" altLang="en-US" sz="2800" dirty="0"/>
              <a:t>以</a:t>
            </a:r>
            <a:r>
              <a:rPr lang="en-US" altLang="zh-CN" sz="2800" dirty="0"/>
              <a:t>16</a:t>
            </a:r>
            <a:r>
              <a:rPr lang="zh-CN" altLang="en-US" sz="2800" dirty="0"/>
              <a:t>进制方式显示指定段的内容。</a:t>
            </a:r>
            <a:r>
              <a:rPr lang="en-US" altLang="zh-CN" sz="2800" dirty="0"/>
              <a:t>number</a:t>
            </a:r>
            <a:r>
              <a:rPr lang="zh-CN" altLang="en-US" sz="2800" dirty="0"/>
              <a:t>指定段表中段的索引，</a:t>
            </a:r>
            <a:r>
              <a:rPr lang="en-US" altLang="zh-CN" sz="2800" dirty="0"/>
              <a:t>name</a:t>
            </a:r>
            <a:r>
              <a:rPr lang="zh-CN" altLang="en-US" sz="2800" dirty="0"/>
              <a:t>指定段名。</a:t>
            </a:r>
            <a:endParaRPr lang="en-US" altLang="zh-CN" sz="2800" dirty="0"/>
          </a:p>
          <a:p>
            <a:pPr marL="301943" lvl="1" indent="0">
              <a:lnSpc>
                <a:spcPct val="170000"/>
              </a:lnSpc>
              <a:buNone/>
              <a:defRPr/>
            </a:pPr>
            <a:r>
              <a:rPr lang="en-US" altLang="zh-CN" sz="2800" dirty="0"/>
              <a:t>7</a:t>
            </a:r>
            <a:r>
              <a:rPr lang="zh-CN" altLang="en-US" sz="2800" dirty="0"/>
              <a:t>、</a:t>
            </a:r>
            <a:r>
              <a:rPr lang="en-US" altLang="zh-CN" sz="2800" dirty="0">
                <a:solidFill>
                  <a:srgbClr val="FF0000"/>
                </a:solidFill>
              </a:rPr>
              <a:t>-a</a:t>
            </a:r>
            <a:r>
              <a:rPr lang="en-US" altLang="zh-CN" sz="2800" dirty="0"/>
              <a:t>:</a:t>
            </a:r>
            <a:r>
              <a:rPr lang="zh-CN" altLang="en-US" sz="2800" dirty="0"/>
              <a:t>  显示全部信息。</a:t>
            </a:r>
            <a:endParaRPr lang="en-US" altLang="zh-CN" sz="2800" dirty="0"/>
          </a:p>
          <a:p>
            <a:pPr marL="301943" lvl="1" indent="0">
              <a:lnSpc>
                <a:spcPct val="170000"/>
              </a:lnSpc>
              <a:buNone/>
              <a:defRPr/>
            </a:pPr>
            <a:r>
              <a:rPr lang="en-US" altLang="zh-CN" sz="2800" dirty="0"/>
              <a:t>8</a:t>
            </a:r>
            <a:r>
              <a:rPr lang="zh-CN" altLang="en-US" sz="2800" dirty="0"/>
              <a:t>、</a:t>
            </a:r>
            <a:r>
              <a:rPr lang="en-US" altLang="zh-CN" sz="2800" dirty="0">
                <a:solidFill>
                  <a:srgbClr val="FF0000"/>
                </a:solidFill>
              </a:rPr>
              <a:t>-H</a:t>
            </a:r>
            <a:r>
              <a:rPr lang="en-US" altLang="zh-CN" sz="2800" dirty="0"/>
              <a:t>:  </a:t>
            </a:r>
            <a:r>
              <a:rPr lang="zh-CN" altLang="en-US" sz="2800" dirty="0"/>
              <a:t>显示帮助信息。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799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25860" y="1196752"/>
            <a:ext cx="8424936" cy="53342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800" dirty="0"/>
              <a:t>         vim </a:t>
            </a:r>
            <a:r>
              <a:rPr lang="zh-CN" altLang="en-US" sz="2800" dirty="0"/>
              <a:t>是 </a:t>
            </a:r>
            <a:r>
              <a:rPr lang="en-US" altLang="zh-CN" sz="2800" dirty="0"/>
              <a:t>Linux </a:t>
            </a:r>
            <a:r>
              <a:rPr lang="zh-CN" altLang="en-US" sz="2800" dirty="0"/>
              <a:t>系统上一款文本编辑器。</a:t>
            </a:r>
            <a:endParaRPr lang="en-US" altLang="zh-CN" sz="2800" dirty="0"/>
          </a:p>
          <a:p>
            <a:r>
              <a:rPr lang="en-US" altLang="zh-CN" sz="2800" dirty="0"/>
              <a:t> vim </a:t>
            </a:r>
            <a:r>
              <a:rPr lang="zh-CN" altLang="en-US" sz="2800" dirty="0"/>
              <a:t>共分为三种模式，分别是</a:t>
            </a:r>
            <a:r>
              <a:rPr lang="zh-CN" altLang="en-US" sz="2800" b="1" dirty="0"/>
              <a:t>命令模式</a:t>
            </a:r>
            <a:r>
              <a:rPr lang="zh-CN" altLang="en-US" sz="2800" dirty="0"/>
              <a:t>，</a:t>
            </a:r>
            <a:r>
              <a:rPr lang="zh-CN" altLang="en-US" sz="2800" b="1" dirty="0"/>
              <a:t>输入模式</a:t>
            </a:r>
            <a:r>
              <a:rPr lang="zh-CN" altLang="en-US" sz="2800" dirty="0"/>
              <a:t>和</a:t>
            </a:r>
            <a:r>
              <a:rPr lang="zh-CN" altLang="en-US" sz="2800" b="1" dirty="0"/>
              <a:t>末端模式</a:t>
            </a:r>
            <a:r>
              <a:rPr lang="zh-CN" altLang="en-US" sz="2800" dirty="0"/>
              <a:t>。 </a:t>
            </a:r>
            <a:endParaRPr lang="en-US" altLang="zh-CN" sz="2800" dirty="0"/>
          </a:p>
          <a:p>
            <a:r>
              <a:rPr lang="zh-CN" altLang="en-US" sz="2800" b="1" dirty="0"/>
              <a:t>命令模式：</a:t>
            </a:r>
            <a:r>
              <a:rPr lang="zh-CN" altLang="en-US" sz="2800" dirty="0"/>
              <a:t>用户刚刚启动 </a:t>
            </a:r>
            <a:r>
              <a:rPr lang="en-US" altLang="zh-CN" sz="2800" dirty="0"/>
              <a:t>vim</a:t>
            </a:r>
            <a:r>
              <a:rPr lang="zh-CN" altLang="en-US" sz="2800" dirty="0"/>
              <a:t>，便进入了命令模式。此状态下敲击键盘动作会被</a:t>
            </a:r>
            <a:r>
              <a:rPr lang="en-US" altLang="zh-CN" sz="2800" dirty="0"/>
              <a:t>vim</a:t>
            </a:r>
            <a:r>
              <a:rPr lang="zh-CN" altLang="en-US" sz="2800" dirty="0"/>
              <a:t>识别为命令，而非输入字符。以下是常用的几个命令：</a:t>
            </a:r>
          </a:p>
          <a:p>
            <a:pPr marL="0" indent="0" latinLnBrk="1">
              <a:buNone/>
            </a:pPr>
            <a:r>
              <a:rPr lang="en-US" altLang="zh-CN" sz="2800" b="1" dirty="0"/>
              <a:t>	</a:t>
            </a:r>
            <a:r>
              <a:rPr lang="en-US" altLang="zh-CN" b="1" dirty="0" err="1"/>
              <a:t>i</a:t>
            </a:r>
            <a:r>
              <a:rPr lang="zh-CN" altLang="en-US" dirty="0"/>
              <a:t> </a:t>
            </a:r>
            <a:r>
              <a:rPr lang="en-US" altLang="zh-CN" dirty="0"/>
              <a:t>       </a:t>
            </a:r>
            <a:r>
              <a:rPr lang="zh-CN" altLang="en-US" b="1" dirty="0"/>
              <a:t>切换到输入模式</a:t>
            </a:r>
            <a:r>
              <a:rPr lang="zh-CN" altLang="en-US" dirty="0"/>
              <a:t>，以输入字符。</a:t>
            </a:r>
            <a:endParaRPr lang="en-US" altLang="zh-CN" dirty="0"/>
          </a:p>
          <a:p>
            <a:pPr marL="0" indent="0" latinLnBrk="1">
              <a:buNone/>
            </a:pPr>
            <a:r>
              <a:rPr lang="en-US" altLang="zh-CN" dirty="0"/>
              <a:t>	</a:t>
            </a:r>
            <a:r>
              <a:rPr lang="en-US" altLang="zh-CN" b="1" dirty="0"/>
              <a:t>u </a:t>
            </a:r>
            <a:r>
              <a:rPr lang="en-US" altLang="zh-CN" dirty="0"/>
              <a:t>     </a:t>
            </a:r>
            <a:r>
              <a:rPr lang="zh-CN" altLang="en-US" dirty="0"/>
              <a:t>撤销操作</a:t>
            </a:r>
            <a:endParaRPr lang="en-US" altLang="zh-CN" dirty="0"/>
          </a:p>
          <a:p>
            <a:pPr marL="0" indent="0" latinLnBrk="1">
              <a:buNone/>
            </a:pPr>
            <a:r>
              <a:rPr lang="en-US" altLang="zh-CN" dirty="0"/>
              <a:t>	</a:t>
            </a:r>
            <a:r>
              <a:rPr lang="en-US" altLang="zh-CN" b="1" dirty="0" err="1"/>
              <a:t>dd</a:t>
            </a:r>
            <a:r>
              <a:rPr lang="en-US" altLang="zh-CN" dirty="0"/>
              <a:t>   </a:t>
            </a:r>
            <a:r>
              <a:rPr lang="zh-CN" altLang="en-US" dirty="0"/>
              <a:t>删除一行</a:t>
            </a:r>
          </a:p>
          <a:p>
            <a:pPr marL="0" indent="0" latinLnBrk="1">
              <a:buNone/>
            </a:pPr>
            <a:r>
              <a:rPr lang="en-US" altLang="zh-CN" b="1" dirty="0"/>
              <a:t>	:</a:t>
            </a:r>
            <a:r>
              <a:rPr lang="zh-CN" altLang="en-US" dirty="0"/>
              <a:t>     </a:t>
            </a:r>
            <a:r>
              <a:rPr lang="zh-CN" altLang="en-US" b="1" dirty="0"/>
              <a:t>切换到末端模式</a:t>
            </a:r>
            <a:r>
              <a:rPr lang="zh-CN" altLang="en-US" dirty="0"/>
              <a:t>，以在最底一行输入命令。</a:t>
            </a:r>
            <a:endParaRPr lang="en-US" altLang="zh-CN" dirty="0"/>
          </a:p>
          <a:p>
            <a:pPr marL="720000" indent="0" latinLnBrk="1"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在输入模式下，可以使用右键菜单实现</a:t>
            </a:r>
            <a:r>
              <a:rPr lang="zh-CN" altLang="en-US" b="1" dirty="0"/>
              <a:t>复制粘贴</a:t>
            </a:r>
            <a:r>
              <a:rPr lang="zh-CN" altLang="en-US" dirty="0"/>
              <a:t>。还可以使用方向箭头</a:t>
            </a:r>
            <a:r>
              <a:rPr lang="zh-CN" altLang="en-US" b="1" dirty="0"/>
              <a:t>移动光标</a:t>
            </a:r>
            <a:r>
              <a:rPr lang="zh-CN" altLang="en-US" dirty="0"/>
              <a:t>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21196" y="188640"/>
            <a:ext cx="8229600" cy="858424"/>
          </a:xfrm>
        </p:spPr>
        <p:txBody>
          <a:bodyPr/>
          <a:lstStyle/>
          <a:p>
            <a:r>
              <a:rPr lang="en-US" altLang="zh-CN" dirty="0"/>
              <a:t>vim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58540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54360" y="1700808"/>
            <a:ext cx="8435279" cy="4464496"/>
          </a:xfrm>
        </p:spPr>
        <p:txBody>
          <a:bodyPr>
            <a:normAutofit/>
          </a:bodyPr>
          <a:lstStyle/>
          <a:p>
            <a:r>
              <a:rPr lang="zh-CN" altLang="en-US" sz="2800" b="1" dirty="0"/>
              <a:t>输入模式：</a:t>
            </a:r>
            <a:r>
              <a:rPr lang="zh-CN" altLang="en-US" sz="2800" dirty="0"/>
              <a:t>在命令模式下按下</a:t>
            </a:r>
            <a:r>
              <a:rPr lang="en-US" altLang="zh-CN" sz="2800" dirty="0" err="1"/>
              <a:t>i</a:t>
            </a:r>
            <a:r>
              <a:rPr lang="zh-CN" altLang="en-US" sz="2800" dirty="0"/>
              <a:t>就进入了输入模式。</a:t>
            </a:r>
          </a:p>
          <a:p>
            <a:pPr marL="0" indent="0" latinLnBrk="1">
              <a:buNone/>
            </a:pPr>
            <a:r>
              <a:rPr lang="en-US" altLang="zh-CN" sz="2800" b="1" dirty="0"/>
              <a:t>	  </a:t>
            </a:r>
            <a:r>
              <a:rPr lang="zh-CN" altLang="en-US" b="1" dirty="0"/>
              <a:t>其他字符</a:t>
            </a:r>
            <a:r>
              <a:rPr lang="zh-CN" altLang="en-US" dirty="0"/>
              <a:t>  表示输入字符</a:t>
            </a:r>
            <a:endParaRPr lang="en-US" altLang="zh-CN" dirty="0"/>
          </a:p>
          <a:p>
            <a:pPr marL="0" indent="0" latinLnBrk="1">
              <a:buNone/>
            </a:pPr>
            <a:r>
              <a:rPr lang="en-US" altLang="zh-CN" sz="2800" b="1" dirty="0"/>
              <a:t>              </a:t>
            </a:r>
            <a:r>
              <a:rPr lang="en-US" altLang="zh-CN" b="1" dirty="0"/>
              <a:t>ESC</a:t>
            </a:r>
            <a:r>
              <a:rPr lang="zh-CN" altLang="en-US" dirty="0"/>
              <a:t>    退出输入模式，</a:t>
            </a:r>
            <a:r>
              <a:rPr lang="zh-CN" altLang="en-US" b="1" dirty="0"/>
              <a:t>切换到命令模式</a:t>
            </a:r>
          </a:p>
          <a:p>
            <a:r>
              <a:rPr lang="zh-CN" altLang="en-US" sz="2800" b="1" dirty="0"/>
              <a:t>末端模式：</a:t>
            </a:r>
            <a:r>
              <a:rPr lang="zh-CN" altLang="en-US" sz="2800" dirty="0"/>
              <a:t>在命令模式下按下</a:t>
            </a:r>
            <a:r>
              <a:rPr lang="en-US" altLang="zh-CN" sz="2800" dirty="0"/>
              <a:t>:</a:t>
            </a:r>
            <a:r>
              <a:rPr lang="zh-CN" altLang="en-US" sz="2800" dirty="0"/>
              <a:t>（英文冒号）就进入了末端模式。末端模式的基本的命令有（已经省略了冒号）：</a:t>
            </a:r>
          </a:p>
          <a:p>
            <a:pPr marL="0" indent="0" latinLnBrk="1">
              <a:buNone/>
            </a:pPr>
            <a:r>
              <a:rPr lang="en-US" altLang="zh-CN" sz="2800" dirty="0"/>
              <a:t>	</a:t>
            </a:r>
            <a:r>
              <a:rPr lang="en-US" altLang="zh-CN" b="1" dirty="0"/>
              <a:t>q </a:t>
            </a:r>
            <a:r>
              <a:rPr lang="en-US" altLang="zh-CN" dirty="0"/>
              <a:t>       </a:t>
            </a:r>
            <a:r>
              <a:rPr lang="zh-CN" altLang="en-US" dirty="0"/>
              <a:t>退出程序</a:t>
            </a:r>
          </a:p>
          <a:p>
            <a:pPr marL="0" indent="0" latinLnBrk="1">
              <a:buNone/>
            </a:pPr>
            <a:r>
              <a:rPr lang="en-US" altLang="zh-CN" dirty="0"/>
              <a:t>	</a:t>
            </a:r>
            <a:r>
              <a:rPr lang="en-US" altLang="zh-CN" b="1" dirty="0"/>
              <a:t>w</a:t>
            </a:r>
            <a:r>
              <a:rPr lang="en-US" altLang="zh-CN" dirty="0"/>
              <a:t>       </a:t>
            </a:r>
            <a:r>
              <a:rPr lang="zh-CN" altLang="en-US" dirty="0"/>
              <a:t>保存文件</a:t>
            </a:r>
          </a:p>
          <a:p>
            <a:pPr marL="0" indent="0" latinLnBrk="1">
              <a:buNone/>
            </a:pPr>
            <a:r>
              <a:rPr lang="en-US" altLang="zh-CN" dirty="0"/>
              <a:t>	</a:t>
            </a:r>
            <a:r>
              <a:rPr lang="en-US" altLang="zh-CN" b="1" dirty="0"/>
              <a:t>ESC</a:t>
            </a:r>
            <a:r>
              <a:rPr lang="en-US" altLang="zh-CN" dirty="0"/>
              <a:t>   </a:t>
            </a:r>
            <a:r>
              <a:rPr lang="zh-CN" altLang="en-US" dirty="0"/>
              <a:t>退出末端模式。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7776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2_nordridesign">
  <a:themeElements>
    <a:clrScheme name="2_nordridesign 1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333333"/>
      </a:accent1>
      <a:accent2>
        <a:srgbClr val="080808"/>
      </a:accent2>
      <a:accent3>
        <a:srgbClr val="FFFFFF"/>
      </a:accent3>
      <a:accent4>
        <a:srgbClr val="000000"/>
      </a:accent4>
      <a:accent5>
        <a:srgbClr val="ADADAD"/>
      </a:accent5>
      <a:accent6>
        <a:srgbClr val="060606"/>
      </a:accent6>
      <a:hlink>
        <a:srgbClr val="FFCC00"/>
      </a:hlink>
      <a:folHlink>
        <a:srgbClr val="FF6600"/>
      </a:folHlink>
    </a:clrScheme>
    <a:fontScheme name="2_nordridesign">
      <a:majorFont>
        <a:latin typeface="黑体"/>
        <a:ea typeface="宋体"/>
        <a:cs typeface=""/>
      </a:majorFont>
      <a:minorFont>
        <a:latin typeface="黑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nordridesign 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333333"/>
        </a:accent1>
        <a:accent2>
          <a:srgbClr val="080808"/>
        </a:accent2>
        <a:accent3>
          <a:srgbClr val="FFFFFF"/>
        </a:accent3>
        <a:accent4>
          <a:srgbClr val="000000"/>
        </a:accent4>
        <a:accent5>
          <a:srgbClr val="ADADAD"/>
        </a:accent5>
        <a:accent6>
          <a:srgbClr val="060606"/>
        </a:accent6>
        <a:hlink>
          <a:srgbClr val="FFCC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ordridesign 2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0F6FC6"/>
        </a:accent1>
        <a:accent2>
          <a:srgbClr val="009DD9"/>
        </a:accent2>
        <a:accent3>
          <a:srgbClr val="FFFFFF"/>
        </a:accent3>
        <a:accent4>
          <a:srgbClr val="000000"/>
        </a:accent4>
        <a:accent5>
          <a:srgbClr val="AABBDF"/>
        </a:accent5>
        <a:accent6>
          <a:srgbClr val="008EC4"/>
        </a:accent6>
        <a:hlink>
          <a:srgbClr val="E2D700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ordridesign 3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ordridesign 4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ordridesign 5">
        <a:dk1>
          <a:srgbClr val="000000"/>
        </a:dk1>
        <a:lt1>
          <a:srgbClr val="080808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ordridesign 6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ordridesign 7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FF00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ordridesign 8">
        <a:dk1>
          <a:srgbClr val="FFFFFF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ordridesign 9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nordridesign">
  <a:themeElements>
    <a:clrScheme name="1_nordridesign 1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333333"/>
      </a:accent1>
      <a:accent2>
        <a:srgbClr val="080808"/>
      </a:accent2>
      <a:accent3>
        <a:srgbClr val="FFFFFF"/>
      </a:accent3>
      <a:accent4>
        <a:srgbClr val="000000"/>
      </a:accent4>
      <a:accent5>
        <a:srgbClr val="ADADAD"/>
      </a:accent5>
      <a:accent6>
        <a:srgbClr val="060606"/>
      </a:accent6>
      <a:hlink>
        <a:srgbClr val="FFCC00"/>
      </a:hlink>
      <a:folHlink>
        <a:srgbClr val="FF6600"/>
      </a:folHlink>
    </a:clrScheme>
    <a:fontScheme name="1_nordridesign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nordridesign 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333333"/>
        </a:accent1>
        <a:accent2>
          <a:srgbClr val="080808"/>
        </a:accent2>
        <a:accent3>
          <a:srgbClr val="FFFFFF"/>
        </a:accent3>
        <a:accent4>
          <a:srgbClr val="000000"/>
        </a:accent4>
        <a:accent5>
          <a:srgbClr val="ADADAD"/>
        </a:accent5>
        <a:accent6>
          <a:srgbClr val="060606"/>
        </a:accent6>
        <a:hlink>
          <a:srgbClr val="FFCC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2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0F6FC6"/>
        </a:accent1>
        <a:accent2>
          <a:srgbClr val="009DD9"/>
        </a:accent2>
        <a:accent3>
          <a:srgbClr val="FFFFFF"/>
        </a:accent3>
        <a:accent4>
          <a:srgbClr val="000000"/>
        </a:accent4>
        <a:accent5>
          <a:srgbClr val="AABBDF"/>
        </a:accent5>
        <a:accent6>
          <a:srgbClr val="008EC4"/>
        </a:accent6>
        <a:hlink>
          <a:srgbClr val="E2D700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3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4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5">
        <a:dk1>
          <a:srgbClr val="000000"/>
        </a:dk1>
        <a:lt1>
          <a:srgbClr val="080808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6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ordridesign 7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FF00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ordridesign 8">
        <a:dk1>
          <a:srgbClr val="FFFFFF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9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36598</TotalTime>
  <Words>1713</Words>
  <Application>Microsoft Office PowerPoint</Application>
  <PresentationFormat>全屏显示(4:3)</PresentationFormat>
  <Paragraphs>202</Paragraphs>
  <Slides>39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39</vt:i4>
      </vt:variant>
    </vt:vector>
  </HeadingPairs>
  <TitlesOfParts>
    <vt:vector size="51" baseType="lpstr">
      <vt:lpstr>Symbol</vt:lpstr>
      <vt:lpstr>微软雅黑</vt:lpstr>
      <vt:lpstr>Arial</vt:lpstr>
      <vt:lpstr>Candara</vt:lpstr>
      <vt:lpstr>宋体</vt:lpstr>
      <vt:lpstr>Verdana</vt:lpstr>
      <vt:lpstr>黑体</vt:lpstr>
      <vt:lpstr>等线</vt:lpstr>
      <vt:lpstr>Wingdings</vt:lpstr>
      <vt:lpstr>2_nordridesign</vt:lpstr>
      <vt:lpstr>1_nordridesign</vt:lpstr>
      <vt:lpstr>1_波形</vt:lpstr>
      <vt:lpstr>PowerPoint 演示文稿</vt:lpstr>
      <vt:lpstr>实验介绍</vt:lpstr>
      <vt:lpstr>实验数据包</vt:lpstr>
      <vt:lpstr>程序框架</vt:lpstr>
      <vt:lpstr>实验内容</vt:lpstr>
      <vt:lpstr>分数</vt:lpstr>
      <vt:lpstr>实验流程</vt:lpstr>
      <vt:lpstr>实验流程</vt:lpstr>
      <vt:lpstr>查看计分板</vt:lpstr>
      <vt:lpstr>Lab4各课头查看scoreboard端口</vt:lpstr>
      <vt:lpstr>阶段1   示例</vt:lpstr>
      <vt:lpstr>1.解压实验包</vt:lpstr>
      <vt:lpstr>2. 直接运行</vt:lpstr>
      <vt:lpstr>3.查看反汇编代码（链接后）</vt:lpstr>
      <vt:lpstr>4.查看反汇编代码（链接前）</vt:lpstr>
      <vt:lpstr>重定位</vt:lpstr>
      <vt:lpstr>重定位类型</vt:lpstr>
      <vt:lpstr>5.确定字符串位置</vt:lpstr>
      <vt:lpstr>PowerPoint 演示文稿</vt:lpstr>
      <vt:lpstr>6. 修改phase1.o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 链接</vt:lpstr>
      <vt:lpstr>成功</vt:lpstr>
      <vt:lpstr>实验阶段2</vt:lpstr>
      <vt:lpstr>成功</vt:lpstr>
      <vt:lpstr>实验阶段3</vt:lpstr>
      <vt:lpstr>成功</vt:lpstr>
      <vt:lpstr>实验阶段4</vt:lpstr>
      <vt:lpstr>成功</vt:lpstr>
      <vt:lpstr>实验阶段5</vt:lpstr>
      <vt:lpstr>成功</vt:lpstr>
      <vt:lpstr>readelf用法（附）</vt:lpstr>
      <vt:lpstr>PowerPoint 演示文稿</vt:lpstr>
      <vt:lpstr>vim</vt:lpstr>
      <vt:lpstr>PowerPoint 演示文稿</vt:lpstr>
    </vt:vector>
  </TitlesOfParts>
  <Company>NordriDesign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NordriDesign; wuyan_1103</dc:creator>
  <cp:keywords>ppt幻灯设计/ppt模板设计</cp:keywords>
  <dc:description>nordridesign.com</dc:description>
  <cp:lastModifiedBy>yan guo</cp:lastModifiedBy>
  <cp:revision>1479</cp:revision>
  <dcterms:created xsi:type="dcterms:W3CDTF">2009-09-14T03:13:49Z</dcterms:created>
  <dcterms:modified xsi:type="dcterms:W3CDTF">2025-12-10T08:28:53Z</dcterms:modified>
</cp:coreProperties>
</file>