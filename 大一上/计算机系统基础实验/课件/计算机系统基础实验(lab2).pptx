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3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0" r:id="rId1"/>
    <p:sldMasterId id="2147483651" r:id="rId2"/>
    <p:sldMasterId id="2147483739" r:id="rId3"/>
    <p:sldMasterId id="2147483751" r:id="rId4"/>
  </p:sldMasterIdLst>
  <p:notesMasterIdLst>
    <p:notesMasterId r:id="rId31"/>
  </p:notesMasterIdLst>
  <p:handoutMasterIdLst>
    <p:handoutMasterId r:id="rId32"/>
  </p:handoutMasterIdLst>
  <p:sldIdLst>
    <p:sldId id="2293" r:id="rId5"/>
    <p:sldId id="2268" r:id="rId6"/>
    <p:sldId id="2278" r:id="rId7"/>
    <p:sldId id="2289" r:id="rId8"/>
    <p:sldId id="2336" r:id="rId9"/>
    <p:sldId id="2337" r:id="rId10"/>
    <p:sldId id="2338" r:id="rId11"/>
    <p:sldId id="2340" r:id="rId12"/>
    <p:sldId id="2298" r:id="rId13"/>
    <p:sldId id="2299" r:id="rId14"/>
    <p:sldId id="2300" r:id="rId15"/>
    <p:sldId id="2341" r:id="rId16"/>
    <p:sldId id="2302" r:id="rId17"/>
    <p:sldId id="2342" r:id="rId18"/>
    <p:sldId id="2343" r:id="rId19"/>
    <p:sldId id="2344" r:id="rId20"/>
    <p:sldId id="2304" r:id="rId21"/>
    <p:sldId id="2346" r:id="rId22"/>
    <p:sldId id="2285" r:id="rId23"/>
    <p:sldId id="2275" r:id="rId24"/>
    <p:sldId id="2351" r:id="rId25"/>
    <p:sldId id="2348" r:id="rId26"/>
    <p:sldId id="2350" r:id="rId27"/>
    <p:sldId id="2349" r:id="rId28"/>
    <p:sldId id="2347" r:id="rId29"/>
    <p:sldId id="2401" r:id="rId30"/>
  </p:sldIdLst>
  <p:sldSz cx="9144000" cy="6858000" type="screen4x3"/>
  <p:notesSz cx="6815138" cy="9931400"/>
  <p:embeddedFontLst>
    <p:embeddedFont>
      <p:font typeface="Arial Unicode MS" panose="02010600030101010101" charset="-122"/>
      <p:regular r:id="rId33"/>
    </p:embeddedFont>
    <p:embeddedFont>
      <p:font typeface="Candara" panose="020E0502030303020204" pitchFamily="34" charset="0"/>
      <p:regular r:id="rId34"/>
      <p:bold r:id="rId35"/>
      <p:italic r:id="rId36"/>
      <p:boldItalic r:id="rId37"/>
    </p:embeddedFont>
    <p:embeddedFont>
      <p:font typeface="Verdana" panose="020B0604030504040204" pitchFamily="34" charset="0"/>
      <p:regular r:id="rId38"/>
      <p:bold r:id="rId39"/>
      <p:italic r:id="rId40"/>
      <p:boldItalic r:id="rId41"/>
    </p:embeddedFont>
    <p:embeddedFont>
      <p:font typeface="等线" panose="02010600030101010101" pitchFamily="2" charset="-122"/>
      <p:regular r:id="rId42"/>
      <p:bold r:id="rId43"/>
    </p:embeddedFont>
    <p:embeddedFont>
      <p:font typeface="黑体" panose="02010609060101010101" pitchFamily="49" charset="-122"/>
      <p:regular r:id="rId44"/>
    </p:embeddedFont>
    <p:embeddedFont>
      <p:font typeface="微软雅黑" panose="020B0503020204020204" pitchFamily="34" charset="-122"/>
      <p:regular r:id="rId45"/>
      <p:bold r:id="rId46"/>
    </p:embeddedFont>
  </p:embeddedFontLst>
  <p:custDataLst>
    <p:tags r:id="rId47"/>
  </p:custDataLst>
  <p:defaultTextStyle>
    <a:defPPr>
      <a:defRPr lang="zh-CN"/>
    </a:defPPr>
    <a:lvl1pPr algn="r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pitchFamily="34" charset="0"/>
        <a:ea typeface="华文细黑" pitchFamily="2" charset="-122"/>
        <a:cs typeface="+mn-cs"/>
      </a:defRPr>
    </a:lvl1pPr>
    <a:lvl2pPr marL="457200" algn="r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pitchFamily="34" charset="0"/>
        <a:ea typeface="华文细黑" pitchFamily="2" charset="-122"/>
        <a:cs typeface="+mn-cs"/>
      </a:defRPr>
    </a:lvl2pPr>
    <a:lvl3pPr marL="914400" algn="r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pitchFamily="34" charset="0"/>
        <a:ea typeface="华文细黑" pitchFamily="2" charset="-122"/>
        <a:cs typeface="+mn-cs"/>
      </a:defRPr>
    </a:lvl3pPr>
    <a:lvl4pPr marL="1371600" algn="r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pitchFamily="34" charset="0"/>
        <a:ea typeface="华文细黑" pitchFamily="2" charset="-122"/>
        <a:cs typeface="+mn-cs"/>
      </a:defRPr>
    </a:lvl4pPr>
    <a:lvl5pPr marL="1828800" algn="r" rtl="0" fontAlgn="base">
      <a:spcBef>
        <a:spcPct val="0"/>
      </a:spcBef>
      <a:spcAft>
        <a:spcPct val="0"/>
      </a:spcAft>
      <a:defRPr i="1" kern="1200">
        <a:solidFill>
          <a:schemeClr val="tx1"/>
        </a:solidFill>
        <a:latin typeface="Arial" pitchFamily="34" charset="0"/>
        <a:ea typeface="华文细黑" pitchFamily="2" charset="-122"/>
        <a:cs typeface="+mn-cs"/>
      </a:defRPr>
    </a:lvl5pPr>
    <a:lvl6pPr marL="2286000" algn="l" defTabSz="914400" rtl="0" eaLnBrk="1" latinLnBrk="0" hangingPunct="1">
      <a:defRPr i="1" kern="1200">
        <a:solidFill>
          <a:schemeClr val="tx1"/>
        </a:solidFill>
        <a:latin typeface="Arial" pitchFamily="34" charset="0"/>
        <a:ea typeface="华文细黑" pitchFamily="2" charset="-122"/>
        <a:cs typeface="+mn-cs"/>
      </a:defRPr>
    </a:lvl6pPr>
    <a:lvl7pPr marL="2743200" algn="l" defTabSz="914400" rtl="0" eaLnBrk="1" latinLnBrk="0" hangingPunct="1">
      <a:defRPr i="1" kern="1200">
        <a:solidFill>
          <a:schemeClr val="tx1"/>
        </a:solidFill>
        <a:latin typeface="Arial" pitchFamily="34" charset="0"/>
        <a:ea typeface="华文细黑" pitchFamily="2" charset="-122"/>
        <a:cs typeface="+mn-cs"/>
      </a:defRPr>
    </a:lvl7pPr>
    <a:lvl8pPr marL="3200400" algn="l" defTabSz="914400" rtl="0" eaLnBrk="1" latinLnBrk="0" hangingPunct="1">
      <a:defRPr i="1" kern="1200">
        <a:solidFill>
          <a:schemeClr val="tx1"/>
        </a:solidFill>
        <a:latin typeface="Arial" pitchFamily="34" charset="0"/>
        <a:ea typeface="华文细黑" pitchFamily="2" charset="-122"/>
        <a:cs typeface="+mn-cs"/>
      </a:defRPr>
    </a:lvl8pPr>
    <a:lvl9pPr marL="3657600" algn="l" defTabSz="914400" rtl="0" eaLnBrk="1" latinLnBrk="0" hangingPunct="1">
      <a:defRPr i="1" kern="1200">
        <a:solidFill>
          <a:schemeClr val="tx1"/>
        </a:solidFill>
        <a:latin typeface="Arial" pitchFamily="34" charset="0"/>
        <a:ea typeface="华文细黑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D00071B-91D5-4151-BC95-781EE09C8E8D}">
          <p14:sldIdLst>
            <p14:sldId id="2293"/>
          </p14:sldIdLst>
        </p14:section>
        <p14:section name="正文" id="{1A788EF5-01C9-4D02-8039-21082E0D5BB3}">
          <p14:sldIdLst>
            <p14:sldId id="2268"/>
            <p14:sldId id="2278"/>
            <p14:sldId id="2289"/>
            <p14:sldId id="2336"/>
            <p14:sldId id="2337"/>
            <p14:sldId id="2338"/>
            <p14:sldId id="2340"/>
            <p14:sldId id="2298"/>
            <p14:sldId id="2299"/>
            <p14:sldId id="2300"/>
            <p14:sldId id="2341"/>
            <p14:sldId id="2302"/>
            <p14:sldId id="2342"/>
            <p14:sldId id="2343"/>
            <p14:sldId id="2344"/>
            <p14:sldId id="2304"/>
            <p14:sldId id="2346"/>
            <p14:sldId id="2285"/>
            <p14:sldId id="2275"/>
            <p14:sldId id="2351"/>
            <p14:sldId id="2348"/>
            <p14:sldId id="2350"/>
            <p14:sldId id="2349"/>
            <p14:sldId id="2347"/>
            <p14:sldId id="24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748">
          <p15:clr>
            <a:srgbClr val="A4A3A4"/>
          </p15:clr>
        </p15:guide>
        <p15:guide id="2" pos="2880">
          <p15:clr>
            <a:srgbClr val="A4A3A4"/>
          </p15:clr>
        </p15:guide>
        <p15:guide id="3" pos="4195" userDrawn="1">
          <p15:clr>
            <a:srgbClr val="A4A3A4"/>
          </p15:clr>
        </p15:guide>
        <p15:guide id="4" pos="54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E706E"/>
    <a:srgbClr val="CC3300"/>
    <a:srgbClr val="3333FF"/>
    <a:srgbClr val="FF00FF"/>
    <a:srgbClr val="FFFFFF"/>
    <a:srgbClr val="FF9999"/>
    <a:srgbClr val="86BC64"/>
    <a:srgbClr val="FFFFCC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B1032C-EA38-4F05-BA0D-38AFFFC7BED3}" styleName="浅色样式 3 - 强调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00" autoAdjust="0"/>
    <p:restoredTop sz="87772" autoAdjust="0"/>
  </p:normalViewPr>
  <p:slideViewPr>
    <p:cSldViewPr>
      <p:cViewPr varScale="1">
        <p:scale>
          <a:sx n="91" d="100"/>
          <a:sy n="91" d="100"/>
        </p:scale>
        <p:origin x="828" y="51"/>
      </p:cViewPr>
      <p:guideLst>
        <p:guide orient="horz" pos="3748"/>
        <p:guide pos="2880"/>
        <p:guide pos="4195"/>
        <p:guide pos="5465"/>
      </p:guideLst>
    </p:cSldViewPr>
  </p:slideViewPr>
  <p:outlineViewPr>
    <p:cViewPr>
      <p:scale>
        <a:sx n="33" d="100"/>
        <a:sy n="33" d="100"/>
      </p:scale>
      <p:origin x="0" y="18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3260"/>
    </p:cViewPr>
  </p:sorterViewPr>
  <p:notesViewPr>
    <p:cSldViewPr>
      <p:cViewPr varScale="1">
        <p:scale>
          <a:sx n="62" d="100"/>
          <a:sy n="62" d="100"/>
        </p:scale>
        <p:origin x="-3462" y="-84"/>
      </p:cViewPr>
      <p:guideLst>
        <p:guide orient="horz" pos="3128"/>
        <p:guide pos="214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7.fntdata"/><Relationship Id="rId21" Type="http://schemas.openxmlformats.org/officeDocument/2006/relationships/slide" Target="slides/slide17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tags" Target="tags/tag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font" Target="fonts/font13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4.fntdata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2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font" Target="fonts/font14.fntdata"/><Relationship Id="rId20" Type="http://schemas.openxmlformats.org/officeDocument/2006/relationships/slide" Target="slides/slide16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27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60800" y="0"/>
            <a:ext cx="29527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3DD7F52D-F085-4CD2-A7CA-4AE6214067E6}" type="datetimeFigureOut">
              <a:rPr lang="zh-CN" altLang="en-US"/>
              <a:pPr>
                <a:defRPr/>
              </a:pPr>
              <a:t>2025/11/21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2925"/>
            <a:ext cx="29527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60800" y="9432925"/>
            <a:ext cx="29527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2D923B7C-81D8-47A3-B5E4-D3EA080C53F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89122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 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0800" y="0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7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5513" y="744538"/>
            <a:ext cx="4965700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1038" y="4718050"/>
            <a:ext cx="5453062" cy="446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 i="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0800" y="9432925"/>
            <a:ext cx="29527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i="0">
                <a:latin typeface="Arial" charset="0"/>
              </a:defRPr>
            </a:lvl1pPr>
          </a:lstStyle>
          <a:p>
            <a:pPr>
              <a:defRPr/>
            </a:pPr>
            <a:fld id="{89A25885-19A0-4B7A-B2E2-AF4EC845AC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86761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华文细黑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华文细黑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华文细黑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华文细黑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华文细黑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3556" name="灯片编号占位符 3"/>
          <p:cNvSpPr txBox="1">
            <a:spLocks noGrp="1"/>
          </p:cNvSpPr>
          <p:nvPr/>
        </p:nvSpPr>
        <p:spPr bwMode="auto">
          <a:xfrm>
            <a:off x="3860800" y="9432925"/>
            <a:ext cx="2952750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华文细黑" panose="0201060004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F9D0F3F-235A-4A0B-83EE-3E1B42D6A0DD}" type="slidenum">
              <a:rPr lang="zh-CN" altLang="en-US" i="0" smtClean="0">
                <a:solidFill>
                  <a:srgbClr val="000000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</a:pPr>
              <a:t>1</a:t>
            </a:fld>
            <a:endParaRPr lang="en-US" altLang="zh-CN" i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30684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2A2441-49ED-4A52-B3CC-5A1149BC51AC}" type="datetime1">
              <a:rPr lang="zh-CN" altLang="en-US" smtClean="0"/>
              <a:pPr>
                <a:defRPr/>
              </a:pPr>
              <a:t>2025/11/21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6F6130-A1B0-40F4-A496-F2F55E2F44B1}" type="datetime1">
              <a:rPr lang="zh-CN" altLang="en-US" smtClean="0"/>
              <a:pPr>
                <a:defRPr/>
              </a:pPr>
              <a:t>2025/11/21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12BED8-E368-4E8F-BE90-7083DDA10F91}" type="datetime1">
              <a:rPr lang="zh-CN" altLang="en-US" smtClean="0"/>
              <a:pPr>
                <a:defRPr/>
              </a:pPr>
              <a:t>2025/11/21</a:t>
            </a:fld>
            <a:endParaRPr lang="en-US" altLang="zh-CN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AD4AE9-050C-4B7F-B272-FA384BD23015}" type="datetime1">
              <a:rPr lang="zh-CN" altLang="en-US" smtClean="0"/>
              <a:pPr>
                <a:defRPr/>
              </a:pPr>
              <a:t>2025/11/21</a:t>
            </a:fld>
            <a:endParaRPr lang="en-US" altLang="zh-CN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F81A83-785E-4D80-94E7-591D3C3AD6FF}" type="datetime1">
              <a:rPr lang="zh-CN" altLang="en-US" smtClean="0"/>
              <a:pPr>
                <a:defRPr/>
              </a:pPr>
              <a:t>2025/11/21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57959B-1BC1-4FDE-88B2-3CAC26DD58F7}" type="datetime1">
              <a:rPr lang="zh-CN" altLang="en-US" smtClean="0"/>
              <a:pPr>
                <a:defRPr/>
              </a:pPr>
              <a:t>2025/11/21</a:t>
            </a:fld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B9BA08-BA34-4DD9-B7F1-D711E644256C}" type="datetime1">
              <a:rPr lang="zh-CN" altLang="en-US" smtClean="0"/>
              <a:pPr>
                <a:defRPr/>
              </a:pPr>
              <a:t>2025/11/21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14313"/>
            <a:ext cx="2057400" cy="58785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14313"/>
            <a:ext cx="6019800" cy="58785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F9DB9-E29A-49BF-A83A-344AADB27BAD}" type="datetime1">
              <a:rPr lang="zh-CN" altLang="en-US" smtClean="0"/>
              <a:pPr>
                <a:defRPr/>
              </a:pPr>
              <a:t>2025/11/21</a:t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668344" y="6237312"/>
            <a:ext cx="1015008" cy="476250"/>
          </a:xfrm>
        </p:spPr>
        <p:txBody>
          <a:bodyPr/>
          <a:lstStyle/>
          <a:p>
            <a:pPr>
              <a:defRPr/>
            </a:pPr>
            <a:r>
              <a:rPr lang="en-US" altLang="zh-CN" sz="1400" dirty="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pPr>
                <a:defRPr/>
              </a:pPr>
              <a:t>‹#›</a:t>
            </a:fld>
            <a:r>
              <a:rPr lang="en-US" altLang="zh-CN" sz="1400" dirty="0">
                <a:solidFill>
                  <a:srgbClr val="0D7157"/>
                </a:solidFill>
              </a:rPr>
              <a:t>- 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980728"/>
            <a:ext cx="8218488" cy="5040312"/>
          </a:xfrm>
        </p:spPr>
        <p:txBody>
          <a:bodyPr/>
          <a:lstStyle>
            <a:lvl1pPr marL="342900" indent="-342900">
              <a:lnSpc>
                <a:spcPct val="120000"/>
              </a:lnSpc>
              <a:buClr>
                <a:srgbClr val="FFC000"/>
              </a:buClr>
              <a:buFont typeface="Wingdings" pitchFamily="2" charset="2"/>
              <a:buChar char="n"/>
              <a:defRPr sz="2400">
                <a:latin typeface="+mn-ea"/>
                <a:ea typeface="+mn-ea"/>
              </a:defRPr>
            </a:lvl1pPr>
            <a:lvl2pPr marL="812800" indent="-355600">
              <a:lnSpc>
                <a:spcPct val="120000"/>
              </a:lnSpc>
              <a:buClr>
                <a:srgbClr val="FFC000"/>
              </a:buClr>
              <a:buFont typeface="Wingdings" pitchFamily="2" charset="2"/>
              <a:buChar char="p"/>
              <a:defRPr sz="2000">
                <a:solidFill>
                  <a:srgbClr val="C00000"/>
                </a:solidFill>
                <a:latin typeface="+mn-ea"/>
                <a:ea typeface="+mn-ea"/>
              </a:defRPr>
            </a:lvl2pPr>
            <a:lvl3pPr marL="1143000" indent="-228600">
              <a:lnSpc>
                <a:spcPct val="120000"/>
              </a:lnSpc>
              <a:buClr>
                <a:srgbClr val="FFC000"/>
              </a:buClr>
              <a:buFont typeface="Wingdings" pitchFamily="2" charset="2"/>
              <a:buChar char="u"/>
              <a:defRPr sz="2000">
                <a:latin typeface="+mn-ea"/>
                <a:ea typeface="+mn-ea"/>
              </a:defRPr>
            </a:lvl3pPr>
            <a:lvl4pPr>
              <a:lnSpc>
                <a:spcPct val="120000"/>
              </a:lnSpc>
              <a:defRPr sz="1600">
                <a:latin typeface="+mn-ea"/>
                <a:ea typeface="+mn-ea"/>
              </a:defRPr>
            </a:lvl4pPr>
            <a:lvl5pPr>
              <a:lnSpc>
                <a:spcPct val="120000"/>
              </a:lnSpc>
              <a:defRPr sz="16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668344" y="6237312"/>
            <a:ext cx="1015008" cy="476250"/>
          </a:xfrm>
        </p:spPr>
        <p:txBody>
          <a:bodyPr/>
          <a:lstStyle/>
          <a:p>
            <a:pPr>
              <a:defRPr/>
            </a:pPr>
            <a:r>
              <a:rPr lang="en-US" altLang="zh-CN" sz="1400" dirty="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pPr>
                <a:defRPr/>
              </a:pPr>
              <a:t>‹#›</a:t>
            </a:fld>
            <a:r>
              <a:rPr lang="en-US" altLang="zh-CN" sz="1400" dirty="0">
                <a:solidFill>
                  <a:srgbClr val="0D7157"/>
                </a:solidFill>
              </a:rPr>
              <a:t>- 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</a:t>
            </a:r>
            <a:r>
              <a:rPr lang="zh-CN" altLang="en-US" dirty="0"/>
              <a:t>此处编辑母版标题样式</a:t>
            </a: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95536" y="1052984"/>
            <a:ext cx="4104456" cy="5040312"/>
          </a:xfrm>
        </p:spPr>
        <p:txBody>
          <a:bodyPr/>
          <a:lstStyle>
            <a:lvl1pPr marL="342900" indent="-342900">
              <a:lnSpc>
                <a:spcPct val="120000"/>
              </a:lnSpc>
              <a:buClr>
                <a:srgbClr val="FFC000"/>
              </a:buClr>
              <a:buFont typeface="Wingdings" pitchFamily="2" charset="2"/>
              <a:buChar char="n"/>
              <a:defRPr sz="2400">
                <a:latin typeface="+mn-ea"/>
                <a:ea typeface="+mn-ea"/>
              </a:defRPr>
            </a:lvl1pPr>
            <a:lvl2pPr marL="812800" indent="-355600">
              <a:lnSpc>
                <a:spcPct val="120000"/>
              </a:lnSpc>
              <a:buClr>
                <a:srgbClr val="FFC000"/>
              </a:buClr>
              <a:buFont typeface="Wingdings" pitchFamily="2" charset="2"/>
              <a:buChar char="p"/>
              <a:defRPr sz="2000">
                <a:solidFill>
                  <a:srgbClr val="C00000"/>
                </a:solidFill>
                <a:latin typeface="+mn-ea"/>
                <a:ea typeface="+mn-ea"/>
              </a:defRPr>
            </a:lvl2pPr>
            <a:lvl3pPr marL="1143000" indent="-228600">
              <a:lnSpc>
                <a:spcPct val="120000"/>
              </a:lnSpc>
              <a:buClr>
                <a:srgbClr val="FFC000"/>
              </a:buClr>
              <a:buFont typeface="Wingdings" pitchFamily="2" charset="2"/>
              <a:buChar char="u"/>
              <a:defRPr sz="2000">
                <a:latin typeface="+mn-ea"/>
                <a:ea typeface="+mn-ea"/>
              </a:defRPr>
            </a:lvl3pPr>
            <a:lvl4pPr>
              <a:lnSpc>
                <a:spcPct val="120000"/>
              </a:lnSpc>
              <a:defRPr sz="1600">
                <a:latin typeface="+mn-ea"/>
                <a:ea typeface="+mn-ea"/>
              </a:defRPr>
            </a:lvl4pPr>
            <a:lvl5pPr>
              <a:lnSpc>
                <a:spcPct val="120000"/>
              </a:lnSpc>
              <a:defRPr sz="16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内容占位符 2"/>
          <p:cNvSpPr>
            <a:spLocks noGrp="1"/>
          </p:cNvSpPr>
          <p:nvPr>
            <p:ph idx="11"/>
          </p:nvPr>
        </p:nvSpPr>
        <p:spPr>
          <a:xfrm>
            <a:off x="4716016" y="1052984"/>
            <a:ext cx="4104456" cy="5040312"/>
          </a:xfrm>
        </p:spPr>
        <p:txBody>
          <a:bodyPr/>
          <a:lstStyle>
            <a:lvl1pPr marL="342900" indent="-342900">
              <a:lnSpc>
                <a:spcPct val="120000"/>
              </a:lnSpc>
              <a:buClr>
                <a:srgbClr val="FFC000"/>
              </a:buClr>
              <a:buFont typeface="Wingdings" pitchFamily="2" charset="2"/>
              <a:buChar char="n"/>
              <a:defRPr sz="2400">
                <a:latin typeface="+mn-ea"/>
                <a:ea typeface="+mn-ea"/>
              </a:defRPr>
            </a:lvl1pPr>
            <a:lvl2pPr marL="812800" indent="-355600">
              <a:lnSpc>
                <a:spcPct val="120000"/>
              </a:lnSpc>
              <a:buClr>
                <a:srgbClr val="FFC000"/>
              </a:buClr>
              <a:buFont typeface="Wingdings" pitchFamily="2" charset="2"/>
              <a:buChar char="p"/>
              <a:defRPr sz="2000">
                <a:solidFill>
                  <a:srgbClr val="C00000"/>
                </a:solidFill>
                <a:latin typeface="+mn-ea"/>
                <a:ea typeface="+mn-ea"/>
              </a:defRPr>
            </a:lvl2pPr>
            <a:lvl3pPr marL="1143000" indent="-228600">
              <a:lnSpc>
                <a:spcPct val="120000"/>
              </a:lnSpc>
              <a:buClr>
                <a:srgbClr val="FFC000"/>
              </a:buClr>
              <a:buFont typeface="Wingdings" pitchFamily="2" charset="2"/>
              <a:buChar char="u"/>
              <a:defRPr sz="2000">
                <a:latin typeface="+mn-ea"/>
                <a:ea typeface="+mn-ea"/>
              </a:defRPr>
            </a:lvl3pPr>
            <a:lvl4pPr>
              <a:lnSpc>
                <a:spcPct val="120000"/>
              </a:lnSpc>
              <a:defRPr sz="1600">
                <a:latin typeface="+mn-ea"/>
                <a:ea typeface="+mn-ea"/>
              </a:defRPr>
            </a:lvl4pPr>
            <a:lvl5pPr>
              <a:lnSpc>
                <a:spcPct val="120000"/>
              </a:lnSpc>
              <a:defRPr sz="1600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668344" y="6237312"/>
            <a:ext cx="1015008" cy="476250"/>
          </a:xfrm>
        </p:spPr>
        <p:txBody>
          <a:bodyPr/>
          <a:lstStyle/>
          <a:p>
            <a:pPr>
              <a:defRPr/>
            </a:pPr>
            <a:r>
              <a:rPr lang="en-US" altLang="zh-CN" sz="1400" dirty="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pPr>
                <a:defRPr/>
              </a:pPr>
              <a:t>‹#›</a:t>
            </a:fld>
            <a:r>
              <a:rPr lang="en-US" altLang="zh-CN" sz="1400" dirty="0">
                <a:solidFill>
                  <a:srgbClr val="0D7157"/>
                </a:solidFill>
              </a:rPr>
              <a:t>-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7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4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5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8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668344" y="6237312"/>
            <a:ext cx="1015008" cy="476250"/>
          </a:xfrm>
        </p:spPr>
        <p:txBody>
          <a:bodyPr/>
          <a:lstStyle/>
          <a:p>
            <a:pPr>
              <a:defRPr/>
            </a:pPr>
            <a:r>
              <a:rPr lang="en-US" altLang="zh-CN" sz="1400" dirty="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pPr>
                <a:defRPr/>
              </a:pPr>
              <a:t>‹#›</a:t>
            </a:fld>
            <a:r>
              <a:rPr lang="en-US" altLang="zh-CN" sz="1400" dirty="0">
                <a:solidFill>
                  <a:srgbClr val="0D7157"/>
                </a:solidFill>
              </a:rPr>
              <a:t>- 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668344" y="6237312"/>
            <a:ext cx="1015008" cy="476250"/>
          </a:xfrm>
        </p:spPr>
        <p:txBody>
          <a:bodyPr/>
          <a:lstStyle/>
          <a:p>
            <a:pPr>
              <a:defRPr/>
            </a:pPr>
            <a:r>
              <a:rPr lang="en-US" altLang="zh-CN" sz="1400" dirty="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pPr>
                <a:defRPr/>
              </a:pPr>
              <a:t>‹#›</a:t>
            </a:fld>
            <a:r>
              <a:rPr lang="en-US" altLang="zh-CN" sz="1400" dirty="0">
                <a:solidFill>
                  <a:srgbClr val="0D7157"/>
                </a:solidFill>
              </a:rPr>
              <a:t>- 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668344" y="6237312"/>
            <a:ext cx="1015008" cy="476250"/>
          </a:xfrm>
        </p:spPr>
        <p:txBody>
          <a:bodyPr/>
          <a:lstStyle/>
          <a:p>
            <a:pPr>
              <a:defRPr/>
            </a:pPr>
            <a:r>
              <a:rPr lang="en-US" altLang="zh-CN" sz="1400" dirty="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pPr>
                <a:defRPr/>
              </a:pPr>
              <a:t>‹#›</a:t>
            </a:fld>
            <a:r>
              <a:rPr lang="en-US" altLang="zh-CN" sz="1400" dirty="0">
                <a:solidFill>
                  <a:srgbClr val="0D7157"/>
                </a:solidFill>
              </a:rPr>
              <a:t>-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-99392"/>
            <a:ext cx="8001000" cy="121602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539552" y="980728"/>
            <a:ext cx="8001000" cy="4267200"/>
          </a:xfrm>
        </p:spPr>
        <p:txBody>
          <a:bodyPr/>
          <a:lstStyle/>
          <a:p>
            <a:pPr lvl="0"/>
            <a:endParaRPr lang="zh-CN" altLang="en-US" noProof="0"/>
          </a:p>
        </p:txBody>
      </p:sp>
    </p:spTree>
    <p:extLst>
      <p:ext uri="{BB962C8B-B14F-4D97-AF65-F5344CB8AC3E}">
        <p14:creationId xmlns:p14="http://schemas.microsoft.com/office/powerpoint/2010/main" val="40835175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574675" y="-91281"/>
            <a:ext cx="8001000" cy="121602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566738" y="1752600"/>
            <a:ext cx="3924300" cy="20574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3438" y="17526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66738" y="39624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3438" y="39624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xfrm>
            <a:off x="3429000" y="6248400"/>
            <a:ext cx="19812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3136285-3C6A-4A93-8657-E500CB968B1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140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pPr>
                <a:defRPr/>
              </a:pPr>
              <a:t>‹#›</a:t>
            </a:fld>
            <a:r>
              <a:rPr lang="en-US" altLang="zh-CN" sz="1400">
                <a:solidFill>
                  <a:srgbClr val="0D7157"/>
                </a:solidFill>
              </a:rPr>
              <a:t>- </a:t>
            </a:r>
            <a:endParaRPr lang="en-US" altLang="zh-CN" sz="1400" dirty="0">
              <a:solidFill>
                <a:srgbClr val="0D7157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9D02-426E-46C9-9EE9-0DE1EF8B2838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140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pPr>
                <a:defRPr/>
              </a:pPr>
              <a:t>‹#›</a:t>
            </a:fld>
            <a:r>
              <a:rPr lang="en-US" altLang="zh-CN" sz="1400">
                <a:solidFill>
                  <a:srgbClr val="0D7157"/>
                </a:solidFill>
              </a:rPr>
              <a:t>- </a:t>
            </a:r>
            <a:endParaRPr lang="en-US" altLang="zh-CN" sz="1400" dirty="0">
              <a:solidFill>
                <a:srgbClr val="0D7157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140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pPr>
                <a:defRPr/>
              </a:pPr>
              <a:t>‹#›</a:t>
            </a:fld>
            <a:r>
              <a:rPr lang="en-US" altLang="zh-CN" sz="1400">
                <a:solidFill>
                  <a:srgbClr val="0D7157"/>
                </a:solidFill>
              </a:rPr>
              <a:t>- </a:t>
            </a:r>
            <a:endParaRPr lang="en-US" altLang="zh-CN" sz="1400" dirty="0">
              <a:solidFill>
                <a:srgbClr val="0D7157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A6B6-10E5-4810-BC9F-DA72D8452E73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140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pPr>
                <a:defRPr/>
              </a:pPr>
              <a:t>‹#›</a:t>
            </a:fld>
            <a:r>
              <a:rPr lang="en-US" altLang="zh-CN" sz="1400">
                <a:solidFill>
                  <a:srgbClr val="0D7157"/>
                </a:solidFill>
              </a:rPr>
              <a:t>- </a:t>
            </a:r>
            <a:endParaRPr lang="en-US" altLang="zh-CN" sz="1400" dirty="0">
              <a:solidFill>
                <a:srgbClr val="0D7157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D072-EF12-4AA2-BD71-ABC68B06D0E2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140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pPr>
                <a:defRPr/>
              </a:pPr>
              <a:t>‹#›</a:t>
            </a:fld>
            <a:r>
              <a:rPr lang="en-US" altLang="zh-CN" sz="1400">
                <a:solidFill>
                  <a:srgbClr val="0D7157"/>
                </a:solidFill>
              </a:rPr>
              <a:t>- </a:t>
            </a:r>
            <a:endParaRPr lang="en-US" altLang="zh-CN" sz="1400" dirty="0">
              <a:solidFill>
                <a:srgbClr val="0D7157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F60-6CC3-4B74-A60D-3486985E4346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140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pPr>
                <a:defRPr/>
              </a:pPr>
              <a:t>‹#›</a:t>
            </a:fld>
            <a:r>
              <a:rPr lang="en-US" altLang="zh-CN" sz="1400">
                <a:solidFill>
                  <a:srgbClr val="0D7157"/>
                </a:solidFill>
              </a:rPr>
              <a:t>- </a:t>
            </a:r>
            <a:endParaRPr lang="en-US" altLang="zh-CN" sz="1400" dirty="0">
              <a:solidFill>
                <a:srgbClr val="0D7157"/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4818-984F-4759-BF72-A33BDC1963BD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140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pPr>
                <a:defRPr/>
              </a:pPr>
              <a:t>‹#›</a:t>
            </a:fld>
            <a:r>
              <a:rPr lang="en-US" altLang="zh-CN" sz="1400">
                <a:solidFill>
                  <a:srgbClr val="0D7157"/>
                </a:solidFill>
              </a:rPr>
              <a:t>- </a:t>
            </a:r>
            <a:endParaRPr lang="en-US" altLang="zh-CN" sz="1400" dirty="0">
              <a:solidFill>
                <a:srgbClr val="0D7157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7E191-5F94-4FC1-B823-BD7CABF7FA06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140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pPr>
                <a:defRPr/>
              </a:pPr>
              <a:t>‹#›</a:t>
            </a:fld>
            <a:r>
              <a:rPr lang="en-US" altLang="zh-CN" sz="1400">
                <a:solidFill>
                  <a:srgbClr val="0D7157"/>
                </a:solidFill>
              </a:rPr>
              <a:t>- </a:t>
            </a:r>
            <a:endParaRPr lang="en-US" altLang="zh-CN" sz="1400" dirty="0">
              <a:solidFill>
                <a:srgbClr val="0D7157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D55-EFBE-4F9B-8A5F-09D42CA22A9B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140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pPr>
                <a:defRPr/>
              </a:pPr>
              <a:t>‹#›</a:t>
            </a:fld>
            <a:r>
              <a:rPr lang="en-US" altLang="zh-CN" sz="1400">
                <a:solidFill>
                  <a:srgbClr val="0D7157"/>
                </a:solidFill>
              </a:rPr>
              <a:t>- </a:t>
            </a:r>
            <a:endParaRPr lang="en-US" altLang="zh-CN" sz="1400" dirty="0">
              <a:solidFill>
                <a:srgbClr val="0D7157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CF5A-EA79-452C-A52C-1A2668C2E7DF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140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pPr>
                <a:defRPr/>
              </a:pPr>
              <a:t>‹#›</a:t>
            </a:fld>
            <a:r>
              <a:rPr lang="en-US" altLang="zh-CN" sz="1400">
                <a:solidFill>
                  <a:srgbClr val="0D7157"/>
                </a:solidFill>
              </a:rPr>
              <a:t>- </a:t>
            </a:r>
            <a:endParaRPr lang="en-US" altLang="zh-CN" sz="1400" dirty="0">
              <a:solidFill>
                <a:srgbClr val="0D7157"/>
              </a:solidFill>
            </a:endParaRPr>
          </a:p>
        </p:txBody>
      </p:sp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C4C28-BD4B-4892-9A2D-6E19BD753A9A}" type="datetime1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140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pPr>
                <a:defRPr/>
              </a:pPr>
              <a:t>‹#›</a:t>
            </a:fld>
            <a:r>
              <a:rPr lang="en-US" altLang="zh-CN" sz="1400">
                <a:solidFill>
                  <a:srgbClr val="0D7157"/>
                </a:solidFill>
              </a:rPr>
              <a:t>- </a:t>
            </a:r>
            <a:endParaRPr lang="en-US" altLang="zh-CN" sz="1400" dirty="0">
              <a:solidFill>
                <a:srgbClr val="0D7157"/>
              </a:solidFill>
            </a:endParaRPr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12A2441-49ED-4A52-B3CC-5A1149BC51AC}" type="datetime1">
              <a:rPr lang="zh-CN" altLang="en-US" smtClean="0">
                <a:solidFill>
                  <a:srgbClr val="073E87"/>
                </a:solidFill>
              </a:rPr>
              <a:pPr>
                <a:defRPr/>
              </a:pPr>
              <a:t>2025/11/21</a:t>
            </a:fld>
            <a:endParaRPr lang="en-US" altLang="zh-CN">
              <a:solidFill>
                <a:srgbClr val="073E8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73E8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srgbClr val="073E87"/>
                </a:solidFill>
              </a:rPr>
              <a:pPr/>
              <a:t>‹#›</a:t>
            </a:fld>
            <a:endParaRPr lang="en-US">
              <a:solidFill>
                <a:srgbClr val="073E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140989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96F6130-A1B0-40F4-A496-F2F55E2F44B1}" type="datetime1">
              <a:rPr lang="zh-CN" altLang="en-US" smtClean="0">
                <a:solidFill>
                  <a:srgbClr val="073E87"/>
                </a:solidFill>
              </a:rPr>
              <a:pPr>
                <a:defRPr/>
              </a:pPr>
              <a:t>2025/11/21</a:t>
            </a:fld>
            <a:endParaRPr lang="en-US" altLang="zh-CN">
              <a:solidFill>
                <a:srgbClr val="073E8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73E8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srgbClr val="073E87"/>
                </a:solidFill>
              </a:rPr>
              <a:pPr/>
              <a:t>‹#›</a:t>
            </a:fld>
            <a:endParaRPr lang="en-US">
              <a:solidFill>
                <a:srgbClr val="073E87"/>
              </a:solidFill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5759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F97EB9-7652-462B-90E9-768B5D23F71B}" type="datetime1">
              <a:rPr lang="zh-CN" altLang="en-US" smtClean="0">
                <a:solidFill>
                  <a:srgbClr val="073E87"/>
                </a:solidFill>
              </a:rPr>
              <a:pPr>
                <a:defRPr/>
              </a:pPr>
              <a:t>2025/11/21</a:t>
            </a:fld>
            <a:endParaRPr lang="en-US" altLang="zh-CN">
              <a:solidFill>
                <a:srgbClr val="073E8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73E8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srgbClr val="073E87"/>
                </a:solidFill>
              </a:rPr>
              <a:pPr/>
              <a:t>‹#›</a:t>
            </a:fld>
            <a:endParaRPr lang="en-US">
              <a:solidFill>
                <a:srgbClr val="073E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55931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F97EB9-7652-462B-90E9-768B5D23F71B}" type="datetime1">
              <a:rPr lang="zh-CN" altLang="en-US" smtClean="0">
                <a:solidFill>
                  <a:srgbClr val="073E87"/>
                </a:solidFill>
              </a:rPr>
              <a:pPr>
                <a:defRPr/>
              </a:pPr>
              <a:t>2025/11/21</a:t>
            </a:fld>
            <a:endParaRPr lang="en-US" altLang="zh-CN">
              <a:solidFill>
                <a:srgbClr val="073E87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73E87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srgbClr val="073E87"/>
                </a:solidFill>
              </a:rPr>
              <a:pPr/>
              <a:t>‹#›</a:t>
            </a:fld>
            <a:endParaRPr lang="en-US">
              <a:solidFill>
                <a:srgbClr val="073E87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5881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1F97EB9-7652-462B-90E9-768B5D23F71B}" type="datetime1">
              <a:rPr lang="zh-CN" altLang="en-US" smtClean="0">
                <a:solidFill>
                  <a:srgbClr val="073E87"/>
                </a:solidFill>
              </a:rPr>
              <a:pPr>
                <a:defRPr/>
              </a:pPr>
              <a:t>2025/11/21</a:t>
            </a:fld>
            <a:endParaRPr lang="en-US" altLang="zh-CN">
              <a:solidFill>
                <a:srgbClr val="073E87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73E87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srgbClr val="073E87"/>
                </a:solidFill>
              </a:rPr>
              <a:pPr/>
              <a:t>‹#›</a:t>
            </a:fld>
            <a:endParaRPr lang="en-US">
              <a:solidFill>
                <a:srgbClr val="073E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2623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E12BED8-E368-4E8F-BE90-7083DDA10F91}" type="datetime1">
              <a:rPr lang="zh-CN" altLang="en-US" smtClean="0">
                <a:solidFill>
                  <a:srgbClr val="073E87"/>
                </a:solidFill>
              </a:rPr>
              <a:pPr>
                <a:defRPr/>
              </a:pPr>
              <a:t>2025/11/21</a:t>
            </a:fld>
            <a:endParaRPr lang="en-US" altLang="zh-CN">
              <a:solidFill>
                <a:srgbClr val="073E87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73E87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srgbClr val="073E87"/>
                </a:solidFill>
              </a:rPr>
              <a:pPr/>
              <a:t>‹#›</a:t>
            </a:fld>
            <a:endParaRPr lang="en-US">
              <a:solidFill>
                <a:srgbClr val="073E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056664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3AD4AE9-050C-4B7F-B272-FA384BD23015}" type="datetime1">
              <a:rPr lang="zh-CN" altLang="en-US" smtClean="0">
                <a:solidFill>
                  <a:srgbClr val="073E87"/>
                </a:solidFill>
              </a:rPr>
              <a:pPr>
                <a:defRPr/>
              </a:pPr>
              <a:t>2025/11/21</a:t>
            </a:fld>
            <a:endParaRPr lang="en-US" altLang="zh-CN">
              <a:solidFill>
                <a:srgbClr val="073E87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73E87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srgbClr val="073E87"/>
                </a:solidFill>
              </a:rPr>
              <a:pPr/>
              <a:t>‹#›</a:t>
            </a:fld>
            <a:endParaRPr lang="en-US">
              <a:solidFill>
                <a:srgbClr val="073E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94054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7F81A83-785E-4D80-94E7-591D3C3AD6FF}" type="datetime1">
              <a:rPr lang="zh-CN" altLang="en-US" smtClean="0">
                <a:solidFill>
                  <a:srgbClr val="073E87"/>
                </a:solidFill>
              </a:rPr>
              <a:pPr>
                <a:defRPr/>
              </a:pPr>
              <a:t>2025/11/21</a:t>
            </a:fld>
            <a:endParaRPr lang="en-US" altLang="zh-CN">
              <a:solidFill>
                <a:srgbClr val="073E87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73E87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srgbClr val="073E87"/>
                </a:solidFill>
              </a:rPr>
              <a:pPr/>
              <a:t>‹#›</a:t>
            </a:fld>
            <a:endParaRPr lang="en-US">
              <a:solidFill>
                <a:srgbClr val="073E87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9161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D57959B-1BC1-4FDE-88B2-3CAC26DD58F7}" type="datetime1">
              <a:rPr lang="zh-CN" altLang="en-US" smtClean="0">
                <a:solidFill>
                  <a:srgbClr val="073E87"/>
                </a:solidFill>
              </a:rPr>
              <a:pPr>
                <a:defRPr/>
              </a:pPr>
              <a:t>2025/11/21</a:t>
            </a:fld>
            <a:endParaRPr lang="en-US" altLang="zh-CN">
              <a:solidFill>
                <a:srgbClr val="073E87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73E87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srgbClr val="073E87"/>
                </a:solidFill>
              </a:rPr>
              <a:pPr/>
              <a:t>‹#›</a:t>
            </a:fld>
            <a:endParaRPr lang="en-US">
              <a:solidFill>
                <a:srgbClr val="073E87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49638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5B9BA08-BA34-4DD9-B7F1-D711E644256C}" type="datetime1">
              <a:rPr lang="zh-CN" altLang="en-US" smtClean="0">
                <a:solidFill>
                  <a:srgbClr val="073E87"/>
                </a:solidFill>
              </a:rPr>
              <a:pPr>
                <a:defRPr/>
              </a:pPr>
              <a:t>2025/11/21</a:t>
            </a:fld>
            <a:endParaRPr lang="en-US" altLang="zh-CN">
              <a:solidFill>
                <a:srgbClr val="073E8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73E8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srgbClr val="073E87"/>
                </a:solidFill>
              </a:rPr>
              <a:pPr/>
              <a:t>‹#›</a:t>
            </a:fld>
            <a:endParaRPr lang="en-US">
              <a:solidFill>
                <a:srgbClr val="073E8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7172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5A3F9DB9-E29A-49BF-A83A-344AADB27BAD}" type="datetime1">
              <a:rPr lang="zh-CN" altLang="en-US" smtClean="0">
                <a:solidFill>
                  <a:srgbClr val="073E87"/>
                </a:solidFill>
              </a:rPr>
              <a:pPr>
                <a:defRPr/>
              </a:pPr>
              <a:t>2025/11/21</a:t>
            </a:fld>
            <a:endParaRPr lang="en-US" altLang="zh-CN">
              <a:solidFill>
                <a:srgbClr val="073E8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>
              <a:solidFill>
                <a:srgbClr val="073E8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>
                <a:solidFill>
                  <a:srgbClr val="073E87"/>
                </a:solidFill>
              </a:rPr>
              <a:pPr/>
              <a:t>‹#›</a:t>
            </a:fld>
            <a:endParaRPr lang="en-US">
              <a:solidFill>
                <a:srgbClr val="073E87"/>
              </a:solidFill>
            </a:endParaRPr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584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0" cstate="print"/>
          <a:srcRect t="23912" b="39018"/>
          <a:stretch>
            <a:fillRect/>
          </a:stretch>
        </p:blipFill>
        <p:spPr bwMode="auto">
          <a:xfrm>
            <a:off x="0" y="2060575"/>
            <a:ext cx="9144000" cy="223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0"/>
          <p:cNvSpPr>
            <a:spLocks noChangeArrowheads="1"/>
          </p:cNvSpPr>
          <p:nvPr userDrawn="1"/>
        </p:nvSpPr>
        <p:spPr bwMode="auto">
          <a:xfrm>
            <a:off x="0" y="1989138"/>
            <a:ext cx="9144000" cy="698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en-US" i="0">
              <a:ea typeface="宋体" pitchFamily="2" charset="-122"/>
            </a:endParaRPr>
          </a:p>
        </p:txBody>
      </p:sp>
      <p:sp>
        <p:nvSpPr>
          <p:cNvPr id="1028" name="Rectangle 11"/>
          <p:cNvSpPr>
            <a:spLocks noChangeArrowheads="1"/>
          </p:cNvSpPr>
          <p:nvPr userDrawn="1"/>
        </p:nvSpPr>
        <p:spPr bwMode="auto">
          <a:xfrm rot="10800000">
            <a:off x="0" y="4292600"/>
            <a:ext cx="9144000" cy="698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en-US" i="0">
              <a:ea typeface="宋体" pitchFamily="2" charset="-122"/>
            </a:endParaRPr>
          </a:p>
        </p:txBody>
      </p:sp>
      <p:sp>
        <p:nvSpPr>
          <p:cNvPr id="1029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14313"/>
            <a:ext cx="8229600" cy="58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052513"/>
            <a:ext cx="8218488" cy="5040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9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200" i="0">
                <a:solidFill>
                  <a:srgbClr val="898989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fld id="{B1F97EB9-7652-462B-90E9-768B5D23F71B}" type="datetime1">
              <a:rPr lang="zh-CN" altLang="en-US" smtClean="0"/>
              <a:pPr>
                <a:defRPr/>
              </a:pPr>
              <a:t>2025/11/21</a:t>
            </a:fld>
            <a:endParaRPr lang="en-US" altLang="zh-CN"/>
          </a:p>
        </p:txBody>
      </p:sp>
      <p:sp>
        <p:nvSpPr>
          <p:cNvPr id="2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i="0">
                <a:solidFill>
                  <a:srgbClr val="898989"/>
                </a:solidFill>
                <a:latin typeface="微软雅黑" pitchFamily="34" charset="-122"/>
                <a:ea typeface="微软雅黑" pitchFamily="34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黑体" pitchFamily="2" charset="-122"/>
          <a:ea typeface="宋体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黑体" pitchFamily="2" charset="-122"/>
          <a:ea typeface="宋体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黑体" pitchFamily="2" charset="-122"/>
          <a:ea typeface="宋体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黑体" pitchFamily="2" charset="-122"/>
          <a:ea typeface="宋体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黑体" pitchFamily="2" charset="-122"/>
          <a:ea typeface="宋体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黑体" pitchFamily="2" charset="-122"/>
          <a:ea typeface="宋体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黑体" pitchFamily="2" charset="-122"/>
          <a:ea typeface="宋体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黑体" pitchFamily="2" charset="-122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0"/>
            <a:ext cx="9144000" cy="836613"/>
            <a:chOff x="0" y="0"/>
            <a:chExt cx="9144000" cy="836613"/>
          </a:xfrm>
        </p:grpSpPr>
        <p:pic>
          <p:nvPicPr>
            <p:cNvPr id="2050" name="Picture 2"/>
            <p:cNvPicPr>
              <a:picLocks noChangeAspect="1" noChangeArrowheads="1"/>
            </p:cNvPicPr>
            <p:nvPr userDrawn="1"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0" y="0"/>
              <a:ext cx="9144000" cy="8366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glow rad="127000">
                <a:schemeClr val="bg1">
                  <a:alpha val="38000"/>
                </a:schemeClr>
              </a:glow>
            </a:effectLst>
          </p:spPr>
        </p:pic>
        <p:pic>
          <p:nvPicPr>
            <p:cNvPr id="7" name="Picture 8"/>
            <p:cNvPicPr>
              <a:picLocks noChangeAspect="1" noChangeArrowheads="1"/>
            </p:cNvPicPr>
            <p:nvPr userDrawn="1"/>
          </p:nvPicPr>
          <p:blipFill>
            <a:blip r:embed="rId11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9584" y="504510"/>
              <a:ext cx="1144067" cy="2439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2051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14313"/>
            <a:ext cx="8229600" cy="58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2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052513"/>
            <a:ext cx="8218488" cy="5040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n"/>
            </a:pPr>
            <a:r>
              <a:rPr lang="zh-CN" altLang="en-US" dirty="0"/>
              <a:t>单击此处编辑母版文本样式</a:t>
            </a:r>
          </a:p>
          <a:p>
            <a:pPr marL="812800" lvl="1" indent="-355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p"/>
            </a:pPr>
            <a:r>
              <a:rPr lang="zh-CN" altLang="en-US" dirty="0"/>
              <a:t>第二级</a:t>
            </a:r>
          </a:p>
          <a:p>
            <a:pPr marL="1143000" lvl="2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C000"/>
              </a:buClr>
              <a:buFont typeface="Wingdings" pitchFamily="2" charset="2"/>
              <a:buChar char="u"/>
            </a:pPr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053" name="Rectangle 14"/>
          <p:cNvSpPr>
            <a:spLocks noChangeArrowheads="1"/>
          </p:cNvSpPr>
          <p:nvPr userDrawn="1"/>
        </p:nvSpPr>
        <p:spPr bwMode="auto">
          <a:xfrm>
            <a:off x="0" y="800100"/>
            <a:ext cx="9144000" cy="69850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l"/>
            <a:endParaRPr lang="zh-CN" altLang="en-US" i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8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7668344" y="6237312"/>
            <a:ext cx="1015008" cy="47625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n-US" altLang="zh-CN" sz="1400" dirty="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pPr>
                <a:defRPr/>
              </a:pPr>
              <a:t>‹#›</a:t>
            </a:fld>
            <a:r>
              <a:rPr lang="en-US" altLang="zh-CN" sz="1400" dirty="0">
                <a:solidFill>
                  <a:srgbClr val="0D7157"/>
                </a:solidFill>
              </a:rPr>
              <a:t>-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667" r:id="rId2"/>
    <p:sldLayoutId id="2147483669" r:id="rId3"/>
    <p:sldLayoutId id="2147483671" r:id="rId4"/>
    <p:sldLayoutId id="2147483672" r:id="rId5"/>
    <p:sldLayoutId id="2147483677" r:id="rId6"/>
    <p:sldLayoutId id="2147483706" r:id="rId7"/>
    <p:sldLayoutId id="2147483714" r:id="rId8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baseline="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微软雅黑" pitchFamily="34" charset="-122"/>
          <a:ea typeface="微软雅黑" pitchFamily="3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lang="zh-CN" altLang="en-US" sz="2400" dirty="0" smtClean="0">
          <a:solidFill>
            <a:schemeClr val="tx1"/>
          </a:solidFill>
          <a:latin typeface="+mn-ea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lang="zh-CN" altLang="en-US" sz="2000" dirty="0" smtClean="0">
          <a:solidFill>
            <a:srgbClr val="C00000"/>
          </a:solidFill>
          <a:latin typeface="+mn-ea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lang="zh-CN" altLang="en-US" sz="2000" dirty="0" smtClean="0">
          <a:solidFill>
            <a:schemeClr val="tx1"/>
          </a:solidFill>
          <a:latin typeface="+mn-ea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6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1F97EB9-7652-462B-90E9-768B5D23F71B}" type="datetime1">
              <a:rPr lang="zh-CN" altLang="en-US" smtClean="0"/>
              <a:pPr>
                <a:defRPr/>
              </a:pPr>
              <a:t>2025/11/21</a:t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prstClr val="black"/>
                </a:solidFill>
              </a:endParaRPr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B1F97EB9-7652-462B-90E9-768B5D23F71B}" type="datetime1">
              <a:rPr lang="zh-CN" altLang="en-US" smtClean="0">
                <a:solidFill>
                  <a:srgbClr val="073E87"/>
                </a:solidFill>
              </a:rPr>
              <a:pPr>
                <a:defRPr/>
              </a:pPr>
              <a:t>2025/11/21</a:t>
            </a:fld>
            <a:endParaRPr lang="en-US" altLang="zh-CN">
              <a:solidFill>
                <a:srgbClr val="073E87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altLang="zh-CN">
              <a:solidFill>
                <a:srgbClr val="073E87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687D7A59-36E2-48B9-B146-C1E59501F63F}" type="slidenum">
              <a:rPr lang="en-US" smtClean="0">
                <a:solidFill>
                  <a:srgbClr val="073E87"/>
                </a:solidFill>
              </a:rPr>
              <a:pPr/>
              <a:t>‹#›</a:t>
            </a:fld>
            <a:endParaRPr lang="en-US">
              <a:solidFill>
                <a:srgbClr val="073E87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32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9"/>
          <p:cNvSpPr>
            <a:spLocks noChangeArrowheads="1"/>
          </p:cNvSpPr>
          <p:nvPr/>
        </p:nvSpPr>
        <p:spPr bwMode="black">
          <a:xfrm>
            <a:off x="107504" y="1916832"/>
            <a:ext cx="9036496" cy="20882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tIns="540000" anchor="ctr"/>
          <a:lstStyle>
            <a:lvl1pPr indent="1778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黑体" panose="02010609060101010101" pitchFamily="49" charset="-122"/>
                <a:ea typeface="宋体" panose="02010600030101010101" pitchFamily="2" charset="-122"/>
              </a:defRPr>
            </a:lvl9pPr>
          </a:lstStyle>
          <a:p>
            <a:pPr marL="720000" algn="l">
              <a:spcBef>
                <a:spcPct val="0"/>
              </a:spcBef>
              <a:buFontTx/>
              <a:buNone/>
            </a:pPr>
            <a:endParaRPr lang="en-US" altLang="zh-CN" sz="4000" b="1" i="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marL="720000" algn="l">
              <a:spcBef>
                <a:spcPct val="0"/>
              </a:spcBef>
              <a:buFontTx/>
              <a:buNone/>
            </a:pPr>
            <a:r>
              <a:rPr lang="en-US" altLang="zh-CN" sz="4000" b="1" i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《</a:t>
            </a:r>
            <a:r>
              <a:rPr lang="zh-CN" altLang="en-US" sz="4000" b="1" i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计算机系统基础实验</a:t>
            </a:r>
            <a:r>
              <a:rPr lang="en-US" altLang="zh-CN" sz="4000" b="1" i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》</a:t>
            </a:r>
          </a:p>
          <a:p>
            <a:pPr algn="l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zh-CN" sz="2000" b="1" i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          Introduction to Computer</a:t>
            </a:r>
            <a:r>
              <a:rPr lang="en-US" altLang="zh-CN" sz="2000" dirty="0">
                <a:solidFill>
                  <a:srgbClr val="080808"/>
                </a:solidFill>
                <a:latin typeface="Verdana" panose="020B0604030504040204" pitchFamily="34" charset="0"/>
                <a:ea typeface="华文细黑" panose="02010600040101010101" pitchFamily="2" charset="-122"/>
              </a:rPr>
              <a:t> </a:t>
            </a:r>
            <a:r>
              <a:rPr lang="en-US" altLang="zh-CN" sz="2000" b="1" i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Systems</a:t>
            </a:r>
            <a:endParaRPr lang="en-US" altLang="zh-CN" sz="4000" b="1" i="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l">
              <a:spcBef>
                <a:spcPct val="0"/>
              </a:spcBef>
              <a:buFontTx/>
              <a:buNone/>
            </a:pPr>
            <a:r>
              <a:rPr lang="en-US" altLang="zh-CN" sz="4000" b="1" i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</a:t>
            </a:r>
            <a:endParaRPr lang="en-US" altLang="zh-CN" sz="3200" b="1" i="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4000" b="1" i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                  </a:t>
            </a:r>
            <a:endParaRPr lang="zh-CN" altLang="en-US" sz="4000" i="0" dirty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22535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2538" y="4365625"/>
            <a:ext cx="2811462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83568" y="4797152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800" b="1" dirty="0">
                <a:solidFill>
                  <a:prstClr val="black"/>
                </a:solidFill>
              </a:rPr>
              <a:t>Lab2   </a:t>
            </a:r>
            <a:r>
              <a:rPr lang="zh-CN" altLang="en-US" sz="2800" b="1" dirty="0">
                <a:solidFill>
                  <a:prstClr val="black"/>
                </a:solidFill>
              </a:rPr>
              <a:t>二进制炸弹</a:t>
            </a:r>
          </a:p>
        </p:txBody>
      </p:sp>
    </p:spTree>
    <p:extLst>
      <p:ext uri="{BB962C8B-B14F-4D97-AF65-F5344CB8AC3E}">
        <p14:creationId xmlns:p14="http://schemas.microsoft.com/office/powerpoint/2010/main" val="561014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321728"/>
            <a:ext cx="8352928" cy="5040312"/>
          </a:xfrm>
        </p:spPr>
        <p:txBody>
          <a:bodyPr>
            <a:normAutofit/>
          </a:bodyPr>
          <a:lstStyle/>
          <a:p>
            <a:pPr marL="274320" lvl="1" algn="just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400" dirty="0"/>
              <a:t> 实验环境： </a:t>
            </a:r>
            <a:r>
              <a:rPr lang="en-US" altLang="zh-CN" sz="2400" dirty="0" err="1"/>
              <a:t>linux</a:t>
            </a:r>
            <a:r>
              <a:rPr lang="en-US" altLang="zh-CN" sz="2400" dirty="0"/>
              <a:t> 32</a:t>
            </a:r>
            <a:r>
              <a:rPr lang="zh-CN" altLang="en-US" sz="2400" dirty="0"/>
              <a:t>位</a:t>
            </a:r>
            <a:endParaRPr lang="en-US" altLang="zh-CN" sz="2400" dirty="0"/>
          </a:p>
          <a:p>
            <a:pPr marL="274320" lvl="1" algn="just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400" dirty="0"/>
              <a:t>实验语言：</a:t>
            </a:r>
            <a:r>
              <a:rPr lang="en-US" altLang="zh-CN" sz="2400" dirty="0"/>
              <a:t>AT&amp;T</a:t>
            </a:r>
            <a:r>
              <a:rPr lang="zh-CN" altLang="en-US" sz="2400" dirty="0"/>
              <a:t>汇编语言</a:t>
            </a:r>
            <a:endParaRPr lang="en-US" altLang="zh-CN" sz="2400" dirty="0"/>
          </a:p>
          <a:p>
            <a:pPr marL="274320" lvl="1" algn="just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400" dirty="0"/>
              <a:t>实验技能：</a:t>
            </a:r>
            <a:r>
              <a:rPr lang="en-US" altLang="zh-CN" sz="2400" dirty="0" err="1"/>
              <a:t>linux</a:t>
            </a:r>
            <a:r>
              <a:rPr lang="zh-CN" altLang="en-US" sz="2400" dirty="0"/>
              <a:t>常用命令；</a:t>
            </a:r>
            <a:r>
              <a:rPr lang="en-US" altLang="zh-CN" sz="2400" dirty="0" err="1"/>
              <a:t>gdb</a:t>
            </a:r>
            <a:r>
              <a:rPr lang="zh-CN" altLang="en-US" sz="2400" dirty="0"/>
              <a:t>调试器和</a:t>
            </a:r>
            <a:r>
              <a:rPr lang="en-US" altLang="zh-CN" sz="2400" dirty="0" err="1"/>
              <a:t>objdump</a:t>
            </a:r>
            <a:r>
              <a:rPr lang="zh-CN" altLang="en-US" sz="2400" dirty="0"/>
              <a:t>工具</a:t>
            </a:r>
            <a:endParaRPr lang="en-US" altLang="zh-CN" sz="2400" dirty="0"/>
          </a:p>
          <a:p>
            <a:pPr algn="just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dirty="0"/>
              <a:t>实验原理：实验提供</a:t>
            </a:r>
            <a:r>
              <a:rPr lang="zh-CN" altLang="zh-CN" dirty="0"/>
              <a:t>一个</a:t>
            </a:r>
            <a:r>
              <a:rPr lang="zh-CN" altLang="en-US" dirty="0"/>
              <a:t>名为“</a:t>
            </a:r>
            <a:r>
              <a:rPr lang="en-US" altLang="zh-CN" dirty="0"/>
              <a:t>bomb</a:t>
            </a:r>
            <a:r>
              <a:rPr lang="zh-CN" altLang="en-US" dirty="0"/>
              <a:t>”的</a:t>
            </a:r>
            <a:r>
              <a:rPr lang="zh-CN" altLang="zh-CN" dirty="0"/>
              <a:t>可执行程序，</a:t>
            </a:r>
            <a:r>
              <a:rPr lang="zh-CN" altLang="en-US" dirty="0"/>
              <a:t>期中</a:t>
            </a:r>
            <a:r>
              <a:rPr lang="zh-CN" altLang="zh-CN" dirty="0"/>
              <a:t>包含</a:t>
            </a:r>
            <a:r>
              <a:rPr lang="en-US" altLang="zh-CN" dirty="0"/>
              <a:t>6</a:t>
            </a:r>
            <a:r>
              <a:rPr lang="zh-CN" altLang="zh-CN" dirty="0"/>
              <a:t>个</a:t>
            </a:r>
            <a:r>
              <a:rPr lang="zh-CN" altLang="en-US" dirty="0"/>
              <a:t>阶段</a:t>
            </a:r>
            <a:r>
              <a:rPr lang="en-US" altLang="zh-CN" dirty="0"/>
              <a:t>(phase)</a:t>
            </a:r>
            <a:r>
              <a:rPr lang="zh-CN" altLang="en-US" dirty="0"/>
              <a:t>和一个秘密阶段</a:t>
            </a:r>
            <a:r>
              <a:rPr lang="en-US" altLang="zh-CN" dirty="0"/>
              <a:t>(</a:t>
            </a:r>
            <a:r>
              <a:rPr lang="en-US" altLang="zh-CN" dirty="0" err="1"/>
              <a:t>secret_phase</a:t>
            </a:r>
            <a:r>
              <a:rPr lang="en-US" altLang="zh-CN" dirty="0"/>
              <a:t>)</a:t>
            </a:r>
            <a:r>
              <a:rPr lang="zh-CN" altLang="zh-CN" dirty="0"/>
              <a:t>。</a:t>
            </a:r>
            <a:r>
              <a:rPr lang="zh-CN" altLang="en-US" dirty="0"/>
              <a:t>每个阶段相当于一个炸弹，只有</a:t>
            </a:r>
            <a:r>
              <a:rPr lang="zh-CN" altLang="zh-CN" dirty="0"/>
              <a:t>输入</a:t>
            </a:r>
            <a:r>
              <a:rPr lang="zh-CN" altLang="en-US" dirty="0"/>
              <a:t>正确</a:t>
            </a:r>
            <a:r>
              <a:rPr lang="zh-CN" altLang="zh-CN" dirty="0"/>
              <a:t>字符串</a:t>
            </a:r>
            <a:r>
              <a:rPr lang="zh-CN" altLang="en-US" dirty="0"/>
              <a:t>，</a:t>
            </a:r>
            <a:r>
              <a:rPr lang="zh-CN" altLang="zh-CN" dirty="0"/>
              <a:t>该</a:t>
            </a:r>
            <a:r>
              <a:rPr lang="zh-CN" altLang="en-US" dirty="0"/>
              <a:t>阶段</a:t>
            </a:r>
            <a:r>
              <a:rPr lang="zh-CN" altLang="zh-CN" dirty="0"/>
              <a:t>炸弹被“拆除”，否则“爆炸” 。</a:t>
            </a:r>
            <a:endParaRPr lang="en-US" altLang="zh-CN" dirty="0"/>
          </a:p>
          <a:p>
            <a:pPr algn="just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dirty="0"/>
              <a:t>实验目的：</a:t>
            </a:r>
            <a:r>
              <a:rPr lang="zh-CN" altLang="zh-CN" dirty="0"/>
              <a:t>增强学生对机器级</a:t>
            </a:r>
            <a:r>
              <a:rPr lang="zh-CN" altLang="en-US" dirty="0"/>
              <a:t>代码和数据结构</a:t>
            </a:r>
            <a:r>
              <a:rPr lang="zh-CN" altLang="zh-CN" dirty="0"/>
              <a:t>的理解，</a:t>
            </a:r>
            <a:r>
              <a:rPr lang="zh-CN" altLang="en-US" dirty="0"/>
              <a:t>并提高学生使用调试器和逆向工程技能</a:t>
            </a:r>
            <a:r>
              <a:rPr lang="zh-CN" altLang="zh-CN" dirty="0"/>
              <a:t>。</a:t>
            </a:r>
            <a:endParaRPr lang="en-US" altLang="zh-CN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957990"/>
          </a:xfrm>
        </p:spPr>
        <p:txBody>
          <a:bodyPr/>
          <a:lstStyle/>
          <a:p>
            <a:r>
              <a:rPr lang="zh-CN" altLang="en-US" dirty="0"/>
              <a:t>实验介绍</a:t>
            </a:r>
          </a:p>
        </p:txBody>
      </p:sp>
    </p:spTree>
    <p:extLst>
      <p:ext uri="{BB962C8B-B14F-4D97-AF65-F5344CB8AC3E}">
        <p14:creationId xmlns:p14="http://schemas.microsoft.com/office/powerpoint/2010/main" val="3554453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700808"/>
            <a:ext cx="8712968" cy="4320232"/>
          </a:xfrm>
        </p:spPr>
        <p:txBody>
          <a:bodyPr>
            <a:normAutofit/>
          </a:bodyPr>
          <a:lstStyle/>
          <a:p>
            <a:pPr marL="854075" indent="0">
              <a:buNone/>
            </a:pPr>
            <a:endParaRPr lang="en-US" altLang="zh-CN" sz="2200" dirty="0"/>
          </a:p>
          <a:p>
            <a:pPr marL="1128395"/>
            <a:r>
              <a:rPr lang="en-US" altLang="zh-CN" dirty="0"/>
              <a:t>bomb</a:t>
            </a:r>
            <a:r>
              <a:rPr lang="zh-CN" altLang="zh-CN" dirty="0"/>
              <a:t>：可执行程序。</a:t>
            </a:r>
            <a:endParaRPr lang="en-US" altLang="zh-CN" dirty="0"/>
          </a:p>
          <a:p>
            <a:pPr marL="1128395"/>
            <a:r>
              <a:rPr lang="en-US" altLang="zh-CN" dirty="0" err="1"/>
              <a:t>bomb.c</a:t>
            </a:r>
            <a:r>
              <a:rPr lang="zh-CN" altLang="zh-CN" dirty="0"/>
              <a:t>：</a:t>
            </a:r>
            <a:r>
              <a:rPr lang="en-US" altLang="zh-CN" dirty="0"/>
              <a:t>bomb</a:t>
            </a:r>
            <a:r>
              <a:rPr lang="zh-CN" altLang="zh-CN" dirty="0"/>
              <a:t>程序的</a:t>
            </a:r>
            <a:r>
              <a:rPr lang="en-US" altLang="zh-CN" dirty="0"/>
              <a:t>main</a:t>
            </a:r>
            <a:r>
              <a:rPr lang="zh-CN" altLang="zh-CN" dirty="0"/>
              <a:t>函数</a:t>
            </a:r>
            <a:r>
              <a:rPr lang="zh-CN" altLang="en-US" dirty="0"/>
              <a:t>，帮助拆弹者了解代码框架</a:t>
            </a:r>
            <a:r>
              <a:rPr lang="zh-CN" altLang="zh-CN" dirty="0"/>
              <a:t>。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714408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Handout</a:t>
            </a:r>
            <a:r>
              <a:rPr lang="zh-CN" altLang="en-US" dirty="0"/>
              <a:t>文件包说明</a:t>
            </a:r>
          </a:p>
        </p:txBody>
      </p:sp>
    </p:spTree>
    <p:extLst>
      <p:ext uri="{BB962C8B-B14F-4D97-AF65-F5344CB8AC3E}">
        <p14:creationId xmlns:p14="http://schemas.microsoft.com/office/powerpoint/2010/main" val="2556984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1520" y="1052736"/>
            <a:ext cx="8640959" cy="5197427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zh-CN" sz="2800" dirty="0"/>
              <a:t>每个阶段考察机器级语言程序</a:t>
            </a:r>
            <a:r>
              <a:rPr lang="zh-CN" altLang="en-US" sz="2800" dirty="0"/>
              <a:t>的</a:t>
            </a:r>
            <a:r>
              <a:rPr lang="zh-CN" altLang="zh-CN" sz="2800" dirty="0"/>
              <a:t>不同方面，难度递增</a:t>
            </a:r>
          </a:p>
          <a:p>
            <a:pPr marL="1824356" lvl="1">
              <a:lnSpc>
                <a:spcPct val="150000"/>
              </a:lnSpc>
              <a:spcBef>
                <a:spcPts val="0"/>
              </a:spcBef>
            </a:pPr>
            <a:r>
              <a:rPr lang="zh-CN" altLang="zh-CN" sz="2800" dirty="0"/>
              <a:t>阶段</a:t>
            </a:r>
            <a:r>
              <a:rPr lang="en-US" altLang="zh-CN" sz="2800" dirty="0"/>
              <a:t>1</a:t>
            </a:r>
            <a:r>
              <a:rPr lang="zh-CN" altLang="zh-CN" sz="2800" dirty="0"/>
              <a:t>：字符串</a:t>
            </a:r>
          </a:p>
          <a:p>
            <a:pPr marL="1824356" lvl="1">
              <a:lnSpc>
                <a:spcPct val="150000"/>
              </a:lnSpc>
              <a:spcBef>
                <a:spcPts val="0"/>
              </a:spcBef>
            </a:pPr>
            <a:r>
              <a:rPr lang="zh-CN" altLang="zh-CN" sz="2800" dirty="0"/>
              <a:t>阶段</a:t>
            </a:r>
            <a:r>
              <a:rPr lang="en-US" altLang="zh-CN" sz="2800" dirty="0"/>
              <a:t>2</a:t>
            </a:r>
            <a:r>
              <a:rPr lang="zh-CN" altLang="zh-CN" sz="2800" dirty="0"/>
              <a:t>：循环</a:t>
            </a:r>
          </a:p>
          <a:p>
            <a:pPr marL="1824356" lvl="1">
              <a:lnSpc>
                <a:spcPct val="150000"/>
              </a:lnSpc>
              <a:spcBef>
                <a:spcPts val="0"/>
              </a:spcBef>
            </a:pPr>
            <a:r>
              <a:rPr lang="zh-CN" altLang="zh-CN" sz="2800" dirty="0"/>
              <a:t>阶段</a:t>
            </a:r>
            <a:r>
              <a:rPr lang="en-US" altLang="zh-CN" sz="2800" dirty="0"/>
              <a:t>3</a:t>
            </a:r>
            <a:r>
              <a:rPr lang="zh-CN" altLang="zh-CN" sz="2800" dirty="0"/>
              <a:t>：</a:t>
            </a:r>
            <a:r>
              <a:rPr lang="en-US" altLang="zh-CN" sz="2800" dirty="0"/>
              <a:t>switch</a:t>
            </a:r>
            <a:r>
              <a:rPr lang="zh-CN" altLang="en-US" sz="2800" dirty="0"/>
              <a:t>语句</a:t>
            </a:r>
            <a:endParaRPr lang="zh-CN" altLang="zh-CN" sz="2800" dirty="0"/>
          </a:p>
          <a:p>
            <a:pPr marL="1824356" lvl="1">
              <a:lnSpc>
                <a:spcPct val="150000"/>
              </a:lnSpc>
              <a:spcBef>
                <a:spcPts val="0"/>
              </a:spcBef>
            </a:pPr>
            <a:r>
              <a:rPr lang="zh-CN" altLang="zh-CN" sz="2800" dirty="0"/>
              <a:t>阶段</a:t>
            </a:r>
            <a:r>
              <a:rPr lang="en-US" altLang="zh-CN" sz="2800" dirty="0"/>
              <a:t>4</a:t>
            </a:r>
            <a:r>
              <a:rPr lang="zh-CN" altLang="zh-CN" sz="2800" dirty="0"/>
              <a:t>：递归</a:t>
            </a:r>
            <a:r>
              <a:rPr lang="zh-CN" altLang="en-US" sz="2800" dirty="0"/>
              <a:t>函数</a:t>
            </a:r>
            <a:endParaRPr lang="en-US" altLang="zh-CN" sz="2800" dirty="0"/>
          </a:p>
          <a:p>
            <a:pPr marL="1824356" lvl="1">
              <a:lnSpc>
                <a:spcPct val="150000"/>
              </a:lnSpc>
              <a:spcBef>
                <a:spcPts val="0"/>
              </a:spcBef>
            </a:pPr>
            <a:r>
              <a:rPr lang="zh-CN" altLang="zh-CN" sz="2800" dirty="0"/>
              <a:t>阶段</a:t>
            </a:r>
            <a:r>
              <a:rPr lang="en-US" altLang="zh-CN" sz="2800" dirty="0"/>
              <a:t>5</a:t>
            </a:r>
            <a:r>
              <a:rPr lang="zh-CN" altLang="zh-CN" sz="2800" dirty="0"/>
              <a:t>：</a:t>
            </a:r>
            <a:r>
              <a:rPr lang="zh-CN" altLang="en-US" sz="2800" dirty="0"/>
              <a:t>数组</a:t>
            </a:r>
            <a:endParaRPr lang="zh-CN" altLang="zh-CN" sz="2800" dirty="0"/>
          </a:p>
          <a:p>
            <a:pPr marL="1824356" lvl="1">
              <a:lnSpc>
                <a:spcPct val="150000"/>
              </a:lnSpc>
              <a:spcBef>
                <a:spcPts val="0"/>
              </a:spcBef>
            </a:pPr>
            <a:r>
              <a:rPr lang="zh-CN" altLang="zh-CN" sz="2800" dirty="0"/>
              <a:t>阶段</a:t>
            </a:r>
            <a:r>
              <a:rPr lang="en-US" altLang="zh-CN" sz="2800" dirty="0"/>
              <a:t>6</a:t>
            </a:r>
            <a:r>
              <a:rPr lang="zh-CN" altLang="zh-CN" sz="2800" dirty="0"/>
              <a:t>：链表</a:t>
            </a:r>
            <a:endParaRPr lang="en-US" altLang="zh-CN" sz="2800" dirty="0"/>
          </a:p>
          <a:p>
            <a:pPr marL="1824356" lvl="1"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/>
              <a:t>秘密阶段</a:t>
            </a:r>
            <a:r>
              <a:rPr lang="zh-CN" altLang="en-US" sz="2800" dirty="0">
                <a:solidFill>
                  <a:srgbClr val="FF0000"/>
                </a:solidFill>
              </a:rPr>
              <a:t>（</a:t>
            </a:r>
            <a:r>
              <a:rPr lang="en-US" altLang="zh-CN" sz="2800" dirty="0" err="1">
                <a:solidFill>
                  <a:srgbClr val="FF0000"/>
                </a:solidFill>
              </a:rPr>
              <a:t>secret_phase</a:t>
            </a:r>
            <a:r>
              <a:rPr lang="zh-CN" altLang="en-US" sz="2800" dirty="0">
                <a:solidFill>
                  <a:srgbClr val="FF0000"/>
                </a:solidFill>
              </a:rPr>
              <a:t>）（选做）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1248093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注意：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1248093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1.</a:t>
            </a:r>
            <a:r>
              <a:rPr lang="zh-CN" altLang="en-US" b="1" dirty="0">
                <a:solidFill>
                  <a:srgbClr val="FF0000"/>
                </a:solidFill>
              </a:rPr>
              <a:t>只有前面关卡通过才能进入下一关！</a:t>
            </a:r>
            <a:endParaRPr lang="en-US" altLang="zh-CN" b="1" dirty="0">
              <a:solidFill>
                <a:srgbClr val="FF0000"/>
              </a:solidFill>
            </a:endParaRPr>
          </a:p>
          <a:p>
            <a:pPr marL="1248093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2.</a:t>
            </a:r>
            <a:r>
              <a:rPr lang="zh-CN" altLang="en-US" b="1" dirty="0">
                <a:solidFill>
                  <a:srgbClr val="FF0000"/>
                </a:solidFill>
              </a:rPr>
              <a:t>引爆会扣分！（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zh-CN" altLang="en-US" b="1" dirty="0">
                <a:solidFill>
                  <a:srgbClr val="FF0000"/>
                </a:solidFill>
              </a:rPr>
              <a:t>分</a:t>
            </a:r>
            <a:r>
              <a:rPr lang="en-US" altLang="zh-CN" b="1" dirty="0">
                <a:solidFill>
                  <a:srgbClr val="FF0000"/>
                </a:solidFill>
              </a:rPr>
              <a:t>/explosion</a:t>
            </a:r>
            <a:r>
              <a:rPr lang="zh-CN" altLang="en-US" b="1" dirty="0">
                <a:solidFill>
                  <a:srgbClr val="FF0000"/>
                </a:solidFill>
              </a:rPr>
              <a:t>）</a:t>
            </a:r>
            <a:r>
              <a:rPr lang="en-US" altLang="zh-CN" b="1" dirty="0">
                <a:solidFill>
                  <a:srgbClr val="FF0000"/>
                </a:solidFill>
              </a:rPr>
              <a:t>(1</a:t>
            </a:r>
            <a:r>
              <a:rPr lang="zh-CN" altLang="en-US" b="1" dirty="0">
                <a:solidFill>
                  <a:srgbClr val="FF0000"/>
                </a:solidFill>
              </a:rPr>
              <a:t>分表示原始分</a:t>
            </a:r>
            <a:r>
              <a:rPr lang="en-US" altLang="zh-CN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714408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实验任务</a:t>
            </a:r>
          </a:p>
        </p:txBody>
      </p:sp>
    </p:spTree>
    <p:extLst>
      <p:ext uri="{BB962C8B-B14F-4D97-AF65-F5344CB8AC3E}">
        <p14:creationId xmlns:p14="http://schemas.microsoft.com/office/powerpoint/2010/main" val="2399774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zh-CN" altLang="en-US" dirty="0"/>
              <a:t>关</a:t>
            </a:r>
            <a:r>
              <a:rPr lang="en-US" altLang="zh-CN" dirty="0"/>
              <a:t>(</a:t>
            </a:r>
            <a:r>
              <a:rPr lang="zh-CN" altLang="en-US" dirty="0"/>
              <a:t>必做</a:t>
            </a:r>
            <a:r>
              <a:rPr lang="en-US" altLang="zh-CN" dirty="0"/>
              <a:t>)+</a:t>
            </a:r>
            <a:r>
              <a:rPr lang="en-US" altLang="zh-CN" dirty="0" err="1"/>
              <a:t>secrect</a:t>
            </a:r>
            <a:r>
              <a:rPr lang="zh-CN" altLang="en-US" dirty="0"/>
              <a:t>关</a:t>
            </a:r>
            <a:r>
              <a:rPr lang="en-US" altLang="zh-CN" dirty="0"/>
              <a:t>(</a:t>
            </a:r>
            <a:r>
              <a:rPr lang="zh-CN" altLang="en-US" dirty="0"/>
              <a:t>选做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             </a:t>
            </a:r>
            <a:r>
              <a:rPr lang="en-US" altLang="zh-CN" sz="3200" b="1" dirty="0">
                <a:solidFill>
                  <a:srgbClr val="3333FF"/>
                </a:solidFill>
              </a:rPr>
              <a:t>5, 10, 10, 15, 15, 15, 0</a:t>
            </a:r>
          </a:p>
          <a:p>
            <a:r>
              <a:rPr lang="en-US" altLang="zh-CN" sz="3200" b="1" dirty="0">
                <a:solidFill>
                  <a:srgbClr val="3333FF"/>
                </a:solidFill>
              </a:rPr>
              <a:t> </a:t>
            </a:r>
            <a:r>
              <a:rPr lang="zh-CN" altLang="en-US" dirty="0"/>
              <a:t>原始总分</a:t>
            </a:r>
            <a:r>
              <a:rPr lang="en-US" altLang="zh-CN" dirty="0"/>
              <a:t>70</a:t>
            </a:r>
            <a:r>
              <a:rPr lang="zh-CN" altLang="en-US" dirty="0"/>
              <a:t>分，折算实际分数</a:t>
            </a:r>
            <a:r>
              <a:rPr lang="en-US" altLang="zh-CN" dirty="0"/>
              <a:t>20</a:t>
            </a:r>
            <a:r>
              <a:rPr lang="zh-CN" altLang="en-US" dirty="0"/>
              <a:t>分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原始分数比例</a:t>
            </a:r>
          </a:p>
        </p:txBody>
      </p:sp>
    </p:spTree>
    <p:extLst>
      <p:ext uri="{BB962C8B-B14F-4D97-AF65-F5344CB8AC3E}">
        <p14:creationId xmlns:p14="http://schemas.microsoft.com/office/powerpoint/2010/main" val="3508733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51520" y="1591056"/>
            <a:ext cx="8640960" cy="4862280"/>
          </a:xfrm>
        </p:spPr>
        <p:txBody>
          <a:bodyPr/>
          <a:lstStyle/>
          <a:p>
            <a:r>
              <a:rPr lang="en-US" altLang="zh-CN" dirty="0"/>
              <a:t>0</a:t>
            </a:r>
            <a:r>
              <a:rPr lang="zh-CN" altLang="en-US" dirty="0"/>
              <a:t>、解压缩实验包（注意</a:t>
            </a:r>
            <a:r>
              <a:rPr lang="zh-CN" altLang="en-US" b="1" dirty="0">
                <a:solidFill>
                  <a:srgbClr val="FF0000"/>
                </a:solidFill>
              </a:rPr>
              <a:t>在</a:t>
            </a:r>
            <a:r>
              <a:rPr lang="en-US" altLang="zh-CN" b="1" dirty="0" err="1">
                <a:solidFill>
                  <a:srgbClr val="FF0000"/>
                </a:solidFill>
              </a:rPr>
              <a:t>linux</a:t>
            </a:r>
            <a:r>
              <a:rPr lang="zh-CN" altLang="en-US" b="1" dirty="0">
                <a:solidFill>
                  <a:srgbClr val="FF0000"/>
                </a:solidFill>
              </a:rPr>
              <a:t>下解压缩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altLang="zh-CN" dirty="0"/>
              <a:t>1</a:t>
            </a:r>
            <a:r>
              <a:rPr lang="zh-CN" altLang="en-US" dirty="0"/>
              <a:t>、反汇编可执行程序</a:t>
            </a:r>
            <a:r>
              <a:rPr lang="en-US" altLang="zh-CN" dirty="0"/>
              <a:t>bomb</a:t>
            </a:r>
          </a:p>
          <a:p>
            <a:pPr marL="0" indent="0">
              <a:buNone/>
            </a:pPr>
            <a:r>
              <a:rPr lang="en-US" altLang="zh-CN" dirty="0"/>
              <a:t>            </a:t>
            </a:r>
            <a:r>
              <a:rPr lang="en-US" altLang="zh-CN" i="1" dirty="0">
                <a:solidFill>
                  <a:srgbClr val="0000FF"/>
                </a:solidFill>
              </a:rPr>
              <a:t>$ </a:t>
            </a:r>
            <a:r>
              <a:rPr lang="en-US" altLang="zh-CN" i="1" dirty="0" err="1">
                <a:solidFill>
                  <a:srgbClr val="0000FF"/>
                </a:solidFill>
              </a:rPr>
              <a:t>objdump</a:t>
            </a:r>
            <a:r>
              <a:rPr lang="en-US" altLang="zh-CN" i="1" dirty="0">
                <a:solidFill>
                  <a:srgbClr val="0000FF"/>
                </a:solidFill>
              </a:rPr>
              <a:t> –d bomb &gt;</a:t>
            </a:r>
            <a:r>
              <a:rPr lang="zh-CN" altLang="en-US" i="1" dirty="0">
                <a:solidFill>
                  <a:srgbClr val="00B050"/>
                </a:solidFill>
              </a:rPr>
              <a:t>文件名       </a:t>
            </a:r>
            <a:endParaRPr lang="en-US" altLang="zh-CN" i="1" dirty="0">
              <a:solidFill>
                <a:srgbClr val="00B050"/>
              </a:solidFill>
            </a:endParaRPr>
          </a:p>
          <a:p>
            <a:pPr marL="274320" lvl="1"/>
            <a:r>
              <a:rPr lang="en-US" altLang="zh-CN" sz="2400" dirty="0"/>
              <a:t>3</a:t>
            </a:r>
            <a:r>
              <a:rPr lang="zh-CN" altLang="en-US" sz="2400" dirty="0"/>
              <a:t>、分析</a:t>
            </a:r>
            <a:r>
              <a:rPr lang="en-US" altLang="zh-CN" sz="2400" dirty="0" err="1"/>
              <a:t>phase_n</a:t>
            </a:r>
            <a:r>
              <a:rPr lang="en-US" altLang="zh-CN" sz="2400" dirty="0"/>
              <a:t>(n=1…6)</a:t>
            </a:r>
            <a:r>
              <a:rPr lang="zh-CN" altLang="en-US" sz="2400" dirty="0"/>
              <a:t>函数功能</a:t>
            </a:r>
            <a:endParaRPr lang="en-US" altLang="zh-CN" sz="2400" dirty="0"/>
          </a:p>
          <a:p>
            <a:pPr marL="909637" lvl="3" indent="-342900">
              <a:buFont typeface="Wingdings" panose="05000000000000000000" pitchFamily="2" charset="2"/>
              <a:buChar char="l"/>
            </a:pPr>
            <a:r>
              <a:rPr lang="en-US" altLang="zh-CN" sz="2400" dirty="0"/>
              <a:t>    </a:t>
            </a:r>
            <a:r>
              <a:rPr lang="zh-CN" altLang="en-US" sz="2400" dirty="0"/>
              <a:t>静态分析汇编代码</a:t>
            </a:r>
            <a:endParaRPr lang="en-US" altLang="zh-CN" sz="2400" dirty="0"/>
          </a:p>
          <a:p>
            <a:pPr marL="909637" lvl="3" indent="-342900">
              <a:buFont typeface="Wingdings" panose="05000000000000000000" pitchFamily="2" charset="2"/>
              <a:buChar char="l"/>
            </a:pPr>
            <a:r>
              <a:rPr lang="en-US" altLang="zh-CN" sz="2400" dirty="0"/>
              <a:t>     </a:t>
            </a:r>
            <a:r>
              <a:rPr lang="en-US" altLang="zh-CN" sz="2400" dirty="0" err="1"/>
              <a:t>gdb</a:t>
            </a:r>
            <a:r>
              <a:rPr lang="zh-CN" altLang="en-US" sz="2400" dirty="0"/>
              <a:t> 动态跟踪</a:t>
            </a:r>
            <a:endParaRPr lang="en-US" altLang="zh-CN" sz="2400" dirty="0"/>
          </a:p>
          <a:p>
            <a:pPr marL="274320" lvl="1"/>
            <a:r>
              <a:rPr lang="en-US" altLang="zh-CN" sz="2400" dirty="0"/>
              <a:t>4</a:t>
            </a:r>
            <a:r>
              <a:rPr lang="zh-CN" altLang="en-US" sz="2400" dirty="0"/>
              <a:t>、确定需要输入的字符串</a:t>
            </a:r>
            <a:endParaRPr lang="en-US" altLang="zh-CN" sz="2400" dirty="0"/>
          </a:p>
          <a:p>
            <a:pPr marL="274320" lvl="1"/>
            <a:r>
              <a:rPr lang="en-US" altLang="zh-CN" sz="2400" dirty="0"/>
              <a:t>5</a:t>
            </a:r>
            <a:r>
              <a:rPr lang="zh-CN" altLang="en-US" sz="2400" dirty="0"/>
              <a:t>、运行可执行程序</a:t>
            </a:r>
            <a:r>
              <a:rPr lang="en-US" altLang="zh-CN" sz="2400" dirty="0"/>
              <a:t>bomb</a:t>
            </a:r>
            <a:r>
              <a:rPr lang="zh-CN" altLang="en-US" sz="2400" dirty="0"/>
              <a:t>，线上提交</a:t>
            </a:r>
            <a:endParaRPr lang="en-US" altLang="zh-CN" sz="2400" dirty="0"/>
          </a:p>
          <a:p>
            <a:pPr marL="909637" lvl="3" indent="-342900">
              <a:buFont typeface="Wingdings" panose="05000000000000000000" pitchFamily="2" charset="2"/>
              <a:buChar char="l"/>
            </a:pPr>
            <a:r>
              <a:rPr lang="en-US" altLang="zh-CN" sz="2400" dirty="0"/>
              <a:t>   </a:t>
            </a:r>
            <a:r>
              <a:rPr lang="zh-CN" altLang="en-US" sz="2400" dirty="0"/>
              <a:t>键盘输入：</a:t>
            </a:r>
            <a:r>
              <a:rPr lang="en-US" altLang="zh-CN" sz="2400" dirty="0"/>
              <a:t>          </a:t>
            </a:r>
            <a:r>
              <a:rPr lang="en-US" altLang="zh-CN" sz="2400" i="1" dirty="0">
                <a:solidFill>
                  <a:srgbClr val="0000FF"/>
                </a:solidFill>
              </a:rPr>
              <a:t>$ ./bomb  -p </a:t>
            </a:r>
            <a:r>
              <a:rPr lang="zh-CN" altLang="en-US" sz="2400" i="1" dirty="0">
                <a:solidFill>
                  <a:srgbClr val="FF0000"/>
                </a:solidFill>
              </a:rPr>
              <a:t>密码</a:t>
            </a:r>
            <a:endParaRPr lang="en-US" altLang="zh-CN" sz="2400" i="1" dirty="0">
              <a:solidFill>
                <a:srgbClr val="FF0000"/>
              </a:solidFill>
            </a:endParaRPr>
          </a:p>
          <a:p>
            <a:pPr marL="909637" lvl="3" indent="-342900">
              <a:buFont typeface="Wingdings" panose="05000000000000000000" pitchFamily="2" charset="2"/>
              <a:buChar char="l"/>
            </a:pPr>
            <a:r>
              <a:rPr lang="zh-CN" altLang="en-US" sz="2400" dirty="0"/>
              <a:t>   文本文件输入</a:t>
            </a:r>
            <a:r>
              <a:rPr lang="en-US" altLang="zh-CN" sz="2400" dirty="0"/>
              <a:t> </a:t>
            </a:r>
            <a:r>
              <a:rPr lang="zh-CN" altLang="en-US" sz="2400" dirty="0"/>
              <a:t>：</a:t>
            </a:r>
            <a:r>
              <a:rPr lang="en-US" altLang="zh-CN" sz="2400" i="1" dirty="0">
                <a:solidFill>
                  <a:srgbClr val="0000FF"/>
                </a:solidFill>
              </a:rPr>
              <a:t>$ ./bomb –p </a:t>
            </a:r>
            <a:r>
              <a:rPr lang="zh-CN" altLang="en-US" sz="2400" i="1" dirty="0">
                <a:solidFill>
                  <a:srgbClr val="FF0000"/>
                </a:solidFill>
              </a:rPr>
              <a:t>密码</a:t>
            </a:r>
            <a:r>
              <a:rPr lang="zh-CN" altLang="en-US" sz="2400" i="1" dirty="0">
                <a:solidFill>
                  <a:srgbClr val="0000FF"/>
                </a:solidFill>
              </a:rPr>
              <a:t>  </a:t>
            </a:r>
            <a:r>
              <a:rPr lang="en-US" altLang="zh-CN" sz="2400" i="1" dirty="0">
                <a:solidFill>
                  <a:srgbClr val="0000FF"/>
                </a:solidFill>
              </a:rPr>
              <a:t>-f </a:t>
            </a:r>
            <a:r>
              <a:rPr lang="zh-CN" altLang="en-US" sz="2400" i="1" dirty="0">
                <a:solidFill>
                  <a:srgbClr val="00B050"/>
                </a:solidFill>
              </a:rPr>
              <a:t>文件名 </a:t>
            </a:r>
            <a:r>
              <a:rPr lang="zh-CN" altLang="en-US" sz="2400" dirty="0">
                <a:solidFill>
                  <a:srgbClr val="0000FF"/>
                </a:solidFill>
              </a:rPr>
              <a:t>        </a:t>
            </a:r>
            <a:r>
              <a:rPr lang="en-US" altLang="zh-CN" sz="2400" dirty="0">
                <a:solidFill>
                  <a:srgbClr val="0000FF"/>
                </a:solidFill>
              </a:rPr>
              <a:t>    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实验流程</a:t>
            </a:r>
          </a:p>
        </p:txBody>
      </p:sp>
    </p:spTree>
    <p:extLst>
      <p:ext uri="{BB962C8B-B14F-4D97-AF65-F5344CB8AC3E}">
        <p14:creationId xmlns:p14="http://schemas.microsoft.com/office/powerpoint/2010/main" val="1189878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EAB123AC-8047-4ECC-E2FF-34CF2217C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1612609"/>
            <a:ext cx="5719804" cy="4929224"/>
          </a:xfrm>
          <a:prstGeom prst="rect">
            <a:avLst/>
          </a:prstGeom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97868" y="1087990"/>
            <a:ext cx="8568951" cy="612818"/>
          </a:xfrm>
        </p:spPr>
        <p:txBody>
          <a:bodyPr/>
          <a:lstStyle/>
          <a:p>
            <a:pPr marL="274320" lvl="1"/>
            <a:r>
              <a:rPr lang="en-US" altLang="zh-CN" sz="2400" dirty="0"/>
              <a:t>6</a:t>
            </a:r>
            <a:r>
              <a:rPr lang="zh-CN" altLang="en-US" sz="2400" dirty="0"/>
              <a:t>、查看</a:t>
            </a:r>
            <a:r>
              <a:rPr lang="en-US" altLang="zh-CN" sz="2400" dirty="0"/>
              <a:t>scoreboard</a:t>
            </a:r>
            <a:endParaRPr lang="zh-CN" altLang="en-US" sz="2400" dirty="0"/>
          </a:p>
        </p:txBody>
      </p:sp>
      <p:sp>
        <p:nvSpPr>
          <p:cNvPr id="4" name="标题 2"/>
          <p:cNvSpPr>
            <a:spLocks noGrp="1"/>
          </p:cNvSpPr>
          <p:nvPr>
            <p:ph type="title"/>
          </p:nvPr>
        </p:nvSpPr>
        <p:spPr>
          <a:xfrm>
            <a:off x="467544" y="198231"/>
            <a:ext cx="8229600" cy="858424"/>
          </a:xfrm>
        </p:spPr>
        <p:txBody>
          <a:bodyPr/>
          <a:lstStyle/>
          <a:p>
            <a:r>
              <a:rPr lang="zh-CN" altLang="en-US" dirty="0"/>
              <a:t>实验流程（续）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3244757" y="1484785"/>
            <a:ext cx="4855636" cy="805856"/>
            <a:chOff x="3419872" y="920312"/>
            <a:chExt cx="5414304" cy="936104"/>
          </a:xfrm>
        </p:grpSpPr>
        <p:sp>
          <p:nvSpPr>
            <p:cNvPr id="7" name="矩形 6"/>
            <p:cNvSpPr/>
            <p:nvPr/>
          </p:nvSpPr>
          <p:spPr>
            <a:xfrm>
              <a:off x="3419872" y="1124744"/>
              <a:ext cx="1728192" cy="2880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线形标注 2 7"/>
            <p:cNvSpPr/>
            <p:nvPr/>
          </p:nvSpPr>
          <p:spPr>
            <a:xfrm>
              <a:off x="5898156" y="920312"/>
              <a:ext cx="2936020" cy="936104"/>
            </a:xfrm>
            <a:prstGeom prst="borderCallout2">
              <a:avLst>
                <a:gd name="adj1" fmla="val 18750"/>
                <a:gd name="adj2" fmla="val -8333"/>
                <a:gd name="adj3" fmla="val 18750"/>
                <a:gd name="adj4" fmla="val -16667"/>
                <a:gd name="adj5" fmla="val 42446"/>
                <a:gd name="adj6" fmla="val -2842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zh-CN" altLang="en-US" b="1" dirty="0"/>
                <a:t>服务器</a:t>
              </a:r>
              <a:r>
                <a:rPr lang="en-US" altLang="zh-CN" b="1" dirty="0"/>
                <a:t>IP</a:t>
              </a:r>
              <a:r>
                <a:rPr lang="zh-CN" altLang="en-US" b="1" dirty="0"/>
                <a:t>：</a:t>
              </a:r>
              <a:r>
                <a:rPr lang="en-US" altLang="zh-CN" dirty="0"/>
                <a:t>10.12.13.30</a:t>
              </a:r>
            </a:p>
            <a:p>
              <a:pPr algn="l"/>
              <a:r>
                <a:rPr lang="zh-CN" altLang="en-US" b="1" dirty="0"/>
                <a:t>端口：</a:t>
              </a:r>
              <a:r>
                <a:rPr lang="zh-CN" altLang="en-US" dirty="0"/>
                <a:t>每个课头端口不同，具体见下页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942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6B4588DF-B615-44AD-9C59-A51AD59367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2458925"/>
              </p:ext>
            </p:extLst>
          </p:nvPr>
        </p:nvGraphicFramePr>
        <p:xfrm>
          <a:off x="1763688" y="2636912"/>
          <a:ext cx="5616624" cy="28068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83201">
                  <a:extLst>
                    <a:ext uri="{9D8B030D-6E8A-4147-A177-3AD203B41FA5}">
                      <a16:colId xmlns:a16="http://schemas.microsoft.com/office/drawing/2014/main" val="2204130525"/>
                    </a:ext>
                  </a:extLst>
                </a:gridCol>
                <a:gridCol w="3733423">
                  <a:extLst>
                    <a:ext uri="{9D8B030D-6E8A-4147-A177-3AD203B41FA5}">
                      <a16:colId xmlns:a16="http://schemas.microsoft.com/office/drawing/2014/main" val="2906048358"/>
                    </a:ext>
                  </a:extLst>
                </a:gridCol>
              </a:tblGrid>
              <a:tr h="284689">
                <a:tc>
                  <a:txBody>
                    <a:bodyPr/>
                    <a:lstStyle/>
                    <a:p>
                      <a:pPr indent="266700" algn="ctr"/>
                      <a:r>
                        <a:rPr lang="zh-CN" sz="1600" kern="100" dirty="0">
                          <a:effectLst/>
                        </a:rPr>
                        <a:t>课头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ctr"/>
                      <a:r>
                        <a:rPr lang="en-US" sz="1600" kern="100">
                          <a:effectLst/>
                        </a:rPr>
                        <a:t>$REQUESTD_PORT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09089089"/>
                  </a:ext>
                </a:extLst>
              </a:tr>
              <a:tr h="504427">
                <a:tc>
                  <a:txBody>
                    <a:bodyPr/>
                    <a:lstStyle/>
                    <a:p>
                      <a:pPr indent="266700" algn="ctr"/>
                      <a:r>
                        <a:rPr lang="en-US" sz="1600" kern="100" dirty="0">
                          <a:effectLst/>
                        </a:rPr>
                        <a:t>U10M21003.1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ctr"/>
                      <a:r>
                        <a:rPr lang="en-US" sz="1600" kern="100">
                          <a:effectLst/>
                        </a:rPr>
                        <a:t>15213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0675778"/>
                  </a:ext>
                </a:extLst>
              </a:tr>
              <a:tr h="504427">
                <a:tc>
                  <a:txBody>
                    <a:bodyPr/>
                    <a:lstStyle/>
                    <a:p>
                      <a:pPr indent="266700" algn="ctr"/>
                      <a:r>
                        <a:rPr lang="en-US" sz="1600" kern="100" dirty="0">
                          <a:effectLst/>
                        </a:rPr>
                        <a:t>U10M21003.2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ctr"/>
                      <a:r>
                        <a:rPr lang="en-US" sz="1600" kern="100">
                          <a:effectLst/>
                        </a:rPr>
                        <a:t>15215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5227164"/>
                  </a:ext>
                </a:extLst>
              </a:tr>
              <a:tr h="504427">
                <a:tc>
                  <a:txBody>
                    <a:bodyPr/>
                    <a:lstStyle/>
                    <a:p>
                      <a:pPr indent="266700" algn="ctr"/>
                      <a:r>
                        <a:rPr lang="en-US" sz="1600" kern="100">
                          <a:effectLst/>
                        </a:rPr>
                        <a:t>U10M21003.3</a:t>
                      </a:r>
                      <a:endParaRPr lang="zh-CN" sz="16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ctr"/>
                      <a:r>
                        <a:rPr lang="en-US" sz="1600" kern="100" dirty="0">
                          <a:effectLst/>
                        </a:rPr>
                        <a:t>15217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36001654"/>
                  </a:ext>
                </a:extLst>
              </a:tr>
              <a:tr h="504427">
                <a:tc>
                  <a:txBody>
                    <a:bodyPr/>
                    <a:lstStyle/>
                    <a:p>
                      <a:pPr indent="266700" algn="ctr"/>
                      <a:r>
                        <a:rPr lang="en-US" sz="1600" kern="100" dirty="0">
                          <a:effectLst/>
                        </a:rPr>
                        <a:t>U10M21003.4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6700" algn="ctr"/>
                      <a:r>
                        <a:rPr lang="en-US" sz="1600" kern="100" dirty="0">
                          <a:effectLst/>
                        </a:rPr>
                        <a:t>152</a:t>
                      </a:r>
                      <a:r>
                        <a:rPr lang="en-US" altLang="zh-CN" sz="1600" kern="100" dirty="0">
                          <a:effectLst/>
                        </a:rPr>
                        <a:t>1</a:t>
                      </a:r>
                      <a:r>
                        <a:rPr lang="en-US" sz="1600" kern="100" dirty="0">
                          <a:effectLst/>
                        </a:rPr>
                        <a:t>9</a:t>
                      </a:r>
                      <a:endParaRPr 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5644867"/>
                  </a:ext>
                </a:extLst>
              </a:tr>
              <a:tr h="504427">
                <a:tc>
                  <a:txBody>
                    <a:bodyPr/>
                    <a:lstStyle/>
                    <a:p>
                      <a:pPr marL="0" marR="0" indent="2667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kern="100" dirty="0">
                          <a:effectLst/>
                        </a:rPr>
                        <a:t>U10M21003.5</a:t>
                      </a:r>
                      <a:endParaRPr lang="zh-CN" altLang="zh-CN" sz="16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266700" algn="ctr" defTabSz="914400" rtl="0" eaLnBrk="1" latinLnBrk="0" hangingPunct="1"/>
                      <a:r>
                        <a:rPr lang="en-US" altLang="zh-CN" sz="1600" kern="1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15221</a:t>
                      </a:r>
                      <a:endParaRPr lang="zh-CN" sz="1600" kern="1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9875956"/>
                  </a:ext>
                </a:extLst>
              </a:tr>
            </a:tbl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57E638C8-B8DB-4470-B4AC-AE1E2A31C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Lab2</a:t>
            </a:r>
            <a:r>
              <a:rPr lang="zh-CN" altLang="en-US" dirty="0"/>
              <a:t>各课头查看</a:t>
            </a:r>
            <a:r>
              <a:rPr lang="en-US" altLang="zh-CN" dirty="0"/>
              <a:t>scoreboard</a:t>
            </a:r>
            <a:r>
              <a:rPr lang="zh-CN" altLang="en-US" dirty="0"/>
              <a:t>端口</a:t>
            </a:r>
          </a:p>
        </p:txBody>
      </p:sp>
    </p:spTree>
    <p:extLst>
      <p:ext uri="{BB962C8B-B14F-4D97-AF65-F5344CB8AC3E}">
        <p14:creationId xmlns:p14="http://schemas.microsoft.com/office/powerpoint/2010/main" val="4237455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ECD059C-6FE8-4BC2-9A3E-75FDFFB8A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338328"/>
            <a:ext cx="8640960" cy="1004562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查看</a:t>
            </a:r>
            <a:r>
              <a:rPr lang="en-US" altLang="zh-CN" sz="3600" dirty="0" err="1"/>
              <a:t>bomb.c</a:t>
            </a:r>
            <a:r>
              <a:rPr lang="zh-CN" altLang="en-US" sz="3600" dirty="0"/>
              <a:t>，了解程序框架</a:t>
            </a:r>
          </a:p>
        </p:txBody>
      </p:sp>
      <p:sp>
        <p:nvSpPr>
          <p:cNvPr id="7" name="内容占位符 1">
            <a:extLst>
              <a:ext uri="{FF2B5EF4-FFF2-40B4-BE49-F238E27FC236}">
                <a16:creationId xmlns:a16="http://schemas.microsoft.com/office/drawing/2014/main" id="{BA0FE749-0588-4228-841C-0740F9FA8DE8}"/>
              </a:ext>
            </a:extLst>
          </p:cNvPr>
          <p:cNvSpPr txBox="1">
            <a:spLocks/>
          </p:cNvSpPr>
          <p:nvPr/>
        </p:nvSpPr>
        <p:spPr>
          <a:xfrm>
            <a:off x="251520" y="1700808"/>
            <a:ext cx="8640959" cy="44253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7432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576263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55663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4630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  <a:buChar char="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78308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12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16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200" indent="-228600" algn="l" defTabSz="914400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1943" lvl="1" indent="0" fontAlgn="auto">
              <a:spcAft>
                <a:spcPts val="0"/>
              </a:spcAft>
              <a:buNone/>
            </a:pPr>
            <a:r>
              <a:rPr kumimoji="1" lang="zh-CN" altLang="en-US" i="0" dirty="0"/>
              <a:t>首先分析</a:t>
            </a:r>
            <a:r>
              <a:rPr kumimoji="1" lang="en-US" altLang="zh-CN" i="0" dirty="0" err="1"/>
              <a:t>bomb.c</a:t>
            </a:r>
            <a:r>
              <a:rPr kumimoji="1" lang="zh-CN" altLang="en-US" i="0" dirty="0"/>
              <a:t>文件，了解</a:t>
            </a:r>
            <a:r>
              <a:rPr kumimoji="1" lang="en-US" altLang="zh-CN" i="0" dirty="0"/>
              <a:t>bomb</a:t>
            </a:r>
            <a:r>
              <a:rPr kumimoji="1" lang="zh-CN" altLang="en-US" i="0" dirty="0"/>
              <a:t>程序的整体框架。</a:t>
            </a:r>
            <a:endParaRPr kumimoji="1" lang="en-US" altLang="zh-CN" i="0" dirty="0"/>
          </a:p>
          <a:p>
            <a:pPr lvl="1" fontAlgn="auto">
              <a:spcAft>
                <a:spcPts val="0"/>
              </a:spcAft>
            </a:pPr>
            <a:r>
              <a:rPr kumimoji="1" lang="zh-CN" altLang="en-US" i="0" dirty="0"/>
              <a:t>六个阶段分别叫做</a:t>
            </a:r>
            <a:r>
              <a:rPr kumimoji="1" lang="en-US" altLang="zh-CN" i="0" dirty="0"/>
              <a:t>phase1()……phase6()</a:t>
            </a:r>
            <a:endParaRPr kumimoji="1" lang="zh-CN" altLang="en-US" i="0" dirty="0"/>
          </a:p>
          <a:p>
            <a:pPr lvl="1" fontAlgn="auto">
              <a:spcAft>
                <a:spcPts val="0"/>
              </a:spcAft>
            </a:pPr>
            <a:r>
              <a:rPr kumimoji="1" lang="zh-CN" altLang="en-US" i="0" dirty="0"/>
              <a:t>每个阶段格式相同</a:t>
            </a:r>
            <a:endParaRPr kumimoji="1" lang="en-US" altLang="zh-CN" i="0" dirty="0"/>
          </a:p>
          <a:p>
            <a:pPr marL="759143" lvl="1" indent="-457200" fontAlgn="auto">
              <a:spcAft>
                <a:spcPts val="0"/>
              </a:spcAft>
              <a:buFont typeface="+mj-lt"/>
              <a:buAutoNum type="arabicPeriod"/>
            </a:pPr>
            <a:r>
              <a:rPr kumimoji="1" lang="en-US" altLang="zh-CN" i="0" dirty="0" err="1"/>
              <a:t>readline</a:t>
            </a:r>
            <a:r>
              <a:rPr kumimoji="1" lang="en-US" altLang="zh-CN" i="0" dirty="0"/>
              <a:t>()</a:t>
            </a:r>
            <a:r>
              <a:rPr kumimoji="1" lang="zh-CN" altLang="en-US" i="0" dirty="0"/>
              <a:t>函数得到用户输入</a:t>
            </a:r>
            <a:endParaRPr kumimoji="1" lang="en-US" altLang="zh-CN" i="0" dirty="0"/>
          </a:p>
          <a:p>
            <a:pPr marL="759143" lvl="1" indent="-457200" fontAlgn="auto">
              <a:spcAft>
                <a:spcPts val="0"/>
              </a:spcAft>
              <a:buFont typeface="+mj-lt"/>
              <a:buAutoNum type="arabicPeriod"/>
            </a:pPr>
            <a:r>
              <a:rPr kumimoji="1" lang="zh-CN" altLang="en-US" i="0" dirty="0"/>
              <a:t>用户输入传入</a:t>
            </a:r>
            <a:r>
              <a:rPr kumimoji="1" lang="en-US" altLang="zh-CN" i="0" dirty="0"/>
              <a:t>phase() </a:t>
            </a:r>
            <a:r>
              <a:rPr kumimoji="1" lang="zh-CN" altLang="en-US" i="0" dirty="0"/>
              <a:t>函数</a:t>
            </a:r>
            <a:endParaRPr kumimoji="1" lang="en-US" altLang="zh-CN" i="0" dirty="0"/>
          </a:p>
          <a:p>
            <a:pPr marL="759143" lvl="1" indent="-457200" fontAlgn="auto">
              <a:spcAft>
                <a:spcPts val="0"/>
              </a:spcAft>
              <a:buFont typeface="+mj-lt"/>
              <a:buAutoNum type="arabicPeriod"/>
            </a:pPr>
            <a:r>
              <a:rPr kumimoji="1" lang="zh-CN" altLang="en-US" i="0" dirty="0"/>
              <a:t>调用</a:t>
            </a:r>
            <a:r>
              <a:rPr kumimoji="1" lang="en-US" altLang="zh-CN" i="0" dirty="0" err="1"/>
              <a:t>phase_defused</a:t>
            </a:r>
            <a:r>
              <a:rPr kumimoji="1" lang="en-US" altLang="zh-CN" i="0" dirty="0"/>
              <a:t>()</a:t>
            </a:r>
            <a:r>
              <a:rPr kumimoji="1" lang="zh-CN" altLang="en-US" i="0" dirty="0"/>
              <a:t>函数</a:t>
            </a:r>
            <a:r>
              <a:rPr kumimoji="1" lang="en-US" altLang="zh-CN" i="0" dirty="0"/>
              <a:t>  </a:t>
            </a:r>
          </a:p>
          <a:p>
            <a:pPr marL="301943" lvl="1" indent="0" fontAlgn="auto">
              <a:spcAft>
                <a:spcPts val="0"/>
              </a:spcAft>
              <a:buNone/>
            </a:pPr>
            <a:r>
              <a:rPr kumimoji="1" lang="en-US" altLang="zh-CN" i="0" dirty="0"/>
              <a:t>     </a:t>
            </a:r>
          </a:p>
          <a:p>
            <a:pPr marL="301943" lvl="1" indent="0" fontAlgn="auto">
              <a:spcAft>
                <a:spcPts val="0"/>
              </a:spcAft>
              <a:buFont typeface="Symbol" pitchFamily="18" charset="2"/>
              <a:buNone/>
            </a:pPr>
            <a:endParaRPr kumimoji="1" lang="zh-CN" altLang="en-US" i="0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3A2C4206-627D-4299-8EA7-60A4CD9E25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7088" y="1556792"/>
            <a:ext cx="8497639" cy="435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2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1556792"/>
            <a:ext cx="8928992" cy="4968552"/>
          </a:xfrm>
        </p:spPr>
        <p:txBody>
          <a:bodyPr>
            <a:normAutofit/>
          </a:bodyPr>
          <a:lstStyle/>
          <a:p>
            <a:pPr marL="457200" indent="-457200">
              <a:buFont typeface="+mj-ea"/>
              <a:buAutoNum type="circleNumDbPlain"/>
            </a:pPr>
            <a:r>
              <a:rPr lang="en-US" altLang="zh-CN" sz="2200" b="1" dirty="0"/>
              <a:t>         </a:t>
            </a:r>
            <a:r>
              <a:rPr lang="en-US" altLang="zh-CN" sz="2200" b="1" dirty="0" err="1">
                <a:solidFill>
                  <a:srgbClr val="FF0000"/>
                </a:solidFill>
              </a:rPr>
              <a:t>objdump</a:t>
            </a:r>
            <a:r>
              <a:rPr lang="en-US" altLang="zh-CN" sz="2200" b="1" dirty="0">
                <a:solidFill>
                  <a:srgbClr val="FF0000"/>
                </a:solidFill>
              </a:rPr>
              <a:t> </a:t>
            </a:r>
            <a:r>
              <a:rPr lang="zh-CN" altLang="zh-CN" sz="2200" b="1" dirty="0">
                <a:solidFill>
                  <a:srgbClr val="FF0000"/>
                </a:solidFill>
              </a:rPr>
              <a:t>–</a:t>
            </a:r>
            <a:r>
              <a:rPr lang="en-US" altLang="zh-CN" sz="2200" b="1" dirty="0">
                <a:solidFill>
                  <a:srgbClr val="FF0000"/>
                </a:solidFill>
              </a:rPr>
              <a:t>d bomb &gt; asm.txt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altLang="zh-CN" sz="2200" b="1" dirty="0"/>
              <a:t>              </a:t>
            </a:r>
            <a:r>
              <a:rPr lang="zh-CN" altLang="zh-CN" sz="2200" dirty="0"/>
              <a:t>对</a:t>
            </a:r>
            <a:r>
              <a:rPr lang="en-US" altLang="zh-CN" sz="2200" dirty="0"/>
              <a:t>bomb</a:t>
            </a:r>
            <a:r>
              <a:rPr lang="zh-CN" altLang="zh-CN" sz="2200" dirty="0"/>
              <a:t>进行反汇编并将汇编代码输出到</a:t>
            </a:r>
            <a:r>
              <a:rPr lang="en-US" altLang="zh-CN" sz="2200" dirty="0"/>
              <a:t>asm.txt</a:t>
            </a:r>
            <a:r>
              <a:rPr lang="zh-CN" altLang="zh-CN" sz="2200" dirty="0"/>
              <a:t>中。</a:t>
            </a:r>
            <a:endParaRPr lang="en-US" altLang="zh-CN" sz="2200" dirty="0"/>
          </a:p>
          <a:p>
            <a:pPr marL="457200" indent="-457200">
              <a:buFont typeface="+mj-ea"/>
              <a:buAutoNum type="circleNumDbPlain" startAt="2"/>
            </a:pPr>
            <a:r>
              <a:rPr lang="zh-CN" altLang="zh-CN" sz="2200" dirty="0"/>
              <a:t>查看</a:t>
            </a:r>
            <a:r>
              <a:rPr lang="en-US" altLang="zh-CN" sz="2200" dirty="0"/>
              <a:t>asm.txt</a:t>
            </a:r>
            <a:r>
              <a:rPr lang="zh-CN" altLang="en-US" sz="2200" dirty="0"/>
              <a:t>文件，</a:t>
            </a:r>
            <a:r>
              <a:rPr lang="zh-CN" altLang="zh-CN" sz="2200" dirty="0"/>
              <a:t>在</a:t>
            </a:r>
            <a:r>
              <a:rPr lang="en-US" altLang="zh-CN" sz="2200" dirty="0"/>
              <a:t>main</a:t>
            </a:r>
            <a:r>
              <a:rPr lang="zh-CN" altLang="zh-CN" sz="2200" dirty="0"/>
              <a:t>函数中找到</a:t>
            </a:r>
            <a:r>
              <a:rPr lang="en-US" altLang="zh-CN" sz="2200" dirty="0"/>
              <a:t>phase1</a:t>
            </a:r>
            <a:r>
              <a:rPr lang="zh-CN" altLang="en-US" sz="2200" dirty="0"/>
              <a:t>函数被</a:t>
            </a:r>
            <a:r>
              <a:rPr lang="zh-CN" altLang="zh-CN" sz="2200" dirty="0"/>
              <a:t>调用</a:t>
            </a:r>
            <a:r>
              <a:rPr lang="zh-CN" altLang="en-US" sz="2200" dirty="0"/>
              <a:t>的位置。</a:t>
            </a:r>
            <a:endParaRPr lang="en-US" altLang="zh-CN" sz="2200" dirty="0"/>
          </a:p>
          <a:p>
            <a:pPr marL="0" indent="0">
              <a:buNone/>
            </a:pPr>
            <a:r>
              <a:rPr lang="en-US" altLang="zh-CN" sz="2200" dirty="0"/>
              <a:t> 8048b09:	e8 f2 fc </a:t>
            </a:r>
            <a:r>
              <a:rPr lang="en-US" altLang="zh-CN" sz="2200" dirty="0" err="1"/>
              <a:t>ff</a:t>
            </a:r>
            <a:r>
              <a:rPr lang="en-US" altLang="zh-CN" sz="2200" dirty="0"/>
              <a:t> </a:t>
            </a:r>
            <a:r>
              <a:rPr lang="en-US" altLang="zh-CN" sz="2200" dirty="0" err="1"/>
              <a:t>ff</a:t>
            </a:r>
            <a:r>
              <a:rPr lang="en-US" altLang="zh-CN" sz="2200" dirty="0"/>
              <a:t>       		call   8048800 &lt;</a:t>
            </a:r>
            <a:r>
              <a:rPr lang="en-US" altLang="zh-CN" sz="2200" dirty="0" err="1"/>
              <a:t>puts@plt</a:t>
            </a:r>
            <a:r>
              <a:rPr lang="en-US" altLang="zh-CN" sz="2200" dirty="0"/>
              <a:t>&gt;</a:t>
            </a:r>
          </a:p>
          <a:p>
            <a:pPr marL="0" indent="0">
              <a:buNone/>
            </a:pPr>
            <a:r>
              <a:rPr lang="en-US" altLang="zh-CN" sz="2200" dirty="0"/>
              <a:t> 8048b0e:	e8 27 08 00 00       	</a:t>
            </a:r>
            <a:r>
              <a:rPr lang="en-US" altLang="zh-CN" sz="2200" dirty="0">
                <a:solidFill>
                  <a:srgbClr val="FF0000"/>
                </a:solidFill>
              </a:rPr>
              <a:t>call   804933a &lt;</a:t>
            </a:r>
            <a:r>
              <a:rPr lang="en-US" altLang="zh-CN" sz="2200" dirty="0" err="1">
                <a:solidFill>
                  <a:srgbClr val="FF0000"/>
                </a:solidFill>
              </a:rPr>
              <a:t>read_line</a:t>
            </a:r>
            <a:r>
              <a:rPr lang="en-US" altLang="zh-CN" sz="2200" dirty="0">
                <a:solidFill>
                  <a:srgbClr val="FF0000"/>
                </a:solidFill>
              </a:rPr>
              <a:t>&gt;</a:t>
            </a:r>
          </a:p>
          <a:p>
            <a:pPr marL="0" indent="0">
              <a:buNone/>
            </a:pPr>
            <a:r>
              <a:rPr lang="en-US" altLang="zh-CN" sz="2200" dirty="0"/>
              <a:t> 8048b13:	89 04 24             		</a:t>
            </a:r>
            <a:r>
              <a:rPr lang="en-US" altLang="zh-CN" sz="2200" dirty="0" err="1">
                <a:solidFill>
                  <a:srgbClr val="3333FF"/>
                </a:solidFill>
              </a:rPr>
              <a:t>mov</a:t>
            </a:r>
            <a:r>
              <a:rPr lang="en-US" altLang="zh-CN" sz="2200" dirty="0">
                <a:solidFill>
                  <a:srgbClr val="3333FF"/>
                </a:solidFill>
              </a:rPr>
              <a:t>    </a:t>
            </a:r>
            <a:r>
              <a:rPr lang="en-US" altLang="zh-CN" sz="2200" b="1" dirty="0">
                <a:solidFill>
                  <a:srgbClr val="3333FF"/>
                </a:solidFill>
              </a:rPr>
              <a:t>%</a:t>
            </a:r>
            <a:r>
              <a:rPr lang="en-US" altLang="zh-CN" sz="2200" b="1" dirty="0" err="1">
                <a:solidFill>
                  <a:srgbClr val="3333FF"/>
                </a:solidFill>
              </a:rPr>
              <a:t>eax</a:t>
            </a:r>
            <a:r>
              <a:rPr lang="en-US" altLang="zh-CN" sz="2200" dirty="0">
                <a:solidFill>
                  <a:srgbClr val="3333FF"/>
                </a:solidFill>
              </a:rPr>
              <a:t>,</a:t>
            </a:r>
            <a:r>
              <a:rPr lang="en-US" altLang="zh-CN" sz="2200" b="1" dirty="0">
                <a:solidFill>
                  <a:srgbClr val="3333FF"/>
                </a:solidFill>
              </a:rPr>
              <a:t>(%</a:t>
            </a:r>
            <a:r>
              <a:rPr lang="en-US" altLang="zh-CN" sz="2200" b="1" dirty="0" err="1">
                <a:solidFill>
                  <a:srgbClr val="3333FF"/>
                </a:solidFill>
              </a:rPr>
              <a:t>esp</a:t>
            </a:r>
            <a:r>
              <a:rPr lang="en-US" altLang="zh-CN" sz="2200" b="1" dirty="0">
                <a:solidFill>
                  <a:srgbClr val="3333FF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zh-CN" sz="2200" dirty="0"/>
              <a:t> 8048b16:	e8 ab 00 00 00       	</a:t>
            </a:r>
            <a:r>
              <a:rPr lang="en-US" altLang="zh-CN" sz="2200" dirty="0">
                <a:solidFill>
                  <a:srgbClr val="FF0000"/>
                </a:solidFill>
              </a:rPr>
              <a:t>call   8048bc6 &lt;phase_1&gt;</a:t>
            </a:r>
          </a:p>
          <a:p>
            <a:pPr marL="0" indent="0">
              <a:buNone/>
            </a:pPr>
            <a:r>
              <a:rPr lang="en-US" altLang="zh-CN" sz="2200" dirty="0"/>
              <a:t> </a:t>
            </a:r>
            <a:r>
              <a:rPr lang="en-US" altLang="zh-CN" sz="2200" dirty="0">
                <a:solidFill>
                  <a:srgbClr val="3333FF"/>
                </a:solidFill>
              </a:rPr>
              <a:t>8048b1b</a:t>
            </a:r>
            <a:r>
              <a:rPr lang="en-US" altLang="zh-CN" sz="2200" dirty="0"/>
              <a:t>:	e8 1d 09 00 00       	call   804943d &lt;</a:t>
            </a:r>
            <a:r>
              <a:rPr lang="en-US" altLang="zh-CN" sz="2200" dirty="0" err="1"/>
              <a:t>phase_defused</a:t>
            </a:r>
            <a:r>
              <a:rPr lang="en-US" altLang="zh-CN" sz="2200" dirty="0"/>
              <a:t>&gt;</a:t>
            </a:r>
          </a:p>
          <a:p>
            <a:pPr marL="0" indent="0">
              <a:buNone/>
            </a:pPr>
            <a:r>
              <a:rPr lang="en-US" altLang="zh-CN" sz="2200" dirty="0"/>
              <a:t> 8048b20:	c7 04 24 b0 a1 04 08 	</a:t>
            </a:r>
            <a:r>
              <a:rPr lang="en-US" altLang="zh-CN" sz="2200" dirty="0" err="1"/>
              <a:t>movl</a:t>
            </a:r>
            <a:r>
              <a:rPr lang="en-US" altLang="zh-CN" sz="2200" dirty="0"/>
              <a:t>   $0x804a1b0,(%</a:t>
            </a:r>
            <a:r>
              <a:rPr lang="en-US" altLang="zh-CN" sz="2200" dirty="0" err="1"/>
              <a:t>esp</a:t>
            </a:r>
            <a:r>
              <a:rPr lang="en-US" altLang="zh-CN" sz="2200" dirty="0"/>
              <a:t>)</a:t>
            </a:r>
          </a:p>
          <a:p>
            <a:pPr marL="0" indent="0">
              <a:buNone/>
            </a:pPr>
            <a:r>
              <a:rPr lang="en-US" altLang="zh-CN" sz="2200" dirty="0"/>
              <a:t> 8048b27:	e8 d4 fc </a:t>
            </a:r>
            <a:r>
              <a:rPr lang="en-US" altLang="zh-CN" sz="2200" dirty="0" err="1"/>
              <a:t>ff</a:t>
            </a:r>
            <a:r>
              <a:rPr lang="en-US" altLang="zh-CN" sz="2200" dirty="0"/>
              <a:t> </a:t>
            </a:r>
            <a:r>
              <a:rPr lang="en-US" altLang="zh-CN" sz="2200" dirty="0" err="1"/>
              <a:t>ff</a:t>
            </a:r>
            <a:r>
              <a:rPr lang="en-US" altLang="zh-CN" sz="2200" dirty="0"/>
              <a:t>       	call   8048800 &lt;</a:t>
            </a:r>
            <a:r>
              <a:rPr lang="en-US" altLang="zh-CN" sz="2200" dirty="0" err="1"/>
              <a:t>puts@plt</a:t>
            </a:r>
            <a:r>
              <a:rPr lang="en-US" altLang="zh-CN" sz="2200" dirty="0"/>
              <a:t>&gt;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002440"/>
          </a:xfrm>
        </p:spPr>
        <p:txBody>
          <a:bodyPr>
            <a:normAutofit/>
          </a:bodyPr>
          <a:lstStyle/>
          <a:p>
            <a:r>
              <a:rPr lang="en-US" altLang="zh-CN" dirty="0"/>
              <a:t>phase_1 </a:t>
            </a:r>
            <a:r>
              <a:rPr lang="zh-CN" altLang="en-US" dirty="0"/>
              <a:t>（二）</a:t>
            </a:r>
            <a:r>
              <a:rPr lang="en-US" altLang="zh-CN" sz="3600" dirty="0"/>
              <a:t>——</a:t>
            </a:r>
            <a:r>
              <a:rPr lang="zh-CN" altLang="en-US" sz="3600" dirty="0"/>
              <a:t>查看反汇编代码</a:t>
            </a:r>
          </a:p>
        </p:txBody>
      </p:sp>
      <p:sp>
        <p:nvSpPr>
          <p:cNvPr id="4" name="思想气泡: 云 3">
            <a:extLst>
              <a:ext uri="{FF2B5EF4-FFF2-40B4-BE49-F238E27FC236}">
                <a16:creationId xmlns:a16="http://schemas.microsoft.com/office/drawing/2014/main" id="{81CE8D03-3314-4D54-B807-67459CB648C0}"/>
              </a:ext>
            </a:extLst>
          </p:cNvPr>
          <p:cNvSpPr/>
          <p:nvPr/>
        </p:nvSpPr>
        <p:spPr>
          <a:xfrm>
            <a:off x="251520" y="1916832"/>
            <a:ext cx="3888432" cy="2196244"/>
          </a:xfrm>
          <a:prstGeom prst="cloudCallout">
            <a:avLst>
              <a:gd name="adj1" fmla="val 65163"/>
              <a:gd name="adj2" fmla="val 42070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%</a:t>
            </a:r>
            <a:r>
              <a:rPr lang="en-US" altLang="zh-CN" dirty="0" err="1"/>
              <a:t>eax</a:t>
            </a:r>
            <a:r>
              <a:rPr lang="zh-CN" altLang="en-US" dirty="0"/>
              <a:t>里是</a:t>
            </a:r>
            <a:r>
              <a:rPr lang="en-US" altLang="zh-CN" dirty="0" err="1"/>
              <a:t>readline</a:t>
            </a:r>
            <a:r>
              <a:rPr lang="zh-CN" altLang="en-US" dirty="0"/>
              <a:t>函数的返回值（</a:t>
            </a:r>
            <a:r>
              <a:rPr lang="en-US" altLang="zh-CN" dirty="0"/>
              <a:t>input</a:t>
            </a:r>
            <a:r>
              <a:rPr lang="zh-CN" altLang="en-US" dirty="0"/>
              <a:t>）；</a:t>
            </a:r>
            <a:endParaRPr lang="en-US" altLang="zh-CN" dirty="0"/>
          </a:p>
          <a:p>
            <a:pPr algn="l"/>
            <a:r>
              <a:rPr lang="zh-CN" altLang="en-US" dirty="0"/>
              <a:t>这条语句相当于一条压栈操作，通过栈把</a:t>
            </a:r>
            <a:r>
              <a:rPr lang="en-US" altLang="zh-CN" dirty="0"/>
              <a:t>input</a:t>
            </a:r>
            <a:r>
              <a:rPr lang="zh-CN" altLang="en-US" dirty="0"/>
              <a:t>传递给</a:t>
            </a:r>
            <a:r>
              <a:rPr lang="en-US" altLang="zh-CN" dirty="0"/>
              <a:t>phase_1</a:t>
            </a:r>
            <a:r>
              <a:rPr lang="zh-CN" altLang="en-US" dirty="0"/>
              <a:t>函数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92004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925EC89-A30D-470A-B3D6-EA8BF4C88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556792"/>
            <a:ext cx="8640960" cy="482453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sz="2000" dirty="0"/>
              <a:t>08048bc6 &lt;phase_1&gt;:</a:t>
            </a:r>
          </a:p>
          <a:p>
            <a:pPr marL="0" indent="0">
              <a:buNone/>
            </a:pPr>
            <a:r>
              <a:rPr lang="en-US" altLang="zh-CN" sz="2000" dirty="0"/>
              <a:t> 8048bc6:	55                   	push   %</a:t>
            </a:r>
            <a:r>
              <a:rPr lang="en-US" altLang="zh-CN" sz="2000" dirty="0" err="1"/>
              <a:t>ebp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8048bc7:	89 e5                	</a:t>
            </a:r>
            <a:r>
              <a:rPr lang="en-US" altLang="zh-CN" sz="2000" dirty="0" err="1"/>
              <a:t>mov</a:t>
            </a:r>
            <a:r>
              <a:rPr lang="en-US" altLang="zh-CN" sz="2000" dirty="0"/>
              <a:t>    %</a:t>
            </a:r>
            <a:r>
              <a:rPr lang="en-US" altLang="zh-CN" sz="2000" dirty="0" err="1"/>
              <a:t>esp</a:t>
            </a:r>
            <a:r>
              <a:rPr lang="en-US" altLang="zh-CN" sz="2000" dirty="0"/>
              <a:t>,%</a:t>
            </a:r>
            <a:r>
              <a:rPr lang="en-US" altLang="zh-CN" sz="2000" dirty="0" err="1"/>
              <a:t>ebp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 8048bc9:	83 </a:t>
            </a:r>
            <a:r>
              <a:rPr lang="en-US" altLang="zh-CN" sz="2000" dirty="0" err="1"/>
              <a:t>ec</a:t>
            </a:r>
            <a:r>
              <a:rPr lang="en-US" altLang="zh-CN" sz="2000" dirty="0"/>
              <a:t> 10             	sub    $0x10,%esp</a:t>
            </a:r>
          </a:p>
          <a:p>
            <a:pPr marL="0" indent="0">
              <a:buNone/>
            </a:pPr>
            <a:r>
              <a:rPr lang="en-US" altLang="zh-CN" sz="2000" dirty="0"/>
              <a:t> 8048bcc:	68 00 a2 04 08     push   $0x804a200</a:t>
            </a:r>
          </a:p>
          <a:p>
            <a:pPr marL="0" indent="0">
              <a:buNone/>
            </a:pPr>
            <a:r>
              <a:rPr lang="en-US" altLang="zh-CN" sz="2000" dirty="0"/>
              <a:t> 8048bd1:	</a:t>
            </a:r>
            <a:r>
              <a:rPr lang="en-US" altLang="zh-CN" sz="2000" dirty="0" err="1"/>
              <a:t>ff</a:t>
            </a:r>
            <a:r>
              <a:rPr lang="en-US" altLang="zh-CN" sz="2000" dirty="0"/>
              <a:t> 75 08             	</a:t>
            </a:r>
            <a:r>
              <a:rPr lang="en-US" altLang="zh-CN" sz="2000" dirty="0" err="1"/>
              <a:t>pushl</a:t>
            </a:r>
            <a:r>
              <a:rPr lang="en-US" altLang="zh-CN" sz="2000" dirty="0"/>
              <a:t>  0x8(%</a:t>
            </a:r>
            <a:r>
              <a:rPr lang="en-US" altLang="zh-CN" sz="2000" dirty="0" err="1"/>
              <a:t>ebp</a:t>
            </a:r>
            <a:r>
              <a:rPr lang="en-US" altLang="zh-CN" sz="2000" dirty="0"/>
              <a:t>)</a:t>
            </a:r>
          </a:p>
          <a:p>
            <a:pPr marL="0" indent="0">
              <a:buNone/>
            </a:pPr>
            <a:r>
              <a:rPr lang="en-US" altLang="zh-CN" sz="2000" dirty="0"/>
              <a:t> 8048bd4:	e8 73 04 00 00     call   804904c &lt;</a:t>
            </a:r>
            <a:r>
              <a:rPr lang="en-US" altLang="zh-CN" sz="2000" dirty="0" err="1"/>
              <a:t>strings_not_equal</a:t>
            </a:r>
            <a:r>
              <a:rPr lang="en-US" altLang="zh-CN" sz="2000" dirty="0"/>
              <a:t>&gt;</a:t>
            </a:r>
          </a:p>
          <a:p>
            <a:pPr marL="0" indent="0">
              <a:buNone/>
            </a:pPr>
            <a:r>
              <a:rPr lang="en-US" altLang="zh-CN" sz="2000" dirty="0"/>
              <a:t> 8048bd9:	83 c4 10             	add    $0x10,%esp</a:t>
            </a:r>
          </a:p>
          <a:p>
            <a:pPr marL="0" indent="0">
              <a:buNone/>
            </a:pPr>
            <a:r>
              <a:rPr lang="en-US" altLang="zh-CN" sz="2000" dirty="0"/>
              <a:t> 8048bdc:	85 c0                	</a:t>
            </a:r>
            <a:r>
              <a:rPr lang="en-US" altLang="zh-CN" sz="2000" b="1" dirty="0">
                <a:solidFill>
                  <a:srgbClr val="3333FF"/>
                </a:solidFill>
              </a:rPr>
              <a:t>test   %</a:t>
            </a:r>
            <a:r>
              <a:rPr lang="en-US" altLang="zh-CN" sz="2000" b="1" dirty="0" err="1">
                <a:solidFill>
                  <a:srgbClr val="3333FF"/>
                </a:solidFill>
              </a:rPr>
              <a:t>eax</a:t>
            </a:r>
            <a:r>
              <a:rPr lang="en-US" altLang="zh-CN" sz="2000" b="1" dirty="0">
                <a:solidFill>
                  <a:srgbClr val="3333FF"/>
                </a:solidFill>
              </a:rPr>
              <a:t>,%</a:t>
            </a:r>
            <a:r>
              <a:rPr lang="en-US" altLang="zh-CN" sz="2000" b="1" dirty="0" err="1">
                <a:solidFill>
                  <a:srgbClr val="3333FF"/>
                </a:solidFill>
              </a:rPr>
              <a:t>eax</a:t>
            </a:r>
            <a:endParaRPr lang="en-US" altLang="zh-CN" sz="2000" b="1" dirty="0">
              <a:solidFill>
                <a:srgbClr val="3333FF"/>
              </a:solidFill>
            </a:endParaRPr>
          </a:p>
          <a:p>
            <a:pPr marL="0" indent="0">
              <a:buNone/>
            </a:pPr>
            <a:r>
              <a:rPr lang="en-US" altLang="zh-CN" sz="2000" dirty="0"/>
              <a:t> 8048bde:	74 05                	je       </a:t>
            </a:r>
            <a:r>
              <a:rPr lang="en-US" altLang="zh-CN" sz="2000" dirty="0">
                <a:solidFill>
                  <a:srgbClr val="3333FF"/>
                </a:solidFill>
              </a:rPr>
              <a:t>8048be5</a:t>
            </a:r>
            <a:r>
              <a:rPr lang="en-US" altLang="zh-CN" sz="2000" dirty="0"/>
              <a:t> &lt;phase_1+0x1f&gt;</a:t>
            </a:r>
          </a:p>
          <a:p>
            <a:pPr marL="0" indent="0">
              <a:buNone/>
            </a:pPr>
            <a:r>
              <a:rPr lang="en-US" altLang="zh-CN" sz="2000" dirty="0"/>
              <a:t> 8048be0:	e8 </a:t>
            </a:r>
            <a:r>
              <a:rPr lang="en-US" altLang="zh-CN" sz="2000" dirty="0" err="1"/>
              <a:t>db</a:t>
            </a:r>
            <a:r>
              <a:rPr lang="en-US" altLang="zh-CN" sz="2000" dirty="0"/>
              <a:t> 06 00 00    call   80492c0 &lt;</a:t>
            </a:r>
            <a:r>
              <a:rPr lang="en-US" altLang="zh-CN" sz="2000" dirty="0" err="1"/>
              <a:t>explode_bomb</a:t>
            </a:r>
            <a:r>
              <a:rPr lang="en-US" altLang="zh-CN" sz="2000" dirty="0"/>
              <a:t>&gt;</a:t>
            </a:r>
          </a:p>
          <a:p>
            <a:pPr marL="0" indent="0">
              <a:buNone/>
            </a:pP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3333FF"/>
                </a:solidFill>
              </a:rPr>
              <a:t>8048be5</a:t>
            </a:r>
            <a:r>
              <a:rPr lang="en-US" altLang="zh-CN" sz="2000" dirty="0"/>
              <a:t>:	c9                   	leave  </a:t>
            </a:r>
          </a:p>
          <a:p>
            <a:pPr marL="0" indent="0">
              <a:buNone/>
            </a:pPr>
            <a:r>
              <a:rPr lang="en-US" altLang="zh-CN" sz="2000" dirty="0"/>
              <a:t> 8048be6:	c3                   	ret</a:t>
            </a:r>
            <a:endParaRPr lang="zh-CN" altLang="en-US" sz="20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802FFA1-D0E9-46B6-9AB0-A58EFE009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930432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phase_1 </a:t>
            </a:r>
            <a:r>
              <a:rPr lang="zh-CN" altLang="en-US" dirty="0"/>
              <a:t>（三）</a:t>
            </a:r>
            <a:br>
              <a:rPr lang="en-US" altLang="zh-CN" dirty="0"/>
            </a:br>
            <a:r>
              <a:rPr lang="en-US" altLang="zh-CN" dirty="0"/>
              <a:t>                    </a:t>
            </a:r>
            <a:r>
              <a:rPr lang="en-US" altLang="zh-CN" sz="3600" dirty="0"/>
              <a:t>——</a:t>
            </a:r>
            <a:r>
              <a:rPr lang="zh-CN" altLang="en-US" sz="3600" dirty="0"/>
              <a:t>查看</a:t>
            </a:r>
            <a:r>
              <a:rPr lang="en-US" altLang="zh-CN" sz="3600" dirty="0"/>
              <a:t>phase1</a:t>
            </a:r>
            <a:r>
              <a:rPr lang="zh-CN" altLang="en-US" sz="3600" dirty="0"/>
              <a:t>函数</a:t>
            </a: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D9C748AA-9125-4ABF-9FA3-26697ABDFAB2}"/>
              </a:ext>
            </a:extLst>
          </p:cNvPr>
          <p:cNvGrpSpPr/>
          <p:nvPr/>
        </p:nvGrpSpPr>
        <p:grpSpPr>
          <a:xfrm>
            <a:off x="71529" y="1328092"/>
            <a:ext cx="3868217" cy="3341079"/>
            <a:chOff x="325798" y="2852936"/>
            <a:chExt cx="3816424" cy="3318805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5EE9B213-2909-4B6F-8F76-DFBEB9D294AC}"/>
                </a:ext>
              </a:extLst>
            </p:cNvPr>
            <p:cNvGrpSpPr/>
            <p:nvPr/>
          </p:nvGrpSpPr>
          <p:grpSpPr>
            <a:xfrm>
              <a:off x="325798" y="2852936"/>
              <a:ext cx="3816424" cy="3318805"/>
              <a:chOff x="325798" y="2852936"/>
              <a:chExt cx="3816424" cy="3318805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E3BCC1D6-D8BE-4E11-96FC-39D00B5634C9}"/>
                  </a:ext>
                </a:extLst>
              </p:cNvPr>
              <p:cNvSpPr/>
              <p:nvPr/>
            </p:nvSpPr>
            <p:spPr>
              <a:xfrm>
                <a:off x="325798" y="2852936"/>
                <a:ext cx="3816424" cy="3240360"/>
              </a:xfrm>
              <a:prstGeom prst="rect">
                <a:avLst/>
              </a:prstGeom>
              <a:solidFill>
                <a:schemeClr val="accent3">
                  <a:lumMod val="9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D04315BA-5C1B-4BBF-986D-A5986AD4C054}"/>
                  </a:ext>
                </a:extLst>
              </p:cNvPr>
              <p:cNvSpPr txBox="1"/>
              <p:nvPr/>
            </p:nvSpPr>
            <p:spPr>
              <a:xfrm>
                <a:off x="827584" y="5802409"/>
                <a:ext cx="28083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zh-CN" altLang="en-US" i="0" dirty="0"/>
                  <a:t>函数调用过程中栈的变化</a:t>
                </a:r>
              </a:p>
            </p:txBody>
          </p:sp>
        </p:grp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A0C8454D-8A2A-46C0-8AC4-FB4B0F53DF08}"/>
                </a:ext>
              </a:extLst>
            </p:cNvPr>
            <p:cNvCxnSpPr/>
            <p:nvPr/>
          </p:nvCxnSpPr>
          <p:spPr>
            <a:xfrm>
              <a:off x="454342" y="3573016"/>
              <a:ext cx="0" cy="1584176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6C8A7506-4AF0-4585-A261-3F36423F295E}"/>
                </a:ext>
              </a:extLst>
            </p:cNvPr>
            <p:cNvSpPr txBox="1"/>
            <p:nvPr/>
          </p:nvSpPr>
          <p:spPr>
            <a:xfrm>
              <a:off x="417933" y="3888432"/>
              <a:ext cx="369332" cy="1052461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l"/>
              <a:r>
                <a:rPr lang="zh-CN" altLang="en-US" sz="1200" i="0" dirty="0">
                  <a:latin typeface="+mn-ea"/>
                  <a:ea typeface="+mn-ea"/>
                </a:rPr>
                <a:t>向下增长</a:t>
              </a:r>
            </a:p>
          </p:txBody>
        </p:sp>
      </p:grp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15B28EE-8821-4F4D-93C4-D30C0A84FA77}"/>
              </a:ext>
            </a:extLst>
          </p:cNvPr>
          <p:cNvCxnSpPr>
            <a:cxnSpLocks/>
          </p:cNvCxnSpPr>
          <p:nvPr/>
        </p:nvCxnSpPr>
        <p:spPr>
          <a:xfrm>
            <a:off x="3995936" y="3284984"/>
            <a:ext cx="194421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B663CF4F-A9AC-4CD1-970C-4A814D36F3B2}"/>
              </a:ext>
            </a:extLst>
          </p:cNvPr>
          <p:cNvSpPr/>
          <p:nvPr/>
        </p:nvSpPr>
        <p:spPr>
          <a:xfrm>
            <a:off x="1007634" y="1616124"/>
            <a:ext cx="2160240" cy="288032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tx1"/>
                </a:solidFill>
              </a:rPr>
              <a:t>传递给</a:t>
            </a:r>
            <a:r>
              <a:rPr lang="en-US" altLang="zh-CN" sz="1000" dirty="0">
                <a:solidFill>
                  <a:schemeClr val="tx1"/>
                </a:solidFill>
              </a:rPr>
              <a:t>phase_1</a:t>
            </a:r>
            <a:r>
              <a:rPr lang="zh-CN" altLang="en-US" sz="1000" dirty="0">
                <a:solidFill>
                  <a:schemeClr val="tx1"/>
                </a:solidFill>
              </a:rPr>
              <a:t>的参数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A17755-4D4E-410E-8355-8CA9DE7967FE}"/>
              </a:ext>
            </a:extLst>
          </p:cNvPr>
          <p:cNvSpPr/>
          <p:nvPr/>
        </p:nvSpPr>
        <p:spPr>
          <a:xfrm>
            <a:off x="1007634" y="1904156"/>
            <a:ext cx="2160240" cy="32403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Phase_1</a:t>
            </a:r>
            <a:r>
              <a:rPr lang="zh-CN" altLang="en-US" sz="1050" dirty="0">
                <a:solidFill>
                  <a:schemeClr val="tx1"/>
                </a:solidFill>
              </a:rPr>
              <a:t>的返回地址</a:t>
            </a:r>
            <a:r>
              <a:rPr lang="en-US" altLang="zh-CN" sz="1050" dirty="0">
                <a:solidFill>
                  <a:schemeClr val="tx1"/>
                </a:solidFill>
              </a:rPr>
              <a:t>0x8048b1b</a:t>
            </a:r>
            <a:endParaRPr lang="zh-CN" altLang="en-US" sz="105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634D64A-9AA0-4B65-B381-858ACFE67E05}"/>
              </a:ext>
            </a:extLst>
          </p:cNvPr>
          <p:cNvSpPr/>
          <p:nvPr/>
        </p:nvSpPr>
        <p:spPr>
          <a:xfrm>
            <a:off x="1007551" y="3836834"/>
            <a:ext cx="2160240" cy="237384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en-US" altLang="zh-CN" sz="1000" dirty="0" err="1">
                <a:solidFill>
                  <a:srgbClr val="FF0000"/>
                </a:solidFill>
              </a:rPr>
              <a:t>Strings_not</a:t>
            </a:r>
            <a:r>
              <a:rPr lang="en-US" altLang="zh-CN" sz="1000" dirty="0">
                <a:solidFill>
                  <a:srgbClr val="FF0000"/>
                </a:solidFill>
              </a:rPr>
              <a:t> _equal </a:t>
            </a:r>
            <a:r>
              <a:rPr lang="zh-CN" altLang="en-US" sz="1000" dirty="0">
                <a:solidFill>
                  <a:srgbClr val="FF0000"/>
                </a:solidFill>
              </a:rPr>
              <a:t>参数</a:t>
            </a:r>
            <a:r>
              <a:rPr lang="en-US" altLang="zh-CN" sz="1000" dirty="0">
                <a:solidFill>
                  <a:srgbClr val="FF0000"/>
                </a:solidFill>
              </a:rPr>
              <a:t>1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79F8BAA-47D3-48AE-AFF4-8DDC65C7A55D}"/>
              </a:ext>
            </a:extLst>
          </p:cNvPr>
          <p:cNvSpPr/>
          <p:nvPr/>
        </p:nvSpPr>
        <p:spPr>
          <a:xfrm>
            <a:off x="1007634" y="2204056"/>
            <a:ext cx="2160240" cy="324036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>
                <a:solidFill>
                  <a:schemeClr val="tx1"/>
                </a:solidFill>
              </a:rPr>
              <a:t>旧</a:t>
            </a:r>
            <a:r>
              <a:rPr lang="en-US" altLang="zh-CN" sz="1050" dirty="0" err="1">
                <a:solidFill>
                  <a:schemeClr val="tx1"/>
                </a:solidFill>
              </a:rPr>
              <a:t>ebp</a:t>
            </a:r>
            <a:endParaRPr lang="zh-CN" altLang="en-US" sz="1050" dirty="0">
              <a:solidFill>
                <a:schemeClr val="tx1"/>
              </a:solidFill>
            </a:endParaRP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343A8967-2AC3-453E-8474-B7B7680A41CA}"/>
              </a:ext>
            </a:extLst>
          </p:cNvPr>
          <p:cNvCxnSpPr/>
          <p:nvPr/>
        </p:nvCxnSpPr>
        <p:spPr>
          <a:xfrm>
            <a:off x="647594" y="2363588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7">
            <a:extLst>
              <a:ext uri="{FF2B5EF4-FFF2-40B4-BE49-F238E27FC236}">
                <a16:creationId xmlns:a16="http://schemas.microsoft.com/office/drawing/2014/main" id="{97D2DB8F-4A3B-46C0-9B97-7ABE19D93BAC}"/>
              </a:ext>
            </a:extLst>
          </p:cNvPr>
          <p:cNvSpPr txBox="1"/>
          <p:nvPr/>
        </p:nvSpPr>
        <p:spPr>
          <a:xfrm>
            <a:off x="-47098" y="2147150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ebp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D2ED632-723D-4423-8BAC-1AC5DCB93025}"/>
              </a:ext>
            </a:extLst>
          </p:cNvPr>
          <p:cNvSpPr/>
          <p:nvPr/>
        </p:nvSpPr>
        <p:spPr>
          <a:xfrm>
            <a:off x="1005910" y="3568959"/>
            <a:ext cx="2160240" cy="267875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err="1">
                <a:solidFill>
                  <a:srgbClr val="FF0000"/>
                </a:solidFill>
              </a:rPr>
              <a:t>Strings_not</a:t>
            </a:r>
            <a:r>
              <a:rPr lang="en-US" altLang="zh-CN" sz="1000" dirty="0">
                <a:solidFill>
                  <a:srgbClr val="FF0000"/>
                </a:solidFill>
              </a:rPr>
              <a:t> _equal </a:t>
            </a:r>
            <a:r>
              <a:rPr lang="zh-CN" altLang="en-US" sz="1000" dirty="0">
                <a:solidFill>
                  <a:srgbClr val="FF0000"/>
                </a:solidFill>
              </a:rPr>
              <a:t>参数</a:t>
            </a:r>
            <a:r>
              <a:rPr lang="en-US" altLang="zh-CN" sz="1000" dirty="0">
                <a:solidFill>
                  <a:srgbClr val="FF0000"/>
                </a:solidFill>
              </a:rPr>
              <a:t>2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E7D3E238-FFF6-42CD-AFE5-29B41ACAF55A}"/>
              </a:ext>
            </a:extLst>
          </p:cNvPr>
          <p:cNvCxnSpPr>
            <a:cxnSpLocks/>
          </p:cNvCxnSpPr>
          <p:nvPr/>
        </p:nvCxnSpPr>
        <p:spPr>
          <a:xfrm>
            <a:off x="3995936" y="3573016"/>
            <a:ext cx="194421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614120DB-0D7D-44BC-B70A-1CE79D3BB3A6}"/>
              </a:ext>
            </a:extLst>
          </p:cNvPr>
          <p:cNvCxnSpPr/>
          <p:nvPr/>
        </p:nvCxnSpPr>
        <p:spPr>
          <a:xfrm>
            <a:off x="647594" y="4028392"/>
            <a:ext cx="36004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9">
            <a:extLst>
              <a:ext uri="{FF2B5EF4-FFF2-40B4-BE49-F238E27FC236}">
                <a16:creationId xmlns:a16="http://schemas.microsoft.com/office/drawing/2014/main" id="{5E76E777-BAA5-447F-81A8-6F192AF48C7C}"/>
              </a:ext>
            </a:extLst>
          </p:cNvPr>
          <p:cNvSpPr txBox="1"/>
          <p:nvPr/>
        </p:nvSpPr>
        <p:spPr>
          <a:xfrm>
            <a:off x="-47098" y="3787304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esp</a:t>
            </a:r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05830EA-09CD-4D0E-A1A5-8B626FE211B8}"/>
              </a:ext>
            </a:extLst>
          </p:cNvPr>
          <p:cNvSpPr/>
          <p:nvPr/>
        </p:nvSpPr>
        <p:spPr>
          <a:xfrm>
            <a:off x="1005910" y="2520539"/>
            <a:ext cx="2160240" cy="1052477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schemeClr val="tx1"/>
                </a:solidFill>
              </a:rPr>
              <a:t>……</a:t>
            </a:r>
            <a:endParaRPr lang="zh-CN" altLang="en-US" sz="1050" dirty="0">
              <a:solidFill>
                <a:schemeClr val="tx1"/>
              </a:solidFill>
            </a:endParaRPr>
          </a:p>
        </p:txBody>
      </p:sp>
      <p:sp>
        <p:nvSpPr>
          <p:cNvPr id="8" name="思想气泡: 云 7">
            <a:extLst>
              <a:ext uri="{FF2B5EF4-FFF2-40B4-BE49-F238E27FC236}">
                <a16:creationId xmlns:a16="http://schemas.microsoft.com/office/drawing/2014/main" id="{D8798147-E591-412D-B414-5618D66851F1}"/>
              </a:ext>
            </a:extLst>
          </p:cNvPr>
          <p:cNvSpPr/>
          <p:nvPr/>
        </p:nvSpPr>
        <p:spPr>
          <a:xfrm>
            <a:off x="5478865" y="1055590"/>
            <a:ext cx="3672408" cy="1481067"/>
          </a:xfrm>
          <a:prstGeom prst="cloudCallout">
            <a:avLst>
              <a:gd name="adj1" fmla="val -35970"/>
              <a:gd name="adj2" fmla="val 104701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dirty="0"/>
              <a:t>通过压栈传递两个参数给</a:t>
            </a:r>
            <a:r>
              <a:rPr lang="en-US" altLang="zh-CN" dirty="0" err="1"/>
              <a:t>strings_not_equal</a:t>
            </a:r>
            <a:r>
              <a:rPr lang="zh-CN" altLang="en-US" dirty="0"/>
              <a:t>函数</a:t>
            </a:r>
            <a:endParaRPr lang="en-US" altLang="zh-CN" dirty="0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E98AA5A-E95E-4C8D-85A8-4D03CDCD25E4}"/>
              </a:ext>
            </a:extLst>
          </p:cNvPr>
          <p:cNvGrpSpPr/>
          <p:nvPr/>
        </p:nvGrpSpPr>
        <p:grpSpPr>
          <a:xfrm>
            <a:off x="2946174" y="1767243"/>
            <a:ext cx="653747" cy="2206080"/>
            <a:chOff x="1138672" y="3507934"/>
            <a:chExt cx="653747" cy="2268252"/>
          </a:xfrm>
        </p:grpSpPr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BA6E9008-2142-4D40-B2E5-8CE0735FE947}"/>
                </a:ext>
              </a:extLst>
            </p:cNvPr>
            <p:cNvCxnSpPr/>
            <p:nvPr/>
          </p:nvCxnSpPr>
          <p:spPr>
            <a:xfrm>
              <a:off x="1138672" y="3508297"/>
              <a:ext cx="648072" cy="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id="{240CA7E1-B79E-477E-B99A-D54DC5C0DF96}"/>
                </a:ext>
              </a:extLst>
            </p:cNvPr>
            <p:cNvCxnSpPr/>
            <p:nvPr/>
          </p:nvCxnSpPr>
          <p:spPr>
            <a:xfrm>
              <a:off x="1792419" y="3507934"/>
              <a:ext cx="0" cy="2268252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11AA821F-CDCF-4231-86EE-30A06431B905}"/>
                </a:ext>
              </a:extLst>
            </p:cNvPr>
            <p:cNvCxnSpPr/>
            <p:nvPr/>
          </p:nvCxnSpPr>
          <p:spPr>
            <a:xfrm flipH="1">
              <a:off x="1138672" y="5776186"/>
              <a:ext cx="648072" cy="0"/>
            </a:xfrm>
            <a:prstGeom prst="straightConnector1">
              <a:avLst/>
            </a:prstGeom>
            <a:ln>
              <a:solidFill>
                <a:srgbClr val="FF00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75920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6" grpId="0"/>
      <p:bldP spid="17" grpId="0" animBg="1"/>
      <p:bldP spid="22" grpId="0"/>
      <p:bldP spid="23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7BA5560-EBC9-4355-8CD7-2232D27FA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700809"/>
            <a:ext cx="8640959" cy="576063"/>
          </a:xfrm>
        </p:spPr>
        <p:txBody>
          <a:bodyPr/>
          <a:lstStyle/>
          <a:p>
            <a:r>
              <a:rPr lang="zh-CN" altLang="zh-CN" dirty="0"/>
              <a:t>执行：</a:t>
            </a:r>
            <a:r>
              <a:rPr lang="en-US" altLang="zh-CN" dirty="0" err="1"/>
              <a:t>gdb</a:t>
            </a:r>
            <a:r>
              <a:rPr lang="en-US" altLang="zh-CN" dirty="0"/>
              <a:t> bomb</a:t>
            </a:r>
            <a:r>
              <a:rPr lang="zh-CN" altLang="zh-CN" dirty="0"/>
              <a:t>，查看</a:t>
            </a:r>
            <a:r>
              <a:rPr lang="en-US" altLang="zh-CN" dirty="0"/>
              <a:t>0x804a200</a:t>
            </a:r>
            <a:r>
              <a:rPr lang="zh-CN" altLang="en-US" dirty="0"/>
              <a:t>处</a:t>
            </a:r>
            <a:r>
              <a:rPr lang="zh-CN" altLang="zh-CN" dirty="0"/>
              <a:t>存储的数据内容。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D8FF74A-59C5-400E-9760-31D990BE9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phase_1 </a:t>
            </a:r>
            <a:r>
              <a:rPr lang="zh-CN" altLang="en-US" dirty="0"/>
              <a:t>（四）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51520" y="2492896"/>
            <a:ext cx="8712968" cy="122495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l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</a:pPr>
            <a:r>
              <a:rPr lang="en-US" altLang="zh-CN" sz="1600" i="0" dirty="0" err="1">
                <a:solidFill>
                  <a:srgbClr val="92D050"/>
                </a:solidFill>
                <a:latin typeface="+mn-lt"/>
                <a:ea typeface="+mn-ea"/>
              </a:rPr>
              <a:t>nwpu-cs@nwpucs-VirtualBox</a:t>
            </a:r>
            <a:r>
              <a:rPr lang="en-US" altLang="zh-CN" sz="1600" i="0" dirty="0">
                <a:solidFill>
                  <a:schemeClr val="bg1"/>
                </a:solidFill>
                <a:latin typeface="+mn-lt"/>
                <a:ea typeface="+mn-ea"/>
              </a:rPr>
              <a:t>:</a:t>
            </a:r>
            <a:r>
              <a:rPr lang="en-US" altLang="zh-CN" sz="1600" i="0" dirty="0">
                <a:solidFill>
                  <a:schemeClr val="tx2">
                    <a:lumMod val="40000"/>
                    <a:lumOff val="60000"/>
                  </a:schemeClr>
                </a:solidFill>
                <a:latin typeface="+mn-lt"/>
                <a:ea typeface="+mn-ea"/>
              </a:rPr>
              <a:t>~/lab/lab2/bomb4</a:t>
            </a:r>
            <a:r>
              <a:rPr lang="en-US" altLang="zh-CN" sz="1600" i="0" dirty="0">
                <a:solidFill>
                  <a:schemeClr val="bg1"/>
                </a:solidFill>
                <a:latin typeface="+mn-lt"/>
                <a:ea typeface="+mn-ea"/>
              </a:rPr>
              <a:t>$ </a:t>
            </a:r>
            <a:r>
              <a:rPr lang="en-US" altLang="zh-CN" sz="1600" i="0" dirty="0" err="1">
                <a:solidFill>
                  <a:schemeClr val="bg1"/>
                </a:solidFill>
                <a:latin typeface="+mn-lt"/>
                <a:ea typeface="+mn-ea"/>
              </a:rPr>
              <a:t>gdb</a:t>
            </a:r>
            <a:r>
              <a:rPr lang="en-US" altLang="zh-CN" sz="1600" i="0" dirty="0">
                <a:solidFill>
                  <a:schemeClr val="bg1"/>
                </a:solidFill>
                <a:latin typeface="+mn-lt"/>
                <a:ea typeface="+mn-ea"/>
              </a:rPr>
              <a:t> bomb</a:t>
            </a:r>
          </a:p>
          <a:p>
            <a:pPr algn="ctr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</a:pPr>
            <a:r>
              <a:rPr lang="en-US" altLang="zh-CN" sz="1600" i="0" dirty="0">
                <a:solidFill>
                  <a:schemeClr val="bg1"/>
                </a:solidFill>
                <a:latin typeface="+mn-lt"/>
                <a:ea typeface="+mn-ea"/>
              </a:rPr>
              <a:t>……   </a:t>
            </a:r>
          </a:p>
          <a:p>
            <a:pPr algn="l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</a:pPr>
            <a:r>
              <a:rPr lang="en-US" altLang="zh-CN" sz="1600" i="0" dirty="0">
                <a:solidFill>
                  <a:schemeClr val="bg1"/>
                </a:solidFill>
                <a:latin typeface="+mn-lt"/>
                <a:ea typeface="+mn-ea"/>
              </a:rPr>
              <a:t> </a:t>
            </a:r>
            <a:r>
              <a:rPr lang="en-US" altLang="zh-CN" sz="1600" i="0" dirty="0">
                <a:solidFill>
                  <a:srgbClr val="FF0000"/>
                </a:solidFill>
                <a:latin typeface="+mn-lt"/>
                <a:ea typeface="+mn-ea"/>
              </a:rPr>
              <a:t>x /1s 0x804a200   </a:t>
            </a:r>
            <a:r>
              <a:rPr lang="en-US" altLang="zh-CN" sz="1600" i="0" dirty="0">
                <a:solidFill>
                  <a:srgbClr val="FFC000"/>
                </a:solidFill>
                <a:latin typeface="+mn-lt"/>
                <a:ea typeface="+mn-ea"/>
              </a:rPr>
              <a:t>#</a:t>
            </a:r>
            <a:r>
              <a:rPr lang="zh-CN" altLang="en-US" sz="1600" i="0" dirty="0">
                <a:solidFill>
                  <a:srgbClr val="FFC000"/>
                </a:solidFill>
                <a:latin typeface="+mn-lt"/>
                <a:ea typeface="+mn-ea"/>
              </a:rPr>
              <a:t>查看</a:t>
            </a:r>
            <a:r>
              <a:rPr lang="en-US" altLang="zh-CN" sz="1600" i="0" dirty="0">
                <a:solidFill>
                  <a:srgbClr val="FFC000"/>
                </a:solidFill>
              </a:rPr>
              <a:t>0x804a200</a:t>
            </a:r>
            <a:r>
              <a:rPr lang="zh-CN" altLang="en-US" sz="1600" i="0" dirty="0">
                <a:solidFill>
                  <a:srgbClr val="FFC000"/>
                </a:solidFill>
              </a:rPr>
              <a:t>开始的一个字符串（</a:t>
            </a:r>
            <a:r>
              <a:rPr lang="en-US" altLang="zh-CN" sz="1600" i="0" dirty="0">
                <a:solidFill>
                  <a:srgbClr val="FFC000"/>
                </a:solidFill>
              </a:rPr>
              <a:t>1s</a:t>
            </a:r>
            <a:r>
              <a:rPr lang="zh-CN" altLang="en-US" sz="1600" i="0" dirty="0">
                <a:solidFill>
                  <a:srgbClr val="FFC000"/>
                </a:solidFill>
              </a:rPr>
              <a:t>）</a:t>
            </a:r>
            <a:endParaRPr lang="en-US" altLang="zh-CN" sz="1600" i="0" dirty="0">
              <a:solidFill>
                <a:srgbClr val="FFC000"/>
              </a:solidFill>
            </a:endParaRPr>
          </a:p>
          <a:p>
            <a:pPr algn="l">
              <a:spcBef>
                <a:spcPct val="20000"/>
              </a:spcBef>
              <a:buClr>
                <a:schemeClr val="accent1"/>
              </a:buClr>
              <a:buSzPct val="100000"/>
              <a:buFont typeface="Symbol" pitchFamily="18" charset="2"/>
            </a:pPr>
            <a:r>
              <a:rPr lang="en-US" altLang="zh-CN" sz="1600" i="0" dirty="0">
                <a:solidFill>
                  <a:schemeClr val="bg1"/>
                </a:solidFill>
                <a:latin typeface="+mn-lt"/>
                <a:ea typeface="+mn-ea"/>
              </a:rPr>
              <a:t>0x804a200:	</a:t>
            </a:r>
            <a:r>
              <a:rPr lang="en-US" altLang="zh-CN" sz="1600" i="0" dirty="0">
                <a:solidFill>
                  <a:srgbClr val="00B050"/>
                </a:solidFill>
                <a:latin typeface="+mn-lt"/>
                <a:ea typeface="+mn-ea"/>
              </a:rPr>
              <a:t>"I turned the moon into something I call a Death Star."</a:t>
            </a:r>
          </a:p>
        </p:txBody>
      </p:sp>
    </p:spTree>
    <p:extLst>
      <p:ext uri="{BB962C8B-B14F-4D97-AF65-F5344CB8AC3E}">
        <p14:creationId xmlns:p14="http://schemas.microsoft.com/office/powerpoint/2010/main" val="1793643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653" y="3619813"/>
            <a:ext cx="8142977" cy="936104"/>
          </a:xfrm>
          <a:prstGeom prst="rect">
            <a:avLst/>
          </a:prstGeom>
        </p:spPr>
      </p:pic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48E8BCD-FD41-4D0E-9561-D6068DF3A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628800"/>
            <a:ext cx="8640959" cy="4890872"/>
          </a:xfrm>
        </p:spPr>
        <p:txBody>
          <a:bodyPr/>
          <a:lstStyle/>
          <a:p>
            <a:r>
              <a:rPr lang="zh-CN" altLang="en-US" b="1" dirty="0">
                <a:solidFill>
                  <a:srgbClr val="3333FF"/>
                </a:solidFill>
              </a:rPr>
              <a:t>新建一个文本文件，一行一关的答案</a:t>
            </a:r>
            <a:endParaRPr lang="en-US" altLang="zh-CN" b="1" dirty="0">
              <a:solidFill>
                <a:srgbClr val="3333FF"/>
              </a:solidFill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3333FF"/>
                </a:solidFill>
              </a:rPr>
              <a:t>    </a:t>
            </a:r>
          </a:p>
          <a:p>
            <a:endParaRPr lang="en-US" altLang="zh-CN" b="1" dirty="0">
              <a:solidFill>
                <a:srgbClr val="3333FF"/>
              </a:solidFill>
            </a:endParaRPr>
          </a:p>
          <a:p>
            <a:r>
              <a:rPr lang="zh-CN" altLang="en-US" b="1" dirty="0">
                <a:solidFill>
                  <a:srgbClr val="3333FF"/>
                </a:solidFill>
              </a:rPr>
              <a:t>运行</a:t>
            </a:r>
            <a:r>
              <a:rPr lang="en-US" altLang="zh-CN" dirty="0"/>
              <a:t>bomb</a:t>
            </a:r>
            <a:r>
              <a:rPr lang="zh-CN" altLang="en-US" dirty="0"/>
              <a:t>，提交</a:t>
            </a:r>
            <a:r>
              <a:rPr lang="en-US" altLang="zh-CN" dirty="0"/>
              <a:t>phase_1</a:t>
            </a:r>
            <a:r>
              <a:rPr lang="zh-CN" altLang="en-US" dirty="0"/>
              <a:t>答案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A9087B3-4DA8-4FAC-B5C1-DEC3AB1EB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858424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phase_1 </a:t>
            </a:r>
            <a:r>
              <a:rPr lang="zh-CN" altLang="en-US" dirty="0"/>
              <a:t>（五）</a:t>
            </a:r>
            <a:br>
              <a:rPr lang="en-US" altLang="zh-CN" dirty="0"/>
            </a:br>
            <a:r>
              <a:rPr lang="en-US" altLang="zh-CN" dirty="0"/>
              <a:t>                     ——</a:t>
            </a:r>
            <a:r>
              <a:rPr lang="zh-CN" altLang="en-US" dirty="0"/>
              <a:t>提交（方法</a:t>
            </a:r>
            <a:r>
              <a:rPr lang="en-US" altLang="zh-CN" dirty="0"/>
              <a:t>1</a:t>
            </a:r>
            <a:r>
              <a:rPr lang="zh-CN" altLang="en-US" dirty="0"/>
              <a:t>）</a:t>
            </a:r>
          </a:p>
        </p:txBody>
      </p:sp>
      <p:sp>
        <p:nvSpPr>
          <p:cNvPr id="5" name="标注: 线形 4">
            <a:extLst>
              <a:ext uri="{FF2B5EF4-FFF2-40B4-BE49-F238E27FC236}">
                <a16:creationId xmlns:a16="http://schemas.microsoft.com/office/drawing/2014/main" id="{15DAE1F8-7396-4D4E-848F-EBBC4AE4D24B}"/>
              </a:ext>
            </a:extLst>
          </p:cNvPr>
          <p:cNvSpPr/>
          <p:nvPr/>
        </p:nvSpPr>
        <p:spPr>
          <a:xfrm>
            <a:off x="2817921" y="5177792"/>
            <a:ext cx="3960440" cy="1323961"/>
          </a:xfrm>
          <a:prstGeom prst="borderCallout1">
            <a:avLst>
              <a:gd name="adj1" fmla="val 18750"/>
              <a:gd name="adj2" fmla="val -8333"/>
              <a:gd name="adj3" fmla="val -47317"/>
              <a:gd name="adj4" fmla="val -24336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2000" i="0" dirty="0"/>
              <a:t>第</a:t>
            </a:r>
            <a:r>
              <a:rPr lang="en-US" altLang="zh-CN" sz="2000" i="0" dirty="0"/>
              <a:t>2</a:t>
            </a:r>
            <a:r>
              <a:rPr lang="zh-CN" altLang="en-US" sz="2000" i="0" dirty="0"/>
              <a:t>关我们还不知道输入什么！</a:t>
            </a:r>
            <a:endParaRPr lang="en-US" altLang="zh-CN" sz="2000" i="0" dirty="0"/>
          </a:p>
          <a:p>
            <a:pPr algn="l"/>
            <a:r>
              <a:rPr lang="zh-CN" altLang="en-US" sz="2000" i="0" dirty="0"/>
              <a:t>按</a:t>
            </a:r>
            <a:r>
              <a:rPr lang="en-US" altLang="zh-CN" sz="2000" b="1" i="0" dirty="0" err="1">
                <a:solidFill>
                  <a:srgbClr val="FF0000"/>
                </a:solidFill>
              </a:rPr>
              <a:t>ctrl+c</a:t>
            </a:r>
            <a:r>
              <a:rPr lang="zh-CN" altLang="en-US" sz="2000" i="0" dirty="0"/>
              <a:t>退出程序不会引爆炸弹，而且第一关会提交到服务器。</a:t>
            </a:r>
            <a:r>
              <a:rPr lang="en-US" altLang="zh-CN" sz="2000" i="0" dirty="0"/>
              <a:t>     </a:t>
            </a:r>
            <a:endParaRPr lang="zh-CN" altLang="en-US" sz="2000" i="0" dirty="0"/>
          </a:p>
        </p:txBody>
      </p:sp>
      <p:sp>
        <p:nvSpPr>
          <p:cNvPr id="7" name="矩形 6"/>
          <p:cNvSpPr/>
          <p:nvPr/>
        </p:nvSpPr>
        <p:spPr>
          <a:xfrm>
            <a:off x="661322" y="4195877"/>
            <a:ext cx="4690864" cy="2880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/>
          <a:srcRect b="26376"/>
          <a:stretch/>
        </p:blipFill>
        <p:spPr>
          <a:xfrm>
            <a:off x="1475656" y="2251697"/>
            <a:ext cx="3708591" cy="673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1999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91295" y="1772816"/>
            <a:ext cx="7818966" cy="4608512"/>
          </a:xfrm>
          <a:solidFill>
            <a:schemeClr val="tx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>
                <a:solidFill>
                  <a:schemeClr val="bg1"/>
                </a:solidFill>
              </a:rPr>
              <a:t> </a:t>
            </a:r>
            <a:r>
              <a:rPr lang="en-US" altLang="zh-CN" sz="1600" dirty="0">
                <a:solidFill>
                  <a:srgbClr val="FF0000"/>
                </a:solidFill>
              </a:rPr>
              <a:t>b  phase_1         </a:t>
            </a:r>
            <a:r>
              <a:rPr lang="en-US" altLang="zh-CN" sz="1600" dirty="0">
                <a:solidFill>
                  <a:srgbClr val="FFC000"/>
                </a:solidFill>
              </a:rPr>
              <a:t>#</a:t>
            </a:r>
            <a:r>
              <a:rPr lang="zh-CN" altLang="en-US" sz="1600" dirty="0">
                <a:solidFill>
                  <a:srgbClr val="FFC000"/>
                </a:solidFill>
              </a:rPr>
              <a:t>在</a:t>
            </a:r>
            <a:r>
              <a:rPr lang="en-US" altLang="zh-CN" sz="1600" dirty="0">
                <a:solidFill>
                  <a:srgbClr val="FFC000"/>
                </a:solidFill>
              </a:rPr>
              <a:t>phase_1</a:t>
            </a:r>
            <a:r>
              <a:rPr lang="zh-CN" altLang="en-US" sz="1600" dirty="0">
                <a:solidFill>
                  <a:srgbClr val="FFC000"/>
                </a:solidFill>
              </a:rPr>
              <a:t>函数开始处设置断点</a:t>
            </a:r>
            <a:endParaRPr lang="en-US" altLang="zh-CN" sz="16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bg1"/>
                </a:solidFill>
              </a:rPr>
              <a:t>Breakpoint 1 at 0x8048bcc</a:t>
            </a:r>
          </a:p>
          <a:p>
            <a:pPr marL="0" indent="0">
              <a:buNone/>
            </a:pPr>
            <a:r>
              <a:rPr lang="en-US" altLang="zh-CN" sz="1600" dirty="0">
                <a:solidFill>
                  <a:schemeClr val="bg1"/>
                </a:solidFill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</a:rPr>
              <a:t>r</a:t>
            </a:r>
            <a:r>
              <a:rPr lang="en-US" altLang="zh-CN" sz="1600" dirty="0">
                <a:solidFill>
                  <a:srgbClr val="FF0000"/>
                </a:solidFill>
              </a:rPr>
              <a:t>  -f  solution.txt  -p  888888    </a:t>
            </a:r>
            <a:r>
              <a:rPr lang="en-US" altLang="zh-CN" sz="1600" dirty="0">
                <a:solidFill>
                  <a:srgbClr val="FFC000"/>
                </a:solidFill>
              </a:rPr>
              <a:t>#</a:t>
            </a:r>
            <a:r>
              <a:rPr lang="zh-CN" altLang="en-US" sz="1600" dirty="0">
                <a:solidFill>
                  <a:srgbClr val="FFC000"/>
                </a:solidFill>
              </a:rPr>
              <a:t>执行，</a:t>
            </a:r>
            <a:r>
              <a:rPr lang="en-US" altLang="zh-CN" sz="1600" dirty="0">
                <a:solidFill>
                  <a:srgbClr val="FFC000"/>
                </a:solidFill>
              </a:rPr>
              <a:t>r</a:t>
            </a:r>
            <a:r>
              <a:rPr lang="zh-CN" altLang="en-US" sz="1600" dirty="0">
                <a:solidFill>
                  <a:srgbClr val="FFC000"/>
                </a:solidFill>
              </a:rPr>
              <a:t>命令后输入</a:t>
            </a:r>
            <a:r>
              <a:rPr lang="en-US" altLang="zh-CN" sz="1600" dirty="0">
                <a:solidFill>
                  <a:srgbClr val="FFC000"/>
                </a:solidFill>
              </a:rPr>
              <a:t>bomb </a:t>
            </a:r>
            <a:r>
              <a:rPr lang="zh-CN" altLang="en-US" sz="1600" dirty="0">
                <a:solidFill>
                  <a:srgbClr val="FFC000"/>
                </a:solidFill>
              </a:rPr>
              <a:t>参数</a:t>
            </a:r>
            <a:endParaRPr lang="en-US" altLang="zh-CN" sz="16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bg1"/>
                </a:solidFill>
              </a:rPr>
              <a:t>Starting program: /home/</a:t>
            </a:r>
            <a:r>
              <a:rPr lang="en-US" altLang="zh-CN" sz="1600" dirty="0" err="1">
                <a:solidFill>
                  <a:schemeClr val="bg1"/>
                </a:solidFill>
              </a:rPr>
              <a:t>nwpu-cs</a:t>
            </a:r>
            <a:r>
              <a:rPr lang="en-US" altLang="zh-CN" sz="1600" dirty="0">
                <a:solidFill>
                  <a:schemeClr val="bg1"/>
                </a:solidFill>
              </a:rPr>
              <a:t>/lab/lab2/bomb4/bomb -f solution.txt -p 888888</a:t>
            </a:r>
          </a:p>
          <a:p>
            <a:pPr marL="0" indent="0">
              <a:buNone/>
            </a:pPr>
            <a:r>
              <a:rPr lang="en-US" altLang="zh-CN" sz="1600" dirty="0">
                <a:solidFill>
                  <a:schemeClr val="bg1"/>
                </a:solidFill>
              </a:rPr>
              <a:t>Welcome to my fiendish little bomb. You have 6 phases with</a:t>
            </a:r>
          </a:p>
          <a:p>
            <a:pPr marL="0" indent="0">
              <a:buNone/>
            </a:pPr>
            <a:r>
              <a:rPr lang="en-US" altLang="zh-CN" sz="1600" dirty="0">
                <a:solidFill>
                  <a:schemeClr val="bg1"/>
                </a:solidFill>
              </a:rPr>
              <a:t>which to blow yourself up. Have a nice day!</a:t>
            </a:r>
          </a:p>
          <a:p>
            <a:pPr marL="0" indent="0">
              <a:buNone/>
            </a:pPr>
            <a:endParaRPr lang="en-US" altLang="zh-CN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bg1"/>
                </a:solidFill>
              </a:rPr>
              <a:t>Breakpoint 1, 0x08048bcc in phase_1 ()</a:t>
            </a:r>
          </a:p>
          <a:p>
            <a:pPr marL="0" indent="0">
              <a:buNone/>
            </a:pPr>
            <a:r>
              <a:rPr lang="en-US" altLang="zh-CN" sz="1600" dirty="0">
                <a:solidFill>
                  <a:schemeClr val="bg1"/>
                </a:solidFill>
              </a:rPr>
              <a:t> </a:t>
            </a:r>
            <a:r>
              <a:rPr lang="en-US" altLang="zh-CN" sz="1600" dirty="0">
                <a:solidFill>
                  <a:srgbClr val="FF0000"/>
                </a:solidFill>
              </a:rPr>
              <a:t>display  /</a:t>
            </a:r>
            <a:r>
              <a:rPr lang="en-US" altLang="zh-CN" sz="1600" dirty="0" err="1">
                <a:solidFill>
                  <a:srgbClr val="FF0000"/>
                </a:solidFill>
              </a:rPr>
              <a:t>i</a:t>
            </a:r>
            <a:r>
              <a:rPr lang="en-US" altLang="zh-CN" sz="1600" dirty="0">
                <a:solidFill>
                  <a:srgbClr val="FF0000"/>
                </a:solidFill>
              </a:rPr>
              <a:t>  $pc   </a:t>
            </a:r>
            <a:r>
              <a:rPr lang="en-US" altLang="zh-CN" sz="1600" dirty="0">
                <a:solidFill>
                  <a:srgbClr val="FFC000"/>
                </a:solidFill>
              </a:rPr>
              <a:t>#</a:t>
            </a:r>
            <a:r>
              <a:rPr lang="zh-CN" altLang="en-US" sz="1600" dirty="0">
                <a:solidFill>
                  <a:srgbClr val="FFC000"/>
                </a:solidFill>
              </a:rPr>
              <a:t>显示下条要执行的指令</a:t>
            </a:r>
            <a:endParaRPr lang="en-US" altLang="zh-CN" sz="16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bg1"/>
                </a:solidFill>
              </a:rPr>
              <a:t>1: x/</a:t>
            </a:r>
            <a:r>
              <a:rPr lang="en-US" altLang="zh-CN" sz="1600" dirty="0" err="1">
                <a:solidFill>
                  <a:schemeClr val="bg1"/>
                </a:solidFill>
              </a:rPr>
              <a:t>i</a:t>
            </a:r>
            <a:r>
              <a:rPr lang="en-US" altLang="zh-CN" sz="1600" dirty="0">
                <a:solidFill>
                  <a:schemeClr val="bg1"/>
                </a:solidFill>
              </a:rPr>
              <a:t> $pc</a:t>
            </a:r>
          </a:p>
          <a:p>
            <a:pPr>
              <a:lnSpc>
                <a:spcPct val="80000"/>
              </a:lnSpc>
              <a:buFont typeface="Symbol" panose="05050102010706020507" pitchFamily="18" charset="2"/>
              <a:buChar char="Þ"/>
            </a:pPr>
            <a:r>
              <a:rPr lang="en-US" altLang="zh-CN" sz="1600" dirty="0">
                <a:solidFill>
                  <a:schemeClr val="bg1"/>
                </a:solidFill>
              </a:rPr>
              <a:t>0x8048bcc &lt;phase_1+6&gt;:	push   $0x804a200</a:t>
            </a:r>
          </a:p>
          <a:p>
            <a:pPr marL="0" indent="0">
              <a:buNone/>
            </a:pPr>
            <a:r>
              <a:rPr lang="en-US" altLang="zh-CN" sz="1600" dirty="0">
                <a:solidFill>
                  <a:schemeClr val="bg1"/>
                </a:solidFill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</a:rPr>
              <a:t>ni</a:t>
            </a:r>
            <a:r>
              <a:rPr lang="en-US" altLang="zh-CN" sz="1600" dirty="0">
                <a:solidFill>
                  <a:srgbClr val="FF0000"/>
                </a:solidFill>
              </a:rPr>
              <a:t>   </a:t>
            </a:r>
            <a:r>
              <a:rPr lang="en-US" altLang="zh-CN" sz="1600" dirty="0">
                <a:solidFill>
                  <a:srgbClr val="FFC000"/>
                </a:solidFill>
              </a:rPr>
              <a:t> #</a:t>
            </a:r>
            <a:r>
              <a:rPr lang="zh-CN" altLang="en-US" sz="1600" dirty="0">
                <a:solidFill>
                  <a:srgbClr val="FFC000"/>
                </a:solidFill>
              </a:rPr>
              <a:t>单步执行，不进入函数</a:t>
            </a:r>
            <a:endParaRPr lang="en-US" altLang="zh-CN" sz="16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altLang="zh-CN" sz="1600" dirty="0">
                <a:solidFill>
                  <a:schemeClr val="bg1"/>
                </a:solidFill>
              </a:rPr>
              <a:t>0x08048bd1 in phase_1 ()</a:t>
            </a:r>
          </a:p>
          <a:p>
            <a:pPr marL="0" indent="0">
              <a:buNone/>
            </a:pPr>
            <a:r>
              <a:rPr lang="en-US" altLang="zh-CN" sz="1600" dirty="0">
                <a:solidFill>
                  <a:schemeClr val="bg1"/>
                </a:solidFill>
              </a:rPr>
              <a:t>1: x/</a:t>
            </a:r>
            <a:r>
              <a:rPr lang="en-US" altLang="zh-CN" sz="1600" dirty="0" err="1">
                <a:solidFill>
                  <a:schemeClr val="bg1"/>
                </a:solidFill>
              </a:rPr>
              <a:t>i</a:t>
            </a:r>
            <a:r>
              <a:rPr lang="en-US" altLang="zh-CN" sz="1600" dirty="0">
                <a:solidFill>
                  <a:schemeClr val="bg1"/>
                </a:solidFill>
              </a:rPr>
              <a:t> $pc</a:t>
            </a:r>
          </a:p>
          <a:p>
            <a:pPr>
              <a:lnSpc>
                <a:spcPct val="80000"/>
              </a:lnSpc>
              <a:buFont typeface="Symbol" panose="05050102010706020507" pitchFamily="18" charset="2"/>
              <a:buChar char="Þ"/>
            </a:pPr>
            <a:r>
              <a:rPr lang="en-US" altLang="zh-CN" sz="1600" dirty="0">
                <a:solidFill>
                  <a:schemeClr val="bg1"/>
                </a:solidFill>
              </a:rPr>
              <a:t>0x8048bd1 &lt;phase_1+11&gt;:	</a:t>
            </a:r>
            <a:r>
              <a:rPr lang="en-US" altLang="zh-CN" sz="1600" dirty="0" err="1">
                <a:solidFill>
                  <a:schemeClr val="bg1"/>
                </a:solidFill>
              </a:rPr>
              <a:t>pushl</a:t>
            </a:r>
            <a:r>
              <a:rPr lang="en-US" altLang="zh-CN" sz="1600" dirty="0">
                <a:solidFill>
                  <a:schemeClr val="bg1"/>
                </a:solidFill>
              </a:rPr>
              <a:t>  0x8(%</a:t>
            </a:r>
            <a:r>
              <a:rPr lang="en-US" altLang="zh-CN" sz="1600" dirty="0" err="1">
                <a:solidFill>
                  <a:schemeClr val="bg1"/>
                </a:solidFill>
              </a:rPr>
              <a:t>ebp</a:t>
            </a:r>
            <a:r>
              <a:rPr lang="en-US" altLang="zh-CN" sz="1600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85978" y="260648"/>
            <a:ext cx="8229600" cy="1252728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phase_1 </a:t>
            </a:r>
            <a:r>
              <a:rPr lang="zh-CN" altLang="en-US" dirty="0"/>
              <a:t>（五）</a:t>
            </a:r>
            <a:br>
              <a:rPr lang="en-US" altLang="zh-CN" dirty="0"/>
            </a:br>
            <a:r>
              <a:rPr lang="en-US" altLang="zh-CN" dirty="0"/>
              <a:t>                ——</a:t>
            </a:r>
            <a:r>
              <a:rPr lang="zh-CN" altLang="en-US" dirty="0"/>
              <a:t>提交（方法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zh-CN" altLang="en-US" sz="2200" dirty="0">
                <a:solidFill>
                  <a:srgbClr val="FF0000"/>
                </a:solidFill>
              </a:rPr>
              <a:t>不容易引爆</a:t>
            </a:r>
          </a:p>
        </p:txBody>
      </p:sp>
    </p:spTree>
    <p:extLst>
      <p:ext uri="{BB962C8B-B14F-4D97-AF65-F5344CB8AC3E}">
        <p14:creationId xmlns:p14="http://schemas.microsoft.com/office/powerpoint/2010/main" val="1591240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99592" y="260648"/>
            <a:ext cx="7452816" cy="6336704"/>
          </a:xfrm>
          <a:solidFill>
            <a:schemeClr val="tx1"/>
          </a:solidFill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sz="2300" dirty="0">
                <a:solidFill>
                  <a:schemeClr val="bg1"/>
                </a:solidFill>
              </a:rPr>
              <a:t> </a:t>
            </a:r>
            <a:r>
              <a:rPr lang="en-US" altLang="zh-CN" sz="2300" dirty="0" err="1">
                <a:solidFill>
                  <a:srgbClr val="FF0000"/>
                </a:solidFill>
              </a:rPr>
              <a:t>disas</a:t>
            </a:r>
            <a:r>
              <a:rPr lang="en-US" altLang="zh-CN" sz="2300" dirty="0">
                <a:solidFill>
                  <a:srgbClr val="FF0000"/>
                </a:solidFill>
              </a:rPr>
              <a:t>     </a:t>
            </a:r>
            <a:r>
              <a:rPr lang="en-US" altLang="zh-CN" sz="2300" dirty="0">
                <a:solidFill>
                  <a:srgbClr val="FFC000"/>
                </a:solidFill>
              </a:rPr>
              <a:t>#</a:t>
            </a:r>
            <a:r>
              <a:rPr lang="zh-CN" altLang="en-US" sz="2300" dirty="0">
                <a:solidFill>
                  <a:srgbClr val="FFC000"/>
                </a:solidFill>
              </a:rPr>
              <a:t>显示当前函数的汇编代码</a:t>
            </a:r>
            <a:endParaRPr lang="en-US" altLang="zh-CN" sz="23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altLang="zh-CN" sz="2300" dirty="0">
                <a:solidFill>
                  <a:schemeClr val="bg1"/>
                </a:solidFill>
              </a:rPr>
              <a:t>Dump of assembler code for function phase_1:</a:t>
            </a:r>
          </a:p>
          <a:p>
            <a:pPr marL="0" indent="0">
              <a:buNone/>
            </a:pPr>
            <a:r>
              <a:rPr lang="en-US" altLang="zh-CN" sz="2300" dirty="0">
                <a:solidFill>
                  <a:schemeClr val="bg1"/>
                </a:solidFill>
              </a:rPr>
              <a:t>   0x08048bc6 &lt;+0&gt;:	push   %</a:t>
            </a:r>
            <a:r>
              <a:rPr lang="en-US" altLang="zh-CN" sz="2300" dirty="0" err="1">
                <a:solidFill>
                  <a:schemeClr val="bg1"/>
                </a:solidFill>
              </a:rPr>
              <a:t>ebp</a:t>
            </a:r>
            <a:endParaRPr lang="en-US" altLang="zh-CN" sz="23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zh-CN" sz="2300" dirty="0">
                <a:solidFill>
                  <a:schemeClr val="bg1"/>
                </a:solidFill>
              </a:rPr>
              <a:t>   0x08048bc7 &lt;+1&gt;:	</a:t>
            </a:r>
            <a:r>
              <a:rPr lang="en-US" altLang="zh-CN" sz="2300" dirty="0" err="1">
                <a:solidFill>
                  <a:schemeClr val="bg1"/>
                </a:solidFill>
              </a:rPr>
              <a:t>mov</a:t>
            </a:r>
            <a:r>
              <a:rPr lang="en-US" altLang="zh-CN" sz="2300" dirty="0">
                <a:solidFill>
                  <a:schemeClr val="bg1"/>
                </a:solidFill>
              </a:rPr>
              <a:t>    %</a:t>
            </a:r>
            <a:r>
              <a:rPr lang="en-US" altLang="zh-CN" sz="2300" dirty="0" err="1">
                <a:solidFill>
                  <a:schemeClr val="bg1"/>
                </a:solidFill>
              </a:rPr>
              <a:t>esp</a:t>
            </a:r>
            <a:r>
              <a:rPr lang="en-US" altLang="zh-CN" sz="2300" dirty="0">
                <a:solidFill>
                  <a:schemeClr val="bg1"/>
                </a:solidFill>
              </a:rPr>
              <a:t>,%</a:t>
            </a:r>
            <a:r>
              <a:rPr lang="en-US" altLang="zh-CN" sz="2300" dirty="0" err="1">
                <a:solidFill>
                  <a:schemeClr val="bg1"/>
                </a:solidFill>
              </a:rPr>
              <a:t>ebp</a:t>
            </a:r>
            <a:endParaRPr lang="en-US" altLang="zh-CN" sz="23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zh-CN" sz="2300" dirty="0">
                <a:solidFill>
                  <a:schemeClr val="bg1"/>
                </a:solidFill>
              </a:rPr>
              <a:t>   0x08048bc9 &lt;+3&gt;:	sub    $0x10,%esp</a:t>
            </a:r>
          </a:p>
          <a:p>
            <a:pPr marL="0" indent="0">
              <a:buNone/>
            </a:pPr>
            <a:r>
              <a:rPr lang="en-US" altLang="zh-CN" sz="2300" dirty="0">
                <a:solidFill>
                  <a:schemeClr val="bg1"/>
                </a:solidFill>
              </a:rPr>
              <a:t>   0x08048bcc &lt;+6&gt;:	push   $0x804a200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altLang="zh-CN" sz="2300" dirty="0">
                <a:solidFill>
                  <a:schemeClr val="bg1"/>
                </a:solidFill>
              </a:rPr>
              <a:t> 0x08048bd1 &lt;+11&gt;:	</a:t>
            </a:r>
            <a:r>
              <a:rPr lang="en-US" altLang="zh-CN" sz="2300" dirty="0" err="1">
                <a:solidFill>
                  <a:schemeClr val="bg1"/>
                </a:solidFill>
              </a:rPr>
              <a:t>pushl</a:t>
            </a:r>
            <a:r>
              <a:rPr lang="en-US" altLang="zh-CN" sz="2300" dirty="0">
                <a:solidFill>
                  <a:schemeClr val="bg1"/>
                </a:solidFill>
              </a:rPr>
              <a:t>  0x8(%</a:t>
            </a:r>
            <a:r>
              <a:rPr lang="en-US" altLang="zh-CN" sz="2300" dirty="0" err="1">
                <a:solidFill>
                  <a:schemeClr val="bg1"/>
                </a:solidFill>
              </a:rPr>
              <a:t>ebp</a:t>
            </a:r>
            <a:r>
              <a:rPr lang="en-US" altLang="zh-CN" sz="23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altLang="zh-CN" sz="2300" dirty="0">
                <a:solidFill>
                  <a:schemeClr val="bg1"/>
                </a:solidFill>
              </a:rPr>
              <a:t>   0x08048bd4 &lt;+14&gt;:	call   0x804904c &lt;</a:t>
            </a:r>
            <a:r>
              <a:rPr lang="en-US" altLang="zh-CN" sz="2300" dirty="0" err="1">
                <a:solidFill>
                  <a:schemeClr val="bg1"/>
                </a:solidFill>
              </a:rPr>
              <a:t>strings_not_equal</a:t>
            </a:r>
            <a:r>
              <a:rPr lang="en-US" altLang="zh-CN" sz="2300" dirty="0">
                <a:solidFill>
                  <a:schemeClr val="bg1"/>
                </a:solidFill>
              </a:rPr>
              <a:t>&gt;</a:t>
            </a:r>
          </a:p>
          <a:p>
            <a:pPr marL="0" indent="0">
              <a:buNone/>
            </a:pPr>
            <a:r>
              <a:rPr lang="en-US" altLang="zh-CN" sz="2300" dirty="0">
                <a:solidFill>
                  <a:schemeClr val="bg1"/>
                </a:solidFill>
              </a:rPr>
              <a:t>   0x08048bd9 &lt;+19&gt;:	add    $0x10,%esp</a:t>
            </a:r>
          </a:p>
          <a:p>
            <a:pPr marL="0" indent="0">
              <a:buNone/>
            </a:pPr>
            <a:r>
              <a:rPr lang="en-US" altLang="zh-CN" sz="2300" dirty="0">
                <a:solidFill>
                  <a:schemeClr val="bg1"/>
                </a:solidFill>
              </a:rPr>
              <a:t>   0x08048bdc &lt;+22&gt;:	test   %</a:t>
            </a:r>
            <a:r>
              <a:rPr lang="en-US" altLang="zh-CN" sz="2300" dirty="0" err="1">
                <a:solidFill>
                  <a:schemeClr val="bg1"/>
                </a:solidFill>
              </a:rPr>
              <a:t>eax</a:t>
            </a:r>
            <a:r>
              <a:rPr lang="en-US" altLang="zh-CN" sz="2300" dirty="0">
                <a:solidFill>
                  <a:schemeClr val="bg1"/>
                </a:solidFill>
              </a:rPr>
              <a:t>,%</a:t>
            </a:r>
            <a:r>
              <a:rPr lang="en-US" altLang="zh-CN" sz="2300" dirty="0" err="1">
                <a:solidFill>
                  <a:schemeClr val="bg1"/>
                </a:solidFill>
              </a:rPr>
              <a:t>eax</a:t>
            </a:r>
            <a:endParaRPr lang="en-US" altLang="zh-CN" sz="23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zh-CN" sz="2300" dirty="0">
                <a:solidFill>
                  <a:schemeClr val="bg1"/>
                </a:solidFill>
              </a:rPr>
              <a:t>   </a:t>
            </a:r>
            <a:r>
              <a:rPr lang="en-US" altLang="zh-CN" sz="2300" b="1" dirty="0">
                <a:solidFill>
                  <a:srgbClr val="00B050"/>
                </a:solidFill>
              </a:rPr>
              <a:t>0x08048bde</a:t>
            </a:r>
            <a:r>
              <a:rPr lang="en-US" altLang="zh-CN" sz="2300" dirty="0">
                <a:solidFill>
                  <a:srgbClr val="00B050"/>
                </a:solidFill>
              </a:rPr>
              <a:t> &lt;+24&gt;:	je     0x8048be5 &lt;phase_1+31&gt;</a:t>
            </a:r>
          </a:p>
          <a:p>
            <a:pPr marL="0" indent="0">
              <a:buNone/>
            </a:pPr>
            <a:r>
              <a:rPr lang="en-US" altLang="zh-CN" sz="2300" dirty="0">
                <a:solidFill>
                  <a:schemeClr val="bg1"/>
                </a:solidFill>
              </a:rPr>
              <a:t>   0x08048be0 &lt;+26&gt;:	call   0x80492c0 &lt;</a:t>
            </a:r>
            <a:r>
              <a:rPr lang="en-US" altLang="zh-CN" sz="2300" dirty="0" err="1">
                <a:solidFill>
                  <a:schemeClr val="bg1"/>
                </a:solidFill>
              </a:rPr>
              <a:t>explode_bomb</a:t>
            </a:r>
            <a:r>
              <a:rPr lang="en-US" altLang="zh-CN" sz="2300" dirty="0">
                <a:solidFill>
                  <a:schemeClr val="bg1"/>
                </a:solidFill>
              </a:rPr>
              <a:t>&gt;</a:t>
            </a:r>
          </a:p>
          <a:p>
            <a:pPr marL="0" indent="0">
              <a:buNone/>
            </a:pPr>
            <a:r>
              <a:rPr lang="en-US" altLang="zh-CN" sz="2300" dirty="0">
                <a:solidFill>
                  <a:schemeClr val="bg1"/>
                </a:solidFill>
              </a:rPr>
              <a:t>   0x08048be5 &lt;+31&gt;:	leave  </a:t>
            </a:r>
          </a:p>
          <a:p>
            <a:pPr marL="0" indent="0">
              <a:buNone/>
            </a:pPr>
            <a:r>
              <a:rPr lang="en-US" altLang="zh-CN" sz="2300" dirty="0">
                <a:solidFill>
                  <a:schemeClr val="bg1"/>
                </a:solidFill>
              </a:rPr>
              <a:t>   0x08048be6 &lt;+32&gt;:	ret    </a:t>
            </a:r>
          </a:p>
          <a:p>
            <a:pPr marL="0" indent="0">
              <a:buNone/>
            </a:pPr>
            <a:r>
              <a:rPr lang="en-US" altLang="zh-CN" sz="2300" dirty="0">
                <a:solidFill>
                  <a:schemeClr val="bg1"/>
                </a:solidFill>
              </a:rPr>
              <a:t>End of assembler dump.</a:t>
            </a:r>
          </a:p>
          <a:p>
            <a:pPr marL="0" indent="0">
              <a:buNone/>
            </a:pPr>
            <a:r>
              <a:rPr lang="en-US" altLang="zh-CN" sz="2300" dirty="0">
                <a:solidFill>
                  <a:schemeClr val="bg1"/>
                </a:solidFill>
              </a:rPr>
              <a:t> </a:t>
            </a:r>
            <a:r>
              <a:rPr lang="en-US" altLang="zh-CN" sz="2300" dirty="0">
                <a:solidFill>
                  <a:srgbClr val="FF0000"/>
                </a:solidFill>
              </a:rPr>
              <a:t>b  *0x08048bde    </a:t>
            </a:r>
            <a:r>
              <a:rPr lang="en-US" altLang="zh-CN" sz="2300" dirty="0">
                <a:solidFill>
                  <a:srgbClr val="FFC000"/>
                </a:solidFill>
              </a:rPr>
              <a:t> #</a:t>
            </a:r>
            <a:r>
              <a:rPr lang="zh-CN" altLang="en-US" sz="2300" dirty="0">
                <a:solidFill>
                  <a:srgbClr val="FFC000"/>
                </a:solidFill>
              </a:rPr>
              <a:t>在</a:t>
            </a:r>
            <a:r>
              <a:rPr lang="en-US" altLang="zh-CN" sz="2300" dirty="0">
                <a:solidFill>
                  <a:srgbClr val="FFC000"/>
                </a:solidFill>
              </a:rPr>
              <a:t>0x08048bde </a:t>
            </a:r>
            <a:r>
              <a:rPr lang="zh-CN" altLang="en-US" sz="2300" dirty="0">
                <a:solidFill>
                  <a:srgbClr val="FFC000"/>
                </a:solidFill>
              </a:rPr>
              <a:t>设置断点</a:t>
            </a:r>
            <a:endParaRPr lang="en-US" altLang="zh-CN" sz="23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altLang="zh-CN" sz="2300" dirty="0">
                <a:solidFill>
                  <a:schemeClr val="bg1"/>
                </a:solidFill>
              </a:rPr>
              <a:t>Breakpoint 2 at 0x8048bde</a:t>
            </a:r>
          </a:p>
          <a:p>
            <a:pPr marL="0" indent="0">
              <a:buNone/>
            </a:pPr>
            <a:r>
              <a:rPr lang="en-US" altLang="zh-CN" sz="2300" dirty="0">
                <a:solidFill>
                  <a:schemeClr val="bg1"/>
                </a:solidFill>
              </a:rPr>
              <a:t> </a:t>
            </a:r>
            <a:r>
              <a:rPr lang="en-US" altLang="zh-CN" sz="2300" dirty="0">
                <a:solidFill>
                  <a:srgbClr val="FF0000"/>
                </a:solidFill>
              </a:rPr>
              <a:t>c    </a:t>
            </a:r>
            <a:r>
              <a:rPr lang="en-US" altLang="zh-CN" sz="2300" dirty="0">
                <a:solidFill>
                  <a:srgbClr val="FFC000"/>
                </a:solidFill>
              </a:rPr>
              <a:t> #</a:t>
            </a:r>
            <a:r>
              <a:rPr lang="zh-CN" altLang="en-US" sz="2300" dirty="0">
                <a:solidFill>
                  <a:srgbClr val="FFC000"/>
                </a:solidFill>
              </a:rPr>
              <a:t>继续执行</a:t>
            </a:r>
            <a:endParaRPr lang="en-US" altLang="zh-CN" sz="2300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altLang="zh-CN" sz="2300" dirty="0">
                <a:solidFill>
                  <a:schemeClr val="bg1"/>
                </a:solidFill>
              </a:rPr>
              <a:t>Continuing.</a:t>
            </a:r>
          </a:p>
          <a:p>
            <a:pPr marL="0" indent="0">
              <a:buNone/>
            </a:pPr>
            <a:endParaRPr lang="en-US" altLang="zh-CN" sz="23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altLang="zh-CN" sz="2300" dirty="0">
              <a:solidFill>
                <a:schemeClr val="bg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043608" y="3284984"/>
            <a:ext cx="6120680" cy="288032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线形标注 2 4"/>
          <p:cNvSpPr/>
          <p:nvPr/>
        </p:nvSpPr>
        <p:spPr>
          <a:xfrm>
            <a:off x="6228184" y="1700808"/>
            <a:ext cx="2736304" cy="648072"/>
          </a:xfrm>
          <a:prstGeom prst="borderCallout2">
            <a:avLst>
              <a:gd name="adj1" fmla="val 36387"/>
              <a:gd name="adj2" fmla="val -2538"/>
              <a:gd name="adj3" fmla="val 38592"/>
              <a:gd name="adj4" fmla="val -15155"/>
              <a:gd name="adj5" fmla="val 233754"/>
              <a:gd name="adj6" fmla="val -20815"/>
            </a:avLst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1600" dirty="0">
                <a:solidFill>
                  <a:srgbClr val="FF0000"/>
                </a:solidFill>
              </a:rPr>
              <a:t>停在</a:t>
            </a:r>
            <a:r>
              <a:rPr lang="en-US" altLang="zh-CN" sz="1600" dirty="0">
                <a:solidFill>
                  <a:srgbClr val="FF0000"/>
                </a:solidFill>
              </a:rPr>
              <a:t>&lt;</a:t>
            </a:r>
            <a:r>
              <a:rPr lang="en-US" altLang="zh-CN" sz="1600" dirty="0" err="1">
                <a:solidFill>
                  <a:srgbClr val="FF0000"/>
                </a:solidFill>
              </a:rPr>
              <a:t>explode_bomb</a:t>
            </a:r>
            <a:r>
              <a:rPr lang="en-US" altLang="zh-CN" sz="1600" dirty="0">
                <a:solidFill>
                  <a:srgbClr val="FF0000"/>
                </a:solidFill>
              </a:rPr>
              <a:t>&gt;</a:t>
            </a:r>
            <a:r>
              <a:rPr lang="zh-CN" altLang="en-US" sz="1600" dirty="0">
                <a:solidFill>
                  <a:srgbClr val="FF0000"/>
                </a:solidFill>
              </a:rPr>
              <a:t>函数前</a:t>
            </a:r>
          </a:p>
        </p:txBody>
      </p:sp>
      <p:sp>
        <p:nvSpPr>
          <p:cNvPr id="8" name="矩形 7"/>
          <p:cNvSpPr/>
          <p:nvPr/>
        </p:nvSpPr>
        <p:spPr>
          <a:xfrm>
            <a:off x="1187624" y="4797152"/>
            <a:ext cx="1872208" cy="360040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8830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899592" y="338328"/>
            <a:ext cx="7408333" cy="6519672"/>
          </a:xfrm>
          <a:solidFill>
            <a:schemeClr val="tx1"/>
          </a:solidFill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CN" sz="1600" dirty="0">
                <a:solidFill>
                  <a:schemeClr val="bg1"/>
                </a:solidFill>
              </a:rPr>
              <a:t>Breakpoint 2, 0x08048bde in phase_1 ()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600" dirty="0">
                <a:solidFill>
                  <a:schemeClr val="bg1"/>
                </a:solidFill>
              </a:rPr>
              <a:t>5: x/</a:t>
            </a:r>
            <a:r>
              <a:rPr lang="en-US" altLang="zh-CN" sz="1600" dirty="0" err="1">
                <a:solidFill>
                  <a:schemeClr val="bg1"/>
                </a:solidFill>
              </a:rPr>
              <a:t>i</a:t>
            </a:r>
            <a:r>
              <a:rPr lang="en-US" altLang="zh-CN" sz="1600" dirty="0">
                <a:solidFill>
                  <a:schemeClr val="bg1"/>
                </a:solidFill>
              </a:rPr>
              <a:t> $pc</a:t>
            </a:r>
          </a:p>
          <a:p>
            <a:pPr>
              <a:lnSpc>
                <a:spcPct val="80000"/>
              </a:lnSpc>
              <a:buFont typeface="Symbol" panose="05050102010706020507" pitchFamily="18" charset="2"/>
              <a:buChar char="Þ"/>
            </a:pPr>
            <a:r>
              <a:rPr lang="en-US" altLang="zh-CN" sz="1600" dirty="0">
                <a:solidFill>
                  <a:schemeClr val="bg1"/>
                </a:solidFill>
              </a:rPr>
              <a:t> 0x8048bde &lt;phase_1+24&gt;:	je     0x8048be5 &lt;phase_1+31&gt;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600" dirty="0">
                <a:solidFill>
                  <a:schemeClr val="bg1"/>
                </a:solidFill>
              </a:rPr>
              <a:t> </a:t>
            </a:r>
            <a:r>
              <a:rPr lang="en-US" altLang="zh-CN" sz="1600" dirty="0" err="1">
                <a:solidFill>
                  <a:srgbClr val="FF0000"/>
                </a:solidFill>
              </a:rPr>
              <a:t>i</a:t>
            </a:r>
            <a:r>
              <a:rPr lang="en-US" altLang="zh-CN" sz="1600" dirty="0">
                <a:solidFill>
                  <a:srgbClr val="FF0000"/>
                </a:solidFill>
              </a:rPr>
              <a:t>  r  </a:t>
            </a:r>
            <a:r>
              <a:rPr lang="en-US" altLang="zh-CN" sz="1600" dirty="0" err="1">
                <a:solidFill>
                  <a:srgbClr val="FF0000"/>
                </a:solidFill>
              </a:rPr>
              <a:t>eax</a:t>
            </a:r>
            <a:r>
              <a:rPr lang="en-US" altLang="zh-CN" sz="1600" dirty="0">
                <a:solidFill>
                  <a:srgbClr val="FF0000"/>
                </a:solidFill>
              </a:rPr>
              <a:t>    </a:t>
            </a:r>
            <a:r>
              <a:rPr lang="en-US" altLang="zh-CN" sz="1600" dirty="0">
                <a:solidFill>
                  <a:srgbClr val="FFC000"/>
                </a:solidFill>
              </a:rPr>
              <a:t>#</a:t>
            </a:r>
            <a:r>
              <a:rPr lang="zh-CN" altLang="en-US" sz="1600" dirty="0">
                <a:solidFill>
                  <a:srgbClr val="FFC000"/>
                </a:solidFill>
              </a:rPr>
              <a:t>显示</a:t>
            </a:r>
            <a:r>
              <a:rPr lang="en-US" altLang="zh-CN" sz="1600" dirty="0" err="1">
                <a:solidFill>
                  <a:srgbClr val="FFC000"/>
                </a:solidFill>
              </a:rPr>
              <a:t>eax</a:t>
            </a:r>
            <a:r>
              <a:rPr lang="zh-CN" altLang="en-US" sz="1600" dirty="0">
                <a:solidFill>
                  <a:srgbClr val="FFC000"/>
                </a:solidFill>
              </a:rPr>
              <a:t>寄存器的值</a:t>
            </a:r>
            <a:endParaRPr lang="en-US" altLang="zh-CN" sz="1600" dirty="0">
              <a:solidFill>
                <a:srgbClr val="FFC00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600" dirty="0" err="1">
                <a:solidFill>
                  <a:schemeClr val="bg1"/>
                </a:solidFill>
              </a:rPr>
              <a:t>eax</a:t>
            </a:r>
            <a:r>
              <a:rPr lang="en-US" altLang="zh-CN" sz="1600" dirty="0">
                <a:solidFill>
                  <a:schemeClr val="bg1"/>
                </a:solidFill>
              </a:rPr>
              <a:t>            0x0	0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600" dirty="0">
                <a:solidFill>
                  <a:schemeClr val="bg1"/>
                </a:solidFill>
              </a:rPr>
              <a:t> </a:t>
            </a:r>
            <a:r>
              <a:rPr lang="en-US" altLang="zh-CN" sz="1600" dirty="0">
                <a:solidFill>
                  <a:srgbClr val="FF0000"/>
                </a:solidFill>
              </a:rPr>
              <a:t>c   </a:t>
            </a:r>
            <a:r>
              <a:rPr lang="en-US" altLang="zh-CN" sz="1600" dirty="0">
                <a:solidFill>
                  <a:srgbClr val="FFC000"/>
                </a:solidFill>
              </a:rPr>
              <a:t>#</a:t>
            </a:r>
            <a:r>
              <a:rPr lang="zh-CN" altLang="en-US" sz="1600" dirty="0">
                <a:solidFill>
                  <a:srgbClr val="FFC000"/>
                </a:solidFill>
              </a:rPr>
              <a:t>继续执行</a:t>
            </a:r>
            <a:endParaRPr lang="en-US" altLang="zh-CN" sz="1600" dirty="0">
              <a:solidFill>
                <a:srgbClr val="FFC00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600" dirty="0">
                <a:solidFill>
                  <a:schemeClr val="bg1"/>
                </a:solidFill>
              </a:rPr>
              <a:t>Continuing.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600" dirty="0">
                <a:solidFill>
                  <a:schemeClr val="bg1"/>
                </a:solidFill>
              </a:rPr>
              <a:t>Phase 1 defused. How about the next one?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600" dirty="0">
                <a:solidFill>
                  <a:srgbClr val="FF0000"/>
                </a:solidFill>
              </a:rPr>
              <a:t>^C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600" dirty="0">
                <a:solidFill>
                  <a:schemeClr val="bg1"/>
                </a:solidFill>
              </a:rPr>
              <a:t>Program received signal SIGINT, Interrupt.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600" dirty="0">
                <a:solidFill>
                  <a:schemeClr val="bg1"/>
                </a:solidFill>
              </a:rPr>
              <a:t>0xf7fd7fd9 in __</a:t>
            </a:r>
            <a:r>
              <a:rPr lang="en-US" altLang="zh-CN" sz="1600" dirty="0" err="1">
                <a:solidFill>
                  <a:schemeClr val="bg1"/>
                </a:solidFill>
              </a:rPr>
              <a:t>kernel_vsyscall</a:t>
            </a:r>
            <a:r>
              <a:rPr lang="en-US" altLang="zh-CN" sz="1600" dirty="0">
                <a:solidFill>
                  <a:schemeClr val="bg1"/>
                </a:solidFill>
              </a:rPr>
              <a:t> ()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600" dirty="0">
                <a:solidFill>
                  <a:schemeClr val="bg1"/>
                </a:solidFill>
              </a:rPr>
              <a:t>5: x/</a:t>
            </a:r>
            <a:r>
              <a:rPr lang="en-US" altLang="zh-CN" sz="1600" dirty="0" err="1">
                <a:solidFill>
                  <a:schemeClr val="bg1"/>
                </a:solidFill>
              </a:rPr>
              <a:t>i</a:t>
            </a:r>
            <a:r>
              <a:rPr lang="en-US" altLang="zh-CN" sz="1600" dirty="0">
                <a:solidFill>
                  <a:schemeClr val="bg1"/>
                </a:solidFill>
              </a:rPr>
              <a:t> $pc</a:t>
            </a:r>
          </a:p>
          <a:p>
            <a:pPr>
              <a:lnSpc>
                <a:spcPct val="90000"/>
              </a:lnSpc>
              <a:buFont typeface="Symbol" panose="05050102010706020507" pitchFamily="18" charset="2"/>
              <a:buChar char="Þ"/>
            </a:pPr>
            <a:r>
              <a:rPr lang="en-US" altLang="zh-CN" sz="1600" dirty="0">
                <a:solidFill>
                  <a:schemeClr val="bg1"/>
                </a:solidFill>
              </a:rPr>
              <a:t>0xf7fd7fd9 &lt;__kernel_vsyscall+9&gt;:	pop    %</a:t>
            </a:r>
            <a:r>
              <a:rPr lang="en-US" altLang="zh-CN" sz="1600" dirty="0" err="1">
                <a:solidFill>
                  <a:schemeClr val="bg1"/>
                </a:solidFill>
              </a:rPr>
              <a:t>ebp</a:t>
            </a:r>
            <a:endParaRPr lang="en-US" altLang="zh-CN" sz="1600" dirty="0">
              <a:solidFill>
                <a:schemeClr val="bg1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600" dirty="0">
                <a:solidFill>
                  <a:schemeClr val="bg1"/>
                </a:solidFill>
              </a:rPr>
              <a:t> </a:t>
            </a:r>
            <a:r>
              <a:rPr lang="en-US" altLang="zh-CN" sz="1600" dirty="0">
                <a:solidFill>
                  <a:srgbClr val="FF0000"/>
                </a:solidFill>
              </a:rPr>
              <a:t>q     </a:t>
            </a:r>
            <a:r>
              <a:rPr lang="en-US" altLang="zh-CN" sz="1600" dirty="0">
                <a:solidFill>
                  <a:srgbClr val="FFC000"/>
                </a:solidFill>
              </a:rPr>
              <a:t>#</a:t>
            </a:r>
            <a:r>
              <a:rPr lang="zh-CN" altLang="en-US" sz="1600" dirty="0">
                <a:solidFill>
                  <a:srgbClr val="FFC000"/>
                </a:solidFill>
              </a:rPr>
              <a:t>退出</a:t>
            </a:r>
            <a:r>
              <a:rPr lang="en-US" altLang="zh-CN" sz="1600" dirty="0" err="1">
                <a:solidFill>
                  <a:srgbClr val="FFC000"/>
                </a:solidFill>
              </a:rPr>
              <a:t>gdb</a:t>
            </a:r>
            <a:endParaRPr lang="en-US" altLang="zh-CN" sz="1600" dirty="0">
              <a:solidFill>
                <a:srgbClr val="FFC000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600" dirty="0">
                <a:solidFill>
                  <a:schemeClr val="bg1"/>
                </a:solidFill>
              </a:rPr>
              <a:t>A debugging session is active.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zh-CN" sz="1600" dirty="0">
              <a:solidFill>
                <a:schemeClr val="bg1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600" dirty="0">
                <a:solidFill>
                  <a:schemeClr val="bg1"/>
                </a:solidFill>
              </a:rPr>
              <a:t>	Inferior 1 [process 3507] will be killed.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zh-CN" sz="1600" dirty="0">
              <a:solidFill>
                <a:schemeClr val="bg1"/>
              </a:solidFill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600" dirty="0">
                <a:solidFill>
                  <a:schemeClr val="bg1"/>
                </a:solidFill>
              </a:rPr>
              <a:t>Quit anyway? (y or n) </a:t>
            </a:r>
            <a:r>
              <a:rPr lang="en-US" altLang="zh-CN" sz="1600" dirty="0">
                <a:solidFill>
                  <a:srgbClr val="FF0000"/>
                </a:solidFill>
              </a:rPr>
              <a:t>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sz="1600" dirty="0" err="1">
                <a:solidFill>
                  <a:srgbClr val="92D050"/>
                </a:solidFill>
              </a:rPr>
              <a:t>nwpu-cs@nwpucs-VirtualBox</a:t>
            </a:r>
            <a:r>
              <a:rPr lang="en-US" altLang="zh-CN" sz="1600" dirty="0">
                <a:solidFill>
                  <a:schemeClr val="bg1"/>
                </a:solidFill>
              </a:rPr>
              <a:t>:</a:t>
            </a:r>
            <a:r>
              <a:rPr lang="en-US" altLang="zh-CN" sz="1600" dirty="0">
                <a:solidFill>
                  <a:srgbClr val="00B0F0"/>
                </a:solidFill>
              </a:rPr>
              <a:t>~/lab/lab2/bomb4</a:t>
            </a:r>
            <a:r>
              <a:rPr lang="en-US" altLang="zh-CN" sz="1600" dirty="0">
                <a:solidFill>
                  <a:schemeClr val="bg1"/>
                </a:solidFill>
              </a:rPr>
              <a:t>$ 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zh-CN" sz="1600" dirty="0">
              <a:solidFill>
                <a:schemeClr val="bg1"/>
              </a:solidFill>
            </a:endParaRPr>
          </a:p>
        </p:txBody>
      </p:sp>
      <p:sp>
        <p:nvSpPr>
          <p:cNvPr id="3" name="线形标注 2 2"/>
          <p:cNvSpPr/>
          <p:nvPr/>
        </p:nvSpPr>
        <p:spPr>
          <a:xfrm>
            <a:off x="5580112" y="1160475"/>
            <a:ext cx="2520280" cy="645046"/>
          </a:xfrm>
          <a:prstGeom prst="borderCallout2">
            <a:avLst>
              <a:gd name="adj1" fmla="val 36387"/>
              <a:gd name="adj2" fmla="val -2538"/>
              <a:gd name="adj3" fmla="val 38592"/>
              <a:gd name="adj4" fmla="val -15155"/>
              <a:gd name="adj5" fmla="val 65940"/>
              <a:gd name="adj6" fmla="val -99326"/>
            </a:avLst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1600" dirty="0">
                <a:solidFill>
                  <a:srgbClr val="0000FF"/>
                </a:solidFill>
              </a:rPr>
              <a:t>判断不会引爆再继续执行；</a:t>
            </a:r>
            <a:endParaRPr lang="en-US" altLang="zh-CN" sz="1600" dirty="0">
              <a:solidFill>
                <a:srgbClr val="0000FF"/>
              </a:solidFill>
            </a:endParaRPr>
          </a:p>
          <a:p>
            <a:pPr algn="l"/>
            <a:r>
              <a:rPr lang="zh-CN" altLang="en-US" sz="1600" dirty="0">
                <a:solidFill>
                  <a:srgbClr val="0000FF"/>
                </a:solidFill>
              </a:rPr>
              <a:t>否则按</a:t>
            </a:r>
            <a:r>
              <a:rPr lang="en-US" altLang="zh-CN" sz="1600" dirty="0" err="1">
                <a:solidFill>
                  <a:srgbClr val="0000FF"/>
                </a:solidFill>
              </a:rPr>
              <a:t>ctrl+c</a:t>
            </a:r>
            <a:r>
              <a:rPr lang="zh-CN" altLang="en-US" sz="1600" dirty="0">
                <a:solidFill>
                  <a:srgbClr val="0000FF"/>
                </a:solidFill>
              </a:rPr>
              <a:t>退出调试程序</a:t>
            </a:r>
          </a:p>
        </p:txBody>
      </p:sp>
      <p:sp>
        <p:nvSpPr>
          <p:cNvPr id="4" name="矩形 3"/>
          <p:cNvSpPr/>
          <p:nvPr/>
        </p:nvSpPr>
        <p:spPr>
          <a:xfrm>
            <a:off x="899592" y="1406178"/>
            <a:ext cx="2304256" cy="288032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899592" y="2132856"/>
            <a:ext cx="3960440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线形标注 2 5"/>
          <p:cNvSpPr/>
          <p:nvPr/>
        </p:nvSpPr>
        <p:spPr>
          <a:xfrm>
            <a:off x="5724128" y="2132856"/>
            <a:ext cx="936104" cy="432048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41952"/>
              <a:gd name="adj6" fmla="val -98899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过关</a:t>
            </a:r>
          </a:p>
        </p:txBody>
      </p:sp>
      <p:sp>
        <p:nvSpPr>
          <p:cNvPr id="7" name="矩形 6"/>
          <p:cNvSpPr/>
          <p:nvPr/>
        </p:nvSpPr>
        <p:spPr>
          <a:xfrm>
            <a:off x="899592" y="2492896"/>
            <a:ext cx="648072" cy="288032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线形标注 2 7"/>
          <p:cNvSpPr/>
          <p:nvPr/>
        </p:nvSpPr>
        <p:spPr>
          <a:xfrm>
            <a:off x="4871814" y="2993926"/>
            <a:ext cx="2520280" cy="432048"/>
          </a:xfrm>
          <a:prstGeom prst="borderCallout2">
            <a:avLst>
              <a:gd name="adj1" fmla="val 36387"/>
              <a:gd name="adj2" fmla="val -2538"/>
              <a:gd name="adj3" fmla="val 38592"/>
              <a:gd name="adj4" fmla="val -15155"/>
              <a:gd name="adj5" fmla="val -80036"/>
              <a:gd name="adj6" fmla="val -130317"/>
            </a:avLst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1600" dirty="0" err="1">
                <a:solidFill>
                  <a:srgbClr val="0000FF"/>
                </a:solidFill>
              </a:rPr>
              <a:t>Ctrl+c</a:t>
            </a:r>
            <a:r>
              <a:rPr lang="en-US" altLang="zh-CN" sz="1600" dirty="0">
                <a:solidFill>
                  <a:srgbClr val="0000FF"/>
                </a:solidFill>
              </a:rPr>
              <a:t> </a:t>
            </a:r>
            <a:r>
              <a:rPr lang="zh-CN" altLang="en-US" sz="1600" dirty="0">
                <a:solidFill>
                  <a:srgbClr val="0000FF"/>
                </a:solidFill>
              </a:rPr>
              <a:t>退出调试程序</a:t>
            </a:r>
          </a:p>
        </p:txBody>
      </p:sp>
      <p:sp>
        <p:nvSpPr>
          <p:cNvPr id="9" name="矩形 8"/>
          <p:cNvSpPr/>
          <p:nvPr/>
        </p:nvSpPr>
        <p:spPr>
          <a:xfrm>
            <a:off x="1475656" y="1694210"/>
            <a:ext cx="288032" cy="222622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5343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C0A99A5D-6D1D-4672-B06B-77C36BD98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0076"/>
            <a:ext cx="8229600" cy="1252728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phase_2 </a:t>
            </a:r>
            <a:r>
              <a:rPr lang="zh-CN" altLang="en-US" dirty="0">
                <a:solidFill>
                  <a:srgbClr val="FF0000"/>
                </a:solidFill>
              </a:rPr>
              <a:t>（循环）</a:t>
            </a:r>
            <a:r>
              <a:rPr lang="zh-CN" altLang="en-US" dirty="0"/>
              <a:t>（一）</a:t>
            </a:r>
            <a:br>
              <a:rPr lang="en-US" altLang="zh-CN" dirty="0"/>
            </a:br>
            <a:r>
              <a:rPr lang="en-US" altLang="zh-CN" dirty="0"/>
              <a:t>       </a:t>
            </a:r>
            <a:r>
              <a:rPr lang="en-US" altLang="zh-CN" sz="3600" dirty="0"/>
              <a:t>——</a:t>
            </a:r>
            <a:r>
              <a:rPr lang="zh-CN" altLang="en-US" sz="3600" dirty="0"/>
              <a:t>小知识点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BF5C065-7080-4122-BDB0-06FDFFE28F9D}"/>
              </a:ext>
            </a:extLst>
          </p:cNvPr>
          <p:cNvGrpSpPr/>
          <p:nvPr/>
        </p:nvGrpSpPr>
        <p:grpSpPr>
          <a:xfrm>
            <a:off x="457200" y="1596414"/>
            <a:ext cx="5858356" cy="5080703"/>
            <a:chOff x="1041218" y="1517552"/>
            <a:chExt cx="6991709" cy="6002738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5AABC975-1AAB-4CAF-B6B2-139DED74CBF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-1" r="990"/>
            <a:stretch/>
          </p:blipFill>
          <p:spPr>
            <a:xfrm>
              <a:off x="1041218" y="1517552"/>
              <a:ext cx="6991709" cy="3822896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02004A82-03BC-4390-B7F3-111499E06D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1218" y="5329427"/>
              <a:ext cx="6991709" cy="2190863"/>
            </a:xfrm>
            <a:prstGeom prst="rect">
              <a:avLst/>
            </a:prstGeom>
          </p:spPr>
        </p:pic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DBC3DA00-A644-45D2-A79B-D2F750FFAFA9}"/>
              </a:ext>
            </a:extLst>
          </p:cNvPr>
          <p:cNvGrpSpPr/>
          <p:nvPr/>
        </p:nvGrpSpPr>
        <p:grpSpPr>
          <a:xfrm>
            <a:off x="3265512" y="1936665"/>
            <a:ext cx="3384376" cy="432050"/>
            <a:chOff x="4211960" y="1988838"/>
            <a:chExt cx="3384376" cy="43205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48589E1-2232-464B-AE78-B379271915A0}"/>
                </a:ext>
              </a:extLst>
            </p:cNvPr>
            <p:cNvSpPr/>
            <p:nvPr/>
          </p:nvSpPr>
          <p:spPr>
            <a:xfrm>
              <a:off x="4211960" y="2132856"/>
              <a:ext cx="1152128" cy="28803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标注: 线形 7">
              <a:extLst>
                <a:ext uri="{FF2B5EF4-FFF2-40B4-BE49-F238E27FC236}">
                  <a16:creationId xmlns:a16="http://schemas.microsoft.com/office/drawing/2014/main" id="{8ACA262F-4D76-4C23-8E46-E20DC98C6521}"/>
                </a:ext>
              </a:extLst>
            </p:cNvPr>
            <p:cNvSpPr/>
            <p:nvPr/>
          </p:nvSpPr>
          <p:spPr>
            <a:xfrm>
              <a:off x="6156176" y="1988838"/>
              <a:ext cx="1440160" cy="288033"/>
            </a:xfrm>
            <a:prstGeom prst="borderCallout1">
              <a:avLst>
                <a:gd name="adj1" fmla="val 18750"/>
                <a:gd name="adj2" fmla="val -8333"/>
                <a:gd name="adj3" fmla="val 102107"/>
                <a:gd name="adj4" fmla="val -55208"/>
              </a:avLst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保护寄存器</a:t>
              </a:r>
            </a:p>
          </p:txBody>
        </p:sp>
      </p:grpSp>
      <p:sp>
        <p:nvSpPr>
          <p:cNvPr id="11" name="卷形: 垂直 10">
            <a:extLst>
              <a:ext uri="{FF2B5EF4-FFF2-40B4-BE49-F238E27FC236}">
                <a16:creationId xmlns:a16="http://schemas.microsoft.com/office/drawing/2014/main" id="{F84BF366-E98C-4B2A-B293-E54B446FA030}"/>
              </a:ext>
            </a:extLst>
          </p:cNvPr>
          <p:cNvSpPr/>
          <p:nvPr/>
        </p:nvSpPr>
        <p:spPr>
          <a:xfrm>
            <a:off x="6444208" y="934538"/>
            <a:ext cx="2808312" cy="2256337"/>
          </a:xfrm>
          <a:prstGeom prst="verticalScroll">
            <a:avLst/>
          </a:prstGeom>
          <a:solidFill>
            <a:srgbClr val="0E706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i="0" dirty="0">
                <a:latin typeface="+mn-ea"/>
                <a:ea typeface="+mn-ea"/>
              </a:rPr>
              <a:t>寄存器保护规则：</a:t>
            </a:r>
            <a:endParaRPr lang="en-US" altLang="zh-CN" i="0" dirty="0">
              <a:latin typeface="+mn-ea"/>
              <a:ea typeface="+mn-ea"/>
            </a:endParaRPr>
          </a:p>
          <a:p>
            <a:pPr algn="l"/>
            <a:r>
              <a:rPr lang="zh-CN" altLang="en-US" i="0" dirty="0">
                <a:latin typeface="+mn-ea"/>
                <a:ea typeface="+mn-ea"/>
              </a:rPr>
              <a:t>调用者保</a:t>
            </a:r>
            <a:r>
              <a:rPr lang="zh-CN" altLang="en-US" i="0" dirty="0">
                <a:latin typeface="+mn-ea"/>
              </a:rPr>
              <a:t>护的</a:t>
            </a:r>
            <a:r>
              <a:rPr lang="zh-CN" altLang="en-US" i="0" dirty="0">
                <a:latin typeface="+mn-ea"/>
                <a:ea typeface="+mn-ea"/>
              </a:rPr>
              <a:t>寄存器：</a:t>
            </a:r>
            <a:r>
              <a:rPr lang="en-US" altLang="zh-CN" i="0" dirty="0">
                <a:latin typeface="+mn-ea"/>
                <a:ea typeface="+mn-ea"/>
              </a:rPr>
              <a:t>%</a:t>
            </a:r>
            <a:r>
              <a:rPr lang="en-US" altLang="zh-CN" i="0" dirty="0" err="1">
                <a:latin typeface="+mn-ea"/>
                <a:ea typeface="+mn-ea"/>
              </a:rPr>
              <a:t>eax</a:t>
            </a:r>
            <a:r>
              <a:rPr lang="en-US" altLang="zh-CN" i="0" dirty="0">
                <a:latin typeface="+mn-ea"/>
                <a:ea typeface="+mn-ea"/>
              </a:rPr>
              <a:t>, %</a:t>
            </a:r>
            <a:r>
              <a:rPr lang="en-US" altLang="zh-CN" i="0" dirty="0" err="1">
                <a:latin typeface="+mn-ea"/>
                <a:ea typeface="+mn-ea"/>
              </a:rPr>
              <a:t>ecx</a:t>
            </a:r>
            <a:r>
              <a:rPr lang="en-US" altLang="zh-CN" i="0" dirty="0">
                <a:latin typeface="+mn-ea"/>
                <a:ea typeface="+mn-ea"/>
              </a:rPr>
              <a:t>, %</a:t>
            </a:r>
            <a:r>
              <a:rPr lang="en-US" altLang="zh-CN" i="0" dirty="0" err="1">
                <a:latin typeface="+mn-ea"/>
                <a:ea typeface="+mn-ea"/>
              </a:rPr>
              <a:t>edx</a:t>
            </a:r>
            <a:endParaRPr lang="en-US" altLang="zh-CN" i="0" dirty="0">
              <a:latin typeface="+mn-ea"/>
              <a:ea typeface="+mn-ea"/>
            </a:endParaRPr>
          </a:p>
          <a:p>
            <a:pPr algn="l"/>
            <a:r>
              <a:rPr lang="zh-CN" altLang="en-US" i="0" dirty="0">
                <a:latin typeface="+mn-ea"/>
                <a:ea typeface="+mn-ea"/>
              </a:rPr>
              <a:t>被调用者的保护寄存器</a:t>
            </a:r>
            <a:r>
              <a:rPr lang="en-US" altLang="zh-CN" i="0" dirty="0">
                <a:latin typeface="+mn-ea"/>
                <a:ea typeface="+mn-ea"/>
              </a:rPr>
              <a:t>:</a:t>
            </a:r>
          </a:p>
          <a:p>
            <a:pPr algn="l"/>
            <a:r>
              <a:rPr lang="en-US" altLang="zh-CN" i="0" dirty="0">
                <a:latin typeface="+mn-ea"/>
                <a:ea typeface="+mn-ea"/>
              </a:rPr>
              <a:t>%</a:t>
            </a:r>
            <a:r>
              <a:rPr lang="en-US" altLang="zh-CN" i="0" dirty="0" err="1">
                <a:latin typeface="+mn-ea"/>
                <a:ea typeface="+mn-ea"/>
              </a:rPr>
              <a:t>ebx</a:t>
            </a:r>
            <a:r>
              <a:rPr lang="en-US" altLang="zh-CN" i="0" dirty="0">
                <a:latin typeface="+mn-ea"/>
                <a:ea typeface="+mn-ea"/>
              </a:rPr>
              <a:t>, %</a:t>
            </a:r>
            <a:r>
              <a:rPr lang="en-US" altLang="zh-CN" i="0" dirty="0" err="1">
                <a:latin typeface="+mn-ea"/>
                <a:ea typeface="+mn-ea"/>
              </a:rPr>
              <a:t>esi</a:t>
            </a:r>
            <a:r>
              <a:rPr lang="en-US" altLang="zh-CN" i="0" dirty="0">
                <a:latin typeface="+mn-ea"/>
                <a:ea typeface="+mn-ea"/>
              </a:rPr>
              <a:t>, %</a:t>
            </a:r>
            <a:r>
              <a:rPr lang="en-US" altLang="zh-CN" i="0" dirty="0" err="1">
                <a:latin typeface="+mn-ea"/>
                <a:ea typeface="+mn-ea"/>
              </a:rPr>
              <a:t>edi</a:t>
            </a:r>
            <a:endParaRPr lang="zh-CN" altLang="en-US" i="0" dirty="0">
              <a:latin typeface="+mn-ea"/>
              <a:ea typeface="+mn-ea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3E7EEE6-9B68-4C13-BED7-CF48E5E8B71A}"/>
              </a:ext>
            </a:extLst>
          </p:cNvPr>
          <p:cNvGrpSpPr/>
          <p:nvPr/>
        </p:nvGrpSpPr>
        <p:grpSpPr>
          <a:xfrm>
            <a:off x="3265512" y="2490891"/>
            <a:ext cx="3862772" cy="3458389"/>
            <a:chOff x="3265512" y="2490891"/>
            <a:chExt cx="3862772" cy="3458389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84BD2C1A-2443-46E5-97C1-0DBC399974CE}"/>
                </a:ext>
              </a:extLst>
            </p:cNvPr>
            <p:cNvSpPr/>
            <p:nvPr/>
          </p:nvSpPr>
          <p:spPr>
            <a:xfrm>
              <a:off x="3265512" y="2490891"/>
              <a:ext cx="1738536" cy="288032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A5B7AEA-95EC-48E1-8515-09926041706D}"/>
                </a:ext>
              </a:extLst>
            </p:cNvPr>
            <p:cNvSpPr/>
            <p:nvPr/>
          </p:nvSpPr>
          <p:spPr>
            <a:xfrm>
              <a:off x="3265512" y="5424389"/>
              <a:ext cx="2890664" cy="524891"/>
            </a:xfrm>
            <a:prstGeom prst="rect">
              <a:avLst/>
            </a:prstGeom>
            <a:noFill/>
            <a:ln>
              <a:solidFill>
                <a:srgbClr val="3333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标注: 线形 14">
              <a:extLst>
                <a:ext uri="{FF2B5EF4-FFF2-40B4-BE49-F238E27FC236}">
                  <a16:creationId xmlns:a16="http://schemas.microsoft.com/office/drawing/2014/main" id="{D3B40AF2-4C31-410C-B3F7-84DB79560491}"/>
                </a:ext>
              </a:extLst>
            </p:cNvPr>
            <p:cNvSpPr/>
            <p:nvPr/>
          </p:nvSpPr>
          <p:spPr>
            <a:xfrm>
              <a:off x="5760132" y="3687017"/>
              <a:ext cx="1368152" cy="452511"/>
            </a:xfrm>
            <a:prstGeom prst="borderCallout1">
              <a:avLst>
                <a:gd name="adj1" fmla="val 105410"/>
                <a:gd name="adj2" fmla="val 14845"/>
                <a:gd name="adj3" fmla="val 369300"/>
                <a:gd name="adj4" fmla="val -5612"/>
              </a:avLst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栈保护机制</a:t>
              </a:r>
            </a:p>
          </p:txBody>
        </p: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39323BDD-6280-42A2-8A6B-BF57E94B0ADD}"/>
                </a:ext>
              </a:extLst>
            </p:cNvPr>
            <p:cNvCxnSpPr>
              <a:cxnSpLocks/>
            </p:cNvCxnSpPr>
            <p:nvPr/>
          </p:nvCxnSpPr>
          <p:spPr>
            <a:xfrm>
              <a:off x="5004048" y="2671938"/>
              <a:ext cx="925760" cy="1015079"/>
            </a:xfrm>
            <a:prstGeom prst="line">
              <a:avLst/>
            </a:prstGeom>
            <a:ln w="1905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卷形: 垂直 19">
            <a:extLst>
              <a:ext uri="{FF2B5EF4-FFF2-40B4-BE49-F238E27FC236}">
                <a16:creationId xmlns:a16="http://schemas.microsoft.com/office/drawing/2014/main" id="{ABF74662-6C49-4F84-AE2A-8B3F7C4D0556}"/>
              </a:ext>
            </a:extLst>
          </p:cNvPr>
          <p:cNvSpPr/>
          <p:nvPr/>
        </p:nvSpPr>
        <p:spPr>
          <a:xfrm>
            <a:off x="5429199" y="3429000"/>
            <a:ext cx="3687773" cy="3235689"/>
          </a:xfrm>
          <a:prstGeom prst="verticalScroll">
            <a:avLst/>
          </a:prstGeom>
          <a:solidFill>
            <a:srgbClr val="0E706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i="0" dirty="0"/>
              <a:t>在栈帧中的缓冲区和控制信息（如 </a:t>
            </a:r>
            <a:r>
              <a:rPr lang="en-US" altLang="zh-CN" i="0" dirty="0"/>
              <a:t>EBP </a:t>
            </a:r>
            <a:r>
              <a:rPr lang="zh-CN" altLang="en-US" i="0" dirty="0"/>
              <a:t>，返回地址等）间插入一个 </a:t>
            </a:r>
            <a:r>
              <a:rPr lang="en-US" altLang="zh-CN" i="0" dirty="0"/>
              <a:t>canary word</a:t>
            </a:r>
            <a:r>
              <a:rPr lang="zh-CN" altLang="en-US" i="0" dirty="0"/>
              <a:t>。这样，当缓冲区被溢出时，在控制信息被覆盖之前 </a:t>
            </a:r>
            <a:r>
              <a:rPr lang="en-US" altLang="zh-CN" i="0" dirty="0"/>
              <a:t>canary word </a:t>
            </a:r>
            <a:r>
              <a:rPr lang="zh-CN" altLang="en-US" i="0" dirty="0"/>
              <a:t>会首先被覆盖。通过检查 </a:t>
            </a:r>
            <a:r>
              <a:rPr lang="en-US" altLang="zh-CN" i="0" dirty="0"/>
              <a:t>canary word </a:t>
            </a:r>
            <a:r>
              <a:rPr lang="zh-CN" altLang="en-US" i="0" dirty="0"/>
              <a:t>的值是否被修改，就可以判断是否发生了溢出。</a:t>
            </a:r>
            <a:endParaRPr lang="zh-CN" altLang="en-US" i="0" dirty="0">
              <a:latin typeface="+mn-ea"/>
              <a:ea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265512" y="6093296"/>
            <a:ext cx="946448" cy="288032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8766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0" grpId="0" animBg="1"/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BE25F470-3349-43B9-ABE6-F305A80CE952}"/>
              </a:ext>
            </a:extLst>
          </p:cNvPr>
          <p:cNvGrpSpPr/>
          <p:nvPr/>
        </p:nvGrpSpPr>
        <p:grpSpPr>
          <a:xfrm>
            <a:off x="11749" y="2060848"/>
            <a:ext cx="6877403" cy="4114184"/>
            <a:chOff x="1133298" y="1644558"/>
            <a:chExt cx="6877403" cy="4114184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4AB6A9A9-8A45-4D93-9620-D4E90D19D8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3298" y="1644558"/>
              <a:ext cx="6877403" cy="3568883"/>
            </a:xfrm>
            <a:prstGeom prst="rect">
              <a:avLst/>
            </a:prstGeom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73EE52E7-3E23-4980-BD61-5074E97EE04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r="4073" b="4752"/>
            <a:stretch/>
          </p:blipFill>
          <p:spPr>
            <a:xfrm>
              <a:off x="1163618" y="5220421"/>
              <a:ext cx="6847083" cy="538321"/>
            </a:xfrm>
            <a:prstGeom prst="rect">
              <a:avLst/>
            </a:prstGeom>
          </p:spPr>
        </p:pic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E06E063B-77AC-430D-A0F3-BA8D24F54B76}"/>
              </a:ext>
            </a:extLst>
          </p:cNvPr>
          <p:cNvSpPr/>
          <p:nvPr/>
        </p:nvSpPr>
        <p:spPr>
          <a:xfrm>
            <a:off x="4703754" y="4971084"/>
            <a:ext cx="1872208" cy="2160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标题 2">
            <a:extLst>
              <a:ext uri="{FF2B5EF4-FFF2-40B4-BE49-F238E27FC236}">
                <a16:creationId xmlns:a16="http://schemas.microsoft.com/office/drawing/2014/main" id="{15DAD9D9-BCD2-4040-8467-88C571608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60076"/>
            <a:ext cx="5915000" cy="1252728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dirty="0"/>
              <a:t>phase_2 </a:t>
            </a:r>
            <a:r>
              <a:rPr lang="zh-CN" altLang="en-US" dirty="0"/>
              <a:t>（二）</a:t>
            </a:r>
            <a:br>
              <a:rPr lang="en-US" altLang="zh-CN" dirty="0"/>
            </a:br>
            <a:r>
              <a:rPr lang="en-US" altLang="zh-CN" dirty="0"/>
              <a:t>       </a:t>
            </a:r>
            <a:r>
              <a:rPr lang="en-US" altLang="zh-CN" sz="3600" dirty="0"/>
              <a:t>——</a:t>
            </a:r>
            <a:r>
              <a:rPr lang="en-US" altLang="zh-CN" sz="3600" dirty="0" err="1"/>
              <a:t>read_six_numbers</a:t>
            </a:r>
            <a:r>
              <a:rPr lang="zh-CN" altLang="en-US" sz="3600" dirty="0"/>
              <a:t>函数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195736" y="1628800"/>
            <a:ext cx="6658097" cy="313932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l"/>
            <a:r>
              <a:rPr lang="en-US" altLang="zh-CN" i="0" dirty="0">
                <a:solidFill>
                  <a:srgbClr val="0E706E"/>
                </a:solidFill>
                <a:latin typeface="+mn-ea"/>
                <a:ea typeface="+mn-ea"/>
              </a:rPr>
              <a:t>sscanf</a:t>
            </a:r>
            <a:r>
              <a:rPr lang="zh-CN" altLang="en-US" i="0" dirty="0">
                <a:solidFill>
                  <a:srgbClr val="0E706E"/>
                </a:solidFill>
                <a:latin typeface="+mn-ea"/>
                <a:ea typeface="+mn-ea"/>
              </a:rPr>
              <a:t>与</a:t>
            </a:r>
            <a:r>
              <a:rPr lang="en-US" altLang="zh-CN" i="0" dirty="0" err="1">
                <a:solidFill>
                  <a:srgbClr val="0E706E"/>
                </a:solidFill>
                <a:latin typeface="+mn-ea"/>
                <a:ea typeface="+mn-ea"/>
              </a:rPr>
              <a:t>scanf</a:t>
            </a:r>
            <a:r>
              <a:rPr lang="zh-CN" altLang="en-US" i="0" dirty="0">
                <a:solidFill>
                  <a:srgbClr val="0E706E"/>
                </a:solidFill>
                <a:latin typeface="+mn-ea"/>
                <a:ea typeface="+mn-ea"/>
              </a:rPr>
              <a:t>类似，都是用于输入，只是后者以键盘</a:t>
            </a:r>
            <a:r>
              <a:rPr lang="en-US" altLang="zh-CN" i="0" dirty="0">
                <a:solidFill>
                  <a:srgbClr val="0E706E"/>
                </a:solidFill>
                <a:latin typeface="+mn-ea"/>
                <a:ea typeface="+mn-ea"/>
              </a:rPr>
              <a:t>(</a:t>
            </a:r>
            <a:r>
              <a:rPr lang="en-US" altLang="zh-CN" i="0" dirty="0" err="1">
                <a:solidFill>
                  <a:srgbClr val="0E706E"/>
                </a:solidFill>
                <a:latin typeface="+mn-ea"/>
                <a:ea typeface="+mn-ea"/>
              </a:rPr>
              <a:t>stdin</a:t>
            </a:r>
            <a:r>
              <a:rPr lang="en-US" altLang="zh-CN" i="0" dirty="0">
                <a:solidFill>
                  <a:srgbClr val="0E706E"/>
                </a:solidFill>
                <a:latin typeface="+mn-ea"/>
                <a:ea typeface="+mn-ea"/>
              </a:rPr>
              <a:t>)</a:t>
            </a:r>
            <a:r>
              <a:rPr lang="zh-CN" altLang="en-US" i="0" dirty="0">
                <a:solidFill>
                  <a:srgbClr val="0E706E"/>
                </a:solidFill>
                <a:latin typeface="+mn-ea"/>
                <a:ea typeface="+mn-ea"/>
              </a:rPr>
              <a:t>为输入源，前者以固定字符串为输入源。</a:t>
            </a:r>
            <a:endParaRPr lang="en-US" altLang="zh-CN" i="0" dirty="0">
              <a:solidFill>
                <a:srgbClr val="0E706E"/>
              </a:solidFill>
              <a:latin typeface="+mn-ea"/>
              <a:ea typeface="+mn-ea"/>
            </a:endParaRPr>
          </a:p>
          <a:p>
            <a:pPr algn="l"/>
            <a:r>
              <a:rPr lang="zh-CN" altLang="en-US" i="0" dirty="0">
                <a:solidFill>
                  <a:srgbClr val="0E706E"/>
                </a:solidFill>
                <a:latin typeface="+mn-ea"/>
                <a:ea typeface="+mn-ea"/>
              </a:rPr>
              <a:t>函数原型：</a:t>
            </a:r>
            <a:endParaRPr lang="en-US" altLang="zh-CN" i="0" dirty="0">
              <a:solidFill>
                <a:srgbClr val="0E706E"/>
              </a:solidFill>
              <a:latin typeface="+mn-ea"/>
              <a:ea typeface="+mn-ea"/>
            </a:endParaRPr>
          </a:p>
          <a:p>
            <a:pPr algn="l"/>
            <a:r>
              <a:rPr lang="en-US" altLang="zh-CN" dirty="0"/>
              <a:t>int sscanf(</a:t>
            </a:r>
            <a:r>
              <a:rPr lang="en-US" altLang="zh-CN" dirty="0" err="1"/>
              <a:t>const</a:t>
            </a:r>
            <a:r>
              <a:rPr lang="en-US" altLang="zh-CN" dirty="0"/>
              <a:t> char *str, </a:t>
            </a:r>
            <a:r>
              <a:rPr lang="en-US" altLang="zh-CN" dirty="0" err="1"/>
              <a:t>const</a:t>
            </a:r>
            <a:r>
              <a:rPr lang="en-US" altLang="zh-CN" dirty="0"/>
              <a:t> char *format, ...);</a:t>
            </a:r>
          </a:p>
          <a:p>
            <a:pPr algn="l"/>
            <a:r>
              <a:rPr lang="en-US" altLang="zh-CN" b="1" i="0" dirty="0">
                <a:solidFill>
                  <a:srgbClr val="00B050"/>
                </a:solidFill>
                <a:latin typeface="+mn-ea"/>
                <a:ea typeface="+mn-ea"/>
              </a:rPr>
              <a:t>str</a:t>
            </a:r>
            <a:r>
              <a:rPr lang="en-US" altLang="zh-CN" i="0" dirty="0">
                <a:solidFill>
                  <a:srgbClr val="00B050"/>
                </a:solidFill>
                <a:latin typeface="+mn-ea"/>
                <a:ea typeface="+mn-ea"/>
              </a:rPr>
              <a:t>:  </a:t>
            </a:r>
            <a:r>
              <a:rPr lang="zh-CN" altLang="en-US" i="0" dirty="0">
                <a:solidFill>
                  <a:srgbClr val="00B050"/>
                </a:solidFill>
                <a:latin typeface="+mn-ea"/>
                <a:ea typeface="+mn-ea"/>
              </a:rPr>
              <a:t>待解析的字符串</a:t>
            </a:r>
            <a:r>
              <a:rPr lang="en-US" altLang="zh-CN" i="0" dirty="0">
                <a:solidFill>
                  <a:srgbClr val="00B050"/>
                </a:solidFill>
                <a:latin typeface="+mn-ea"/>
                <a:ea typeface="+mn-ea"/>
              </a:rPr>
              <a:t>;</a:t>
            </a:r>
          </a:p>
          <a:p>
            <a:pPr algn="l"/>
            <a:r>
              <a:rPr lang="en-US" altLang="zh-CN" b="1" i="0" dirty="0">
                <a:solidFill>
                  <a:srgbClr val="00B050"/>
                </a:solidFill>
                <a:latin typeface="+mn-ea"/>
                <a:ea typeface="+mn-ea"/>
              </a:rPr>
              <a:t>format</a:t>
            </a:r>
            <a:r>
              <a:rPr lang="en-US" altLang="zh-CN" i="0" dirty="0">
                <a:solidFill>
                  <a:srgbClr val="00B050"/>
                </a:solidFill>
                <a:latin typeface="+mn-ea"/>
                <a:ea typeface="+mn-ea"/>
              </a:rPr>
              <a:t>: </a:t>
            </a:r>
            <a:r>
              <a:rPr lang="zh-CN" altLang="en-US" i="0" dirty="0">
                <a:solidFill>
                  <a:srgbClr val="00B050"/>
                </a:solidFill>
                <a:latin typeface="+mn-ea"/>
                <a:ea typeface="+mn-ea"/>
              </a:rPr>
              <a:t>字符串格式描述</a:t>
            </a:r>
            <a:r>
              <a:rPr lang="en-US" altLang="zh-CN" i="0" dirty="0">
                <a:solidFill>
                  <a:srgbClr val="00B050"/>
                </a:solidFill>
                <a:latin typeface="+mn-ea"/>
                <a:ea typeface="+mn-ea"/>
              </a:rPr>
              <a:t>;</a:t>
            </a:r>
          </a:p>
          <a:p>
            <a:pPr algn="l"/>
            <a:r>
              <a:rPr lang="zh-CN" altLang="en-US" i="0" dirty="0">
                <a:solidFill>
                  <a:srgbClr val="00B050"/>
                </a:solidFill>
                <a:latin typeface="+mn-ea"/>
                <a:ea typeface="+mn-ea"/>
              </a:rPr>
              <a:t>其后是一序列数目不定的指针参数，存储解析后的数据。</a:t>
            </a:r>
            <a:endParaRPr lang="en-US" altLang="zh-CN" i="0" dirty="0">
              <a:solidFill>
                <a:srgbClr val="00B050"/>
              </a:solidFill>
              <a:latin typeface="+mn-ea"/>
              <a:ea typeface="+mn-ea"/>
            </a:endParaRPr>
          </a:p>
          <a:p>
            <a:pPr algn="l"/>
            <a:r>
              <a:rPr lang="zh-CN" altLang="en-US" i="0" dirty="0">
                <a:solidFill>
                  <a:srgbClr val="00B050"/>
                </a:solidFill>
                <a:latin typeface="+mn-ea"/>
                <a:ea typeface="+mn-ea"/>
              </a:rPr>
              <a:t>返回值：解析成功的数据个数。</a:t>
            </a:r>
            <a:endParaRPr lang="en-US" altLang="zh-CN" i="0" dirty="0">
              <a:solidFill>
                <a:srgbClr val="00B050"/>
              </a:solidFill>
              <a:latin typeface="+mn-ea"/>
              <a:ea typeface="+mn-ea"/>
            </a:endParaRPr>
          </a:p>
          <a:p>
            <a:pPr algn="l"/>
            <a:r>
              <a:rPr lang="zh-CN" altLang="en-US" i="0" dirty="0">
                <a:solidFill>
                  <a:srgbClr val="00B050"/>
                </a:solidFill>
                <a:latin typeface="+mn-ea"/>
                <a:ea typeface="+mn-ea"/>
              </a:rPr>
              <a:t>举例：</a:t>
            </a:r>
            <a:endParaRPr lang="en-US" altLang="zh-CN" i="0" dirty="0">
              <a:solidFill>
                <a:srgbClr val="00B050"/>
              </a:solidFill>
              <a:latin typeface="+mn-ea"/>
              <a:ea typeface="+mn-ea"/>
            </a:endParaRPr>
          </a:p>
          <a:p>
            <a:pPr algn="l"/>
            <a:r>
              <a:rPr lang="en-US" altLang="zh-CN" dirty="0"/>
              <a:t>sscanf(“20191103”, “%0</a:t>
            </a:r>
            <a:r>
              <a:rPr lang="en-US" altLang="zh-CN" dirty="0">
                <a:solidFill>
                  <a:srgbClr val="FF00FF"/>
                </a:solidFill>
              </a:rPr>
              <a:t>4d</a:t>
            </a:r>
            <a:r>
              <a:rPr lang="en-US" altLang="zh-CN" dirty="0"/>
              <a:t>%0</a:t>
            </a:r>
            <a:r>
              <a:rPr lang="en-US" altLang="zh-CN" dirty="0">
                <a:solidFill>
                  <a:srgbClr val="00B0F0"/>
                </a:solidFill>
              </a:rPr>
              <a:t>2d</a:t>
            </a:r>
            <a:r>
              <a:rPr lang="en-US" altLang="zh-CN" dirty="0"/>
              <a:t>%0</a:t>
            </a:r>
            <a:r>
              <a:rPr lang="en-US" altLang="zh-CN" dirty="0">
                <a:solidFill>
                  <a:srgbClr val="FFFF00"/>
                </a:solidFill>
              </a:rPr>
              <a:t>2d</a:t>
            </a:r>
            <a:r>
              <a:rPr lang="en-US" altLang="zh-CN" dirty="0"/>
              <a:t>”, &amp;</a:t>
            </a:r>
            <a:r>
              <a:rPr lang="en-US" altLang="zh-CN" dirty="0">
                <a:solidFill>
                  <a:srgbClr val="FF00FF"/>
                </a:solidFill>
              </a:rPr>
              <a:t>year</a:t>
            </a:r>
            <a:r>
              <a:rPr lang="en-US" altLang="zh-CN" dirty="0"/>
              <a:t>, &amp;</a:t>
            </a:r>
            <a:r>
              <a:rPr lang="en-US" altLang="zh-CN" dirty="0">
                <a:solidFill>
                  <a:srgbClr val="00B0F0"/>
                </a:solidFill>
              </a:rPr>
              <a:t>month</a:t>
            </a:r>
            <a:r>
              <a:rPr lang="en-US" altLang="zh-CN" dirty="0"/>
              <a:t>, &amp;</a:t>
            </a:r>
            <a:r>
              <a:rPr lang="en-US" altLang="zh-CN" dirty="0">
                <a:solidFill>
                  <a:srgbClr val="FFFF00"/>
                </a:solidFill>
              </a:rPr>
              <a:t>day</a:t>
            </a:r>
            <a:r>
              <a:rPr lang="en-US" altLang="zh-CN" dirty="0"/>
              <a:t>)</a:t>
            </a:r>
            <a:r>
              <a:rPr lang="zh-CN" altLang="en-US" dirty="0"/>
              <a:t>；</a:t>
            </a:r>
            <a:endParaRPr lang="en-US" altLang="zh-CN" dirty="0"/>
          </a:p>
          <a:p>
            <a:pPr algn="l"/>
            <a:r>
              <a:rPr lang="en-US" altLang="zh-CN" i="0" dirty="0">
                <a:solidFill>
                  <a:srgbClr val="FF00FF"/>
                </a:solidFill>
                <a:latin typeface="+mn-ea"/>
                <a:ea typeface="+mn-ea"/>
              </a:rPr>
              <a:t>year = 2019   </a:t>
            </a:r>
            <a:r>
              <a:rPr lang="en-US" altLang="zh-CN" i="0" dirty="0">
                <a:solidFill>
                  <a:srgbClr val="00B0F0"/>
                </a:solidFill>
                <a:latin typeface="+mn-ea"/>
                <a:ea typeface="+mn-ea"/>
              </a:rPr>
              <a:t>mouth = 11   </a:t>
            </a:r>
            <a:r>
              <a:rPr lang="en-US" altLang="zh-CN" i="0" dirty="0">
                <a:solidFill>
                  <a:srgbClr val="FFFF00"/>
                </a:solidFill>
                <a:latin typeface="+mn-ea"/>
                <a:ea typeface="+mn-ea"/>
              </a:rPr>
              <a:t>day = 03</a:t>
            </a:r>
          </a:p>
        </p:txBody>
      </p:sp>
    </p:spTree>
    <p:extLst>
      <p:ext uri="{BB962C8B-B14F-4D97-AF65-F5344CB8AC3E}">
        <p14:creationId xmlns:p14="http://schemas.microsoft.com/office/powerpoint/2010/main" val="1418362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5516" y="1484784"/>
            <a:ext cx="8712968" cy="1252728"/>
          </a:xfrm>
        </p:spPr>
        <p:txBody>
          <a:bodyPr>
            <a:normAutofit/>
          </a:bodyPr>
          <a:lstStyle/>
          <a:p>
            <a:r>
              <a:rPr lang="zh-CN" altLang="en-US" sz="2200" dirty="0"/>
              <a:t>使用</a:t>
            </a:r>
            <a:r>
              <a:rPr lang="en-US" altLang="zh-CN" sz="2200" dirty="0" err="1"/>
              <a:t>objdump</a:t>
            </a:r>
            <a:r>
              <a:rPr lang="en-US" altLang="zh-CN" sz="2200" dirty="0"/>
              <a:t> </a:t>
            </a:r>
            <a:r>
              <a:rPr lang="zh-CN" altLang="en-US" sz="2200" dirty="0"/>
              <a:t>反汇编</a:t>
            </a:r>
            <a:r>
              <a:rPr lang="en-US" altLang="zh-CN" sz="2200" dirty="0"/>
              <a:t>bomb</a:t>
            </a:r>
          </a:p>
          <a:p>
            <a:pPr marL="0" indent="0">
              <a:buNone/>
            </a:pPr>
            <a:r>
              <a:rPr lang="en-US" altLang="zh-CN" sz="2200" dirty="0"/>
              <a:t>                    </a:t>
            </a:r>
            <a:r>
              <a:rPr lang="en-US" altLang="zh-CN" sz="2200" i="1" dirty="0" err="1"/>
              <a:t>objdump</a:t>
            </a:r>
            <a:r>
              <a:rPr lang="en-US" altLang="zh-CN" sz="2200" i="1" dirty="0"/>
              <a:t>  </a:t>
            </a:r>
            <a:r>
              <a:rPr lang="zh-CN" altLang="zh-CN" sz="2200" i="1" dirty="0"/>
              <a:t>–</a:t>
            </a:r>
            <a:r>
              <a:rPr lang="en-US" altLang="zh-CN" sz="2200" i="1" dirty="0"/>
              <a:t>d  bomb    </a:t>
            </a:r>
            <a:r>
              <a:rPr lang="en-US" altLang="zh-CN" sz="2200" i="1" dirty="0">
                <a:solidFill>
                  <a:srgbClr val="FF0000"/>
                </a:solidFill>
              </a:rPr>
              <a:t>&gt;asm.txt</a:t>
            </a:r>
          </a:p>
          <a:p>
            <a:r>
              <a:rPr lang="en-US" altLang="zh-CN" sz="2200" dirty="0"/>
              <a:t>  &gt;:   </a:t>
            </a:r>
            <a:r>
              <a:rPr lang="zh-CN" altLang="en-US" sz="2200" dirty="0"/>
              <a:t>重定向符号，将反汇编出来的源程序输出至文件</a:t>
            </a:r>
            <a:r>
              <a:rPr lang="en-US" altLang="zh-CN" sz="2200" dirty="0"/>
              <a:t>asm.txt</a:t>
            </a:r>
            <a:r>
              <a:rPr lang="zh-CN" altLang="en-US" sz="2200" dirty="0"/>
              <a:t>中</a:t>
            </a:r>
            <a:endParaRPr lang="en-US" altLang="zh-CN" sz="2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zh-CN" sz="1400">
                <a:solidFill>
                  <a:srgbClr val="0D7157"/>
                </a:solidFill>
              </a:rPr>
              <a:t> -</a:t>
            </a:r>
            <a:fld id="{01D71506-0713-46DD-9483-17E15EDE737E}" type="slidenum">
              <a:rPr lang="en-US" altLang="zh-CN" sz="1400" smtClean="0">
                <a:solidFill>
                  <a:srgbClr val="0D7157"/>
                </a:solidFill>
              </a:rPr>
              <a:pPr>
                <a:defRPr/>
              </a:pPr>
              <a:t>19</a:t>
            </a:fld>
            <a:r>
              <a:rPr lang="en-US" altLang="zh-CN" sz="1400">
                <a:solidFill>
                  <a:srgbClr val="0D7157"/>
                </a:solidFill>
              </a:rPr>
              <a:t>- </a:t>
            </a:r>
            <a:endParaRPr lang="en-US" altLang="zh-CN" sz="1400" dirty="0">
              <a:solidFill>
                <a:srgbClr val="0D7157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objdump</a:t>
            </a:r>
            <a:r>
              <a:rPr lang="zh-CN" altLang="en-US" dirty="0"/>
              <a:t>反汇编（附）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3295" y="2902876"/>
            <a:ext cx="4637409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5073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1864" y="1268760"/>
            <a:ext cx="8640960" cy="5544617"/>
          </a:xfrm>
        </p:spPr>
        <p:txBody>
          <a:bodyPr>
            <a:noAutofit/>
          </a:bodyPr>
          <a:lstStyle/>
          <a:p>
            <a:r>
              <a:rPr lang="zh-CN" altLang="en-US" b="1" dirty="0">
                <a:solidFill>
                  <a:srgbClr val="3333FF"/>
                </a:solidFill>
              </a:rPr>
              <a:t>进入</a:t>
            </a:r>
            <a:r>
              <a:rPr lang="en-US" altLang="zh-CN" b="1" dirty="0" err="1">
                <a:solidFill>
                  <a:srgbClr val="3333FF"/>
                </a:solidFill>
              </a:rPr>
              <a:t>gdb</a:t>
            </a:r>
            <a:r>
              <a:rPr lang="en-US" altLang="zh-CN" b="1" dirty="0">
                <a:solidFill>
                  <a:srgbClr val="3333FF"/>
                </a:solidFill>
              </a:rPr>
              <a:t>     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CN" b="1" dirty="0">
                <a:solidFill>
                  <a:srgbClr val="00B0F0"/>
                </a:solidFill>
              </a:rPr>
              <a:t>$</a:t>
            </a:r>
            <a:r>
              <a:rPr lang="en-US" altLang="zh-CN" b="1" dirty="0" err="1">
                <a:solidFill>
                  <a:srgbClr val="FF0000"/>
                </a:solidFill>
              </a:rPr>
              <a:t>gdb</a:t>
            </a:r>
            <a:r>
              <a:rPr lang="en-US" altLang="zh-CN" b="1" dirty="0">
                <a:solidFill>
                  <a:srgbClr val="FF0000"/>
                </a:solidFill>
              </a:rPr>
              <a:t>   </a:t>
            </a:r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</a:rPr>
              <a:t>&lt;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</a:rPr>
              <a:t>可执行程序名</a:t>
            </a:r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</a:rPr>
              <a:t>&gt;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</a:rPr>
              <a:t>   </a:t>
            </a:r>
            <a:r>
              <a:rPr lang="en-US" altLang="zh-CN" b="1" dirty="0">
                <a:solidFill>
                  <a:srgbClr val="FFC000"/>
                </a:solidFill>
              </a:rPr>
              <a:t>#</a:t>
            </a:r>
            <a:r>
              <a:rPr lang="zh-CN" altLang="en-US" b="1" dirty="0">
                <a:solidFill>
                  <a:srgbClr val="FFC000"/>
                </a:solidFill>
              </a:rPr>
              <a:t>进入</a:t>
            </a:r>
            <a:r>
              <a:rPr lang="en-US" altLang="zh-CN" b="1" dirty="0" err="1">
                <a:solidFill>
                  <a:srgbClr val="FFC000"/>
                </a:solidFill>
              </a:rPr>
              <a:t>gdb</a:t>
            </a:r>
            <a:r>
              <a:rPr lang="zh-CN" altLang="en-US" b="1" dirty="0">
                <a:solidFill>
                  <a:srgbClr val="FFC000"/>
                </a:solidFill>
              </a:rPr>
              <a:t>，并加载可执行程序</a:t>
            </a:r>
            <a:endParaRPr lang="en-US" altLang="zh-CN" b="1" dirty="0">
              <a:solidFill>
                <a:srgbClr val="FFC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altLang="zh-CN" b="1" dirty="0">
                <a:solidFill>
                  <a:srgbClr val="00B0F0"/>
                </a:solidFill>
              </a:rPr>
              <a:t>$</a:t>
            </a:r>
            <a:r>
              <a:rPr lang="en-US" altLang="zh-CN" b="1" dirty="0" err="1">
                <a:solidFill>
                  <a:srgbClr val="FF0000"/>
                </a:solidFill>
              </a:rPr>
              <a:t>gdb</a:t>
            </a:r>
            <a:r>
              <a:rPr lang="en-US" altLang="zh-CN" b="1" dirty="0">
                <a:solidFill>
                  <a:srgbClr val="FF0000"/>
                </a:solidFill>
              </a:rPr>
              <a:t>               </a:t>
            </a:r>
            <a:r>
              <a:rPr lang="en-US" altLang="zh-CN" b="1" dirty="0">
                <a:solidFill>
                  <a:srgbClr val="FFC000"/>
                </a:solidFill>
              </a:rPr>
              <a:t>#</a:t>
            </a:r>
            <a:r>
              <a:rPr lang="zh-CN" altLang="en-US" b="1" dirty="0">
                <a:solidFill>
                  <a:srgbClr val="FFC000"/>
                </a:solidFill>
              </a:rPr>
              <a:t>进入</a:t>
            </a:r>
            <a:r>
              <a:rPr lang="en-US" altLang="zh-CN" b="1" dirty="0" err="1">
                <a:solidFill>
                  <a:srgbClr val="FFC000"/>
                </a:solidFill>
              </a:rPr>
              <a:t>gdb</a:t>
            </a:r>
            <a:r>
              <a:rPr lang="zh-CN" altLang="en-US" b="1" dirty="0">
                <a:solidFill>
                  <a:srgbClr val="FFC000"/>
                </a:solidFill>
              </a:rPr>
              <a:t>，然后可以使用</a:t>
            </a:r>
            <a:r>
              <a:rPr lang="en-US" altLang="zh-CN" b="1" dirty="0">
                <a:solidFill>
                  <a:srgbClr val="FFC000"/>
                </a:solidFill>
              </a:rPr>
              <a:t>file</a:t>
            </a:r>
            <a:r>
              <a:rPr lang="zh-CN" altLang="en-US" b="1" dirty="0">
                <a:solidFill>
                  <a:srgbClr val="FFC000"/>
                </a:solidFill>
              </a:rPr>
              <a:t>命令加载程序</a:t>
            </a:r>
            <a:endParaRPr lang="en-US" altLang="zh-CN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altLang="zh-CN" sz="1800" b="1" dirty="0">
              <a:solidFill>
                <a:srgbClr val="FFC000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858424"/>
          </a:xfrm>
        </p:spPr>
        <p:txBody>
          <a:bodyPr/>
          <a:lstStyle/>
          <a:p>
            <a:r>
              <a:rPr lang="en-US" altLang="zh-CN" dirty="0" err="1"/>
              <a:t>gdb</a:t>
            </a:r>
            <a:r>
              <a:rPr lang="zh-CN" altLang="en-US" dirty="0"/>
              <a:t>用法（附）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852936"/>
            <a:ext cx="7421542" cy="2952328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4644008" y="2852936"/>
            <a:ext cx="864096" cy="21602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83568" y="5589240"/>
            <a:ext cx="504056" cy="21602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线形标注 2 12"/>
          <p:cNvSpPr/>
          <p:nvPr/>
        </p:nvSpPr>
        <p:spPr>
          <a:xfrm>
            <a:off x="1946067" y="5877272"/>
            <a:ext cx="2448272" cy="576064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1541"/>
              <a:gd name="adj6" fmla="val -40461"/>
            </a:avLst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altLang="zh-CN" sz="1600" dirty="0" err="1">
                <a:solidFill>
                  <a:srgbClr val="3333FF"/>
                </a:solidFill>
              </a:rPr>
              <a:t>gdb</a:t>
            </a:r>
            <a:r>
              <a:rPr lang="zh-CN" altLang="en-US" sz="1600" dirty="0">
                <a:solidFill>
                  <a:srgbClr val="3333FF"/>
                </a:solidFill>
              </a:rPr>
              <a:t>命令提示符，所有的</a:t>
            </a:r>
            <a:r>
              <a:rPr lang="en-US" altLang="zh-CN" sz="1600" dirty="0" err="1">
                <a:solidFill>
                  <a:srgbClr val="3333FF"/>
                </a:solidFill>
              </a:rPr>
              <a:t>gdb</a:t>
            </a:r>
            <a:r>
              <a:rPr lang="zh-CN" altLang="en-US" sz="1600" dirty="0">
                <a:solidFill>
                  <a:srgbClr val="3333FF"/>
                </a:solidFill>
              </a:rPr>
              <a:t>命令在它后面输入</a:t>
            </a:r>
          </a:p>
        </p:txBody>
      </p:sp>
    </p:spTree>
    <p:extLst>
      <p:ext uri="{BB962C8B-B14F-4D97-AF65-F5344CB8AC3E}">
        <p14:creationId xmlns:p14="http://schemas.microsoft.com/office/powerpoint/2010/main" val="25853930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51520" y="1916832"/>
            <a:ext cx="8712968" cy="4608512"/>
          </a:xfrm>
        </p:spPr>
        <p:txBody>
          <a:bodyPr>
            <a:normAutofit/>
          </a:bodyPr>
          <a:lstStyle/>
          <a:p>
            <a:pPr marL="0"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FF0000"/>
                </a:solidFill>
              </a:rPr>
              <a:t> r</a:t>
            </a:r>
            <a:r>
              <a:rPr lang="en-US" altLang="zh-CN" b="1" dirty="0">
                <a:solidFill>
                  <a:srgbClr val="00B0F0"/>
                </a:solidFill>
              </a:rPr>
              <a:t>    </a:t>
            </a:r>
            <a:r>
              <a:rPr lang="en-US" altLang="zh-CN" b="1" dirty="0">
                <a:solidFill>
                  <a:srgbClr val="FFC000"/>
                </a:solidFill>
              </a:rPr>
              <a:t>#</a:t>
            </a:r>
            <a:r>
              <a:rPr lang="zh-CN" altLang="en-US" b="1" dirty="0">
                <a:solidFill>
                  <a:srgbClr val="FFC000"/>
                </a:solidFill>
              </a:rPr>
              <a:t>执行程序，直到遇到断点或结束</a:t>
            </a:r>
            <a:r>
              <a:rPr lang="zh-CN" altLang="zh-CN" b="1" dirty="0">
                <a:solidFill>
                  <a:srgbClr val="FFC000"/>
                </a:solidFill>
              </a:rPr>
              <a:t>。</a:t>
            </a:r>
            <a:endParaRPr lang="en-US" altLang="zh-CN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ym typeface="Wingdings" panose="05000000000000000000" pitchFamily="2" charset="2"/>
              </a:rPr>
              <a:t>      </a:t>
            </a:r>
            <a:r>
              <a:rPr lang="en-US" altLang="zh-CN" dirty="0">
                <a:sym typeface="Wingdings" panose="05000000000000000000" pitchFamily="2" charset="2"/>
              </a:rPr>
              <a:t> </a:t>
            </a:r>
            <a:r>
              <a:rPr lang="en-US" altLang="zh-CN" i="1" dirty="0"/>
              <a:t>r  </a:t>
            </a:r>
            <a:r>
              <a:rPr lang="en-US" altLang="zh-CN" i="1" dirty="0">
                <a:solidFill>
                  <a:srgbClr val="0000FF"/>
                </a:solidFill>
              </a:rPr>
              <a:t>–p 666666  -f solution.txt</a:t>
            </a:r>
            <a:r>
              <a:rPr lang="en-US" altLang="zh-CN" i="1" dirty="0"/>
              <a:t>   </a:t>
            </a:r>
            <a:r>
              <a:rPr lang="en-US" altLang="zh-CN" b="1" dirty="0">
                <a:solidFill>
                  <a:srgbClr val="FFC000"/>
                </a:solidFill>
              </a:rPr>
              <a:t>#</a:t>
            </a:r>
            <a:r>
              <a:rPr lang="zh-CN" altLang="en-US" b="1" dirty="0">
                <a:solidFill>
                  <a:srgbClr val="FFC000"/>
                </a:solidFill>
              </a:rPr>
              <a:t>如果程序有</a:t>
            </a:r>
            <a:r>
              <a:rPr lang="zh-CN" altLang="en-US" b="1" dirty="0">
                <a:solidFill>
                  <a:srgbClr val="0000FF"/>
                </a:solidFill>
              </a:rPr>
              <a:t>参数</a:t>
            </a:r>
            <a:r>
              <a:rPr lang="zh-CN" altLang="en-US" b="1" dirty="0">
                <a:solidFill>
                  <a:srgbClr val="FFC000"/>
                </a:solidFill>
              </a:rPr>
              <a:t>，在这儿传入。</a:t>
            </a:r>
            <a:endParaRPr lang="en-US" altLang="zh-CN" i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FF0000"/>
                </a:solidFill>
              </a:rPr>
              <a:t> c        </a:t>
            </a:r>
            <a:r>
              <a:rPr lang="en-US" altLang="zh-CN" b="1" dirty="0">
                <a:solidFill>
                  <a:srgbClr val="FFC000"/>
                </a:solidFill>
              </a:rPr>
              <a:t>#</a:t>
            </a:r>
            <a:r>
              <a:rPr lang="zh-CN" altLang="en-US" b="1" dirty="0">
                <a:solidFill>
                  <a:srgbClr val="FFC000"/>
                </a:solidFill>
              </a:rPr>
              <a:t>继续执行，直到遇到断点或结束</a:t>
            </a:r>
            <a:r>
              <a:rPr lang="zh-CN" altLang="zh-CN" b="1" dirty="0">
                <a:solidFill>
                  <a:srgbClr val="FFC000"/>
                </a:solidFill>
              </a:rPr>
              <a:t>。</a:t>
            </a:r>
            <a:endParaRPr lang="en-US" altLang="zh-CN" b="1" dirty="0">
              <a:solidFill>
                <a:srgbClr val="FFC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</a:rPr>
              <a:t>ni</a:t>
            </a:r>
            <a:r>
              <a:rPr lang="en-US" altLang="zh-CN" b="1" dirty="0">
                <a:solidFill>
                  <a:srgbClr val="FF0000"/>
                </a:solidFill>
              </a:rPr>
              <a:t>/</a:t>
            </a:r>
            <a:r>
              <a:rPr lang="en-US" altLang="zh-CN" b="1" dirty="0" err="1">
                <a:solidFill>
                  <a:srgbClr val="FF0000"/>
                </a:solidFill>
              </a:rPr>
              <a:t>si</a:t>
            </a:r>
            <a:r>
              <a:rPr lang="en-US" altLang="zh-CN" b="1" dirty="0">
                <a:solidFill>
                  <a:srgbClr val="FF0000"/>
                </a:solidFill>
              </a:rPr>
              <a:t>    </a:t>
            </a:r>
            <a:r>
              <a:rPr lang="en-US" altLang="zh-CN" b="1" dirty="0">
                <a:solidFill>
                  <a:srgbClr val="FFC000"/>
                </a:solidFill>
              </a:rPr>
              <a:t>#</a:t>
            </a:r>
            <a:r>
              <a:rPr lang="zh-CN" altLang="en-US" b="1" dirty="0">
                <a:solidFill>
                  <a:srgbClr val="FFC000"/>
                </a:solidFill>
              </a:rPr>
              <a:t>单步执行汇编指令 。</a:t>
            </a:r>
            <a:r>
              <a:rPr lang="en-US" altLang="zh-CN" b="1" dirty="0" err="1">
                <a:solidFill>
                  <a:srgbClr val="FFC000"/>
                </a:solidFill>
              </a:rPr>
              <a:t>si</a:t>
            </a:r>
            <a:r>
              <a:rPr lang="zh-CN" altLang="en-US" b="1" dirty="0">
                <a:solidFill>
                  <a:srgbClr val="FFC000"/>
                </a:solidFill>
              </a:rPr>
              <a:t>会进入函数内部。</a:t>
            </a:r>
            <a:endParaRPr lang="en-US" altLang="zh-CN" b="1" dirty="0">
              <a:solidFill>
                <a:srgbClr val="FFC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FF0000"/>
                </a:solidFill>
              </a:rPr>
              <a:t> file   </a:t>
            </a:r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</a:rPr>
              <a:t>&lt;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</a:rPr>
              <a:t>可执行程序名</a:t>
            </a:r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</a:rPr>
              <a:t>&gt;   </a:t>
            </a:r>
            <a:r>
              <a:rPr lang="en-US" altLang="zh-CN" b="1" dirty="0">
                <a:solidFill>
                  <a:srgbClr val="FFC000"/>
                </a:solidFill>
              </a:rPr>
              <a:t>#</a:t>
            </a:r>
            <a:r>
              <a:rPr lang="zh-CN" altLang="en-US" b="1" dirty="0">
                <a:solidFill>
                  <a:srgbClr val="FFC000"/>
                </a:solidFill>
              </a:rPr>
              <a:t>加载可执行程序</a:t>
            </a:r>
            <a:endParaRPr lang="en-US" altLang="zh-CN" b="1" dirty="0">
              <a:solidFill>
                <a:srgbClr val="FFC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FF0000"/>
                </a:solidFill>
              </a:rPr>
              <a:t> q    </a:t>
            </a:r>
            <a:r>
              <a:rPr lang="zh-CN" altLang="en-US" b="1" dirty="0">
                <a:solidFill>
                  <a:srgbClr val="FFC000"/>
                </a:solidFill>
              </a:rPr>
              <a:t>退出</a:t>
            </a:r>
            <a:endParaRPr lang="en-US" altLang="zh-CN" b="1" dirty="0">
              <a:solidFill>
                <a:srgbClr val="FFC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b="1" dirty="0" err="1">
                <a:solidFill>
                  <a:srgbClr val="FF0000"/>
                </a:solidFill>
              </a:rPr>
              <a:t>disas</a:t>
            </a:r>
            <a:r>
              <a:rPr lang="en-US" altLang="zh-CN" b="1" dirty="0">
                <a:solidFill>
                  <a:srgbClr val="FF0000"/>
                </a:solidFill>
              </a:rPr>
              <a:t>     </a:t>
            </a:r>
            <a:r>
              <a:rPr lang="en-US" altLang="zh-CN" b="1" dirty="0">
                <a:solidFill>
                  <a:srgbClr val="FFC000"/>
                </a:solidFill>
              </a:rPr>
              <a:t>#</a:t>
            </a:r>
            <a:r>
              <a:rPr lang="zh-CN" altLang="en-US" b="1" dirty="0">
                <a:solidFill>
                  <a:srgbClr val="FFC000"/>
                </a:solidFill>
              </a:rPr>
              <a:t>显示汇编代码</a:t>
            </a:r>
            <a:endParaRPr lang="en-US" altLang="zh-CN" b="1" dirty="0">
              <a:solidFill>
                <a:srgbClr val="FFC000"/>
              </a:solidFill>
            </a:endParaRPr>
          </a:p>
          <a:p>
            <a:pPr marL="1076325" indent="-628650">
              <a:buNone/>
            </a:pPr>
            <a:r>
              <a:rPr lang="zh-CN" altLang="en-US" dirty="0"/>
              <a:t>如： </a:t>
            </a:r>
            <a:r>
              <a:rPr lang="en-US" altLang="zh-CN" i="1" dirty="0" err="1"/>
              <a:t>disas</a:t>
            </a:r>
            <a:r>
              <a:rPr lang="en-US" altLang="zh-CN" dirty="0"/>
              <a:t>       #</a:t>
            </a:r>
            <a:r>
              <a:rPr lang="zh-CN" altLang="en-US" dirty="0"/>
              <a:t>显示当前执行位置的一段汇编代码</a:t>
            </a:r>
            <a:endParaRPr lang="en-US" altLang="zh-CN" dirty="0"/>
          </a:p>
          <a:p>
            <a:pPr marL="1076325" indent="-628650">
              <a:buNone/>
            </a:pPr>
            <a:r>
              <a:rPr lang="en-US" altLang="zh-CN" dirty="0"/>
              <a:t>          </a:t>
            </a:r>
            <a:r>
              <a:rPr lang="en-US" altLang="zh-CN" i="1" dirty="0" err="1"/>
              <a:t>disas</a:t>
            </a:r>
            <a:r>
              <a:rPr lang="en-US" altLang="zh-CN" i="1" dirty="0"/>
              <a:t> main     </a:t>
            </a:r>
            <a:r>
              <a:rPr lang="en-US" altLang="zh-CN" dirty="0"/>
              <a:t>#</a:t>
            </a:r>
            <a:r>
              <a:rPr lang="zh-CN" altLang="en-US" dirty="0"/>
              <a:t>显示</a:t>
            </a:r>
            <a:r>
              <a:rPr lang="en-US" altLang="zh-CN" dirty="0"/>
              <a:t>main</a:t>
            </a:r>
            <a:r>
              <a:rPr lang="zh-CN" altLang="en-US" dirty="0"/>
              <a:t>函数的汇编代码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 err="1">
                <a:solidFill>
                  <a:srgbClr val="3333FF"/>
                </a:solidFill>
              </a:rPr>
              <a:t>gdb</a:t>
            </a:r>
            <a:r>
              <a:rPr lang="zh-CN" altLang="en-US" b="1" dirty="0">
                <a:solidFill>
                  <a:srgbClr val="3333FF"/>
                </a:solidFill>
              </a:rPr>
              <a:t>常用指令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6541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51520" y="1988840"/>
            <a:ext cx="8640960" cy="4032448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FF0000"/>
                </a:solidFill>
              </a:rPr>
              <a:t> b   </a:t>
            </a:r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</a:rPr>
              <a:t>&lt;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</a:rPr>
              <a:t>断点位置</a:t>
            </a:r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</a:rPr>
              <a:t>&gt;</a:t>
            </a:r>
            <a:r>
              <a:rPr lang="zh-CN" altLang="en-US" b="1" dirty="0">
                <a:solidFill>
                  <a:schemeClr val="accent3">
                    <a:lumMod val="75000"/>
                  </a:schemeClr>
                </a:solidFill>
              </a:rPr>
              <a:t>    </a:t>
            </a:r>
            <a:r>
              <a:rPr lang="en-US" altLang="zh-CN" b="1" dirty="0">
                <a:solidFill>
                  <a:srgbClr val="FFC000"/>
                </a:solidFill>
              </a:rPr>
              <a:t>#</a:t>
            </a:r>
            <a:r>
              <a:rPr lang="zh-CN" altLang="en-US" b="1" dirty="0">
                <a:solidFill>
                  <a:srgbClr val="FFC000"/>
                </a:solidFill>
              </a:rPr>
              <a:t>设置断点，</a:t>
            </a:r>
            <a:r>
              <a:rPr lang="zh-CN" altLang="zh-CN" b="1" dirty="0">
                <a:solidFill>
                  <a:srgbClr val="FFC000"/>
                </a:solidFill>
              </a:rPr>
              <a:t>可以使用</a:t>
            </a:r>
            <a:r>
              <a:rPr lang="en-US" altLang="zh-CN" b="1" dirty="0">
                <a:solidFill>
                  <a:srgbClr val="FFC000"/>
                </a:solidFill>
              </a:rPr>
              <a:t> </a:t>
            </a:r>
            <a:r>
              <a:rPr lang="zh-CN" altLang="zh-CN" b="1" dirty="0">
                <a:solidFill>
                  <a:srgbClr val="FFC000"/>
                </a:solidFill>
              </a:rPr>
              <a:t>函数名称</a:t>
            </a:r>
            <a:r>
              <a:rPr lang="zh-CN" altLang="en-US" b="1" dirty="0">
                <a:solidFill>
                  <a:srgbClr val="FFC000"/>
                </a:solidFill>
              </a:rPr>
              <a:t>、</a:t>
            </a:r>
            <a:r>
              <a:rPr lang="zh-CN" altLang="zh-CN" b="1" dirty="0">
                <a:solidFill>
                  <a:srgbClr val="FFC000"/>
                </a:solidFill>
              </a:rPr>
              <a:t>地址等方式指定断点位</a:t>
            </a:r>
            <a:r>
              <a:rPr lang="zh-CN" altLang="en-US" b="1" dirty="0">
                <a:solidFill>
                  <a:srgbClr val="FFC000"/>
                </a:solidFill>
              </a:rPr>
              <a:t>置</a:t>
            </a:r>
            <a:r>
              <a:rPr lang="zh-CN" altLang="zh-CN" b="1" dirty="0">
                <a:solidFill>
                  <a:srgbClr val="FFC000"/>
                </a:solidFill>
              </a:rPr>
              <a:t>。</a:t>
            </a:r>
            <a:endParaRPr lang="en-US" altLang="zh-CN" b="1" dirty="0">
              <a:solidFill>
                <a:srgbClr val="FFC000"/>
              </a:solidFill>
            </a:endParaRPr>
          </a:p>
          <a:p>
            <a:pPr marL="1076325" indent="-628650">
              <a:buNone/>
            </a:pPr>
            <a:r>
              <a:rPr lang="zh-CN" altLang="en-US" dirty="0"/>
              <a:t>如： </a:t>
            </a:r>
            <a:r>
              <a:rPr lang="en-US" altLang="zh-CN" dirty="0"/>
              <a:t> </a:t>
            </a:r>
            <a:r>
              <a:rPr lang="en-US" altLang="zh-CN" i="1" dirty="0"/>
              <a:t>b  main    #</a:t>
            </a:r>
            <a:r>
              <a:rPr lang="zh-CN" altLang="en-US" i="1" dirty="0"/>
              <a:t>在</a:t>
            </a:r>
            <a:r>
              <a:rPr lang="en-US" altLang="zh-CN" i="1" dirty="0"/>
              <a:t>main</a:t>
            </a:r>
            <a:r>
              <a:rPr lang="zh-CN" altLang="en-US" i="1" dirty="0"/>
              <a:t>函数开始处设置断点</a:t>
            </a:r>
            <a:endParaRPr lang="en-US" altLang="zh-CN" i="1" dirty="0"/>
          </a:p>
          <a:p>
            <a:pPr marL="1076325" indent="-628650">
              <a:buNone/>
            </a:pPr>
            <a:r>
              <a:rPr lang="en-US" altLang="zh-CN" dirty="0"/>
              <a:t>            </a:t>
            </a:r>
            <a:r>
              <a:rPr lang="en-US" altLang="zh-CN" i="1" dirty="0"/>
              <a:t>b  *0x8048ac2    </a:t>
            </a:r>
            <a:r>
              <a:rPr lang="en-US" altLang="zh-CN" dirty="0"/>
              <a:t>#</a:t>
            </a:r>
            <a:r>
              <a:rPr lang="zh-CN" altLang="en-US" dirty="0"/>
              <a:t>在地址</a:t>
            </a:r>
            <a:r>
              <a:rPr lang="en-US" altLang="zh-CN" i="1" dirty="0"/>
              <a:t>0x8048ac2</a:t>
            </a:r>
            <a:r>
              <a:rPr lang="zh-CN" altLang="en-US" i="1" dirty="0"/>
              <a:t>处设置断点</a:t>
            </a:r>
            <a:endParaRPr lang="en-US" altLang="zh-CN" i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B0F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info breakpoints </a:t>
            </a:r>
            <a:r>
              <a:rPr lang="en-US" altLang="zh-CN" b="1" dirty="0"/>
              <a:t>    </a:t>
            </a:r>
            <a:r>
              <a:rPr lang="en-US" altLang="zh-CN" b="1" dirty="0">
                <a:solidFill>
                  <a:srgbClr val="FFC000"/>
                </a:solidFill>
              </a:rPr>
              <a:t>#</a:t>
            </a:r>
            <a:r>
              <a:rPr lang="zh-CN" altLang="en-US" b="1" dirty="0">
                <a:solidFill>
                  <a:srgbClr val="FFC000"/>
                </a:solidFill>
              </a:rPr>
              <a:t>显示所有断点的信息，每个断点有一个</a:t>
            </a:r>
            <a:r>
              <a:rPr lang="zh-CN" altLang="en-US" b="1" dirty="0">
                <a:solidFill>
                  <a:srgbClr val="FF00FF"/>
                </a:solidFill>
              </a:rPr>
              <a:t>编号</a:t>
            </a:r>
            <a:r>
              <a:rPr lang="zh-CN" altLang="en-US" b="1" dirty="0">
                <a:solidFill>
                  <a:srgbClr val="FFC000"/>
                </a:solidFill>
              </a:rPr>
              <a:t>。</a:t>
            </a:r>
            <a:endParaRPr lang="en-US" altLang="zh-CN" b="1" dirty="0">
              <a:solidFill>
                <a:srgbClr val="FFC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B0F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delete   </a:t>
            </a:r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</a:rPr>
              <a:t>&lt;</a:t>
            </a:r>
            <a:r>
              <a:rPr lang="zh-CN" altLang="en-US" b="1" dirty="0">
                <a:solidFill>
                  <a:srgbClr val="FF00FF"/>
                </a:solidFill>
              </a:rPr>
              <a:t>断点号</a:t>
            </a:r>
            <a:r>
              <a:rPr lang="en-US" altLang="zh-CN" b="1" dirty="0">
                <a:solidFill>
                  <a:schemeClr val="accent3">
                    <a:lumMod val="75000"/>
                  </a:schemeClr>
                </a:solidFill>
              </a:rPr>
              <a:t>&gt;</a:t>
            </a:r>
            <a:r>
              <a:rPr lang="zh-CN" altLang="en-US" b="1" dirty="0">
                <a:solidFill>
                  <a:srgbClr val="FF0000"/>
                </a:solidFill>
              </a:rPr>
              <a:t>                 </a:t>
            </a:r>
            <a:r>
              <a:rPr lang="en-US" altLang="zh-CN" b="1" dirty="0">
                <a:solidFill>
                  <a:srgbClr val="FFC000"/>
                </a:solidFill>
              </a:rPr>
              <a:t>#</a:t>
            </a:r>
            <a:r>
              <a:rPr lang="zh-CN" altLang="en-US" b="1" dirty="0">
                <a:solidFill>
                  <a:srgbClr val="FFC000"/>
                </a:solidFill>
              </a:rPr>
              <a:t>删除断点</a:t>
            </a:r>
            <a:endParaRPr lang="en-US" altLang="zh-CN" b="1" dirty="0">
              <a:solidFill>
                <a:srgbClr val="FFC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FF0000"/>
                </a:solidFill>
              </a:rPr>
              <a:t>enable   breakpoints            </a:t>
            </a:r>
            <a:r>
              <a:rPr lang="en-US" altLang="zh-CN" b="1" dirty="0">
                <a:solidFill>
                  <a:srgbClr val="FFC000"/>
                </a:solidFill>
              </a:rPr>
              <a:t>#</a:t>
            </a:r>
            <a:r>
              <a:rPr lang="zh-CN" altLang="en-US" b="1" dirty="0">
                <a:solidFill>
                  <a:srgbClr val="FFC000"/>
                </a:solidFill>
              </a:rPr>
              <a:t>启用断点</a:t>
            </a:r>
            <a:endParaRPr lang="en-US" altLang="zh-CN" b="1" dirty="0">
              <a:solidFill>
                <a:srgbClr val="FFC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FF0000"/>
                </a:solidFill>
              </a:rPr>
              <a:t>disable   breakpoints</a:t>
            </a:r>
            <a:r>
              <a:rPr lang="zh-CN" altLang="en-US" b="1" dirty="0">
                <a:solidFill>
                  <a:srgbClr val="FF0000"/>
                </a:solidFill>
              </a:rPr>
              <a:t>           </a:t>
            </a:r>
            <a:r>
              <a:rPr lang="en-US" altLang="zh-CN" b="1" dirty="0">
                <a:solidFill>
                  <a:srgbClr val="FFC000"/>
                </a:solidFill>
              </a:rPr>
              <a:t>#</a:t>
            </a:r>
            <a:r>
              <a:rPr lang="zh-CN" altLang="en-US" b="1" dirty="0">
                <a:solidFill>
                  <a:srgbClr val="FFC000"/>
                </a:solidFill>
              </a:rPr>
              <a:t>禁用断点</a:t>
            </a:r>
            <a:endParaRPr lang="en-US" altLang="zh-CN" b="1" dirty="0">
              <a:solidFill>
                <a:srgbClr val="FFC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FF0000"/>
                </a:solidFill>
              </a:rPr>
              <a:t>finish</a:t>
            </a:r>
            <a:r>
              <a:rPr lang="en-US" altLang="zh-CN" dirty="0"/>
              <a:t>      </a:t>
            </a:r>
            <a:r>
              <a:rPr lang="en-US" altLang="zh-CN" b="1" dirty="0">
                <a:solidFill>
                  <a:srgbClr val="FFC000"/>
                </a:solidFill>
              </a:rPr>
              <a:t>#</a:t>
            </a:r>
            <a:r>
              <a:rPr lang="zh-CN" altLang="en-US" b="1" dirty="0">
                <a:solidFill>
                  <a:srgbClr val="FFC000"/>
                </a:solidFill>
              </a:rPr>
              <a:t>结束当前函数，返回到函数调用点</a:t>
            </a:r>
            <a:endParaRPr lang="en-US" altLang="zh-CN" b="1" dirty="0">
              <a:solidFill>
                <a:srgbClr val="FFC000"/>
              </a:solidFill>
            </a:endParaRPr>
          </a:p>
          <a:p>
            <a:pPr marL="0" indent="-62865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 err="1">
                <a:solidFill>
                  <a:srgbClr val="3333FF"/>
                </a:solidFill>
              </a:rPr>
              <a:t>gdb</a:t>
            </a:r>
            <a:r>
              <a:rPr lang="zh-CN" altLang="en-US" b="1" dirty="0">
                <a:solidFill>
                  <a:srgbClr val="3333FF"/>
                </a:solidFill>
              </a:rPr>
              <a:t>常用指令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06308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87524" y="1844824"/>
            <a:ext cx="8568951" cy="428133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FF0000"/>
                </a:solidFill>
              </a:rPr>
              <a:t> </a:t>
            </a:r>
            <a:r>
              <a:rPr lang="en-US" altLang="zh-CN" dirty="0">
                <a:solidFill>
                  <a:srgbClr val="FF0000"/>
                </a:solidFill>
              </a:rPr>
              <a:t>x  /</a:t>
            </a:r>
            <a:r>
              <a:rPr lang="en-US" altLang="zh-CN" dirty="0" err="1">
                <a:solidFill>
                  <a:srgbClr val="3333FF"/>
                </a:solidFill>
              </a:rPr>
              <a:t>nfu</a:t>
            </a:r>
            <a:r>
              <a:rPr lang="en-US" altLang="zh-CN" dirty="0">
                <a:solidFill>
                  <a:srgbClr val="00B050"/>
                </a:solidFill>
              </a:rPr>
              <a:t>   &lt;</a:t>
            </a:r>
            <a:r>
              <a:rPr lang="en-US" altLang="zh-CN" dirty="0" err="1">
                <a:solidFill>
                  <a:srgbClr val="00B050"/>
                </a:solidFill>
              </a:rPr>
              <a:t>addr</a:t>
            </a:r>
            <a:r>
              <a:rPr lang="en-US" altLang="zh-CN" dirty="0">
                <a:solidFill>
                  <a:srgbClr val="00B050"/>
                </a:solidFill>
              </a:rPr>
              <a:t>&gt;    </a:t>
            </a:r>
            <a:r>
              <a:rPr lang="en-US" altLang="zh-CN" b="1" dirty="0">
                <a:solidFill>
                  <a:srgbClr val="FFC000"/>
                </a:solidFill>
              </a:rPr>
              <a:t>#</a:t>
            </a:r>
            <a:r>
              <a:rPr lang="zh-CN" altLang="en-US" b="1" dirty="0">
                <a:solidFill>
                  <a:srgbClr val="FFC000"/>
                </a:solidFill>
              </a:rPr>
              <a:t>查看内存</a:t>
            </a:r>
            <a:endParaRPr lang="en-US" altLang="zh-CN" b="1" dirty="0">
              <a:solidFill>
                <a:srgbClr val="FFC000"/>
              </a:solidFill>
            </a:endParaRPr>
          </a:p>
          <a:p>
            <a:pPr marL="1076325" indent="-628650">
              <a:buNone/>
            </a:pPr>
            <a:r>
              <a:rPr lang="en-US" altLang="zh-CN" b="1" dirty="0">
                <a:solidFill>
                  <a:srgbClr val="FFC000"/>
                </a:solidFill>
              </a:rPr>
              <a:t>    </a:t>
            </a:r>
            <a:r>
              <a:rPr lang="en-US" altLang="zh-CN" dirty="0">
                <a:solidFill>
                  <a:srgbClr val="0000FF"/>
                </a:solidFill>
              </a:rPr>
              <a:t>n: </a:t>
            </a:r>
            <a:r>
              <a:rPr lang="zh-CN" altLang="en-US" dirty="0">
                <a:solidFill>
                  <a:srgbClr val="00B0F0"/>
                </a:solidFill>
              </a:rPr>
              <a:t>正整数，表示需要显示的内存单元的个数。</a:t>
            </a:r>
            <a:endParaRPr lang="en-US" altLang="zh-CN" dirty="0">
              <a:solidFill>
                <a:srgbClr val="00B0F0"/>
              </a:solidFill>
            </a:endParaRPr>
          </a:p>
          <a:p>
            <a:pPr marL="1378268" lvl="1" indent="-62865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f:  </a:t>
            </a:r>
            <a:r>
              <a:rPr lang="zh-CN" altLang="en-US" sz="2400" dirty="0">
                <a:solidFill>
                  <a:srgbClr val="00B0F0"/>
                </a:solidFill>
              </a:rPr>
              <a:t>输出格式。</a:t>
            </a:r>
            <a:r>
              <a:rPr lang="en-US" altLang="zh-CN" sz="2400" dirty="0">
                <a:solidFill>
                  <a:srgbClr val="00B0F0"/>
                </a:solidFill>
              </a:rPr>
              <a:t>s:</a:t>
            </a:r>
            <a:r>
              <a:rPr lang="zh-CN" altLang="en-US" sz="2400" dirty="0">
                <a:solidFill>
                  <a:srgbClr val="00B0F0"/>
                </a:solidFill>
              </a:rPr>
              <a:t>字符串，</a:t>
            </a:r>
            <a:r>
              <a:rPr lang="en-US" altLang="zh-CN" sz="2400" dirty="0">
                <a:solidFill>
                  <a:srgbClr val="00B0F0"/>
                </a:solidFill>
              </a:rPr>
              <a:t>x :</a:t>
            </a:r>
            <a:r>
              <a:rPr lang="zh-CN" altLang="en-US" sz="2400" dirty="0">
                <a:solidFill>
                  <a:srgbClr val="00B0F0"/>
                </a:solidFill>
              </a:rPr>
              <a:t>十六进制；</a:t>
            </a:r>
            <a:r>
              <a:rPr lang="en-US" altLang="zh-CN" sz="2400" dirty="0">
                <a:solidFill>
                  <a:srgbClr val="00B0F0"/>
                </a:solidFill>
              </a:rPr>
              <a:t>d :</a:t>
            </a:r>
            <a:r>
              <a:rPr lang="zh-CN" altLang="en-US" sz="2400" dirty="0">
                <a:solidFill>
                  <a:srgbClr val="00B0F0"/>
                </a:solidFill>
              </a:rPr>
              <a:t>十进制； </a:t>
            </a:r>
            <a:r>
              <a:rPr lang="en-US" altLang="zh-CN" sz="2400" dirty="0">
                <a:solidFill>
                  <a:srgbClr val="00B0F0"/>
                </a:solidFill>
              </a:rPr>
              <a:t>t :</a:t>
            </a:r>
            <a:r>
              <a:rPr lang="zh-CN" altLang="en-US" sz="2400" dirty="0">
                <a:solidFill>
                  <a:srgbClr val="00B0F0"/>
                </a:solidFill>
              </a:rPr>
              <a:t>二进制。</a:t>
            </a:r>
            <a:endParaRPr lang="en-US" altLang="zh-CN" sz="2400" dirty="0">
              <a:solidFill>
                <a:srgbClr val="00B0F0"/>
              </a:solidFill>
            </a:endParaRPr>
          </a:p>
          <a:p>
            <a:pPr marL="1378268" lvl="1" indent="-628650">
              <a:buNone/>
            </a:pPr>
            <a:r>
              <a:rPr lang="en-US" altLang="zh-CN" sz="2400" dirty="0">
                <a:solidFill>
                  <a:srgbClr val="0000FF"/>
                </a:solidFill>
              </a:rPr>
              <a:t>u:</a:t>
            </a:r>
            <a:r>
              <a:rPr lang="zh-CN" altLang="en-US" sz="2400" dirty="0">
                <a:solidFill>
                  <a:srgbClr val="FF0000"/>
                </a:solidFill>
              </a:rPr>
              <a:t> </a:t>
            </a:r>
            <a:r>
              <a:rPr lang="zh-CN" altLang="en-US" sz="2400" dirty="0">
                <a:solidFill>
                  <a:srgbClr val="00B0F0"/>
                </a:solidFill>
              </a:rPr>
              <a:t>类型（字节数）</a:t>
            </a:r>
            <a:r>
              <a:rPr lang="en-US" altLang="zh-CN" sz="2400" dirty="0">
                <a:solidFill>
                  <a:srgbClr val="00B0F0"/>
                </a:solidFill>
              </a:rPr>
              <a:t>,</a:t>
            </a:r>
            <a:r>
              <a:rPr lang="zh-CN" altLang="en-US" sz="2400" dirty="0">
                <a:solidFill>
                  <a:srgbClr val="00B0F0"/>
                </a:solidFill>
              </a:rPr>
              <a:t>默认为</a:t>
            </a:r>
            <a:r>
              <a:rPr lang="en-US" altLang="zh-CN" sz="2400" dirty="0">
                <a:solidFill>
                  <a:srgbClr val="00B0F0"/>
                </a:solidFill>
              </a:rPr>
              <a:t>4</a:t>
            </a:r>
            <a:r>
              <a:rPr lang="zh-CN" altLang="en-US" sz="2400" dirty="0">
                <a:solidFill>
                  <a:srgbClr val="00B0F0"/>
                </a:solidFill>
              </a:rPr>
              <a:t>（</a:t>
            </a:r>
            <a:r>
              <a:rPr lang="en-US" altLang="zh-CN" sz="2400" dirty="0">
                <a:solidFill>
                  <a:srgbClr val="00B0F0"/>
                </a:solidFill>
              </a:rPr>
              <a:t>w</a:t>
            </a:r>
            <a:r>
              <a:rPr lang="zh-CN" altLang="en-US" sz="2400" dirty="0">
                <a:solidFill>
                  <a:srgbClr val="00B0F0"/>
                </a:solidFill>
              </a:rPr>
              <a:t>）。</a:t>
            </a:r>
            <a:r>
              <a:rPr lang="en-US" altLang="zh-CN" sz="2400" dirty="0">
                <a:solidFill>
                  <a:srgbClr val="00B0F0"/>
                </a:solidFill>
              </a:rPr>
              <a:t>b=1 byte, h=2 </a:t>
            </a:r>
            <a:r>
              <a:rPr lang="en-US" altLang="zh-CN" sz="2400" dirty="0" err="1">
                <a:solidFill>
                  <a:srgbClr val="00B0F0"/>
                </a:solidFill>
              </a:rPr>
              <a:t>bytes,w</a:t>
            </a:r>
            <a:r>
              <a:rPr lang="en-US" altLang="zh-CN" sz="2400" dirty="0">
                <a:solidFill>
                  <a:srgbClr val="00B0F0"/>
                </a:solidFill>
              </a:rPr>
              <a:t>=4 </a:t>
            </a:r>
            <a:r>
              <a:rPr lang="en-US" altLang="zh-CN" sz="2400" dirty="0" err="1">
                <a:solidFill>
                  <a:srgbClr val="00B0F0"/>
                </a:solidFill>
              </a:rPr>
              <a:t>bytes,g</a:t>
            </a:r>
            <a:r>
              <a:rPr lang="en-US" altLang="zh-CN" sz="2400" dirty="0">
                <a:solidFill>
                  <a:srgbClr val="00B0F0"/>
                </a:solidFill>
              </a:rPr>
              <a:t>=8 byte</a:t>
            </a:r>
            <a:r>
              <a:rPr lang="zh-CN" altLang="en-US" sz="2400" dirty="0">
                <a:solidFill>
                  <a:srgbClr val="00B0F0"/>
                </a:solidFill>
              </a:rPr>
              <a:t>。</a:t>
            </a:r>
            <a:endParaRPr lang="en-US" altLang="zh-CN" sz="2400" dirty="0">
              <a:solidFill>
                <a:srgbClr val="00B0F0"/>
              </a:solidFill>
            </a:endParaRPr>
          </a:p>
          <a:p>
            <a:pPr marL="1378268" lvl="1" indent="-628650">
              <a:buNone/>
            </a:pPr>
            <a:r>
              <a:rPr lang="zh-CN" altLang="en-US" sz="2400" dirty="0"/>
              <a:t>如</a:t>
            </a:r>
            <a:r>
              <a:rPr lang="zh-CN" altLang="en-US" sz="2400" dirty="0">
                <a:sym typeface="Wingdings" panose="05000000000000000000" pitchFamily="2" charset="2"/>
              </a:rPr>
              <a:t> </a:t>
            </a:r>
            <a:r>
              <a:rPr lang="en-US" altLang="zh-CN" sz="2400" dirty="0">
                <a:sym typeface="Wingdings" panose="05000000000000000000" pitchFamily="2" charset="2"/>
              </a:rPr>
              <a:t> </a:t>
            </a:r>
            <a:r>
              <a:rPr lang="en-US" altLang="zh-CN" sz="2400" i="1" dirty="0"/>
              <a:t>x  /3</a:t>
            </a:r>
            <a:r>
              <a:rPr lang="en-US" altLang="zh-CN" sz="2400" i="1" dirty="0">
                <a:solidFill>
                  <a:srgbClr val="C00000"/>
                </a:solidFill>
              </a:rPr>
              <a:t>x</a:t>
            </a:r>
            <a:r>
              <a:rPr lang="en-US" altLang="zh-CN" sz="2400" i="1" dirty="0">
                <a:solidFill>
                  <a:srgbClr val="FF00FF"/>
                </a:solidFill>
              </a:rPr>
              <a:t>h</a:t>
            </a:r>
            <a:r>
              <a:rPr lang="en-US" altLang="zh-CN" sz="2400" i="1" dirty="0"/>
              <a:t>  0x54320</a:t>
            </a:r>
            <a:r>
              <a:rPr lang="zh-CN" altLang="en-US" sz="2400" i="1" dirty="0"/>
              <a:t>    </a:t>
            </a:r>
            <a:r>
              <a:rPr lang="en-US" altLang="zh-CN" sz="2400" dirty="0"/>
              <a:t>#</a:t>
            </a:r>
            <a:r>
              <a:rPr lang="zh-CN" altLang="en-US" sz="2400" dirty="0"/>
              <a:t>显示从地址</a:t>
            </a:r>
            <a:r>
              <a:rPr lang="en-US" altLang="zh-CN" sz="2400" dirty="0"/>
              <a:t>0x54320</a:t>
            </a:r>
            <a:r>
              <a:rPr lang="zh-CN" altLang="en-US" sz="2400" dirty="0"/>
              <a:t>开始的</a:t>
            </a:r>
            <a:r>
              <a:rPr lang="en-US" altLang="zh-CN" sz="2400" dirty="0"/>
              <a:t>3</a:t>
            </a:r>
            <a:r>
              <a:rPr lang="zh-CN" altLang="en-US" sz="2400" dirty="0"/>
              <a:t>个内存单元的值，每个内存单元</a:t>
            </a:r>
            <a:r>
              <a:rPr lang="en-US" altLang="zh-CN" sz="2400" dirty="0">
                <a:solidFill>
                  <a:srgbClr val="FF00FF"/>
                </a:solidFill>
              </a:rPr>
              <a:t>2</a:t>
            </a:r>
            <a:r>
              <a:rPr lang="zh-CN" altLang="en-US" sz="2400" dirty="0"/>
              <a:t>个字节，输出格式为</a:t>
            </a:r>
            <a:r>
              <a:rPr lang="zh-CN" altLang="en-US" sz="2400" dirty="0">
                <a:solidFill>
                  <a:srgbClr val="C00000"/>
                </a:solidFill>
              </a:rPr>
              <a:t>十六进制</a:t>
            </a:r>
            <a:r>
              <a:rPr lang="zh-CN" altLang="en-US" sz="2400" dirty="0"/>
              <a:t>。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3333FF"/>
                </a:solidFill>
              </a:rPr>
              <a:t>gdb</a:t>
            </a:r>
            <a:r>
              <a:rPr lang="zh-CN" altLang="en-US" b="1" dirty="0">
                <a:solidFill>
                  <a:srgbClr val="3333FF"/>
                </a:solidFill>
              </a:rPr>
              <a:t>常用指令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55747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97868" y="1700808"/>
            <a:ext cx="8568952" cy="496855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B0F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display  /</a:t>
            </a:r>
            <a:r>
              <a:rPr lang="en-US" altLang="zh-CN" dirty="0">
                <a:solidFill>
                  <a:srgbClr val="3333FF"/>
                </a:solidFill>
              </a:rPr>
              <a:t>f</a:t>
            </a:r>
            <a:r>
              <a:rPr lang="en-US" altLang="zh-CN" b="1" dirty="0">
                <a:solidFill>
                  <a:srgbClr val="00B050"/>
                </a:solidFill>
              </a:rPr>
              <a:t>   &lt;</a:t>
            </a:r>
            <a:r>
              <a:rPr lang="zh-CN" altLang="en-US" b="1" dirty="0">
                <a:solidFill>
                  <a:srgbClr val="00B050"/>
                </a:solidFill>
              </a:rPr>
              <a:t>寄存器名</a:t>
            </a:r>
            <a:r>
              <a:rPr lang="en-US" altLang="zh-CN" b="1" dirty="0">
                <a:solidFill>
                  <a:srgbClr val="00B050"/>
                </a:solidFill>
              </a:rPr>
              <a:t>&gt;   </a:t>
            </a:r>
            <a:r>
              <a:rPr lang="en-US" altLang="zh-CN" b="1" dirty="0">
                <a:solidFill>
                  <a:srgbClr val="FFC000"/>
                </a:solidFill>
              </a:rPr>
              <a:t>#</a:t>
            </a:r>
            <a:r>
              <a:rPr lang="zh-CN" altLang="en-US" b="1" dirty="0">
                <a:solidFill>
                  <a:srgbClr val="FFC000"/>
                </a:solidFill>
              </a:rPr>
              <a:t>显示变量的值，每当程序暂停会</a:t>
            </a:r>
            <a:r>
              <a:rPr lang="zh-CN" altLang="en-US" b="1" dirty="0">
                <a:solidFill>
                  <a:srgbClr val="FF00FF"/>
                </a:solidFill>
              </a:rPr>
              <a:t>自动显示寄存器的值</a:t>
            </a:r>
            <a:r>
              <a:rPr lang="zh-CN" altLang="en-US" b="1" dirty="0">
                <a:solidFill>
                  <a:srgbClr val="FFC000"/>
                </a:solidFill>
              </a:rPr>
              <a:t>。</a:t>
            </a:r>
            <a:endParaRPr lang="en-US" altLang="zh-CN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r>
              <a:rPr lang="en-US" altLang="zh-CN" b="1" dirty="0">
                <a:solidFill>
                  <a:srgbClr val="FF00FF"/>
                </a:solidFill>
              </a:rPr>
              <a:t>         </a:t>
            </a:r>
            <a:r>
              <a:rPr lang="zh-CN" altLang="en-US" dirty="0"/>
              <a:t>如： </a:t>
            </a:r>
            <a:r>
              <a:rPr lang="en-US" altLang="zh-CN" i="1" dirty="0"/>
              <a:t>display  /x  $</a:t>
            </a:r>
            <a:r>
              <a:rPr lang="en-US" altLang="zh-CN" i="1" dirty="0" err="1"/>
              <a:t>eax</a:t>
            </a:r>
            <a:r>
              <a:rPr lang="en-US" altLang="zh-CN" i="1" dirty="0"/>
              <a:t>   </a:t>
            </a:r>
            <a:r>
              <a:rPr lang="en-US" altLang="zh-CN" dirty="0"/>
              <a:t>#</a:t>
            </a:r>
            <a:r>
              <a:rPr lang="zh-CN" altLang="en-US" dirty="0"/>
              <a:t>用</a:t>
            </a:r>
            <a:r>
              <a:rPr lang="en-US" altLang="zh-CN" dirty="0"/>
              <a:t>16</a:t>
            </a:r>
            <a:r>
              <a:rPr lang="zh-CN" altLang="en-US" dirty="0"/>
              <a:t>进制格式显示</a:t>
            </a:r>
            <a:r>
              <a:rPr lang="en-US" altLang="zh-CN" dirty="0" err="1"/>
              <a:t>eax</a:t>
            </a:r>
            <a:r>
              <a:rPr lang="zh-CN" altLang="en-US" dirty="0"/>
              <a:t>的值</a:t>
            </a:r>
            <a:endParaRPr lang="en-US" altLang="zh-CN" dirty="0"/>
          </a:p>
          <a:p>
            <a:pPr marL="1076325" indent="-628650">
              <a:buNone/>
            </a:pPr>
            <a:r>
              <a:rPr lang="en-US" altLang="zh-CN" dirty="0"/>
              <a:t>          display  /</a:t>
            </a:r>
            <a:r>
              <a:rPr lang="en-US" altLang="zh-CN" dirty="0" err="1"/>
              <a:t>i</a:t>
            </a:r>
            <a:r>
              <a:rPr lang="en-US" altLang="zh-CN" dirty="0"/>
              <a:t>  $pc    #</a:t>
            </a:r>
            <a:r>
              <a:rPr lang="zh-CN" altLang="en-US" dirty="0"/>
              <a:t>用汇编代码的形式显示下一步要执行的</a:t>
            </a:r>
            <a:r>
              <a:rPr lang="zh-CN" altLang="en-US" b="1" dirty="0"/>
              <a:t>指令</a:t>
            </a:r>
            <a:endParaRPr lang="en-US" altLang="zh-CN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B0F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info display    </a:t>
            </a:r>
            <a:r>
              <a:rPr lang="en-US" altLang="zh-CN" b="1" dirty="0">
                <a:solidFill>
                  <a:srgbClr val="FFC000"/>
                </a:solidFill>
              </a:rPr>
              <a:t>#</a:t>
            </a:r>
            <a:r>
              <a:rPr lang="zh-CN" altLang="en-US" b="1" dirty="0">
                <a:solidFill>
                  <a:srgbClr val="FFC000"/>
                </a:solidFill>
              </a:rPr>
              <a:t>显示所有</a:t>
            </a:r>
            <a:r>
              <a:rPr lang="en-US" altLang="zh-CN" b="1" dirty="0">
                <a:solidFill>
                  <a:srgbClr val="FFC000"/>
                </a:solidFill>
              </a:rPr>
              <a:t>display</a:t>
            </a:r>
            <a:r>
              <a:rPr lang="zh-CN" altLang="en-US" b="1" dirty="0">
                <a:solidFill>
                  <a:srgbClr val="FFC000"/>
                </a:solidFill>
              </a:rPr>
              <a:t>的变量，每个有一个编号</a:t>
            </a:r>
            <a:endParaRPr lang="en-US" altLang="zh-CN" b="1" dirty="0">
              <a:solidFill>
                <a:srgbClr val="FFC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B0F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delete display   </a:t>
            </a:r>
            <a:r>
              <a:rPr lang="en-US" altLang="zh-CN" b="1" dirty="0">
                <a:solidFill>
                  <a:srgbClr val="00B050"/>
                </a:solidFill>
              </a:rPr>
              <a:t>&lt;</a:t>
            </a:r>
            <a:r>
              <a:rPr lang="zh-CN" altLang="en-US" b="1" dirty="0">
                <a:solidFill>
                  <a:srgbClr val="00B050"/>
                </a:solidFill>
              </a:rPr>
              <a:t>编号</a:t>
            </a:r>
            <a:r>
              <a:rPr lang="en-US" altLang="zh-CN" b="1" dirty="0">
                <a:solidFill>
                  <a:srgbClr val="00B050"/>
                </a:solidFill>
              </a:rPr>
              <a:t>&gt;</a:t>
            </a:r>
            <a:r>
              <a:rPr lang="zh-CN" altLang="en-US" dirty="0"/>
              <a:t>     </a:t>
            </a:r>
            <a:r>
              <a:rPr lang="en-US" altLang="zh-CN" b="1" dirty="0">
                <a:solidFill>
                  <a:srgbClr val="FFC000"/>
                </a:solidFill>
              </a:rPr>
              <a:t>#</a:t>
            </a:r>
            <a:r>
              <a:rPr lang="zh-CN" altLang="en-US" b="1" dirty="0">
                <a:solidFill>
                  <a:srgbClr val="FFC000"/>
                </a:solidFill>
              </a:rPr>
              <a:t>删除</a:t>
            </a:r>
            <a:r>
              <a:rPr lang="en-US" altLang="zh-CN" b="1" dirty="0">
                <a:solidFill>
                  <a:srgbClr val="FFC000"/>
                </a:solidFill>
              </a:rPr>
              <a:t>display</a:t>
            </a:r>
            <a:r>
              <a:rPr lang="zh-CN" altLang="en-US" b="1" dirty="0">
                <a:solidFill>
                  <a:srgbClr val="FFC000"/>
                </a:solidFill>
              </a:rPr>
              <a:t>变量</a:t>
            </a:r>
            <a:endParaRPr lang="en-US" altLang="zh-CN" b="1" dirty="0">
              <a:solidFill>
                <a:srgbClr val="FFC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B0F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disable</a:t>
            </a:r>
            <a:r>
              <a:rPr lang="en-US" altLang="zh-CN" b="1" dirty="0">
                <a:solidFill>
                  <a:srgbClr val="00B0F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display    </a:t>
            </a:r>
            <a:r>
              <a:rPr lang="en-US" altLang="zh-CN" b="1" dirty="0">
                <a:solidFill>
                  <a:srgbClr val="00B050"/>
                </a:solidFill>
              </a:rPr>
              <a:t>&lt;</a:t>
            </a:r>
            <a:r>
              <a:rPr lang="zh-CN" altLang="en-US" b="1" dirty="0">
                <a:solidFill>
                  <a:srgbClr val="00B050"/>
                </a:solidFill>
              </a:rPr>
              <a:t>编号</a:t>
            </a:r>
            <a:r>
              <a:rPr lang="en-US" altLang="zh-CN" b="1" dirty="0">
                <a:solidFill>
                  <a:srgbClr val="00B050"/>
                </a:solidFill>
              </a:rPr>
              <a:t>&gt;</a:t>
            </a:r>
            <a:r>
              <a:rPr lang="zh-CN" altLang="en-US" dirty="0"/>
              <a:t>   </a:t>
            </a:r>
            <a:r>
              <a:rPr lang="en-US" altLang="zh-CN" b="1" dirty="0">
                <a:solidFill>
                  <a:srgbClr val="FFC000"/>
                </a:solidFill>
              </a:rPr>
              <a:t>#</a:t>
            </a:r>
            <a:r>
              <a:rPr lang="zh-CN" altLang="en-US" b="1" dirty="0">
                <a:solidFill>
                  <a:srgbClr val="FFC000"/>
                </a:solidFill>
              </a:rPr>
              <a:t>暂时禁用</a:t>
            </a:r>
            <a:r>
              <a:rPr lang="en-US" altLang="zh-CN" b="1" dirty="0">
                <a:solidFill>
                  <a:srgbClr val="FFC000"/>
                </a:solidFill>
              </a:rPr>
              <a:t>display</a:t>
            </a:r>
            <a:r>
              <a:rPr lang="zh-CN" altLang="en-US" b="1" dirty="0">
                <a:solidFill>
                  <a:srgbClr val="FFC000"/>
                </a:solidFill>
              </a:rPr>
              <a:t>变量，后续可以启用</a:t>
            </a:r>
            <a:endParaRPr lang="en-US" altLang="zh-CN" b="1" dirty="0">
              <a:solidFill>
                <a:srgbClr val="FFC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B0F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enable</a:t>
            </a:r>
            <a:r>
              <a:rPr lang="en-US" altLang="zh-CN" b="1" dirty="0">
                <a:solidFill>
                  <a:srgbClr val="00B0F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display   </a:t>
            </a:r>
            <a:r>
              <a:rPr lang="en-US" altLang="zh-CN" b="1" dirty="0">
                <a:solidFill>
                  <a:srgbClr val="00B050"/>
                </a:solidFill>
              </a:rPr>
              <a:t>&lt;</a:t>
            </a:r>
            <a:r>
              <a:rPr lang="zh-CN" altLang="en-US" b="1" dirty="0">
                <a:solidFill>
                  <a:srgbClr val="00B050"/>
                </a:solidFill>
              </a:rPr>
              <a:t>编号</a:t>
            </a:r>
            <a:r>
              <a:rPr lang="en-US" altLang="zh-CN" b="1" dirty="0">
                <a:solidFill>
                  <a:srgbClr val="00B050"/>
                </a:solidFill>
              </a:rPr>
              <a:t>&gt;</a:t>
            </a:r>
            <a:r>
              <a:rPr lang="zh-CN" altLang="en-US" dirty="0"/>
              <a:t>    </a:t>
            </a:r>
            <a:r>
              <a:rPr lang="en-US" altLang="zh-CN" b="1" dirty="0">
                <a:solidFill>
                  <a:srgbClr val="FFC000"/>
                </a:solidFill>
              </a:rPr>
              <a:t>#</a:t>
            </a:r>
            <a:r>
              <a:rPr lang="zh-CN" altLang="en-US" b="1" dirty="0">
                <a:solidFill>
                  <a:srgbClr val="FFC000"/>
                </a:solidFill>
              </a:rPr>
              <a:t>启用</a:t>
            </a:r>
            <a:r>
              <a:rPr lang="en-US" altLang="zh-CN" b="1" dirty="0">
                <a:solidFill>
                  <a:srgbClr val="FFC000"/>
                </a:solidFill>
              </a:rPr>
              <a:t>display</a:t>
            </a:r>
            <a:r>
              <a:rPr lang="zh-CN" altLang="en-US" b="1" dirty="0">
                <a:solidFill>
                  <a:srgbClr val="FFC000"/>
                </a:solidFill>
              </a:rPr>
              <a:t>变量</a:t>
            </a:r>
            <a:r>
              <a:rPr lang="en-US" altLang="zh-CN" b="1" dirty="0">
                <a:solidFill>
                  <a:srgbClr val="00B0F0"/>
                </a:solidFill>
              </a:rPr>
              <a:t> 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67544" y="188640"/>
            <a:ext cx="8229600" cy="1252728"/>
          </a:xfrm>
        </p:spPr>
        <p:txBody>
          <a:bodyPr/>
          <a:lstStyle/>
          <a:p>
            <a:r>
              <a:rPr lang="en-US" altLang="zh-CN" b="1" dirty="0" err="1">
                <a:solidFill>
                  <a:srgbClr val="3333FF"/>
                </a:solidFill>
              </a:rPr>
              <a:t>gdb</a:t>
            </a:r>
            <a:r>
              <a:rPr lang="zh-CN" altLang="en-US" b="1" dirty="0">
                <a:solidFill>
                  <a:srgbClr val="3333FF"/>
                </a:solidFill>
              </a:rPr>
              <a:t>常用指令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94312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87524" y="1772816"/>
            <a:ext cx="8568952" cy="345069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B0F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print</a:t>
            </a:r>
            <a:r>
              <a:rPr lang="en-US" altLang="zh-CN" b="1" dirty="0"/>
              <a:t>   </a:t>
            </a:r>
            <a:r>
              <a:rPr lang="en-US" altLang="zh-CN" b="1" dirty="0">
                <a:solidFill>
                  <a:srgbClr val="FF0000"/>
                </a:solidFill>
              </a:rPr>
              <a:t>/</a:t>
            </a:r>
            <a:r>
              <a:rPr lang="en-US" altLang="zh-CN" b="1" dirty="0">
                <a:solidFill>
                  <a:srgbClr val="0000FF"/>
                </a:solidFill>
              </a:rPr>
              <a:t>f</a:t>
            </a:r>
            <a:r>
              <a:rPr lang="en-US" altLang="zh-CN" b="1" dirty="0"/>
              <a:t>   </a:t>
            </a:r>
            <a:r>
              <a:rPr lang="en-US" altLang="zh-CN" b="1" dirty="0">
                <a:solidFill>
                  <a:srgbClr val="00B050"/>
                </a:solidFill>
              </a:rPr>
              <a:t>&lt;</a:t>
            </a:r>
            <a:r>
              <a:rPr lang="zh-CN" altLang="en-US" b="1" dirty="0">
                <a:solidFill>
                  <a:srgbClr val="00B050"/>
                </a:solidFill>
              </a:rPr>
              <a:t>寄存器名</a:t>
            </a:r>
            <a:r>
              <a:rPr lang="en-US" altLang="zh-CN" b="1" dirty="0">
                <a:solidFill>
                  <a:srgbClr val="00B050"/>
                </a:solidFill>
              </a:rPr>
              <a:t>&gt;   </a:t>
            </a:r>
            <a:r>
              <a:rPr lang="en-US" altLang="zh-CN" b="1" dirty="0">
                <a:solidFill>
                  <a:srgbClr val="FFC000"/>
                </a:solidFill>
              </a:rPr>
              <a:t>#</a:t>
            </a:r>
            <a:r>
              <a:rPr lang="zh-CN" altLang="en-US" b="1" dirty="0">
                <a:solidFill>
                  <a:srgbClr val="FFC000"/>
                </a:solidFill>
              </a:rPr>
              <a:t>显示变量的值，执行一次</a:t>
            </a:r>
            <a:r>
              <a:rPr lang="zh-CN" altLang="en-US" b="1" dirty="0">
                <a:solidFill>
                  <a:srgbClr val="FF00FF"/>
                </a:solidFill>
              </a:rPr>
              <a:t>显示一次</a:t>
            </a:r>
            <a:endParaRPr lang="en-US" altLang="zh-CN" b="1" dirty="0">
              <a:solidFill>
                <a:srgbClr val="FF00FF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b="1" dirty="0">
                <a:solidFill>
                  <a:srgbClr val="00B0F0"/>
                </a:solidFill>
              </a:rPr>
              <a:t> </a:t>
            </a:r>
            <a:r>
              <a:rPr lang="en-US" altLang="zh-CN" b="1" dirty="0">
                <a:solidFill>
                  <a:srgbClr val="FF0000"/>
                </a:solidFill>
              </a:rPr>
              <a:t>info   r</a:t>
            </a:r>
            <a:r>
              <a:rPr lang="en-US" altLang="zh-CN" b="1" dirty="0"/>
              <a:t>    </a:t>
            </a:r>
            <a:r>
              <a:rPr lang="en-US" altLang="zh-CN" b="1" dirty="0">
                <a:solidFill>
                  <a:srgbClr val="00B050"/>
                </a:solidFill>
              </a:rPr>
              <a:t>&lt;</a:t>
            </a:r>
            <a:r>
              <a:rPr lang="zh-CN" altLang="en-US" b="1" dirty="0">
                <a:solidFill>
                  <a:srgbClr val="00B050"/>
                </a:solidFill>
              </a:rPr>
              <a:t>寄存器名</a:t>
            </a:r>
            <a:r>
              <a:rPr lang="en-US" altLang="zh-CN" b="1" dirty="0">
                <a:solidFill>
                  <a:srgbClr val="00B050"/>
                </a:solidFill>
              </a:rPr>
              <a:t>&gt;    </a:t>
            </a:r>
            <a:r>
              <a:rPr lang="en-US" altLang="zh-CN" b="1" dirty="0">
                <a:solidFill>
                  <a:srgbClr val="FFC000"/>
                </a:solidFill>
              </a:rPr>
              <a:t>#</a:t>
            </a:r>
            <a:r>
              <a:rPr lang="zh-CN" altLang="en-US" b="1" dirty="0">
                <a:solidFill>
                  <a:srgbClr val="FFC000"/>
                </a:solidFill>
              </a:rPr>
              <a:t>显示变量的值，执行一次显示一次</a:t>
            </a:r>
            <a:endParaRPr lang="en-US" altLang="zh-CN" b="1" dirty="0">
              <a:solidFill>
                <a:srgbClr val="FFC000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altLang="zh-CN" b="1" dirty="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 err="1">
                <a:solidFill>
                  <a:srgbClr val="3333FF"/>
                </a:solidFill>
              </a:rPr>
              <a:t>gdb</a:t>
            </a:r>
            <a:r>
              <a:rPr lang="zh-CN" altLang="en-US" b="1" dirty="0">
                <a:solidFill>
                  <a:srgbClr val="3333FF"/>
                </a:solidFill>
              </a:rPr>
              <a:t>常用指令</a:t>
            </a:r>
            <a:endParaRPr lang="zh-CN" alt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solidFill>
            <a:srgbClr val="F6F6F6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rgbClr val="121212"/>
                </a:solidFill>
                <a:effectLst/>
                <a:latin typeface="Arial Unicode MS" panose="020B0604020202020204" pitchFamily="34" charset="-122"/>
                <a:ea typeface="Menlo"/>
              </a:rPr>
              <a:t>print/x &lt;my_var&gt; 用16进制表示var</a:t>
            </a:r>
            <a:r>
              <a:rPr kumimoji="0" lang="zh-CN" altLang="zh-CN" sz="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2519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847AEBD-DA4B-1643-2696-658D993CE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EAC62681-02E8-3512-C358-8BF9CF23F5A1}"/>
              </a:ext>
            </a:extLst>
          </p:cNvPr>
          <p:cNvGrpSpPr/>
          <p:nvPr/>
        </p:nvGrpSpPr>
        <p:grpSpPr>
          <a:xfrm>
            <a:off x="1657218" y="1442847"/>
            <a:ext cx="4571078" cy="5180306"/>
            <a:chOff x="1657218" y="1442847"/>
            <a:chExt cx="4571078" cy="5180306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E9D52A5A-64B4-3CED-CED0-E35473B104F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35696" y="1442847"/>
              <a:ext cx="2576513" cy="5076825"/>
            </a:xfrm>
            <a:prstGeom prst="rect">
              <a:avLst/>
            </a:prstGeom>
          </p:spPr>
        </p:pic>
        <p:sp>
          <p:nvSpPr>
            <p:cNvPr id="6" name="右大括号 5">
              <a:extLst>
                <a:ext uri="{FF2B5EF4-FFF2-40B4-BE49-F238E27FC236}">
                  <a16:creationId xmlns:a16="http://schemas.microsoft.com/office/drawing/2014/main" id="{BAFC5D3A-9857-FA35-A14F-228D3031F6DF}"/>
                </a:ext>
              </a:extLst>
            </p:cNvPr>
            <p:cNvSpPr/>
            <p:nvPr/>
          </p:nvSpPr>
          <p:spPr>
            <a:xfrm>
              <a:off x="4438485" y="1442847"/>
              <a:ext cx="216024" cy="690009"/>
            </a:xfrm>
            <a:prstGeom prst="rightBrace">
              <a:avLst>
                <a:gd name="adj1" fmla="val 8333"/>
                <a:gd name="adj2" fmla="val 51609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右大括号 6">
              <a:extLst>
                <a:ext uri="{FF2B5EF4-FFF2-40B4-BE49-F238E27FC236}">
                  <a16:creationId xmlns:a16="http://schemas.microsoft.com/office/drawing/2014/main" id="{F4D44A97-1E31-68D0-9B33-76D5141C506D}"/>
                </a:ext>
              </a:extLst>
            </p:cNvPr>
            <p:cNvSpPr/>
            <p:nvPr/>
          </p:nvSpPr>
          <p:spPr>
            <a:xfrm>
              <a:off x="4445867" y="2132856"/>
              <a:ext cx="208642" cy="2376264"/>
            </a:xfrm>
            <a:prstGeom prst="rightBrace">
              <a:avLst>
                <a:gd name="adj1" fmla="val 8333"/>
                <a:gd name="adj2" fmla="val 51609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右大括号 7">
              <a:extLst>
                <a:ext uri="{FF2B5EF4-FFF2-40B4-BE49-F238E27FC236}">
                  <a16:creationId xmlns:a16="http://schemas.microsoft.com/office/drawing/2014/main" id="{2A0A1D62-E7C3-CC05-979D-AFD2963689C2}"/>
                </a:ext>
              </a:extLst>
            </p:cNvPr>
            <p:cNvSpPr/>
            <p:nvPr/>
          </p:nvSpPr>
          <p:spPr>
            <a:xfrm>
              <a:off x="4445867" y="4527832"/>
              <a:ext cx="208642" cy="1925504"/>
            </a:xfrm>
            <a:prstGeom prst="rightBrace">
              <a:avLst>
                <a:gd name="adj1" fmla="val 8333"/>
                <a:gd name="adj2" fmla="val 51609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1090EA1-24EA-F924-BB96-62109D13FB39}"/>
                </a:ext>
              </a:extLst>
            </p:cNvPr>
            <p:cNvSpPr txBox="1"/>
            <p:nvPr/>
          </p:nvSpPr>
          <p:spPr>
            <a:xfrm>
              <a:off x="4644120" y="1609768"/>
              <a:ext cx="15841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400" i="0" dirty="0"/>
                <a:t>前面的栈帧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3EDB20B5-E607-0384-4D63-9C6CE4732E6D}"/>
                </a:ext>
              </a:extLst>
            </p:cNvPr>
            <p:cNvSpPr txBox="1"/>
            <p:nvPr/>
          </p:nvSpPr>
          <p:spPr>
            <a:xfrm>
              <a:off x="4572000" y="3217175"/>
              <a:ext cx="15841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400" i="0" dirty="0"/>
                <a:t>调用者的栈帧</a:t>
              </a: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1A532EB-965E-B7D5-D5F4-C978C1D9AA77}"/>
                </a:ext>
              </a:extLst>
            </p:cNvPr>
            <p:cNvSpPr txBox="1"/>
            <p:nvPr/>
          </p:nvSpPr>
          <p:spPr>
            <a:xfrm>
              <a:off x="4607465" y="5336695"/>
              <a:ext cx="158417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1400" i="0" dirty="0"/>
                <a:t>被调用者的栈帧</a:t>
              </a:r>
              <a:endParaRPr lang="en-US" altLang="zh-CN" sz="1400" i="0" dirty="0"/>
            </a:p>
            <a:p>
              <a:pPr algn="l"/>
              <a:r>
                <a:rPr lang="zh-CN" altLang="en-US" sz="1400" i="0" dirty="0"/>
                <a:t>（当前栈帧）</a:t>
              </a:r>
            </a:p>
          </p:txBody>
        </p: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59BD6349-08BF-246C-206C-F3E6407AC400}"/>
                </a:ext>
              </a:extLst>
            </p:cNvPr>
            <p:cNvCxnSpPr/>
            <p:nvPr/>
          </p:nvCxnSpPr>
          <p:spPr>
            <a:xfrm>
              <a:off x="2771800" y="4737736"/>
              <a:ext cx="3600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6EAE31E1-46B7-FFDD-DDCB-0E010E2204F4}"/>
                </a:ext>
              </a:extLst>
            </p:cNvPr>
            <p:cNvSpPr txBox="1"/>
            <p:nvPr/>
          </p:nvSpPr>
          <p:spPr>
            <a:xfrm>
              <a:off x="1691680" y="4592687"/>
              <a:ext cx="10801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i="0" dirty="0"/>
                <a:t>帧指针</a:t>
              </a:r>
              <a:r>
                <a:rPr lang="en-US" altLang="zh-CN" sz="1400" i="0" dirty="0"/>
                <a:t>EBP</a:t>
              </a:r>
              <a:endParaRPr lang="zh-CN" altLang="en-US" sz="1400" i="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33FF0369-08EA-029B-38BA-813E4FFC3FF4}"/>
                </a:ext>
              </a:extLst>
            </p:cNvPr>
            <p:cNvSpPr txBox="1"/>
            <p:nvPr/>
          </p:nvSpPr>
          <p:spPr>
            <a:xfrm>
              <a:off x="2043832" y="4222997"/>
              <a:ext cx="10801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i="0" dirty="0"/>
                <a:t>EBP+4</a:t>
              </a:r>
              <a:endParaRPr lang="zh-CN" altLang="en-US" sz="1400" i="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148B4EBB-1BD4-1211-61FB-0951119D2009}"/>
                </a:ext>
              </a:extLst>
            </p:cNvPr>
            <p:cNvSpPr txBox="1"/>
            <p:nvPr/>
          </p:nvSpPr>
          <p:spPr>
            <a:xfrm>
              <a:off x="2091855" y="3851485"/>
              <a:ext cx="10801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i="0" dirty="0"/>
                <a:t>EBP+8</a:t>
              </a:r>
              <a:endParaRPr lang="zh-CN" altLang="en-US" sz="1400" i="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3DAA824C-CAEA-E92A-7597-879A05BDD582}"/>
                </a:ext>
              </a:extLst>
            </p:cNvPr>
            <p:cNvSpPr txBox="1"/>
            <p:nvPr/>
          </p:nvSpPr>
          <p:spPr>
            <a:xfrm>
              <a:off x="2123728" y="2750467"/>
              <a:ext cx="10801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i="0" dirty="0"/>
                <a:t>EBP+4*n</a:t>
              </a:r>
              <a:endParaRPr lang="zh-CN" altLang="en-US" sz="1400" i="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E2D3CE27-8EA9-C1EA-86B8-EE81578EEA7A}"/>
                </a:ext>
              </a:extLst>
            </p:cNvPr>
            <p:cNvSpPr txBox="1"/>
            <p:nvPr/>
          </p:nvSpPr>
          <p:spPr>
            <a:xfrm>
              <a:off x="2091855" y="3501369"/>
              <a:ext cx="10801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i="0" dirty="0"/>
                <a:t>EBP+12</a:t>
              </a:r>
              <a:endParaRPr lang="zh-CN" altLang="en-US" sz="1400" i="0" dirty="0"/>
            </a:p>
          </p:txBody>
        </p: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93A106C1-AA45-11B8-5782-D06A7602ADE7}"/>
                </a:ext>
              </a:extLst>
            </p:cNvPr>
            <p:cNvCxnSpPr/>
            <p:nvPr/>
          </p:nvCxnSpPr>
          <p:spPr>
            <a:xfrm>
              <a:off x="2737338" y="6460425"/>
              <a:ext cx="360040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FB131AB-8D70-238B-EAA7-34645AEF26C4}"/>
                </a:ext>
              </a:extLst>
            </p:cNvPr>
            <p:cNvSpPr txBox="1"/>
            <p:nvPr/>
          </p:nvSpPr>
          <p:spPr>
            <a:xfrm>
              <a:off x="1657218" y="6315376"/>
              <a:ext cx="108012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i="0" dirty="0"/>
                <a:t>栈指针</a:t>
              </a:r>
              <a:r>
                <a:rPr lang="en-US" altLang="zh-CN" sz="1400" i="0" dirty="0"/>
                <a:t>ESP</a:t>
              </a:r>
              <a:endParaRPr lang="zh-CN" altLang="en-US" sz="1400" i="0" dirty="0"/>
            </a:p>
          </p:txBody>
        </p:sp>
      </p:grpSp>
    </p:spTree>
    <p:extLst>
      <p:ext uri="{BB962C8B-B14F-4D97-AF65-F5344CB8AC3E}">
        <p14:creationId xmlns:p14="http://schemas.microsoft.com/office/powerpoint/2010/main" val="8028863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2_nordridesign">
  <a:themeElements>
    <a:clrScheme name="2_nordridesign 1">
      <a:dk1>
        <a:srgbClr val="000000"/>
      </a:dk1>
      <a:lt1>
        <a:srgbClr val="FFFFFF"/>
      </a:lt1>
      <a:dk2>
        <a:srgbClr val="000000"/>
      </a:dk2>
      <a:lt2>
        <a:srgbClr val="B2B2B2"/>
      </a:lt2>
      <a:accent1>
        <a:srgbClr val="333333"/>
      </a:accent1>
      <a:accent2>
        <a:srgbClr val="080808"/>
      </a:accent2>
      <a:accent3>
        <a:srgbClr val="FFFFFF"/>
      </a:accent3>
      <a:accent4>
        <a:srgbClr val="000000"/>
      </a:accent4>
      <a:accent5>
        <a:srgbClr val="ADADAD"/>
      </a:accent5>
      <a:accent6>
        <a:srgbClr val="060606"/>
      </a:accent6>
      <a:hlink>
        <a:srgbClr val="FFCC00"/>
      </a:hlink>
      <a:folHlink>
        <a:srgbClr val="FF6600"/>
      </a:folHlink>
    </a:clrScheme>
    <a:fontScheme name="2_nordridesign">
      <a:majorFont>
        <a:latin typeface="黑体"/>
        <a:ea typeface="宋体"/>
        <a:cs typeface=""/>
      </a:majorFont>
      <a:minorFont>
        <a:latin typeface="黑体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nordridesign 1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333333"/>
        </a:accent1>
        <a:accent2>
          <a:srgbClr val="080808"/>
        </a:accent2>
        <a:accent3>
          <a:srgbClr val="FFFFFF"/>
        </a:accent3>
        <a:accent4>
          <a:srgbClr val="000000"/>
        </a:accent4>
        <a:accent5>
          <a:srgbClr val="ADADAD"/>
        </a:accent5>
        <a:accent6>
          <a:srgbClr val="060606"/>
        </a:accent6>
        <a:hlink>
          <a:srgbClr val="FFCC0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nordridesign 2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0F6FC6"/>
        </a:accent1>
        <a:accent2>
          <a:srgbClr val="009DD9"/>
        </a:accent2>
        <a:accent3>
          <a:srgbClr val="FFFFFF"/>
        </a:accent3>
        <a:accent4>
          <a:srgbClr val="000000"/>
        </a:accent4>
        <a:accent5>
          <a:srgbClr val="AABBDF"/>
        </a:accent5>
        <a:accent6>
          <a:srgbClr val="008EC4"/>
        </a:accent6>
        <a:hlink>
          <a:srgbClr val="E2D700"/>
        </a:hlink>
        <a:folHlink>
          <a:srgbClr val="85DF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nordridesign 3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FFCC00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85DF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nordridesign 4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FFCC00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nordridesign 5">
        <a:dk1>
          <a:srgbClr val="000000"/>
        </a:dk1>
        <a:lt1>
          <a:srgbClr val="080808"/>
        </a:lt1>
        <a:dk2>
          <a:srgbClr val="FFFFFF"/>
        </a:dk2>
        <a:lt2>
          <a:srgbClr val="DBF5F9"/>
        </a:lt2>
        <a:accent1>
          <a:srgbClr val="FFCC00"/>
        </a:accent1>
        <a:accent2>
          <a:srgbClr val="FF9933"/>
        </a:accent2>
        <a:accent3>
          <a:srgbClr val="AAAAAA"/>
        </a:accent3>
        <a:accent4>
          <a:srgbClr val="000000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nordridesign 6">
        <a:dk1>
          <a:srgbClr val="DBF5F9"/>
        </a:dk1>
        <a:lt1>
          <a:srgbClr val="FFFFFF"/>
        </a:lt1>
        <a:dk2>
          <a:srgbClr val="080808"/>
        </a:dk2>
        <a:lt2>
          <a:srgbClr val="FFFFFF"/>
        </a:lt2>
        <a:accent1>
          <a:srgbClr val="FFCC00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nordridesign 7">
        <a:dk1>
          <a:srgbClr val="DBF5F9"/>
        </a:dk1>
        <a:lt1>
          <a:srgbClr val="FFFFFF"/>
        </a:lt1>
        <a:dk2>
          <a:srgbClr val="080808"/>
        </a:dk2>
        <a:lt2>
          <a:srgbClr val="FFFFFF"/>
        </a:lt2>
        <a:accent1>
          <a:srgbClr val="FFFF00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FFFFAA"/>
        </a:accent5>
        <a:accent6>
          <a:srgbClr val="E7B900"/>
        </a:accent6>
        <a:hlink>
          <a:srgbClr val="CCFFF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nordridesign 8">
        <a:dk1>
          <a:srgbClr val="FFFFFF"/>
        </a:dk1>
        <a:lt1>
          <a:srgbClr val="FFFFFF"/>
        </a:lt1>
        <a:dk2>
          <a:srgbClr val="FFFFFF"/>
        </a:dk2>
        <a:lt2>
          <a:srgbClr val="DBF5F9"/>
        </a:lt2>
        <a:accent1>
          <a:srgbClr val="FFFF00"/>
        </a:accent1>
        <a:accent2>
          <a:srgbClr val="FFCC00"/>
        </a:accent2>
        <a:accent3>
          <a:srgbClr val="FFFFFF"/>
        </a:accent3>
        <a:accent4>
          <a:srgbClr val="DADADA"/>
        </a:accent4>
        <a:accent5>
          <a:srgbClr val="FFFFAA"/>
        </a:accent5>
        <a:accent6>
          <a:srgbClr val="E7B900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nordridesign 9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FFFF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FFAA"/>
        </a:accent5>
        <a:accent6>
          <a:srgbClr val="E7B900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nordridesign">
  <a:themeElements>
    <a:clrScheme name="1_nordridesign 1">
      <a:dk1>
        <a:srgbClr val="000000"/>
      </a:dk1>
      <a:lt1>
        <a:srgbClr val="FFFFFF"/>
      </a:lt1>
      <a:dk2>
        <a:srgbClr val="000000"/>
      </a:dk2>
      <a:lt2>
        <a:srgbClr val="B2B2B2"/>
      </a:lt2>
      <a:accent1>
        <a:srgbClr val="333333"/>
      </a:accent1>
      <a:accent2>
        <a:srgbClr val="080808"/>
      </a:accent2>
      <a:accent3>
        <a:srgbClr val="FFFFFF"/>
      </a:accent3>
      <a:accent4>
        <a:srgbClr val="000000"/>
      </a:accent4>
      <a:accent5>
        <a:srgbClr val="ADADAD"/>
      </a:accent5>
      <a:accent6>
        <a:srgbClr val="060606"/>
      </a:accent6>
      <a:hlink>
        <a:srgbClr val="FFCC00"/>
      </a:hlink>
      <a:folHlink>
        <a:srgbClr val="FF6600"/>
      </a:folHlink>
    </a:clrScheme>
    <a:fontScheme name="1_nordridesign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nordridesign 1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333333"/>
        </a:accent1>
        <a:accent2>
          <a:srgbClr val="080808"/>
        </a:accent2>
        <a:accent3>
          <a:srgbClr val="FFFFFF"/>
        </a:accent3>
        <a:accent4>
          <a:srgbClr val="000000"/>
        </a:accent4>
        <a:accent5>
          <a:srgbClr val="ADADAD"/>
        </a:accent5>
        <a:accent6>
          <a:srgbClr val="060606"/>
        </a:accent6>
        <a:hlink>
          <a:srgbClr val="FFCC00"/>
        </a:hlink>
        <a:folHlink>
          <a:srgbClr val="FF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2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0F6FC6"/>
        </a:accent1>
        <a:accent2>
          <a:srgbClr val="009DD9"/>
        </a:accent2>
        <a:accent3>
          <a:srgbClr val="FFFFFF"/>
        </a:accent3>
        <a:accent4>
          <a:srgbClr val="000000"/>
        </a:accent4>
        <a:accent5>
          <a:srgbClr val="AABBDF"/>
        </a:accent5>
        <a:accent6>
          <a:srgbClr val="008EC4"/>
        </a:accent6>
        <a:hlink>
          <a:srgbClr val="E2D700"/>
        </a:hlink>
        <a:folHlink>
          <a:srgbClr val="85DF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3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FFCC00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85DF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4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FFCC00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5">
        <a:dk1>
          <a:srgbClr val="000000"/>
        </a:dk1>
        <a:lt1>
          <a:srgbClr val="080808"/>
        </a:lt1>
        <a:dk2>
          <a:srgbClr val="FFFFFF"/>
        </a:dk2>
        <a:lt2>
          <a:srgbClr val="DBF5F9"/>
        </a:lt2>
        <a:accent1>
          <a:srgbClr val="FFCC00"/>
        </a:accent1>
        <a:accent2>
          <a:srgbClr val="FF9933"/>
        </a:accent2>
        <a:accent3>
          <a:srgbClr val="AAAAAA"/>
        </a:accent3>
        <a:accent4>
          <a:srgbClr val="000000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6">
        <a:dk1>
          <a:srgbClr val="DBF5F9"/>
        </a:dk1>
        <a:lt1>
          <a:srgbClr val="FFFFFF"/>
        </a:lt1>
        <a:dk2>
          <a:srgbClr val="080808"/>
        </a:dk2>
        <a:lt2>
          <a:srgbClr val="FFFFFF"/>
        </a:lt2>
        <a:accent1>
          <a:srgbClr val="FFCC00"/>
        </a:accent1>
        <a:accent2>
          <a:srgbClr val="FF9933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E78A2D"/>
        </a:accent6>
        <a:hlink>
          <a:srgbClr val="CCFFF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ordridesign 7">
        <a:dk1>
          <a:srgbClr val="DBF5F9"/>
        </a:dk1>
        <a:lt1>
          <a:srgbClr val="FFFFFF"/>
        </a:lt1>
        <a:dk2>
          <a:srgbClr val="080808"/>
        </a:dk2>
        <a:lt2>
          <a:srgbClr val="FFFFFF"/>
        </a:lt2>
        <a:accent1>
          <a:srgbClr val="FFFF00"/>
        </a:accent1>
        <a:accent2>
          <a:srgbClr val="FFCC00"/>
        </a:accent2>
        <a:accent3>
          <a:srgbClr val="AAAAAA"/>
        </a:accent3>
        <a:accent4>
          <a:srgbClr val="DADADA"/>
        </a:accent4>
        <a:accent5>
          <a:srgbClr val="FFFFAA"/>
        </a:accent5>
        <a:accent6>
          <a:srgbClr val="E7B900"/>
        </a:accent6>
        <a:hlink>
          <a:srgbClr val="CCFFFF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ordridesign 8">
        <a:dk1>
          <a:srgbClr val="FFFFFF"/>
        </a:dk1>
        <a:lt1>
          <a:srgbClr val="FFFFFF"/>
        </a:lt1>
        <a:dk2>
          <a:srgbClr val="FFFFFF"/>
        </a:dk2>
        <a:lt2>
          <a:srgbClr val="DBF5F9"/>
        </a:lt2>
        <a:accent1>
          <a:srgbClr val="FFFF00"/>
        </a:accent1>
        <a:accent2>
          <a:srgbClr val="FFCC00"/>
        </a:accent2>
        <a:accent3>
          <a:srgbClr val="FFFFFF"/>
        </a:accent3>
        <a:accent4>
          <a:srgbClr val="DADADA"/>
        </a:accent4>
        <a:accent5>
          <a:srgbClr val="FFFFAA"/>
        </a:accent5>
        <a:accent6>
          <a:srgbClr val="E7B900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ordridesign 9">
        <a:dk1>
          <a:srgbClr val="000000"/>
        </a:dk1>
        <a:lt1>
          <a:srgbClr val="FFFFFF"/>
        </a:lt1>
        <a:dk2>
          <a:srgbClr val="FFFFFF"/>
        </a:dk2>
        <a:lt2>
          <a:srgbClr val="DBF5F9"/>
        </a:lt2>
        <a:accent1>
          <a:srgbClr val="FFFF00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FFFAA"/>
        </a:accent5>
        <a:accent6>
          <a:srgbClr val="E7B900"/>
        </a:accent6>
        <a:hlink>
          <a:srgbClr val="CCFFFF"/>
        </a:hlink>
        <a:folHlink>
          <a:srgbClr val="FFFF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1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27105</TotalTime>
  <Words>2388</Words>
  <Application>Microsoft Office PowerPoint</Application>
  <PresentationFormat>全屏显示(4:3)</PresentationFormat>
  <Paragraphs>257</Paragraphs>
  <Slides>26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26</vt:i4>
      </vt:variant>
    </vt:vector>
  </HeadingPairs>
  <TitlesOfParts>
    <vt:vector size="40" baseType="lpstr">
      <vt:lpstr>Arial</vt:lpstr>
      <vt:lpstr>Arial Unicode MS</vt:lpstr>
      <vt:lpstr>Symbol</vt:lpstr>
      <vt:lpstr>Candara</vt:lpstr>
      <vt:lpstr>等线</vt:lpstr>
      <vt:lpstr>黑体</vt:lpstr>
      <vt:lpstr>Verdana</vt:lpstr>
      <vt:lpstr>Wingdings</vt:lpstr>
      <vt:lpstr>微软雅黑</vt:lpstr>
      <vt:lpstr>宋体</vt:lpstr>
      <vt:lpstr>2_nordridesign</vt:lpstr>
      <vt:lpstr>1_nordridesign</vt:lpstr>
      <vt:lpstr>1_波形</vt:lpstr>
      <vt:lpstr>2_波形</vt:lpstr>
      <vt:lpstr>PowerPoint 演示文稿</vt:lpstr>
      <vt:lpstr>实验介绍</vt:lpstr>
      <vt:lpstr>Handout文件包说明</vt:lpstr>
      <vt:lpstr>实验任务</vt:lpstr>
      <vt:lpstr>原始分数比例</vt:lpstr>
      <vt:lpstr>实验流程</vt:lpstr>
      <vt:lpstr>实验流程（续）</vt:lpstr>
      <vt:lpstr>Lab2各课头查看scoreboard端口</vt:lpstr>
      <vt:lpstr>查看bomb.c，了解程序框架</vt:lpstr>
      <vt:lpstr>phase_1 （二）——查看反汇编代码</vt:lpstr>
      <vt:lpstr>phase_1 （三）                     ——查看phase1函数</vt:lpstr>
      <vt:lpstr>phase_1 （四）</vt:lpstr>
      <vt:lpstr>phase_1 （五）                      ——提交（方法1）</vt:lpstr>
      <vt:lpstr>phase_1 （五）                 ——提交（方法2）不容易引爆</vt:lpstr>
      <vt:lpstr>PowerPoint 演示文稿</vt:lpstr>
      <vt:lpstr>PowerPoint 演示文稿</vt:lpstr>
      <vt:lpstr>phase_2 （循环）（一）        ——小知识点</vt:lpstr>
      <vt:lpstr>phase_2 （二）        ——read_six_numbers函数</vt:lpstr>
      <vt:lpstr>objdump反汇编（附）</vt:lpstr>
      <vt:lpstr>gdb用法（附）</vt:lpstr>
      <vt:lpstr>gdb常用指令</vt:lpstr>
      <vt:lpstr>gdb常用指令</vt:lpstr>
      <vt:lpstr>gdb常用指令</vt:lpstr>
      <vt:lpstr>gdb常用指令</vt:lpstr>
      <vt:lpstr>gdb常用指令</vt:lpstr>
      <vt:lpstr>PowerPoint 演示文稿</vt:lpstr>
    </vt:vector>
  </TitlesOfParts>
  <Company>NordriDesign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NordriDesign; wuyan_1103</dc:creator>
  <cp:keywords>ppt幻灯设计/ppt模板设计</cp:keywords>
  <dc:description>nordridesign.com</dc:description>
  <cp:lastModifiedBy>yan guo</cp:lastModifiedBy>
  <cp:revision>1456</cp:revision>
  <cp:lastPrinted>2017-10-26T07:42:32Z</cp:lastPrinted>
  <dcterms:created xsi:type="dcterms:W3CDTF">2009-09-14T03:13:49Z</dcterms:created>
  <dcterms:modified xsi:type="dcterms:W3CDTF">2025-11-21T00:02:44Z</dcterms:modified>
</cp:coreProperties>
</file>