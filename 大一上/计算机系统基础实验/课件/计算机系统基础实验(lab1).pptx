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442738-5472-48F5-8552-CAB502B5AE52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415C70-5366-4ADD-97CB-728A598A28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106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3556" name="灯片编号占位符 3"/>
          <p:cNvSpPr txBox="1">
            <a:spLocks noGrp="1"/>
          </p:cNvSpPr>
          <p:nvPr/>
        </p:nvSpPr>
        <p:spPr bwMode="auto">
          <a:xfrm>
            <a:off x="3860800" y="9432925"/>
            <a:ext cx="295275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F9D0F3F-235A-4A0B-83EE-3E1B42D6A0DD}" type="slidenum">
              <a:rPr lang="zh-CN" altLang="en-US" i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1</a:t>
            </a:fld>
            <a:endParaRPr lang="en-US" altLang="zh-CN" i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6728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A93A44B-4A39-422A-8610-93095473D98F}" type="datetime1">
              <a:rPr lang="zh-CN" alt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2025/11/15</a:t>
            </a:fld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87D7A59-36E2-48B9-B146-C1E59501F63F}" type="slidenum">
              <a:rPr 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016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641FB13-8D4B-41AD-9594-2F9A7D02D8A4}" type="datetime1">
              <a:rPr lang="zh-CN" alt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2025/11/15</a:t>
            </a:fld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87D7A59-36E2-48B9-B146-C1E59501F63F}" type="slidenum">
              <a:rPr 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5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8063251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华文细黑" pitchFamily="2" charset="-122"/>
              <a:cs typeface="+mn-cs"/>
            </a:endParaRPr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3492427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华文细黑" pitchFamily="2" charset="-122"/>
              <a:cs typeface="+mn-cs"/>
            </a:endParaRPr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华文细黑" pitchFamily="2" charset="-122"/>
              <a:cs typeface="+mn-cs"/>
            </a:endParaRPr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7479319" y="4074175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华文细黑" pitchFamily="2" charset="-122"/>
              <a:cs typeface="+mn-cs"/>
            </a:endParaRPr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华文细黑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CD5A4CF-DC5C-4E88-8337-72EC9567B66F}" type="datetime1">
              <a:rPr lang="zh-CN" alt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2025/11/15</a:t>
            </a:fld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87D7A59-36E2-48B9-B146-C1E59501F63F}" type="slidenum">
              <a:rPr 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673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BF6DC3F-9E15-4C71-8285-552ECA89F18C}" type="datetime1">
              <a:rPr lang="zh-CN" alt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2025/11/15</a:t>
            </a:fld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87D7A59-36E2-48B9-B146-C1E59501F63F}" type="slidenum">
              <a:rPr 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909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0" y="3429001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1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0090212-A64F-4E62-8F05-1F2C2DB67CAD}" type="datetime1">
              <a:rPr lang="zh-CN" alt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2025/11/15</a:t>
            </a:fld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87D7A59-36E2-48B9-B146-C1E59501F63F}" type="slidenum">
              <a:rPr 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24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DE0DDC-8D5A-4EA7-B294-8798BEA1016F}" type="datetime1">
              <a:rPr lang="zh-CN" alt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2025/11/15</a:t>
            </a:fld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87D7A59-36E2-48B9-B146-C1E59501F63F}" type="slidenum">
              <a:rPr 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015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93DE97C-3D01-4B9E-AE50-6FEE2F802A4A}" type="datetime1">
              <a:rPr lang="zh-CN" alt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2025/11/15</a:t>
            </a:fld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87D7A59-36E2-48B9-B146-C1E59501F63F}" type="slidenum">
              <a:rPr 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8061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31875B-2DF5-4AA7-B6CF-115105E6F3E7}" type="datetime1">
              <a:rPr lang="zh-CN" alt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2025/11/15</a:t>
            </a:fld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87D7A59-36E2-48B9-B146-C1E59501F63F}" type="slidenum">
              <a:rPr 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1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6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874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4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2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DB3653F-C804-4CDE-8CD5-7263C4F871ED}" type="datetime1">
              <a:rPr lang="zh-CN" alt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2025/11/15</a:t>
            </a:fld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87D7A59-36E2-48B9-B146-C1E59501F63F}" type="slidenum">
              <a:rPr 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813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FFC3D0C-4FA8-4C0A-8C66-D19865531CC2}" type="datetime1">
              <a:rPr lang="zh-CN" alt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2025/11/15</a:t>
            </a:fld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87D7A59-36E2-48B9-B146-C1E59501F63F}" type="slidenum">
              <a:rPr 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4989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317EE08-6587-4688-B015-5799634ECB86}" type="datetime1">
              <a:rPr lang="zh-CN" alt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2025/11/15</a:t>
            </a:fld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87D7A59-36E2-48B9-B146-C1E59501F63F}" type="slidenum">
              <a:rPr 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1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52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华文细黑" pitchFamily="2" charset="-122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28F7176-CE40-4889-9260-6347A898619C}" type="datetime1">
              <a:rPr lang="zh-CN" alt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2025/11/15</a:t>
            </a:fld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87D7A59-36E2-48B9-B146-C1E59501F63F}" type="slidenum">
              <a:rPr lang="en-US" i="1" smtClean="0">
                <a:solidFill>
                  <a:srgbClr val="073E87"/>
                </a:solidFill>
                <a:latin typeface="Arial" pitchFamily="34" charset="0"/>
                <a:ea typeface="华文细黑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i="1">
              <a:solidFill>
                <a:srgbClr val="073E87"/>
              </a:solidFill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688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.13.30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9"/>
          <p:cNvSpPr>
            <a:spLocks noChangeArrowheads="1"/>
          </p:cNvSpPr>
          <p:nvPr/>
        </p:nvSpPr>
        <p:spPr bwMode="black">
          <a:xfrm>
            <a:off x="1631504" y="1916833"/>
            <a:ext cx="9036496" cy="20882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tIns="540000" anchor="ctr"/>
          <a:lstStyle>
            <a:lvl1pPr indent="1778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marL="720000">
              <a:spcBef>
                <a:spcPct val="0"/>
              </a:spcBef>
              <a:buNone/>
            </a:pPr>
            <a:endParaRPr lang="en-US" altLang="zh-CN" sz="4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20000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《</a:t>
            </a:r>
            <a:r>
              <a:rPr lang="zh-CN" alt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计算机系统基础实验</a:t>
            </a:r>
            <a:r>
              <a:rPr lang="en-US" altLang="zh-CN" sz="40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》</a:t>
            </a:r>
          </a:p>
          <a:p>
            <a:pPr algn="l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      Introduction to Computer</a:t>
            </a:r>
            <a:r>
              <a:rPr lang="en-US" altLang="zh-CN" sz="2000" dirty="0">
                <a:solidFill>
                  <a:srgbClr val="080808"/>
                </a:solidFill>
                <a:latin typeface="Verdana" panose="020B0604030504040204" pitchFamily="34" charset="0"/>
                <a:ea typeface="华文细黑" panose="02010600040101010101" pitchFamily="2" charset="-122"/>
              </a:rPr>
              <a:t> </a:t>
            </a:r>
            <a:r>
              <a:rPr lang="en-US" altLang="zh-CN" sz="20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Systems</a:t>
            </a:r>
            <a:endParaRPr lang="en-US" altLang="zh-CN" sz="40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endParaRPr lang="en-US" altLang="zh-CN" sz="32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              </a:t>
            </a:r>
            <a:endParaRPr lang="zh-CN" altLang="en-US" sz="40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2535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538" y="4365626"/>
            <a:ext cx="2811462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07568" y="4797152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/>
              <a:t>Lab1   </a:t>
            </a:r>
            <a:r>
              <a:rPr lang="zh-CN" altLang="en-US" sz="2800" b="1" dirty="0"/>
              <a:t>数据表示</a:t>
            </a:r>
          </a:p>
        </p:txBody>
      </p:sp>
    </p:spTree>
    <p:extLst>
      <p:ext uri="{BB962C8B-B14F-4D97-AF65-F5344CB8AC3E}">
        <p14:creationId xmlns:p14="http://schemas.microsoft.com/office/powerpoint/2010/main" val="2397707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5521" y="1772817"/>
            <a:ext cx="8640959" cy="4353347"/>
          </a:xfrm>
        </p:spPr>
        <p:txBody>
          <a:bodyPr/>
          <a:lstStyle/>
          <a:p>
            <a:pPr lvl="1" eaLnBrk="1" hangingPunct="1">
              <a:defRPr/>
            </a:pPr>
            <a:r>
              <a:rPr lang="zh-CN" altLang="en-US" dirty="0"/>
              <a:t>实验环境： </a:t>
            </a:r>
            <a:r>
              <a:rPr lang="en-US" altLang="zh-CN" dirty="0" err="1"/>
              <a:t>linux</a:t>
            </a:r>
            <a:r>
              <a:rPr lang="en-US" altLang="zh-CN" dirty="0"/>
              <a:t> 32</a:t>
            </a:r>
            <a:r>
              <a:rPr lang="zh-CN" altLang="en-US" dirty="0"/>
              <a:t>位 ， </a:t>
            </a:r>
            <a:r>
              <a:rPr lang="en-US" altLang="zh-CN" dirty="0"/>
              <a:t>gcc32</a:t>
            </a:r>
          </a:p>
          <a:p>
            <a:pPr lvl="1" eaLnBrk="1" hangingPunct="1">
              <a:defRPr/>
            </a:pPr>
            <a:r>
              <a:rPr lang="zh-CN" altLang="en-US" dirty="0"/>
              <a:t>实验技能： </a:t>
            </a:r>
            <a:r>
              <a:rPr lang="en-US" altLang="zh-CN" dirty="0" err="1"/>
              <a:t>linux</a:t>
            </a:r>
            <a:r>
              <a:rPr lang="zh-CN" altLang="en-US" dirty="0"/>
              <a:t>基本命令操作，</a:t>
            </a:r>
            <a:r>
              <a:rPr lang="en-US" altLang="zh-CN" dirty="0"/>
              <a:t>c</a:t>
            </a:r>
            <a:r>
              <a:rPr lang="zh-CN" altLang="en-US" dirty="0"/>
              <a:t>语言编程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实验原理：伪编程实验，按要求实现各函数功能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实验目的：增强对二进制数据的位操作，补码运算，浮点数</a:t>
            </a:r>
            <a:r>
              <a:rPr lang="en-US" altLang="zh-CN" dirty="0"/>
              <a:t>IEEE754</a:t>
            </a:r>
            <a:r>
              <a:rPr lang="zh-CN" altLang="en-US" dirty="0"/>
              <a:t>表示和运算的理解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实验提交方式：在线评测提交</a:t>
            </a:r>
            <a:endParaRPr lang="en-US" altLang="zh-CN" dirty="0"/>
          </a:p>
          <a:p>
            <a:pPr marL="301943" lvl="1" indent="0">
              <a:buNone/>
              <a:defRPr/>
            </a:pPr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实验介绍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2CFA48-07B1-8FAB-7D6F-5431AB86E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08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5521" y="1484785"/>
            <a:ext cx="8640959" cy="4209331"/>
          </a:xfrm>
        </p:spPr>
        <p:txBody>
          <a:bodyPr>
            <a:normAutofit/>
          </a:bodyPr>
          <a:lstStyle/>
          <a:p>
            <a:pPr lvl="0"/>
            <a:r>
              <a:rPr lang="en-US" altLang="zh-CN" dirty="0">
                <a:solidFill>
                  <a:srgbClr val="00B050"/>
                </a:solidFill>
              </a:rPr>
              <a:t>README	</a:t>
            </a:r>
            <a:r>
              <a:rPr lang="zh-CN" altLang="zh-CN" dirty="0">
                <a:solidFill>
                  <a:srgbClr val="00B050"/>
                </a:solidFill>
              </a:rPr>
              <a:t>实验细节的说明文件，请仔细阅读</a:t>
            </a:r>
          </a:p>
          <a:p>
            <a:pPr lvl="0"/>
            <a:r>
              <a:rPr lang="en-US" altLang="zh-CN" dirty="0" err="1">
                <a:solidFill>
                  <a:srgbClr val="FF0000"/>
                </a:solidFill>
              </a:rPr>
              <a:t>bits.c</a:t>
            </a: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zh-CN" altLang="en-US" dirty="0">
                <a:solidFill>
                  <a:srgbClr val="FF0000"/>
                </a:solidFill>
              </a:rPr>
              <a:t>工作文件，</a:t>
            </a:r>
            <a:r>
              <a:rPr lang="zh-CN" altLang="zh-CN" dirty="0">
                <a:solidFill>
                  <a:srgbClr val="FF0000"/>
                </a:solidFill>
              </a:rPr>
              <a:t>包含一组用于完成指定功能的函数的代码框架，按要求补充完成函数体代码。</a:t>
            </a:r>
          </a:p>
          <a:p>
            <a:pPr lvl="0"/>
            <a:r>
              <a:rPr lang="en-US" altLang="zh-CN" dirty="0" err="1">
                <a:solidFill>
                  <a:srgbClr val="0000FF"/>
                </a:solidFill>
              </a:rPr>
              <a:t>dlc</a:t>
            </a:r>
            <a:r>
              <a:rPr lang="en-US" altLang="zh-CN" dirty="0"/>
              <a:t> 	               </a:t>
            </a:r>
            <a:r>
              <a:rPr lang="zh-CN" altLang="en-US" dirty="0"/>
              <a:t>可执行文件，</a:t>
            </a:r>
            <a:r>
              <a:rPr lang="zh-CN" altLang="zh-CN" dirty="0"/>
              <a:t>判断函数实现是否满足</a:t>
            </a:r>
            <a:r>
              <a:rPr lang="zh-CN" altLang="en-US" dirty="0"/>
              <a:t>特定</a:t>
            </a:r>
            <a:r>
              <a:rPr lang="zh-CN" altLang="zh-CN" dirty="0"/>
              <a:t>要求。</a:t>
            </a:r>
            <a:endParaRPr lang="en-US" altLang="zh-CN" dirty="0"/>
          </a:p>
          <a:p>
            <a:r>
              <a:rPr lang="en-US" altLang="zh-CN" dirty="0" err="1">
                <a:solidFill>
                  <a:srgbClr val="0000FF"/>
                </a:solidFill>
              </a:rPr>
              <a:t>btest.c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  <a:r>
              <a:rPr lang="en-US" altLang="zh-CN" dirty="0" err="1">
                <a:solidFill>
                  <a:srgbClr val="0000FF"/>
                </a:solidFill>
              </a:rPr>
              <a:t>btest.h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  <a:r>
              <a:rPr lang="en-US" altLang="zh-CN" dirty="0" err="1">
                <a:solidFill>
                  <a:srgbClr val="0000FF"/>
                </a:solidFill>
              </a:rPr>
              <a:t>decl.c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  <a:r>
              <a:rPr lang="en-US" altLang="zh-CN" dirty="0" err="1">
                <a:solidFill>
                  <a:srgbClr val="0000FF"/>
                </a:solidFill>
              </a:rPr>
              <a:t>tests.c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  <a:r>
              <a:rPr lang="en-US" altLang="zh-CN" dirty="0">
                <a:solidFill>
                  <a:srgbClr val="0000FF"/>
                </a:solidFill>
              </a:rPr>
              <a:t>tests-</a:t>
            </a:r>
            <a:r>
              <a:rPr lang="en-US" altLang="zh-CN" dirty="0" err="1">
                <a:solidFill>
                  <a:srgbClr val="0000FF"/>
                </a:solidFill>
              </a:rPr>
              <a:t>header.c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/>
              <a:t>   </a:t>
            </a:r>
            <a:r>
              <a:rPr lang="zh-CN" altLang="zh-CN" dirty="0"/>
              <a:t>实验结果</a:t>
            </a:r>
            <a:r>
              <a:rPr lang="zh-CN" altLang="en-US" dirty="0"/>
              <a:t>正确性</a:t>
            </a:r>
            <a:r>
              <a:rPr lang="zh-CN" altLang="zh-CN" dirty="0"/>
              <a:t>测试工具</a:t>
            </a:r>
            <a:r>
              <a:rPr lang="en-US" altLang="zh-CN" dirty="0" err="1"/>
              <a:t>btest</a:t>
            </a:r>
            <a:r>
              <a:rPr lang="zh-CN" altLang="en-US" dirty="0"/>
              <a:t>的源码</a:t>
            </a:r>
            <a:endParaRPr lang="zh-CN" altLang="zh-CN" dirty="0"/>
          </a:p>
          <a:p>
            <a:pPr lvl="0"/>
            <a:r>
              <a:rPr lang="en-US" altLang="zh-CN" dirty="0" err="1">
                <a:solidFill>
                  <a:srgbClr val="0000FF"/>
                </a:solidFill>
              </a:rPr>
              <a:t>ishow.c</a:t>
            </a:r>
            <a:r>
              <a:rPr lang="en-US" altLang="zh-CN" dirty="0"/>
              <a:t>         </a:t>
            </a:r>
            <a:r>
              <a:rPr lang="zh-CN" altLang="zh-CN" dirty="0"/>
              <a:t>整型数据查看工具</a:t>
            </a:r>
            <a:r>
              <a:rPr lang="zh-CN" altLang="en-US" dirty="0"/>
              <a:t>的源码</a:t>
            </a:r>
            <a:endParaRPr lang="en-US" altLang="zh-CN" dirty="0"/>
          </a:p>
          <a:p>
            <a:pPr lvl="0"/>
            <a:r>
              <a:rPr lang="en-US" altLang="zh-CN" dirty="0" err="1">
                <a:solidFill>
                  <a:srgbClr val="0000FF"/>
                </a:solidFill>
              </a:rPr>
              <a:t>fshow.c</a:t>
            </a:r>
            <a:r>
              <a:rPr lang="en-US" altLang="zh-CN" dirty="0"/>
              <a:t>	 </a:t>
            </a:r>
            <a:r>
              <a:rPr lang="zh-CN" altLang="zh-CN" dirty="0"/>
              <a:t>浮点数据查看工具</a:t>
            </a:r>
            <a:r>
              <a:rPr lang="zh-CN" altLang="en-US" dirty="0"/>
              <a:t>的源码</a:t>
            </a:r>
            <a:endParaRPr lang="en-US" altLang="zh-CN" dirty="0"/>
          </a:p>
          <a:p>
            <a:r>
              <a:rPr lang="en-US" altLang="zh-CN" dirty="0" err="1">
                <a:solidFill>
                  <a:srgbClr val="0000FF"/>
                </a:solidFill>
              </a:rPr>
              <a:t>Makefile</a:t>
            </a:r>
            <a:r>
              <a:rPr lang="en-US" altLang="zh-CN" dirty="0"/>
              <a:t>    </a:t>
            </a:r>
            <a:r>
              <a:rPr lang="zh-CN" altLang="zh-CN" dirty="0"/>
              <a:t>生成</a:t>
            </a:r>
            <a:r>
              <a:rPr lang="en-US" altLang="zh-CN" dirty="0" err="1"/>
              <a:t>btest</a:t>
            </a:r>
            <a:r>
              <a:rPr lang="zh-CN" altLang="zh-CN" dirty="0"/>
              <a:t>、</a:t>
            </a:r>
            <a:r>
              <a:rPr lang="en-US" altLang="zh-CN" dirty="0" err="1"/>
              <a:t>fshow</a:t>
            </a:r>
            <a:r>
              <a:rPr lang="zh-CN" altLang="zh-CN" dirty="0"/>
              <a:t>、</a:t>
            </a:r>
            <a:r>
              <a:rPr lang="en-US" altLang="zh-CN" dirty="0" err="1"/>
              <a:t>ishow</a:t>
            </a:r>
            <a:r>
              <a:rPr lang="zh-CN" altLang="zh-CN" dirty="0"/>
              <a:t>的</a:t>
            </a:r>
            <a:r>
              <a:rPr lang="en-US" altLang="zh-CN" dirty="0"/>
              <a:t>Make</a:t>
            </a:r>
            <a:r>
              <a:rPr lang="zh-CN" altLang="zh-CN" dirty="0"/>
              <a:t>文件。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/>
          <a:lstStyle/>
          <a:p>
            <a:r>
              <a:rPr lang="en-US" altLang="zh-CN" dirty="0"/>
              <a:t>Handout</a:t>
            </a:r>
            <a:r>
              <a:rPr lang="zh-CN" altLang="en-US" dirty="0"/>
              <a:t>包中的文件介绍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2BCFF4-D4A8-4519-8FC3-49067C59294B}"/>
              </a:ext>
            </a:extLst>
          </p:cNvPr>
          <p:cNvSpPr txBox="1"/>
          <p:nvPr/>
        </p:nvSpPr>
        <p:spPr>
          <a:xfrm>
            <a:off x="1847527" y="5576521"/>
            <a:ext cx="8568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注意：只能修改</a:t>
            </a:r>
            <a:r>
              <a:rPr lang="en-US" altLang="zh-CN" sz="2800" b="1" dirty="0" err="1">
                <a:solidFill>
                  <a:srgbClr val="FF0000"/>
                </a:solidFill>
                <a:latin typeface="+mj-ea"/>
                <a:ea typeface="+mj-ea"/>
              </a:rPr>
              <a:t>bits.c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文件，其它文件都不能改动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DC641C-F0D8-9E3B-1EAC-0C8E5345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9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5521" y="1772817"/>
            <a:ext cx="8640959" cy="4353347"/>
          </a:xfrm>
        </p:spPr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en-US" altLang="zh-CN" dirty="0" err="1"/>
              <a:t>bits.c</a:t>
            </a:r>
            <a:r>
              <a:rPr lang="zh-CN" altLang="en-US" dirty="0"/>
              <a:t>函数分类</a:t>
            </a:r>
            <a:endParaRPr lang="en-US" altLang="zh-CN" dirty="0"/>
          </a:p>
          <a:p>
            <a:pPr lvl="1"/>
            <a:r>
              <a:rPr lang="zh-CN" altLang="en-US" sz="2400" dirty="0"/>
              <a:t>位操作函数</a:t>
            </a:r>
            <a:endParaRPr lang="en-US" altLang="zh-CN" sz="2400" dirty="0"/>
          </a:p>
          <a:p>
            <a:pPr lvl="1"/>
            <a:r>
              <a:rPr lang="zh-CN" altLang="en-US" sz="2400" dirty="0"/>
              <a:t>补码运算函数</a:t>
            </a:r>
            <a:endParaRPr lang="en-US" altLang="zh-CN" sz="2400" dirty="0"/>
          </a:p>
          <a:p>
            <a:pPr lvl="1"/>
            <a:r>
              <a:rPr lang="zh-CN" altLang="en-US" sz="2400" dirty="0"/>
              <a:t>浮点数表示函数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dirty="0"/>
              <a:t>函数难度分级</a:t>
            </a:r>
            <a:endParaRPr lang="en-US" altLang="zh-CN" dirty="0"/>
          </a:p>
          <a:p>
            <a:pPr lvl="1"/>
            <a:r>
              <a:rPr lang="en-US" altLang="zh-CN" sz="2400" dirty="0"/>
              <a:t>1,2,3,4</a:t>
            </a:r>
          </a:p>
          <a:p>
            <a:pPr marL="274320" lvl="1">
              <a:buFont typeface="Wingdings" panose="05000000000000000000" pitchFamily="2" charset="2"/>
              <a:buChar char="u"/>
            </a:pPr>
            <a:r>
              <a:rPr lang="zh-CN" altLang="en-US" sz="2400" dirty="0"/>
              <a:t>函数实现中使用的</a:t>
            </a:r>
            <a:r>
              <a:rPr lang="zh-CN" altLang="en-US" sz="2400" b="1" dirty="0">
                <a:solidFill>
                  <a:srgbClr val="0000FF"/>
                </a:solidFill>
              </a:rPr>
              <a:t>操作符越少越好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lvl="1" indent="0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（注意：赋值符号</a:t>
            </a:r>
            <a:r>
              <a:rPr lang="en-US" altLang="zh-CN" sz="2400" dirty="0">
                <a:solidFill>
                  <a:srgbClr val="FF0000"/>
                </a:solidFill>
              </a:rPr>
              <a:t>=</a:t>
            </a:r>
            <a:r>
              <a:rPr lang="zh-CN" altLang="en-US" sz="2400" dirty="0">
                <a:solidFill>
                  <a:srgbClr val="FF0000"/>
                </a:solidFill>
              </a:rPr>
              <a:t>不算操作符）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bits.c</a:t>
            </a:r>
            <a:r>
              <a:rPr lang="zh-CN" altLang="en-US" dirty="0"/>
              <a:t>函数介绍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B297D7-AA73-E27E-4FB0-FB5E62F2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09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5521" y="1844825"/>
            <a:ext cx="8640959" cy="4281339"/>
          </a:xfrm>
        </p:spPr>
        <p:txBody>
          <a:bodyPr>
            <a:normAutofit lnSpcReduction="10000"/>
          </a:bodyPr>
          <a:lstStyle/>
          <a:p>
            <a:pPr lvl="0"/>
            <a:r>
              <a:rPr lang="zh-CN" altLang="zh-CN" dirty="0"/>
              <a:t>只能使用</a:t>
            </a:r>
            <a:r>
              <a:rPr lang="zh-CN" altLang="zh-CN" dirty="0">
                <a:solidFill>
                  <a:srgbClr val="0000FF"/>
                </a:solidFill>
              </a:rPr>
              <a:t>顺序程序结构</a:t>
            </a:r>
            <a:r>
              <a:rPr lang="zh-CN" altLang="en-US" dirty="0"/>
              <a:t>，禁用</a:t>
            </a:r>
            <a:r>
              <a:rPr lang="en-US" altLang="zh-CN" dirty="0"/>
              <a:t>if, do, while, for, switch</a:t>
            </a:r>
            <a:r>
              <a:rPr lang="zh-CN" altLang="zh-CN" dirty="0"/>
              <a:t>等。</a:t>
            </a:r>
          </a:p>
          <a:p>
            <a:pPr lvl="0"/>
            <a:r>
              <a:rPr lang="zh-CN" altLang="en-US" dirty="0">
                <a:solidFill>
                  <a:srgbClr val="0000FF"/>
                </a:solidFill>
              </a:rPr>
              <a:t>有限操作类型</a:t>
            </a:r>
            <a:r>
              <a:rPr lang="zh-CN" altLang="zh-CN" dirty="0"/>
              <a:t>，！</a:t>
            </a:r>
            <a:r>
              <a:rPr lang="en-US" altLang="zh-CN" dirty="0"/>
              <a:t> ~  &amp;  ^  |  +  &lt;&lt;  &gt;&gt;  </a:t>
            </a:r>
            <a:r>
              <a:rPr lang="zh-CN" altLang="en-US" dirty="0"/>
              <a:t>各函数不一样</a:t>
            </a:r>
            <a:endParaRPr lang="en-US" altLang="zh-CN" dirty="0"/>
          </a:p>
          <a:p>
            <a:pPr lvl="0"/>
            <a:r>
              <a:rPr lang="zh-CN" altLang="en-US" dirty="0"/>
              <a:t>禁用（</a:t>
            </a:r>
            <a:r>
              <a:rPr lang="en-US" altLang="zh-CN" dirty="0"/>
              <a:t>!=</a:t>
            </a:r>
            <a:r>
              <a:rPr lang="zh-CN" altLang="en-US" dirty="0"/>
              <a:t>、</a:t>
            </a:r>
            <a:r>
              <a:rPr lang="en-US" altLang="zh-CN" dirty="0"/>
              <a:t>==</a:t>
            </a:r>
            <a:r>
              <a:rPr lang="zh-CN" altLang="en-US" dirty="0"/>
              <a:t>、</a:t>
            </a:r>
            <a:r>
              <a:rPr lang="en-US" altLang="zh-CN" dirty="0"/>
              <a:t>&amp;&amp;</a:t>
            </a:r>
            <a:r>
              <a:rPr lang="zh-CN" altLang="en-US" dirty="0"/>
              <a:t>、</a:t>
            </a:r>
            <a:r>
              <a:rPr lang="en-US" altLang="zh-CN" dirty="0"/>
              <a:t>|| </a:t>
            </a:r>
            <a:r>
              <a:rPr lang="zh-CN" altLang="en-US" dirty="0"/>
              <a:t>等关系操作符）</a:t>
            </a:r>
            <a:endParaRPr lang="zh-CN" altLang="zh-CN" dirty="0"/>
          </a:p>
          <a:p>
            <a:pPr lvl="0"/>
            <a:r>
              <a:rPr lang="zh-CN" altLang="en-US" dirty="0">
                <a:solidFill>
                  <a:srgbClr val="0000FF"/>
                </a:solidFill>
              </a:rPr>
              <a:t>常量值范围   </a:t>
            </a:r>
            <a:r>
              <a:rPr lang="en-US" altLang="zh-CN" dirty="0">
                <a:solidFill>
                  <a:srgbClr val="0000FF"/>
                </a:solidFill>
              </a:rPr>
              <a:t>0~255</a:t>
            </a:r>
            <a:endParaRPr lang="zh-CN" altLang="zh-CN" dirty="0">
              <a:solidFill>
                <a:srgbClr val="0000FF"/>
              </a:solidFill>
            </a:endParaRPr>
          </a:p>
          <a:p>
            <a:pPr lvl="0"/>
            <a:r>
              <a:rPr lang="zh-CN" altLang="en-US" dirty="0"/>
              <a:t>禁用</a:t>
            </a:r>
            <a:r>
              <a:rPr lang="zh-CN" altLang="zh-CN" dirty="0"/>
              <a:t>强制类型转换</a:t>
            </a:r>
          </a:p>
          <a:p>
            <a:pPr lvl="0"/>
            <a:r>
              <a:rPr lang="zh-CN" altLang="en-US" dirty="0"/>
              <a:t>禁用</a:t>
            </a:r>
            <a:r>
              <a:rPr lang="zh-CN" altLang="zh-CN" dirty="0">
                <a:solidFill>
                  <a:srgbClr val="0000FF"/>
                </a:solidFill>
              </a:rPr>
              <a:t>整型</a:t>
            </a:r>
            <a:r>
              <a:rPr lang="zh-CN" altLang="zh-CN" dirty="0"/>
              <a:t>外的任何其它数据类型</a:t>
            </a:r>
            <a:endParaRPr lang="en-US" altLang="zh-CN" dirty="0"/>
          </a:p>
          <a:p>
            <a:pPr lvl="0"/>
            <a:r>
              <a:rPr lang="zh-CN" altLang="en-US" dirty="0"/>
              <a:t>禁用</a:t>
            </a:r>
            <a:r>
              <a:rPr lang="zh-CN" altLang="zh-CN" dirty="0"/>
              <a:t>宏定义</a:t>
            </a:r>
          </a:p>
          <a:p>
            <a:pPr lvl="0"/>
            <a:r>
              <a:rPr lang="zh-CN" altLang="zh-CN" dirty="0"/>
              <a:t>不得</a:t>
            </a:r>
            <a:r>
              <a:rPr lang="zh-CN" altLang="en-US" dirty="0"/>
              <a:t>使用函数</a:t>
            </a:r>
            <a:endParaRPr lang="zh-CN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zh-CN" altLang="zh-CN" sz="3000" b="1" dirty="0">
                <a:solidFill>
                  <a:srgbClr val="FF0000"/>
                </a:solidFill>
              </a:rPr>
              <a:t>具体要求参</a:t>
            </a:r>
            <a:r>
              <a:rPr lang="zh-CN" altLang="en-US" sz="3000" b="1" dirty="0">
                <a:solidFill>
                  <a:srgbClr val="FF0000"/>
                </a:solidFill>
              </a:rPr>
              <a:t>见</a:t>
            </a:r>
            <a:r>
              <a:rPr lang="en-US" altLang="zh-CN" sz="3000" b="1" dirty="0" err="1">
                <a:solidFill>
                  <a:srgbClr val="FF0000"/>
                </a:solidFill>
              </a:rPr>
              <a:t>bits.c</a:t>
            </a:r>
            <a:r>
              <a:rPr lang="zh-CN" altLang="zh-CN" sz="3000" b="1" dirty="0">
                <a:solidFill>
                  <a:srgbClr val="FF0000"/>
                </a:solidFill>
              </a:rPr>
              <a:t>各函数框架</a:t>
            </a:r>
            <a:r>
              <a:rPr lang="zh-CN" altLang="en-US" sz="3000" b="1" dirty="0">
                <a:solidFill>
                  <a:srgbClr val="FF0000"/>
                </a:solidFill>
              </a:rPr>
              <a:t>前</a:t>
            </a:r>
            <a:r>
              <a:rPr lang="zh-CN" altLang="zh-CN" sz="3000" b="1" dirty="0">
                <a:solidFill>
                  <a:srgbClr val="FF0000"/>
                </a:solidFill>
              </a:rPr>
              <a:t>的注释</a:t>
            </a:r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定点数函数</a:t>
            </a:r>
            <a:r>
              <a:rPr lang="zh-CN" altLang="en-US" dirty="0"/>
              <a:t>编程要求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741A09-23EA-902A-E62A-2F2FC9389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98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5521" y="1772817"/>
            <a:ext cx="8640959" cy="4353347"/>
          </a:xfrm>
        </p:spPr>
        <p:txBody>
          <a:bodyPr>
            <a:normAutofit lnSpcReduction="10000"/>
          </a:bodyPr>
          <a:lstStyle/>
          <a:p>
            <a:pPr lvl="0"/>
            <a:r>
              <a:rPr lang="zh-CN" altLang="zh-CN" dirty="0"/>
              <a:t>可以使用循环和条件控制；</a:t>
            </a:r>
          </a:p>
          <a:p>
            <a:pPr lvl="0"/>
            <a:r>
              <a:rPr lang="zh-CN" altLang="zh-CN" dirty="0"/>
              <a:t>可以使用整型和无符号整型常量及变量（取值不受</a:t>
            </a:r>
            <a:r>
              <a:rPr lang="en-US" altLang="zh-CN" dirty="0"/>
              <a:t>[0,255]</a:t>
            </a:r>
            <a:r>
              <a:rPr lang="zh-CN" altLang="zh-CN" dirty="0"/>
              <a:t>限制）；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禁止</a:t>
            </a:r>
            <a:r>
              <a:rPr lang="zh-CN" altLang="zh-CN" dirty="0">
                <a:solidFill>
                  <a:srgbClr val="0000FF"/>
                </a:solidFill>
              </a:rPr>
              <a:t>使用任何浮点数据类型、操作及常量。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禁用</a:t>
            </a:r>
            <a:r>
              <a:rPr lang="en-US" altLang="zh-CN" dirty="0">
                <a:solidFill>
                  <a:srgbClr val="0000FF"/>
                </a:solidFill>
              </a:rPr>
              <a:t>struct</a:t>
            </a:r>
            <a:r>
              <a:rPr lang="zh-CN" altLang="zh-CN" dirty="0">
                <a:solidFill>
                  <a:srgbClr val="0000FF"/>
                </a:solidFill>
              </a:rPr>
              <a:t>、</a:t>
            </a:r>
            <a:r>
              <a:rPr lang="en-US" altLang="zh-CN" dirty="0">
                <a:solidFill>
                  <a:srgbClr val="0000FF"/>
                </a:solidFill>
              </a:rPr>
              <a:t>union</a:t>
            </a:r>
            <a:r>
              <a:rPr lang="zh-CN" altLang="zh-CN" dirty="0">
                <a:solidFill>
                  <a:srgbClr val="0000FF"/>
                </a:solidFill>
              </a:rPr>
              <a:t>或数组结构。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zh-CN" dirty="0"/>
              <a:t>浮点数函数均使用</a:t>
            </a:r>
            <a:r>
              <a:rPr lang="en-US" altLang="zh-CN" dirty="0"/>
              <a:t>unsigned</a:t>
            </a:r>
            <a:r>
              <a:rPr lang="zh-CN" altLang="zh-CN" dirty="0"/>
              <a:t>型数据表示浮点数据。</a:t>
            </a:r>
          </a:p>
          <a:p>
            <a:r>
              <a:rPr lang="zh-CN" altLang="zh-CN" dirty="0"/>
              <a:t>必须能处理</a:t>
            </a:r>
            <a:r>
              <a:rPr lang="en-US" altLang="zh-CN" dirty="0"/>
              <a:t>IEEE754</a:t>
            </a:r>
            <a:r>
              <a:rPr lang="zh-CN" altLang="en-US" dirty="0"/>
              <a:t>定义的</a:t>
            </a:r>
            <a:r>
              <a:rPr lang="zh-CN" altLang="zh-CN" dirty="0"/>
              <a:t>全范围的</a:t>
            </a:r>
            <a:r>
              <a:rPr lang="zh-CN" altLang="en-US" dirty="0"/>
              <a:t>浮点数</a:t>
            </a:r>
            <a:r>
              <a:rPr lang="zh-CN" altLang="zh-CN" dirty="0"/>
              <a:t>，包括</a:t>
            </a:r>
            <a:r>
              <a:rPr lang="en-US" altLang="zh-CN" dirty="0"/>
              <a:t>(</a:t>
            </a:r>
            <a:r>
              <a:rPr lang="en-US" altLang="zh-CN" dirty="0" err="1"/>
              <a:t>NaN</a:t>
            </a:r>
            <a:r>
              <a:rPr lang="en-US" altLang="zh-CN" dirty="0"/>
              <a:t>)</a:t>
            </a:r>
            <a:r>
              <a:rPr lang="zh-CN" altLang="zh-CN" dirty="0"/>
              <a:t>和</a:t>
            </a:r>
            <a:r>
              <a:rPr lang="en-US" altLang="zh-CN" dirty="0"/>
              <a:t>infinity</a:t>
            </a:r>
            <a:r>
              <a:rPr lang="zh-CN" altLang="zh-CN" dirty="0"/>
              <a:t>。</a:t>
            </a:r>
            <a:endParaRPr lang="en-US" altLang="zh-CN" dirty="0"/>
          </a:p>
          <a:p>
            <a:pPr lvl="0"/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       </a:t>
            </a:r>
            <a:r>
              <a:rPr lang="zh-CN" altLang="zh-CN" sz="3000" b="1" dirty="0">
                <a:solidFill>
                  <a:srgbClr val="FF0000"/>
                </a:solidFill>
              </a:rPr>
              <a:t>具体要求参</a:t>
            </a:r>
            <a:r>
              <a:rPr lang="zh-CN" altLang="en-US" sz="3000" b="1" dirty="0">
                <a:solidFill>
                  <a:srgbClr val="FF0000"/>
                </a:solidFill>
              </a:rPr>
              <a:t>见</a:t>
            </a:r>
            <a:r>
              <a:rPr lang="en-US" altLang="zh-CN" sz="3000" b="1" dirty="0" err="1">
                <a:solidFill>
                  <a:srgbClr val="FF0000"/>
                </a:solidFill>
              </a:rPr>
              <a:t>bits.c</a:t>
            </a:r>
            <a:r>
              <a:rPr lang="zh-CN" altLang="zh-CN" sz="3000" b="1" dirty="0">
                <a:solidFill>
                  <a:srgbClr val="FF0000"/>
                </a:solidFill>
              </a:rPr>
              <a:t>各函数框架</a:t>
            </a:r>
            <a:r>
              <a:rPr lang="zh-CN" altLang="en-US" sz="3000" b="1" dirty="0">
                <a:solidFill>
                  <a:srgbClr val="FF0000"/>
                </a:solidFill>
              </a:rPr>
              <a:t>前</a:t>
            </a:r>
            <a:r>
              <a:rPr lang="zh-CN" altLang="zh-CN" sz="3000" b="1" dirty="0">
                <a:solidFill>
                  <a:srgbClr val="FF0000"/>
                </a:solidFill>
              </a:rPr>
              <a:t>的注释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浮点数函数</a:t>
            </a:r>
            <a:r>
              <a:rPr lang="zh-CN" altLang="en-US" dirty="0"/>
              <a:t>编程要求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5AD728-4EAA-AF64-1837-A22EC00F4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900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981200" y="1988840"/>
            <a:ext cx="8229600" cy="4464496"/>
          </a:xfrm>
        </p:spPr>
        <p:txBody>
          <a:bodyPr/>
          <a:lstStyle/>
          <a:p>
            <a:r>
              <a:rPr lang="zh-CN" altLang="en-US" dirty="0"/>
              <a:t>注意，由于</a:t>
            </a:r>
            <a:r>
              <a:rPr lang="en-US" altLang="zh-CN" dirty="0"/>
              <a:t>lab1</a:t>
            </a:r>
            <a:r>
              <a:rPr lang="zh-CN" altLang="en-US" dirty="0"/>
              <a:t>的</a:t>
            </a:r>
            <a:r>
              <a:rPr lang="en-US" altLang="zh-CN" dirty="0" err="1"/>
              <a:t>dlc</a:t>
            </a:r>
            <a:r>
              <a:rPr lang="zh-CN" altLang="en-US" dirty="0"/>
              <a:t>程序采用</a:t>
            </a:r>
            <a:r>
              <a:rPr lang="en-US" altLang="zh-CN" b="1" dirty="0"/>
              <a:t>C89</a:t>
            </a:r>
            <a:r>
              <a:rPr lang="zh-CN" altLang="en-US" b="1" dirty="0"/>
              <a:t>标准</a:t>
            </a:r>
            <a:r>
              <a:rPr lang="zh-CN" altLang="en-US" dirty="0"/>
              <a:t>检测语法，所以变量定义只能出现在函数开始。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特殊要求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845601" y="3100449"/>
            <a:ext cx="2736304" cy="2656394"/>
            <a:chOff x="4067944" y="3710741"/>
            <a:chExt cx="1657350" cy="1459079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/>
            <a:srcRect t="1172"/>
            <a:stretch/>
          </p:blipFill>
          <p:spPr>
            <a:xfrm>
              <a:off x="4067944" y="3710741"/>
              <a:ext cx="1657350" cy="1459079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4283968" y="4509120"/>
              <a:ext cx="612651" cy="2160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630438" y="3100450"/>
            <a:ext cx="2601466" cy="2992847"/>
            <a:chOff x="1115616" y="3694545"/>
            <a:chExt cx="1495425" cy="156020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3"/>
            <a:srcRect t="3076"/>
            <a:stretch/>
          </p:blipFill>
          <p:spPr>
            <a:xfrm>
              <a:off x="1115616" y="3694545"/>
              <a:ext cx="1495425" cy="1560204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1259632" y="4005064"/>
              <a:ext cx="1008112" cy="5040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3071664" y="552045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√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384032" y="544522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ｘ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17F154C9-3FB5-CAC8-4B70-F1B3B83F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70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5520" y="954412"/>
            <a:ext cx="8640960" cy="55709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dirty="0"/>
              <a:t>    0</a:t>
            </a:r>
            <a:r>
              <a:rPr lang="zh-CN" altLang="en-US" dirty="0"/>
              <a:t>、解压缩实验包（注意</a:t>
            </a:r>
            <a:r>
              <a:rPr lang="zh-CN" altLang="en-US" b="1" dirty="0">
                <a:solidFill>
                  <a:srgbClr val="FF0000"/>
                </a:solidFill>
              </a:rPr>
              <a:t>在</a:t>
            </a:r>
            <a:r>
              <a:rPr lang="en-US" altLang="zh-CN" b="1" dirty="0" err="1">
                <a:solidFill>
                  <a:srgbClr val="FF0000"/>
                </a:solidFill>
              </a:rPr>
              <a:t>linux</a:t>
            </a:r>
            <a:r>
              <a:rPr lang="zh-CN" altLang="en-US" b="1" dirty="0">
                <a:solidFill>
                  <a:srgbClr val="FF0000"/>
                </a:solidFill>
              </a:rPr>
              <a:t>下解压缩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1</a:t>
            </a:r>
            <a:r>
              <a:rPr lang="zh-CN" altLang="en-US" dirty="0"/>
              <a:t>、编辑</a:t>
            </a:r>
            <a:r>
              <a:rPr lang="en-US" altLang="zh-CN" dirty="0" err="1"/>
              <a:t>bits.c</a:t>
            </a:r>
            <a:r>
              <a:rPr lang="zh-CN" altLang="en-US" dirty="0"/>
              <a:t>（按要求实现各函数）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2</a:t>
            </a:r>
            <a:r>
              <a:rPr lang="zh-CN" altLang="en-US" dirty="0"/>
              <a:t>、规则检查（</a:t>
            </a:r>
            <a:r>
              <a:rPr lang="zh-CN" altLang="en-US" b="1" dirty="0">
                <a:solidFill>
                  <a:srgbClr val="FF0000"/>
                </a:solidFill>
              </a:rPr>
              <a:t>必须通过规则检查，否则无法得分！！！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$ ./</a:t>
            </a:r>
            <a:r>
              <a:rPr lang="en-US" altLang="zh-CN" sz="2400" dirty="0" err="1">
                <a:solidFill>
                  <a:srgbClr val="0000FF"/>
                </a:solidFill>
              </a:rPr>
              <a:t>dlc</a:t>
            </a:r>
            <a:r>
              <a:rPr lang="en-US" altLang="zh-CN" sz="2400" dirty="0">
                <a:solidFill>
                  <a:srgbClr val="0000FF"/>
                </a:solidFill>
              </a:rPr>
              <a:t>  </a:t>
            </a:r>
            <a:r>
              <a:rPr lang="en-US" altLang="zh-CN" sz="2400" dirty="0" err="1">
                <a:solidFill>
                  <a:srgbClr val="0000FF"/>
                </a:solidFill>
              </a:rPr>
              <a:t>bits.c</a:t>
            </a:r>
            <a:endParaRPr lang="en-US" altLang="zh-CN" sz="2400" dirty="0">
              <a:solidFill>
                <a:schemeClr val="bg2">
                  <a:lumMod val="75000"/>
                </a:schemeClr>
              </a:solidFill>
            </a:endParaRPr>
          </a:p>
          <a:p>
            <a:pPr marL="301943" lvl="1" indent="0"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、编译生成可执行文件（</a:t>
            </a:r>
            <a:r>
              <a:rPr lang="zh-CN" altLang="en-US" sz="2400" b="1" dirty="0">
                <a:solidFill>
                  <a:srgbClr val="FF0000"/>
                </a:solidFill>
              </a:rPr>
              <a:t>每次修改</a:t>
            </a:r>
            <a:r>
              <a:rPr lang="en-US" altLang="zh-CN" sz="2400" b="1" dirty="0" err="1">
                <a:solidFill>
                  <a:srgbClr val="FF0000"/>
                </a:solidFill>
              </a:rPr>
              <a:t>bits.c</a:t>
            </a:r>
            <a:r>
              <a:rPr lang="zh-CN" altLang="en-US" sz="2400" b="1" dirty="0">
                <a:solidFill>
                  <a:srgbClr val="FF0000"/>
                </a:solidFill>
              </a:rPr>
              <a:t>后必须重新编译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/>
            <a:r>
              <a:rPr lang="en-US" altLang="zh-CN" sz="2400" dirty="0">
                <a:solidFill>
                  <a:srgbClr val="0000FF"/>
                </a:solidFill>
              </a:rPr>
              <a:t>$</a:t>
            </a:r>
            <a:r>
              <a:rPr lang="en-US" altLang="zh-CN" sz="2400" b="1" dirty="0">
                <a:solidFill>
                  <a:srgbClr val="0000FF"/>
                </a:solidFill>
              </a:rPr>
              <a:t>make</a:t>
            </a:r>
            <a:r>
              <a:rPr lang="en-US" altLang="zh-CN" sz="2400" dirty="0">
                <a:solidFill>
                  <a:srgbClr val="0000FF"/>
                </a:solidFill>
              </a:rPr>
              <a:t>  </a:t>
            </a:r>
            <a:r>
              <a:rPr lang="en-US" altLang="zh-CN" sz="2400" dirty="0" err="1">
                <a:solidFill>
                  <a:srgbClr val="0000FF"/>
                </a:solidFill>
              </a:rPr>
              <a:t>btest</a:t>
            </a:r>
            <a:r>
              <a:rPr lang="en-US" altLang="zh-CN" sz="2400" dirty="0">
                <a:solidFill>
                  <a:srgbClr val="0000FF"/>
                </a:solidFill>
              </a:rPr>
              <a:t>        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dirty="0"/>
              <a:t>    4</a:t>
            </a:r>
            <a:r>
              <a:rPr lang="zh-CN" altLang="en-US" dirty="0"/>
              <a:t>、正确性检查</a:t>
            </a:r>
            <a:r>
              <a:rPr lang="en-US" altLang="zh-CN" dirty="0"/>
              <a:t>               </a:t>
            </a:r>
          </a:p>
          <a:p>
            <a:pPr lvl="2"/>
            <a:r>
              <a:rPr lang="zh-CN" altLang="en-US" sz="2200" dirty="0"/>
              <a:t> 检查所有函数</a:t>
            </a:r>
            <a:r>
              <a:rPr lang="en-US" altLang="zh-CN" sz="2200" dirty="0"/>
              <a:t>:</a:t>
            </a:r>
          </a:p>
          <a:p>
            <a:pPr marL="914400" lvl="3" indent="0"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   $ ./</a:t>
            </a:r>
            <a:r>
              <a:rPr lang="en-US" altLang="zh-CN" sz="2000" dirty="0" err="1">
                <a:solidFill>
                  <a:srgbClr val="0000FF"/>
                </a:solidFill>
              </a:rPr>
              <a:t>btest</a:t>
            </a:r>
            <a:endParaRPr lang="en-US" altLang="zh-CN" sz="2200" dirty="0">
              <a:solidFill>
                <a:srgbClr val="0000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75520" y="23980"/>
            <a:ext cx="8640960" cy="930432"/>
          </a:xfrm>
        </p:spPr>
        <p:txBody>
          <a:bodyPr/>
          <a:lstStyle/>
          <a:p>
            <a:r>
              <a:rPr lang="zh-CN" altLang="en-US" dirty="0"/>
              <a:t>实验流程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888" y="3284985"/>
            <a:ext cx="4868496" cy="2875235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14CAF7-6EBE-816D-E415-E3486ACAF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24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0A85A9B-DECB-F844-1B88-C08B9FDD1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3309" y="1130171"/>
            <a:ext cx="8496944" cy="4791683"/>
          </a:xfrm>
        </p:spPr>
        <p:txBody>
          <a:bodyPr/>
          <a:lstStyle/>
          <a:p>
            <a:pPr lvl="2"/>
            <a:r>
              <a:rPr lang="zh-CN" altLang="en-US" sz="2200" dirty="0"/>
              <a:t>检查指定的函数</a:t>
            </a:r>
            <a:r>
              <a:rPr lang="en-US" altLang="zh-CN" sz="2200" dirty="0"/>
              <a:t>:</a:t>
            </a:r>
          </a:p>
          <a:p>
            <a:pPr marL="914400" lvl="3" indent="0"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   $ ./</a:t>
            </a:r>
            <a:r>
              <a:rPr lang="en-US" altLang="zh-CN" sz="2000" dirty="0" err="1">
                <a:solidFill>
                  <a:srgbClr val="0000FF"/>
                </a:solidFill>
              </a:rPr>
              <a:t>btest</a:t>
            </a:r>
            <a:r>
              <a:rPr lang="en-US" altLang="zh-CN" sz="2000" dirty="0">
                <a:solidFill>
                  <a:srgbClr val="0000FF"/>
                </a:solidFill>
              </a:rPr>
              <a:t>  -f  </a:t>
            </a:r>
            <a:r>
              <a:rPr lang="zh-CN" altLang="en-US" sz="2000" dirty="0">
                <a:solidFill>
                  <a:srgbClr val="0000FF"/>
                </a:solidFill>
              </a:rPr>
              <a:t>函数名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marL="914400" lvl="3" indent="0">
              <a:buNone/>
            </a:pPr>
            <a:endParaRPr lang="en-US" altLang="zh-CN" sz="2200" dirty="0">
              <a:solidFill>
                <a:srgbClr val="0000FF"/>
              </a:solidFill>
            </a:endParaRPr>
          </a:p>
          <a:p>
            <a:pPr marL="914400" lvl="3" indent="0">
              <a:buNone/>
            </a:pPr>
            <a:endParaRPr lang="en-US" altLang="zh-CN" sz="2200" dirty="0">
              <a:solidFill>
                <a:srgbClr val="0000FF"/>
              </a:solidFill>
            </a:endParaRPr>
          </a:p>
          <a:p>
            <a:pPr marL="914400" lvl="3" indent="0">
              <a:buNone/>
            </a:pPr>
            <a:endParaRPr lang="en-US" altLang="zh-CN" sz="2200" dirty="0">
              <a:solidFill>
                <a:srgbClr val="0000FF"/>
              </a:solidFill>
            </a:endParaRPr>
          </a:p>
          <a:p>
            <a:pPr marL="914400" lvl="3" indent="0">
              <a:buNone/>
            </a:pPr>
            <a:endParaRPr lang="en-US" altLang="zh-CN" sz="2200" dirty="0">
              <a:solidFill>
                <a:srgbClr val="0000FF"/>
              </a:solidFill>
            </a:endParaRPr>
          </a:p>
          <a:p>
            <a:pPr marL="914400" lvl="3" indent="0">
              <a:buNone/>
            </a:pPr>
            <a:endParaRPr lang="en-US" altLang="zh-CN" sz="2200" dirty="0">
              <a:solidFill>
                <a:srgbClr val="0000FF"/>
              </a:solidFill>
            </a:endParaRPr>
          </a:p>
          <a:p>
            <a:pPr marL="914400" lvl="3" indent="0">
              <a:buNone/>
            </a:pPr>
            <a:endParaRPr lang="en-US" altLang="zh-CN" sz="2200" dirty="0">
              <a:solidFill>
                <a:srgbClr val="0000FF"/>
              </a:solidFill>
            </a:endParaRPr>
          </a:p>
          <a:p>
            <a:pPr lvl="2"/>
            <a:r>
              <a:rPr lang="en-US" altLang="zh-CN" sz="2200" dirty="0">
                <a:solidFill>
                  <a:srgbClr val="0000FF"/>
                </a:solidFill>
              </a:rPr>
              <a:t>   </a:t>
            </a:r>
            <a:r>
              <a:rPr lang="zh-CN" altLang="en-US" sz="2200" dirty="0"/>
              <a:t>以指定的参数检查指定的函数</a:t>
            </a:r>
            <a:r>
              <a:rPr lang="en-US" altLang="zh-CN" sz="2200" dirty="0"/>
              <a:t>:</a:t>
            </a:r>
          </a:p>
          <a:p>
            <a:pPr marL="914400" lvl="3" indent="0"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  $ ./</a:t>
            </a:r>
            <a:r>
              <a:rPr lang="en-US" altLang="zh-CN" sz="2000" dirty="0" err="1">
                <a:solidFill>
                  <a:srgbClr val="0000FF"/>
                </a:solidFill>
              </a:rPr>
              <a:t>btest</a:t>
            </a:r>
            <a:r>
              <a:rPr lang="en-US" altLang="zh-CN" sz="2000" dirty="0">
                <a:solidFill>
                  <a:srgbClr val="0000FF"/>
                </a:solidFill>
              </a:rPr>
              <a:t>  -f  </a:t>
            </a:r>
            <a:r>
              <a:rPr lang="zh-CN" altLang="en-US" sz="2000" dirty="0">
                <a:solidFill>
                  <a:srgbClr val="0000FF"/>
                </a:solidFill>
              </a:rPr>
              <a:t>函数名 </a:t>
            </a:r>
            <a:r>
              <a:rPr lang="en-US" altLang="zh-CN" sz="2000" dirty="0">
                <a:solidFill>
                  <a:srgbClr val="0000FF"/>
                </a:solidFill>
              </a:rPr>
              <a:t> -1  </a:t>
            </a:r>
            <a:r>
              <a:rPr lang="zh-CN" altLang="en-US" sz="2000" dirty="0">
                <a:solidFill>
                  <a:srgbClr val="0000FF"/>
                </a:solidFill>
              </a:rPr>
              <a:t>参数</a:t>
            </a:r>
            <a:r>
              <a:rPr lang="en-US" altLang="zh-CN" sz="2000" dirty="0">
                <a:solidFill>
                  <a:srgbClr val="0000FF"/>
                </a:solidFill>
              </a:rPr>
              <a:t>1</a:t>
            </a:r>
            <a:r>
              <a:rPr lang="zh-CN" altLang="en-US" sz="2000" dirty="0">
                <a:solidFill>
                  <a:srgbClr val="0000FF"/>
                </a:solidFill>
              </a:rPr>
              <a:t>的值</a:t>
            </a:r>
            <a:r>
              <a:rPr lang="en-US" altLang="zh-CN" sz="2000" dirty="0">
                <a:solidFill>
                  <a:srgbClr val="0000FF"/>
                </a:solidFill>
              </a:rPr>
              <a:t>  -2  </a:t>
            </a:r>
            <a:r>
              <a:rPr lang="zh-CN" altLang="en-US" sz="2000" dirty="0">
                <a:solidFill>
                  <a:srgbClr val="0000FF"/>
                </a:solidFill>
              </a:rPr>
              <a:t>参数</a:t>
            </a:r>
            <a:r>
              <a:rPr lang="en-US" altLang="zh-CN" sz="2000" dirty="0">
                <a:solidFill>
                  <a:srgbClr val="0000FF"/>
                </a:solidFill>
              </a:rPr>
              <a:t>2</a:t>
            </a:r>
            <a:r>
              <a:rPr lang="zh-CN" altLang="en-US" sz="2000" dirty="0">
                <a:solidFill>
                  <a:srgbClr val="0000FF"/>
                </a:solidFill>
              </a:rPr>
              <a:t>的值 </a:t>
            </a:r>
            <a:r>
              <a:rPr lang="en-US" altLang="zh-CN" sz="2000" dirty="0">
                <a:solidFill>
                  <a:srgbClr val="0000FF"/>
                </a:solidFill>
              </a:rPr>
              <a:t>……</a:t>
            </a:r>
          </a:p>
          <a:p>
            <a:pPr marL="914400" lvl="3" indent="0">
              <a:buNone/>
            </a:pPr>
            <a:endParaRPr lang="en-US" altLang="zh-CN" sz="2000" dirty="0">
              <a:solidFill>
                <a:srgbClr val="0000FF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2A400A2-9221-8A77-C091-0688418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97909"/>
            <a:ext cx="8229600" cy="983143"/>
          </a:xfrm>
        </p:spPr>
        <p:txBody>
          <a:bodyPr/>
          <a:lstStyle/>
          <a:p>
            <a:r>
              <a:rPr lang="zh-CN" altLang="en-US" dirty="0"/>
              <a:t>实验流程（续）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3CF454-4A7B-9E6C-8ED7-36CF5BCF8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597" y="2020111"/>
            <a:ext cx="7884368" cy="8770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695C25B-E24D-B3BF-7AC9-78BA2C9C6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896" y="3068960"/>
            <a:ext cx="8279904" cy="10410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E025D7B-288A-5D8F-772A-7364205CF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1829" y="5229201"/>
            <a:ext cx="8279904" cy="938629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D5717A-3BD4-0E44-9168-F637D169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4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B93DB422-3F5B-BABA-5D0A-BFC64568C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9" y="2077257"/>
            <a:ext cx="5811436" cy="4724622"/>
          </a:xfrm>
          <a:prstGeom prst="rect">
            <a:avLst/>
          </a:prstGeom>
        </p:spPr>
      </p:pic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C86FC7D-9B2D-4F1A-979B-2D0B8E0B8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20" y="1054824"/>
            <a:ext cx="8640959" cy="5400600"/>
          </a:xfrm>
        </p:spPr>
        <p:txBody>
          <a:bodyPr/>
          <a:lstStyle/>
          <a:p>
            <a:pPr marL="274320" lvl="1"/>
            <a:r>
              <a:rPr lang="en-US" altLang="zh-CN" sz="2400" dirty="0"/>
              <a:t>5</a:t>
            </a:r>
            <a:r>
              <a:rPr lang="zh-CN" altLang="en-US" sz="2400" dirty="0"/>
              <a:t>、在线提交（</a:t>
            </a:r>
            <a:r>
              <a:rPr lang="en-US" altLang="zh-CN" sz="2400" dirty="0" err="1"/>
              <a:t>bits.c</a:t>
            </a:r>
            <a:r>
              <a:rPr lang="zh-CN" altLang="en-US" sz="2400" dirty="0"/>
              <a:t>会自动上传到服务器）</a:t>
            </a:r>
            <a:endParaRPr lang="en-US" altLang="zh-CN" sz="2400" dirty="0"/>
          </a:p>
          <a:p>
            <a:pPr marL="0" indent="-301943"/>
            <a:r>
              <a:rPr lang="en-US" altLang="zh-CN" sz="2600" dirty="0"/>
              <a:t>$</a:t>
            </a:r>
            <a:r>
              <a:rPr lang="zh-CN" altLang="en-US" sz="2600" dirty="0"/>
              <a:t> </a:t>
            </a:r>
            <a:r>
              <a:rPr lang="en-US" altLang="zh-CN" sz="2600" dirty="0"/>
              <a:t>./driver.pl</a:t>
            </a:r>
            <a:r>
              <a:rPr lang="zh-CN" altLang="en-US" sz="2600" dirty="0"/>
              <a:t>  </a:t>
            </a:r>
            <a:r>
              <a:rPr lang="en-US" altLang="zh-CN" sz="2600" dirty="0"/>
              <a:t>-u</a:t>
            </a:r>
            <a:r>
              <a:rPr lang="zh-CN" altLang="en-US" sz="2600" dirty="0"/>
              <a:t>  </a:t>
            </a:r>
            <a:r>
              <a:rPr lang="zh-CN" altLang="en-US" sz="2600" dirty="0">
                <a:solidFill>
                  <a:srgbClr val="FF0000"/>
                </a:solidFill>
              </a:rPr>
              <a:t>学号</a:t>
            </a:r>
            <a:r>
              <a:rPr lang="en-US" altLang="zh-CN" sz="2600" dirty="0">
                <a:solidFill>
                  <a:srgbClr val="FF0000"/>
                </a:solidFill>
              </a:rPr>
              <a:t> </a:t>
            </a:r>
            <a:r>
              <a:rPr lang="en-US" altLang="zh-CN" sz="2600" dirty="0"/>
              <a:t>–p</a:t>
            </a:r>
            <a:r>
              <a:rPr lang="en-US" altLang="zh-CN" sz="2600" dirty="0">
                <a:solidFill>
                  <a:srgbClr val="FF0000"/>
                </a:solidFill>
              </a:rPr>
              <a:t> </a:t>
            </a:r>
            <a:r>
              <a:rPr lang="zh-CN" altLang="en-US" sz="2600" dirty="0">
                <a:solidFill>
                  <a:srgbClr val="FF0000"/>
                </a:solidFill>
              </a:rPr>
              <a:t>密码</a:t>
            </a:r>
            <a:endParaRPr lang="en-US" altLang="zh-CN" sz="2600" dirty="0">
              <a:solidFill>
                <a:srgbClr val="FF0000"/>
              </a:solidFill>
            </a:endParaRPr>
          </a:p>
          <a:p>
            <a:pPr marL="301943" lvl="1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0486EEA-774C-473E-8ABC-063525CB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199" y="188640"/>
            <a:ext cx="8229600" cy="858424"/>
          </a:xfrm>
        </p:spPr>
        <p:txBody>
          <a:bodyPr/>
          <a:lstStyle/>
          <a:p>
            <a:r>
              <a:rPr lang="zh-CN" altLang="en-US" dirty="0"/>
              <a:t>实验流程（续）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981198" y="6021288"/>
            <a:ext cx="5529768" cy="693628"/>
            <a:chOff x="1454500" y="5903724"/>
            <a:chExt cx="5529768" cy="693628"/>
          </a:xfrm>
        </p:grpSpPr>
        <p:sp>
          <p:nvSpPr>
            <p:cNvPr id="8" name="矩形 7"/>
            <p:cNvSpPr/>
            <p:nvPr/>
          </p:nvSpPr>
          <p:spPr>
            <a:xfrm>
              <a:off x="1454500" y="6407780"/>
              <a:ext cx="5529767" cy="1895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线形标注 2 9"/>
            <p:cNvSpPr/>
            <p:nvPr/>
          </p:nvSpPr>
          <p:spPr>
            <a:xfrm>
              <a:off x="5760132" y="5903724"/>
              <a:ext cx="1224136" cy="370636"/>
            </a:xfrm>
            <a:prstGeom prst="borderCallout2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提交成功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13BEAEE9-AB0F-5DD5-7D3C-7329891D74DA}"/>
              </a:ext>
            </a:extLst>
          </p:cNvPr>
          <p:cNvSpPr/>
          <p:nvPr/>
        </p:nvSpPr>
        <p:spPr>
          <a:xfrm>
            <a:off x="4742901" y="6426884"/>
            <a:ext cx="864096" cy="28803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E38D4D-E565-595C-E68F-EB79161D9252}"/>
              </a:ext>
            </a:extLst>
          </p:cNvPr>
          <p:cNvSpPr txBox="1"/>
          <p:nvPr/>
        </p:nvSpPr>
        <p:spPr>
          <a:xfrm>
            <a:off x="7866853" y="2687870"/>
            <a:ext cx="25496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00FF"/>
                </a:solidFill>
              </a:rPr>
              <a:t>注意：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algn="l"/>
            <a:r>
              <a:rPr lang="en-US" altLang="zh-CN" sz="2400" dirty="0">
                <a:solidFill>
                  <a:srgbClr val="0000FF"/>
                </a:solidFill>
              </a:rPr>
              <a:t>1.</a:t>
            </a:r>
            <a:r>
              <a:rPr lang="zh-CN" altLang="en-US" sz="2400" dirty="0">
                <a:solidFill>
                  <a:srgbClr val="0000FF"/>
                </a:solidFill>
              </a:rPr>
              <a:t> 使用自己课头的实验包；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algn="l"/>
            <a:r>
              <a:rPr lang="en-US" altLang="zh-CN" sz="2400" dirty="0">
                <a:solidFill>
                  <a:srgbClr val="0000FF"/>
                </a:solidFill>
              </a:rPr>
              <a:t>2.</a:t>
            </a:r>
            <a:r>
              <a:rPr lang="zh-CN" altLang="en-US" sz="2400" dirty="0">
                <a:solidFill>
                  <a:srgbClr val="0000FF"/>
                </a:solidFill>
              </a:rPr>
              <a:t> 提交时使用的密码为通过</a:t>
            </a:r>
            <a:r>
              <a:rPr lang="en-US" altLang="zh-CN" sz="2400" dirty="0">
                <a:solidFill>
                  <a:srgbClr val="0000FF"/>
                </a:solidFill>
              </a:rPr>
              <a:t>8200</a:t>
            </a:r>
            <a:r>
              <a:rPr lang="zh-CN" altLang="en-US" sz="2400" dirty="0">
                <a:solidFill>
                  <a:srgbClr val="0000FF"/>
                </a:solidFill>
              </a:rPr>
              <a:t>端口设置的密码。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AB8370-D77A-4EF4-8456-60851CAF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7716" y="6375582"/>
            <a:ext cx="1161826" cy="365125"/>
          </a:xfrm>
        </p:spPr>
        <p:txBody>
          <a:bodyPr/>
          <a:lstStyle/>
          <a:p>
            <a:fld id="{687D7A59-36E2-48B9-B146-C1E59501F63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287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BC714CD1-9415-F355-E99B-C557039325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13"/>
          <a:stretch>
            <a:fillRect/>
          </a:stretch>
        </p:blipFill>
        <p:spPr>
          <a:xfrm>
            <a:off x="2396202" y="952121"/>
            <a:ext cx="7183571" cy="5398659"/>
          </a:xfrm>
          <a:prstGeom prst="rect">
            <a:avLst/>
          </a:prstGeom>
        </p:spPr>
      </p:pic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295E010-162E-464D-B307-1F7399DE4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513" y="396721"/>
            <a:ext cx="8568951" cy="58659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 </a:t>
            </a:r>
            <a:r>
              <a:rPr lang="en-US" altLang="zh-CN" dirty="0"/>
              <a:t>6  </a:t>
            </a:r>
            <a:r>
              <a:rPr lang="zh-CN" altLang="en-US" dirty="0"/>
              <a:t>查看</a:t>
            </a:r>
            <a:r>
              <a:rPr lang="en-US" altLang="zh-CN" dirty="0"/>
              <a:t>scoreboard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0F9A0E0-8D77-4F94-A5E9-77D6398DC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332" y="122304"/>
            <a:ext cx="4474840" cy="930432"/>
          </a:xfrm>
        </p:spPr>
        <p:txBody>
          <a:bodyPr/>
          <a:lstStyle/>
          <a:p>
            <a:r>
              <a:rPr lang="zh-CN" altLang="en-US" dirty="0"/>
              <a:t>实验流程（续）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BFBF8F-BFD5-4BCB-95D9-2804693609F4}"/>
              </a:ext>
            </a:extLst>
          </p:cNvPr>
          <p:cNvSpPr/>
          <p:nvPr/>
        </p:nvSpPr>
        <p:spPr>
          <a:xfrm>
            <a:off x="3855862" y="983315"/>
            <a:ext cx="1160018" cy="287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线形标注 2 6"/>
          <p:cNvSpPr/>
          <p:nvPr/>
        </p:nvSpPr>
        <p:spPr>
          <a:xfrm>
            <a:off x="7320136" y="1025416"/>
            <a:ext cx="2842770" cy="116543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2310"/>
              <a:gd name="adj6" fmla="val -8511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000" b="1" dirty="0"/>
              <a:t>浏览器地址栏输入：</a:t>
            </a:r>
            <a:r>
              <a:rPr lang="en-US" altLang="zh-CN" sz="2000" b="1" dirty="0">
                <a:hlinkClick r:id="rId3"/>
              </a:rPr>
              <a:t>http://10.12.13.30</a:t>
            </a:r>
            <a:r>
              <a:rPr lang="en-US" altLang="zh-CN" sz="2000" b="1" dirty="0"/>
              <a:t>:</a:t>
            </a:r>
            <a:r>
              <a:rPr lang="zh-CN" altLang="en-US" sz="2000" b="1" dirty="0"/>
              <a:t>端口</a:t>
            </a:r>
            <a:endParaRPr lang="en-US" altLang="zh-CN" sz="2000" b="1" dirty="0"/>
          </a:p>
          <a:p>
            <a:pPr algn="l"/>
            <a:r>
              <a:rPr lang="zh-CN" altLang="en-US" sz="2000" b="1" dirty="0">
                <a:solidFill>
                  <a:srgbClr val="0000FF"/>
                </a:solidFill>
              </a:rPr>
              <a:t>端口</a:t>
            </a:r>
            <a:r>
              <a:rPr lang="zh-CN" altLang="en-US" sz="2000" b="1" dirty="0"/>
              <a:t>：</a:t>
            </a:r>
            <a:r>
              <a:rPr lang="zh-CN" altLang="en-US" sz="2000" dirty="0"/>
              <a:t>具体见下页</a:t>
            </a:r>
            <a:endParaRPr lang="en-US" altLang="zh-CN" sz="20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D62560-F6CB-FB53-1B3B-E3D9C39F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40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FC26226F-3D04-425C-8C90-437D22304CFB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3431705" y="2420889"/>
          <a:ext cx="5049261" cy="26746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3635446890"/>
                    </a:ext>
                  </a:extLst>
                </a:gridCol>
                <a:gridCol w="2961029">
                  <a:extLst>
                    <a:ext uri="{9D8B030D-6E8A-4147-A177-3AD203B41FA5}">
                      <a16:colId xmlns:a16="http://schemas.microsoft.com/office/drawing/2014/main" val="2807018726"/>
                    </a:ext>
                  </a:extLst>
                </a:gridCol>
              </a:tblGrid>
              <a:tr h="360411">
                <a:tc>
                  <a:txBody>
                    <a:bodyPr/>
                    <a:lstStyle/>
                    <a:p>
                      <a:pPr indent="266700" algn="ctr"/>
                      <a:r>
                        <a:rPr lang="zh-CN" sz="1800" b="0" kern="100" dirty="0">
                          <a:solidFill>
                            <a:srgbClr val="0070C0"/>
                          </a:solidFill>
                          <a:effectLst/>
                        </a:rPr>
                        <a:t>课头</a:t>
                      </a:r>
                      <a:endParaRPr lang="zh-CN" sz="1800" b="0" kern="100" dirty="0">
                        <a:solidFill>
                          <a:srgbClr val="0070C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266700" algn="ctr" defTabSz="914400" rtl="0" eaLnBrk="1" latinLnBrk="0" hangingPunct="1"/>
                      <a:r>
                        <a:rPr lang="en-US" sz="1800" b="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$REQUESTD_PORT</a:t>
                      </a:r>
                      <a:endParaRPr lang="zh-CN" altLang="en-US" sz="1800" b="0" kern="1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85248674"/>
                  </a:ext>
                </a:extLst>
              </a:tr>
              <a:tr h="462856">
                <a:tc>
                  <a:txBody>
                    <a:bodyPr/>
                    <a:lstStyle/>
                    <a:p>
                      <a:pPr indent="266700" algn="just"/>
                      <a:r>
                        <a:rPr lang="en-US" sz="1800" b="0" kern="100" dirty="0">
                          <a:solidFill>
                            <a:srgbClr val="0070C0"/>
                          </a:solidFill>
                          <a:effectLst/>
                        </a:rPr>
                        <a:t>U10M21003.1</a:t>
                      </a:r>
                      <a:endParaRPr lang="zh-CN" sz="1800" b="0" kern="100" dirty="0">
                        <a:solidFill>
                          <a:srgbClr val="0070C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266700" algn="ctr" defTabSz="914400" rtl="0" eaLnBrk="1" latinLnBrk="0" hangingPunct="1"/>
                      <a:r>
                        <a:rPr lang="en-US" sz="1800" b="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8080</a:t>
                      </a:r>
                      <a:endParaRPr lang="zh-CN" altLang="en-US" sz="1800" b="0" kern="1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3971202"/>
                  </a:ext>
                </a:extLst>
              </a:tr>
              <a:tr h="462856">
                <a:tc>
                  <a:txBody>
                    <a:bodyPr/>
                    <a:lstStyle/>
                    <a:p>
                      <a:pPr indent="266700" algn="just"/>
                      <a:r>
                        <a:rPr lang="en-US" sz="1800" b="0" kern="100" dirty="0">
                          <a:solidFill>
                            <a:srgbClr val="0070C0"/>
                          </a:solidFill>
                          <a:effectLst/>
                        </a:rPr>
                        <a:t>U10M21003.2</a:t>
                      </a:r>
                      <a:endParaRPr lang="zh-CN" sz="1800" b="0" kern="100" dirty="0">
                        <a:solidFill>
                          <a:srgbClr val="0070C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266700" algn="ctr" defTabSz="914400" rtl="0" eaLnBrk="1" latinLnBrk="0" hangingPunct="1"/>
                      <a:r>
                        <a:rPr lang="en-US" sz="1800" b="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8082</a:t>
                      </a:r>
                      <a:endParaRPr lang="zh-CN" altLang="en-US" sz="1800" b="0" kern="1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9862319"/>
                  </a:ext>
                </a:extLst>
              </a:tr>
              <a:tr h="462856">
                <a:tc>
                  <a:txBody>
                    <a:bodyPr/>
                    <a:lstStyle/>
                    <a:p>
                      <a:pPr marL="0" indent="266700" algn="just" defTabSz="914400" rtl="0" eaLnBrk="1" latinLnBrk="0" hangingPunct="1"/>
                      <a:r>
                        <a:rPr lang="en-US" sz="1800" b="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U10M21003.3</a:t>
                      </a:r>
                      <a:endParaRPr lang="zh-CN" altLang="en-US" sz="1800" b="0" kern="1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266700" algn="ctr" defTabSz="914400" rtl="0" eaLnBrk="1" latinLnBrk="0" hangingPunct="1"/>
                      <a:r>
                        <a:rPr lang="en-US" sz="1800" b="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8084</a:t>
                      </a:r>
                      <a:endParaRPr lang="zh-CN" altLang="en-US" sz="1800" b="0" kern="1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81802605"/>
                  </a:ext>
                </a:extLst>
              </a:tr>
              <a:tr h="462856">
                <a:tc>
                  <a:txBody>
                    <a:bodyPr/>
                    <a:lstStyle/>
                    <a:p>
                      <a:pPr marL="0" indent="266700" algn="just" defTabSz="914400" rtl="0" eaLnBrk="1" latinLnBrk="0" hangingPunct="1"/>
                      <a:r>
                        <a:rPr lang="en-US" sz="1800" b="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U10M21003.4</a:t>
                      </a:r>
                      <a:endParaRPr lang="zh-CN" altLang="en-US" sz="1800" b="0" kern="1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266700" algn="ctr" defTabSz="914400" rtl="0" eaLnBrk="1" latinLnBrk="0" hangingPunct="1"/>
                      <a:r>
                        <a:rPr lang="en-US" sz="1800" b="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8086</a:t>
                      </a:r>
                      <a:endParaRPr lang="zh-CN" altLang="en-US" sz="1800" b="0" kern="1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960314"/>
                  </a:ext>
                </a:extLst>
              </a:tr>
              <a:tr h="462856">
                <a:tc>
                  <a:txBody>
                    <a:bodyPr/>
                    <a:lstStyle/>
                    <a:p>
                      <a:pPr marL="0" indent="266700" algn="just" defTabSz="914400" rtl="0" eaLnBrk="1" latinLnBrk="0" hangingPunct="1"/>
                      <a:r>
                        <a:rPr lang="en-US" sz="1800" b="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U10M21003.5</a:t>
                      </a:r>
                      <a:endParaRPr lang="zh-CN" altLang="en-US" sz="1800" b="0" kern="1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266700" algn="ctr" defTabSz="914400" rtl="0" eaLnBrk="1" latinLnBrk="0" hangingPunct="1"/>
                      <a:r>
                        <a:rPr lang="en-US" sz="1800" b="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8088</a:t>
                      </a:r>
                      <a:endParaRPr lang="zh-CN" altLang="en-US" sz="1800" b="0" kern="1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59312396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5A4DB78D-6FBD-49B1-A322-F9D01CCB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1002440"/>
          </a:xfrm>
        </p:spPr>
        <p:txBody>
          <a:bodyPr/>
          <a:lstStyle/>
          <a:p>
            <a:r>
              <a:rPr lang="zh-CN" altLang="en-US" dirty="0"/>
              <a:t>各课头访问</a:t>
            </a:r>
            <a:r>
              <a:rPr lang="en-US" altLang="zh-CN" dirty="0"/>
              <a:t>scoreboard</a:t>
            </a:r>
            <a:r>
              <a:rPr lang="zh-CN" altLang="en-US" dirty="0"/>
              <a:t>的端口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C8059F-1113-FD96-B5B4-A84B3461A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00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4477086C-663F-BEED-04B5-C8899BA5B9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368"/>
          <a:stretch>
            <a:fillRect/>
          </a:stretch>
        </p:blipFill>
        <p:spPr>
          <a:xfrm>
            <a:off x="1631505" y="1634058"/>
            <a:ext cx="4961303" cy="399779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981200" y="150873"/>
            <a:ext cx="8229600" cy="970368"/>
          </a:xfrm>
        </p:spPr>
        <p:txBody>
          <a:bodyPr>
            <a:normAutofit/>
          </a:bodyPr>
          <a:lstStyle/>
          <a:p>
            <a:r>
              <a:rPr lang="zh-CN" altLang="en-US" dirty="0"/>
              <a:t>原始分数计算方法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938AA6-6B82-42BB-AF64-11F7409ADD36}"/>
              </a:ext>
            </a:extLst>
          </p:cNvPr>
          <p:cNvSpPr txBox="1"/>
          <p:nvPr/>
        </p:nvSpPr>
        <p:spPr>
          <a:xfrm>
            <a:off x="6528048" y="2613392"/>
            <a:ext cx="42484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 dirty="0">
                <a:solidFill>
                  <a:srgbClr val="00B050"/>
                </a:solidFill>
                <a:latin typeface="+mn-ea"/>
              </a:rPr>
              <a:t>Score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CorrectnessPoints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+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PerfPoints</a:t>
            </a:r>
            <a:endParaRPr lang="en-US" altLang="zh-CN" sz="2000" b="1" dirty="0">
              <a:solidFill>
                <a:srgbClr val="0000FF"/>
              </a:solidFill>
              <a:latin typeface="+mn-ea"/>
            </a:endParaRPr>
          </a:p>
          <a:p>
            <a:pPr algn="l"/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CorrectnessPoints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表示函数是否满足语法要求，且结果正确，得分为函数的难度等级。</a:t>
            </a:r>
            <a:endParaRPr lang="en-US" altLang="zh-CN" sz="2000" dirty="0">
              <a:solidFill>
                <a:srgbClr val="0000FF"/>
              </a:solidFill>
              <a:latin typeface="+mn-ea"/>
            </a:endParaRPr>
          </a:p>
          <a:p>
            <a:pPr algn="l"/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PerfPoints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表示函数使用的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操作符数是否超过限制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，统一每个函数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2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分。</a:t>
            </a:r>
            <a:endParaRPr lang="en-US" altLang="zh-CN" sz="2000" dirty="0">
              <a:solidFill>
                <a:srgbClr val="0000FF"/>
              </a:solidFill>
              <a:latin typeface="+mn-ea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D5D3BA8-BAB6-4E10-87AC-5835A18740E5}"/>
              </a:ext>
            </a:extLst>
          </p:cNvPr>
          <p:cNvGrpSpPr/>
          <p:nvPr/>
        </p:nvGrpSpPr>
        <p:grpSpPr>
          <a:xfrm>
            <a:off x="2639617" y="5426064"/>
            <a:ext cx="1853387" cy="676802"/>
            <a:chOff x="1259632" y="4668337"/>
            <a:chExt cx="1853387" cy="676802"/>
          </a:xfrm>
        </p:grpSpPr>
        <p:sp>
          <p:nvSpPr>
            <p:cNvPr id="5" name="矩形 4"/>
            <p:cNvSpPr/>
            <p:nvPr/>
          </p:nvSpPr>
          <p:spPr>
            <a:xfrm>
              <a:off x="1259632" y="4668337"/>
              <a:ext cx="252028" cy="2057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线形标注 2 5"/>
            <p:cNvSpPr/>
            <p:nvPr/>
          </p:nvSpPr>
          <p:spPr>
            <a:xfrm>
              <a:off x="1951193" y="4945930"/>
              <a:ext cx="1161826" cy="399209"/>
            </a:xfrm>
            <a:prstGeom prst="borderCallout2">
              <a:avLst>
                <a:gd name="adj1" fmla="val 42093"/>
                <a:gd name="adj2" fmla="val -1256"/>
                <a:gd name="adj3" fmla="val 25286"/>
                <a:gd name="adj4" fmla="val -18240"/>
                <a:gd name="adj5" fmla="val -26502"/>
                <a:gd name="adj6" fmla="val -41749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FF0000"/>
                  </a:solidFill>
                </a:rPr>
                <a:t>满分</a:t>
              </a:r>
              <a:r>
                <a:rPr lang="en-US" altLang="zh-CN" dirty="0">
                  <a:solidFill>
                    <a:srgbClr val="FF0000"/>
                  </a:solidFill>
                </a:rPr>
                <a:t>79</a:t>
              </a:r>
              <a:r>
                <a:rPr lang="zh-CN" altLang="en-US" dirty="0">
                  <a:solidFill>
                    <a:srgbClr val="FF0000"/>
                  </a:solidFill>
                </a:rPr>
                <a:t>分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89943D4-6519-95FE-696E-0CAB26CB9FDF}"/>
              </a:ext>
            </a:extLst>
          </p:cNvPr>
          <p:cNvGrpSpPr/>
          <p:nvPr/>
        </p:nvGrpSpPr>
        <p:grpSpPr>
          <a:xfrm>
            <a:off x="1847528" y="5385399"/>
            <a:ext cx="1161826" cy="900031"/>
            <a:chOff x="431540" y="4634170"/>
            <a:chExt cx="1161826" cy="900031"/>
          </a:xfrm>
        </p:grpSpPr>
        <p:sp>
          <p:nvSpPr>
            <p:cNvPr id="9" name="矩形 8"/>
            <p:cNvSpPr/>
            <p:nvPr/>
          </p:nvSpPr>
          <p:spPr>
            <a:xfrm>
              <a:off x="935596" y="4634170"/>
              <a:ext cx="252028" cy="227608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线形标注 2 9"/>
            <p:cNvSpPr/>
            <p:nvPr/>
          </p:nvSpPr>
          <p:spPr>
            <a:xfrm>
              <a:off x="431540" y="5169075"/>
              <a:ext cx="1161826" cy="365126"/>
            </a:xfrm>
            <a:prstGeom prst="borderCallout2">
              <a:avLst>
                <a:gd name="adj1" fmla="val -3663"/>
                <a:gd name="adj2" fmla="val 51266"/>
                <a:gd name="adj3" fmla="val -38346"/>
                <a:gd name="adj4" fmla="val 56131"/>
                <a:gd name="adj5" fmla="val -89794"/>
                <a:gd name="adj6" fmla="val 54717"/>
              </a:avLst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00B050"/>
                  </a:solidFill>
                </a:rPr>
                <a:t>得分</a:t>
              </a:r>
              <a:r>
                <a:rPr lang="en-US" altLang="zh-CN" dirty="0">
                  <a:solidFill>
                    <a:srgbClr val="00B050"/>
                  </a:solidFill>
                </a:rPr>
                <a:t>72</a:t>
              </a:r>
              <a:r>
                <a:rPr lang="zh-CN" altLang="en-US" dirty="0">
                  <a:solidFill>
                    <a:srgbClr val="00B050"/>
                  </a:solidFill>
                </a:rPr>
                <a:t>分</a:t>
              </a:r>
            </a:p>
          </p:txBody>
        </p:sp>
      </p:grp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E1568B77-1446-0FF0-48FC-9A1B443E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72200" y="6309055"/>
            <a:ext cx="1161826" cy="365125"/>
          </a:xfrm>
        </p:spPr>
        <p:txBody>
          <a:bodyPr/>
          <a:lstStyle/>
          <a:p>
            <a:fld id="{687D7A59-36E2-48B9-B146-C1E59501F63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D76F06E-CC02-9DC7-7E38-C4E3ECA5C36A}"/>
              </a:ext>
            </a:extLst>
          </p:cNvPr>
          <p:cNvSpPr/>
          <p:nvPr/>
        </p:nvSpPr>
        <p:spPr>
          <a:xfrm>
            <a:off x="1559497" y="4087308"/>
            <a:ext cx="5033311" cy="20578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D27F984-95B6-BAA2-7911-EE7AE3B428B0}"/>
              </a:ext>
            </a:extLst>
          </p:cNvPr>
          <p:cNvSpPr/>
          <p:nvPr/>
        </p:nvSpPr>
        <p:spPr>
          <a:xfrm>
            <a:off x="1559497" y="4458932"/>
            <a:ext cx="5033311" cy="20578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00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7BAFC96-6BA4-10E5-06DE-5A9C09F29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1834" y="1988841"/>
            <a:ext cx="7408333" cy="4202457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+mn-ea"/>
              </a:rPr>
              <a:t>满分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10</a:t>
            </a:r>
            <a:r>
              <a:rPr lang="zh-CN" altLang="en-US" b="1" dirty="0">
                <a:solidFill>
                  <a:srgbClr val="0000FF"/>
                </a:solidFill>
                <a:latin typeface="+mn-ea"/>
              </a:rPr>
              <a:t>分（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score</a:t>
            </a:r>
            <a:r>
              <a:rPr lang="en-US" altLang="zh-CN" b="1" baseline="-25000" dirty="0">
                <a:solidFill>
                  <a:srgbClr val="0000FF"/>
                </a:solidFill>
                <a:latin typeface="+mn-ea"/>
              </a:rPr>
              <a:t>full</a:t>
            </a:r>
            <a:r>
              <a:rPr lang="zh-CN" altLang="en-US" b="1" dirty="0">
                <a:solidFill>
                  <a:srgbClr val="0000FF"/>
                </a:solidFill>
                <a:latin typeface="+mn-ea"/>
              </a:rPr>
              <a:t>）</a:t>
            </a:r>
            <a:endParaRPr lang="en-US" altLang="zh-CN" b="1" dirty="0">
              <a:solidFill>
                <a:srgbClr val="0000FF"/>
              </a:solidFill>
              <a:latin typeface="+mn-ea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+mn-ea"/>
              </a:rPr>
              <a:t>原始得分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score</a:t>
            </a:r>
            <a:r>
              <a:rPr lang="en-US" altLang="zh-CN" b="1" baseline="-25000" dirty="0">
                <a:solidFill>
                  <a:srgbClr val="0000FF"/>
                </a:solidFill>
                <a:latin typeface="+mn-ea"/>
              </a:rPr>
              <a:t>raw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  </a:t>
            </a:r>
          </a:p>
          <a:p>
            <a:r>
              <a:rPr lang="zh-CN" altLang="en-US" b="1" dirty="0">
                <a:solidFill>
                  <a:srgbClr val="0000FF"/>
                </a:solidFill>
                <a:latin typeface="+mn-ea"/>
              </a:rPr>
              <a:t>原始分满分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79</a:t>
            </a:r>
            <a:r>
              <a:rPr lang="zh-CN" altLang="en-US" b="1" dirty="0">
                <a:solidFill>
                  <a:srgbClr val="0000FF"/>
                </a:solidFill>
                <a:latin typeface="+mn-ea"/>
              </a:rPr>
              <a:t>分（ 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score</a:t>
            </a:r>
            <a:r>
              <a:rPr lang="en-US" altLang="zh-CN" b="1" baseline="-25000" dirty="0">
                <a:solidFill>
                  <a:srgbClr val="0000FF"/>
                </a:solidFill>
                <a:latin typeface="+mn-ea"/>
              </a:rPr>
              <a:t>raw_f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+mn-ea"/>
              </a:rPr>
              <a:t>）</a:t>
            </a:r>
            <a:endParaRPr lang="en-US" altLang="zh-CN" b="1" dirty="0">
              <a:solidFill>
                <a:srgbClr val="0000FF"/>
              </a:solidFill>
              <a:latin typeface="+mn-ea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</a:rPr>
              <a:t>Score</a:t>
            </a:r>
            <a:r>
              <a:rPr lang="en-US" altLang="zh-CN" b="1" baseline="-25000" dirty="0">
                <a:solidFill>
                  <a:srgbClr val="0000FF"/>
                </a:solidFill>
                <a:latin typeface="+mn-ea"/>
              </a:rPr>
              <a:t>lab1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= </a:t>
            </a:r>
            <a:r>
              <a:rPr lang="zh-CN" altLang="en-US" b="1" dirty="0">
                <a:solidFill>
                  <a:srgbClr val="0000FF"/>
                </a:solidFill>
                <a:latin typeface="+mn-ea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score</a:t>
            </a:r>
            <a:r>
              <a:rPr lang="en-US" altLang="zh-CN" b="1" baseline="-25000" dirty="0">
                <a:solidFill>
                  <a:srgbClr val="0000FF"/>
                </a:solidFill>
                <a:latin typeface="+mn-ea"/>
              </a:rPr>
              <a:t>full 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×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 score</a:t>
            </a:r>
            <a:r>
              <a:rPr lang="en-US" altLang="zh-CN" b="1" baseline="-25000" dirty="0">
                <a:solidFill>
                  <a:srgbClr val="0000FF"/>
                </a:solidFill>
                <a:latin typeface="+mn-ea"/>
              </a:rPr>
              <a:t>raw</a:t>
            </a:r>
            <a:r>
              <a:rPr lang="zh-CN" altLang="en-US" b="1" dirty="0">
                <a:solidFill>
                  <a:srgbClr val="0000FF"/>
                </a:solidFill>
                <a:latin typeface="+mn-ea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 ÷</a:t>
            </a:r>
            <a:r>
              <a:rPr lang="zh-CN" altLang="en-US" b="1" dirty="0">
                <a:solidFill>
                  <a:srgbClr val="0000FF"/>
                </a:solidFill>
                <a:latin typeface="+mn-ea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score</a:t>
            </a:r>
            <a:r>
              <a:rPr lang="en-US" altLang="zh-CN" b="1" baseline="-25000" dirty="0">
                <a:solidFill>
                  <a:srgbClr val="0000FF"/>
                </a:solidFill>
                <a:latin typeface="+mn-ea"/>
              </a:rPr>
              <a:t>raw_f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 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                 =  </a:t>
            </a:r>
            <a:r>
              <a:rPr lang="zh-CN" altLang="en-US" b="1" dirty="0">
                <a:solidFill>
                  <a:srgbClr val="0000FF"/>
                </a:solidFill>
                <a:latin typeface="+mn-ea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10</a:t>
            </a:r>
            <a:r>
              <a:rPr lang="en-US" altLang="zh-CN" b="1" baseline="-2500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× score</a:t>
            </a:r>
            <a:r>
              <a:rPr lang="en-US" altLang="zh-CN" b="1" baseline="-25000" dirty="0">
                <a:solidFill>
                  <a:srgbClr val="0000FF"/>
                </a:solidFill>
                <a:latin typeface="+mn-ea"/>
              </a:rPr>
              <a:t>raw</a:t>
            </a:r>
            <a:r>
              <a:rPr lang="zh-CN" altLang="en-US" b="1" dirty="0">
                <a:solidFill>
                  <a:srgbClr val="0000FF"/>
                </a:solidFill>
                <a:latin typeface="+mn-ea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 ÷</a:t>
            </a:r>
            <a:r>
              <a:rPr lang="zh-CN" altLang="en-US" b="1" dirty="0">
                <a:solidFill>
                  <a:srgbClr val="0000FF"/>
                </a:solidFill>
                <a:latin typeface="+mn-ea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79 </a:t>
            </a:r>
          </a:p>
          <a:p>
            <a:pPr marL="0" indent="0">
              <a:buNone/>
            </a:pPr>
            <a:endParaRPr lang="en-US" altLang="zh-CN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B631727-3ABE-AEAB-62CD-D6DFC5D6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分数计算方法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D4F085-3B70-6549-CEAA-4384F49B5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82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B5212-9EAF-7296-C332-E23EE19FB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B57245-81F7-0A84-8C3B-B62EFD9B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举例：</a:t>
            </a:r>
            <a:r>
              <a:rPr lang="en-US" altLang="zh-CN" dirty="0" err="1"/>
              <a:t>bitOr</a:t>
            </a:r>
            <a:r>
              <a:rPr lang="zh-CN" altLang="en-US" dirty="0"/>
              <a:t>函数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14E4C8-009F-937B-DBE1-54375EFBD7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4" b="3996"/>
          <a:stretch>
            <a:fillRect/>
          </a:stretch>
        </p:blipFill>
        <p:spPr>
          <a:xfrm>
            <a:off x="2841136" y="2499448"/>
            <a:ext cx="6509729" cy="2808312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52E009-AA71-0CCF-24B7-675C46E73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15087" y="6179610"/>
            <a:ext cx="1161826" cy="365125"/>
          </a:xfrm>
        </p:spPr>
        <p:txBody>
          <a:bodyPr/>
          <a:lstStyle/>
          <a:p>
            <a:fld id="{687D7A59-36E2-48B9-B146-C1E59501F63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551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CBAB6-5246-1E9E-1EF2-16202B727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0DC71B8-E044-DA87-0F3C-14CADAF9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按要求实现函数，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修改完记得保存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1BF7E2-9BC1-7676-8294-39FDC85B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15087" y="6179610"/>
            <a:ext cx="1161826" cy="365125"/>
          </a:xfrm>
        </p:spPr>
        <p:txBody>
          <a:bodyPr/>
          <a:lstStyle/>
          <a:p>
            <a:fld id="{687D7A59-36E2-48B9-B146-C1E59501F63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C9CDCB0-660A-4D05-F2F5-BA897C2D0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777" y="1591056"/>
            <a:ext cx="4806620" cy="119586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2F810A1-AB11-9151-1D7F-AC13D3D0A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384" y="4005064"/>
            <a:ext cx="8316416" cy="1884756"/>
          </a:xfrm>
          <a:prstGeom prst="rect">
            <a:avLst/>
          </a:prstGeom>
        </p:spPr>
      </p:pic>
      <p:sp>
        <p:nvSpPr>
          <p:cNvPr id="2" name="标题 2">
            <a:extLst>
              <a:ext uri="{FF2B5EF4-FFF2-40B4-BE49-F238E27FC236}">
                <a16:creationId xmlns:a16="http://schemas.microsoft.com/office/drawing/2014/main" id="{9D201101-5D04-DABE-246B-50340FC1158D}"/>
              </a:ext>
            </a:extLst>
          </p:cNvPr>
          <p:cNvSpPr txBox="1">
            <a:spLocks/>
          </p:cNvSpPr>
          <p:nvPr/>
        </p:nvSpPr>
        <p:spPr>
          <a:xfrm>
            <a:off x="1981200" y="3212976"/>
            <a:ext cx="8229600" cy="6952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运行</a:t>
            </a:r>
            <a:r>
              <a:rPr lang="en-US" altLang="zh-CN" sz="2800" b="1" dirty="0" err="1">
                <a:solidFill>
                  <a:srgbClr val="0000FF"/>
                </a:solidFill>
                <a:latin typeface="+mn-ea"/>
                <a:ea typeface="+mn-ea"/>
                <a:cs typeface="+mn-cs"/>
              </a:rPr>
              <a:t>dlc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，检查</a:t>
            </a:r>
            <a:r>
              <a:rPr lang="en-US" altLang="zh-CN" sz="2800" b="1" dirty="0" err="1">
                <a:solidFill>
                  <a:srgbClr val="0000FF"/>
                </a:solidFill>
                <a:latin typeface="+mn-ea"/>
                <a:ea typeface="+mn-ea"/>
                <a:cs typeface="+mn-cs"/>
              </a:rPr>
              <a:t>bits.c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是否符合要求。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（</a:t>
            </a:r>
            <a:r>
              <a:rPr lang="en-US" altLang="zh-CN" sz="2800" b="1" dirty="0" err="1">
                <a:solidFill>
                  <a:srgbClr val="0000FF"/>
                </a:solidFill>
                <a:latin typeface="+mn-ea"/>
              </a:rPr>
              <a:t>dlc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没有通过）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5688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049B8-AEB3-8C31-C966-15AE6F6F6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A7BE1D58-44C1-12D4-1540-B29627D5B7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42" t="11272"/>
          <a:stretch/>
        </p:blipFill>
        <p:spPr>
          <a:xfrm>
            <a:off x="2157341" y="2444913"/>
            <a:ext cx="5659691" cy="1152128"/>
          </a:xfrm>
          <a:prstGeom prst="rect">
            <a:avLst/>
          </a:prstGeom>
        </p:spPr>
      </p:pic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272AA82-1EF6-4C26-8866-E0316B626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561" y="1249888"/>
            <a:ext cx="7196745" cy="1252728"/>
          </a:xfrm>
        </p:spPr>
        <p:txBody>
          <a:bodyPr/>
          <a:lstStyle/>
          <a:p>
            <a:r>
              <a:rPr lang="zh-CN" altLang="en-US" dirty="0"/>
              <a:t>德</a:t>
            </a:r>
            <a:r>
              <a:rPr lang="en-US" altLang="zh-CN" dirty="0"/>
              <a:t>.</a:t>
            </a:r>
            <a:r>
              <a:rPr lang="zh-CN" altLang="en-US" dirty="0"/>
              <a:t>摩根定律：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~( x | y) = (~x) &amp; (~y)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B565C78-2429-B9DC-ECFF-6B9599172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893948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>
                <a:solidFill>
                  <a:srgbClr val="0000FF"/>
                </a:solidFill>
                <a:latin typeface="+mn-ea"/>
              </a:rPr>
              <a:t>3.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重新修改函数，保存，运行</a:t>
            </a:r>
            <a:r>
              <a:rPr lang="en-US" altLang="zh-CN" sz="2800" b="1" dirty="0" err="1">
                <a:solidFill>
                  <a:srgbClr val="0000FF"/>
                </a:solidFill>
                <a:latin typeface="+mn-ea"/>
                <a:ea typeface="+mn-ea"/>
                <a:cs typeface="+mn-cs"/>
              </a:rPr>
              <a:t>dlc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。（</a:t>
            </a:r>
            <a:r>
              <a:rPr lang="en-US" altLang="zh-CN" sz="2800" b="1" dirty="0" err="1">
                <a:solidFill>
                  <a:srgbClr val="0000FF"/>
                </a:solidFill>
                <a:latin typeface="+mn-ea"/>
                <a:ea typeface="+mn-ea"/>
                <a:cs typeface="+mn-cs"/>
              </a:rPr>
              <a:t>dlc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通过）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BBBCA2-50AE-789D-EBCA-A72966814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15087" y="6179610"/>
            <a:ext cx="1161826" cy="365125"/>
          </a:xfrm>
        </p:spPr>
        <p:txBody>
          <a:bodyPr/>
          <a:lstStyle/>
          <a:p>
            <a:fld id="{687D7A59-36E2-48B9-B146-C1E59501F63F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231A69D-8641-90A0-ED80-1ED74A6EF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3953710"/>
            <a:ext cx="8567936" cy="167671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C9595CD-A174-44E7-9E7D-2D98D12472D9}"/>
              </a:ext>
            </a:extLst>
          </p:cNvPr>
          <p:cNvSpPr/>
          <p:nvPr/>
        </p:nvSpPr>
        <p:spPr>
          <a:xfrm>
            <a:off x="1919536" y="4222950"/>
            <a:ext cx="8496944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F0B91FCA-9ACD-0AC0-67CB-895E0269DE03}"/>
              </a:ext>
            </a:extLst>
          </p:cNvPr>
          <p:cNvSpPr/>
          <p:nvPr/>
        </p:nvSpPr>
        <p:spPr>
          <a:xfrm>
            <a:off x="8904312" y="2638774"/>
            <a:ext cx="1224136" cy="864096"/>
          </a:xfrm>
          <a:prstGeom prst="wedgeRoundRectCallout">
            <a:avLst>
              <a:gd name="adj1" fmla="val -59040"/>
              <a:gd name="adj2" fmla="val 141562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忽略这个警告</a:t>
            </a:r>
          </a:p>
        </p:txBody>
      </p:sp>
    </p:spTree>
    <p:extLst>
      <p:ext uri="{BB962C8B-B14F-4D97-AF65-F5344CB8AC3E}">
        <p14:creationId xmlns:p14="http://schemas.microsoft.com/office/powerpoint/2010/main" val="2207676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930432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>
                <a:solidFill>
                  <a:srgbClr val="0000FF"/>
                </a:solidFill>
                <a:latin typeface="+mn-ea"/>
              </a:rPr>
              <a:t>4.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编译（通过）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36C097-F697-0242-D760-76D5D1708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15087" y="6179610"/>
            <a:ext cx="1161826" cy="365125"/>
          </a:xfrm>
        </p:spPr>
        <p:txBody>
          <a:bodyPr/>
          <a:lstStyle/>
          <a:p>
            <a:fld id="{687D7A59-36E2-48B9-B146-C1E59501F63F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04F69FE-BAED-E53B-2E9C-C3C83696C9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908"/>
          <a:stretch>
            <a:fillRect/>
          </a:stretch>
        </p:blipFill>
        <p:spPr>
          <a:xfrm>
            <a:off x="1872240" y="1412776"/>
            <a:ext cx="8254311" cy="619068"/>
          </a:xfrm>
          <a:prstGeom prst="rect">
            <a:avLst/>
          </a:prstGeom>
        </p:spPr>
      </p:pic>
      <p:sp>
        <p:nvSpPr>
          <p:cNvPr id="18" name="标题 2">
            <a:extLst>
              <a:ext uri="{FF2B5EF4-FFF2-40B4-BE49-F238E27FC236}">
                <a16:creationId xmlns:a16="http://schemas.microsoft.com/office/drawing/2014/main" id="{858A3331-0E76-A808-56E0-6A812466957E}"/>
              </a:ext>
            </a:extLst>
          </p:cNvPr>
          <p:cNvSpPr txBox="1">
            <a:spLocks/>
          </p:cNvSpPr>
          <p:nvPr/>
        </p:nvSpPr>
        <p:spPr>
          <a:xfrm>
            <a:off x="1896950" y="2204864"/>
            <a:ext cx="8229600" cy="9304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altLang="zh-CN" sz="2800" b="1" dirty="0">
                <a:solidFill>
                  <a:srgbClr val="0000FF"/>
                </a:solidFill>
                <a:latin typeface="+mn-ea"/>
              </a:rPr>
              <a:t>5.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运行（没有通过，给出错误示例）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648044A-1B45-32D9-8D4E-E35AA80EF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438" y="4131047"/>
            <a:ext cx="8639944" cy="109208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E846390-53A4-8CDB-2548-1AF4687E30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10"/>
          <a:stretch>
            <a:fillRect/>
          </a:stretch>
        </p:blipFill>
        <p:spPr>
          <a:xfrm>
            <a:off x="1881261" y="2969424"/>
            <a:ext cx="4534112" cy="1144992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76DF12BF-CA31-DF12-42EC-F41D93911A47}"/>
              </a:ext>
            </a:extLst>
          </p:cNvPr>
          <p:cNvSpPr/>
          <p:nvPr/>
        </p:nvSpPr>
        <p:spPr>
          <a:xfrm>
            <a:off x="1579438" y="4564498"/>
            <a:ext cx="8639944" cy="4708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959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ECCAD9A-9E5D-5AA0-1FB5-87DCD996E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85" y="2429290"/>
            <a:ext cx="7408333" cy="6259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7.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在线提交评测（提交失败，学号或密码错误）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9096933-2366-6D8F-2B1D-5ABA51EE0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标题 2">
            <a:extLst>
              <a:ext uri="{FF2B5EF4-FFF2-40B4-BE49-F238E27FC236}">
                <a16:creationId xmlns:a16="http://schemas.microsoft.com/office/drawing/2014/main" id="{72FB4E16-9A05-DF49-E52F-E07080164B38}"/>
              </a:ext>
            </a:extLst>
          </p:cNvPr>
          <p:cNvSpPr txBox="1">
            <a:spLocks/>
          </p:cNvSpPr>
          <p:nvPr/>
        </p:nvSpPr>
        <p:spPr>
          <a:xfrm>
            <a:off x="1847528" y="242712"/>
            <a:ext cx="8229600" cy="9304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altLang="zh-CN" sz="2800" b="1" dirty="0">
                <a:solidFill>
                  <a:srgbClr val="0000FF"/>
                </a:solidFill>
                <a:latin typeface="+mn-ea"/>
              </a:rPr>
              <a:t>6.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重新修改函数，保存，编译，运行（通过）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A2D4602-D2EA-C9A9-170F-0234D95B1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0" y="1124744"/>
            <a:ext cx="8280400" cy="1037004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6B0DE1D3-CDB7-3424-FBD8-E26743FD0D55}"/>
              </a:ext>
            </a:extLst>
          </p:cNvPr>
          <p:cNvGrpSpPr/>
          <p:nvPr/>
        </p:nvGrpSpPr>
        <p:grpSpPr>
          <a:xfrm>
            <a:off x="1558736" y="3322929"/>
            <a:ext cx="9144000" cy="2600283"/>
            <a:chOff x="34736" y="3322928"/>
            <a:chExt cx="9144000" cy="2600283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DE1F72A-50C3-514D-4D25-FFA9F34B5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36" y="3322928"/>
              <a:ext cx="9144000" cy="43628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0578B432-A05B-D2AB-2DDC-086E458F6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736" y="3759213"/>
              <a:ext cx="9144000" cy="2163998"/>
            </a:xfrm>
            <a:prstGeom prst="rect">
              <a:avLst/>
            </a:prstGeom>
          </p:spPr>
        </p:pic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105FC478-D976-5C89-2DAC-CDC2FC8E110B}"/>
              </a:ext>
            </a:extLst>
          </p:cNvPr>
          <p:cNvSpPr txBox="1"/>
          <p:nvPr/>
        </p:nvSpPr>
        <p:spPr>
          <a:xfrm rot="16200000">
            <a:off x="4723033" y="3619453"/>
            <a:ext cx="20162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solidFill>
                  <a:srgbClr val="FFFFFF"/>
                </a:solidFill>
              </a:rPr>
              <a:t>……</a:t>
            </a:r>
            <a:endParaRPr lang="zh-CN" altLang="en-US" sz="1100" dirty="0">
              <a:solidFill>
                <a:srgbClr val="FFFFFF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69EE0B-55F7-492B-A6B1-FB84CBD35481}"/>
              </a:ext>
            </a:extLst>
          </p:cNvPr>
          <p:cNvSpPr/>
          <p:nvPr/>
        </p:nvSpPr>
        <p:spPr>
          <a:xfrm>
            <a:off x="1558736" y="5661248"/>
            <a:ext cx="4681280" cy="258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685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BEBEA81-24BE-14E3-37A4-EA4240874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528" y="3522167"/>
            <a:ext cx="8100888" cy="4828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8.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查看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scoreboard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j-ea"/>
              <a:cs typeface="+mj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EE772FE-F094-0455-F059-67C16C501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内容占位符 1">
            <a:extLst>
              <a:ext uri="{FF2B5EF4-FFF2-40B4-BE49-F238E27FC236}">
                <a16:creationId xmlns:a16="http://schemas.microsoft.com/office/drawing/2014/main" id="{B5586666-F49F-5F5D-2F8C-7223AE67E95E}"/>
              </a:ext>
            </a:extLst>
          </p:cNvPr>
          <p:cNvSpPr txBox="1">
            <a:spLocks/>
          </p:cNvSpPr>
          <p:nvPr/>
        </p:nvSpPr>
        <p:spPr>
          <a:xfrm>
            <a:off x="1775521" y="332657"/>
            <a:ext cx="7408333" cy="625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7.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在线提交评测（提交成功）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66FE57F-954C-936D-5C87-14223484A77C}"/>
              </a:ext>
            </a:extLst>
          </p:cNvPr>
          <p:cNvGrpSpPr/>
          <p:nvPr/>
        </p:nvGrpSpPr>
        <p:grpSpPr>
          <a:xfrm>
            <a:off x="1631504" y="1124744"/>
            <a:ext cx="9144000" cy="2229044"/>
            <a:chOff x="107504" y="1124744"/>
            <a:chExt cx="9144000" cy="2229044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03C8CE1-CD49-28F4-679F-CE363290F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4" y="1124744"/>
              <a:ext cx="9144000" cy="23885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A0FD3960-1A0E-C94C-4D77-C3EA8C553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04" y="1363597"/>
              <a:ext cx="9144000" cy="1990191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6D970E2C-5AA4-4286-C3A1-978B4349619A}"/>
              </a:ext>
            </a:extLst>
          </p:cNvPr>
          <p:cNvSpPr txBox="1"/>
          <p:nvPr/>
        </p:nvSpPr>
        <p:spPr>
          <a:xfrm>
            <a:off x="5303912" y="122174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FFFF"/>
                </a:solidFill>
              </a:rPr>
              <a:t>……</a:t>
            </a: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2B4016-2F0E-157D-3E9E-52944F8F3FF7}"/>
              </a:ext>
            </a:extLst>
          </p:cNvPr>
          <p:cNvSpPr/>
          <p:nvPr/>
        </p:nvSpPr>
        <p:spPr>
          <a:xfrm>
            <a:off x="1631504" y="3068960"/>
            <a:ext cx="7704856" cy="2848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257D399-6B7C-2DDE-C2EB-B8EE54D6F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854" y="4149081"/>
            <a:ext cx="9144000" cy="120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591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75520" y="1268760"/>
            <a:ext cx="8496944" cy="547260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1. </a:t>
            </a:r>
            <a:r>
              <a:rPr lang="zh-CN" altLang="en-US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把想观察的中间值赋值给变量</a:t>
            </a:r>
            <a:endParaRPr lang="en-US" altLang="zh-CN" sz="3800" b="1" dirty="0">
              <a:solidFill>
                <a:srgbClr val="0000FF"/>
              </a:solidFill>
              <a:latin typeface="+mn-ea"/>
              <a:ea typeface="+mj-ea"/>
              <a:cs typeface="+mj-cs"/>
            </a:endParaRPr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2. </a:t>
            </a:r>
            <a:r>
              <a:rPr lang="zh-CN" altLang="en-US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新建</a:t>
            </a:r>
            <a:r>
              <a:rPr lang="en-US" altLang="zh-CN" sz="3800" b="1" dirty="0" err="1">
                <a:solidFill>
                  <a:srgbClr val="0000FF"/>
                </a:solidFill>
                <a:latin typeface="+mn-ea"/>
                <a:ea typeface="+mj-ea"/>
                <a:cs typeface="+mj-cs"/>
              </a:rPr>
              <a:t>main.c</a:t>
            </a:r>
            <a:r>
              <a:rPr lang="zh-CN" altLang="en-US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文件，在</a:t>
            </a:r>
            <a:r>
              <a:rPr lang="en-US" altLang="zh-CN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main</a:t>
            </a:r>
            <a:r>
              <a:rPr lang="zh-CN" altLang="en-US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函数中调用需要调试的函数。</a:t>
            </a:r>
            <a:endParaRPr lang="en-US" altLang="zh-CN" sz="3800" b="1" dirty="0">
              <a:solidFill>
                <a:srgbClr val="0000FF"/>
              </a:solidFill>
              <a:latin typeface="+mn-ea"/>
              <a:ea typeface="+mj-ea"/>
              <a:cs typeface="+mj-cs"/>
            </a:endParaRPr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3. </a:t>
            </a:r>
            <a:r>
              <a:rPr lang="en-US" altLang="zh-CN" sz="3800" b="1" dirty="0" err="1">
                <a:solidFill>
                  <a:srgbClr val="0000FF"/>
                </a:solidFill>
                <a:latin typeface="+mn-ea"/>
                <a:ea typeface="+mj-ea"/>
                <a:cs typeface="+mj-cs"/>
              </a:rPr>
              <a:t>gcc</a:t>
            </a:r>
            <a:r>
              <a:rPr lang="zh-CN" altLang="en-US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编译</a:t>
            </a:r>
            <a:r>
              <a:rPr lang="en-US" altLang="zh-CN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(</a:t>
            </a:r>
            <a:r>
              <a:rPr lang="zh-CN" altLang="en-US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加</a:t>
            </a:r>
            <a:r>
              <a:rPr lang="en-US" altLang="zh-CN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-g</a:t>
            </a:r>
            <a:r>
              <a:rPr lang="zh-CN" altLang="en-US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选项可以源码级调试</a:t>
            </a:r>
            <a:r>
              <a:rPr lang="en-US" altLang="zh-CN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)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4. </a:t>
            </a:r>
            <a:r>
              <a:rPr lang="en-US" altLang="zh-CN" sz="3800" b="1" dirty="0" err="1">
                <a:solidFill>
                  <a:srgbClr val="0000FF"/>
                </a:solidFill>
                <a:latin typeface="+mn-ea"/>
                <a:ea typeface="+mj-ea"/>
                <a:cs typeface="+mj-cs"/>
              </a:rPr>
              <a:t>gdb</a:t>
            </a:r>
            <a:r>
              <a:rPr lang="zh-CN" altLang="en-US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调试（具体调试方法见</a:t>
            </a:r>
            <a:r>
              <a:rPr lang="en-US" altLang="zh-CN" sz="3800" b="1" dirty="0" err="1">
                <a:solidFill>
                  <a:srgbClr val="0000FF"/>
                </a:solidFill>
                <a:latin typeface="+mn-ea"/>
                <a:ea typeface="+mj-ea"/>
                <a:cs typeface="+mj-cs"/>
              </a:rPr>
              <a:t>gdb</a:t>
            </a:r>
            <a:r>
              <a:rPr lang="zh-CN" altLang="en-US" sz="3800" b="1" dirty="0">
                <a:solidFill>
                  <a:srgbClr val="0000FF"/>
                </a:solidFill>
                <a:latin typeface="+mn-ea"/>
                <a:ea typeface="+mj-ea"/>
                <a:cs typeface="+mj-cs"/>
              </a:rPr>
              <a:t>的用法）</a:t>
            </a:r>
            <a:endParaRPr lang="en-US" altLang="zh-CN" sz="3800" b="1" dirty="0">
              <a:solidFill>
                <a:srgbClr val="0000FF"/>
              </a:solidFill>
              <a:latin typeface="+mn-ea"/>
              <a:ea typeface="+mj-ea"/>
              <a:cs typeface="+mj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981199" y="184663"/>
            <a:ext cx="8229600" cy="916529"/>
          </a:xfrm>
        </p:spPr>
        <p:txBody>
          <a:bodyPr/>
          <a:lstStyle/>
          <a:p>
            <a:pPr algn="l"/>
            <a:r>
              <a:rPr lang="zh-CN" altLang="en-US" dirty="0"/>
              <a:t>通过</a:t>
            </a:r>
            <a:r>
              <a:rPr lang="en-US" altLang="zh-CN" dirty="0" err="1"/>
              <a:t>gdb</a:t>
            </a:r>
            <a:r>
              <a:rPr lang="zh-CN" altLang="en-US" dirty="0"/>
              <a:t>调试代码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216161" y="1101191"/>
            <a:ext cx="7961916" cy="1753444"/>
            <a:chOff x="611561" y="1808236"/>
            <a:chExt cx="7961916" cy="175344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"/>
            <a:srcRect l="3142" t="11272" r="12820"/>
            <a:stretch/>
          </p:blipFill>
          <p:spPr>
            <a:xfrm>
              <a:off x="611561" y="2780928"/>
              <a:ext cx="3327732" cy="780752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/>
            <a:srcRect b="6067"/>
            <a:stretch/>
          </p:blipFill>
          <p:spPr>
            <a:xfrm>
              <a:off x="5508104" y="1808236"/>
              <a:ext cx="3065373" cy="1647066"/>
            </a:xfrm>
            <a:prstGeom prst="rect">
              <a:avLst/>
            </a:prstGeom>
          </p:spPr>
        </p:pic>
        <p:cxnSp>
          <p:nvCxnSpPr>
            <p:cNvPr id="7" name="直接箭头连接符 6"/>
            <p:cNvCxnSpPr/>
            <p:nvPr/>
          </p:nvCxnSpPr>
          <p:spPr>
            <a:xfrm>
              <a:off x="4211960" y="2996952"/>
              <a:ext cx="1080120" cy="0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l="1938"/>
          <a:stretch/>
        </p:blipFill>
        <p:spPr>
          <a:xfrm>
            <a:off x="3849939" y="3429000"/>
            <a:ext cx="3642742" cy="106680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2641870" y="4834275"/>
            <a:ext cx="7429500" cy="876300"/>
            <a:chOff x="1259678" y="5420906"/>
            <a:chExt cx="7429500" cy="87630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59678" y="5420906"/>
              <a:ext cx="7429500" cy="876300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6444208" y="5420906"/>
              <a:ext cx="288032" cy="1683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3F978306-B287-CA6C-6211-B1F4E4D1F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70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396068" y="1700809"/>
            <a:ext cx="7408333" cy="4425355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设置特定位（置位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b="1" dirty="0" smtClean="0"/>
              <a:t>方法</a:t>
            </a:r>
            <a:r>
              <a:rPr lang="zh-CN" altLang="en-US" dirty="0"/>
              <a:t>：使用按位或（</a:t>
            </a:r>
            <a:r>
              <a:rPr lang="en-US" altLang="zh-CN" dirty="0"/>
              <a:t>|</a:t>
            </a:r>
            <a:r>
              <a:rPr lang="zh-CN" altLang="en-US" dirty="0"/>
              <a:t>）操作</a:t>
            </a:r>
          </a:p>
          <a:p>
            <a:r>
              <a:rPr lang="en-US" altLang="zh-CN" dirty="0" smtClean="0"/>
              <a:t>2</a:t>
            </a:r>
            <a:r>
              <a:rPr lang="en-US" altLang="zh-CN" dirty="0"/>
              <a:t>. </a:t>
            </a:r>
            <a:r>
              <a:rPr lang="zh-CN" altLang="en-US" dirty="0"/>
              <a:t>清除特定位（清零）​</a:t>
            </a:r>
          </a:p>
          <a:p>
            <a:pPr lvl="1"/>
            <a:r>
              <a:rPr lang="zh-CN" altLang="en-US" b="1" dirty="0" smtClean="0"/>
              <a:t>方法</a:t>
            </a:r>
            <a:r>
              <a:rPr lang="zh-CN" altLang="en-US" dirty="0"/>
              <a:t>：使用按位与（</a:t>
            </a:r>
            <a:r>
              <a:rPr lang="en-US" altLang="zh-CN" dirty="0"/>
              <a:t>&amp;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/>
              <a:t>3. </a:t>
            </a:r>
            <a:r>
              <a:rPr lang="zh-CN" altLang="en-US" dirty="0"/>
              <a:t>翻转特定位​</a:t>
            </a:r>
          </a:p>
          <a:p>
            <a:pPr lvl="1"/>
            <a:r>
              <a:rPr lang="zh-CN" altLang="en-US" b="1" dirty="0" smtClean="0"/>
              <a:t>方法</a:t>
            </a:r>
            <a:r>
              <a:rPr lang="zh-CN" altLang="en-US" dirty="0"/>
              <a:t>：使用按位异或（</a:t>
            </a:r>
            <a:r>
              <a:rPr lang="en-US" altLang="zh-CN" dirty="0"/>
              <a:t>^</a:t>
            </a:r>
            <a:r>
              <a:rPr lang="zh-CN" altLang="en-US" dirty="0"/>
              <a:t>）</a:t>
            </a:r>
            <a:r>
              <a:rPr lang="zh-CN" altLang="en-US" dirty="0" smtClean="0"/>
              <a:t>操作</a:t>
            </a:r>
            <a:endParaRPr lang="en-US" altLang="zh-CN" dirty="0" smtClean="0"/>
          </a:p>
          <a:p>
            <a:r>
              <a:rPr lang="en-US" altLang="zh-CN" dirty="0"/>
              <a:t>4. </a:t>
            </a:r>
            <a:r>
              <a:rPr lang="zh-CN" altLang="en-US" dirty="0"/>
              <a:t>检测特定位​</a:t>
            </a:r>
          </a:p>
          <a:p>
            <a:pPr lvl="1"/>
            <a:r>
              <a:rPr lang="zh-CN" altLang="en-US" b="1" dirty="0" smtClean="0"/>
              <a:t>方法</a:t>
            </a:r>
            <a:r>
              <a:rPr lang="zh-CN" altLang="en-US" dirty="0"/>
              <a:t>：使用按位与（</a:t>
            </a:r>
            <a:r>
              <a:rPr lang="en-US" altLang="zh-CN" dirty="0"/>
              <a:t>&amp;</a:t>
            </a:r>
            <a:r>
              <a:rPr lang="zh-CN" altLang="en-US" dirty="0"/>
              <a:t>）操作</a:t>
            </a:r>
          </a:p>
          <a:p>
            <a:r>
              <a:rPr lang="en-US" altLang="zh-CN" dirty="0"/>
              <a:t>5. </a:t>
            </a:r>
            <a:r>
              <a:rPr lang="zh-CN" altLang="en-US" dirty="0"/>
              <a:t>提取位字段​</a:t>
            </a:r>
          </a:p>
          <a:p>
            <a:pPr lvl="1"/>
            <a:r>
              <a:rPr lang="nn-NO" altLang="zh-CN" dirty="0" smtClean="0"/>
              <a:t>(num &gt;&gt; start) </a:t>
            </a:r>
            <a:r>
              <a:rPr lang="nn-NO" altLang="zh-CN" dirty="0"/>
              <a:t>&amp; ((1 &lt;&lt; </a:t>
            </a:r>
            <a:r>
              <a:rPr lang="nn-NO" altLang="zh-CN" dirty="0" smtClean="0"/>
              <a:t>length) </a:t>
            </a:r>
            <a:r>
              <a:rPr lang="nn-NO" altLang="zh-CN" dirty="0"/>
              <a:t>- 1)</a:t>
            </a:r>
            <a:r>
              <a:rPr lang="zh-CN" altLang="en-US" dirty="0"/>
              <a:t/>
            </a:r>
            <a:br>
              <a:rPr lang="zh-CN" altLang="en-US" dirty="0"/>
            </a:br>
            <a:endParaRPr lang="en-US" altLang="zh-CN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常见掩码操作</a:t>
            </a:r>
            <a:r>
              <a:rPr lang="zh-CN" altLang="en-US" dirty="0" smtClean="0"/>
              <a:t>类型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2455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396068" y="1772817"/>
            <a:ext cx="7408333" cy="4353347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操作单一位的</a:t>
            </a:r>
            <a:r>
              <a:rPr lang="zh-CN" altLang="en-US" dirty="0" smtClean="0"/>
              <a:t>掩码</a:t>
            </a:r>
            <a:endParaRPr lang="en-US" altLang="zh-CN" dirty="0" smtClean="0"/>
          </a:p>
          <a:p>
            <a:pPr lvl="1"/>
            <a:r>
              <a:rPr lang="en-US" altLang="zh-CN" dirty="0"/>
              <a:t>mask = 1 &lt;&lt; n</a:t>
            </a:r>
            <a:r>
              <a:rPr lang="en-US" altLang="zh-CN" dirty="0" smtClean="0"/>
              <a:t>;     //</a:t>
            </a:r>
            <a:r>
              <a:rPr lang="zh-CN" altLang="en-US" i="1" dirty="0"/>
              <a:t>第</a:t>
            </a:r>
            <a:r>
              <a:rPr lang="en-US" altLang="zh-CN" i="1" dirty="0"/>
              <a:t>n</a:t>
            </a:r>
            <a:r>
              <a:rPr lang="zh-CN" altLang="en-US" i="1" dirty="0"/>
              <a:t>位为</a:t>
            </a:r>
            <a:r>
              <a:rPr lang="en-US" altLang="zh-CN" i="1" dirty="0"/>
              <a:t>1</a:t>
            </a:r>
            <a:r>
              <a:rPr lang="zh-CN" altLang="en-US" i="1" dirty="0"/>
              <a:t>的掩码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操作连续多位的</a:t>
            </a:r>
            <a:r>
              <a:rPr lang="zh-CN" altLang="en-US" dirty="0" smtClean="0"/>
              <a:t>掩码</a:t>
            </a:r>
            <a:endParaRPr lang="en-US" altLang="zh-CN" dirty="0" smtClean="0"/>
          </a:p>
          <a:p>
            <a:pPr lvl="1"/>
            <a:r>
              <a:rPr lang="en-US" altLang="zh-CN" dirty="0"/>
              <a:t>mask = (1 &lt;&lt; k) </a:t>
            </a:r>
            <a:r>
              <a:rPr lang="en-US" altLang="zh-CN" dirty="0" smtClean="0"/>
              <a:t>- 1;   //</a:t>
            </a:r>
            <a:r>
              <a:rPr lang="zh-CN" altLang="en-US" i="1" dirty="0"/>
              <a:t>低</a:t>
            </a:r>
            <a:r>
              <a:rPr lang="en-US" altLang="zh-CN" i="1" dirty="0"/>
              <a:t>k</a:t>
            </a:r>
            <a:r>
              <a:rPr lang="zh-CN" altLang="en-US" i="1" dirty="0"/>
              <a:t>位全为</a:t>
            </a:r>
            <a:r>
              <a:rPr lang="en-US" altLang="zh-CN" i="1" dirty="0"/>
              <a:t>1</a:t>
            </a:r>
            <a:r>
              <a:rPr lang="zh-CN" altLang="en-US" i="1" dirty="0"/>
              <a:t>的</a:t>
            </a:r>
            <a:r>
              <a:rPr lang="zh-CN" altLang="en-US" i="1" dirty="0" smtClean="0"/>
              <a:t>掩码</a:t>
            </a:r>
            <a:endParaRPr lang="en-US" altLang="zh-CN" i="1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操作</a:t>
            </a:r>
            <a:r>
              <a:rPr lang="zh-CN" altLang="en-US" dirty="0"/>
              <a:t>指定范围的</a:t>
            </a:r>
            <a:r>
              <a:rPr lang="zh-CN" altLang="en-US" dirty="0" smtClean="0"/>
              <a:t>掩码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mask </a:t>
            </a:r>
            <a:r>
              <a:rPr lang="en-US" altLang="zh-CN" dirty="0"/>
              <a:t>= ((1 &lt;&lt; (j + 1)) - 1) &amp; ~((1 &lt;&lt; i) - 1</a:t>
            </a:r>
            <a:r>
              <a:rPr lang="en-US" altLang="zh-CN" dirty="0" smtClean="0"/>
              <a:t>);</a:t>
            </a:r>
          </a:p>
          <a:p>
            <a:r>
              <a:rPr lang="en-US" altLang="zh-CN" dirty="0"/>
              <a:t>4. </a:t>
            </a:r>
            <a:r>
              <a:rPr lang="zh-CN" altLang="en-US" dirty="0"/>
              <a:t>反转掩码</a:t>
            </a:r>
            <a:endParaRPr lang="en-US" altLang="zh-CN" dirty="0" smtClean="0"/>
          </a:p>
          <a:p>
            <a:pPr lvl="1"/>
            <a:r>
              <a:rPr lang="en-US" altLang="zh-CN" dirty="0"/>
              <a:t>mask = ~(1 &lt;&lt; n</a:t>
            </a:r>
            <a:r>
              <a:rPr lang="en-US" altLang="zh-CN" dirty="0" smtClean="0"/>
              <a:t>);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掩码的构造方法</a:t>
            </a:r>
            <a:r>
              <a:rPr lang="zh-CN" altLang="en-US" dirty="0" smtClean="0"/>
              <a:t>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855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570392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运算符的优先级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703513" y="980728"/>
            <a:ext cx="8784976" cy="5877272"/>
          </a:xfr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zh-CN" altLang="en-US" sz="2000" dirty="0"/>
              <a:t>数组下标、圆括号、成员选择（对象和指针）：从左到右。</a:t>
            </a:r>
          </a:p>
          <a:p>
            <a:r>
              <a:rPr lang="zh-CN" altLang="en-US" sz="2000" dirty="0"/>
              <a:t>单目运算符：包括</a:t>
            </a:r>
            <a:r>
              <a:rPr lang="zh-CN" altLang="en-US" sz="2000" dirty="0">
                <a:solidFill>
                  <a:srgbClr val="FF0000"/>
                </a:solidFill>
              </a:rPr>
              <a:t>负号、按位取反、</a:t>
            </a:r>
            <a:r>
              <a:rPr lang="zh-CN" altLang="en-US" sz="2000" dirty="0"/>
              <a:t>自增、自减、取值、取地址、</a:t>
            </a:r>
            <a:r>
              <a:rPr lang="zh-CN" altLang="en-US" sz="2000" dirty="0">
                <a:solidFill>
                  <a:srgbClr val="FF0000"/>
                </a:solidFill>
              </a:rPr>
              <a:t>逻辑非</a:t>
            </a:r>
            <a:r>
              <a:rPr lang="zh-CN" altLang="en-US" sz="2000" dirty="0"/>
              <a:t>、强制类型转换和长度运算符，</a:t>
            </a:r>
            <a:r>
              <a:rPr lang="zh-CN" altLang="en-US" sz="2000" dirty="0">
                <a:solidFill>
                  <a:srgbClr val="FF0000"/>
                </a:solidFill>
              </a:rPr>
              <a:t>从右到左。</a:t>
            </a:r>
          </a:p>
          <a:p>
            <a:r>
              <a:rPr lang="zh-CN" altLang="en-US" sz="2000" dirty="0"/>
              <a:t>乘除和取模运算：包括乘、除和取模运算，从左到右。</a:t>
            </a:r>
          </a:p>
          <a:p>
            <a:r>
              <a:rPr lang="zh-CN" altLang="en-US" sz="2000" dirty="0"/>
              <a:t>加减运算：包括加和减运算，从左到右。</a:t>
            </a:r>
          </a:p>
          <a:p>
            <a:r>
              <a:rPr lang="zh-CN" altLang="en-US" sz="2000" dirty="0">
                <a:solidFill>
                  <a:srgbClr val="FF0000"/>
                </a:solidFill>
              </a:rPr>
              <a:t>移位运算</a:t>
            </a:r>
            <a:r>
              <a:rPr lang="zh-CN" altLang="en-US" sz="2000" dirty="0"/>
              <a:t>：包括左移和右移运算，从左到右。</a:t>
            </a:r>
          </a:p>
          <a:p>
            <a:r>
              <a:rPr lang="zh-CN" altLang="en-US" sz="2000" dirty="0"/>
              <a:t>关系运算：包括大于、大于等于、小于和小于等于运算，从左到右。</a:t>
            </a:r>
          </a:p>
          <a:p>
            <a:r>
              <a:rPr lang="zh-CN" altLang="en-US" sz="2000" dirty="0"/>
              <a:t>相等运算：包括等于和不等于运算，从左到右。</a:t>
            </a:r>
          </a:p>
          <a:p>
            <a:r>
              <a:rPr lang="zh-CN" altLang="en-US" sz="2000" dirty="0">
                <a:solidFill>
                  <a:srgbClr val="FF0000"/>
                </a:solidFill>
              </a:rPr>
              <a:t>按位与运算</a:t>
            </a:r>
            <a:r>
              <a:rPr lang="zh-CN" altLang="en-US" sz="2000" dirty="0"/>
              <a:t>：从左到右。</a:t>
            </a:r>
          </a:p>
          <a:p>
            <a:r>
              <a:rPr lang="zh-CN" altLang="en-US" sz="2000" dirty="0">
                <a:solidFill>
                  <a:srgbClr val="FF0000"/>
                </a:solidFill>
              </a:rPr>
              <a:t>按位异或运算</a:t>
            </a:r>
            <a:r>
              <a:rPr lang="zh-CN" altLang="en-US" sz="2000" dirty="0"/>
              <a:t>：从左到右。</a:t>
            </a:r>
          </a:p>
          <a:p>
            <a:r>
              <a:rPr lang="zh-CN" altLang="en-US" sz="2000" dirty="0">
                <a:solidFill>
                  <a:srgbClr val="FF0000"/>
                </a:solidFill>
              </a:rPr>
              <a:t>按位或运算</a:t>
            </a:r>
            <a:r>
              <a:rPr lang="zh-CN" altLang="en-US" sz="2000" dirty="0"/>
              <a:t>：从左到右。</a:t>
            </a:r>
          </a:p>
          <a:p>
            <a:r>
              <a:rPr lang="zh-CN" altLang="en-US" sz="2000" dirty="0">
                <a:solidFill>
                  <a:srgbClr val="FF0000"/>
                </a:solidFill>
              </a:rPr>
              <a:t>逻辑与运算</a:t>
            </a:r>
            <a:r>
              <a:rPr lang="zh-CN" altLang="en-US" sz="2000" dirty="0"/>
              <a:t>：从左到右。</a:t>
            </a:r>
          </a:p>
          <a:p>
            <a:r>
              <a:rPr lang="zh-CN" altLang="en-US" sz="2000" dirty="0">
                <a:solidFill>
                  <a:srgbClr val="FF0000"/>
                </a:solidFill>
              </a:rPr>
              <a:t>逻辑或运算</a:t>
            </a:r>
            <a:r>
              <a:rPr lang="zh-CN" altLang="en-US" sz="2000" dirty="0"/>
              <a:t>：从左到右。</a:t>
            </a:r>
          </a:p>
          <a:p>
            <a:r>
              <a:rPr lang="zh-CN" altLang="en-US" sz="2000" dirty="0"/>
              <a:t>条件运算符：从右到左。</a:t>
            </a:r>
          </a:p>
          <a:p>
            <a:r>
              <a:rPr lang="zh-CN" altLang="en-US" sz="2000" dirty="0"/>
              <a:t>赋值运算符：从右到左。</a:t>
            </a:r>
          </a:p>
          <a:p>
            <a:r>
              <a:rPr lang="zh-CN" altLang="en-US" sz="2000" dirty="0"/>
              <a:t>逗号运算符：从左到右。</a:t>
            </a:r>
          </a:p>
        </p:txBody>
      </p:sp>
    </p:spTree>
    <p:extLst>
      <p:ext uri="{BB962C8B-B14F-4D97-AF65-F5344CB8AC3E}">
        <p14:creationId xmlns:p14="http://schemas.microsoft.com/office/powerpoint/2010/main" val="2210084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476673"/>
            <a:ext cx="8229600" cy="561975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变量与常数之间的除运算</a:t>
            </a:r>
            <a:r>
              <a:rPr lang="zh-CN" altLang="en-US" sz="3600" dirty="0"/>
              <a:t> </a:t>
            </a:r>
          </a:p>
        </p:txBody>
      </p:sp>
      <p:sp>
        <p:nvSpPr>
          <p:cNvPr id="73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85512" y="1736626"/>
            <a:ext cx="8982489" cy="5121374"/>
          </a:xfr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zh-CN" altLang="en-US" sz="2200" dirty="0">
                <a:latin typeface="STKaiti" panose="02010600040101010101" pitchFamily="2" charset="-122"/>
                <a:ea typeface="STKaiti" panose="02010600040101010101" pitchFamily="2" charset="-122"/>
              </a:rPr>
              <a:t>不能整除时，采用</a:t>
            </a:r>
            <a:r>
              <a:rPr lang="zh-CN" altLang="en-US" sz="2200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朝零舍入</a:t>
            </a:r>
            <a:r>
              <a:rPr lang="zh-CN" altLang="en-US" sz="2200" dirty="0">
                <a:latin typeface="STKaiti" panose="02010600040101010101" pitchFamily="2" charset="-122"/>
                <a:ea typeface="STKaiti" panose="02010600040101010101" pitchFamily="2" charset="-122"/>
              </a:rPr>
              <a:t>，即</a:t>
            </a:r>
            <a:r>
              <a:rPr lang="zh-CN" altLang="en-US" sz="2200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截断</a:t>
            </a:r>
            <a:r>
              <a:rPr lang="zh-CN" altLang="en-US" sz="2200" dirty="0">
                <a:latin typeface="STKaiti" panose="02010600040101010101" pitchFamily="2" charset="-122"/>
                <a:ea typeface="STKaiti" panose="02010600040101010101" pitchFamily="2" charset="-122"/>
              </a:rPr>
              <a:t>方式</a:t>
            </a:r>
          </a:p>
          <a:p>
            <a:pPr lvl="1">
              <a:lnSpc>
                <a:spcPct val="110000"/>
              </a:lnSpc>
              <a:spcBef>
                <a:spcPct val="30000"/>
              </a:spcBef>
            </a:pPr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无符号数、带符号正整数（地板）：</a:t>
            </a:r>
            <a:r>
              <a:rPr lang="zh-CN" altLang="en-US" dirty="0">
                <a:solidFill>
                  <a:srgbClr val="008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移出的低位直接丢弃</a:t>
            </a:r>
          </a:p>
          <a:p>
            <a:pPr lvl="1">
              <a:lnSpc>
                <a:spcPct val="110000"/>
              </a:lnSpc>
              <a:spcBef>
                <a:spcPct val="30000"/>
              </a:spcBef>
            </a:pPr>
            <a:r>
              <a:rPr lang="zh-CN" altLang="en-US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带符号负整数（天板）</a:t>
            </a:r>
            <a:r>
              <a:rPr lang="zh-CN" altLang="en-US" dirty="0">
                <a:solidFill>
                  <a:srgbClr val="008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：</a:t>
            </a:r>
            <a:endParaRPr lang="en-US" altLang="zh-CN" dirty="0">
              <a:solidFill>
                <a:srgbClr val="008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2">
              <a:lnSpc>
                <a:spcPct val="110000"/>
              </a:lnSpc>
              <a:spcBef>
                <a:spcPct val="30000"/>
              </a:spcBef>
            </a:pPr>
            <a:r>
              <a:rPr lang="zh-CN" altLang="en-US" dirty="0">
                <a:solidFill>
                  <a:srgbClr val="008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加偏移量</a:t>
            </a:r>
            <a:r>
              <a:rPr lang="en-US" altLang="zh-CN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(2</a:t>
            </a:r>
            <a:r>
              <a:rPr lang="en-US" altLang="zh-CN" i="1" baseline="30000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k</a:t>
            </a:r>
            <a:r>
              <a:rPr lang="en-US" altLang="zh-CN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-1)</a:t>
            </a:r>
            <a:r>
              <a:rPr lang="zh-CN" altLang="en-US" dirty="0">
                <a:solidFill>
                  <a:srgbClr val="008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，然后再右移</a:t>
            </a:r>
            <a:r>
              <a:rPr lang="en-US" altLang="zh-CN" i="1" dirty="0">
                <a:solidFill>
                  <a:srgbClr val="008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k </a:t>
            </a:r>
            <a:r>
              <a:rPr lang="zh-CN" altLang="en-US" dirty="0">
                <a:solidFill>
                  <a:srgbClr val="008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位 ，低位截断（</a:t>
            </a:r>
            <a:r>
              <a:rPr lang="zh-CN" altLang="en-US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这里</a:t>
            </a:r>
            <a:r>
              <a:rPr lang="en-US" altLang="zh-CN" i="1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K </a:t>
            </a:r>
            <a:r>
              <a:rPr lang="zh-CN" altLang="en-US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是右移位数</a:t>
            </a:r>
            <a:r>
              <a:rPr lang="zh-CN" altLang="en-US" dirty="0">
                <a:solidFill>
                  <a:srgbClr val="008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）</a:t>
            </a:r>
            <a:endParaRPr lang="en-US" altLang="zh-CN" dirty="0">
              <a:solidFill>
                <a:srgbClr val="008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2">
              <a:lnSpc>
                <a:spcPct val="110000"/>
              </a:lnSpc>
              <a:spcBef>
                <a:spcPct val="30000"/>
              </a:spcBef>
            </a:pPr>
            <a:r>
              <a:rPr lang="zh-CN" altLang="en-US" dirty="0">
                <a:solidFill>
                  <a:srgbClr val="008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如果移除非零，结果加</a:t>
            </a:r>
            <a:r>
              <a:rPr lang="en-US" altLang="zh-CN" dirty="0">
                <a:solidFill>
                  <a:srgbClr val="008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1</a:t>
            </a:r>
            <a:endParaRPr lang="zh-CN" altLang="en-US" sz="2200" dirty="0">
              <a:solidFill>
                <a:srgbClr val="008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zh-CN" altLang="en-US" sz="2200" dirty="0">
                <a:latin typeface="STKaiti" panose="02010600040101010101" pitchFamily="2" charset="-122"/>
                <a:ea typeface="STKaiti" panose="02010600040101010101" pitchFamily="2" charset="-122"/>
              </a:rPr>
              <a:t>举例： </a:t>
            </a:r>
          </a:p>
          <a:p>
            <a:pPr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     </a:t>
            </a:r>
            <a:r>
              <a:rPr lang="zh-CN" altLang="en-US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无符号数   </a:t>
            </a:r>
            <a:r>
              <a:rPr lang="en-US" altLang="zh-CN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14/4=3</a:t>
            </a:r>
            <a:r>
              <a:rPr lang="zh-CN" altLang="en-US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：</a:t>
            </a:r>
            <a:r>
              <a:rPr lang="en-US" altLang="zh-CN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0000 1110&gt;&gt;2=0000 0011</a:t>
            </a:r>
            <a:endParaRPr lang="zh-CN" altLang="en-US" sz="2000" dirty="0">
              <a:solidFill>
                <a:srgbClr val="0033CC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en-US" altLang="zh-CN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     </a:t>
            </a:r>
            <a:r>
              <a:rPr lang="zh-CN" altLang="en-US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带符号负整数  </a:t>
            </a:r>
            <a:r>
              <a:rPr lang="en-US" altLang="zh-CN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-14/4=-3</a:t>
            </a:r>
            <a:endParaRPr lang="zh-CN" altLang="en-US" sz="2000" dirty="0">
              <a:solidFill>
                <a:srgbClr val="0033CC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zh-CN" altLang="en-US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     </a:t>
            </a:r>
            <a:r>
              <a:rPr lang="zh-CN" altLang="en-US" sz="2000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若直接截断，则 </a:t>
            </a:r>
            <a:r>
              <a:rPr lang="en-US" altLang="zh-CN" sz="2000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1111 0010 &gt;&gt;2=1111 1100=-4</a:t>
            </a:r>
            <a:r>
              <a:rPr lang="en-US" altLang="zh-CN" sz="2000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anose="020B0604020202020204" pitchFamily="34" charset="0"/>
              </a:rPr>
              <a:t>≠-3</a:t>
            </a:r>
          </a:p>
          <a:p>
            <a:pPr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en-US" altLang="zh-CN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anose="020B0604020202020204" pitchFamily="34" charset="0"/>
              </a:rPr>
              <a:t>     </a:t>
            </a:r>
            <a:r>
              <a:rPr lang="zh-CN" altLang="en-US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anose="020B0604020202020204" pitchFamily="34" charset="0"/>
              </a:rPr>
              <a:t>应先</a:t>
            </a:r>
            <a:r>
              <a:rPr lang="zh-CN" altLang="en-US" sz="2000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anose="020B0604020202020204" pitchFamily="34" charset="0"/>
              </a:rPr>
              <a:t>纠偏，再右移</a:t>
            </a:r>
            <a:r>
              <a:rPr lang="en-US" altLang="zh-CN" sz="2000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anose="020B0604020202020204" pitchFamily="34" charset="0"/>
              </a:rPr>
              <a:t>:</a:t>
            </a:r>
            <a:r>
              <a:rPr lang="en-US" altLang="zh-CN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anose="020B0604020202020204" pitchFamily="34" charset="0"/>
              </a:rPr>
              <a:t> k=2, </a:t>
            </a:r>
            <a:r>
              <a:rPr lang="zh-CN" altLang="en-US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anose="020B0604020202020204" pitchFamily="34" charset="0"/>
              </a:rPr>
              <a:t>(-14</a:t>
            </a:r>
            <a:r>
              <a:rPr lang="en-US" altLang="zh-CN" sz="2000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anose="020B0604020202020204" pitchFamily="34" charset="0"/>
              </a:rPr>
              <a:t>+2</a:t>
            </a:r>
            <a:r>
              <a:rPr lang="en-US" altLang="zh-CN" sz="2000" baseline="30000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000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anose="020B0604020202020204" pitchFamily="34" charset="0"/>
              </a:rPr>
              <a:t>)/4=-3</a:t>
            </a:r>
            <a:endParaRPr lang="zh-CN" altLang="en-US" sz="2000" dirty="0">
              <a:solidFill>
                <a:srgbClr val="0033CC"/>
              </a:solidFill>
              <a:latin typeface="STKaiti" panose="02010600040101010101" pitchFamily="2" charset="-122"/>
              <a:ea typeface="STKaiti" panose="0201060004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en-US" altLang="zh-CN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anose="020B0604020202020204" pitchFamily="34" charset="0"/>
              </a:rPr>
              <a:t>     </a:t>
            </a:r>
            <a:r>
              <a:rPr lang="zh-CN" altLang="en-US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anose="020B0604020202020204" pitchFamily="34" charset="0"/>
              </a:rPr>
              <a:t>即： </a:t>
            </a:r>
            <a:r>
              <a:rPr lang="en-US" altLang="zh-CN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1111 0010</a:t>
            </a:r>
            <a:r>
              <a:rPr lang="en-US" altLang="zh-CN" sz="2000" dirty="0">
                <a:solidFill>
                  <a:srgbClr val="CC33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+0000 0011</a:t>
            </a:r>
            <a:r>
              <a:rPr lang="en-US" altLang="zh-CN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=1111 0101</a:t>
            </a:r>
            <a:endParaRPr lang="zh-CN" altLang="en-US" sz="2000" dirty="0">
              <a:solidFill>
                <a:srgbClr val="0033CC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en-US" altLang="zh-CN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     1111 0101&gt;&gt;2=1111 1101=-3</a:t>
            </a:r>
            <a:endParaRPr lang="zh-CN" altLang="en-US" sz="2000" dirty="0">
              <a:solidFill>
                <a:srgbClr val="0033CC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5872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1769284-BC65-4A1A-9878-92E5DDCDABB9}" type="slidenum">
              <a:rPr lang="en-US" altLang="zh-CN" sz="1400" b="0"/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 b="0"/>
          </a:p>
        </p:txBody>
      </p:sp>
    </p:spTree>
    <p:extLst>
      <p:ext uri="{BB962C8B-B14F-4D97-AF65-F5344CB8AC3E}">
        <p14:creationId xmlns:p14="http://schemas.microsoft.com/office/powerpoint/2010/main" val="95066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1390</Words>
  <Application>Microsoft Office PowerPoint</Application>
  <PresentationFormat>宽屏</PresentationFormat>
  <Paragraphs>222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9" baseType="lpstr">
      <vt:lpstr>等线</vt:lpstr>
      <vt:lpstr>微软雅黑</vt:lpstr>
      <vt:lpstr>宋体</vt:lpstr>
      <vt:lpstr>华文楷体</vt:lpstr>
      <vt:lpstr>华文楷体</vt:lpstr>
      <vt:lpstr>华文细黑</vt:lpstr>
      <vt:lpstr>华文新魏</vt:lpstr>
      <vt:lpstr>Arial</vt:lpstr>
      <vt:lpstr>Candara</vt:lpstr>
      <vt:lpstr>Symbol</vt:lpstr>
      <vt:lpstr>Times New Roman</vt:lpstr>
      <vt:lpstr>Verdana</vt:lpstr>
      <vt:lpstr>Wingdings</vt:lpstr>
      <vt:lpstr>1_波形</vt:lpstr>
      <vt:lpstr>PowerPoint 演示文稿</vt:lpstr>
      <vt:lpstr>实验介绍</vt:lpstr>
      <vt:lpstr>Handout包中的文件介绍</vt:lpstr>
      <vt:lpstr>bits.c函数介绍</vt:lpstr>
      <vt:lpstr>定点数函数编程要求</vt:lpstr>
      <vt:lpstr>浮点数函数编程要求</vt:lpstr>
      <vt:lpstr>特殊要求</vt:lpstr>
      <vt:lpstr>实验流程</vt:lpstr>
      <vt:lpstr>实验流程（续）</vt:lpstr>
      <vt:lpstr>实验流程（续）</vt:lpstr>
      <vt:lpstr>实验流程（续）</vt:lpstr>
      <vt:lpstr>各课头访问scoreboard的端口</vt:lpstr>
      <vt:lpstr>原始分数计算方法</vt:lpstr>
      <vt:lpstr>分数计算方法</vt:lpstr>
      <vt:lpstr>举例：bitOr函数</vt:lpstr>
      <vt:lpstr>1. 按要求实现函数，修改完记得保存</vt:lpstr>
      <vt:lpstr>3. 重新修改函数，保存，运行dlc。（dlc通过）</vt:lpstr>
      <vt:lpstr>4. 编译（通过）</vt:lpstr>
      <vt:lpstr>PowerPoint 演示文稿</vt:lpstr>
      <vt:lpstr>PowerPoint 演示文稿</vt:lpstr>
      <vt:lpstr>通过gdb调试代码</vt:lpstr>
      <vt:lpstr>常见掩码操作类型</vt:lpstr>
      <vt:lpstr>掩码的构造方法​</vt:lpstr>
      <vt:lpstr>运算符的优先级</vt:lpstr>
      <vt:lpstr>变量与常数之间的除运算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liuzun</dc:creator>
  <cp:lastModifiedBy>liuzun</cp:lastModifiedBy>
  <cp:revision>2</cp:revision>
  <dcterms:created xsi:type="dcterms:W3CDTF">2025-11-15T01:33:39Z</dcterms:created>
  <dcterms:modified xsi:type="dcterms:W3CDTF">2025-11-15T05:36:54Z</dcterms:modified>
</cp:coreProperties>
</file>