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6"/>
  </p:notesMasterIdLst>
  <p:handoutMasterIdLst>
    <p:handoutMasterId r:id="rId47"/>
  </p:handoutMasterIdLst>
  <p:sldIdLst>
    <p:sldId id="256" r:id="rId3"/>
    <p:sldId id="258" r:id="rId4"/>
    <p:sldId id="260" r:id="rId5"/>
    <p:sldId id="261" r:id="rId6"/>
    <p:sldId id="262" r:id="rId7"/>
    <p:sldId id="263" r:id="rId8"/>
    <p:sldId id="265" r:id="rId9"/>
    <p:sldId id="266" r:id="rId10"/>
    <p:sldId id="267" r:id="rId11"/>
    <p:sldId id="268" r:id="rId12"/>
    <p:sldId id="269" r:id="rId13"/>
    <p:sldId id="270"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8" r:id="rId30"/>
    <p:sldId id="290" r:id="rId31"/>
    <p:sldId id="291" r:id="rId32"/>
    <p:sldId id="292" r:id="rId33"/>
    <p:sldId id="293" r:id="rId34"/>
    <p:sldId id="294" r:id="rId35"/>
    <p:sldId id="295" r:id="rId36"/>
    <p:sldId id="296" r:id="rId37"/>
    <p:sldId id="300" r:id="rId38"/>
    <p:sldId id="301" r:id="rId39"/>
    <p:sldId id="302" r:id="rId40"/>
    <p:sldId id="304" r:id="rId41"/>
    <p:sldId id="306" r:id="rId42"/>
    <p:sldId id="307" r:id="rId43"/>
    <p:sldId id="310" r:id="rId44"/>
    <p:sldId id="311" r:id="rId45"/>
  </p:sldIdLst>
  <p:sldSz cx="12192000" cy="6858000"/>
  <p:notesSz cx="6858000" cy="9144000"/>
  <p:embeddedFontLst>
    <p:embeddedFont>
      <p:font typeface="黑体" panose="02010609060101010101" charset="-122"/>
      <p:regular r:id="rId51"/>
    </p:embeddedFont>
    <p:embeddedFont>
      <p:font typeface="Calibri" panose="020F0502020204030204" charset="0"/>
      <p:regular r:id="rId52"/>
      <p:bold r:id="rId53"/>
      <p:italic r:id="rId54"/>
      <p:boldItalic r:id="rId55"/>
    </p:embeddedFont>
    <p:embeddedFont>
      <p:font typeface="华文中宋" panose="02010600040101010101" charset="-122"/>
      <p:regular r:id="rId56"/>
    </p:embeddedFont>
    <p:embeddedFont>
      <p:font typeface="OS小狗笨笨黑体" panose="02000503000000000000" charset="-122"/>
      <p:regular r:id="rId57"/>
    </p:embeddedFont>
    <p:embeddedFont>
      <p:font typeface="方正公文楷体" panose="02000500000000000000" charset="-122"/>
      <p:regular r:id="rId58"/>
    </p:embeddedFont>
    <p:embeddedFont>
      <p:font typeface="标准粗黑" panose="02000503000000000000" charset="-122"/>
      <p:regular r:id="rId59"/>
    </p:embeddedFont>
    <p:embeddedFont>
      <p:font typeface="汉仪颜楷简" panose="00020600040101010101" charset="-122"/>
      <p:regular r:id="rId6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font" Target="fonts/font10.fntdata"/><Relationship Id="rId6" Type="http://schemas.openxmlformats.org/officeDocument/2006/relationships/slide" Target="slides/slide4.xml"/><Relationship Id="rId59" Type="http://schemas.openxmlformats.org/officeDocument/2006/relationships/font" Target="fonts/font9.fntdata"/><Relationship Id="rId58" Type="http://schemas.openxmlformats.org/officeDocument/2006/relationships/font" Target="fonts/font8.fntdata"/><Relationship Id="rId57" Type="http://schemas.openxmlformats.org/officeDocument/2006/relationships/font" Target="fonts/font7.fntdata"/><Relationship Id="rId56" Type="http://schemas.openxmlformats.org/officeDocument/2006/relationships/font" Target="fonts/font6.fntdata"/><Relationship Id="rId55" Type="http://schemas.openxmlformats.org/officeDocument/2006/relationships/font" Target="fonts/font5.fntdata"/><Relationship Id="rId54" Type="http://schemas.openxmlformats.org/officeDocument/2006/relationships/font" Target="fonts/font4.fntdata"/><Relationship Id="rId53" Type="http://schemas.openxmlformats.org/officeDocument/2006/relationships/font" Target="fonts/font3.fntdata"/><Relationship Id="rId52" Type="http://schemas.openxmlformats.org/officeDocument/2006/relationships/font" Target="fonts/font2.fntdata"/><Relationship Id="rId51" Type="http://schemas.openxmlformats.org/officeDocument/2006/relationships/font" Target="fonts/font1.fntdata"/><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notesMaster" Target="notesMasters/notesMaster1.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7.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19.jpe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0.png"/><Relationship Id="rId2" Type="http://schemas.openxmlformats.org/officeDocument/2006/relationships/image" Target="../media/image3.jpeg"/><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image" Target="../media/image11.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2.png"/><Relationship Id="rId2" Type="http://schemas.openxmlformats.org/officeDocument/2006/relationships/image" Target="../media/image3.jpeg"/><Relationship Id="rId1" Type="http://schemas.openxmlformats.org/officeDocument/2006/relationships/image" Target="../media/image21.jpe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image" Target="../media/image11.jpe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5.jpeg"/><Relationship Id="rId1" Type="http://schemas.openxmlformats.org/officeDocument/2006/relationships/image" Target="../media/image24.jpe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25.jpeg"/><Relationship Id="rId2" Type="http://schemas.openxmlformats.org/officeDocument/2006/relationships/image" Target="../media/image26.jpeg"/><Relationship Id="rId1" Type="http://schemas.openxmlformats.org/officeDocument/2006/relationships/image" Target="../media/image11.jpe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8.png"/><Relationship Id="rId1" Type="http://schemas.openxmlformats.org/officeDocument/2006/relationships/image" Target="../media/image27.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29.jpe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image" Target="../media/image30.png"/><Relationship Id="rId2" Type="http://schemas.openxmlformats.org/officeDocument/2006/relationships/image" Target="../media/image7.jpeg"/><Relationship Id="rId1" Type="http://schemas.openxmlformats.org/officeDocument/2006/relationships/image" Target="../media/image29.jpe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3.jpeg"/><Relationship Id="rId1" Type="http://schemas.openxmlformats.org/officeDocument/2006/relationships/image" Target="../media/image31.jpe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4.png"/><Relationship Id="rId2" Type="http://schemas.openxmlformats.org/officeDocument/2006/relationships/image" Target="../media/image3.jpeg"/><Relationship Id="rId1" Type="http://schemas.openxmlformats.org/officeDocument/2006/relationships/image" Target="../media/image33.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35.jpe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image" Target="../media/image35.jpe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6.png"/><Relationship Id="rId2" Type="http://schemas.openxmlformats.org/officeDocument/2006/relationships/image" Target="../media/image3.jpeg"/><Relationship Id="rId1" Type="http://schemas.openxmlformats.org/officeDocument/2006/relationships/image" Target="../media/image35.jpe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7.jpeg"/><Relationship Id="rId1" Type="http://schemas.openxmlformats.org/officeDocument/2006/relationships/image" Target="../media/image35.jpe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7.jpeg"/><Relationship Id="rId1" Type="http://schemas.openxmlformats.org/officeDocument/2006/relationships/image" Target="../media/image35.jpe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38.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39.jpe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1.png"/><Relationship Id="rId2" Type="http://schemas.openxmlformats.org/officeDocument/2006/relationships/image" Target="../media/image3.jpeg"/><Relationship Id="rId1" Type="http://schemas.openxmlformats.org/officeDocument/2006/relationships/image" Target="../media/image40.jpe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40.jpe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image" Target="../media/image40.jpe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image" Target="../media/image40.jpe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42.jpe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image" Target="../media/image43.jpe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image" Target="../media/image4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0" y="0"/>
            <a:ext cx="12192000" cy="6858000"/>
          </a:xfrm>
          <a:prstGeom prst="rect">
            <a:avLst/>
          </a:prstGeom>
        </p:spPr>
      </p:pic>
      <p:sp>
        <p:nvSpPr>
          <p:cNvPr id="4" name="textbox 4"/>
          <p:cNvSpPr/>
          <p:nvPr/>
        </p:nvSpPr>
        <p:spPr>
          <a:xfrm>
            <a:off x="1628140" y="2223135"/>
            <a:ext cx="8513445" cy="218884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indent="24765" algn="ctr" rtl="0" eaLnBrk="0">
              <a:lnSpc>
                <a:spcPct val="100000"/>
              </a:lnSpc>
            </a:pPr>
            <a:r>
              <a:rPr sz="7200" b="1"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rPr>
              <a:t>足基春招培训</a:t>
            </a:r>
            <a:r>
              <a:rPr lang="zh-CN" sz="7200" b="1"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rPr>
              <a:t>第一讲</a:t>
            </a:r>
            <a:r>
              <a:rPr lang="en-US" altLang="zh-CN" sz="7200" b="1"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rPr>
              <a:t>    </a:t>
            </a:r>
            <a:r>
              <a:rPr sz="72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rPr>
              <a:t> </a:t>
            </a:r>
            <a:r>
              <a:rPr lang="en-US" sz="72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rPr>
              <a:t>     </a:t>
            </a:r>
            <a:r>
              <a:rPr sz="7200" b="1"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rPr>
              <a:t>C++</a:t>
            </a:r>
            <a:r>
              <a:rPr sz="7200" b="1" kern="0" spc="-8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rPr>
              <a:t> </a:t>
            </a:r>
            <a:r>
              <a:rPr sz="7200" b="1"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rPr>
              <a:t>基础</a:t>
            </a:r>
            <a:endParaRPr sz="7200" b="1"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OS小狗笨笨黑体" panose="02000503000000000000" charset="-122"/>
            </a:endParaRPr>
          </a:p>
        </p:txBody>
      </p:sp>
      <p:pic>
        <p:nvPicPr>
          <p:cNvPr id="8" name="picture 8"/>
          <p:cNvPicPr>
            <a:picLocks noChangeAspect="1"/>
          </p:cNvPicPr>
          <p:nvPr/>
        </p:nvPicPr>
        <p:blipFill>
          <a:blip r:embed="rId3"/>
          <a:stretch>
            <a:fillRect/>
          </a:stretch>
        </p:blipFill>
        <p:spPr>
          <a:xfrm rot="21600000">
            <a:off x="539739" y="266707"/>
            <a:ext cx="711159" cy="692109"/>
          </a:xfrm>
          <a:prstGeom prst="rect">
            <a:avLst/>
          </a:prstGeom>
        </p:spPr>
      </p:pic>
      <p:sp>
        <p:nvSpPr>
          <p:cNvPr id="10" name="textbox 10"/>
          <p:cNvSpPr/>
          <p:nvPr/>
        </p:nvSpPr>
        <p:spPr>
          <a:xfrm>
            <a:off x="1420495" y="501015"/>
            <a:ext cx="1842770" cy="377825"/>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2700" algn="l" rtl="0" eaLnBrk="0">
              <a:lnSpc>
                <a:spcPct val="96000"/>
              </a:lnSpc>
            </a:pPr>
            <a:r>
              <a:rPr sz="1800" b="1" kern="0" spc="-20" dirty="0">
                <a:solidFill>
                  <a:srgbClr val="000000">
                    <a:alpha val="100000"/>
                  </a:srgbClr>
                </a:solidFill>
                <a:latin typeface="方正公文楷体" panose="02000500000000000000" charset="-122"/>
                <a:ea typeface="方正公文楷体" panose="02000500000000000000" charset="-122"/>
                <a:cs typeface="黑体" panose="02010609060101010101" charset="-122"/>
              </a:rPr>
              <a:t>足球机器人基地</a:t>
            </a:r>
            <a:endParaRPr sz="1800" dirty="0">
              <a:latin typeface="方正公文楷体" panose="02000500000000000000" charset="-122"/>
              <a:ea typeface="方正公文楷体" panose="02000500000000000000" charset="-122"/>
              <a:cs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6"/>
          <p:cNvPicPr>
            <a:picLocks noChangeAspect="1"/>
          </p:cNvPicPr>
          <p:nvPr/>
        </p:nvPicPr>
        <p:blipFill>
          <a:blip r:embed="rId1"/>
          <a:stretch>
            <a:fillRect/>
          </a:stretch>
        </p:blipFill>
        <p:spPr>
          <a:xfrm rot="21600000">
            <a:off x="0" y="0"/>
            <a:ext cx="12192000" cy="6858000"/>
          </a:xfrm>
          <a:prstGeom prst="rect">
            <a:avLst/>
          </a:prstGeom>
        </p:spPr>
      </p:pic>
      <p:sp>
        <p:nvSpPr>
          <p:cNvPr id="28" name="textbox 28"/>
          <p:cNvSpPr/>
          <p:nvPr/>
        </p:nvSpPr>
        <p:spPr>
          <a:xfrm>
            <a:off x="-112395" y="546735"/>
            <a:ext cx="6528435" cy="4896485"/>
          </a:xfrm>
          <a:prstGeom prst="rect">
            <a:avLst/>
          </a:prstGeom>
          <a:noFill/>
          <a:ln w="0" cap="flat">
            <a:noFill/>
            <a:prstDash val="solid"/>
            <a:miter lim="0"/>
          </a:ln>
        </p:spPr>
        <p:txBody>
          <a:bodyPr vert="horz" wrap="square" lIns="0" tIns="0" rIns="0" bIns="0"/>
          <a:lstStyle/>
          <a:p>
            <a:pPr algn="l" rtl="0" eaLnBrk="0">
              <a:lnSpc>
                <a:spcPct val="160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marL="873125" algn="l" rtl="0" eaLnBrk="0">
              <a:lnSpc>
                <a:spcPct val="94000"/>
              </a:lnSpc>
              <a:spcBef>
                <a:spcPts val="550"/>
              </a:spcBef>
            </a:pPr>
            <a:r>
              <a:rPr sz="2000" b="1" kern="0" spc="5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表达式</a:t>
            </a:r>
            <a:r>
              <a:rPr sz="2000" kern="0" spc="-44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5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a:t>
            </a:r>
            <a:r>
              <a:rPr sz="2000" b="1" kern="0" spc="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Expression</a:t>
            </a:r>
            <a:r>
              <a:rPr sz="2000" b="1" kern="0" spc="5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是运算符</a:t>
            </a:r>
            <a:r>
              <a:rPr sz="2000" kern="0" spc="-17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5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a:t>
            </a:r>
            <a:r>
              <a:rPr sz="2000" b="1" kern="0" spc="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Operator</a:t>
            </a:r>
            <a:r>
              <a:rPr sz="2000" b="1" kern="0" spc="5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和操作数</a:t>
            </a:r>
            <a:r>
              <a:rPr sz="2000" kern="0" spc="-5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Operand</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)组成的序列。</a:t>
            </a:r>
            <a:endParaRPr sz="2000" dirty="0">
              <a:latin typeface="方正公文楷体" panose="02000500000000000000" charset="-122"/>
              <a:ea typeface="方正公文楷体" panose="02000500000000000000" charset="-122"/>
              <a:cs typeface="方正公文楷体" panose="02000500000000000000" charset="-122"/>
            </a:endParaRPr>
          </a:p>
          <a:p>
            <a:pPr marL="869315" algn="l" rtl="0" eaLnBrk="0">
              <a:lnSpc>
                <a:spcPct val="94000"/>
              </a:lnSpc>
              <a:spcBef>
                <a:spcPts val="1090"/>
              </a:spcBef>
            </a:pP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表达式指定一项计算。计算表达式的过程称为</a:t>
            </a:r>
            <a:r>
              <a:rPr sz="2000" b="1" kern="0" spc="1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求值</a:t>
            </a:r>
            <a:r>
              <a:rPr sz="2000" kern="0" spc="-32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1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a:t>
            </a:r>
            <a:r>
              <a:rPr sz="2000" b="1" kern="0" spc="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Evaluation</a:t>
            </a:r>
            <a:r>
              <a:rPr sz="2000" b="1" kern="0" spc="10" dirty="0">
                <a:solidFill>
                  <a:srgbClr val="073066">
                    <a:alpha val="100000"/>
                  </a:srgbClr>
                </a:solidFill>
                <a:latin typeface="方正公文楷体" panose="02000500000000000000" charset="-122"/>
                <a:ea typeface="方正公文楷体" panose="02000500000000000000" charset="-122"/>
                <a:cs typeface="方正公文楷体" panose="02000500000000000000" charset="-122"/>
              </a:rPr>
              <a:t>)。</a:t>
            </a:r>
            <a:endParaRPr sz="2000" dirty="0">
              <a:latin typeface="方正公文楷体" panose="02000500000000000000" charset="-122"/>
              <a:ea typeface="方正公文楷体" panose="02000500000000000000" charset="-122"/>
              <a:cs typeface="方正公文楷体" panose="02000500000000000000" charset="-122"/>
            </a:endParaRPr>
          </a:p>
          <a:p>
            <a:pPr marL="457200" lvl="1" indent="457200" algn="l" rtl="0" eaLnBrk="0">
              <a:lnSpc>
                <a:spcPct val="134000"/>
              </a:lnSpc>
            </a:pPr>
            <a:endPar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457200" lvl="1" indent="457200" algn="l" rtl="0" eaLnBrk="0">
              <a:lnSpc>
                <a:spcPct val="134000"/>
              </a:lnSpc>
            </a:pP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一般来说，表达式求值会产生一个结果，例如：</a:t>
            </a:r>
            <a:endParaRPr sz="2000" dirty="0">
              <a:latin typeface="方正公文楷体" panose="02000500000000000000" charset="-122"/>
              <a:ea typeface="方正公文楷体" panose="02000500000000000000" charset="-122"/>
              <a:cs typeface="方正公文楷体" panose="02000500000000000000" charset="-122"/>
            </a:endParaRPr>
          </a:p>
          <a:p>
            <a:pPr marL="1155065" indent="-285750" algn="l" rtl="0" eaLnBrk="0">
              <a:lnSpc>
                <a:spcPts val="3390"/>
              </a:lnSpc>
              <a:buFont typeface="Arial" panose="020B0604020202020204" pitchFamily="34" charset="0"/>
              <a:buChar char="•"/>
            </a:pP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表</a:t>
            </a:r>
            <a:r>
              <a:rPr sz="2000" kern="0" spc="-39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达</a:t>
            </a:r>
            <a:r>
              <a:rPr sz="2000" kern="0" spc="-36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式</a:t>
            </a:r>
            <a:r>
              <a:rPr sz="2000" kern="0" spc="-80" dirty="0">
                <a:solidFill>
                  <a:srgbClr val="BF0000">
                    <a:alpha val="100000"/>
                  </a:srgbClr>
                </a:solidFill>
                <a:latin typeface="方正公文楷体" panose="02000500000000000000" charset="-122"/>
                <a:ea typeface="方正公文楷体" panose="02000500000000000000" charset="-122"/>
                <a:cs typeface="方正公文楷体" panose="02000500000000000000" charset="-122"/>
              </a:rPr>
              <a:t>1</a:t>
            </a: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的值是</a:t>
            </a:r>
            <a:r>
              <a:rPr sz="2000" kern="0" spc="-80" dirty="0">
                <a:solidFill>
                  <a:srgbClr val="BF0000">
                    <a:alpha val="100000"/>
                  </a:srgbClr>
                </a:solidFill>
                <a:latin typeface="方正公文楷体" panose="02000500000000000000" charset="-122"/>
                <a:ea typeface="方正公文楷体" panose="02000500000000000000" charset="-122"/>
                <a:cs typeface="方正公文楷体" panose="02000500000000000000" charset="-122"/>
              </a:rPr>
              <a:t>1 </a:t>
            </a: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endParaRPr sz="2000" dirty="0">
              <a:latin typeface="方正公文楷体" panose="02000500000000000000" charset="-122"/>
              <a:ea typeface="方正公文楷体" panose="02000500000000000000" charset="-122"/>
              <a:cs typeface="方正公文楷体" panose="02000500000000000000" charset="-122"/>
            </a:endParaRPr>
          </a:p>
          <a:p>
            <a:pPr marL="1155065" indent="-285750" algn="l" rtl="0" eaLnBrk="0">
              <a:lnSpc>
                <a:spcPct val="94000"/>
              </a:lnSpc>
              <a:spcBef>
                <a:spcPts val="1285"/>
              </a:spcBef>
              <a:buFont typeface="Arial" panose="020B0604020202020204" pitchFamily="34" charset="0"/>
              <a:buChar char="•"/>
            </a:pP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当</a:t>
            </a:r>
            <a:r>
              <a:rPr sz="2000" kern="0" spc="0" dirty="0">
                <a:solidFill>
                  <a:srgbClr val="BF0000">
                    <a:alpha val="100000"/>
                  </a:srgbClr>
                </a:solidFill>
                <a:latin typeface="方正公文楷体" panose="02000500000000000000" charset="-122"/>
                <a:ea typeface="方正公文楷体" panose="02000500000000000000" charset="-122"/>
                <a:cs typeface="方正公文楷体" panose="02000500000000000000" charset="-122"/>
              </a:rPr>
              <a:t>num</a:t>
            </a: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的值是</a:t>
            </a:r>
            <a:r>
              <a:rPr sz="2000" kern="0" spc="20" dirty="0">
                <a:solidFill>
                  <a:srgbClr val="BF0000">
                    <a:alpha val="100000"/>
                  </a:srgbClr>
                </a:solidFill>
                <a:latin typeface="方正公文楷体" panose="02000500000000000000" charset="-122"/>
                <a:ea typeface="方正公文楷体" panose="02000500000000000000" charset="-122"/>
                <a:cs typeface="方正公文楷体" panose="02000500000000000000" charset="-122"/>
              </a:rPr>
              <a:t>3</a:t>
            </a: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时</a:t>
            </a: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，表达式</a:t>
            </a:r>
            <a:r>
              <a:rPr sz="2000" kern="0" spc="0" dirty="0">
                <a:solidFill>
                  <a:srgbClr val="BF0000">
                    <a:alpha val="100000"/>
                  </a:srgbClr>
                </a:solidFill>
                <a:latin typeface="方正公文楷体" panose="02000500000000000000" charset="-122"/>
                <a:ea typeface="方正公文楷体" panose="02000500000000000000" charset="-122"/>
                <a:cs typeface="方正公文楷体" panose="02000500000000000000" charset="-122"/>
              </a:rPr>
              <a:t>num</a:t>
            </a:r>
            <a:r>
              <a:rPr sz="2000" kern="0" spc="20" dirty="0">
                <a:solidFill>
                  <a:srgbClr val="BF0000">
                    <a:alpha val="100000"/>
                  </a:srgbClr>
                </a:solidFill>
                <a:latin typeface="方正公文楷体" panose="02000500000000000000" charset="-122"/>
                <a:ea typeface="方正公文楷体" panose="02000500000000000000" charset="-122"/>
                <a:cs typeface="方正公文楷体" panose="02000500000000000000" charset="-122"/>
              </a:rPr>
              <a:t>%2</a:t>
            </a: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的值是</a:t>
            </a:r>
            <a:r>
              <a:rPr sz="2000" kern="0" spc="10" dirty="0">
                <a:solidFill>
                  <a:srgbClr val="BF0000">
                    <a:alpha val="100000"/>
                  </a:srgbClr>
                </a:solidFill>
                <a:latin typeface="方正公文楷体" panose="02000500000000000000" charset="-122"/>
                <a:ea typeface="方正公文楷体" panose="02000500000000000000" charset="-122"/>
                <a:cs typeface="方正公文楷体" panose="02000500000000000000" charset="-122"/>
              </a:rPr>
              <a:t>1</a:t>
            </a:r>
            <a:r>
              <a:rPr sz="2000" kern="0" spc="-450" dirty="0">
                <a:solidFill>
                  <a:srgbClr val="BF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endParaRPr sz="2000" dirty="0">
              <a:latin typeface="方正公文楷体" panose="02000500000000000000" charset="-122"/>
              <a:ea typeface="方正公文楷体" panose="02000500000000000000" charset="-122"/>
              <a:cs typeface="方正公文楷体" panose="02000500000000000000" charset="-122"/>
            </a:endParaRPr>
          </a:p>
          <a:p>
            <a:pPr marL="457200" lvl="1" indent="457200" algn="l" rtl="0" eaLnBrk="0">
              <a:lnSpc>
                <a:spcPct val="131000"/>
              </a:lnSpc>
            </a:pP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有时，表达式求值会产生一个</a:t>
            </a:r>
            <a:r>
              <a:rPr sz="2000" b="1"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副作用</a:t>
            </a:r>
            <a:r>
              <a:rPr sz="2000" b="1"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例</a:t>
            </a:r>
            <a:r>
              <a:rPr sz="2000" kern="0" spc="-3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如</a:t>
            </a:r>
            <a:r>
              <a:rPr sz="2000" kern="0" spc="-4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endParaRPr sz="2000" dirty="0">
              <a:latin typeface="方正公文楷体" panose="02000500000000000000" charset="-122"/>
              <a:ea typeface="方正公文楷体" panose="02000500000000000000" charset="-122"/>
              <a:cs typeface="方正公文楷体" panose="02000500000000000000" charset="-122"/>
            </a:endParaRPr>
          </a:p>
          <a:p>
            <a:pPr marL="1155065" indent="-285750" algn="l" rtl="0" eaLnBrk="0">
              <a:lnSpc>
                <a:spcPct val="97000"/>
              </a:lnSpc>
              <a:spcBef>
                <a:spcPts val="1395"/>
              </a:spcBef>
              <a:buFont typeface="Arial" panose="020B0604020202020204" pitchFamily="34" charset="0"/>
              <a:buChar char="•"/>
            </a:pP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表达式</a:t>
            </a:r>
            <a:r>
              <a:rPr sz="2000" kern="0" spc="0" dirty="0">
                <a:solidFill>
                  <a:srgbClr val="B80000">
                    <a:alpha val="100000"/>
                  </a:srgbClr>
                </a:solidFill>
                <a:latin typeface="方正公文楷体" panose="02000500000000000000" charset="-122"/>
                <a:ea typeface="方正公文楷体" panose="02000500000000000000" charset="-122"/>
                <a:cs typeface="方正公文楷体" panose="02000500000000000000" charset="-122"/>
              </a:rPr>
              <a:t>i++</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的值是</a:t>
            </a:r>
            <a:r>
              <a:rPr sz="2000" kern="0" spc="0" dirty="0">
                <a:solidFill>
                  <a:srgbClr val="B80000">
                    <a:alpha val="100000"/>
                  </a:srgbClr>
                </a:solidFill>
                <a:latin typeface="方正公文楷体" panose="02000500000000000000" charset="-122"/>
                <a:ea typeface="方正公文楷体" panose="02000500000000000000" charset="-122"/>
                <a:cs typeface="方正公文楷体" panose="02000500000000000000" charset="-122"/>
              </a:rPr>
              <a:t>i </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,副作用是</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令</a:t>
            </a:r>
            <a:r>
              <a:rPr sz="2000" kern="0" spc="-10" dirty="0">
                <a:solidFill>
                  <a:srgbClr val="B80000">
                    <a:alpha val="100000"/>
                  </a:srgbClr>
                </a:solidFill>
                <a:latin typeface="方正公文楷体" panose="02000500000000000000" charset="-122"/>
                <a:ea typeface="方正公文楷体" panose="02000500000000000000" charset="-122"/>
                <a:cs typeface="方正公文楷体" panose="02000500000000000000" charset="-122"/>
              </a:rPr>
              <a:t>i</a:t>
            </a:r>
            <a:r>
              <a:rPr sz="2000" kern="0" spc="-230" dirty="0">
                <a:solidFill>
                  <a:srgbClr val="B8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的值自增。</a:t>
            </a: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10000"/>
              </a:lnSpc>
            </a:pPr>
            <a:endParaRPr sz="1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8000"/>
              </a:lnSpc>
            </a:pPr>
            <a:endParaRPr sz="200" dirty="0">
              <a:latin typeface="方正公文楷体" panose="02000500000000000000" charset="-122"/>
              <a:ea typeface="方正公文楷体" panose="02000500000000000000" charset="-122"/>
              <a:cs typeface="方正公文楷体" panose="02000500000000000000" charset="-122"/>
            </a:endParaRPr>
          </a:p>
          <a:p>
            <a:pPr marL="1155065" indent="-285750" algn="l" rtl="0" eaLnBrk="0">
              <a:lnSpc>
                <a:spcPct val="96000"/>
              </a:lnSpc>
              <a:buFont typeface="Arial" panose="020B0604020202020204" pitchFamily="34" charset="0"/>
              <a:buChar char="•"/>
            </a:pP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表达式</a:t>
            </a:r>
            <a:r>
              <a:rPr sz="2000" kern="0" spc="-30" dirty="0">
                <a:solidFill>
                  <a:srgbClr val="B80000">
                    <a:alpha val="100000"/>
                  </a:srgbClr>
                </a:solidFill>
                <a:latin typeface="方正公文楷体" panose="02000500000000000000" charset="-122"/>
                <a:ea typeface="方正公文楷体" panose="02000500000000000000" charset="-122"/>
                <a:cs typeface="方正公文楷体" panose="02000500000000000000" charset="-122"/>
              </a:rPr>
              <a:t>printf("</a:t>
            </a:r>
            <a:r>
              <a:rPr sz="2000" kern="0" spc="-40" dirty="0">
                <a:solidFill>
                  <a:srgbClr val="B80000">
                    <a:alpha val="100000"/>
                  </a:srgbClr>
                </a:solidFill>
                <a:latin typeface="方正公文楷体" panose="02000500000000000000" charset="-122"/>
                <a:ea typeface="方正公文楷体" panose="02000500000000000000" charset="-122"/>
                <a:cs typeface="方正公文楷体" panose="02000500000000000000" charset="-122"/>
              </a:rPr>
              <a:t>hello")</a:t>
            </a: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的副作用是在终端打印hello。</a:t>
            </a:r>
            <a:endPar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30" name="picture 30"/>
          <p:cNvPicPr>
            <a:picLocks noChangeAspect="1"/>
          </p:cNvPicPr>
          <p:nvPr/>
        </p:nvPicPr>
        <p:blipFill>
          <a:blip r:embed="rId2"/>
          <a:stretch>
            <a:fillRect/>
          </a:stretch>
        </p:blipFill>
        <p:spPr>
          <a:xfrm rot="21600000">
            <a:off x="539739" y="273016"/>
            <a:ext cx="704819" cy="685800"/>
          </a:xfrm>
          <a:prstGeom prst="rect">
            <a:avLst/>
          </a:prstGeom>
        </p:spPr>
      </p:pic>
      <p:sp>
        <p:nvSpPr>
          <p:cNvPr id="2" name="文本框 1"/>
          <p:cNvSpPr txBox="1"/>
          <p:nvPr/>
        </p:nvSpPr>
        <p:spPr>
          <a:xfrm>
            <a:off x="6883400" y="1216025"/>
            <a:ext cx="5116195" cy="3996055"/>
          </a:xfrm>
          <a:prstGeom prst="rect">
            <a:avLst/>
          </a:prstGeom>
          <a:noFill/>
        </p:spPr>
        <p:txBody>
          <a:bodyPr wrap="square" rtlCol="0">
            <a:spAutoFit/>
          </a:bodyPr>
          <a:p>
            <a:pPr marL="298450" indent="-285750" algn="l" rtl="0" eaLnBrk="0">
              <a:lnSpc>
                <a:spcPct val="95000"/>
              </a:lnSpc>
              <a:spcBef>
                <a:spcPts val="545"/>
              </a:spcBef>
              <a:buFont typeface="Arial" panose="020B0604020202020204" pitchFamily="34" charset="0"/>
              <a:buChar char="•"/>
            </a:pPr>
            <a:r>
              <a:rPr sz="2000" kern="0" spc="-9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常见的表达式有以下这些：</a:t>
            </a:r>
            <a:endParaRPr sz="2000" dirty="0">
              <a:latin typeface="方正公文楷体" panose="02000500000000000000" charset="-122"/>
              <a:ea typeface="方正公文楷体" panose="02000500000000000000" charset="-122"/>
              <a:cs typeface="方正公文楷体" panose="02000500000000000000" charset="-122"/>
            </a:endParaRPr>
          </a:p>
          <a:p>
            <a:pPr marL="469900" indent="-457200" algn="l" rtl="0" eaLnBrk="0">
              <a:lnSpc>
                <a:spcPts val="2455"/>
              </a:lnSpc>
              <a:spcBef>
                <a:spcPts val="810"/>
              </a:spcBef>
              <a:buFont typeface="+mj-ea"/>
              <a:buAutoNum type="circleNumDbPlain"/>
            </a:pPr>
            <a:r>
              <a:rPr sz="2000" kern="0" spc="-6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 </a:t>
            </a:r>
            <a:r>
              <a:rPr sz="2000" kern="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操作数本身就是表达式。如</a:t>
            </a:r>
            <a:r>
              <a:rPr sz="2000" kern="0" dirty="0">
                <a:solidFill>
                  <a:srgbClr val="C60000">
                    <a:alpha val="100000"/>
                  </a:srgbClr>
                </a:solidFill>
                <a:latin typeface="方正公文楷体" panose="02000500000000000000" charset="-122"/>
                <a:ea typeface="方正公文楷体" panose="02000500000000000000" charset="-122"/>
                <a:cs typeface="方正公文楷体" panose="02000500000000000000" charset="-122"/>
                <a:sym typeface="+mn-ea"/>
              </a:rPr>
              <a:t>i</a:t>
            </a:r>
            <a:r>
              <a:rPr sz="2000" kern="0" dirty="0">
                <a:solidFill>
                  <a:srgbClr val="C60000">
                    <a:alpha val="100000"/>
                  </a:srgbClr>
                </a:solidFill>
                <a:latin typeface="方正公文楷体" panose="02000500000000000000" charset="-122"/>
                <a:ea typeface="方正公文楷体" panose="02000500000000000000" charset="-122"/>
                <a:cs typeface="方正公文楷体" panose="02000500000000000000" charset="-122"/>
                <a:sym typeface="+mn-ea"/>
              </a:rPr>
              <a:t> </a:t>
            </a:r>
            <a:r>
              <a:rPr sz="2000" kern="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sz="2000" kern="0" dirty="0">
                <a:solidFill>
                  <a:srgbClr val="C60000">
                    <a:alpha val="100000"/>
                  </a:srgbClr>
                </a:solidFill>
                <a:latin typeface="方正公文楷体" panose="02000500000000000000" charset="-122"/>
                <a:ea typeface="方正公文楷体" panose="02000500000000000000" charset="-122"/>
                <a:cs typeface="方正公文楷体" panose="02000500000000000000" charset="-122"/>
                <a:sym typeface="+mn-ea"/>
              </a:rPr>
              <a:t> 100</a:t>
            </a:r>
            <a:r>
              <a:rPr sz="2000" kern="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sz="2000" kern="0" dirty="0">
                <a:solidFill>
                  <a:srgbClr val="C60000">
                    <a:alpha val="100000"/>
                  </a:srgbClr>
                </a:solidFill>
                <a:latin typeface="方正公文楷体" panose="02000500000000000000" charset="-122"/>
                <a:ea typeface="方正公文楷体" panose="02000500000000000000" charset="-122"/>
                <a:cs typeface="方正公文楷体" panose="02000500000000000000" charset="-122"/>
                <a:sym typeface="+mn-ea"/>
              </a:rPr>
              <a:t>"hello"</a:t>
            </a:r>
            <a:r>
              <a:rPr sz="2000" kern="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endParaRPr sz="2000" dirty="0">
              <a:latin typeface="方正公文楷体" panose="02000500000000000000" charset="-122"/>
              <a:ea typeface="方正公文楷体" panose="02000500000000000000" charset="-122"/>
              <a:cs typeface="方正公文楷体" panose="02000500000000000000" charset="-122"/>
            </a:endParaRPr>
          </a:p>
          <a:p>
            <a:pPr marL="469900" indent="-457200" algn="l" rtl="0" eaLnBrk="0">
              <a:lnSpc>
                <a:spcPct val="138000"/>
              </a:lnSpc>
              <a:spcBef>
                <a:spcPts val="490"/>
              </a:spcBef>
              <a:buFont typeface="+mj-ea"/>
              <a:buAutoNum type="circleNumDbPlain"/>
            </a:pP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由赋值、自增自减、算术、逻辑、比较、成员访问、括号、逗</a:t>
            </a:r>
            <a:r>
              <a:rPr sz="2000" kern="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号、条件运算符以及 </a:t>
            </a:r>
            <a:r>
              <a:rPr sz="2000" kern="0" dirty="0">
                <a:solidFill>
                  <a:srgbClr val="C60000">
                    <a:alpha val="100000"/>
                  </a:srgbClr>
                </a:solidFill>
                <a:latin typeface="方正公文楷体" panose="02000500000000000000" charset="-122"/>
                <a:ea typeface="方正公文楷体" panose="02000500000000000000" charset="-122"/>
                <a:cs typeface="方正公文楷体" panose="02000500000000000000" charset="-122"/>
                <a:sym typeface="+mn-ea"/>
              </a:rPr>
              <a:t>sizeof</a:t>
            </a:r>
            <a:r>
              <a:rPr sz="2000" kern="0" spc="640" dirty="0">
                <a:solidFill>
                  <a:srgbClr val="C60000">
                    <a:alpha val="100000"/>
                  </a:srgbClr>
                </a:solidFill>
                <a:latin typeface="方正公文楷体" panose="02000500000000000000" charset="-122"/>
                <a:ea typeface="方正公文楷体" panose="02000500000000000000" charset="-122"/>
                <a:cs typeface="方正公文楷体" panose="02000500000000000000" charset="-122"/>
                <a:sym typeface="+mn-ea"/>
              </a:rPr>
              <a:t> </a:t>
            </a:r>
            <a:r>
              <a:rPr sz="2000" kern="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等运算符构</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成的表达式。</a:t>
            </a:r>
            <a:endParaRPr sz="2000" dirty="0">
              <a:latin typeface="方正公文楷体" panose="02000500000000000000" charset="-122"/>
              <a:ea typeface="方正公文楷体" panose="02000500000000000000" charset="-122"/>
              <a:cs typeface="方正公文楷体" panose="02000500000000000000" charset="-122"/>
            </a:endParaRPr>
          </a:p>
          <a:p>
            <a:pPr marL="469900" indent="-457200" algn="l" rtl="0" eaLnBrk="0">
              <a:lnSpc>
                <a:spcPct val="96000"/>
              </a:lnSpc>
              <a:spcBef>
                <a:spcPts val="1190"/>
              </a:spcBef>
              <a:buFont typeface="+mj-ea"/>
              <a:buAutoNum type="circleNumDbPlain"/>
            </a:pP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函数调用也是表达式。</a:t>
            </a: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28000"/>
              </a:lnSpc>
            </a:pP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28000"/>
              </a:lnSpc>
            </a:pP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表达式具有类型</a:t>
            </a:r>
            <a:r>
              <a:rPr lang="zh-CN"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常见的类型</a:t>
            </a:r>
            <a:r>
              <a:rPr sz="2000" kern="0" spc="-10" dirty="0">
                <a:solidFill>
                  <a:srgbClr val="C10000">
                    <a:alpha val="100000"/>
                  </a:srgbClr>
                </a:solidFill>
                <a:latin typeface="方正公文楷体" panose="02000500000000000000" charset="-122"/>
                <a:ea typeface="方正公文楷体" panose="02000500000000000000" charset="-122"/>
                <a:cs typeface="方正公文楷体" panose="02000500000000000000" charset="-122"/>
                <a:sym typeface="+mn-ea"/>
              </a:rPr>
              <a:t>i</a:t>
            </a:r>
            <a:r>
              <a:rPr sz="2000" kern="0" spc="-20" dirty="0">
                <a:solidFill>
                  <a:srgbClr val="C10000">
                    <a:alpha val="100000"/>
                  </a:srgbClr>
                </a:solidFill>
                <a:latin typeface="方正公文楷体" panose="02000500000000000000" charset="-122"/>
                <a:ea typeface="方正公文楷体" panose="02000500000000000000" charset="-122"/>
                <a:cs typeface="方正公文楷体" panose="02000500000000000000" charset="-122"/>
                <a:sym typeface="+mn-ea"/>
              </a:rPr>
              <a:t>nt</a:t>
            </a: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sz="2000" kern="0" spc="-20" dirty="0">
                <a:solidFill>
                  <a:srgbClr val="C10000">
                    <a:alpha val="100000"/>
                  </a:srgbClr>
                </a:solidFill>
                <a:latin typeface="方正公文楷体" panose="02000500000000000000" charset="-122"/>
                <a:ea typeface="方正公文楷体" panose="02000500000000000000" charset="-122"/>
                <a:cs typeface="方正公文楷体" panose="02000500000000000000" charset="-122"/>
                <a:sym typeface="+mn-ea"/>
              </a:rPr>
              <a:t>float</a:t>
            </a: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sz="2000" kern="0" spc="-20" dirty="0">
                <a:solidFill>
                  <a:srgbClr val="C10000">
                    <a:alpha val="100000"/>
                  </a:srgbClr>
                </a:solidFill>
                <a:latin typeface="方正公文楷体" panose="02000500000000000000" charset="-122"/>
                <a:ea typeface="方正公文楷体" panose="02000500000000000000" charset="-122"/>
                <a:cs typeface="方正公文楷体" panose="02000500000000000000" charset="-122"/>
                <a:sym typeface="+mn-ea"/>
              </a:rPr>
              <a:t>char</a:t>
            </a: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等。</a:t>
            </a:r>
            <a:endPar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endParaRPr lang="zh-CN" altLang="en-US"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3" name="文本框 2"/>
          <p:cNvSpPr txBox="1"/>
          <p:nvPr/>
        </p:nvSpPr>
        <p:spPr>
          <a:xfrm>
            <a:off x="1244600" y="405765"/>
            <a:ext cx="3674110" cy="645160"/>
          </a:xfrm>
          <a:prstGeom prst="rect">
            <a:avLst/>
          </a:prstGeom>
          <a:noFill/>
        </p:spPr>
        <p:txBody>
          <a:bodyPr wrap="square" rtlCol="0">
            <a:spAutoFit/>
          </a:bodyPr>
          <a:p>
            <a:r>
              <a:rPr lang="en-US" altLang="zh-CN" b="1">
                <a:latin typeface="方正公文楷体" panose="02000500000000000000" charset="-122"/>
                <a:ea typeface="方正公文楷体" panose="02000500000000000000" charset="-122"/>
                <a:cs typeface="方正公文楷体" panose="02000500000000000000" charset="-122"/>
              </a:rPr>
              <a:t>C++</a:t>
            </a:r>
            <a:r>
              <a:rPr lang="zh-CN" altLang="en-US" b="1">
                <a:latin typeface="方正公文楷体" panose="02000500000000000000" charset="-122"/>
                <a:ea typeface="方正公文楷体" panose="02000500000000000000" charset="-122"/>
                <a:cs typeface="方正公文楷体" panose="02000500000000000000" charset="-122"/>
              </a:rPr>
              <a:t>基础</a:t>
            </a:r>
            <a:r>
              <a:rPr lang="en-US" altLang="zh-CN" b="1">
                <a:latin typeface="方正公文楷体" panose="02000500000000000000" charset="-122"/>
                <a:ea typeface="方正公文楷体" panose="02000500000000000000" charset="-122"/>
                <a:cs typeface="方正公文楷体" panose="02000500000000000000" charset="-122"/>
              </a:rPr>
              <a:t>——</a:t>
            </a:r>
            <a:r>
              <a:rPr lang="zh-CN" altLang="en-US" b="1">
                <a:latin typeface="方正公文楷体" panose="02000500000000000000" charset="-122"/>
                <a:ea typeface="方正公文楷体" panose="02000500000000000000" charset="-122"/>
                <a:cs typeface="方正公文楷体" panose="02000500000000000000" charset="-122"/>
              </a:rPr>
              <a:t>回</a:t>
            </a:r>
            <a:r>
              <a:rPr lang="en-US" altLang="zh-CN" b="1">
                <a:latin typeface="方正公文楷体" panose="02000500000000000000" charset="-122"/>
                <a:ea typeface="方正公文楷体" panose="02000500000000000000" charset="-122"/>
                <a:cs typeface="方正公文楷体" panose="02000500000000000000" charset="-122"/>
              </a:rPr>
              <a:t> </a:t>
            </a:r>
            <a:r>
              <a:rPr lang="zh-CN" altLang="en-US" b="1">
                <a:latin typeface="方正公文楷体" panose="02000500000000000000" charset="-122"/>
                <a:ea typeface="方正公文楷体" panose="02000500000000000000" charset="-122"/>
                <a:cs typeface="方正公文楷体" panose="02000500000000000000" charset="-122"/>
              </a:rPr>
              <a:t>顾</a:t>
            </a:r>
            <a:r>
              <a:rPr lang="en-US" altLang="zh-CN" b="1">
                <a:latin typeface="方正公文楷体" panose="02000500000000000000" charset="-122"/>
                <a:ea typeface="方正公文楷体" panose="02000500000000000000" charset="-122"/>
                <a:cs typeface="方正公文楷体" panose="02000500000000000000" charset="-122"/>
              </a:rPr>
              <a:t>C</a:t>
            </a:r>
            <a:r>
              <a:rPr lang="zh-CN" altLang="en-US" b="1">
                <a:latin typeface="方正公文楷体" panose="02000500000000000000" charset="-122"/>
                <a:ea typeface="方正公文楷体" panose="02000500000000000000" charset="-122"/>
                <a:cs typeface="方正公文楷体" panose="02000500000000000000" charset="-122"/>
              </a:rPr>
              <a:t>语言</a:t>
            </a:r>
            <a:endParaRPr lang="zh-CN" altLang="en-US" b="1">
              <a:latin typeface="方正公文楷体" panose="02000500000000000000" charset="-122"/>
              <a:ea typeface="方正公文楷体" panose="02000500000000000000" charset="-122"/>
              <a:cs typeface="方正公文楷体" panose="02000500000000000000" charset="-122"/>
            </a:endParaRPr>
          </a:p>
          <a:p>
            <a:endParaRPr lang="zh-CN" altLang="en-US" b="1">
              <a:latin typeface="方正公文楷体" panose="02000500000000000000" charset="-122"/>
              <a:ea typeface="方正公文楷体" panose="02000500000000000000" charset="-122"/>
              <a:cs typeface="方正公文楷体" panose="020005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8"/>
          <p:cNvPicPr>
            <a:picLocks noChangeAspect="1"/>
          </p:cNvPicPr>
          <p:nvPr/>
        </p:nvPicPr>
        <p:blipFill>
          <a:blip r:embed="rId1"/>
          <a:stretch>
            <a:fillRect/>
          </a:stretch>
        </p:blipFill>
        <p:spPr>
          <a:xfrm rot="21600000">
            <a:off x="0" y="0"/>
            <a:ext cx="12192000" cy="6858000"/>
          </a:xfrm>
          <a:prstGeom prst="rect">
            <a:avLst/>
          </a:prstGeom>
        </p:spPr>
      </p:pic>
      <p:sp>
        <p:nvSpPr>
          <p:cNvPr id="40" name="textbox 40"/>
          <p:cNvSpPr/>
          <p:nvPr/>
        </p:nvSpPr>
        <p:spPr>
          <a:xfrm>
            <a:off x="533400" y="260350"/>
            <a:ext cx="9806940" cy="3421380"/>
          </a:xfrm>
          <a:prstGeom prst="rect">
            <a:avLst/>
          </a:prstGeom>
          <a:noFill/>
          <a:ln w="0" cap="flat">
            <a:noFill/>
            <a:prstDash val="solid"/>
            <a:miter lim="0"/>
          </a:ln>
        </p:spPr>
        <p:txBody>
          <a:bodyPr vert="horz" wrap="square" lIns="0" tIns="0" rIns="0" bIns="0"/>
          <a:lstStyle/>
          <a:p>
            <a:pPr algn="l" rtl="0" eaLnBrk="0">
              <a:lnSpc>
                <a:spcPct val="160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716915" algn="l" rtl="0" eaLnBrk="0">
              <a:lnSpc>
                <a:spcPct val="98000"/>
              </a:lnSpc>
              <a:tabLst>
                <a:tab pos="860425" algn="l"/>
              </a:tabLst>
            </a:pPr>
            <a:r>
              <a:rPr sz="1800" kern="0" spc="0" dirty="0">
                <a:solidFill>
                  <a:srgbClr val="09306C">
                    <a:alpha val="100000"/>
                  </a:srgbClr>
                </a:solidFill>
                <a:latin typeface="黑体" panose="02010609060101010101" charset="-122"/>
                <a:ea typeface="黑体" panose="02010609060101010101" charset="-122"/>
                <a:cs typeface="黑体" panose="02010609060101010101" charset="-122"/>
              </a:rPr>
              <a:t>	</a:t>
            </a:r>
            <a:endParaRPr sz="1800" dirty="0">
              <a:latin typeface="黑体" panose="02010609060101010101" charset="-122"/>
              <a:ea typeface="黑体" panose="02010609060101010101" charset="-122"/>
              <a:cs typeface="黑体" panose="02010609060101010101" charset="-122"/>
            </a:endParaRPr>
          </a:p>
          <a:p>
            <a:pPr algn="l" rtl="0" eaLnBrk="0">
              <a:lnSpc>
                <a:spcPct val="149000"/>
              </a:lnSpc>
            </a:pPr>
            <a:endParaRPr sz="1000" dirty="0">
              <a:latin typeface="Arial" panose="020B0604020202020204"/>
              <a:ea typeface="Arial" panose="020B0604020202020204"/>
              <a:cs typeface="Arial" panose="020B0604020202020204"/>
            </a:endParaRPr>
          </a:p>
          <a:p>
            <a:pPr algn="l" rtl="0" eaLnBrk="0">
              <a:lnSpc>
                <a:spcPct val="149000"/>
              </a:lnSpc>
            </a:pPr>
            <a:endParaRPr sz="1000" dirty="0">
              <a:latin typeface="Arial" panose="020B0604020202020204"/>
              <a:ea typeface="Arial" panose="020B0604020202020204"/>
              <a:cs typeface="Arial" panose="020B0604020202020204"/>
            </a:endParaRPr>
          </a:p>
          <a:p>
            <a:pPr marL="860425" algn="l" rtl="0" eaLnBrk="0">
              <a:lnSpc>
                <a:spcPct val="94000"/>
              </a:lnSpc>
              <a:spcBef>
                <a:spcPts val="550"/>
              </a:spcBef>
            </a:pPr>
            <a:r>
              <a:rPr sz="2000" b="1"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语句</a:t>
            </a:r>
            <a:r>
              <a:rPr sz="2000" kern="0" spc="-3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(Statement)   </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是按照顺序执行的程序片段</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。常见的语句有：</a:t>
            </a:r>
            <a:endParaRPr sz="2000" dirty="0">
              <a:latin typeface="方正公文楷体" panose="02000500000000000000" charset="-122"/>
              <a:ea typeface="方正公文楷体" panose="02000500000000000000" charset="-122"/>
              <a:cs typeface="方正公文楷体" panose="02000500000000000000" charset="-122"/>
            </a:endParaRPr>
          </a:p>
          <a:p>
            <a:pPr marL="1199515" indent="-342900" algn="l" rtl="0" eaLnBrk="0">
              <a:lnSpc>
                <a:spcPct val="98000"/>
              </a:lnSpc>
              <a:spcBef>
                <a:spcPts val="1505"/>
              </a:spcBef>
              <a:buFont typeface="Arial" panose="020B0604020202020204" pitchFamily="34" charset="0"/>
              <a:buChar char="•"/>
            </a:pPr>
            <a:r>
              <a:rPr sz="2000" kern="0" spc="-3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表达式语句   </a:t>
            </a: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表达式加上分号构成的语句。单独的分号称为空语句。</a:t>
            </a:r>
            <a:endParaRPr sz="2000" dirty="0">
              <a:latin typeface="方正公文楷体" panose="02000500000000000000" charset="-122"/>
              <a:ea typeface="方正公文楷体" panose="02000500000000000000" charset="-122"/>
              <a:cs typeface="方正公文楷体" panose="02000500000000000000" charset="-122"/>
            </a:endParaRPr>
          </a:p>
          <a:p>
            <a:pPr marL="856615" indent="0" algn="l" rtl="0" eaLnBrk="0">
              <a:lnSpc>
                <a:spcPct val="98000"/>
              </a:lnSpc>
              <a:spcBef>
                <a:spcPts val="1150"/>
              </a:spcBef>
              <a:buFont typeface="Arial" panose="020B0604020202020204" pitchFamily="34" charset="0"/>
              <a:buNone/>
            </a:pPr>
            <a:r>
              <a:rPr lang="en-US" altLang="zh-CN" sz="2000" kern="0" spc="-3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    </a:t>
            </a:r>
            <a:r>
              <a:rPr lang="en-US" altLang="zh-CN" sz="2000" u="sng" kern="0" spc="-3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 </a:t>
            </a:r>
            <a:r>
              <a:rPr lang="en-US" altLang="zh-CN" sz="2000" i="1" u="sng"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int a = 10; a++;</a:t>
            </a:r>
            <a:endParaRPr lang="en-US" altLang="zh-CN" sz="2000" i="1" u="sng"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199515" indent="-342900" algn="l" rtl="0" eaLnBrk="0">
              <a:lnSpc>
                <a:spcPct val="98000"/>
              </a:lnSpc>
              <a:spcBef>
                <a:spcPts val="1150"/>
              </a:spcBef>
              <a:buFont typeface="Arial" panose="020B0604020202020204" pitchFamily="34" charset="0"/>
              <a:buChar char="•"/>
            </a:pPr>
            <a:r>
              <a:rPr sz="2000" kern="0" spc="-3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复合语句 </a:t>
            </a: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花括</a:t>
            </a: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号环绕的语句序列。也称为块。</a:t>
            </a:r>
            <a:endParaRPr sz="2000" dirty="0">
              <a:latin typeface="方正公文楷体" panose="02000500000000000000" charset="-122"/>
              <a:ea typeface="方正公文楷体" panose="02000500000000000000" charset="-122"/>
              <a:cs typeface="方正公文楷体" panose="02000500000000000000" charset="-122"/>
            </a:endParaRPr>
          </a:p>
          <a:p>
            <a:pPr marL="856615" indent="457200" algn="l" rtl="0" eaLnBrk="0">
              <a:lnSpc>
                <a:spcPct val="98000"/>
              </a:lnSpc>
              <a:spcBef>
                <a:spcPts val="1120"/>
              </a:spcBef>
              <a:buFont typeface="Arial" panose="020B0604020202020204" pitchFamily="34" charset="0"/>
              <a:buNone/>
            </a:pPr>
            <a:r>
              <a:rPr lang="en-US" altLang="zh-CN" sz="2000" i="1" u="sng"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a:t>
            </a:r>
            <a:endParaRPr lang="en-US" altLang="zh-CN" sz="2000" i="1" u="sng"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199515" indent="-342900" algn="l" rtl="0" eaLnBrk="0">
              <a:lnSpc>
                <a:spcPct val="98000"/>
              </a:lnSpc>
              <a:spcBef>
                <a:spcPts val="1120"/>
              </a:spcBef>
              <a:buFont typeface="Arial" panose="020B0604020202020204" pitchFamily="34" charset="0"/>
              <a:buChar char="•"/>
            </a:pPr>
            <a:r>
              <a:rPr sz="2000" kern="0" spc="-6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声明语句</a:t>
            </a:r>
            <a:r>
              <a:rPr sz="2000" kern="0" spc="1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6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用于在块中引入名</a:t>
            </a:r>
            <a:r>
              <a:rPr sz="2000" kern="0" spc="-7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字。</a:t>
            </a:r>
            <a:endParaRPr sz="2000" dirty="0">
              <a:latin typeface="方正公文楷体" panose="02000500000000000000" charset="-122"/>
              <a:ea typeface="方正公文楷体" panose="02000500000000000000" charset="-122"/>
              <a:cs typeface="方正公文楷体" panose="02000500000000000000" charset="-122"/>
            </a:endParaRPr>
          </a:p>
          <a:p>
            <a:pPr marL="856615" indent="457200" algn="l" rtl="0" eaLnBrk="0">
              <a:lnSpc>
                <a:spcPct val="98000"/>
              </a:lnSpc>
              <a:spcBef>
                <a:spcPts val="1085"/>
              </a:spcBef>
              <a:buFont typeface="Arial" panose="020B0604020202020204" pitchFamily="34" charset="0"/>
              <a:buNone/>
            </a:pPr>
            <a:r>
              <a:rPr lang="en-US" altLang="zh-CN" sz="2000" i="1" u="sng"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int num; int add(int x, int y);  </a:t>
            </a:r>
            <a:endParaRPr lang="en-US" altLang="zh-CN" sz="2000" i="1" u="sng"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199515" indent="-342900" algn="l" rtl="0" eaLnBrk="0">
              <a:lnSpc>
                <a:spcPct val="98000"/>
              </a:lnSpc>
              <a:spcBef>
                <a:spcPts val="1085"/>
              </a:spcBef>
              <a:buFont typeface="Arial" panose="020B0604020202020204" pitchFamily="34" charset="0"/>
              <a:buChar char="•"/>
            </a:pPr>
            <a:r>
              <a:rPr sz="2000" kern="0" spc="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选择语句     </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在多个流中选择一个。例如</a:t>
            </a:r>
            <a:r>
              <a:rPr sz="2000" kern="0" spc="0" dirty="0">
                <a:solidFill>
                  <a:srgbClr val="C40000">
                    <a:alpha val="100000"/>
                  </a:srgbClr>
                </a:solidFill>
                <a:latin typeface="方正公文楷体" panose="02000500000000000000" charset="-122"/>
                <a:ea typeface="方正公文楷体" panose="02000500000000000000" charset="-122"/>
                <a:cs typeface="方正公文楷体" panose="02000500000000000000" charset="-122"/>
              </a:rPr>
              <a:t>if</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语句和</a:t>
            </a:r>
            <a:r>
              <a:rPr sz="2000" kern="0" spc="0" dirty="0">
                <a:solidFill>
                  <a:srgbClr val="C40000">
                    <a:alpha val="100000"/>
                  </a:srgbClr>
                </a:solidFill>
                <a:latin typeface="方正公文楷体" panose="02000500000000000000" charset="-122"/>
                <a:ea typeface="方正公文楷体" panose="02000500000000000000" charset="-122"/>
                <a:cs typeface="方正公文楷体" panose="02000500000000000000" charset="-122"/>
              </a:rPr>
              <a:t>swi</a:t>
            </a:r>
            <a:r>
              <a:rPr sz="2000" kern="0" spc="-10" dirty="0">
                <a:solidFill>
                  <a:srgbClr val="C40000">
                    <a:alpha val="100000"/>
                  </a:srgbClr>
                </a:solidFill>
                <a:latin typeface="方正公文楷体" panose="02000500000000000000" charset="-122"/>
                <a:ea typeface="方正公文楷体" panose="02000500000000000000" charset="-122"/>
                <a:cs typeface="方正公文楷体" panose="02000500000000000000" charset="-122"/>
              </a:rPr>
              <a:t>tch </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语句。</a:t>
            </a:r>
            <a:endPar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199515" indent="-342900" algn="l" rtl="0" eaLnBrk="0">
              <a:lnSpc>
                <a:spcPct val="98000"/>
              </a:lnSpc>
              <a:spcBef>
                <a:spcPts val="1085"/>
              </a:spcBef>
              <a:buFont typeface="Arial" panose="020B0604020202020204" pitchFamily="34" charset="0"/>
              <a:buChar char="•"/>
            </a:pPr>
            <a:endParaRPr sz="2000" kern="0" spc="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endParaRPr>
          </a:p>
          <a:p>
            <a:pPr marL="1199515" indent="-342900" algn="l" rtl="0" eaLnBrk="0">
              <a:lnSpc>
                <a:spcPts val="2520"/>
              </a:lnSpc>
              <a:spcBef>
                <a:spcPts val="5"/>
              </a:spcBef>
              <a:buFont typeface="Arial" panose="020B0604020202020204" pitchFamily="34" charset="0"/>
              <a:buChar char="•"/>
            </a:pPr>
            <a:r>
              <a:rPr sz="2000" kern="0" spc="0" dirty="0">
                <a:solidFill>
                  <a:srgbClr val="06326C">
                    <a:alpha val="100000"/>
                  </a:srgbClr>
                </a:solidFill>
                <a:latin typeface="方正公文楷体" panose="02000500000000000000" charset="-122"/>
                <a:ea typeface="方正公文楷体" panose="02000500000000000000" charset="-122"/>
                <a:cs typeface="方正公文楷体" panose="02000500000000000000" charset="-122"/>
              </a:rPr>
              <a:t>循环语句     </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重复执</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行代码。例如</a:t>
            </a:r>
            <a:r>
              <a:rPr sz="2000" kern="0" spc="-10" dirty="0">
                <a:solidFill>
                  <a:srgbClr val="C40000">
                    <a:alpha val="100000"/>
                  </a:srgbClr>
                </a:solidFill>
                <a:latin typeface="方正公文楷体" panose="02000500000000000000" charset="-122"/>
                <a:ea typeface="方正公文楷体" panose="02000500000000000000" charset="-122"/>
                <a:cs typeface="方正公文楷体" panose="02000500000000000000" charset="-122"/>
              </a:rPr>
              <a:t>for</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语句。</a:t>
            </a:r>
            <a:endParaRPr sz="2000" dirty="0">
              <a:latin typeface="方正公文楷体" panose="02000500000000000000" charset="-122"/>
              <a:ea typeface="方正公文楷体" panose="02000500000000000000" charset="-122"/>
              <a:cs typeface="方正公文楷体" panose="02000500000000000000" charset="-122"/>
            </a:endParaRPr>
          </a:p>
        </p:txBody>
      </p:sp>
      <p:pic>
        <p:nvPicPr>
          <p:cNvPr id="42" name="picture 42"/>
          <p:cNvPicPr>
            <a:picLocks noChangeAspect="1"/>
          </p:cNvPicPr>
          <p:nvPr/>
        </p:nvPicPr>
        <p:blipFill>
          <a:blip r:embed="rId2"/>
          <a:stretch>
            <a:fillRect/>
          </a:stretch>
        </p:blipFill>
        <p:spPr>
          <a:xfrm rot="21600000">
            <a:off x="546079" y="273016"/>
            <a:ext cx="704819" cy="679491"/>
          </a:xfrm>
          <a:prstGeom prst="rect">
            <a:avLst/>
          </a:prstGeom>
        </p:spPr>
      </p:pic>
      <p:sp>
        <p:nvSpPr>
          <p:cNvPr id="4" name="文本框 3"/>
          <p:cNvSpPr txBox="1"/>
          <p:nvPr/>
        </p:nvSpPr>
        <p:spPr>
          <a:xfrm>
            <a:off x="1250950" y="450215"/>
            <a:ext cx="3674110" cy="645160"/>
          </a:xfrm>
          <a:prstGeom prst="rect">
            <a:avLst/>
          </a:prstGeom>
          <a:noFill/>
        </p:spPr>
        <p:txBody>
          <a:bodyPr wrap="square" rtlCol="0">
            <a:spAutoFit/>
          </a:bodyPr>
          <a:p>
            <a:r>
              <a:rPr lang="en-US" altLang="zh-CN" b="1">
                <a:latin typeface="方正公文楷体" panose="02000500000000000000" charset="-122"/>
                <a:ea typeface="方正公文楷体" panose="02000500000000000000" charset="-122"/>
                <a:cs typeface="方正公文楷体" panose="02000500000000000000" charset="-122"/>
              </a:rPr>
              <a:t>C++</a:t>
            </a:r>
            <a:r>
              <a:rPr lang="zh-CN" altLang="en-US" b="1">
                <a:latin typeface="方正公文楷体" panose="02000500000000000000" charset="-122"/>
                <a:ea typeface="方正公文楷体" panose="02000500000000000000" charset="-122"/>
                <a:cs typeface="方正公文楷体" panose="02000500000000000000" charset="-122"/>
              </a:rPr>
              <a:t>基础</a:t>
            </a:r>
            <a:r>
              <a:rPr lang="en-US" altLang="zh-CN" b="1">
                <a:latin typeface="方正公文楷体" panose="02000500000000000000" charset="-122"/>
                <a:ea typeface="方正公文楷体" panose="02000500000000000000" charset="-122"/>
                <a:cs typeface="方正公文楷体" panose="02000500000000000000" charset="-122"/>
              </a:rPr>
              <a:t>——</a:t>
            </a:r>
            <a:r>
              <a:rPr lang="zh-CN" altLang="en-US" b="1">
                <a:latin typeface="方正公文楷体" panose="02000500000000000000" charset="-122"/>
                <a:ea typeface="方正公文楷体" panose="02000500000000000000" charset="-122"/>
                <a:cs typeface="方正公文楷体" panose="02000500000000000000" charset="-122"/>
              </a:rPr>
              <a:t>回</a:t>
            </a:r>
            <a:r>
              <a:rPr lang="en-US" altLang="zh-CN" b="1">
                <a:latin typeface="方正公文楷体" panose="02000500000000000000" charset="-122"/>
                <a:ea typeface="方正公文楷体" panose="02000500000000000000" charset="-122"/>
                <a:cs typeface="方正公文楷体" panose="02000500000000000000" charset="-122"/>
              </a:rPr>
              <a:t> </a:t>
            </a:r>
            <a:r>
              <a:rPr lang="zh-CN" altLang="en-US" b="1">
                <a:latin typeface="方正公文楷体" panose="02000500000000000000" charset="-122"/>
                <a:ea typeface="方正公文楷体" panose="02000500000000000000" charset="-122"/>
                <a:cs typeface="方正公文楷体" panose="02000500000000000000" charset="-122"/>
              </a:rPr>
              <a:t>顾</a:t>
            </a:r>
            <a:r>
              <a:rPr lang="en-US" altLang="zh-CN" b="1">
                <a:latin typeface="方正公文楷体" panose="02000500000000000000" charset="-122"/>
                <a:ea typeface="方正公文楷体" panose="02000500000000000000" charset="-122"/>
                <a:cs typeface="方正公文楷体" panose="02000500000000000000" charset="-122"/>
              </a:rPr>
              <a:t>C</a:t>
            </a:r>
            <a:r>
              <a:rPr lang="zh-CN" altLang="en-US" b="1">
                <a:latin typeface="方正公文楷体" panose="02000500000000000000" charset="-122"/>
                <a:ea typeface="方正公文楷体" panose="02000500000000000000" charset="-122"/>
                <a:cs typeface="方正公文楷体" panose="02000500000000000000" charset="-122"/>
              </a:rPr>
              <a:t>语言</a:t>
            </a:r>
            <a:endParaRPr lang="zh-CN" altLang="en-US" b="1">
              <a:latin typeface="方正公文楷体" panose="02000500000000000000" charset="-122"/>
              <a:ea typeface="方正公文楷体" panose="02000500000000000000" charset="-122"/>
              <a:cs typeface="方正公文楷体" panose="02000500000000000000" charset="-122"/>
            </a:endParaRPr>
          </a:p>
          <a:p>
            <a:endParaRPr lang="zh-CN" altLang="en-US" b="1">
              <a:latin typeface="方正公文楷体" panose="02000500000000000000" charset="-122"/>
              <a:ea typeface="方正公文楷体" panose="02000500000000000000" charset="-122"/>
              <a:cs typeface="方正公文楷体" panose="020005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8"/>
          <p:cNvPicPr>
            <a:picLocks noChangeAspect="1"/>
          </p:cNvPicPr>
          <p:nvPr/>
        </p:nvPicPr>
        <p:blipFill>
          <a:blip r:embed="rId1"/>
          <a:stretch>
            <a:fillRect/>
          </a:stretch>
        </p:blipFill>
        <p:spPr>
          <a:xfrm rot="21600000">
            <a:off x="0" y="0"/>
            <a:ext cx="12192000" cy="6858000"/>
          </a:xfrm>
          <a:prstGeom prst="rect">
            <a:avLst/>
          </a:prstGeom>
        </p:spPr>
      </p:pic>
      <p:sp>
        <p:nvSpPr>
          <p:cNvPr id="44" name="textbox 44"/>
          <p:cNvSpPr/>
          <p:nvPr/>
        </p:nvSpPr>
        <p:spPr>
          <a:xfrm>
            <a:off x="1397060" y="499592"/>
            <a:ext cx="8418194" cy="469074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l" rtl="0" eaLnBrk="0">
              <a:lnSpc>
                <a:spcPct val="111000"/>
              </a:lnSpc>
            </a:pPr>
            <a:r>
              <a:rPr lang="en-US" altLang="zh-CN" b="1">
                <a:latin typeface="方正公文楷体" panose="02000500000000000000" charset="-122"/>
                <a:ea typeface="方正公文楷体" panose="02000500000000000000" charset="-122"/>
                <a:cs typeface="方正公文楷体" panose="02000500000000000000" charset="-122"/>
                <a:sym typeface="+mn-ea"/>
              </a:rPr>
              <a:t>C++</a:t>
            </a:r>
            <a:r>
              <a:rPr lang="zh-CN" altLang="en-US" b="1">
                <a:latin typeface="方正公文楷体" panose="02000500000000000000" charset="-122"/>
                <a:ea typeface="方正公文楷体" panose="02000500000000000000" charset="-122"/>
                <a:cs typeface="方正公文楷体" panose="02000500000000000000" charset="-122"/>
                <a:sym typeface="+mn-ea"/>
              </a:rPr>
              <a:t>基础</a:t>
            </a:r>
            <a:r>
              <a:rPr lang="en-US" altLang="zh-CN" b="1">
                <a:latin typeface="方正公文楷体" panose="02000500000000000000" charset="-122"/>
                <a:ea typeface="方正公文楷体" panose="02000500000000000000" charset="-122"/>
                <a:cs typeface="方正公文楷体" panose="02000500000000000000" charset="-122"/>
                <a:sym typeface="+mn-ea"/>
              </a:rPr>
              <a:t>——</a:t>
            </a:r>
            <a:r>
              <a:rPr lang="zh-CN" altLang="en-US" b="1">
                <a:latin typeface="方正公文楷体" panose="02000500000000000000" charset="-122"/>
                <a:ea typeface="方正公文楷体" panose="02000500000000000000" charset="-122"/>
                <a:cs typeface="方正公文楷体" panose="02000500000000000000" charset="-122"/>
                <a:sym typeface="+mn-ea"/>
              </a:rPr>
              <a:t>回</a:t>
            </a:r>
            <a:r>
              <a:rPr lang="en-US" altLang="zh-CN" b="1">
                <a:latin typeface="方正公文楷体" panose="02000500000000000000" charset="-122"/>
                <a:ea typeface="方正公文楷体" panose="02000500000000000000" charset="-122"/>
                <a:cs typeface="方正公文楷体" panose="02000500000000000000" charset="-122"/>
                <a:sym typeface="+mn-ea"/>
              </a:rPr>
              <a:t> </a:t>
            </a:r>
            <a:r>
              <a:rPr lang="zh-CN" altLang="en-US" b="1">
                <a:latin typeface="方正公文楷体" panose="02000500000000000000" charset="-122"/>
                <a:ea typeface="方正公文楷体" panose="02000500000000000000" charset="-122"/>
                <a:cs typeface="方正公文楷体" panose="02000500000000000000" charset="-122"/>
                <a:sym typeface="+mn-ea"/>
              </a:rPr>
              <a:t>顾</a:t>
            </a:r>
            <a:r>
              <a:rPr lang="en-US" altLang="zh-CN" b="1">
                <a:latin typeface="方正公文楷体" panose="02000500000000000000" charset="-122"/>
                <a:ea typeface="方正公文楷体" panose="02000500000000000000" charset="-122"/>
                <a:cs typeface="方正公文楷体" panose="02000500000000000000" charset="-122"/>
                <a:sym typeface="+mn-ea"/>
              </a:rPr>
              <a:t>C</a:t>
            </a:r>
            <a:r>
              <a:rPr lang="zh-CN" altLang="en-US" b="1">
                <a:latin typeface="方正公文楷体" panose="02000500000000000000" charset="-122"/>
                <a:ea typeface="方正公文楷体" panose="02000500000000000000" charset="-122"/>
                <a:cs typeface="方正公文楷体" panose="02000500000000000000" charset="-122"/>
                <a:sym typeface="+mn-ea"/>
              </a:rPr>
              <a:t>语言</a:t>
            </a:r>
            <a:endParaRPr lang="zh-CN" altLang="en-US" b="1">
              <a:latin typeface="方正公文楷体" panose="02000500000000000000" charset="-122"/>
              <a:ea typeface="方正公文楷体" panose="02000500000000000000" charset="-122"/>
              <a:cs typeface="方正公文楷体" panose="02000500000000000000" charset="-122"/>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15875" indent="-3175" algn="l" rtl="0" eaLnBrk="0">
              <a:lnSpc>
                <a:spcPct val="143000"/>
              </a:lnSpc>
              <a:spcBef>
                <a:spcPts val="540"/>
              </a:spcBef>
            </a:pP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C++的历史可以追溯到1979年。起初，</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C++的开发是为了在C语言中引入一些较新的 </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特性</a:t>
            </a:r>
            <a:r>
              <a:rPr sz="2000" b="1"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，如面向对象编程</a:t>
            </a:r>
            <a:r>
              <a:rPr sz="2000" kern="0" spc="-26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10" dirty="0">
                <a:solidFill>
                  <a:srgbClr val="07326A">
                    <a:alpha val="100000"/>
                  </a:srgbClr>
                </a:solidFill>
                <a:latin typeface="方正公文楷体" panose="02000500000000000000" charset="-122"/>
                <a:ea typeface="方正公文楷体" panose="02000500000000000000" charset="-122"/>
                <a:cs typeface="方正公文楷体" panose="02000500000000000000" charset="-122"/>
              </a:rPr>
              <a:t>(Object-Oriented</a:t>
            </a:r>
            <a:r>
              <a:rPr sz="2000" kern="0" spc="-10" dirty="0">
                <a:solidFill>
                  <a:srgbClr val="07326A">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10" dirty="0">
                <a:solidFill>
                  <a:srgbClr val="07326A">
                    <a:alpha val="100000"/>
                  </a:srgbClr>
                </a:solidFill>
                <a:latin typeface="方正公文楷体" panose="02000500000000000000" charset="-122"/>
                <a:ea typeface="方正公文楷体" panose="02000500000000000000" charset="-122"/>
                <a:cs typeface="方正公文楷体" panose="02000500000000000000" charset="-122"/>
              </a:rPr>
              <a:t>Programming,OOP)</a:t>
            </a:r>
            <a:r>
              <a:rPr sz="2000" b="1"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等</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80000"/>
              </a:lnSpc>
            </a:pPr>
            <a:endParaRPr sz="2000" dirty="0">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139000"/>
              </a:lnSpc>
              <a:spcBef>
                <a:spcPts val="545"/>
              </a:spcBef>
            </a:pP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a:t>
            </a:r>
            <a:r>
              <a:rPr sz="2000" kern="0" spc="-4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是基于C语言扩展而来的，是C语言的超集。一般来说，合法的C语言代码都是合</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法的C++</a:t>
            </a:r>
            <a:r>
              <a:rPr sz="2000" kern="0" spc="-42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代码。</a:t>
            </a: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78000"/>
              </a:lnSpc>
            </a:pP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a:t>
            </a:r>
            <a:r>
              <a:rPr sz="2000" kern="0" spc="-45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的第一个国际标准在1998年发布，称为C++98。</a:t>
            </a:r>
            <a:r>
              <a:rPr sz="2000" kern="0" spc="-39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此 后</a:t>
            </a:r>
            <a:r>
              <a:rPr sz="2000" kern="0" spc="-2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a:t>
            </a: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标准委员会又多次发</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布新标准，例如C++11,C++17,</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C++20等。</a:t>
            </a: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19000"/>
              </a:lnSpc>
            </a:pP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20000"/>
              </a:lnSpc>
            </a:pP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本次课将主要介绍C++9</a:t>
            </a: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8 的特性，并且介绍一些C++11</a:t>
            </a:r>
            <a:r>
              <a:rPr sz="2000" kern="0" spc="-2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及以后版本的特性。</a:t>
            </a:r>
            <a:endParaRPr sz="2000" dirty="0">
              <a:latin typeface="方正公文楷体" panose="02000500000000000000" charset="-122"/>
              <a:ea typeface="方正公文楷体" panose="02000500000000000000" charset="-122"/>
              <a:cs typeface="方正公文楷体" panose="02000500000000000000" charset="-122"/>
            </a:endParaRPr>
          </a:p>
        </p:txBody>
      </p:sp>
      <p:pic>
        <p:nvPicPr>
          <p:cNvPr id="46" name="picture 46"/>
          <p:cNvPicPr>
            <a:picLocks noChangeAspect="1"/>
          </p:cNvPicPr>
          <p:nvPr/>
        </p:nvPicPr>
        <p:blipFill>
          <a:blip r:embed="rId2"/>
          <a:stretch>
            <a:fillRect/>
          </a:stretch>
        </p:blipFill>
        <p:spPr>
          <a:xfrm rot="21600000">
            <a:off x="539739" y="273016"/>
            <a:ext cx="711159" cy="685800"/>
          </a:xfrm>
          <a:prstGeom prst="rect">
            <a:avLst/>
          </a:prstGeom>
        </p:spPr>
      </p:pic>
      <p:pic>
        <p:nvPicPr>
          <p:cNvPr id="48" name="picture 48"/>
          <p:cNvPicPr>
            <a:picLocks noChangeAspect="1"/>
          </p:cNvPicPr>
          <p:nvPr/>
        </p:nvPicPr>
        <p:blipFill>
          <a:blip r:embed="rId3"/>
          <a:stretch>
            <a:fillRect/>
          </a:stretch>
        </p:blipFill>
        <p:spPr>
          <a:xfrm rot="21600000">
            <a:off x="184099" y="6623044"/>
            <a:ext cx="11791981" cy="126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8"/>
          <p:cNvPicPr>
            <a:picLocks noChangeAspect="1"/>
          </p:cNvPicPr>
          <p:nvPr/>
        </p:nvPicPr>
        <p:blipFill>
          <a:blip r:embed="rId1"/>
          <a:stretch>
            <a:fillRect/>
          </a:stretch>
        </p:blipFill>
        <p:spPr>
          <a:xfrm rot="21600000">
            <a:off x="0" y="0"/>
            <a:ext cx="12192000" cy="6858000"/>
          </a:xfrm>
          <a:prstGeom prst="rect">
            <a:avLst/>
          </a:prstGeom>
        </p:spPr>
      </p:pic>
      <p:sp>
        <p:nvSpPr>
          <p:cNvPr id="50" name="rect 50"/>
          <p:cNvSpPr/>
          <p:nvPr/>
        </p:nvSpPr>
        <p:spPr>
          <a:xfrm>
            <a:off x="1409760" y="2025647"/>
            <a:ext cx="9124858" cy="2101839"/>
          </a:xfrm>
          <a:prstGeom prst="rect">
            <a:avLst/>
          </a:prstGeom>
          <a:solidFill>
            <a:srgbClr val="F8F3ED">
              <a:alpha val="100000"/>
            </a:srgbClr>
          </a:solidFill>
          <a:ln w="0" cap="flat">
            <a:noFill/>
            <a:prstDash val="solid"/>
            <a:miter lim="0"/>
          </a:ln>
        </p:spPr>
        <p:txBody>
          <a:bodyPr rtlCol="0"/>
          <a:lstStyle/>
          <a:p>
            <a:pPr algn="ctr"/>
            <a:endParaRPr lang="zh-CN" altLang="en-US"/>
          </a:p>
        </p:txBody>
      </p:sp>
      <p:sp>
        <p:nvSpPr>
          <p:cNvPr id="52" name="textbox 52"/>
          <p:cNvSpPr/>
          <p:nvPr/>
        </p:nvSpPr>
        <p:spPr>
          <a:xfrm>
            <a:off x="1390650" y="2144395"/>
            <a:ext cx="9235440" cy="3233420"/>
          </a:xfrm>
          <a:prstGeom prst="rect">
            <a:avLst/>
          </a:prstGeom>
          <a:noFill/>
          <a:ln w="0" cap="flat">
            <a:noFill/>
            <a:prstDash val="solid"/>
            <a:miter lim="0"/>
          </a:ln>
        </p:spPr>
        <p:txBody>
          <a:bodyPr vert="horz" wrap="square" lIns="0" tIns="0" rIns="0" bIns="0"/>
          <a:lstStyle/>
          <a:p>
            <a:pPr algn="l" rtl="0" eaLnBrk="0">
              <a:lnSpc>
                <a:spcPct val="83000"/>
              </a:lnSpc>
            </a:pPr>
            <a:r>
              <a:rPr lang="en-US" sz="2000" kern="0" spc="70" dirty="0">
                <a:solidFill>
                  <a:schemeClr val="tx1">
                    <a:alpha val="100000"/>
                  </a:schemeClr>
                </a:solidFill>
                <a:latin typeface="汉仪颜楷简" panose="00020600040101010101" charset="-122"/>
                <a:ea typeface="汉仪颜楷简" panose="00020600040101010101" charset="-122"/>
                <a:cs typeface="汉仪颜楷简" panose="00020600040101010101" charset="-122"/>
                <a:sym typeface="标准粗黑" panose="02000503000000000000" charset="-122"/>
              </a:rPr>
              <a:t>  </a:t>
            </a: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include</a:t>
            </a:r>
            <a:r>
              <a:rPr sz="2000" kern="0" spc="2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  </a:t>
            </a: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&lt;</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iostream</a:t>
            </a: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&gt;</a:t>
            </a:r>
            <a:endParaRPr sz="2000" dirty="0">
              <a:solidFill>
                <a:schemeClr val="tx1"/>
              </a:solidFill>
              <a:latin typeface="华文中宋" panose="02010600040101010101" charset="-122"/>
              <a:ea typeface="华文中宋" panose="02010600040101010101" charset="-122"/>
              <a:cs typeface="华文中宋" panose="02010600040101010101" charset="-122"/>
              <a:sym typeface="标准粗黑" panose="02000503000000000000" charset="-122"/>
            </a:endParaRPr>
          </a:p>
          <a:p>
            <a:pPr marL="342900" algn="l" rtl="0" eaLnBrk="0">
              <a:lnSpc>
                <a:spcPts val="2900"/>
              </a:lnSpc>
              <a:spcBef>
                <a:spcPts val="1040"/>
              </a:spcBef>
            </a:pPr>
            <a:r>
              <a:rPr sz="2000" kern="0" spc="-4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int</a:t>
            </a:r>
            <a:r>
              <a:rPr sz="2000" kern="0" spc="17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   </a:t>
            </a:r>
            <a:r>
              <a:rPr sz="2000" kern="0" spc="-4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main(){</a:t>
            </a:r>
            <a:endParaRPr sz="2000" dirty="0">
              <a:solidFill>
                <a:schemeClr val="tx1"/>
              </a:solidFill>
              <a:latin typeface="华文中宋" panose="02010600040101010101" charset="-122"/>
              <a:ea typeface="华文中宋" panose="02010600040101010101" charset="-122"/>
              <a:cs typeface="华文中宋" panose="02010600040101010101" charset="-122"/>
              <a:sym typeface="标准粗黑" panose="02000503000000000000" charset="-122"/>
            </a:endParaRPr>
          </a:p>
          <a:p>
            <a:pPr marL="914400" algn="l" rtl="0" eaLnBrk="0">
              <a:lnSpc>
                <a:spcPts val="2260"/>
              </a:lnSpc>
            </a:pPr>
            <a:r>
              <a:rPr sz="2000" kern="0" spc="-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std::cout&lt;&lt;</a:t>
            </a:r>
            <a:r>
              <a:rPr sz="2000" kern="0" spc="-2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“Hello,world !”;</a:t>
            </a:r>
            <a:r>
              <a:rPr lang="en-US" sz="2000" kern="0" spc="-2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 </a:t>
            </a:r>
            <a:r>
              <a:rPr sz="2000" kern="0" spc="-2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  我们后面会解释std是什么</a:t>
            </a:r>
            <a:endParaRPr sz="2000" dirty="0">
              <a:solidFill>
                <a:schemeClr val="tx1"/>
              </a:solidFill>
              <a:latin typeface="华文中宋" panose="02010600040101010101" charset="-122"/>
              <a:ea typeface="华文中宋" panose="02010600040101010101" charset="-122"/>
              <a:cs typeface="华文中宋" panose="02010600040101010101" charset="-122"/>
              <a:sym typeface="标准粗黑" panose="02000503000000000000" charset="-122"/>
            </a:endParaRPr>
          </a:p>
          <a:p>
            <a:pPr marL="908050" algn="l" rtl="0" eaLnBrk="0">
              <a:lnSpc>
                <a:spcPct val="81000"/>
              </a:lnSpc>
              <a:spcBef>
                <a:spcPts val="10"/>
              </a:spcBef>
            </a:pPr>
            <a:r>
              <a:rPr sz="2000" kern="0" spc="-2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return</a:t>
            </a:r>
            <a:r>
              <a:rPr sz="2000" kern="0" spc="4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 </a:t>
            </a:r>
            <a:r>
              <a:rPr sz="2000" kern="0" spc="-2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0;</a:t>
            </a:r>
            <a:endParaRPr sz="2000" dirty="0">
              <a:solidFill>
                <a:schemeClr val="tx1"/>
              </a:solidFill>
              <a:latin typeface="华文中宋" panose="02010600040101010101" charset="-122"/>
              <a:ea typeface="华文中宋" panose="02010600040101010101" charset="-122"/>
              <a:cs typeface="华文中宋" panose="02010600040101010101" charset="-122"/>
              <a:sym typeface="标准粗黑" panose="02000503000000000000" charset="-122"/>
            </a:endParaRPr>
          </a:p>
          <a:p>
            <a:pPr marL="368300" algn="l" rtl="0" eaLnBrk="0">
              <a:lnSpc>
                <a:spcPct val="96000"/>
              </a:lnSpc>
              <a:spcBef>
                <a:spcPts val="705"/>
              </a:spcBef>
            </a:pPr>
            <a:r>
              <a:rPr sz="2000" kern="0" spc="-1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标准粗黑" panose="02000503000000000000" charset="-122"/>
              </a:rPr>
              <a:t>}</a:t>
            </a:r>
            <a:endParaRPr sz="2000" dirty="0">
              <a:solidFill>
                <a:schemeClr val="tx1"/>
              </a:solidFill>
              <a:latin typeface="华文中宋" panose="02010600040101010101" charset="-122"/>
              <a:ea typeface="华文中宋" panose="02010600040101010101" charset="-122"/>
              <a:cs typeface="华文中宋" panose="02010600040101010101" charset="-122"/>
              <a:sym typeface="标准粗黑" panose="02000503000000000000" charset="-122"/>
            </a:endParaRPr>
          </a:p>
          <a:p>
            <a:pPr algn="l" rtl="0" eaLnBrk="0">
              <a:lnSpc>
                <a:spcPct val="114000"/>
              </a:lnSpc>
            </a:pPr>
            <a:endParaRPr sz="2000" dirty="0">
              <a:latin typeface="华文中宋" panose="02010600040101010101" charset="-122"/>
              <a:ea typeface="华文中宋" panose="02010600040101010101" charset="-122"/>
              <a:cs typeface="华文中宋" panose="02010600040101010101" charset="-122"/>
            </a:endParaRPr>
          </a:p>
          <a:p>
            <a:pPr algn="l" rtl="0" eaLnBrk="0">
              <a:lnSpc>
                <a:spcPct val="115000"/>
              </a:lnSpc>
            </a:pPr>
            <a:endPar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5000"/>
              </a:lnSpc>
            </a:pP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在C++中，我们使用std::cin</a:t>
            </a:r>
            <a:r>
              <a:rPr sz="2000" kern="0" spc="-6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和std::cout 进行输入输出。他们位于头文</a:t>
            </a:r>
            <a:r>
              <a:rPr lang="zh-CN"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件</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&lt;iostream&gt; 中。</a:t>
            </a:r>
            <a:r>
              <a:rPr sz="2000"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与之配合的运算符是</a:t>
            </a: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&lt;&lt;和&gt;&gt;,分别称为流插入和流提取运算符</a:t>
            </a:r>
            <a:r>
              <a:rPr sz="1800" kern="0" spc="30" dirty="0">
                <a:solidFill>
                  <a:srgbClr val="000000">
                    <a:alpha val="100000"/>
                  </a:srgbClr>
                </a:solidFill>
                <a:latin typeface="黑体" panose="02010609060101010101" charset="-122"/>
                <a:ea typeface="黑体" panose="02010609060101010101" charset="-122"/>
                <a:cs typeface="黑体" panose="02010609060101010101" charset="-122"/>
              </a:rPr>
              <a:t>。</a:t>
            </a:r>
            <a:endParaRPr sz="1800" dirty="0">
              <a:latin typeface="黑体" panose="02010609060101010101" charset="-122"/>
              <a:ea typeface="黑体" panose="02010609060101010101" charset="-122"/>
              <a:cs typeface="黑体" panose="02010609060101010101" charset="-122"/>
            </a:endParaRPr>
          </a:p>
        </p:txBody>
      </p:sp>
      <p:sp>
        <p:nvSpPr>
          <p:cNvPr id="54" name="textbox 54"/>
          <p:cNvSpPr/>
          <p:nvPr/>
        </p:nvSpPr>
        <p:spPr>
          <a:xfrm>
            <a:off x="1390650" y="499745"/>
            <a:ext cx="5520055" cy="113474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5875" algn="l" rtl="0" eaLnBrk="0">
              <a:lnSpc>
                <a:spcPct val="95000"/>
              </a:lnSpc>
            </a:pPr>
            <a:r>
              <a:rPr sz="1800" b="1" kern="0" spc="-30" dirty="0">
                <a:solidFill>
                  <a:srgbClr val="082C62">
                    <a:alpha val="100000"/>
                  </a:srgbClr>
                </a:solidFill>
                <a:latin typeface="方正公文楷体" panose="02000500000000000000" charset="-122"/>
                <a:ea typeface="方正公文楷体" panose="02000500000000000000" charset="-122"/>
                <a:cs typeface="方正公文楷体" panose="02000500000000000000" charset="-122"/>
              </a:rPr>
              <a:t>C++</a:t>
            </a:r>
            <a:r>
              <a:rPr sz="18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基础</a:t>
            </a:r>
            <a:r>
              <a:rPr lang="en-US" sz="18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18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基于流的输入输出</a:t>
            </a:r>
            <a:endParaRPr sz="1800" b="1"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marL="12700" algn="l" rtl="0" eaLnBrk="0">
              <a:lnSpc>
                <a:spcPct val="92000"/>
              </a:lnSpc>
              <a:spcBef>
                <a:spcPts val="0"/>
              </a:spcBef>
            </a:pPr>
            <a:r>
              <a:rPr sz="20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依照传统，我们先来写一个Hello world程序吧</a:t>
            </a:r>
            <a:r>
              <a:rPr sz="1800" kern="0" spc="-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endParaRPr sz="1800" dirty="0">
              <a:latin typeface="方正公文楷体" panose="02000500000000000000" charset="-122"/>
              <a:ea typeface="方正公文楷体" panose="02000500000000000000" charset="-122"/>
              <a:cs typeface="方正公文楷体" panose="02000500000000000000" charset="-122"/>
            </a:endParaRPr>
          </a:p>
        </p:txBody>
      </p:sp>
      <p:pic>
        <p:nvPicPr>
          <p:cNvPr id="56" name="picture 56"/>
          <p:cNvPicPr>
            <a:picLocks noChangeAspect="1"/>
          </p:cNvPicPr>
          <p:nvPr/>
        </p:nvPicPr>
        <p:blipFill>
          <a:blip r:embed="rId2"/>
          <a:stretch>
            <a:fillRect/>
          </a:stretch>
        </p:blipFill>
        <p:spPr>
          <a:xfrm rot="21600000">
            <a:off x="539739" y="273016"/>
            <a:ext cx="711159" cy="685800"/>
          </a:xfrm>
          <a:prstGeom prst="rect">
            <a:avLst/>
          </a:prstGeom>
        </p:spPr>
      </p:pic>
      <p:pic>
        <p:nvPicPr>
          <p:cNvPr id="58" name="picture 58"/>
          <p:cNvPicPr>
            <a:picLocks noChangeAspect="1"/>
          </p:cNvPicPr>
          <p:nvPr/>
        </p:nvPicPr>
        <p:blipFill>
          <a:blip r:embed="rId3"/>
          <a:stretch>
            <a:fillRect/>
          </a:stretch>
        </p:blipFill>
        <p:spPr>
          <a:xfrm rot="21600000">
            <a:off x="196900" y="6623044"/>
            <a:ext cx="11785519" cy="126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picture 60"/>
          <p:cNvPicPr>
            <a:picLocks noChangeAspect="1"/>
          </p:cNvPicPr>
          <p:nvPr/>
        </p:nvPicPr>
        <p:blipFill>
          <a:blip r:embed="rId1"/>
          <a:stretch>
            <a:fillRect/>
          </a:stretch>
        </p:blipFill>
        <p:spPr>
          <a:xfrm rot="21600000">
            <a:off x="0" y="0"/>
            <a:ext cx="12192000" cy="6858000"/>
          </a:xfrm>
          <a:prstGeom prst="rect">
            <a:avLst/>
          </a:prstGeom>
        </p:spPr>
      </p:pic>
      <p:grpSp>
        <p:nvGrpSpPr>
          <p:cNvPr id="2" name="group 2"/>
          <p:cNvGrpSpPr/>
          <p:nvPr/>
        </p:nvGrpSpPr>
        <p:grpSpPr>
          <a:xfrm rot="21600000">
            <a:off x="1131559" y="1362067"/>
            <a:ext cx="9106535" cy="1259840"/>
            <a:chOff x="0" y="-15240"/>
            <a:chExt cx="9106535" cy="1259840"/>
          </a:xfrm>
        </p:grpSpPr>
        <p:sp>
          <p:nvSpPr>
            <p:cNvPr id="62" name="textbox 62"/>
            <p:cNvSpPr/>
            <p:nvPr/>
          </p:nvSpPr>
          <p:spPr>
            <a:xfrm>
              <a:off x="0" y="-15240"/>
              <a:ext cx="9106535" cy="1259840"/>
            </a:xfrm>
            <a:prstGeom prst="rect">
              <a:avLst/>
            </a:prstGeom>
            <a:solidFill>
              <a:srgbClr val="F6F2EC">
                <a:alpha val="100000"/>
              </a:srgbClr>
            </a:solidFill>
            <a:ln w="0" cap="flat">
              <a:noFill/>
              <a:prstDash val="solid"/>
              <a:miter lim="0"/>
            </a:ln>
          </p:spPr>
          <p:txBody>
            <a:bodyPr vert="horz" wrap="square" lIns="0" tIns="0" rIns="0" bIns="0"/>
            <a:lstStyle/>
            <a:p>
              <a:pPr algn="l" rtl="0" eaLnBrk="0">
                <a:lnSpc>
                  <a:spcPct val="116000"/>
                </a:lnSpc>
              </a:pPr>
              <a:endParaRPr sz="400" dirty="0">
                <a:latin typeface="Arial" panose="020B0604020202020204"/>
                <a:ea typeface="Arial" panose="020B0604020202020204"/>
                <a:cs typeface="Arial" panose="020B0604020202020204"/>
              </a:endParaRPr>
            </a:p>
            <a:p>
              <a:pPr marL="190500" algn="l" rtl="0" eaLnBrk="0">
                <a:lnSpc>
                  <a:spcPts val="3405"/>
                </a:lnSpc>
                <a:spcBef>
                  <a:spcPts val="0"/>
                </a:spcBef>
              </a:pP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char</a:t>
              </a:r>
              <a:r>
                <a:rPr lang="en-US"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str[]   = "world";</a:t>
              </a:r>
              <a:endPar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37000"/>
                </a:lnSpc>
              </a:pPr>
              <a:endPar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4000"/>
                </a:lnSpc>
              </a:pPr>
              <a:r>
                <a:rPr lang="en-US"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std ::cout  &lt;&lt; "Hello" &lt;&lt; str &lt;&lt; num;//&lt;&lt;运算符可以连续使用</a:t>
              </a:r>
              <a:endPar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64" name="textbox 64"/>
            <p:cNvSpPr/>
            <p:nvPr/>
          </p:nvSpPr>
          <p:spPr>
            <a:xfrm>
              <a:off x="99060" y="434975"/>
              <a:ext cx="3420745" cy="45847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3405"/>
                </a:lnSpc>
              </a:pPr>
              <a:r>
                <a:rPr lang="en-US" sz="2000" kern="0" spc="-110" dirty="0">
                  <a:solidFill>
                    <a:schemeClr val="tx1">
                      <a:alpha val="100000"/>
                    </a:schemeClr>
                  </a:solidFill>
                  <a:latin typeface="华文中宋" panose="02010600040101010101" charset="-122"/>
                  <a:ea typeface="华文中宋" panose="02010600040101010101" charset="-122"/>
                  <a:cs typeface="Arial" panose="020B0604020202020204"/>
                </a:rPr>
                <a:t> i</a:t>
              </a:r>
              <a:r>
                <a:rPr sz="2000" kern="0" spc="-110" dirty="0">
                  <a:solidFill>
                    <a:schemeClr val="tx1">
                      <a:alpha val="100000"/>
                    </a:schemeClr>
                  </a:solidFill>
                  <a:latin typeface="华文中宋" panose="02010600040101010101" charset="-122"/>
                  <a:ea typeface="华文中宋" panose="02010600040101010101" charset="-122"/>
                  <a:cs typeface="Arial" panose="020B0604020202020204"/>
                </a:rPr>
                <a:t>nt</a:t>
              </a:r>
              <a:r>
                <a:rPr sz="2000" kern="0" spc="220" dirty="0">
                  <a:solidFill>
                    <a:schemeClr val="tx1">
                      <a:alpha val="100000"/>
                    </a:schemeClr>
                  </a:solidFill>
                  <a:latin typeface="华文中宋" panose="02010600040101010101" charset="-122"/>
                  <a:ea typeface="华文中宋" panose="02010600040101010101" charset="-122"/>
                  <a:cs typeface="Arial" panose="020B0604020202020204"/>
                </a:rPr>
                <a:t>  </a:t>
              </a:r>
              <a:r>
                <a:rPr sz="2000" kern="0" spc="-110" dirty="0">
                  <a:solidFill>
                    <a:schemeClr val="tx1">
                      <a:alpha val="100000"/>
                    </a:schemeClr>
                  </a:solidFill>
                  <a:latin typeface="华文中宋" panose="02010600040101010101" charset="-122"/>
                  <a:ea typeface="华文中宋" panose="02010600040101010101" charset="-122"/>
                  <a:cs typeface="Arial" panose="020B0604020202020204"/>
                </a:rPr>
                <a:t>num</a:t>
              </a:r>
              <a:r>
                <a:rPr sz="2000" kern="0" spc="280" dirty="0">
                  <a:solidFill>
                    <a:schemeClr val="tx1">
                      <a:alpha val="100000"/>
                    </a:schemeClr>
                  </a:solidFill>
                  <a:latin typeface="华文中宋" panose="02010600040101010101" charset="-122"/>
                  <a:ea typeface="华文中宋" panose="02010600040101010101" charset="-122"/>
                  <a:cs typeface="Arial" panose="020B0604020202020204"/>
                </a:rPr>
                <a:t> </a:t>
              </a:r>
              <a:r>
                <a:rPr sz="2000" kern="0" spc="-110" dirty="0">
                  <a:solidFill>
                    <a:schemeClr val="tx1">
                      <a:alpha val="100000"/>
                    </a:schemeClr>
                  </a:solidFill>
                  <a:latin typeface="华文中宋" panose="02010600040101010101" charset="-122"/>
                  <a:ea typeface="华文中宋" panose="02010600040101010101" charset="-122"/>
                  <a:cs typeface="Arial" panose="020B0604020202020204"/>
                </a:rPr>
                <a:t>=</a:t>
              </a:r>
              <a:r>
                <a:rPr sz="2000" kern="0" spc="100" dirty="0">
                  <a:solidFill>
                    <a:schemeClr val="tx1">
                      <a:alpha val="100000"/>
                    </a:schemeClr>
                  </a:solidFill>
                  <a:latin typeface="华文中宋" panose="02010600040101010101" charset="-122"/>
                  <a:ea typeface="华文中宋" panose="02010600040101010101" charset="-122"/>
                  <a:cs typeface="Arial" panose="020B0604020202020204"/>
                </a:rPr>
                <a:t> </a:t>
              </a:r>
              <a:r>
                <a:rPr sz="2000" kern="0" spc="-110" dirty="0">
                  <a:solidFill>
                    <a:schemeClr val="tx1">
                      <a:alpha val="100000"/>
                    </a:schemeClr>
                  </a:solidFill>
                  <a:latin typeface="华文中宋" panose="02010600040101010101" charset="-122"/>
                  <a:ea typeface="华文中宋" panose="02010600040101010101" charset="-122"/>
                  <a:cs typeface="Arial" panose="020B0604020202020204"/>
                </a:rPr>
                <a:t>123</a:t>
              </a:r>
              <a:r>
                <a:rPr lang="en-US" sz="2000" kern="0" spc="-110" dirty="0">
                  <a:solidFill>
                    <a:schemeClr val="tx1">
                      <a:alpha val="100000"/>
                    </a:schemeClr>
                  </a:solidFill>
                  <a:latin typeface="华文中宋" panose="02010600040101010101" charset="-122"/>
                  <a:ea typeface="华文中宋" panose="02010600040101010101" charset="-122"/>
                  <a:cs typeface="Arial" panose="020B0604020202020204"/>
                </a:rPr>
                <a:t> </a:t>
              </a:r>
              <a:r>
                <a:rPr lang="zh-CN" altLang="en-US" sz="2000" kern="0" spc="-110" dirty="0">
                  <a:solidFill>
                    <a:schemeClr val="tx1">
                      <a:alpha val="100000"/>
                    </a:schemeClr>
                  </a:solidFill>
                  <a:latin typeface="华文中宋" panose="02010600040101010101" charset="-122"/>
                  <a:ea typeface="华文中宋" panose="02010600040101010101" charset="-122"/>
                  <a:cs typeface="Arial" panose="020B0604020202020204"/>
                </a:rPr>
                <a:t>；</a:t>
              </a:r>
              <a:r>
                <a:rPr lang="en-US" sz="2000" kern="0" spc="-110" dirty="0">
                  <a:solidFill>
                    <a:schemeClr val="tx1">
                      <a:alpha val="100000"/>
                    </a:schemeClr>
                  </a:solidFill>
                  <a:latin typeface="华文中宋" panose="02010600040101010101" charset="-122"/>
                  <a:ea typeface="华文中宋" panose="02010600040101010101" charset="-122"/>
                  <a:cs typeface="Arial" panose="020B0604020202020204"/>
                </a:rPr>
                <a:t>      </a:t>
              </a:r>
              <a:endParaRPr lang="zh-CN" sz="2000" kern="0" spc="-110" dirty="0">
                <a:solidFill>
                  <a:schemeClr val="tx1">
                    <a:alpha val="100000"/>
                  </a:schemeClr>
                </a:solidFill>
                <a:latin typeface="华文中宋" panose="02010600040101010101" charset="-122"/>
                <a:ea typeface="华文中宋" panose="02010600040101010101" charset="-122"/>
                <a:cs typeface="Arial" panose="020B0604020202020204"/>
              </a:endParaRPr>
            </a:p>
          </p:txBody>
        </p:sp>
      </p:grpSp>
      <p:sp>
        <p:nvSpPr>
          <p:cNvPr id="70" name="textbox 70"/>
          <p:cNvSpPr/>
          <p:nvPr/>
        </p:nvSpPr>
        <p:spPr>
          <a:xfrm>
            <a:off x="2341849" y="2464493"/>
            <a:ext cx="2649854" cy="50545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110"/>
              </a:lnSpc>
            </a:pPr>
            <a:endParaRPr sz="1500" dirty="0">
              <a:latin typeface="Arial" panose="020B0604020202020204"/>
              <a:ea typeface="Arial" panose="020B0604020202020204"/>
              <a:cs typeface="Arial" panose="020B0604020202020204"/>
            </a:endParaRPr>
          </a:p>
          <a:p>
            <a:pPr marL="12700" algn="l" rtl="0" eaLnBrk="0">
              <a:lnSpc>
                <a:spcPct val="83000"/>
              </a:lnSpc>
              <a:spcBef>
                <a:spcPts val="170"/>
              </a:spcBef>
            </a:pPr>
            <a:r>
              <a:rPr sz="2000" kern="0" spc="0" dirty="0">
                <a:solidFill>
                  <a:srgbClr val="000000">
                    <a:alpha val="100000"/>
                  </a:srgbClr>
                </a:solidFill>
                <a:latin typeface="方正公文楷体" panose="02000500000000000000" charset="-122"/>
                <a:ea typeface="方正公文楷体" panose="02000500000000000000" charset="-122"/>
                <a:cs typeface="Arial" panose="020B0604020202020204"/>
              </a:rPr>
              <a:t>Hello</a:t>
            </a:r>
            <a:r>
              <a:rPr sz="2000" kern="0" spc="150" dirty="0">
                <a:solidFill>
                  <a:srgbClr val="000000">
                    <a:alpha val="100000"/>
                  </a:srgbClr>
                </a:solidFill>
                <a:latin typeface="方正公文楷体" panose="02000500000000000000" charset="-122"/>
                <a:ea typeface="方正公文楷体" panose="02000500000000000000" charset="-122"/>
                <a:cs typeface="Arial" panose="020B0604020202020204"/>
              </a:rPr>
              <a:t>  </a:t>
            </a:r>
            <a:r>
              <a:rPr sz="2000" kern="0" spc="0" dirty="0">
                <a:solidFill>
                  <a:srgbClr val="000000">
                    <a:alpha val="100000"/>
                  </a:srgbClr>
                </a:solidFill>
                <a:latin typeface="方正公文楷体" panose="02000500000000000000" charset="-122"/>
                <a:ea typeface="方正公文楷体" panose="02000500000000000000" charset="-122"/>
                <a:cs typeface="Arial" panose="020B0604020202020204"/>
              </a:rPr>
              <a:t>world</a:t>
            </a:r>
            <a:r>
              <a:rPr sz="2000" kern="0" spc="40" dirty="0">
                <a:solidFill>
                  <a:srgbClr val="000000">
                    <a:alpha val="100000"/>
                  </a:srgbClr>
                </a:solidFill>
                <a:latin typeface="方正公文楷体" panose="02000500000000000000" charset="-122"/>
                <a:ea typeface="方正公文楷体" panose="02000500000000000000" charset="-122"/>
                <a:cs typeface="Arial" panose="020B0604020202020204"/>
              </a:rPr>
              <a:t>123</a:t>
            </a:r>
            <a:endParaRPr sz="2000" kern="0" spc="40" dirty="0">
              <a:solidFill>
                <a:srgbClr val="000000">
                  <a:alpha val="100000"/>
                </a:srgbClr>
              </a:solidFill>
              <a:latin typeface="方正公文楷体" panose="02000500000000000000" charset="-122"/>
              <a:ea typeface="方正公文楷体" panose="02000500000000000000" charset="-122"/>
              <a:cs typeface="Arial" panose="020B0604020202020204"/>
            </a:endParaRPr>
          </a:p>
          <a:p>
            <a:pPr marL="12700" algn="l" rtl="0" eaLnBrk="0">
              <a:lnSpc>
                <a:spcPct val="83000"/>
              </a:lnSpc>
              <a:spcBef>
                <a:spcPts val="170"/>
              </a:spcBef>
            </a:pPr>
            <a:endParaRPr sz="2000" kern="0" spc="40" dirty="0">
              <a:solidFill>
                <a:srgbClr val="000000">
                  <a:alpha val="100000"/>
                </a:srgbClr>
              </a:solidFill>
              <a:latin typeface="方正公文楷体" panose="02000500000000000000" charset="-122"/>
              <a:ea typeface="方正公文楷体" panose="02000500000000000000" charset="-122"/>
              <a:cs typeface="Arial" panose="020B0604020202020204"/>
            </a:endParaRPr>
          </a:p>
          <a:p>
            <a:pPr marL="12700" algn="l" rtl="0" eaLnBrk="0">
              <a:lnSpc>
                <a:spcPct val="83000"/>
              </a:lnSpc>
              <a:spcBef>
                <a:spcPts val="170"/>
              </a:spcBef>
            </a:pPr>
            <a:endParaRPr sz="2000" kern="0" spc="40" dirty="0">
              <a:solidFill>
                <a:srgbClr val="000000">
                  <a:alpha val="100000"/>
                </a:srgbClr>
              </a:solidFill>
              <a:latin typeface="方正公文楷体" panose="02000500000000000000" charset="-122"/>
              <a:ea typeface="方正公文楷体" panose="02000500000000000000" charset="-122"/>
              <a:cs typeface="Arial" panose="020B0604020202020204"/>
            </a:endParaRPr>
          </a:p>
        </p:txBody>
      </p:sp>
      <p:sp>
        <p:nvSpPr>
          <p:cNvPr id="72" name="textbox 72"/>
          <p:cNvSpPr/>
          <p:nvPr/>
        </p:nvSpPr>
        <p:spPr>
          <a:xfrm>
            <a:off x="1393959" y="493361"/>
            <a:ext cx="4546600" cy="29400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8000"/>
              </a:lnSpc>
            </a:pPr>
            <a:r>
              <a:rPr b="1" kern="0" spc="-30" dirty="0">
                <a:solidFill>
                  <a:srgbClr val="082C62">
                    <a:alpha val="100000"/>
                  </a:srgbClr>
                </a:solidFill>
                <a:latin typeface="方正公文楷体" panose="02000500000000000000" charset="-122"/>
                <a:ea typeface="方正公文楷体" panose="02000500000000000000" charset="-122"/>
                <a:cs typeface="方正公文楷体" panose="02000500000000000000" charset="-122"/>
                <a:sym typeface="+mn-ea"/>
              </a:rPr>
              <a:t>C++</a:t>
            </a:r>
            <a:r>
              <a:rPr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基础</a:t>
            </a:r>
            <a:r>
              <a:rPr lang="en-US"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基于流的输入输出</a:t>
            </a:r>
            <a:endParaRPr b="1" dirty="0">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8000"/>
              </a:lnSpc>
            </a:pPr>
            <a:endParaRPr sz="1800" dirty="0">
              <a:latin typeface="黑体" panose="02010609060101010101" charset="-122"/>
              <a:ea typeface="黑体" panose="02010609060101010101" charset="-122"/>
              <a:cs typeface="黑体" panose="02010609060101010101" charset="-122"/>
            </a:endParaRPr>
          </a:p>
        </p:txBody>
      </p:sp>
      <p:pic>
        <p:nvPicPr>
          <p:cNvPr id="74" name="picture 74"/>
          <p:cNvPicPr>
            <a:picLocks noChangeAspect="1"/>
          </p:cNvPicPr>
          <p:nvPr/>
        </p:nvPicPr>
        <p:blipFill>
          <a:blip r:embed="rId2"/>
          <a:stretch>
            <a:fillRect/>
          </a:stretch>
        </p:blipFill>
        <p:spPr>
          <a:xfrm rot="21600000">
            <a:off x="539739" y="273016"/>
            <a:ext cx="711159" cy="685800"/>
          </a:xfrm>
          <a:prstGeom prst="rect">
            <a:avLst/>
          </a:prstGeom>
        </p:spPr>
      </p:pic>
      <p:sp>
        <p:nvSpPr>
          <p:cNvPr id="76" name="textbox 76"/>
          <p:cNvSpPr/>
          <p:nvPr/>
        </p:nvSpPr>
        <p:spPr>
          <a:xfrm>
            <a:off x="1134745" y="986790"/>
            <a:ext cx="3017520" cy="252730"/>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marL="12700" algn="l" rtl="0" eaLnBrk="0">
              <a:lnSpc>
                <a:spcPct val="99000"/>
              </a:lnSpc>
            </a:pPr>
            <a:r>
              <a:rPr sz="2000" b="1"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std</a:t>
            </a:r>
            <a:r>
              <a:rPr sz="2000" b="1"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2000" b="1" kern="0" spc="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cout</a:t>
            </a:r>
            <a:r>
              <a:rPr sz="2000" b="1" kern="0" spc="4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的用法如下：</a:t>
            </a:r>
            <a:endParaRPr sz="2000" b="1"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78" name="textbox 78"/>
          <p:cNvSpPr/>
          <p:nvPr/>
        </p:nvSpPr>
        <p:spPr>
          <a:xfrm>
            <a:off x="1049020" y="2744470"/>
            <a:ext cx="1812925" cy="225425"/>
          </a:xfrm>
          <a:prstGeom prst="rect">
            <a:avLst/>
          </a:prstGeom>
          <a:noFill/>
          <a:ln w="0" cap="flat">
            <a:noFill/>
            <a:prstDash val="solid"/>
            <a:miter lim="0"/>
          </a:ln>
        </p:spPr>
        <p:txBody>
          <a:bodyPr vert="horz" wrap="square" lIns="0" tIns="0" rIns="0" bIns="0"/>
          <a:lstStyle/>
          <a:p>
            <a:pPr algn="l" rtl="0" eaLnBrk="0">
              <a:lnSpc>
                <a:spcPct val="83000"/>
              </a:lnSpc>
            </a:pPr>
            <a:r>
              <a:rPr 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输</a:t>
            </a:r>
            <a:r>
              <a:rPr sz="2000" kern="0" spc="-9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出</a:t>
            </a:r>
            <a:r>
              <a:rPr sz="2000" kern="0" spc="-14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为</a:t>
            </a:r>
            <a:r>
              <a:rPr lang="zh-CN"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endParaRPr lang="zh-CN"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82" name="rect 82"/>
          <p:cNvSpPr/>
          <p:nvPr/>
        </p:nvSpPr>
        <p:spPr>
          <a:xfrm>
            <a:off x="1126469" y="4093865"/>
            <a:ext cx="9080480" cy="1549359"/>
          </a:xfrm>
          <a:prstGeom prst="rect">
            <a:avLst/>
          </a:prstGeom>
          <a:solidFill>
            <a:srgbClr val="F6F4EE">
              <a:alpha val="100000"/>
            </a:srgbClr>
          </a:solidFill>
          <a:ln w="0" cap="flat">
            <a:noFill/>
            <a:prstDash val="solid"/>
            <a:miter lim="0"/>
          </a:ln>
        </p:spPr>
        <p:txBody>
          <a:bodyPr rtlCol="0"/>
          <a:p>
            <a:pPr algn="ctr"/>
            <a:endParaRPr lang="zh-CN" altLang="en-US"/>
          </a:p>
        </p:txBody>
      </p:sp>
      <p:sp>
        <p:nvSpPr>
          <p:cNvPr id="86" name="textbox 86"/>
          <p:cNvSpPr/>
          <p:nvPr/>
        </p:nvSpPr>
        <p:spPr>
          <a:xfrm>
            <a:off x="1291650" y="4067554"/>
            <a:ext cx="2503170" cy="432434"/>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r" rtl="0" eaLnBrk="0">
              <a:lnSpc>
                <a:spcPts val="3205"/>
              </a:lnSpc>
            </a:pP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char s</a:t>
            </a: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tr[10]   = "" ;</a:t>
            </a:r>
            <a:endPar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88" name="textbox 88"/>
          <p:cNvSpPr/>
          <p:nvPr/>
        </p:nvSpPr>
        <p:spPr>
          <a:xfrm>
            <a:off x="1291590" y="4377690"/>
            <a:ext cx="5909310" cy="96139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3120"/>
              </a:lnSpc>
            </a:pP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num = 0;</a:t>
            </a:r>
            <a:endPar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2700" algn="l" rtl="0" eaLnBrk="0">
              <a:lnSpc>
                <a:spcPts val="3120"/>
              </a:lnSpc>
            </a:pP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std ::cin &gt;&gt; str &gt;&gt;num; </a:t>
            </a:r>
            <a:endPar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2700" algn="l" rtl="0" eaLnBrk="0">
              <a:lnSpc>
                <a:spcPts val="3120"/>
              </a:lnSpc>
            </a:pPr>
            <a:r>
              <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rPr>
              <a:t>std ::cout &lt;&lt; str &lt;&lt;num;</a:t>
            </a:r>
            <a:endParaRPr sz="2000" kern="0" spc="7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90" name="textbox 90"/>
          <p:cNvSpPr/>
          <p:nvPr/>
        </p:nvSpPr>
        <p:spPr>
          <a:xfrm>
            <a:off x="5076169" y="4714785"/>
            <a:ext cx="2846070" cy="572134"/>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2700" algn="l" rtl="0" eaLnBrk="0">
              <a:lnSpc>
                <a:spcPct val="98000"/>
              </a:lnSpc>
            </a:pPr>
            <a:endParaRPr sz="1700" dirty="0">
              <a:latin typeface="黑体" panose="02010609060101010101" charset="-122"/>
              <a:ea typeface="黑体" panose="02010609060101010101" charset="-122"/>
              <a:cs typeface="黑体" panose="02010609060101010101" charset="-122"/>
            </a:endParaRPr>
          </a:p>
        </p:txBody>
      </p:sp>
      <p:sp>
        <p:nvSpPr>
          <p:cNvPr id="98" name="textbox 98"/>
          <p:cNvSpPr/>
          <p:nvPr/>
        </p:nvSpPr>
        <p:spPr>
          <a:xfrm>
            <a:off x="1126439" y="3716745"/>
            <a:ext cx="2162810" cy="275590"/>
          </a:xfrm>
          <a:prstGeom prst="rect">
            <a:avLst/>
          </a:prstGeom>
          <a:noFill/>
          <a:ln w="0" cap="flat">
            <a:noFill/>
            <a:prstDash val="solid"/>
            <a:miter lim="0"/>
          </a:ln>
        </p:spPr>
        <p:txBody>
          <a:bodyPr vert="horz" wrap="square" lIns="0" tIns="0" rIns="0" bIns="0"/>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96000"/>
              </a:lnSpc>
            </a:pPr>
            <a:r>
              <a:rPr sz="2000" b="1" kern="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std::cin的用法如下：</a:t>
            </a:r>
            <a:endParaRPr sz="2000" b="1" kern="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sp>
        <p:nvSpPr>
          <p:cNvPr id="106" name="textbox 106"/>
          <p:cNvSpPr/>
          <p:nvPr/>
        </p:nvSpPr>
        <p:spPr>
          <a:xfrm>
            <a:off x="6057960" y="1892327"/>
            <a:ext cx="3898900" cy="2165350"/>
          </a:xfrm>
          <a:prstGeom prst="rect">
            <a:avLst/>
          </a:prstGeom>
          <a:solidFill>
            <a:srgbClr val="F7F2EB">
              <a:alpha val="100000"/>
            </a:srgbClr>
          </a:solidFill>
          <a:ln w="0" cap="flat">
            <a:noFill/>
            <a:prstDash val="solid"/>
            <a:miter lim="0"/>
          </a:ln>
        </p:spPr>
        <p:txBody>
          <a:bodyPr vert="horz" wrap="square" lIns="0" tIns="0" rIns="0" bIns="0"/>
          <a:lstStyle/>
          <a:p>
            <a:pPr algn="l" rtl="0" eaLnBrk="0">
              <a:lnSpc>
                <a:spcPct val="180000"/>
              </a:lnSpc>
            </a:pPr>
            <a:endParaRPr sz="1000" dirty="0">
              <a:latin typeface="Arial" panose="020B0604020202020204"/>
              <a:ea typeface="Arial" panose="020B0604020202020204"/>
              <a:cs typeface="Arial" panose="020B0604020202020204"/>
            </a:endParaRPr>
          </a:p>
          <a:p>
            <a:pPr marL="297815" algn="l" rtl="0" eaLnBrk="0">
              <a:lnSpc>
                <a:spcPct val="85000"/>
              </a:lnSpc>
              <a:spcBef>
                <a:spcPts val="5"/>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/*张三的代码*/</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97815" algn="l" rtl="0" eaLnBrk="0">
              <a:lnSpc>
                <a:spcPts val="5185"/>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num = 2;</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97815" algn="l" rtl="0" eaLnBrk="0">
              <a:lnSpc>
                <a:spcPts val="2890"/>
              </a:lnSpc>
              <a:spcBef>
                <a:spcPts val="1030"/>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zhangsan(){</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97815" algn="l" rtl="0" eaLnBrk="0">
              <a:lnSpc>
                <a:spcPct val="94000"/>
              </a:lnSpc>
              <a:spcBef>
                <a:spcPts val="10"/>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一 些其他的代码 . .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108" name="textbox 108"/>
          <p:cNvSpPr/>
          <p:nvPr/>
        </p:nvSpPr>
        <p:spPr>
          <a:xfrm>
            <a:off x="1416100" y="1898637"/>
            <a:ext cx="3886200" cy="2165350"/>
          </a:xfrm>
          <a:prstGeom prst="rect">
            <a:avLst/>
          </a:prstGeom>
          <a:solidFill>
            <a:srgbClr val="F8F3EC">
              <a:alpha val="100000"/>
            </a:srgbClr>
          </a:solidFill>
          <a:ln w="0" cap="flat">
            <a:noFill/>
            <a:prstDash val="solid"/>
            <a:miter lim="0"/>
          </a:ln>
        </p:spPr>
        <p:txBody>
          <a:bodyPr vert="horz" wrap="square" lIns="0" tIns="0" rIns="0" bIns="0"/>
          <a:lstStyle/>
          <a:p>
            <a:pPr algn="l" rtl="0" eaLnBrk="0">
              <a:lnSpc>
                <a:spcPct val="176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98450" algn="l" rtl="0" eaLnBrk="0">
              <a:lnSpc>
                <a:spcPct val="84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/*李四的代码*/</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98450" algn="l" rtl="0" eaLnBrk="0">
              <a:lnSpc>
                <a:spcPts val="5075"/>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num = 1;</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98450" algn="l" rtl="0" eaLnBrk="0">
              <a:lnSpc>
                <a:spcPts val="4045"/>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main(){</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98450" algn="l" rtl="0" eaLnBrk="0">
              <a:lnSpc>
                <a:spcPct val="94000"/>
              </a:lnSpc>
              <a:spcBef>
                <a:spcPts val="10"/>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一 些其他的代码 . .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110" name="textbox 110"/>
          <p:cNvSpPr/>
          <p:nvPr/>
        </p:nvSpPr>
        <p:spPr>
          <a:xfrm>
            <a:off x="1390650" y="565150"/>
            <a:ext cx="7112000" cy="117919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l" rtl="0" eaLnBrk="0">
              <a:lnSpc>
                <a:spcPct val="125000"/>
              </a:lnSpc>
            </a:pPr>
            <a:r>
              <a:rPr b="1" kern="0" spc="-30" dirty="0">
                <a:solidFill>
                  <a:srgbClr val="082C62">
                    <a:alpha val="100000"/>
                  </a:srgbClr>
                </a:solidFill>
                <a:latin typeface="方正公文楷体" panose="02000500000000000000" charset="-122"/>
                <a:ea typeface="方正公文楷体" panose="02000500000000000000" charset="-122"/>
                <a:cs typeface="方正公文楷体" panose="02000500000000000000" charset="-122"/>
                <a:sym typeface="+mn-ea"/>
              </a:rPr>
              <a:t>C++</a:t>
            </a:r>
            <a:r>
              <a:rPr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基础</a:t>
            </a:r>
            <a:r>
              <a:rPr lang="en-US"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基于流的输入输出</a:t>
            </a:r>
            <a:endParaRPr sz="1000" dirty="0">
              <a:latin typeface="Arial" panose="020B0604020202020204"/>
              <a:ea typeface="Arial" panose="020B0604020202020204"/>
              <a:cs typeface="Arial" panose="020B0604020202020204"/>
            </a:endParaRPr>
          </a:p>
          <a:p>
            <a:pPr algn="l" rtl="0" eaLnBrk="0">
              <a:lnSpc>
                <a:spcPct val="125000"/>
              </a:lnSpc>
            </a:pPr>
            <a:endParaRPr sz="10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marL="12700" algn="l" rtl="0" eaLnBrk="0">
              <a:lnSpc>
                <a:spcPct val="92000"/>
              </a:lnSpc>
              <a:spcBef>
                <a:spcPts val="5"/>
              </a:spcBef>
            </a:pPr>
            <a:endParaRPr sz="2000" kern="0" spc="-30" dirty="0">
              <a:solidFill>
                <a:srgbClr val="000000">
                  <a:alpha val="100000"/>
                </a:srgbClr>
              </a:solidFill>
              <a:latin typeface="方正公文楷体" panose="02000500000000000000" charset="-122"/>
              <a:ea typeface="方正公文楷体" panose="02000500000000000000" charset="-122"/>
              <a:cs typeface="黑体" panose="02010609060101010101" charset="-122"/>
            </a:endParaRPr>
          </a:p>
          <a:p>
            <a:pPr marL="12700" algn="l" rtl="0" eaLnBrk="0">
              <a:lnSpc>
                <a:spcPct val="92000"/>
              </a:lnSpc>
              <a:spcBef>
                <a:spcPts val="5"/>
              </a:spcBef>
            </a:pPr>
            <a:r>
              <a:rPr sz="2000" kern="0" spc="-30" dirty="0">
                <a:solidFill>
                  <a:srgbClr val="000000">
                    <a:alpha val="100000"/>
                  </a:srgbClr>
                </a:solidFill>
                <a:latin typeface="方正公文楷体" panose="02000500000000000000" charset="-122"/>
                <a:ea typeface="方正公文楷体" panose="02000500000000000000" charset="-122"/>
                <a:cs typeface="黑体" panose="02010609060101010101" charset="-122"/>
              </a:rPr>
              <a:t>假如李四和张三一同</a:t>
            </a:r>
            <a:r>
              <a:rPr sz="2000" kern="0" spc="-40" dirty="0">
                <a:solidFill>
                  <a:srgbClr val="000000">
                    <a:alpha val="100000"/>
                  </a:srgbClr>
                </a:solidFill>
                <a:latin typeface="方正公文楷体" panose="02000500000000000000" charset="-122"/>
                <a:ea typeface="方正公文楷体" panose="02000500000000000000" charset="-122"/>
                <a:cs typeface="黑体" panose="02010609060101010101" charset="-122"/>
              </a:rPr>
              <a:t>开发一个程序，在程序中他们分别写道</a:t>
            </a:r>
            <a:r>
              <a:rPr sz="1800" kern="0" spc="-40" dirty="0">
                <a:solidFill>
                  <a:srgbClr val="000000">
                    <a:alpha val="100000"/>
                  </a:srgbClr>
                </a:solidFill>
                <a:latin typeface="黑体" panose="02010609060101010101" charset="-122"/>
                <a:ea typeface="黑体" panose="02010609060101010101" charset="-122"/>
                <a:cs typeface="黑体" panose="02010609060101010101" charset="-122"/>
              </a:rPr>
              <a:t>：</a:t>
            </a:r>
            <a:endParaRPr sz="1800" dirty="0">
              <a:latin typeface="黑体" panose="02010609060101010101" charset="-122"/>
              <a:ea typeface="黑体" panose="02010609060101010101" charset="-122"/>
              <a:cs typeface="黑体" panose="02010609060101010101" charset="-122"/>
            </a:endParaRPr>
          </a:p>
        </p:txBody>
      </p:sp>
      <p:sp>
        <p:nvSpPr>
          <p:cNvPr id="118" name="textbox 118"/>
          <p:cNvSpPr/>
          <p:nvPr/>
        </p:nvSpPr>
        <p:spPr>
          <a:xfrm>
            <a:off x="1390650" y="4671060"/>
            <a:ext cx="9048750" cy="27749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000" kern="0" spc="-30" dirty="0">
                <a:solidFill>
                  <a:srgbClr val="000000">
                    <a:alpha val="100000"/>
                  </a:srgbClr>
                </a:solidFill>
                <a:latin typeface="方正公文楷体" panose="02000500000000000000" charset="-122"/>
                <a:ea typeface="方正公文楷体" panose="02000500000000000000" charset="-122"/>
                <a:cs typeface="黑体" panose="02010609060101010101" charset="-122"/>
              </a:rPr>
              <a:t>然而，在编译的时候，却发生了错误</a:t>
            </a:r>
            <a:r>
              <a:rPr lang="en-US" sz="2000" kern="0" spc="-30" dirty="0">
                <a:solidFill>
                  <a:srgbClr val="000000">
                    <a:alpha val="100000"/>
                  </a:srgbClr>
                </a:solidFill>
                <a:latin typeface="方正公文楷体" panose="02000500000000000000" charset="-122"/>
                <a:ea typeface="方正公文楷体" panose="02000500000000000000" charset="-122"/>
                <a:cs typeface="黑体" panose="02010609060101010101" charset="-122"/>
              </a:rPr>
              <a:t>...</a:t>
            </a:r>
            <a:r>
              <a:rPr sz="2000" kern="0" spc="-30" dirty="0">
                <a:solidFill>
                  <a:srgbClr val="000000">
                    <a:alpha val="100000"/>
                  </a:srgbClr>
                </a:solidFill>
                <a:latin typeface="方正公文楷体" panose="02000500000000000000" charset="-122"/>
                <a:ea typeface="方正公文楷体" panose="02000500000000000000" charset="-122"/>
                <a:cs typeface="黑体" panose="02010609060101010101" charset="-122"/>
              </a:rPr>
              <a:t>(学过计算机系统基础的同学应该知道为什么)</a:t>
            </a:r>
            <a:endParaRPr sz="2000" kern="0" spc="-30" dirty="0">
              <a:solidFill>
                <a:srgbClr val="000000">
                  <a:alpha val="100000"/>
                </a:srgbClr>
              </a:solidFill>
              <a:latin typeface="方正公文楷体" panose="02000500000000000000" charset="-122"/>
              <a:ea typeface="方正公文楷体" panose="02000500000000000000" charset="-122"/>
              <a:cs typeface="黑体" panose="02010609060101010101" charset="-122"/>
            </a:endParaRPr>
          </a:p>
        </p:txBody>
      </p:sp>
      <p:pic>
        <p:nvPicPr>
          <p:cNvPr id="120" name="picture 120"/>
          <p:cNvPicPr>
            <a:picLocks noChangeAspect="1"/>
          </p:cNvPicPr>
          <p:nvPr/>
        </p:nvPicPr>
        <p:blipFill>
          <a:blip r:embed="rId2"/>
          <a:stretch>
            <a:fillRect/>
          </a:stretch>
        </p:blipFill>
        <p:spPr>
          <a:xfrm rot="21600000">
            <a:off x="539739" y="273016"/>
            <a:ext cx="711159"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sp>
        <p:nvSpPr>
          <p:cNvPr id="126" name="textbox 126"/>
          <p:cNvSpPr/>
          <p:nvPr/>
        </p:nvSpPr>
        <p:spPr>
          <a:xfrm>
            <a:off x="1200150" y="865505"/>
            <a:ext cx="8600440" cy="2620010"/>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l" rtl="0" eaLnBrk="0">
              <a:lnSpc>
                <a:spcPct val="147000"/>
              </a:lnSpc>
            </a:pPr>
            <a:endParaRPr sz="1000" dirty="0">
              <a:latin typeface="Arial" panose="020B0604020202020204"/>
              <a:ea typeface="Arial" panose="020B0604020202020204"/>
              <a:cs typeface="Arial" panose="020B0604020202020204"/>
            </a:endParaRPr>
          </a:p>
          <a:p>
            <a:pPr algn="l" rtl="0" eaLnBrk="0">
              <a:lnSpc>
                <a:spcPct val="148000"/>
              </a:lnSpc>
            </a:pPr>
            <a:endParaRPr sz="1000" dirty="0">
              <a:latin typeface="Arial" panose="020B0604020202020204"/>
              <a:ea typeface="Arial" panose="020B0604020202020204"/>
              <a:cs typeface="Arial" panose="020B0604020202020204"/>
            </a:endParaRPr>
          </a:p>
          <a:p>
            <a:pPr algn="l" rtl="0" eaLnBrk="0">
              <a:lnSpc>
                <a:spcPct val="101000"/>
              </a:lnSpc>
            </a:pPr>
            <a:r>
              <a:rPr sz="2000" kern="0" spc="7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简而言之，同一个名字出现了两次，编译器不知道该保留哪一个，于是出现了错误。</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这种情况称为</a:t>
            </a:r>
            <a:r>
              <a:rPr sz="2000" b="1" kern="0" spc="80" dirty="0">
                <a:solidFill>
                  <a:srgbClr val="07326C">
                    <a:alpha val="100000"/>
                  </a:srgbClr>
                </a:solidFill>
                <a:latin typeface="方正公文楷体" panose="02000500000000000000" charset="-122"/>
                <a:ea typeface="方正公文楷体" panose="02000500000000000000" charset="-122"/>
                <a:cs typeface="方正公文楷体" panose="02000500000000000000" charset="-122"/>
              </a:rPr>
              <a:t>命名冲突</a:t>
            </a:r>
            <a:r>
              <a:rPr sz="2000" kern="0" spc="-230" dirty="0">
                <a:solidFill>
                  <a:srgbClr val="07326C">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80" dirty="0">
                <a:solidFill>
                  <a:srgbClr val="07326C">
                    <a:alpha val="100000"/>
                  </a:srgbClr>
                </a:solidFill>
                <a:latin typeface="方正公文楷体" panose="02000500000000000000" charset="-122"/>
                <a:ea typeface="方正公文楷体" panose="02000500000000000000" charset="-122"/>
                <a:cs typeface="方正公文楷体" panose="02000500000000000000" charset="-122"/>
              </a:rPr>
              <a:t>(</a:t>
            </a:r>
            <a:r>
              <a:rPr sz="2000" b="1" kern="0" spc="0" dirty="0">
                <a:solidFill>
                  <a:srgbClr val="07326C">
                    <a:alpha val="100000"/>
                  </a:srgbClr>
                </a:solidFill>
                <a:latin typeface="方正公文楷体" panose="02000500000000000000" charset="-122"/>
                <a:ea typeface="方正公文楷体" panose="02000500000000000000" charset="-122"/>
                <a:cs typeface="方正公文楷体" panose="02000500000000000000" charset="-122"/>
              </a:rPr>
              <a:t>Naming</a:t>
            </a:r>
            <a:r>
              <a:rPr sz="2000" b="1" kern="0" spc="80" dirty="0">
                <a:solidFill>
                  <a:srgbClr val="07326C">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0" dirty="0">
                <a:solidFill>
                  <a:srgbClr val="07326C">
                    <a:alpha val="100000"/>
                  </a:srgbClr>
                </a:solidFill>
                <a:latin typeface="方正公文楷体" panose="02000500000000000000" charset="-122"/>
                <a:ea typeface="方正公文楷体" panose="02000500000000000000" charset="-122"/>
                <a:cs typeface="方正公文楷体" panose="02000500000000000000" charset="-122"/>
              </a:rPr>
              <a:t>Collision</a:t>
            </a:r>
            <a:r>
              <a:rPr sz="2000" b="1" kern="0" spc="80" dirty="0">
                <a:solidFill>
                  <a:srgbClr val="07326C">
                    <a:alpha val="100000"/>
                  </a:srgbClr>
                </a:solidFill>
                <a:latin typeface="方正公文楷体" panose="02000500000000000000" charset="-122"/>
                <a:ea typeface="方正公文楷体" panose="02000500000000000000" charset="-122"/>
                <a:cs typeface="方正公文楷体" panose="02000500000000000000" charset="-122"/>
              </a:rPr>
              <a:t>)。</a:t>
            </a:r>
            <a:endParaRPr sz="2000" dirty="0">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139000"/>
              </a:lnSpc>
              <a:spcBef>
                <a:spcPts val="63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当项目很大的时候，尤其是需要使用一些库的时候，命名冲突问题是很难解决的，</a:t>
            </a:r>
            <a:r>
              <a:rPr sz="2000" kern="0" spc="9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有</a:t>
            </a:r>
            <a:r>
              <a:rPr sz="2000" kern="0" spc="-1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时甚至是很隐蔽的。在C</a:t>
            </a:r>
            <a:r>
              <a:rPr sz="2000" kern="0" spc="-39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 </a:t>
            </a: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时代，解决冲突的一种常用方式是命名时加上前缀。</a:t>
            </a: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15000"/>
              </a:lnSpc>
            </a:pPr>
            <a:endParaRPr sz="2000" dirty="0">
              <a:latin typeface="方正公文楷体" panose="02000500000000000000" charset="-122"/>
              <a:ea typeface="方正公文楷体" panose="02000500000000000000" charset="-122"/>
              <a:cs typeface="方正公文楷体" panose="02000500000000000000" charset="-122"/>
            </a:endParaRPr>
          </a:p>
          <a:p>
            <a:pPr algn="l" rtl="0" eaLnBrk="0">
              <a:lnSpc>
                <a:spcPct val="116000"/>
              </a:lnSpc>
            </a:pPr>
            <a:r>
              <a:rPr sz="2000" kern="0" spc="9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针对这个问题，C++引入了</a:t>
            </a:r>
            <a:r>
              <a:rPr sz="2000" b="1" kern="0" spc="90" dirty="0">
                <a:solidFill>
                  <a:srgbClr val="05316C">
                    <a:alpha val="100000"/>
                  </a:srgbClr>
                </a:solidFill>
                <a:latin typeface="方正公文楷体" panose="02000500000000000000" charset="-122"/>
                <a:ea typeface="方正公文楷体" panose="02000500000000000000" charset="-122"/>
                <a:cs typeface="方正公文楷体" panose="02000500000000000000" charset="-122"/>
              </a:rPr>
              <a:t>命名空间</a:t>
            </a:r>
            <a:r>
              <a:rPr sz="2000" kern="0" spc="-320" dirty="0">
                <a:solidFill>
                  <a:srgbClr val="05316C">
                    <a:alpha val="100000"/>
                  </a:srgbClr>
                </a:solidFill>
                <a:latin typeface="方正公文楷体" panose="02000500000000000000" charset="-122"/>
                <a:ea typeface="方正公文楷体" panose="02000500000000000000" charset="-122"/>
                <a:cs typeface="方正公文楷体" panose="02000500000000000000" charset="-122"/>
              </a:rPr>
              <a:t> </a:t>
            </a:r>
            <a:r>
              <a:rPr sz="2000" b="1" kern="0" spc="90" dirty="0">
                <a:solidFill>
                  <a:srgbClr val="05316C">
                    <a:alpha val="100000"/>
                  </a:srgbClr>
                </a:solidFill>
                <a:latin typeface="方正公文楷体" panose="02000500000000000000" charset="-122"/>
                <a:ea typeface="方正公文楷体" panose="02000500000000000000" charset="-122"/>
                <a:cs typeface="方正公文楷体" panose="02000500000000000000" charset="-122"/>
              </a:rPr>
              <a:t>(</a:t>
            </a:r>
            <a:r>
              <a:rPr sz="2000" b="1" kern="0" spc="0" dirty="0">
                <a:solidFill>
                  <a:srgbClr val="05316C">
                    <a:alpha val="100000"/>
                  </a:srgbClr>
                </a:solidFill>
                <a:latin typeface="方正公文楷体" panose="02000500000000000000" charset="-122"/>
                <a:ea typeface="方正公文楷体" panose="02000500000000000000" charset="-122"/>
                <a:cs typeface="方正公文楷体" panose="02000500000000000000" charset="-122"/>
              </a:rPr>
              <a:t>Namespace</a:t>
            </a:r>
            <a:r>
              <a:rPr sz="2000" b="1" kern="0" spc="90" dirty="0">
                <a:solidFill>
                  <a:srgbClr val="05316C">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90" dirty="0">
                <a:solidFill>
                  <a:srgbClr val="05316C">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9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在不同的命名空间中声明的</a:t>
            </a:r>
            <a:r>
              <a:rPr sz="2000" kern="0" spc="8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实</a:t>
            </a:r>
            <a:r>
              <a:rPr sz="2000"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体之间不会产生冲突。</a:t>
            </a:r>
            <a:endParaRPr sz="2000" dirty="0">
              <a:latin typeface="方正公文楷体" panose="02000500000000000000" charset="-122"/>
              <a:ea typeface="方正公文楷体" panose="02000500000000000000" charset="-122"/>
              <a:cs typeface="方正公文楷体" panose="02000500000000000000" charset="-122"/>
            </a:endParaRPr>
          </a:p>
        </p:txBody>
      </p:sp>
      <p:sp>
        <p:nvSpPr>
          <p:cNvPr id="128" name="textbox 128"/>
          <p:cNvSpPr/>
          <p:nvPr/>
        </p:nvSpPr>
        <p:spPr>
          <a:xfrm>
            <a:off x="1200200" y="4949169"/>
            <a:ext cx="7835900" cy="889635"/>
          </a:xfrm>
          <a:prstGeom prst="rect">
            <a:avLst/>
          </a:prstGeom>
          <a:solidFill>
            <a:srgbClr val="F7F2EC">
              <a:alpha val="100000"/>
            </a:srgbClr>
          </a:solidFill>
          <a:ln w="0" cap="flat">
            <a:noFill/>
            <a:prstDash val="solid"/>
            <a:miter lim="0"/>
          </a:ln>
        </p:spPr>
        <p:txBody>
          <a:bodyPr vert="horz" wrap="square" lIns="0" tIns="0" rIns="0" bIns="0"/>
          <a:lstStyle/>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5000"/>
              </a:lnSpc>
            </a:pPr>
            <a:endParaRPr sz="1000" dirty="0">
              <a:latin typeface="Arial" panose="020B0604020202020204"/>
              <a:ea typeface="Arial" panose="020B0604020202020204"/>
              <a:cs typeface="Arial" panose="020B0604020202020204"/>
            </a:endParaRPr>
          </a:p>
          <a:p>
            <a:pPr marL="298450" algn="l" rtl="0" eaLnBrk="0">
              <a:lnSpc>
                <a:spcPct val="94000"/>
              </a:lnSpc>
              <a:spcBef>
                <a:spcPts val="5"/>
              </a:spcBef>
            </a:pP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namespace</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命名空间的名字 {  /* 一系列声明 */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pic>
        <p:nvPicPr>
          <p:cNvPr id="134" name="picture 134"/>
          <p:cNvPicPr>
            <a:picLocks noChangeAspect="1"/>
          </p:cNvPicPr>
          <p:nvPr/>
        </p:nvPicPr>
        <p:blipFill>
          <a:blip r:embed="rId2"/>
          <a:stretch>
            <a:fillRect/>
          </a:stretch>
        </p:blipFill>
        <p:spPr>
          <a:xfrm rot="21600000">
            <a:off x="539739" y="273016"/>
            <a:ext cx="704819" cy="685800"/>
          </a:xfrm>
          <a:prstGeom prst="rect">
            <a:avLst/>
          </a:prstGeom>
        </p:spPr>
      </p:pic>
      <p:sp>
        <p:nvSpPr>
          <p:cNvPr id="3" name="文本框 2"/>
          <p:cNvSpPr txBox="1"/>
          <p:nvPr/>
        </p:nvSpPr>
        <p:spPr>
          <a:xfrm>
            <a:off x="1244600" y="367030"/>
            <a:ext cx="3992880" cy="498475"/>
          </a:xfrm>
          <a:prstGeom prst="rect">
            <a:avLst/>
          </a:prstGeom>
          <a:noFill/>
        </p:spPr>
        <p:txBody>
          <a:bodyPr wrap="square" rtlCol="0">
            <a:spAutoFit/>
          </a:bodyPr>
          <a:p>
            <a:pPr algn="l" rtl="0" eaLnBrk="0">
              <a:lnSpc>
                <a:spcPct val="147000"/>
              </a:lnSpc>
            </a:pPr>
            <a:r>
              <a:rPr b="1" kern="0" spc="-30" dirty="0">
                <a:solidFill>
                  <a:srgbClr val="082C62">
                    <a:alpha val="100000"/>
                  </a:srgbClr>
                </a:solidFill>
                <a:latin typeface="方正公文楷体" panose="02000500000000000000" charset="-122"/>
                <a:ea typeface="方正公文楷体" panose="02000500000000000000" charset="-122"/>
                <a:cs typeface="方正公文楷体" panose="02000500000000000000" charset="-122"/>
                <a:sym typeface="+mn-ea"/>
              </a:rPr>
              <a:t>C++</a:t>
            </a:r>
            <a:r>
              <a:rPr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基础</a:t>
            </a:r>
            <a:r>
              <a:rPr lang="en-US"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lang="zh-CN"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命名空间</a:t>
            </a:r>
            <a:endParaRPr lang="zh-CN"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sp>
        <p:nvSpPr>
          <p:cNvPr id="138" name="textbox 138"/>
          <p:cNvSpPr/>
          <p:nvPr/>
        </p:nvSpPr>
        <p:spPr>
          <a:xfrm>
            <a:off x="1244600" y="1514475"/>
            <a:ext cx="4058285" cy="3034665"/>
          </a:xfrm>
          <a:prstGeom prst="rect">
            <a:avLst/>
          </a:prstGeom>
          <a:solidFill>
            <a:srgbClr val="F7F2EC">
              <a:alpha val="100000"/>
            </a:srgbClr>
          </a:solidFill>
          <a:ln w="0" cap="flat">
            <a:noFill/>
            <a:prstDash val="solid"/>
            <a:miter lim="0"/>
          </a:ln>
        </p:spPr>
        <p:txBody>
          <a:bodyPr vert="horz" wrap="square" lIns="0" tIns="0" rIns="0" bIns="0"/>
          <a:lstStyle/>
          <a:p>
            <a:pPr algn="l" rtl="0" eaLnBrk="0">
              <a:lnSpc>
                <a:spcPct val="130000"/>
              </a:lnSpc>
            </a:pPr>
            <a:endParaRPr sz="1000" dirty="0">
              <a:latin typeface="Arial" panose="020B0604020202020204"/>
              <a:ea typeface="Arial" panose="020B0604020202020204"/>
              <a:cs typeface="Arial" panose="020B0604020202020204"/>
            </a:endParaRPr>
          </a:p>
          <a:p>
            <a:pPr marL="183515" algn="l" rtl="0" eaLnBrk="0">
              <a:lnSpc>
                <a:spcPct val="79000"/>
              </a:lnSpc>
              <a:spcBef>
                <a:spcPts val="5"/>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/*李四的代码*/</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83515" algn="l" rtl="0" eaLnBrk="0">
              <a:lnSpc>
                <a:spcPts val="3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#include &lt;iostream&gt;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83515" algn="l" rtl="0" eaLnBrk="0">
              <a:lnSpc>
                <a:spcPts val="3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num = 1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83515" algn="l" rtl="0" eaLnBrk="0">
              <a:lnSpc>
                <a:spcPts val="3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int   main()</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endParaRPr>
          </a:p>
          <a:p>
            <a:pPr algn="l" rtl="0" eaLnBrk="0">
              <a:lnSpc>
                <a:spcPct val="10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 ::cout   &lt;&lt; num;</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7000"/>
              </a:lnSpc>
            </a:pP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return  0;</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grpSp>
        <p:nvGrpSpPr>
          <p:cNvPr id="6" name="group 6"/>
          <p:cNvGrpSpPr/>
          <p:nvPr/>
        </p:nvGrpSpPr>
        <p:grpSpPr>
          <a:xfrm rot="21600000">
            <a:off x="5930900" y="1514475"/>
            <a:ext cx="3867150" cy="3034665"/>
            <a:chOff x="0" y="0"/>
            <a:chExt cx="3867180" cy="2813082"/>
          </a:xfrm>
        </p:grpSpPr>
        <p:sp>
          <p:nvSpPr>
            <p:cNvPr id="142" name="rect 142"/>
            <p:cNvSpPr/>
            <p:nvPr/>
          </p:nvSpPr>
          <p:spPr>
            <a:xfrm>
              <a:off x="0" y="0"/>
              <a:ext cx="3867180" cy="2813082"/>
            </a:xfrm>
            <a:prstGeom prst="rect">
              <a:avLst/>
            </a:prstGeom>
            <a:solidFill>
              <a:srgbClr val="F7F1EB">
                <a:alpha val="100000"/>
              </a:srgbClr>
            </a:solidFill>
            <a:ln w="0" cap="flat">
              <a:noFill/>
              <a:prstDash val="solid"/>
              <a:miter lim="0"/>
            </a:ln>
          </p:spPr>
          <p:txBody>
            <a:bodyPr rtlCol="0"/>
            <a:lstStyle/>
            <a:p>
              <a:pPr algn="ctr"/>
              <a:endParaRPr lang="zh-CN" altLang="en-US"/>
            </a:p>
          </p:txBody>
        </p:sp>
        <p:sp>
          <p:nvSpPr>
            <p:cNvPr id="144" name="textbox 144"/>
            <p:cNvSpPr/>
            <p:nvPr/>
          </p:nvSpPr>
          <p:spPr>
            <a:xfrm>
              <a:off x="158750" y="69850"/>
              <a:ext cx="3496945" cy="2489200"/>
            </a:xfrm>
            <a:prstGeom prst="rect">
              <a:avLst/>
            </a:prstGeom>
            <a:noFill/>
            <a:ln w="0" cap="flat">
              <a:noFill/>
              <a:prstDash val="solid"/>
              <a:miter lim="0"/>
            </a:ln>
          </p:spPr>
          <p:txBody>
            <a:bodyPr vert="horz" wrap="square" lIns="0" tIns="0" rIns="0" bIns="0"/>
            <a:lstStyle/>
            <a:p>
              <a:pPr algn="l" rtl="0" eaLnBrk="0">
                <a:lnSpc>
                  <a:spcPct val="86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/*张三的代码*/</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2700" algn="l" rtl="0" eaLnBrk="0">
                <a:lnSpc>
                  <a:spcPct val="80000"/>
                </a:lnSpc>
                <a:spcBef>
                  <a:spcPts val="315"/>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namespace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zhangsan_ns</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4765" algn="l" rtl="0" eaLnBrk="0">
                <a:lnSpc>
                  <a:spcPct val="80000"/>
                </a:lnSpc>
                <a:spcBef>
                  <a:spcPts val="930"/>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4765" algn="l" rtl="0" eaLnBrk="0">
                <a:lnSpc>
                  <a:spcPct val="80000"/>
                </a:lnSpc>
                <a:spcBef>
                  <a:spcPts val="930"/>
                </a:spcBef>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int</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num = 2;</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4765" indent="457200" algn="l" rtl="0" eaLnBrk="0">
                <a:lnSpc>
                  <a:spcPct val="80000"/>
                </a:lnSpc>
                <a:spcBef>
                  <a:spcPts val="930"/>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zhangsan()</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4765" indent="457200" algn="l" rtl="0" eaLnBrk="0">
                <a:lnSpc>
                  <a:spcPct val="80000"/>
                </a:lnSpc>
                <a:spcBef>
                  <a:spcPts val="930"/>
                </a:spcBef>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4765" indent="457200" algn="l" rtl="0" eaLnBrk="0">
                <a:lnSpc>
                  <a:spcPct val="80000"/>
                </a:lnSpc>
                <a:spcBef>
                  <a:spcPts val="930"/>
                </a:spcBef>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num</a:t>
              </a:r>
              <a:r>
                <a:rPr lang="zh-CN"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6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6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grpSp>
      <p:sp>
        <p:nvSpPr>
          <p:cNvPr id="146" name="textbox 146"/>
          <p:cNvSpPr/>
          <p:nvPr/>
        </p:nvSpPr>
        <p:spPr>
          <a:xfrm>
            <a:off x="1244559" y="5023355"/>
            <a:ext cx="9064625" cy="723900"/>
          </a:xfrm>
          <a:prstGeom prst="rect">
            <a:avLst/>
          </a:prstGeom>
          <a:noFill/>
          <a:ln w="0" cap="flat">
            <a:noFill/>
            <a:prstDash val="solid"/>
            <a:miter lim="0"/>
          </a:ln>
        </p:spPr>
        <p:txBody>
          <a:bodyPr vert="horz" wrap="square" lIns="0" tIns="0" rIns="0" bIns="0"/>
          <a:lstStyle/>
          <a:p>
            <a:pPr algn="l" rtl="0" eaLnBrk="0">
              <a:lnSpc>
                <a:spcPct val="29000"/>
              </a:lnSpc>
            </a:pPr>
            <a:endParaRPr sz="100" dirty="0">
              <a:latin typeface="Arial" panose="020B0604020202020204"/>
              <a:ea typeface="Arial" panose="020B0604020202020204"/>
              <a:cs typeface="Arial" panose="020B0604020202020204"/>
            </a:endParaRPr>
          </a:p>
          <a:p>
            <a:pPr marL="38100" indent="-25400" algn="l" rtl="0" eaLnBrk="0">
              <a:lnSpc>
                <a:spcPct val="122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这下，张三声明的num 被放在了zhangsan_ns命名空间中，和李四声明的num 不在同一个 命名空间中，于是就不会编译失败了。</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150" name="textbox 150"/>
          <p:cNvSpPr/>
          <p:nvPr/>
        </p:nvSpPr>
        <p:spPr>
          <a:xfrm>
            <a:off x="1356349" y="126966"/>
            <a:ext cx="6080125" cy="742950"/>
          </a:xfrm>
          <a:prstGeom prst="rect">
            <a:avLst/>
          </a:prstGeom>
          <a:noFill/>
          <a:ln w="0" cap="flat">
            <a:noFill/>
            <a:prstDash val="solid"/>
            <a:miter lim="0"/>
          </a:ln>
        </p:spPr>
        <p:txBody>
          <a:bodyPr vert="horz" wrap="square" lIns="0" tIns="0" rIns="0" bIns="0"/>
          <a:lstStyle/>
          <a:p>
            <a:pPr algn="l" rtl="0" eaLnBrk="0">
              <a:lnSpc>
                <a:spcPct val="158000"/>
              </a:lnSpc>
            </a:pPr>
            <a:endParaRPr sz="1000" dirty="0">
              <a:latin typeface="Arial" panose="020B0604020202020204"/>
              <a:ea typeface="Arial" panose="020B0604020202020204"/>
              <a:cs typeface="Arial" panose="020B0604020202020204"/>
            </a:endParaRPr>
          </a:p>
          <a:p>
            <a:pPr algn="l" rtl="0" eaLnBrk="0">
              <a:lnSpc>
                <a:spcPct val="147000"/>
              </a:lnSpc>
            </a:pPr>
            <a:r>
              <a:rPr sz="1900" b="1" kern="0" spc="-30" dirty="0">
                <a:solidFill>
                  <a:srgbClr val="082C62">
                    <a:alpha val="100000"/>
                  </a:srgbClr>
                </a:solidFill>
                <a:latin typeface="方正公文楷体" panose="02000500000000000000" charset="-122"/>
                <a:ea typeface="方正公文楷体" panose="02000500000000000000" charset="-122"/>
                <a:cs typeface="方正公文楷体" panose="02000500000000000000" charset="-122"/>
                <a:sym typeface="+mn-ea"/>
              </a:rPr>
              <a:t>C++</a:t>
            </a:r>
            <a:r>
              <a:rPr sz="19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基础</a:t>
            </a:r>
            <a:r>
              <a:rPr lang="en-US" sz="19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lang="zh-CN" sz="19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命名空间</a:t>
            </a:r>
            <a:endParaRPr sz="1900" dirty="0">
              <a:latin typeface="黑体" panose="02010609060101010101" charset="-122"/>
              <a:ea typeface="黑体" panose="02010609060101010101" charset="-122"/>
              <a:cs typeface="黑体" panose="02010609060101010101" charset="-122"/>
            </a:endParaRPr>
          </a:p>
        </p:txBody>
      </p:sp>
      <p:pic>
        <p:nvPicPr>
          <p:cNvPr id="152" name="picture 152"/>
          <p:cNvPicPr>
            <a:picLocks noChangeAspect="1"/>
          </p:cNvPicPr>
          <p:nvPr/>
        </p:nvPicPr>
        <p:blipFill>
          <a:blip r:embed="rId2"/>
          <a:stretch>
            <a:fillRect/>
          </a:stretch>
        </p:blipFill>
        <p:spPr>
          <a:xfrm rot="21600000">
            <a:off x="539739" y="273016"/>
            <a:ext cx="704819" cy="685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 name="picture 164"/>
          <p:cNvPicPr>
            <a:picLocks noChangeAspect="1"/>
          </p:cNvPicPr>
          <p:nvPr/>
        </p:nvPicPr>
        <p:blipFill>
          <a:blip r:embed="rId1"/>
          <a:stretch>
            <a:fillRect/>
          </a:stretch>
        </p:blipFill>
        <p:spPr>
          <a:xfrm rot="21600000">
            <a:off x="0" y="0"/>
            <a:ext cx="12192000" cy="6858000"/>
          </a:xfrm>
          <a:prstGeom prst="rect">
            <a:avLst/>
          </a:prstGeom>
        </p:spPr>
      </p:pic>
      <p:sp>
        <p:nvSpPr>
          <p:cNvPr id="166" name="textbox 166"/>
          <p:cNvSpPr/>
          <p:nvPr/>
        </p:nvSpPr>
        <p:spPr>
          <a:xfrm>
            <a:off x="6445250" y="953135"/>
            <a:ext cx="4457700" cy="5401310"/>
          </a:xfrm>
          <a:prstGeom prst="rect">
            <a:avLst/>
          </a:prstGeom>
          <a:solidFill>
            <a:srgbClr val="F7F3ED">
              <a:alpha val="100000"/>
            </a:srgbClr>
          </a:solidFill>
          <a:ln w="0" cap="flat">
            <a:noFill/>
            <a:prstDash val="solid"/>
            <a:miter lim="0"/>
          </a:ln>
        </p:spPr>
        <p:txBody>
          <a:bodyPr vert="horz" wrap="square" lIns="0" tIns="0" rIns="0" bIns="0"/>
          <a:lstStyle/>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2000"/>
              </a:lnSpc>
            </a:pPr>
            <a:r>
              <a:rPr lang="en-US" sz="1000" dirty="0">
                <a:latin typeface="Arial" panose="020B0604020202020204"/>
                <a:ea typeface="Arial" panose="020B0604020202020204"/>
                <a:cs typeface="Arial" panose="020B0604020202020204"/>
              </a:rPr>
              <a:t>       </a:t>
            </a:r>
            <a:endParaRPr sz="1000" dirty="0">
              <a:latin typeface="Arial" panose="020B0604020202020204"/>
              <a:ea typeface="Arial" panose="020B0604020202020204"/>
              <a:cs typeface="Arial" panose="020B0604020202020204"/>
            </a:endParaRPr>
          </a:p>
          <a:p>
            <a:pPr algn="l" rtl="0" eaLnBrk="0">
              <a:lnSpc>
                <a:spcPct val="7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include</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&lt;</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iostream</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&gt;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58115" algn="l" rtl="0" eaLnBrk="0">
              <a:lnSpc>
                <a:spcPct val="67000"/>
              </a:lnSpc>
              <a:spcBef>
                <a:spcPts val="120"/>
              </a:spcBef>
            </a:pP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namespace</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ns</a:t>
            </a:r>
            <a:endPar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58115" algn="l" rtl="0" eaLnBrk="0">
              <a:lnSpc>
                <a:spcPct val="67000"/>
              </a:lnSpc>
              <a:spcBef>
                <a:spcPts val="120"/>
              </a:spcBef>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58115" indent="457200" algn="l" rtl="0" eaLnBrk="0">
              <a:lnSpc>
                <a:spcPct val="67000"/>
              </a:lnSpc>
              <a:spcBef>
                <a:spcPts val="120"/>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num = 2;</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83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int  f()</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endParaRPr>
          </a:p>
          <a:p>
            <a:pPr marL="12700" indent="457200" algn="l" rtl="0" eaLnBrk="0">
              <a:lnSpc>
                <a:spcPts val="2795"/>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 </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469900" lvl="1" indent="457200" algn="l" rtl="0" eaLnBrk="0">
              <a:lnSpc>
                <a:spcPts val="2795"/>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num;</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716915" algn="l" rtl="0" eaLnBrk="0">
              <a:lnSpc>
                <a:spcPct val="99000"/>
              </a:lnSpc>
              <a:spcBef>
                <a:spcPts val="515"/>
              </a:spcBef>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0" lvl="0" indent="0" algn="l" rtl="0" eaLnBrk="0">
              <a:lnSpc>
                <a:spcPct val="99000"/>
              </a:lnSpc>
              <a:spcBef>
                <a:spcPts val="515"/>
              </a:spcBef>
              <a:buNone/>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0" lvl="0" indent="0" algn="l" rtl="0" eaLnBrk="0">
              <a:lnSpc>
                <a:spcPct val="99000"/>
              </a:lnSpc>
              <a:spcBef>
                <a:spcPts val="515"/>
              </a:spcBef>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main()</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0" lvl="0" indent="0" algn="l" rtl="0" eaLnBrk="0">
              <a:lnSpc>
                <a:spcPct val="99000"/>
              </a:lnSpc>
              <a:spcBef>
                <a:spcPts val="515"/>
              </a:spcBef>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0" lvl="0" indent="0" algn="l" rtl="0" eaLnBrk="0">
              <a:lnSpc>
                <a:spcPct val="99000"/>
              </a:lnSpc>
              <a:spcBef>
                <a:spcPts val="515"/>
              </a:spcBef>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using   ns ::num;</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0" lvl="0" algn="l" rtl="0" eaLnBrk="0">
              <a:lnSpc>
                <a:spcPct val="99000"/>
              </a:lnSpc>
              <a:spcBef>
                <a:spcPts val="515"/>
              </a:spcBef>
              <a:buClrTx/>
              <a:buSzTx/>
              <a:buFont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std ::cout    &lt;&lt;ns:: f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endParaRPr>
          </a:p>
          <a:p>
            <a:pPr marL="0" lvl="0" algn="l" rtl="0" eaLnBrk="0">
              <a:lnSpc>
                <a:spcPct val="99000"/>
              </a:lnSpc>
              <a:spcBef>
                <a:spcPts val="515"/>
              </a:spcBef>
              <a:buClrTx/>
              <a:buSzTx/>
              <a:buFontTx/>
              <a:buNone/>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 </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sym typeface="+mn-ea"/>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 ::cout   &lt;&lt; num;</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0" lvl="0" algn="l" rtl="0" eaLnBrk="0">
              <a:lnSpc>
                <a:spcPct val="99000"/>
              </a:lnSpc>
              <a:spcBef>
                <a:spcPts val="515"/>
              </a:spcBef>
              <a:buClrTx/>
              <a:buSzTx/>
              <a:buFont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0;</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2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178" name="textbox 178"/>
          <p:cNvSpPr/>
          <p:nvPr/>
        </p:nvSpPr>
        <p:spPr>
          <a:xfrm>
            <a:off x="527050" y="260350"/>
            <a:ext cx="5568315" cy="692150"/>
          </a:xfrm>
          <a:prstGeom prst="rect">
            <a:avLst/>
          </a:prstGeom>
          <a:noFill/>
          <a:ln w="0" cap="flat">
            <a:noFill/>
            <a:prstDash val="solid"/>
            <a:miter lim="0"/>
          </a:ln>
        </p:spPr>
        <p:txBody>
          <a:bodyPr vert="horz" wrap="square" lIns="0" tIns="0" rIns="0" bIns="0"/>
          <a:lstStyle/>
          <a:p>
            <a:pPr algn="l" rtl="0" eaLnBrk="0">
              <a:lnSpc>
                <a:spcPct val="144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algn="l" rtl="0" eaLnBrk="0">
              <a:lnSpc>
                <a:spcPct val="147000"/>
              </a:lnSpc>
            </a:pPr>
            <a:r>
              <a:rPr sz="1900" kern="0" spc="0" dirty="0">
                <a:solidFill>
                  <a:srgbClr val="09306C">
                    <a:alpha val="100000"/>
                  </a:srgbClr>
                </a:solidFill>
                <a:latin typeface="黑体" panose="02010609060101010101" charset="-122"/>
                <a:ea typeface="黑体" panose="02010609060101010101" charset="-122"/>
                <a:cs typeface="黑体" panose="02010609060101010101" charset="-122"/>
              </a:rPr>
              <a:t>	</a:t>
            </a:r>
            <a:r>
              <a:rPr sz="1900" b="1" kern="0" spc="-30" dirty="0">
                <a:solidFill>
                  <a:srgbClr val="082C62">
                    <a:alpha val="100000"/>
                  </a:srgbClr>
                </a:solidFill>
                <a:latin typeface="方正公文楷体" panose="02000500000000000000" charset="-122"/>
                <a:ea typeface="方正公文楷体" panose="02000500000000000000" charset="-122"/>
                <a:cs typeface="方正公文楷体" panose="02000500000000000000" charset="-122"/>
                <a:sym typeface="+mn-ea"/>
              </a:rPr>
              <a:t>C++</a:t>
            </a:r>
            <a:r>
              <a:rPr sz="19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基础</a:t>
            </a:r>
            <a:r>
              <a:rPr lang="en-US" sz="19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lang="zh-CN" sz="1900"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命名空间</a:t>
            </a:r>
            <a:endParaRPr sz="1900" dirty="0">
              <a:latin typeface="黑体" panose="02010609060101010101" charset="-122"/>
              <a:ea typeface="黑体" panose="02010609060101010101" charset="-122"/>
              <a:cs typeface="黑体" panose="02010609060101010101" charset="-122"/>
            </a:endParaRPr>
          </a:p>
        </p:txBody>
      </p:sp>
      <p:pic>
        <p:nvPicPr>
          <p:cNvPr id="180" name="picture 180"/>
          <p:cNvPicPr>
            <a:picLocks noChangeAspect="1"/>
          </p:cNvPicPr>
          <p:nvPr/>
        </p:nvPicPr>
        <p:blipFill>
          <a:blip r:embed="rId2"/>
          <a:stretch>
            <a:fillRect/>
          </a:stretch>
        </p:blipFill>
        <p:spPr>
          <a:xfrm rot="21600000">
            <a:off x="539739" y="273016"/>
            <a:ext cx="711159" cy="679491"/>
          </a:xfrm>
          <a:prstGeom prst="rect">
            <a:avLst/>
          </a:prstGeom>
        </p:spPr>
      </p:pic>
      <p:sp>
        <p:nvSpPr>
          <p:cNvPr id="182" name="textbox 182"/>
          <p:cNvSpPr/>
          <p:nvPr/>
        </p:nvSpPr>
        <p:spPr>
          <a:xfrm>
            <a:off x="1320800" y="3049905"/>
            <a:ext cx="4434205" cy="7137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385"/>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另外，还可以使用using 关键字，这样就可以引入其他命名空间中的名字：</a:t>
            </a:r>
            <a:endParaRPr sz="1700" dirty="0">
              <a:latin typeface="黑体" panose="02010609060101010101" charset="-122"/>
              <a:ea typeface="黑体" panose="02010609060101010101" charset="-122"/>
              <a:cs typeface="黑体" panose="02010609060101010101" charset="-122"/>
            </a:endParaRPr>
          </a:p>
        </p:txBody>
      </p:sp>
      <p:sp>
        <p:nvSpPr>
          <p:cNvPr id="184" name="textbox 184"/>
          <p:cNvSpPr/>
          <p:nvPr/>
        </p:nvSpPr>
        <p:spPr>
          <a:xfrm>
            <a:off x="1320800" y="1315720"/>
            <a:ext cx="4773930" cy="664210"/>
          </a:xfrm>
          <a:prstGeom prst="rect">
            <a:avLst/>
          </a:prstGeom>
          <a:noFill/>
          <a:ln w="0" cap="flat">
            <a:noFill/>
            <a:prstDash val="solid"/>
            <a:miter lim="0"/>
          </a:ln>
        </p:spPr>
        <p:txBody>
          <a:bodyPr vert="horz" wrap="square" lIns="0" tIns="0" rIns="0" bIns="0"/>
          <a:lstStyle/>
          <a:p>
            <a:pPr algn="l" rtl="0" eaLnBrk="0">
              <a:lnSpc>
                <a:spcPct val="85000"/>
              </a:lnSpc>
            </a:pPr>
            <a:endParaRPr sz="100" dirty="0">
              <a:latin typeface="Arial" panose="020B0604020202020204"/>
              <a:ea typeface="Arial" panose="020B0604020202020204"/>
              <a:cs typeface="Arial" panose="020B0604020202020204"/>
            </a:endParaRPr>
          </a:p>
          <a:p>
            <a:pPr marL="12700" algn="l" rtl="0" eaLnBrk="0">
              <a:lnSpc>
                <a:spcPct val="87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如何使用不同命名空间中的名字呢?</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87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一种最直接的方式如下：</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186" name="textbox 186"/>
          <p:cNvSpPr/>
          <p:nvPr/>
        </p:nvSpPr>
        <p:spPr>
          <a:xfrm>
            <a:off x="1200150" y="3858293"/>
            <a:ext cx="4458334" cy="482600"/>
          </a:xfrm>
          <a:prstGeom prst="rect">
            <a:avLst/>
          </a:prstGeom>
          <a:solidFill>
            <a:srgbClr val="F8F2EB">
              <a:alpha val="100000"/>
            </a:srgbClr>
          </a:solidFill>
          <a:ln w="0" cap="flat">
            <a:noFill/>
            <a:prstDash val="solid"/>
            <a:miter lim="0"/>
          </a:ln>
        </p:spPr>
        <p:txBody>
          <a:bodyPr vert="horz" wrap="square" lIns="0" tIns="0" rIns="0" bIns="0"/>
          <a:lstStyle/>
          <a:p>
            <a:pPr algn="l" rtl="0" eaLnBrk="0">
              <a:lnSpc>
                <a:spcPct val="102000"/>
              </a:lnSpc>
            </a:pPr>
            <a:endParaRPr sz="400" dirty="0">
              <a:latin typeface="Arial" panose="020B0604020202020204"/>
              <a:ea typeface="Arial" panose="020B0604020202020204"/>
              <a:cs typeface="Arial" panose="020B0604020202020204"/>
            </a:endParaRPr>
          </a:p>
          <a:p>
            <a:pPr marL="298450" algn="l" rtl="0" eaLnBrk="0">
              <a:lnSpc>
                <a:spcPct val="66000"/>
              </a:lnSpc>
              <a:spcBef>
                <a:spcPts val="0"/>
              </a:spcBef>
              <a:buClrTx/>
              <a:buSzTx/>
              <a:buFontTx/>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98450" algn="l" rtl="0" eaLnBrk="0">
              <a:lnSpc>
                <a:spcPct val="66000"/>
              </a:lnSpc>
              <a:spcBef>
                <a:spcPts val="0"/>
              </a:spcBef>
              <a:buClrTx/>
              <a:buSzTx/>
              <a:buFontTx/>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using   ns ::num;</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188" name="textbox 188"/>
          <p:cNvSpPr/>
          <p:nvPr/>
        </p:nvSpPr>
        <p:spPr>
          <a:xfrm>
            <a:off x="1225539" y="5410207"/>
            <a:ext cx="4458334" cy="482600"/>
          </a:xfrm>
          <a:prstGeom prst="rect">
            <a:avLst/>
          </a:prstGeom>
          <a:solidFill>
            <a:srgbClr val="F8F3EA">
              <a:alpha val="100000"/>
            </a:srgbClr>
          </a:solidFill>
          <a:ln w="0" cap="flat">
            <a:noFill/>
            <a:prstDash val="solid"/>
            <a:miter lim="0"/>
          </a:ln>
        </p:spPr>
        <p:txBody>
          <a:bodyPr vert="horz" wrap="square" lIns="0" tIns="0" rIns="0" bIns="0"/>
          <a:lstStyle/>
          <a:p>
            <a:pPr algn="l" rtl="0" eaLnBrk="0">
              <a:lnSpc>
                <a:spcPct val="103000"/>
              </a:lnSpc>
            </a:pPr>
            <a:endParaRPr sz="600" dirty="0">
              <a:latin typeface="Arial" panose="020B0604020202020204"/>
              <a:ea typeface="Arial" panose="020B0604020202020204"/>
              <a:cs typeface="Arial" panose="020B0604020202020204"/>
            </a:endParaRPr>
          </a:p>
          <a:p>
            <a:pPr marL="298450" algn="l" defTabSz="914400" rtl="0" eaLnBrk="0">
              <a:lnSpc>
                <a:spcPct val="66000"/>
              </a:lnSpc>
              <a:spcBef>
                <a:spcPts val="0"/>
              </a:spcBef>
              <a:buClrTx/>
              <a:buSzTx/>
              <a:buFontTx/>
            </a:pP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using</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namespace</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ns</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190" name="textbox 190"/>
          <p:cNvSpPr/>
          <p:nvPr/>
        </p:nvSpPr>
        <p:spPr>
          <a:xfrm>
            <a:off x="1200180" y="2209785"/>
            <a:ext cx="4490084" cy="476884"/>
          </a:xfrm>
          <a:prstGeom prst="rect">
            <a:avLst/>
          </a:prstGeom>
          <a:solidFill>
            <a:srgbClr val="F8F3EB">
              <a:alpha val="100000"/>
            </a:srgbClr>
          </a:solidFill>
          <a:ln w="0" cap="flat">
            <a:noFill/>
            <a:prstDash val="solid"/>
            <a:miter lim="0"/>
          </a:ln>
        </p:spPr>
        <p:txBody>
          <a:bodyPr vert="horz" wrap="square" lIns="0" tIns="0" rIns="0" bIns="0"/>
          <a:lstStyle/>
          <a:p>
            <a:pPr algn="l" rtl="0" eaLnBrk="0">
              <a:lnSpc>
                <a:spcPct val="161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98450" algn="l" rtl="0" eaLnBrk="0">
              <a:lnSpc>
                <a:spcPct val="66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ns ::num</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192" name="textbox 192"/>
          <p:cNvSpPr/>
          <p:nvPr/>
        </p:nvSpPr>
        <p:spPr>
          <a:xfrm>
            <a:off x="1276350" y="4923155"/>
            <a:ext cx="3944620" cy="280035"/>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98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或者引入命名空间中所有的名字：</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 name="picture 194"/>
          <p:cNvPicPr>
            <a:picLocks noChangeAspect="1"/>
          </p:cNvPicPr>
          <p:nvPr/>
        </p:nvPicPr>
        <p:blipFill>
          <a:blip r:embed="rId1"/>
          <a:stretch>
            <a:fillRect/>
          </a:stretch>
        </p:blipFill>
        <p:spPr>
          <a:xfrm rot="21600000">
            <a:off x="0" y="0"/>
            <a:ext cx="12192000" cy="6858000"/>
          </a:xfrm>
          <a:prstGeom prst="rect">
            <a:avLst/>
          </a:prstGeom>
        </p:spPr>
      </p:pic>
      <p:grpSp>
        <p:nvGrpSpPr>
          <p:cNvPr id="10" name="group 10"/>
          <p:cNvGrpSpPr/>
          <p:nvPr/>
        </p:nvGrpSpPr>
        <p:grpSpPr>
          <a:xfrm rot="21600000">
            <a:off x="1276380" y="3327432"/>
            <a:ext cx="9163050" cy="971550"/>
            <a:chOff x="0" y="0"/>
            <a:chExt cx="9163050" cy="971550"/>
          </a:xfrm>
        </p:grpSpPr>
        <p:sp>
          <p:nvSpPr>
            <p:cNvPr id="196" name="textbox 196"/>
            <p:cNvSpPr/>
            <p:nvPr/>
          </p:nvSpPr>
          <p:spPr>
            <a:xfrm>
              <a:off x="0" y="0"/>
              <a:ext cx="9163050" cy="971550"/>
            </a:xfrm>
            <a:prstGeom prst="rect">
              <a:avLst/>
            </a:prstGeom>
            <a:solidFill>
              <a:srgbClr val="F8F3EC">
                <a:alpha val="100000"/>
              </a:srgbClr>
            </a:solidFill>
            <a:ln w="0" cap="flat">
              <a:noFill/>
              <a:prstDash val="solid"/>
              <a:miter lim="0"/>
            </a:ln>
          </p:spPr>
          <p:txBody>
            <a:bodyPr vert="horz" wrap="square" lIns="0" tIns="0" rIns="0" bIns="0"/>
            <a:lstStyle/>
            <a:p>
              <a:pPr algn="l" rtl="0" eaLnBrk="0">
                <a:lnSpc>
                  <a:spcPct val="116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298450" algn="l" defTabSz="914400" rtl="0" eaLnBrk="0">
                <a:lnSpc>
                  <a:spcPct val="66000"/>
                </a:lnSpc>
                <a:spcBef>
                  <a:spcPts val="5"/>
                </a:spcBef>
                <a:buClrTx/>
                <a:buSzTx/>
                <a:buFontTx/>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using     namespace  std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198" name="textbox 198"/>
            <p:cNvSpPr/>
            <p:nvPr/>
          </p:nvSpPr>
          <p:spPr>
            <a:xfrm>
              <a:off x="0" y="556260"/>
              <a:ext cx="3663950" cy="41529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298450" algn="l" defTabSz="914400" rtl="0" eaLnBrk="0">
                <a:lnSpc>
                  <a:spcPct val="66000"/>
                </a:lnSpc>
                <a:spcBef>
                  <a:spcPts val="5"/>
                </a:spcBef>
                <a:buClrTx/>
                <a:buSzTx/>
                <a:buFontTx/>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cout &lt;&lt; "Hello   world";</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grpSp>
      <p:sp>
        <p:nvSpPr>
          <p:cNvPr id="200" name="textbox 200"/>
          <p:cNvSpPr/>
          <p:nvPr/>
        </p:nvSpPr>
        <p:spPr>
          <a:xfrm>
            <a:off x="1384259" y="379577"/>
            <a:ext cx="8052434" cy="1001394"/>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l" rtl="0" eaLnBrk="0">
              <a:lnSpc>
                <a:spcPct val="128000"/>
              </a:lnSpc>
            </a:pPr>
            <a:r>
              <a:rPr b="1" kern="0" spc="-30" dirty="0">
                <a:solidFill>
                  <a:srgbClr val="082C62">
                    <a:alpha val="100000"/>
                  </a:srgbClr>
                </a:solidFill>
                <a:latin typeface="方正公文楷体" panose="02000500000000000000" charset="-122"/>
                <a:ea typeface="方正公文楷体" panose="02000500000000000000" charset="-122"/>
                <a:cs typeface="方正公文楷体" panose="02000500000000000000" charset="-122"/>
                <a:sym typeface="+mn-ea"/>
              </a:rPr>
              <a:t>C++</a:t>
            </a:r>
            <a:r>
              <a:rPr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基础</a:t>
            </a:r>
            <a:r>
              <a:rPr lang="en-US"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a:t>
            </a:r>
            <a:r>
              <a:rPr lang="zh-CN" b="1" kern="0" spc="-3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命名空间</a:t>
            </a:r>
            <a:endParaRPr dirty="0">
              <a:latin typeface="黑体" panose="02010609060101010101" charset="-122"/>
              <a:ea typeface="黑体" panose="02010609060101010101" charset="-122"/>
              <a:cs typeface="黑体" panose="02010609060101010101" charset="-122"/>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algn="l" rtl="0" eaLnBrk="0">
              <a:lnSpc>
                <a:spcPct val="114000"/>
              </a:lnSpc>
            </a:pPr>
            <a:endParaRPr sz="400" dirty="0">
              <a:latin typeface="Arial" panose="020B0604020202020204"/>
              <a:ea typeface="Arial" panose="020B0604020202020204"/>
              <a:cs typeface="Arial" panose="020B0604020202020204"/>
            </a:endParaRPr>
          </a:p>
          <a:p>
            <a:pPr marL="12700" algn="l" rtl="0" eaLnBrk="0">
              <a:lnSpc>
                <a:spcPct val="92000"/>
              </a:lnSpc>
              <a:spcBef>
                <a:spcPts val="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 标准库中的名字都应当在std命名空间之中。使用这些名字，需要加上std::。</a:t>
            </a:r>
            <a:endParaRPr sz="1800" dirty="0">
              <a:latin typeface="宋体" panose="02010600030101010101" pitchFamily="2" charset="-122"/>
              <a:ea typeface="宋体" panose="02010600030101010101" pitchFamily="2" charset="-122"/>
              <a:cs typeface="宋体" panose="02010600030101010101" pitchFamily="2" charset="-122"/>
            </a:endParaRPr>
          </a:p>
        </p:txBody>
      </p:sp>
      <p:sp>
        <p:nvSpPr>
          <p:cNvPr id="202" name="textbox 202"/>
          <p:cNvSpPr/>
          <p:nvPr/>
        </p:nvSpPr>
        <p:spPr>
          <a:xfrm>
            <a:off x="1276410" y="1873890"/>
            <a:ext cx="9213850" cy="641984"/>
          </a:xfrm>
          <a:prstGeom prst="rect">
            <a:avLst/>
          </a:prstGeom>
          <a:solidFill>
            <a:srgbClr val="F7F2EC">
              <a:alpha val="100000"/>
            </a:srgbClr>
          </a:solidFill>
          <a:ln w="0" cap="flat">
            <a:noFill/>
            <a:prstDash val="solid"/>
            <a:miter lim="0"/>
          </a:ln>
        </p:spPr>
        <p:txBody>
          <a:bodyPr vert="horz" wrap="square" lIns="0" tIns="0" rIns="0" bIns="0"/>
          <a:lstStyle/>
          <a:p>
            <a:pPr algn="l" rtl="0" eaLnBrk="0">
              <a:lnSpc>
                <a:spcPct val="112000"/>
              </a:lnSpc>
            </a:pPr>
            <a:endParaRPr sz="400" dirty="0">
              <a:latin typeface="Arial" panose="020B0604020202020204"/>
              <a:ea typeface="Arial" panose="020B0604020202020204"/>
              <a:cs typeface="Arial" panose="020B0604020202020204"/>
            </a:endParaRPr>
          </a:p>
          <a:p>
            <a:pPr marL="298450" algn="l" rtl="0" eaLnBrk="0">
              <a:lnSpc>
                <a:spcPct val="66000"/>
              </a:lnSpc>
              <a:spcBef>
                <a:spcPts val="5"/>
              </a:spcBef>
              <a:buClrTx/>
              <a:buSzTx/>
              <a:buFontTx/>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98450" algn="l" rtl="0" eaLnBrk="0">
              <a:lnSpc>
                <a:spcPct val="66000"/>
              </a:lnSpc>
              <a:spcBef>
                <a:spcPts val="5"/>
              </a:spcBef>
              <a:buClrTx/>
              <a:buSzTx/>
              <a:buFontTx/>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"Hello world";</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204" name="textbox 204"/>
          <p:cNvSpPr/>
          <p:nvPr/>
        </p:nvSpPr>
        <p:spPr>
          <a:xfrm>
            <a:off x="1276350" y="4878705"/>
            <a:ext cx="5664200" cy="27749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但是，请注意：永远不要在头文件中使用using!</a:t>
            </a:r>
            <a:endParaRPr sz="1800" dirty="0">
              <a:latin typeface="宋体" panose="02010600030101010101" pitchFamily="2" charset="-122"/>
              <a:ea typeface="宋体" panose="02010600030101010101" pitchFamily="2" charset="-122"/>
              <a:cs typeface="宋体" panose="02010600030101010101" pitchFamily="2" charset="-122"/>
            </a:endParaRPr>
          </a:p>
        </p:txBody>
      </p:sp>
      <p:sp>
        <p:nvSpPr>
          <p:cNvPr id="206" name="textbox 206"/>
          <p:cNvSpPr/>
          <p:nvPr/>
        </p:nvSpPr>
        <p:spPr>
          <a:xfrm>
            <a:off x="1384300" y="2816860"/>
            <a:ext cx="3129915" cy="277495"/>
          </a:xfrm>
          <a:prstGeom prst="rect">
            <a:avLst/>
          </a:prstGeom>
          <a:noFill/>
          <a:ln w="0" cap="flat">
            <a:noFill/>
            <a:prstDash val="solid"/>
            <a:miter lim="0"/>
          </a:ln>
        </p:spPr>
        <p:txBody>
          <a:bodyPr vert="horz" wrap="square" lIns="0" tIns="0" rIns="0" bIns="0"/>
          <a:lstStyle/>
          <a:p>
            <a:pPr algn="l" rtl="0" eaLnBrk="0">
              <a:lnSpc>
                <a:spcPct val="81000"/>
              </a:lnSpc>
            </a:pPr>
            <a:endParaRPr sz="100" dirty="0">
              <a:latin typeface="Arial" panose="020B0604020202020204"/>
              <a:ea typeface="Arial" panose="020B0604020202020204"/>
              <a:cs typeface="Arial" panose="020B0604020202020204"/>
            </a:endParaRPr>
          </a:p>
          <a:p>
            <a:pPr marL="12700" algn="l" rtl="0" eaLnBrk="0">
              <a:lnSpc>
                <a:spcPct val="92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或者，你也可以这样做</a:t>
            </a:r>
            <a:r>
              <a:rPr sz="1800" kern="0" spc="-100" dirty="0">
                <a:solidFill>
                  <a:srgbClr val="000000">
                    <a:alpha val="100000"/>
                  </a:srgbClr>
                </a:solidFill>
                <a:latin typeface="黑体" panose="02010609060101010101" charset="-122"/>
                <a:ea typeface="黑体" panose="02010609060101010101" charset="-122"/>
                <a:cs typeface="黑体" panose="02010609060101010101" charset="-122"/>
              </a:rPr>
              <a:t>：</a:t>
            </a:r>
            <a:endParaRPr sz="1800" dirty="0">
              <a:latin typeface="黑体" panose="02010609060101010101" charset="-122"/>
              <a:ea typeface="黑体" panose="02010609060101010101" charset="-122"/>
              <a:cs typeface="黑体" panose="02010609060101010101" charset="-122"/>
            </a:endParaRPr>
          </a:p>
        </p:txBody>
      </p:sp>
      <p:pic>
        <p:nvPicPr>
          <p:cNvPr id="208" name="picture 208"/>
          <p:cNvPicPr>
            <a:picLocks noChangeAspect="1"/>
          </p:cNvPicPr>
          <p:nvPr/>
        </p:nvPicPr>
        <p:blipFill>
          <a:blip r:embed="rId2"/>
          <a:stretch>
            <a:fillRect/>
          </a:stretch>
        </p:blipFill>
        <p:spPr>
          <a:xfrm rot="21600000">
            <a:off x="539739" y="273016"/>
            <a:ext cx="711159" cy="685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 name="picture 210"/>
          <p:cNvPicPr>
            <a:picLocks noChangeAspect="1"/>
          </p:cNvPicPr>
          <p:nvPr/>
        </p:nvPicPr>
        <p:blipFill>
          <a:blip r:embed="rId1"/>
          <a:stretch>
            <a:fillRect/>
          </a:stretch>
        </p:blipFill>
        <p:spPr>
          <a:xfrm rot="21600000">
            <a:off x="0" y="0"/>
            <a:ext cx="12192000" cy="6858000"/>
          </a:xfrm>
          <a:prstGeom prst="rect">
            <a:avLst/>
          </a:prstGeom>
        </p:spPr>
      </p:pic>
      <p:grpSp>
        <p:nvGrpSpPr>
          <p:cNvPr id="12" name="group 12"/>
          <p:cNvGrpSpPr/>
          <p:nvPr/>
        </p:nvGrpSpPr>
        <p:grpSpPr>
          <a:xfrm rot="21600000">
            <a:off x="890905" y="2127895"/>
            <a:ext cx="9163050" cy="2374900"/>
            <a:chOff x="-404495" y="-56515"/>
            <a:chExt cx="9163050" cy="2374900"/>
          </a:xfrm>
        </p:grpSpPr>
        <p:sp>
          <p:nvSpPr>
            <p:cNvPr id="212" name="textbox 212"/>
            <p:cNvSpPr/>
            <p:nvPr/>
          </p:nvSpPr>
          <p:spPr>
            <a:xfrm>
              <a:off x="-404495" y="-56515"/>
              <a:ext cx="9163050" cy="2374900"/>
            </a:xfrm>
            <a:prstGeom prst="rect">
              <a:avLst/>
            </a:prstGeom>
            <a:solidFill>
              <a:srgbClr val="F6F1EB">
                <a:alpha val="100000"/>
              </a:srgbClr>
            </a:solidFill>
            <a:ln w="0" cap="flat">
              <a:noFill/>
              <a:prstDash val="solid"/>
              <a:miter lim="0"/>
            </a:ln>
          </p:spPr>
          <p:txBody>
            <a:bodyPr vert="horz" wrap="square" lIns="0" tIns="0" rIns="0" bIns="0"/>
            <a:lstStyle/>
            <a:p>
              <a:pPr algn="l" rtl="0" eaLnBrk="0">
                <a:lnSpc>
                  <a:spcPct val="133000"/>
                </a:lnSpc>
              </a:pPr>
              <a:endParaRPr sz="10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algn="l" rtl="0" eaLnBrk="0">
                <a:lnSpc>
                  <a:spcPct val="137000"/>
                </a:lnSpc>
              </a:pPr>
              <a:endParaRPr sz="1000" dirty="0">
                <a:latin typeface="Arial" panose="020B0604020202020204"/>
                <a:ea typeface="Arial" panose="020B0604020202020204"/>
                <a:cs typeface="Arial" panose="020B0604020202020204"/>
              </a:endParaRPr>
            </a:p>
            <a:p>
              <a:pPr marL="2867025" algn="l" rtl="0" eaLnBrk="0">
                <a:lnSpc>
                  <a:spcPts val="4085"/>
                </a:lnSpc>
                <a:spcBef>
                  <a:spcPts val="720"/>
                </a:spcBef>
              </a:pPr>
              <a:endParaRPr sz="2100" dirty="0">
                <a:latin typeface="Arial" panose="020B0604020202020204"/>
                <a:ea typeface="Arial" panose="020B0604020202020204"/>
                <a:cs typeface="Arial" panose="020B0604020202020204"/>
              </a:endParaRPr>
            </a:p>
          </p:txBody>
        </p:sp>
        <p:sp>
          <p:nvSpPr>
            <p:cNvPr id="214" name="textbox 214"/>
            <p:cNvSpPr/>
            <p:nvPr/>
          </p:nvSpPr>
          <p:spPr>
            <a:xfrm>
              <a:off x="4363383" y="1221155"/>
              <a:ext cx="182879" cy="223520"/>
            </a:xfrm>
            <a:prstGeom prst="rect">
              <a:avLst/>
            </a:prstGeom>
            <a:solidFill>
              <a:srgbClr val="F6F1EB">
                <a:alpha val="100000"/>
              </a:srgbClr>
            </a:solidFill>
            <a:ln w="0" cap="flat">
              <a:noFill/>
              <a:prstDash val="solid"/>
              <a:miter lim="0"/>
            </a:ln>
          </p:spPr>
          <p:txBody>
            <a:bodyPr vert="horz" wrap="square" lIns="0" tIns="0" rIns="0" bIns="0"/>
            <a:lstStyle/>
            <a:p>
              <a:pPr algn="l" rtl="0" eaLnBrk="0">
                <a:lnSpc>
                  <a:spcPct val="7000"/>
                </a:lnSpc>
              </a:pPr>
              <a:endParaRPr sz="100" dirty="0">
                <a:latin typeface="Arial" panose="020B0604020202020204"/>
                <a:ea typeface="Arial" panose="020B0604020202020204"/>
                <a:cs typeface="Arial" panose="020B0604020202020204"/>
              </a:endParaRPr>
            </a:p>
            <a:p>
              <a:pPr algn="r" rtl="0" eaLnBrk="0">
                <a:lnSpc>
                  <a:spcPct val="76000"/>
                </a:lnSpc>
              </a:pPr>
              <a:endParaRPr sz="2600" dirty="0">
                <a:latin typeface="Arial" panose="020B0604020202020204"/>
                <a:ea typeface="Arial" panose="020B0604020202020204"/>
                <a:cs typeface="Arial" panose="020B0604020202020204"/>
              </a:endParaRPr>
            </a:p>
          </p:txBody>
        </p:sp>
        <p:sp>
          <p:nvSpPr>
            <p:cNvPr id="216" name="textbox 216"/>
            <p:cNvSpPr/>
            <p:nvPr/>
          </p:nvSpPr>
          <p:spPr>
            <a:xfrm>
              <a:off x="4516106" y="1024452"/>
              <a:ext cx="102870" cy="80644"/>
            </a:xfrm>
            <a:prstGeom prst="rect">
              <a:avLst/>
            </a:prstGeom>
            <a:solidFill>
              <a:srgbClr val="F6F1EB">
                <a:alpha val="100000"/>
              </a:srgbClr>
            </a:solidFill>
            <a:ln w="0" cap="flat">
              <a:noFill/>
              <a:prstDash val="solid"/>
              <a:miter lim="0"/>
            </a:ln>
          </p:spPr>
          <p:txBody>
            <a:bodyPr vert="horz" wrap="square" lIns="0" tIns="0" rIns="0" bIns="0"/>
            <a:lstStyle/>
            <a:p>
              <a:pPr algn="l" rtl="0" eaLnBrk="0">
                <a:lnSpc>
                  <a:spcPct val="16000"/>
                </a:lnSpc>
              </a:pPr>
              <a:endParaRPr sz="2100" dirty="0">
                <a:latin typeface="Times New Roman" panose="02020603050405020304"/>
                <a:ea typeface="Times New Roman" panose="02020603050405020304"/>
                <a:cs typeface="Times New Roman" panose="02020603050405020304"/>
              </a:endParaRPr>
            </a:p>
          </p:txBody>
        </p:sp>
        <p:sp>
          <p:nvSpPr>
            <p:cNvPr id="226" name="textbox 226"/>
            <p:cNvSpPr/>
            <p:nvPr/>
          </p:nvSpPr>
          <p:spPr>
            <a:xfrm>
              <a:off x="3427774" y="1125454"/>
              <a:ext cx="165735" cy="418465"/>
            </a:xfrm>
            <a:prstGeom prst="rect">
              <a:avLst/>
            </a:prstGeom>
            <a:solidFill>
              <a:srgbClr val="F6F1EB">
                <a:alpha val="100000"/>
              </a:srgbClr>
            </a:solidFill>
            <a:ln w="0" cap="flat">
              <a:noFill/>
              <a:prstDash val="solid"/>
              <a:miter lim="0"/>
            </a:ln>
          </p:spPr>
          <p:txBody>
            <a:bodyPr vert="horz" wrap="square" lIns="0" tIns="0" rIns="0" bIns="0"/>
            <a:lstStyle/>
            <a:p>
              <a:pPr algn="r" rtl="0" eaLnBrk="0">
                <a:lnSpc>
                  <a:spcPts val="3290"/>
                </a:lnSpc>
              </a:pPr>
              <a:endParaRPr sz="2500" dirty="0">
                <a:latin typeface="Arial" panose="020B0604020202020204"/>
                <a:ea typeface="Arial" panose="020B0604020202020204"/>
                <a:cs typeface="Arial" panose="020B0604020202020204"/>
              </a:endParaRPr>
            </a:p>
          </p:txBody>
        </p:sp>
        <p:sp>
          <p:nvSpPr>
            <p:cNvPr id="234" name="textbox 234"/>
            <p:cNvSpPr/>
            <p:nvPr/>
          </p:nvSpPr>
          <p:spPr>
            <a:xfrm>
              <a:off x="2594140" y="1226369"/>
              <a:ext cx="251459" cy="221615"/>
            </a:xfrm>
            <a:prstGeom prst="rect">
              <a:avLst/>
            </a:prstGeom>
            <a:solidFill>
              <a:srgbClr val="F6F1EB">
                <a:alpha val="100000"/>
              </a:srgbClr>
            </a:solidFill>
            <a:ln w="0" cap="flat">
              <a:noFill/>
              <a:prstDash val="solid"/>
              <a:miter lim="0"/>
            </a:ln>
          </p:spPr>
          <p:txBody>
            <a:bodyPr vert="horz" wrap="square" lIns="0" tIns="0" rIns="0" bIns="0"/>
            <a:lstStyle/>
            <a:p>
              <a:pPr algn="l" rtl="0" eaLnBrk="0">
                <a:lnSpc>
                  <a:spcPct val="22000"/>
                </a:lnSpc>
              </a:pPr>
              <a:endParaRPr sz="100" dirty="0">
                <a:latin typeface="Arial" panose="020B0604020202020204"/>
                <a:ea typeface="Arial" panose="020B0604020202020204"/>
                <a:cs typeface="Arial" panose="020B0604020202020204"/>
              </a:endParaRPr>
            </a:p>
            <a:p>
              <a:pPr algn="l" rtl="0" eaLnBrk="0">
                <a:lnSpc>
                  <a:spcPct val="74000"/>
                </a:lnSpc>
              </a:pPr>
              <a:endParaRPr sz="2600" dirty="0">
                <a:latin typeface="Arial" panose="020B0604020202020204"/>
                <a:ea typeface="Arial" panose="020B0604020202020204"/>
                <a:cs typeface="Arial" panose="020B0604020202020204"/>
              </a:endParaRPr>
            </a:p>
          </p:txBody>
        </p:sp>
      </p:grpSp>
      <p:sp>
        <p:nvSpPr>
          <p:cNvPr id="244" name="textbox 244"/>
          <p:cNvSpPr/>
          <p:nvPr/>
        </p:nvSpPr>
        <p:spPr>
          <a:xfrm>
            <a:off x="1390599" y="499592"/>
            <a:ext cx="7112634" cy="1421130"/>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5875" algn="l" rtl="0" eaLnBrk="0">
              <a:lnSpc>
                <a:spcPct val="95000"/>
              </a:lnSpc>
            </a:pPr>
            <a:r>
              <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C++基础——基础字符串库</a:t>
            </a:r>
            <a:endPar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1000"/>
              </a:lnSpc>
            </a:pPr>
            <a:endParaRPr sz="1000" dirty="0">
              <a:latin typeface="Arial" panose="020B0604020202020204"/>
              <a:ea typeface="Arial" panose="020B0604020202020204"/>
              <a:cs typeface="Arial" panose="020B0604020202020204"/>
            </a:endParaRPr>
          </a:p>
          <a:p>
            <a:pPr algn="l" rtl="0" eaLnBrk="0">
              <a:lnSpc>
                <a:spcPct val="112000"/>
              </a:lnSpc>
            </a:pPr>
            <a:endParaRPr sz="1000" dirty="0">
              <a:latin typeface="Arial" panose="020B0604020202020204"/>
              <a:ea typeface="Arial" panose="020B0604020202020204"/>
              <a:cs typeface="Arial" panose="020B0604020202020204"/>
            </a:endParaRPr>
          </a:p>
          <a:p>
            <a:pPr algn="l" rtl="0" eaLnBrk="0">
              <a:lnSpc>
                <a:spcPct val="114000"/>
              </a:lnSpc>
            </a:pPr>
            <a:endParaRPr sz="400" dirty="0">
              <a:latin typeface="Arial" panose="020B0604020202020204"/>
              <a:ea typeface="Arial" panose="020B0604020202020204"/>
              <a:cs typeface="Arial" panose="020B0604020202020204"/>
            </a:endParaRPr>
          </a:p>
          <a:p>
            <a:pPr marL="12700" algn="l" rtl="0" eaLnBrk="0">
              <a:lnSpc>
                <a:spcPct val="132000"/>
              </a:lnSpc>
              <a:spcBef>
                <a:spcPts val="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在C++ 中提供了新的字符串类型：std::string,它位于string头文件中。 可以这样使用一个字符串：</a:t>
            </a:r>
            <a:endParaRPr sz="1800" dirty="0">
              <a:latin typeface="黑体" panose="02010609060101010101" charset="-122"/>
              <a:ea typeface="黑体" panose="02010609060101010101" charset="-122"/>
              <a:cs typeface="黑体" panose="02010609060101010101" charset="-122"/>
            </a:endParaRPr>
          </a:p>
        </p:txBody>
      </p:sp>
      <p:sp>
        <p:nvSpPr>
          <p:cNvPr id="246" name="textbox 246"/>
          <p:cNvSpPr/>
          <p:nvPr/>
        </p:nvSpPr>
        <p:spPr>
          <a:xfrm>
            <a:off x="1390599" y="5082108"/>
            <a:ext cx="5349875" cy="72961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6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程序的运行结果如右图：</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6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r" rtl="0" eaLnBrk="0">
              <a:lnSpc>
                <a:spcPts val="2455"/>
              </a:lnSpc>
              <a:spcBef>
                <a:spcPts val="0"/>
              </a:spcBef>
            </a:pPr>
            <a:endParaRPr sz="1800" dirty="0">
              <a:latin typeface="宋体" panose="02010600030101010101" pitchFamily="2" charset="-122"/>
              <a:ea typeface="宋体" panose="02010600030101010101" pitchFamily="2" charset="-122"/>
              <a:cs typeface="宋体" panose="02010600030101010101" pitchFamily="2" charset="-122"/>
            </a:endParaRPr>
          </a:p>
        </p:txBody>
      </p:sp>
      <p:pic>
        <p:nvPicPr>
          <p:cNvPr id="250" name="picture 250"/>
          <p:cNvPicPr>
            <a:picLocks noChangeAspect="1"/>
          </p:cNvPicPr>
          <p:nvPr/>
        </p:nvPicPr>
        <p:blipFill>
          <a:blip r:embed="rId2"/>
          <a:stretch>
            <a:fillRect/>
          </a:stretch>
        </p:blipFill>
        <p:spPr>
          <a:xfrm rot="21600000">
            <a:off x="539739" y="273016"/>
            <a:ext cx="711159" cy="685800"/>
          </a:xfrm>
          <a:prstGeom prst="rect">
            <a:avLst/>
          </a:prstGeom>
        </p:spPr>
      </p:pic>
      <p:sp>
        <p:nvSpPr>
          <p:cNvPr id="2" name="文本框 1"/>
          <p:cNvSpPr txBox="1"/>
          <p:nvPr/>
        </p:nvSpPr>
        <p:spPr>
          <a:xfrm>
            <a:off x="1199515" y="2192655"/>
            <a:ext cx="6021705" cy="2245360"/>
          </a:xfrm>
          <a:prstGeom prst="rect">
            <a:avLst/>
          </a:prstGeom>
          <a:noFill/>
        </p:spPr>
        <p:txBody>
          <a:bodyPr wrap="square" rtlCol="0">
            <a:spAutoFit/>
          </a:bodyPr>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std::string str;</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str = "I am a std::string!";</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str.at(2) &lt;&lt; "\n"</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&lt;&lt; str[3] &lt;&lt; "\n"</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&lt;&lt; str.substr(2,4) &lt;&lt; "\n"</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&lt;&lt; str.size() &lt;&lt; "\n"</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&lt;&lt; str.empty();</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pic>
        <p:nvPicPr>
          <p:cNvPr id="3" name="图片 2"/>
          <p:cNvPicPr>
            <a:picLocks noChangeAspect="1"/>
          </p:cNvPicPr>
          <p:nvPr/>
        </p:nvPicPr>
        <p:blipFill>
          <a:blip r:embed="rId3"/>
          <a:stretch>
            <a:fillRect/>
          </a:stretch>
        </p:blipFill>
        <p:spPr>
          <a:xfrm>
            <a:off x="4658995" y="4789170"/>
            <a:ext cx="4200525" cy="15322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2" name="picture 272"/>
          <p:cNvPicPr>
            <a:picLocks noChangeAspect="1"/>
          </p:cNvPicPr>
          <p:nvPr/>
        </p:nvPicPr>
        <p:blipFill>
          <a:blip r:embed="rId1"/>
          <a:stretch>
            <a:fillRect/>
          </a:stretch>
        </p:blipFill>
        <p:spPr>
          <a:xfrm rot="21600000">
            <a:off x="0" y="0"/>
            <a:ext cx="12192000" cy="6858000"/>
          </a:xfrm>
          <a:prstGeom prst="rect">
            <a:avLst/>
          </a:prstGeom>
        </p:spPr>
      </p:pic>
      <p:grpSp>
        <p:nvGrpSpPr>
          <p:cNvPr id="14" name="group 14"/>
          <p:cNvGrpSpPr/>
          <p:nvPr/>
        </p:nvGrpSpPr>
        <p:grpSpPr>
          <a:xfrm rot="21600000">
            <a:off x="539739" y="273016"/>
            <a:ext cx="9992776" cy="3390138"/>
            <a:chOff x="0" y="0"/>
            <a:chExt cx="9992776" cy="3390138"/>
          </a:xfrm>
        </p:grpSpPr>
        <p:sp>
          <p:nvSpPr>
            <p:cNvPr id="274" name="rect 274"/>
            <p:cNvSpPr/>
            <p:nvPr/>
          </p:nvSpPr>
          <p:spPr>
            <a:xfrm>
              <a:off x="768339" y="1327160"/>
              <a:ext cx="9144000" cy="1155710"/>
            </a:xfrm>
            <a:prstGeom prst="rect">
              <a:avLst/>
            </a:prstGeom>
            <a:solidFill>
              <a:srgbClr val="F8F2EC">
                <a:alpha val="100000"/>
              </a:srgbClr>
            </a:solidFill>
            <a:ln w="0" cap="flat">
              <a:noFill/>
              <a:prstDash val="solid"/>
              <a:miter lim="0"/>
            </a:ln>
          </p:spPr>
          <p:txBody>
            <a:bodyPr rtlCol="0"/>
            <a:lstStyle/>
            <a:p>
              <a:pPr algn="ctr"/>
              <a:endParaRPr lang="zh-CN" altLang="en-US"/>
            </a:p>
          </p:txBody>
        </p:sp>
        <p:sp>
          <p:nvSpPr>
            <p:cNvPr id="276" name="textbox 276"/>
            <p:cNvSpPr/>
            <p:nvPr/>
          </p:nvSpPr>
          <p:spPr>
            <a:xfrm>
              <a:off x="850859" y="213889"/>
              <a:ext cx="9154794" cy="322008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5875" algn="l" rtl="0" eaLnBrk="0">
                <a:lnSpc>
                  <a:spcPct val="95000"/>
                </a:lnSpc>
              </a:pPr>
              <a:r>
                <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C++——基础重载</a:t>
              </a:r>
              <a:endPar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28000"/>
                </a:lnSpc>
              </a:pPr>
              <a:endParaRPr sz="1000" dirty="0">
                <a:latin typeface="Arial" panose="020B0604020202020204"/>
                <a:ea typeface="Arial" panose="020B0604020202020204"/>
                <a:cs typeface="Arial" panose="020B0604020202020204"/>
              </a:endParaRPr>
            </a:p>
            <a:p>
              <a:pPr algn="l" rtl="0" eaLnBrk="0">
                <a:lnSpc>
                  <a:spcPct val="129000"/>
                </a:lnSpc>
              </a:pPr>
              <a:endParaRPr sz="1000" dirty="0">
                <a:latin typeface="Arial" panose="020B0604020202020204"/>
                <a:ea typeface="Arial" panose="020B0604020202020204"/>
                <a:cs typeface="Arial" panose="020B0604020202020204"/>
              </a:endParaRPr>
            </a:p>
            <a:p>
              <a:pPr marL="12700" algn="l" rtl="0" eaLnBrk="0">
                <a:lnSpc>
                  <a:spcPct val="92000"/>
                </a:lnSpc>
                <a:spcBef>
                  <a:spcPts val="55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假设你要写一个函数，用来计算两个数的和。显然你可以这么写：</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marL="12700" algn="l" rtl="0" eaLnBrk="0">
                <a:lnSpc>
                  <a:spcPct val="144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144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但是，这种实现是有一点小问题的。假如我想要相加的是两个double 变量，那该怎么办呢? 如果是复数呢?</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278" name="picture 278"/>
            <p:cNvPicPr>
              <a:picLocks noChangeAspect="1"/>
            </p:cNvPicPr>
            <p:nvPr/>
          </p:nvPicPr>
          <p:blipFill>
            <a:blip r:embed="rId2"/>
            <a:stretch>
              <a:fillRect/>
            </a:stretch>
          </p:blipFill>
          <p:spPr>
            <a:xfrm rot="21600000">
              <a:off x="0" y="0"/>
              <a:ext cx="711159" cy="685800"/>
            </a:xfrm>
            <a:prstGeom prst="rect">
              <a:avLst/>
            </a:prstGeom>
          </p:spPr>
        </p:pic>
      </p:grpSp>
      <p:sp>
        <p:nvSpPr>
          <p:cNvPr id="2" name="文本框 1"/>
          <p:cNvSpPr txBox="1"/>
          <p:nvPr/>
        </p:nvSpPr>
        <p:spPr>
          <a:xfrm>
            <a:off x="1435100" y="1600200"/>
            <a:ext cx="5400040" cy="1322070"/>
          </a:xfrm>
          <a:prstGeom prst="rect">
            <a:avLst/>
          </a:prstGeom>
          <a:noFill/>
        </p:spPr>
        <p:txBody>
          <a:bodyPr wrap="square" rtlCol="0">
            <a:spAutoFit/>
          </a:bodyPr>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sum(int a, int b)</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a + b;</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0" name="picture 280"/>
          <p:cNvPicPr>
            <a:picLocks noChangeAspect="1"/>
          </p:cNvPicPr>
          <p:nvPr/>
        </p:nvPicPr>
        <p:blipFill>
          <a:blip r:embed="rId1"/>
          <a:stretch>
            <a:fillRect/>
          </a:stretch>
        </p:blipFill>
        <p:spPr>
          <a:xfrm rot="21600000">
            <a:off x="0" y="0"/>
            <a:ext cx="12192000" cy="6858000"/>
          </a:xfrm>
          <a:prstGeom prst="rect">
            <a:avLst/>
          </a:prstGeom>
        </p:spPr>
      </p:pic>
      <p:sp>
        <p:nvSpPr>
          <p:cNvPr id="284" name="textbox 284"/>
          <p:cNvSpPr/>
          <p:nvPr/>
        </p:nvSpPr>
        <p:spPr>
          <a:xfrm>
            <a:off x="1379364" y="124320"/>
            <a:ext cx="3153410" cy="982344"/>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ts val="5705"/>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C++——基础重载</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ts val="5705"/>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你可能需要这样写：</a:t>
            </a:r>
            <a:endParaRPr sz="1800" dirty="0">
              <a:latin typeface="黑体" panose="02010609060101010101" charset="-122"/>
              <a:ea typeface="黑体" panose="02010609060101010101" charset="-122"/>
              <a:cs typeface="黑体" panose="02010609060101010101" charset="-122"/>
            </a:endParaRPr>
          </a:p>
        </p:txBody>
      </p:sp>
      <p:sp>
        <p:nvSpPr>
          <p:cNvPr id="294" name="textbox 294"/>
          <p:cNvSpPr/>
          <p:nvPr/>
        </p:nvSpPr>
        <p:spPr>
          <a:xfrm flipH="1">
            <a:off x="1737360" y="2671445"/>
            <a:ext cx="1121410" cy="1812925"/>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25400" algn="l" rtl="0" eaLnBrk="0">
              <a:lnSpc>
                <a:spcPct val="96000"/>
              </a:lnSpc>
            </a:pPr>
            <a:endParaRPr sz="2000" dirty="0">
              <a:latin typeface="黑体" panose="02010609060101010101" charset="-122"/>
              <a:ea typeface="黑体" panose="02010609060101010101" charset="-122"/>
              <a:cs typeface="黑体" panose="02010609060101010101" charset="-122"/>
            </a:endParaRPr>
          </a:p>
        </p:txBody>
      </p:sp>
      <p:pic>
        <p:nvPicPr>
          <p:cNvPr id="296" name="picture 296"/>
          <p:cNvPicPr>
            <a:picLocks noChangeAspect="1"/>
          </p:cNvPicPr>
          <p:nvPr/>
        </p:nvPicPr>
        <p:blipFill>
          <a:blip r:embed="rId2"/>
          <a:stretch>
            <a:fillRect/>
          </a:stretch>
        </p:blipFill>
        <p:spPr>
          <a:xfrm rot="21600000">
            <a:off x="539739" y="273016"/>
            <a:ext cx="711159" cy="685800"/>
          </a:xfrm>
          <a:prstGeom prst="rect">
            <a:avLst/>
          </a:prstGeom>
        </p:spPr>
      </p:pic>
      <p:sp>
        <p:nvSpPr>
          <p:cNvPr id="3" name="textbox 294"/>
          <p:cNvSpPr/>
          <p:nvPr/>
        </p:nvSpPr>
        <p:spPr>
          <a:xfrm flipH="1">
            <a:off x="1581785" y="2034540"/>
            <a:ext cx="7816215" cy="1812925"/>
          </a:xfrm>
          <a:prstGeom prst="rect">
            <a:avLst/>
          </a:prstGeom>
          <a:noFill/>
          <a:ln w="0" cap="flat">
            <a:noFill/>
            <a:prstDash val="solid"/>
            <a:miter lim="0"/>
          </a:ln>
        </p:spPr>
        <p:txBody>
          <a:bodyPr vert="horz" wrap="square" lIns="0" tIns="0" rIns="0" bIns="0"/>
          <a:p>
            <a:pPr algn="l" rtl="0" eaLnBrk="0">
              <a:lnSpc>
                <a:spcPct val="89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struct Complex</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real;</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imaginary;</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sum_int(int a, int b){ return a + b;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double sum_double(double a, double b){ return a + b; }</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 sum_complex(Complex a, Complex b)</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Complex(a.real+b.real,a.imaginary+b.imaginary);</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89000"/>
              </a:lnSpc>
            </a:pP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sp>
        <p:nvSpPr>
          <p:cNvPr id="300" name="textbox 300"/>
          <p:cNvSpPr/>
          <p:nvPr/>
        </p:nvSpPr>
        <p:spPr>
          <a:xfrm>
            <a:off x="1295400" y="2152650"/>
            <a:ext cx="9163050" cy="2940050"/>
          </a:xfrm>
          <a:prstGeom prst="rect">
            <a:avLst/>
          </a:prstGeom>
          <a:solidFill>
            <a:srgbClr val="F6F3ED">
              <a:alpha val="100000"/>
            </a:srgbClr>
          </a:solidFill>
          <a:ln w="0" cap="flat">
            <a:noFill/>
            <a:prstDash val="solid"/>
            <a:miter lim="0"/>
          </a:ln>
        </p:spPr>
        <p:txBody>
          <a:bodyPr vert="horz" wrap="square" lIns="0" tIns="0" rIns="0" bIns="0"/>
          <a:lstStyle/>
          <a:p>
            <a:pPr algn="l" rtl="0" eaLnBrk="0">
              <a:lnSpc>
                <a:spcPct val="57000"/>
              </a:lnSpc>
            </a:pPr>
            <a:endParaRPr lang="en-US" altLang="zh-CN" sz="18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57000"/>
              </a:lnSpc>
            </a:pPr>
            <a:endParaRPr lang="en-US" altLang="zh-CN" sz="1800" dirty="0">
              <a:latin typeface="宋体" panose="02010600030101010101" pitchFamily="2" charset="-122"/>
              <a:ea typeface="宋体" panose="02010600030101010101" pitchFamily="2" charset="-122"/>
              <a:cs typeface="宋体" panose="02010600030101010101" pitchFamily="2"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sum(int a, int b){</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a + b;}</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double sum(double a, double b){</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a + b;}</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 sum(Complex a, Complex b){</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Complex(a.real+b.real, a.imaginary+b.imaginary);}</a:t>
            </a:r>
            <a:endParaRPr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308" name="textbox 308"/>
          <p:cNvSpPr/>
          <p:nvPr/>
        </p:nvSpPr>
        <p:spPr>
          <a:xfrm>
            <a:off x="1397000" y="273050"/>
            <a:ext cx="8209915" cy="1469390"/>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algn="l" rtl="0" eaLnBrk="0">
              <a:lnSpc>
                <a:spcPct val="190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C++——基础重载</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90000"/>
              </a:lnSpc>
            </a:pPr>
            <a:endParaRPr sz="1000" dirty="0">
              <a:latin typeface="Arial" panose="020B0604020202020204"/>
              <a:ea typeface="Arial" panose="020B0604020202020204"/>
              <a:cs typeface="Arial" panose="020B0604020202020204"/>
            </a:endParaRPr>
          </a:p>
          <a:p>
            <a:pPr algn="l" rtl="0" eaLnBrk="0">
              <a:lnSpc>
                <a:spcPct val="112000"/>
              </a:lnSpc>
            </a:pPr>
            <a:endParaRPr sz="400" dirty="0">
              <a:latin typeface="Arial" panose="020B0604020202020204"/>
              <a:ea typeface="Arial" panose="020B0604020202020204"/>
              <a:cs typeface="Arial" panose="020B0604020202020204"/>
            </a:endParaRPr>
          </a:p>
          <a:p>
            <a:pPr marL="12700" algn="l" rtl="0" eaLnBrk="0">
              <a:lnSpc>
                <a:spcPct val="149000"/>
              </a:lnSpc>
              <a:spcBef>
                <a:spcPts val="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C++允许指定多个同名的函数，它们虽然名字相同，但是参数列表不同。 这叫做重载 (Overload)。</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310" name="textbox 310"/>
          <p:cNvSpPr/>
          <p:nvPr/>
        </p:nvSpPr>
        <p:spPr>
          <a:xfrm>
            <a:off x="1397060" y="5420537"/>
            <a:ext cx="8439150" cy="284479"/>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94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调用函数的时候，编译器会根据参数类型，决定使用哪一个重载。这叫做重载决议。</a:t>
            </a:r>
            <a:endParaRPr sz="1800" dirty="0">
              <a:latin typeface="黑体" panose="02010609060101010101" charset="-122"/>
              <a:ea typeface="黑体" panose="02010609060101010101" charset="-122"/>
              <a:cs typeface="黑体" panose="02010609060101010101" charset="-122"/>
            </a:endParaRPr>
          </a:p>
        </p:txBody>
      </p:sp>
      <p:pic>
        <p:nvPicPr>
          <p:cNvPr id="312" name="picture 312"/>
          <p:cNvPicPr>
            <a:picLocks noChangeAspect="1"/>
          </p:cNvPicPr>
          <p:nvPr/>
        </p:nvPicPr>
        <p:blipFill>
          <a:blip r:embed="rId2"/>
          <a:stretch>
            <a:fillRect/>
          </a:stretch>
        </p:blipFill>
        <p:spPr>
          <a:xfrm rot="21600000">
            <a:off x="539739" y="273016"/>
            <a:ext cx="711159" cy="685800"/>
          </a:xfrm>
          <a:prstGeom prst="rect">
            <a:avLst/>
          </a:prstGeom>
        </p:spPr>
      </p:pic>
      <p:pic>
        <p:nvPicPr>
          <p:cNvPr id="314" name="picture 314"/>
          <p:cNvPicPr>
            <a:picLocks noChangeAspect="1"/>
          </p:cNvPicPr>
          <p:nvPr/>
        </p:nvPicPr>
        <p:blipFill>
          <a:blip r:embed="rId3"/>
          <a:stretch>
            <a:fillRect/>
          </a:stretch>
        </p:blipFill>
        <p:spPr>
          <a:xfrm rot="21600000">
            <a:off x="196900" y="6623044"/>
            <a:ext cx="11785519" cy="1268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sp>
        <p:nvSpPr>
          <p:cNvPr id="316" name="textbox 316"/>
          <p:cNvSpPr/>
          <p:nvPr/>
        </p:nvSpPr>
        <p:spPr>
          <a:xfrm>
            <a:off x="1295400" y="1771650"/>
            <a:ext cx="9156700" cy="4621530"/>
          </a:xfrm>
          <a:prstGeom prst="rect">
            <a:avLst/>
          </a:prstGeom>
          <a:solidFill>
            <a:srgbClr val="F7F3ED">
              <a:alpha val="100000"/>
            </a:srgbClr>
          </a:solidFill>
          <a:ln w="0" cap="flat">
            <a:noFill/>
            <a:prstDash val="solid"/>
            <a:miter lim="0"/>
          </a:ln>
        </p:spPr>
        <p:txBody>
          <a:bodyPr vert="horz" wrap="square" lIns="0" tIns="0" rIns="0" bIns="0"/>
          <a:lstStyle/>
          <a:p>
            <a:pPr algn="l" rtl="0" eaLnBrk="0">
              <a:lnSpc>
                <a:spcPct val="150000"/>
              </a:lnSpc>
            </a:pPr>
            <a:endParaRPr sz="1000" dirty="0">
              <a:latin typeface="Arial" panose="020B0604020202020204"/>
              <a:ea typeface="Arial" panose="020B0604020202020204"/>
              <a:cs typeface="Arial" panose="020B0604020202020204"/>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struct Complex</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int real;</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int imaginary;</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Complex(int r, int i)</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real = r;</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imaginary = i;</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Complex operator+(Complex a)</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return Complex(a.real + real, a.imaginary + imaginary);</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57000"/>
              </a:lnSpc>
              <a:spcBef>
                <a:spcPts val="5"/>
              </a:spcBef>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318" name="textbox 318"/>
          <p:cNvSpPr/>
          <p:nvPr/>
        </p:nvSpPr>
        <p:spPr>
          <a:xfrm>
            <a:off x="2095140" y="4305069"/>
            <a:ext cx="43815" cy="98425"/>
          </a:xfrm>
          <a:prstGeom prst="rect">
            <a:avLst/>
          </a:prstGeom>
          <a:solidFill>
            <a:srgbClr val="F7F3ED">
              <a:alpha val="100000"/>
            </a:srgbClr>
          </a:solidFill>
          <a:ln w="0" cap="flat">
            <a:noFill/>
            <a:prstDash val="solid"/>
            <a:miter lim="0"/>
          </a:ln>
        </p:spPr>
        <p:txBody>
          <a:bodyPr vert="horz" wrap="square" lIns="0" tIns="0" rIns="0" bIns="0"/>
          <a:lstStyle/>
          <a:p>
            <a:pPr algn="r" rtl="0" eaLnBrk="0">
              <a:lnSpc>
                <a:spcPts val="885"/>
              </a:lnSpc>
            </a:pPr>
            <a:r>
              <a:rPr sz="70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sz="700" dirty="0">
              <a:latin typeface="宋体" panose="02010600030101010101" pitchFamily="2" charset="-122"/>
              <a:ea typeface="宋体" panose="02010600030101010101" pitchFamily="2" charset="-122"/>
              <a:cs typeface="宋体" panose="02010600030101010101" pitchFamily="2" charset="-122"/>
            </a:endParaRPr>
          </a:p>
        </p:txBody>
      </p:sp>
      <p:sp>
        <p:nvSpPr>
          <p:cNvPr id="320" name="textbox 320"/>
          <p:cNvSpPr/>
          <p:nvPr/>
        </p:nvSpPr>
        <p:spPr>
          <a:xfrm>
            <a:off x="1406669" y="474149"/>
            <a:ext cx="3147060" cy="988060"/>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2700" algn="l" rtl="0" eaLnBrk="0">
              <a:lnSpc>
                <a:spcPct val="85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C++——基础重载</a:t>
            </a:r>
            <a:endParaRPr sz="1800" dirty="0">
              <a:latin typeface="黑体" panose="02010609060101010101" charset="-122"/>
              <a:ea typeface="黑体" panose="02010609060101010101" charset="-122"/>
              <a:cs typeface="黑体" panose="02010609060101010101" charset="-122"/>
            </a:endParaRPr>
          </a:p>
          <a:p>
            <a:pPr marL="18415" algn="l" rtl="0" eaLnBrk="0">
              <a:lnSpc>
                <a:spcPts val="575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我们甚至可以重载运算符：</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322" name="picture 322"/>
          <p:cNvPicPr>
            <a:picLocks noChangeAspect="1"/>
          </p:cNvPicPr>
          <p:nvPr/>
        </p:nvPicPr>
        <p:blipFill>
          <a:blip r:embed="rId2"/>
          <a:stretch>
            <a:fillRect/>
          </a:stretch>
        </p:blipFill>
        <p:spPr>
          <a:xfrm rot="21600000">
            <a:off x="539739" y="273016"/>
            <a:ext cx="711159" cy="685800"/>
          </a:xfrm>
          <a:prstGeom prst="rect">
            <a:avLst/>
          </a:prstGeom>
        </p:spPr>
      </p:pic>
      <p:pic>
        <p:nvPicPr>
          <p:cNvPr id="324" name="picture 324"/>
          <p:cNvPicPr>
            <a:picLocks noChangeAspect="1"/>
          </p:cNvPicPr>
          <p:nvPr/>
        </p:nvPicPr>
        <p:blipFill>
          <a:blip r:embed="rId3"/>
          <a:stretch>
            <a:fillRect/>
          </a:stretch>
        </p:blipFill>
        <p:spPr>
          <a:xfrm rot="21600000">
            <a:off x="190560" y="6623044"/>
            <a:ext cx="11779180" cy="1268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6" name="picture 326"/>
          <p:cNvPicPr>
            <a:picLocks noChangeAspect="1"/>
          </p:cNvPicPr>
          <p:nvPr/>
        </p:nvPicPr>
        <p:blipFill>
          <a:blip r:embed="rId1"/>
          <a:stretch>
            <a:fillRect/>
          </a:stretch>
        </p:blipFill>
        <p:spPr>
          <a:xfrm rot="21600000">
            <a:off x="0" y="0"/>
            <a:ext cx="12192000" cy="6858000"/>
          </a:xfrm>
          <a:prstGeom prst="rect">
            <a:avLst/>
          </a:prstGeom>
        </p:spPr>
      </p:pic>
      <p:sp>
        <p:nvSpPr>
          <p:cNvPr id="328" name="textbox 328"/>
          <p:cNvSpPr/>
          <p:nvPr/>
        </p:nvSpPr>
        <p:spPr>
          <a:xfrm>
            <a:off x="1263700" y="1746253"/>
            <a:ext cx="9194800" cy="1143635"/>
          </a:xfrm>
          <a:prstGeom prst="rect">
            <a:avLst/>
          </a:prstGeom>
          <a:solidFill>
            <a:srgbClr val="F7F3ED">
              <a:alpha val="100000"/>
            </a:srgbClr>
          </a:solidFill>
          <a:ln w="0" cap="flat">
            <a:noFill/>
            <a:prstDash val="solid"/>
            <a:miter lim="0"/>
          </a:ln>
        </p:spPr>
        <p:txBody>
          <a:bodyPr vert="horz" wrap="square" lIns="0" tIns="0" rIns="0" bIns="0"/>
          <a:lstStyle/>
          <a:p>
            <a:pPr algn="l" rtl="0" eaLnBrk="0">
              <a:lnSpc>
                <a:spcPct val="141000"/>
              </a:lnSpc>
            </a:pPr>
            <a:endParaRPr sz="1000" dirty="0">
              <a:latin typeface="Arial" panose="020B0604020202020204"/>
              <a:ea typeface="Arial" panose="020B0604020202020204"/>
              <a:cs typeface="Arial" panose="020B0604020202020204"/>
            </a:endParaRPr>
          </a:p>
          <a:p>
            <a:pPr algn="l" rtl="0" eaLnBrk="0">
              <a:lnSpc>
                <a:spcPct val="9000"/>
              </a:lnSpc>
            </a:pPr>
            <a:endParaRPr sz="100" dirty="0">
              <a:latin typeface="Arial" panose="020B0604020202020204"/>
              <a:ea typeface="Arial" panose="020B0604020202020204"/>
              <a:cs typeface="Arial" panose="020B0604020202020204"/>
            </a:endParaRPr>
          </a:p>
          <a:p>
            <a:pPr marL="228600" algn="l" rtl="0" eaLnBrk="0">
              <a:lnSpc>
                <a:spcPct val="83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 a = Complex(1, 1);</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 b = Complex(2, 3);</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 c = a + 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330" name="textbox 330"/>
          <p:cNvSpPr/>
          <p:nvPr/>
        </p:nvSpPr>
        <p:spPr>
          <a:xfrm>
            <a:off x="1390650" y="480695"/>
            <a:ext cx="6382385" cy="100774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algn="l" rtl="0" eaLnBrk="0">
              <a:lnSpc>
                <a:spcPct val="127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C++——基础重载</a:t>
            </a:r>
            <a:endParaRPr dirty="0">
              <a:latin typeface="黑体" panose="02010609060101010101" charset="-122"/>
              <a:ea typeface="黑体" panose="02010609060101010101" charset="-122"/>
              <a:cs typeface="黑体" panose="02010609060101010101" charset="-122"/>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27000"/>
              </a:lnSpc>
            </a:pPr>
            <a:endParaRPr sz="1000" dirty="0">
              <a:latin typeface="Arial" panose="020B0604020202020204"/>
              <a:ea typeface="Arial" panose="020B0604020202020204"/>
              <a:cs typeface="Arial" panose="020B0604020202020204"/>
            </a:endParaRPr>
          </a:p>
          <a:p>
            <a:pPr algn="l" rtl="0" eaLnBrk="0">
              <a:lnSpc>
                <a:spcPct val="112000"/>
              </a:lnSpc>
            </a:pPr>
            <a:endParaRPr sz="400" dirty="0">
              <a:latin typeface="Arial" panose="020B0604020202020204"/>
              <a:ea typeface="Arial" panose="020B0604020202020204"/>
              <a:cs typeface="Arial" panose="020B0604020202020204"/>
            </a:endParaRPr>
          </a:p>
          <a:p>
            <a:pPr marL="12700" algn="l" rtl="0" eaLnBrk="0">
              <a:lnSpc>
                <a:spcPct val="94000"/>
              </a:lnSpc>
              <a:spcBef>
                <a:spcPts val="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重载运算符之后，我们就可以这样进行复数加法了：</a:t>
            </a:r>
            <a:endParaRPr sz="1800" dirty="0">
              <a:latin typeface="黑体" panose="02010609060101010101" charset="-122"/>
              <a:ea typeface="黑体" panose="02010609060101010101" charset="-122"/>
              <a:cs typeface="黑体" panose="02010609060101010101" charset="-122"/>
            </a:endParaRPr>
          </a:p>
        </p:txBody>
      </p:sp>
      <p:sp>
        <p:nvSpPr>
          <p:cNvPr id="332" name="textbox 332"/>
          <p:cNvSpPr/>
          <p:nvPr/>
        </p:nvSpPr>
        <p:spPr>
          <a:xfrm>
            <a:off x="1390650" y="3284220"/>
            <a:ext cx="8686165" cy="29400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8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还记得前面的流插入和流提取运算符吗?它们就是对左移和右移的重载。</a:t>
            </a:r>
            <a:endParaRPr sz="1800" dirty="0">
              <a:latin typeface="黑体" panose="02010609060101010101" charset="-122"/>
              <a:ea typeface="黑体" panose="02010609060101010101" charset="-122"/>
              <a:cs typeface="黑体" panose="02010609060101010101" charset="-122"/>
            </a:endParaRPr>
          </a:p>
        </p:txBody>
      </p:sp>
      <p:pic>
        <p:nvPicPr>
          <p:cNvPr id="334" name="picture 334"/>
          <p:cNvPicPr>
            <a:picLocks noChangeAspect="1"/>
          </p:cNvPicPr>
          <p:nvPr/>
        </p:nvPicPr>
        <p:blipFill>
          <a:blip r:embed="rId2"/>
          <a:stretch>
            <a:fillRect/>
          </a:stretch>
        </p:blipFill>
        <p:spPr>
          <a:xfrm rot="21600000">
            <a:off x="539739" y="273016"/>
            <a:ext cx="711159" cy="685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sp>
        <p:nvSpPr>
          <p:cNvPr id="336" name="textbox 336"/>
          <p:cNvSpPr/>
          <p:nvPr/>
        </p:nvSpPr>
        <p:spPr>
          <a:xfrm>
            <a:off x="1250950" y="1350010"/>
            <a:ext cx="9169400" cy="3695700"/>
          </a:xfrm>
          <a:prstGeom prst="rect">
            <a:avLst/>
          </a:prstGeom>
          <a:solidFill>
            <a:srgbClr val="F6F2EC">
              <a:alpha val="100000"/>
            </a:srgbClr>
          </a:solidFill>
          <a:ln w="0" cap="flat">
            <a:noFill/>
            <a:prstDash val="solid"/>
            <a:miter lim="0"/>
          </a:ln>
        </p:spPr>
        <p:txBody>
          <a:bodyPr vert="horz" wrap="square" lIns="0" tIns="0" rIns="0" bIns="0"/>
          <a:lstStyle/>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sum(int a, int 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indent="4572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a + 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double sum(double a, double 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indent="4572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a + 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 sum(Complex a, Complex 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28600" algn="l" rtl="0" eaLnBrk="0">
              <a:lnSpc>
                <a:spcPct val="83000"/>
              </a:lnSpc>
              <a:buClrTx/>
              <a:buSzTx/>
              <a:buNone/>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return Complex(a.real+b.real, a.imaginary+b.imaginary);</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5000"/>
              </a:lnSpc>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5000"/>
              </a:lnSpc>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5000"/>
              </a:lnSpc>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340" name="textbox 340"/>
          <p:cNvSpPr/>
          <p:nvPr/>
        </p:nvSpPr>
        <p:spPr>
          <a:xfrm>
            <a:off x="1409740" y="5437093"/>
            <a:ext cx="8944609" cy="67436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87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是不是有一些太麻烦了?对于sum 的前两个重载来说</a:t>
            </a:r>
            <a:r>
              <a:rPr lang="zh-CN"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它们的函数体都是相似的，但是却需要写两遍。有没有办法进行简化呢?</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342" name="textbox 342"/>
          <p:cNvSpPr/>
          <p:nvPr/>
        </p:nvSpPr>
        <p:spPr>
          <a:xfrm>
            <a:off x="1412875" y="493395"/>
            <a:ext cx="5393055" cy="962660"/>
          </a:xfrm>
          <a:prstGeom prst="rect">
            <a:avLst/>
          </a:prstGeom>
          <a:noFill/>
          <a:ln w="0" cap="flat">
            <a:noFill/>
            <a:prstDash val="solid"/>
            <a:miter lim="0"/>
          </a:ln>
        </p:spPr>
        <p:txBody>
          <a:bodyPr vert="horz" wrap="square" lIns="0" tIns="0" rIns="0" bIns="0"/>
          <a:lstStyle/>
          <a:p>
            <a:pPr algn="l" rtl="0" eaLnBrk="0">
              <a:lnSpc>
                <a:spcPct val="82000"/>
              </a:lnSpc>
            </a:pPr>
            <a:r>
              <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C++基础——模板</a:t>
            </a:r>
            <a:endPar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ts val="55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让我们回顾一下刚才的代码：</a:t>
            </a:r>
            <a:endParaRPr sz="1800" dirty="0">
              <a:latin typeface="黑体" panose="02010609060101010101" charset="-122"/>
              <a:ea typeface="黑体" panose="02010609060101010101" charset="-122"/>
              <a:cs typeface="黑体" panose="02010609060101010101" charset="-122"/>
            </a:endParaRPr>
          </a:p>
        </p:txBody>
      </p:sp>
      <p:pic>
        <p:nvPicPr>
          <p:cNvPr id="344" name="picture 344"/>
          <p:cNvPicPr>
            <a:picLocks noChangeAspect="1"/>
          </p:cNvPicPr>
          <p:nvPr/>
        </p:nvPicPr>
        <p:blipFill>
          <a:blip r:embed="rId2"/>
          <a:stretch>
            <a:fillRect/>
          </a:stretch>
        </p:blipFill>
        <p:spPr>
          <a:xfrm rot="21600000">
            <a:off x="539739" y="273016"/>
            <a:ext cx="711159" cy="685800"/>
          </a:xfrm>
          <a:prstGeom prst="rect">
            <a:avLst/>
          </a:prstGeom>
        </p:spPr>
      </p:pic>
      <p:pic>
        <p:nvPicPr>
          <p:cNvPr id="346" name="picture 346"/>
          <p:cNvPicPr>
            <a:picLocks noChangeAspect="1"/>
          </p:cNvPicPr>
          <p:nvPr/>
        </p:nvPicPr>
        <p:blipFill>
          <a:blip r:embed="rId3"/>
          <a:stretch>
            <a:fillRect/>
          </a:stretch>
        </p:blipFill>
        <p:spPr>
          <a:xfrm rot="21600000">
            <a:off x="196900" y="6629423"/>
            <a:ext cx="11785519" cy="1268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sp>
        <p:nvSpPr>
          <p:cNvPr id="348" name="textbox 348"/>
          <p:cNvSpPr/>
          <p:nvPr/>
        </p:nvSpPr>
        <p:spPr>
          <a:xfrm>
            <a:off x="1282700" y="4356100"/>
            <a:ext cx="9169400" cy="1195070"/>
          </a:xfrm>
          <a:prstGeom prst="rect">
            <a:avLst/>
          </a:prstGeom>
          <a:solidFill>
            <a:srgbClr val="F6F3EC">
              <a:alpha val="100000"/>
            </a:srgbClr>
          </a:solidFill>
          <a:ln w="0" cap="flat">
            <a:noFill/>
            <a:prstDash val="solid"/>
            <a:miter lim="0"/>
          </a:ln>
        </p:spPr>
        <p:txBody>
          <a:bodyPr vert="horz" wrap="square" lIns="0" tIns="0" rIns="0" bIns="0"/>
          <a:lstStyle/>
          <a:p>
            <a:pPr indent="457200" algn="l" rtl="0" eaLnBrk="0">
              <a:lnSpc>
                <a:spcPct val="107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template &lt;typename T &gt;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481965" algn="l" rtl="0" eaLnBrk="0">
              <a:lnSpc>
                <a:spcPct val="74000"/>
              </a:lnSpc>
              <a:spcBef>
                <a:spcPts val="355"/>
              </a:spcBef>
            </a:pPr>
            <a:endPar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481965" algn="l" rtl="0" eaLnBrk="0">
              <a:lnSpc>
                <a:spcPct val="74000"/>
              </a:lnSpc>
              <a:spcBef>
                <a:spcPts val="355"/>
              </a:spcBef>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T sum(T  a,T</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03200" algn="l" rtl="0" eaLnBrk="0">
              <a:lnSpc>
                <a:spcPct val="75000"/>
              </a:lnSpc>
              <a:spcBef>
                <a:spcPts val="455"/>
              </a:spcBef>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{return a  +b;}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350" name="textbox 350"/>
          <p:cNvSpPr/>
          <p:nvPr/>
        </p:nvSpPr>
        <p:spPr>
          <a:xfrm>
            <a:off x="1393825" y="1131570"/>
            <a:ext cx="9722485" cy="1159510"/>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5875" algn="l" rtl="0" eaLnBrk="0">
              <a:lnSpc>
                <a:spcPct val="91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泛型编程 (Generic   Programming) 是一种编程范式。通过把类型参数化，泛型编程可以以通用的方式编写代码以适应不同类型的数据。</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7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7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在C++中，我们可以利用模板 (Template)来实现这一目的。</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352" name="textbox 352"/>
          <p:cNvSpPr/>
          <p:nvPr/>
        </p:nvSpPr>
        <p:spPr>
          <a:xfrm>
            <a:off x="1251000" y="2483485"/>
            <a:ext cx="9194800" cy="895985"/>
          </a:xfrm>
          <a:prstGeom prst="rect">
            <a:avLst/>
          </a:prstGeom>
          <a:solidFill>
            <a:srgbClr val="F8F3ED">
              <a:alpha val="100000"/>
            </a:srgbClr>
          </a:solidFill>
          <a:ln w="0" cap="flat">
            <a:noFill/>
            <a:prstDash val="solid"/>
            <a:miter lim="0"/>
          </a:ln>
        </p:spPr>
        <p:txBody>
          <a:bodyPr vert="horz" wrap="square" lIns="0" tIns="0" rIns="0" bIns="0"/>
          <a:lstStyle/>
          <a:p>
            <a:pPr algn="l" rtl="0" eaLnBrk="0">
              <a:lnSpc>
                <a:spcPct val="100000"/>
              </a:lnSpc>
            </a:pPr>
            <a:endParaRPr sz="800" dirty="0">
              <a:latin typeface="Arial" panose="020B0604020202020204"/>
              <a:ea typeface="Arial" panose="020B0604020202020204"/>
              <a:cs typeface="Arial" panose="020B0604020202020204"/>
            </a:endParaRPr>
          </a:p>
          <a:p>
            <a:pPr algn="l" rtl="0" eaLnBrk="0">
              <a:lnSpc>
                <a:spcPct val="6000"/>
              </a:lnSpc>
            </a:pPr>
            <a:endParaRPr sz="100" dirty="0">
              <a:latin typeface="Arial" panose="020B0604020202020204"/>
              <a:ea typeface="Arial" panose="020B0604020202020204"/>
              <a:cs typeface="Arial" panose="020B0604020202020204"/>
            </a:endParaRPr>
          </a:p>
          <a:p>
            <a:pPr marL="208915" algn="l" rtl="0" eaLnBrk="0">
              <a:lnSpc>
                <a:spcPct val="98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template &lt;typename T &gt;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208915" algn="l" rtl="0" eaLnBrk="0">
              <a:lnSpc>
                <a:spcPct val="100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T   func(T   arg);</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354" name="textbox 354"/>
          <p:cNvSpPr/>
          <p:nvPr/>
        </p:nvSpPr>
        <p:spPr>
          <a:xfrm>
            <a:off x="1393825" y="3883660"/>
            <a:ext cx="5536565" cy="284480"/>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94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例如，我们之前的sum 函数可以这么写：</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356" name="textbox 356"/>
          <p:cNvSpPr/>
          <p:nvPr/>
        </p:nvSpPr>
        <p:spPr>
          <a:xfrm>
            <a:off x="1393959" y="493361"/>
            <a:ext cx="3140710" cy="29400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8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C++基础——模板</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8000"/>
              </a:lnSpc>
            </a:pPr>
            <a:endParaRPr sz="1800" dirty="0">
              <a:latin typeface="黑体" panose="02010609060101010101" charset="-122"/>
              <a:ea typeface="黑体" panose="02010609060101010101" charset="-122"/>
              <a:cs typeface="黑体" panose="02010609060101010101" charset="-122"/>
            </a:endParaRPr>
          </a:p>
        </p:txBody>
      </p:sp>
      <p:pic>
        <p:nvPicPr>
          <p:cNvPr id="358" name="picture 358"/>
          <p:cNvPicPr>
            <a:picLocks noChangeAspect="1"/>
          </p:cNvPicPr>
          <p:nvPr/>
        </p:nvPicPr>
        <p:blipFill>
          <a:blip r:embed="rId2"/>
          <a:stretch>
            <a:fillRect/>
          </a:stretch>
        </p:blipFill>
        <p:spPr>
          <a:xfrm rot="21600000">
            <a:off x="539739" y="273016"/>
            <a:ext cx="711159" cy="679491"/>
          </a:xfrm>
          <a:prstGeom prst="rect">
            <a:avLst/>
          </a:prstGeom>
        </p:spPr>
      </p:pic>
      <p:pic>
        <p:nvPicPr>
          <p:cNvPr id="360" name="picture 360"/>
          <p:cNvPicPr>
            <a:picLocks noChangeAspect="1"/>
          </p:cNvPicPr>
          <p:nvPr/>
        </p:nvPicPr>
        <p:blipFill>
          <a:blip r:embed="rId3"/>
          <a:stretch>
            <a:fillRect/>
          </a:stretch>
        </p:blipFill>
        <p:spPr>
          <a:xfrm rot="21600000">
            <a:off x="196900" y="6623044"/>
            <a:ext cx="11785519" cy="1268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 name="picture 362"/>
          <p:cNvPicPr>
            <a:picLocks noChangeAspect="1"/>
          </p:cNvPicPr>
          <p:nvPr/>
        </p:nvPicPr>
        <p:blipFill>
          <a:blip r:embed="rId1"/>
          <a:stretch>
            <a:fillRect/>
          </a:stretch>
        </p:blipFill>
        <p:spPr>
          <a:xfrm rot="21600000">
            <a:off x="0" y="0"/>
            <a:ext cx="12192000" cy="6858000"/>
          </a:xfrm>
          <a:prstGeom prst="rect">
            <a:avLst/>
          </a:prstGeom>
        </p:spPr>
      </p:pic>
      <p:sp>
        <p:nvSpPr>
          <p:cNvPr id="364" name="textbox 364"/>
          <p:cNvSpPr/>
          <p:nvPr/>
        </p:nvSpPr>
        <p:spPr>
          <a:xfrm>
            <a:off x="1393777" y="505823"/>
            <a:ext cx="8925559" cy="10737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6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C++基础——模板</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6000"/>
              </a:lnSpc>
            </a:pPr>
            <a:endParaRPr sz="1000" dirty="0">
              <a:latin typeface="Arial" panose="020B0604020202020204"/>
              <a:ea typeface="Arial" panose="020B0604020202020204"/>
              <a:cs typeface="Arial" panose="020B0604020202020204"/>
            </a:endParaRPr>
          </a:p>
          <a:p>
            <a:pPr algn="l" rtl="0" eaLnBrk="0">
              <a:lnSpc>
                <a:spcPct val="108000"/>
              </a:lnSpc>
            </a:pPr>
            <a:endParaRPr sz="400" dirty="0">
              <a:latin typeface="Arial" panose="020B0604020202020204"/>
              <a:ea typeface="Arial" panose="020B0604020202020204"/>
              <a:cs typeface="Arial" panose="020B0604020202020204"/>
            </a:endParaRPr>
          </a:p>
          <a:p>
            <a:pPr marL="12700" algn="l" rtl="0" eaLnBrk="0">
              <a:lnSpc>
                <a:spcPct val="94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这样，我们在定义函数的时候，就不必明确参数的类型，而可以等到调用的时候再明确：</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368" name="textbox 368"/>
          <p:cNvSpPr/>
          <p:nvPr/>
        </p:nvSpPr>
        <p:spPr>
          <a:xfrm>
            <a:off x="1251585" y="2028825"/>
            <a:ext cx="9111615" cy="882650"/>
          </a:xfrm>
          <a:prstGeom prst="rect">
            <a:avLst/>
          </a:prstGeom>
          <a:solidFill>
            <a:srgbClr val="F6F2EC">
              <a:alpha val="100000"/>
            </a:srgbClr>
          </a:solidFill>
          <a:ln w="0" cap="flat">
            <a:noFill/>
            <a:prstDash val="solid"/>
            <a:miter lim="0"/>
          </a:ln>
        </p:spPr>
        <p:txBody>
          <a:bodyPr vert="horz" wrap="square" lIns="0" tIns="0" rIns="0" bIns="0"/>
          <a:lstStyle/>
          <a:p>
            <a:pPr algn="l" rtl="0" eaLnBrk="0">
              <a:lnSpc>
                <a:spcPct val="122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sum&lt;int&gt;(1,2);</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22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sum(3.4f, 5.56f);</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382" name="textbox 382"/>
          <p:cNvSpPr/>
          <p:nvPr/>
        </p:nvSpPr>
        <p:spPr>
          <a:xfrm>
            <a:off x="1250899" y="3981480"/>
            <a:ext cx="9189084" cy="647700"/>
          </a:xfrm>
          <a:prstGeom prst="rect">
            <a:avLst/>
          </a:prstGeom>
          <a:solidFill>
            <a:srgbClr val="F8F3EC">
              <a:alpha val="100000"/>
            </a:srgbClr>
          </a:solidFill>
          <a:ln w="0" cap="flat">
            <a:noFill/>
            <a:prstDash val="solid"/>
            <a:miter lim="0"/>
          </a:ln>
        </p:spPr>
        <p:txBody>
          <a:bodyPr vert="horz" wrap="square" lIns="0" tIns="0" rIns="0" bIns="0"/>
          <a:lstStyle/>
          <a:p>
            <a:pPr algn="l" rtl="0" eaLnBrk="0">
              <a:lnSpc>
                <a:spcPct val="101000"/>
              </a:lnSpc>
            </a:pPr>
            <a:endParaRPr sz="900" dirty="0">
              <a:latin typeface="Arial" panose="020B0604020202020204"/>
              <a:ea typeface="Arial" panose="020B0604020202020204"/>
              <a:cs typeface="Arial" panose="020B0604020202020204"/>
            </a:endParaRPr>
          </a:p>
          <a:p>
            <a:pPr marL="234950" algn="l" rtl="0" eaLnBrk="0">
              <a:lnSpc>
                <a:spcPts val="2795"/>
              </a:lnSpc>
              <a:spcBef>
                <a:spcPts val="0"/>
              </a:spcBef>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 c  =  sum&lt;Complex&gt;(a,b);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384" name="textbox 384"/>
          <p:cNvSpPr/>
          <p:nvPr/>
        </p:nvSpPr>
        <p:spPr>
          <a:xfrm>
            <a:off x="1390650" y="3153410"/>
            <a:ext cx="9408160" cy="683260"/>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94000"/>
              </a:lnSpc>
              <a:buClrTx/>
              <a:buSzTx/>
              <a:buFontTx/>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当类型可以推导的时候，可以不必显式地指明类型。</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4000"/>
              </a:lnSpc>
              <a:buClrTx/>
              <a:buSzTx/>
              <a:buFontTx/>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然而，另一个问题出现了：我们的复数类型该怎么办呢?当我们如下调用的时候：</a:t>
            </a:r>
            <a:endParaRPr sz="1700" dirty="0">
              <a:latin typeface="黑体" panose="02010609060101010101" charset="-122"/>
              <a:ea typeface="黑体" panose="02010609060101010101" charset="-122"/>
              <a:cs typeface="黑体" panose="02010609060101010101" charset="-122"/>
            </a:endParaRPr>
          </a:p>
        </p:txBody>
      </p:sp>
      <p:sp>
        <p:nvSpPr>
          <p:cNvPr id="396" name="textbox 396"/>
          <p:cNvSpPr/>
          <p:nvPr/>
        </p:nvSpPr>
        <p:spPr>
          <a:xfrm>
            <a:off x="1393777" y="4849200"/>
            <a:ext cx="2518410" cy="2794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8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会出现编译错误：</a:t>
            </a:r>
            <a:endParaRPr sz="1700" dirty="0">
              <a:latin typeface="黑体" panose="02010609060101010101" charset="-122"/>
              <a:ea typeface="黑体" panose="02010609060101010101" charset="-122"/>
              <a:cs typeface="黑体" panose="02010609060101010101" charset="-122"/>
            </a:endParaRPr>
          </a:p>
        </p:txBody>
      </p:sp>
      <p:pic>
        <p:nvPicPr>
          <p:cNvPr id="398" name="picture 398"/>
          <p:cNvPicPr>
            <a:picLocks noChangeAspect="1"/>
          </p:cNvPicPr>
          <p:nvPr/>
        </p:nvPicPr>
        <p:blipFill>
          <a:blip r:embed="rId2"/>
          <a:stretch>
            <a:fillRect/>
          </a:stretch>
        </p:blipFill>
        <p:spPr>
          <a:xfrm rot="21600000">
            <a:off x="539739" y="273016"/>
            <a:ext cx="711159" cy="685800"/>
          </a:xfrm>
          <a:prstGeom prst="rect">
            <a:avLst/>
          </a:prstGeom>
        </p:spPr>
      </p:pic>
      <p:pic>
        <p:nvPicPr>
          <p:cNvPr id="2" name="图片 1"/>
          <p:cNvPicPr>
            <a:picLocks noChangeAspect="1"/>
          </p:cNvPicPr>
          <p:nvPr/>
        </p:nvPicPr>
        <p:blipFill>
          <a:blip r:embed="rId3"/>
          <a:stretch>
            <a:fillRect/>
          </a:stretch>
        </p:blipFill>
        <p:spPr>
          <a:xfrm>
            <a:off x="1346200" y="5239385"/>
            <a:ext cx="9227820" cy="8750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pic>
        <p:nvPicPr>
          <p:cNvPr id="406" name="picture 406"/>
          <p:cNvPicPr>
            <a:picLocks noChangeAspect="1"/>
          </p:cNvPicPr>
          <p:nvPr/>
        </p:nvPicPr>
        <p:blipFill>
          <a:blip r:embed="rId2"/>
          <a:stretch>
            <a:fillRect/>
          </a:stretch>
        </p:blipFill>
        <p:spPr>
          <a:xfrm rot="21600000">
            <a:off x="258434" y="117441"/>
            <a:ext cx="704819" cy="685800"/>
          </a:xfrm>
          <a:prstGeom prst="rect">
            <a:avLst/>
          </a:prstGeom>
        </p:spPr>
      </p:pic>
      <p:sp>
        <p:nvSpPr>
          <p:cNvPr id="400" name="textbox 400"/>
          <p:cNvSpPr/>
          <p:nvPr/>
        </p:nvSpPr>
        <p:spPr>
          <a:xfrm>
            <a:off x="1308100" y="3302000"/>
            <a:ext cx="9156700" cy="1854200"/>
          </a:xfrm>
          <a:prstGeom prst="rect">
            <a:avLst/>
          </a:prstGeom>
          <a:solidFill>
            <a:srgbClr val="F7F3ED">
              <a:alpha val="100000"/>
            </a:srgbClr>
          </a:solidFill>
          <a:ln w="0" cap="flat">
            <a:noFill/>
            <a:prstDash val="solid"/>
            <a:miter lim="0"/>
          </a:ln>
        </p:spPr>
        <p:txBody>
          <a:bodyPr vert="horz" wrap="square" lIns="0" tIns="0" rIns="0" bIns="0"/>
          <a:lstStyle/>
          <a:p>
            <a:pPr algn="l" rtl="0" eaLnBrk="0">
              <a:lnSpc>
                <a:spcPct val="103000"/>
              </a:lnSpc>
            </a:pPr>
            <a:endParaRPr sz="900" dirty="0">
              <a:latin typeface="Arial" panose="020B0604020202020204"/>
              <a:ea typeface="Arial" panose="020B0604020202020204"/>
              <a:cs typeface="Arial" panose="020B0604020202020204"/>
            </a:endParaRPr>
          </a:p>
          <a:p>
            <a:pPr marL="196850" algn="l" rtl="0" eaLnBrk="0">
              <a:lnSpc>
                <a:spcPts val="2585"/>
              </a:lnSpc>
              <a:spcBef>
                <a:spcPts val="0"/>
              </a:spcBef>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template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&lt;&gt;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77800" algn="l" rtl="0" eaLnBrk="0">
              <a:lnSpc>
                <a:spcPts val="2315"/>
              </a:lnSpc>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sum</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a</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Complex</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b</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77800" algn="l" rtl="0" eaLnBrk="0">
              <a:lnSpc>
                <a:spcPts val="2315"/>
              </a:lnSpc>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77800" indent="457200" algn="l" rtl="0" eaLnBrk="0">
              <a:lnSpc>
                <a:spcPts val="2315"/>
              </a:lnSpc>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Complex(a.real</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+b.real,a.imaginary+b.imaginary);</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404" name="textbox 404"/>
          <p:cNvSpPr/>
          <p:nvPr/>
        </p:nvSpPr>
        <p:spPr>
          <a:xfrm>
            <a:off x="527050" y="260350"/>
            <a:ext cx="9831705" cy="2648585"/>
          </a:xfrm>
          <a:prstGeom prst="rect">
            <a:avLst/>
          </a:prstGeom>
          <a:noFill/>
          <a:ln w="0" cap="flat">
            <a:noFill/>
            <a:prstDash val="solid"/>
            <a:miter lim="0"/>
          </a:ln>
        </p:spPr>
        <p:txBody>
          <a:bodyPr vert="horz" wrap="square" lIns="0" tIns="0" rIns="0" bIns="0"/>
          <a:lstStyle/>
          <a:p>
            <a:pPr algn="l" rtl="0" eaLnBrk="0">
              <a:lnSpc>
                <a:spcPct val="160000"/>
              </a:lnSpc>
            </a:pPr>
            <a:r>
              <a:rPr lang="en-US" sz="16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      </a:t>
            </a:r>
            <a:r>
              <a:rPr lang="en-US"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   </a:t>
            </a: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C++基础——模板</a:t>
            </a:r>
            <a:endParaRPr sz="16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2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algn="l" rtl="0" eaLnBrk="0">
              <a:lnSpc>
                <a:spcPct val="103000"/>
              </a:lnSpc>
            </a:pPr>
            <a:endParaRPr sz="1000" dirty="0">
              <a:latin typeface="Arial" panose="020B0604020202020204"/>
              <a:ea typeface="Arial" panose="020B0604020202020204"/>
              <a:cs typeface="Arial" panose="020B0604020202020204"/>
            </a:endParaRPr>
          </a:p>
          <a:p>
            <a:pPr marL="869315" algn="l" rtl="0" eaLnBrk="0">
              <a:lnSpc>
                <a:spcPct val="94000"/>
              </a:lnSpc>
              <a:spcBef>
                <a:spcPts val="54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原来，编译器不知道该如何将两个复数加到一起。</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869315" algn="l" rtl="0" eaLnBrk="0">
              <a:lnSpc>
                <a:spcPct val="149000"/>
              </a:lnSpc>
              <a:spcBef>
                <a:spcPts val="76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一种解决办法是，重载Complex 的operator+运算符</a:t>
            </a:r>
            <a:r>
              <a:rPr lang="zh-CN"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此外，我们还可以手动指定如何对Complex 进行相加。</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0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869315" algn="l" rtl="0" eaLnBrk="0">
              <a:lnSpc>
                <a:spcPct val="94000"/>
              </a:lnSpc>
              <a:spcBef>
                <a:spcPts val="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这叫做模板特化(Template  Specialization)</a:t>
            </a:r>
            <a:r>
              <a:rPr sz="1800" kern="0" spc="60" dirty="0">
                <a:solidFill>
                  <a:srgbClr val="06326B">
                    <a:alpha val="100000"/>
                  </a:srgbClr>
                </a:solidFill>
                <a:latin typeface="宋体" panose="02010600030101010101" pitchFamily="2" charset="-122"/>
                <a:ea typeface="宋体" panose="02010600030101010101" pitchFamily="2" charset="-122"/>
                <a:cs typeface="宋体" panose="02010600030101010101" pitchFamily="2" charset="-122"/>
              </a:rPr>
              <a:t>。</a:t>
            </a:r>
            <a:endParaRPr sz="1800" dirty="0">
              <a:latin typeface="宋体" panose="02010600030101010101" pitchFamily="2" charset="-122"/>
              <a:ea typeface="宋体" panose="02010600030101010101" pitchFamily="2" charset="-122"/>
              <a:cs typeface="宋体" panose="02010600030101010101" pitchFamily="2" charset="-122"/>
            </a:endParaRPr>
          </a:p>
        </p:txBody>
      </p:sp>
      <p:pic>
        <p:nvPicPr>
          <p:cNvPr id="408" name="picture 408"/>
          <p:cNvPicPr>
            <a:picLocks noChangeAspect="1"/>
          </p:cNvPicPr>
          <p:nvPr/>
        </p:nvPicPr>
        <p:blipFill>
          <a:blip r:embed="rId3"/>
          <a:stretch>
            <a:fillRect/>
          </a:stretch>
        </p:blipFill>
        <p:spPr>
          <a:xfrm rot="21600000">
            <a:off x="196900" y="6623044"/>
            <a:ext cx="11785519" cy="1268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 name="picture 410"/>
          <p:cNvPicPr>
            <a:picLocks noChangeAspect="1"/>
          </p:cNvPicPr>
          <p:nvPr/>
        </p:nvPicPr>
        <p:blipFill>
          <a:blip r:embed="rId1"/>
          <a:stretch>
            <a:fillRect/>
          </a:stretch>
        </p:blipFill>
        <p:spPr>
          <a:xfrm rot="21600000">
            <a:off x="0" y="0"/>
            <a:ext cx="12192000" cy="6858000"/>
          </a:xfrm>
          <a:prstGeom prst="rect">
            <a:avLst/>
          </a:prstGeom>
        </p:spPr>
      </p:pic>
      <p:sp>
        <p:nvSpPr>
          <p:cNvPr id="412" name="rect 412"/>
          <p:cNvSpPr/>
          <p:nvPr/>
        </p:nvSpPr>
        <p:spPr>
          <a:xfrm>
            <a:off x="1275725" y="1606555"/>
            <a:ext cx="9175699" cy="1473167"/>
          </a:xfrm>
          <a:prstGeom prst="rect">
            <a:avLst/>
          </a:prstGeom>
          <a:solidFill>
            <a:srgbClr val="F7F2EC">
              <a:alpha val="100000"/>
            </a:srgbClr>
          </a:solidFill>
          <a:ln w="0" cap="flat">
            <a:noFill/>
            <a:prstDash val="solid"/>
            <a:miter lim="0"/>
          </a:ln>
        </p:spPr>
        <p:txBody>
          <a:bodyPr rtlCol="0"/>
          <a:lstStyle/>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p = (int*)malloc(sizeof(int));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*p = 1;</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*p;</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free(p);</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414" name="rect 414"/>
          <p:cNvSpPr/>
          <p:nvPr/>
        </p:nvSpPr>
        <p:spPr>
          <a:xfrm>
            <a:off x="1282700" y="3746500"/>
            <a:ext cx="9175750" cy="1097915"/>
          </a:xfrm>
          <a:prstGeom prst="rect">
            <a:avLst/>
          </a:prstGeom>
          <a:solidFill>
            <a:srgbClr val="F8F3ED">
              <a:alpha val="100000"/>
            </a:srgbClr>
          </a:solidFill>
          <a:ln w="0" cap="flat">
            <a:noFill/>
            <a:prstDash val="solid"/>
            <a:miter lim="0"/>
          </a:ln>
        </p:spPr>
        <p:txBody>
          <a:bodyPr rtlCol="0"/>
          <a:lstStyle/>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p = new int(1);</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*p;</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delete p;</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416" name="textbox 416"/>
          <p:cNvSpPr/>
          <p:nvPr/>
        </p:nvSpPr>
        <p:spPr>
          <a:xfrm>
            <a:off x="1390650" y="3329940"/>
            <a:ext cx="7498080" cy="94932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385"/>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在C++中，我们可以使用new 和delete 运算符实现类似的功能：</a:t>
            </a:r>
            <a:endParaRPr sz="2900" dirty="0">
              <a:latin typeface="Arial" panose="020B0604020202020204"/>
              <a:ea typeface="Arial" panose="020B0604020202020204"/>
              <a:cs typeface="Arial" panose="020B0604020202020204"/>
            </a:endParaRPr>
          </a:p>
        </p:txBody>
      </p:sp>
      <p:sp>
        <p:nvSpPr>
          <p:cNvPr id="418" name="textbox 418"/>
          <p:cNvSpPr/>
          <p:nvPr/>
        </p:nvSpPr>
        <p:spPr>
          <a:xfrm>
            <a:off x="1390650" y="506095"/>
            <a:ext cx="6718300" cy="1006475"/>
          </a:xfrm>
          <a:prstGeom prst="rect">
            <a:avLst/>
          </a:prstGeom>
          <a:noFill/>
          <a:ln w="0" cap="flat">
            <a:noFill/>
            <a:prstDash val="solid"/>
            <a:miter lim="0"/>
          </a:ln>
        </p:spPr>
        <p:txBody>
          <a:bodyPr vert="horz" wrap="square" lIns="0" tIns="0" rIns="0" bIns="0"/>
          <a:lstStyle/>
          <a:p>
            <a:pPr algn="l" rtl="0" eaLnBrk="0">
              <a:lnSpc>
                <a:spcPct val="83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C++基础——new与delete</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37000"/>
              </a:lnSpc>
            </a:pPr>
            <a:endParaRPr sz="1000" dirty="0">
              <a:latin typeface="Arial" panose="020B0604020202020204"/>
              <a:ea typeface="Arial" panose="020B0604020202020204"/>
              <a:cs typeface="Arial" panose="020B0604020202020204"/>
            </a:endParaRPr>
          </a:p>
          <a:p>
            <a:pPr algn="l" rtl="0" eaLnBrk="0">
              <a:lnSpc>
                <a:spcPct val="108000"/>
              </a:lnSpc>
            </a:pPr>
            <a:endParaRPr sz="400" dirty="0">
              <a:latin typeface="Arial" panose="020B0604020202020204"/>
              <a:ea typeface="Arial" panose="020B0604020202020204"/>
              <a:cs typeface="Arial" panose="020B0604020202020204"/>
            </a:endParaRPr>
          </a:p>
          <a:p>
            <a:pPr marL="12700" algn="l" rtl="0" eaLnBrk="0">
              <a:lnSpc>
                <a:spcPct val="94000"/>
              </a:lnSpc>
              <a:spcBef>
                <a:spcPts val="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使用C语言时，我们常常会用到malloc()函数和free()函数。</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430" name="picture 430"/>
          <p:cNvPicPr>
            <a:picLocks noChangeAspect="1"/>
          </p:cNvPicPr>
          <p:nvPr/>
        </p:nvPicPr>
        <p:blipFill>
          <a:blip r:embed="rId2"/>
          <a:stretch>
            <a:fillRect/>
          </a:stretch>
        </p:blipFill>
        <p:spPr>
          <a:xfrm rot="21600000">
            <a:off x="539739" y="273016"/>
            <a:ext cx="704819" cy="685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4" name="picture 434"/>
          <p:cNvPicPr>
            <a:picLocks noChangeAspect="1"/>
          </p:cNvPicPr>
          <p:nvPr/>
        </p:nvPicPr>
        <p:blipFill>
          <a:blip r:embed="rId1"/>
          <a:stretch>
            <a:fillRect/>
          </a:stretch>
        </p:blipFill>
        <p:spPr>
          <a:xfrm rot="21600000">
            <a:off x="0" y="0"/>
            <a:ext cx="12192000" cy="6858000"/>
          </a:xfrm>
          <a:prstGeom prst="rect">
            <a:avLst/>
          </a:prstGeom>
        </p:spPr>
      </p:pic>
      <p:sp>
        <p:nvSpPr>
          <p:cNvPr id="436" name="textbox 436"/>
          <p:cNvSpPr/>
          <p:nvPr/>
        </p:nvSpPr>
        <p:spPr>
          <a:xfrm>
            <a:off x="1301739" y="1680946"/>
            <a:ext cx="9150350" cy="2044064"/>
          </a:xfrm>
          <a:prstGeom prst="rect">
            <a:avLst/>
          </a:prstGeom>
          <a:solidFill>
            <a:srgbClr val="F8F3ED">
              <a:alpha val="100000"/>
            </a:srgbClr>
          </a:solidFill>
          <a:ln w="0" cap="flat">
            <a:noFill/>
            <a:prstDash val="solid"/>
            <a:miter lim="0"/>
          </a:ln>
        </p:spPr>
        <p:txBody>
          <a:bodyPr vert="horz" wrap="square" lIns="0" tIns="0" rIns="0" bIns="0"/>
          <a:lstStyle/>
          <a:p>
            <a:pPr marL="749300" algn="l" rtl="0" eaLnBrk="0">
              <a:lnSpc>
                <a:spcPts val="376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*p =new int[5]{1,2,3,4,5};</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749300" algn="l" rtl="0" eaLnBrk="0">
              <a:lnSpc>
                <a:spcPts val="2405"/>
              </a:lnSpc>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for</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int</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i</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=0;i&lt;5;++i)</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749300" algn="l" rtl="0" eaLnBrk="0">
              <a:lnSpc>
                <a:spcPts val="2405"/>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749300" algn="l" rtl="0" eaLnBrk="0">
              <a:lnSpc>
                <a:spcPts val="2405"/>
              </a:lnSpc>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 ::cout  &lt;&lt; p[i];</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780415" algn="l" rtl="0" eaLnBrk="0">
              <a:lnSpc>
                <a:spcPct val="85000"/>
              </a:lnSpc>
              <a:spcBef>
                <a:spcPts val="695"/>
              </a:spcBef>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749300" algn="l" rtl="0" eaLnBrk="0">
              <a:lnSpc>
                <a:spcPts val="2520"/>
              </a:lnSpc>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delete[]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p;</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440" name="textbox 440"/>
          <p:cNvSpPr/>
          <p:nvPr/>
        </p:nvSpPr>
        <p:spPr>
          <a:xfrm>
            <a:off x="1390650" y="4179570"/>
            <a:ext cx="7853680" cy="3460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4000"/>
              </a:lnSpc>
              <a:buClrTx/>
              <a:buSzTx/>
              <a:buFontTx/>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C++11添加了nullptr 指针字面量。你可以用它来替代C中的NULL。</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442" name="textbox 442"/>
          <p:cNvSpPr/>
          <p:nvPr/>
        </p:nvSpPr>
        <p:spPr>
          <a:xfrm>
            <a:off x="1390650" y="1254760"/>
            <a:ext cx="8926830" cy="284480"/>
          </a:xfrm>
          <a:prstGeom prst="rect">
            <a:avLst/>
          </a:prstGeom>
          <a:noFill/>
          <a:ln w="0" cap="flat">
            <a:noFill/>
            <a:prstDash val="solid"/>
            <a:miter lim="0"/>
          </a:ln>
        </p:spPr>
        <p:txBody>
          <a:bodyPr vert="horz" wrap="square" lIns="0" tIns="0" rIns="0" bIns="0"/>
          <a:lstStyle/>
          <a:p>
            <a:pPr algn="l" rtl="0" eaLnBrk="0">
              <a:lnSpc>
                <a:spcPct val="88000"/>
              </a:lnSpc>
            </a:pPr>
            <a:endParaRPr sz="100" dirty="0">
              <a:latin typeface="Arial" panose="020B0604020202020204"/>
              <a:ea typeface="Arial" panose="020B0604020202020204"/>
              <a:cs typeface="Arial" panose="020B0604020202020204"/>
            </a:endParaRPr>
          </a:p>
          <a:p>
            <a:pPr marL="12700" algn="l" rtl="0" eaLnBrk="0">
              <a:lnSpc>
                <a:spcPct val="94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需要注意的是，当我们使用new[]创建数组，相应地需要使用delete[]销毁。</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444" name="textbox 444"/>
          <p:cNvSpPr/>
          <p:nvPr/>
        </p:nvSpPr>
        <p:spPr>
          <a:xfrm>
            <a:off x="1393959" y="493361"/>
            <a:ext cx="4059554" cy="294004"/>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8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C++基础——new与delete</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8000"/>
              </a:lnSpc>
            </a:pPr>
            <a:endParaRPr sz="1800" dirty="0">
              <a:latin typeface="宋体" panose="02010600030101010101" pitchFamily="2" charset="-122"/>
              <a:ea typeface="宋体" panose="02010600030101010101" pitchFamily="2" charset="-122"/>
              <a:cs typeface="宋体" panose="02010600030101010101" pitchFamily="2" charset="-122"/>
            </a:endParaRPr>
          </a:p>
        </p:txBody>
      </p:sp>
      <p:pic>
        <p:nvPicPr>
          <p:cNvPr id="446" name="picture 446"/>
          <p:cNvPicPr>
            <a:picLocks noChangeAspect="1"/>
          </p:cNvPicPr>
          <p:nvPr/>
        </p:nvPicPr>
        <p:blipFill>
          <a:blip r:embed="rId2"/>
          <a:stretch>
            <a:fillRect/>
          </a:stretch>
        </p:blipFill>
        <p:spPr>
          <a:xfrm rot="21600000">
            <a:off x="546079" y="273016"/>
            <a:ext cx="711281"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picture 104"/>
          <p:cNvPicPr>
            <a:picLocks noChangeAspect="1"/>
          </p:cNvPicPr>
          <p:nvPr/>
        </p:nvPicPr>
        <p:blipFill>
          <a:blip r:embed="rId1"/>
          <a:stretch>
            <a:fillRect/>
          </a:stretch>
        </p:blipFill>
        <p:spPr>
          <a:xfrm rot="21600000">
            <a:off x="0" y="0"/>
            <a:ext cx="12192000" cy="6858000"/>
          </a:xfrm>
          <a:prstGeom prst="rect">
            <a:avLst/>
          </a:prstGeom>
        </p:spPr>
      </p:pic>
      <p:pic>
        <p:nvPicPr>
          <p:cNvPr id="448" name="picture 448"/>
          <p:cNvPicPr>
            <a:picLocks noChangeAspect="1"/>
          </p:cNvPicPr>
          <p:nvPr/>
        </p:nvPicPr>
        <p:blipFill>
          <a:blip r:embed="rId2"/>
          <a:stretch>
            <a:fillRect/>
          </a:stretch>
        </p:blipFill>
        <p:spPr>
          <a:xfrm rot="21600000">
            <a:off x="1257279" y="5248912"/>
            <a:ext cx="9137659" cy="1295407"/>
          </a:xfrm>
          <a:prstGeom prst="rect">
            <a:avLst/>
          </a:prstGeom>
        </p:spPr>
      </p:pic>
      <p:sp>
        <p:nvSpPr>
          <p:cNvPr id="450" name="textbox 450"/>
          <p:cNvSpPr/>
          <p:nvPr/>
        </p:nvSpPr>
        <p:spPr>
          <a:xfrm>
            <a:off x="1282700" y="1482090"/>
            <a:ext cx="9163050" cy="3169920"/>
          </a:xfrm>
          <a:prstGeom prst="rect">
            <a:avLst/>
          </a:prstGeom>
          <a:solidFill>
            <a:srgbClr val="F7F3EC">
              <a:alpha val="100000"/>
            </a:srgbClr>
          </a:solidFill>
          <a:ln w="0" cap="flat">
            <a:noFill/>
            <a:prstDash val="solid"/>
            <a:miter lim="0"/>
          </a:ln>
        </p:spPr>
        <p:txBody>
          <a:bodyPr vert="horz" wrap="square" lIns="0" tIns="0" rIns="0" bIns="0"/>
          <a:lstStyle/>
          <a:p>
            <a:pPr algn="l" rtl="0" eaLnBrk="0">
              <a:lnSpc>
                <a:spcPct val="11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void sum(int a, int b, int result){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1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result = a + b;</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5000"/>
              </a:lnSpc>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main</a:t>
            </a:r>
            <a:r>
              <a:rPr lang="zh-CN" alt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zh-CN" alt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5000"/>
              </a:lnSpc>
            </a:pPr>
            <a:r>
              <a:rPr lang="en-US" altLang="zh-CN"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altLang="zh-CN"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15000"/>
              </a:lnSpc>
            </a:pPr>
            <a:r>
              <a:rPr lang="en-US" altLang="zh-CN"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result=1</a:t>
            </a:r>
            <a:r>
              <a:rPr lang="zh-CN" alt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zh-CN" alt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15000"/>
              </a:lnSpc>
            </a:pPr>
            <a:r>
              <a:rPr lang="en-US" altLang="zh-CN"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sum(1,1,reslut);</a:t>
            </a:r>
            <a:endParaRPr lang="en-US" altLang="zh-CN"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0" lvl="0" indent="0" algn="l" rtl="0" eaLnBrk="0">
              <a:lnSpc>
                <a:spcPct val="115000"/>
              </a:lnSpc>
              <a:buNone/>
            </a:pPr>
            <a:r>
              <a:rPr lang="en-US" altLang="zh-CN"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altLang="zh-CN"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452" name="textbox 452"/>
          <p:cNvSpPr/>
          <p:nvPr/>
        </p:nvSpPr>
        <p:spPr>
          <a:xfrm>
            <a:off x="1282700" y="4897120"/>
            <a:ext cx="5196205" cy="462915"/>
          </a:xfrm>
          <a:prstGeom prst="rect">
            <a:avLst/>
          </a:prstGeom>
          <a:noFill/>
          <a:ln w="0" cap="flat">
            <a:noFill/>
            <a:prstDash val="solid"/>
            <a:miter lim="0"/>
          </a:ln>
        </p:spPr>
        <p:txBody>
          <a:bodyPr vert="horz" wrap="square" lIns="0" tIns="0" rIns="0" bIns="0"/>
          <a:lstStyle/>
          <a:p>
            <a:pPr algn="l" rtl="0" eaLnBrk="0">
              <a:lnSpc>
                <a:spcPct val="80000"/>
              </a:lnSpc>
            </a:pPr>
            <a:endParaRPr sz="100" dirty="0">
              <a:latin typeface="Arial" panose="020B0604020202020204"/>
              <a:ea typeface="Arial" panose="020B0604020202020204"/>
              <a:cs typeface="Arial" panose="020B0604020202020204"/>
            </a:endParaRPr>
          </a:p>
          <a:p>
            <a:pPr marL="12700" algn="l" rtl="0" eaLnBrk="0">
              <a:lnSpc>
                <a:spcPct val="96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应该这么写：</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7000"/>
              </a:lnSpc>
            </a:pPr>
            <a:endParaRPr sz="8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113665" algn="l" rtl="0" eaLnBrk="0">
              <a:lnSpc>
                <a:spcPct val="96000"/>
              </a:lnSpc>
            </a:pPr>
            <a:endParaRPr sz="800" dirty="0">
              <a:latin typeface="宋体" panose="02010600030101010101" pitchFamily="2" charset="-122"/>
              <a:ea typeface="宋体" panose="02010600030101010101" pitchFamily="2" charset="-122"/>
              <a:cs typeface="宋体" panose="02010600030101010101" pitchFamily="2" charset="-122"/>
            </a:endParaRPr>
          </a:p>
        </p:txBody>
      </p:sp>
      <p:sp>
        <p:nvSpPr>
          <p:cNvPr id="454" name="textbox 454"/>
          <p:cNvSpPr/>
          <p:nvPr/>
        </p:nvSpPr>
        <p:spPr>
          <a:xfrm>
            <a:off x="1403350" y="499745"/>
            <a:ext cx="4404995" cy="982345"/>
          </a:xfrm>
          <a:prstGeom prst="rect">
            <a:avLst/>
          </a:prstGeom>
          <a:noFill/>
          <a:ln w="0" cap="flat">
            <a:noFill/>
            <a:prstDash val="solid"/>
            <a:miter lim="0"/>
          </a:ln>
        </p:spPr>
        <p:txBody>
          <a:bodyPr vert="horz" wrap="square" lIns="0" tIns="0" rIns="0" bIns="0"/>
          <a:lstStyle/>
          <a:p>
            <a:pPr algn="l" rtl="0" eaLnBrk="0">
              <a:lnSpc>
                <a:spcPct val="92000"/>
              </a:lnSpc>
            </a:pPr>
            <a:r>
              <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C++基础——引 用</a:t>
            </a:r>
            <a:endPar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algn="l" rtl="0" eaLnBrk="0">
              <a:lnSpc>
                <a:spcPct val="113000"/>
              </a:lnSpc>
            </a:pPr>
            <a:endParaRPr sz="400" dirty="0">
              <a:latin typeface="Arial" panose="020B0604020202020204"/>
              <a:ea typeface="Arial" panose="020B0604020202020204"/>
              <a:cs typeface="Arial" panose="020B0604020202020204"/>
            </a:endParaRPr>
          </a:p>
          <a:p>
            <a:pPr marL="12700" algn="l" rtl="0" eaLnBrk="0">
              <a:lnSpc>
                <a:spcPct val="92000"/>
              </a:lnSpc>
              <a:spcBef>
                <a:spcPts val="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看看下面的函数，有什么问题?</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456" name="picture 456"/>
          <p:cNvPicPr>
            <a:picLocks noChangeAspect="1"/>
          </p:cNvPicPr>
          <p:nvPr/>
        </p:nvPicPr>
        <p:blipFill>
          <a:blip r:embed="rId3"/>
          <a:stretch>
            <a:fillRect/>
          </a:stretch>
        </p:blipFill>
        <p:spPr>
          <a:xfrm rot="21600000">
            <a:off x="546079" y="273016"/>
            <a:ext cx="711281" cy="679491"/>
          </a:xfrm>
          <a:prstGeom prst="rect">
            <a:avLst/>
          </a:prstGeom>
        </p:spPr>
      </p:pic>
      <p:pic>
        <p:nvPicPr>
          <p:cNvPr id="458" name="picture 458"/>
          <p:cNvPicPr>
            <a:picLocks noChangeAspect="1"/>
          </p:cNvPicPr>
          <p:nvPr/>
        </p:nvPicPr>
        <p:blipFill>
          <a:blip r:embed="rId4"/>
          <a:stretch>
            <a:fillRect/>
          </a:stretch>
        </p:blipFill>
        <p:spPr>
          <a:xfrm rot="21600000">
            <a:off x="196900" y="6623044"/>
            <a:ext cx="11785519" cy="12687"/>
          </a:xfrm>
          <a:prstGeom prst="rect">
            <a:avLst/>
          </a:prstGeom>
        </p:spPr>
      </p:pic>
      <p:sp>
        <p:nvSpPr>
          <p:cNvPr id="3" name="文本框 2"/>
          <p:cNvSpPr txBox="1"/>
          <p:nvPr/>
        </p:nvSpPr>
        <p:spPr>
          <a:xfrm>
            <a:off x="1282700" y="5529897"/>
            <a:ext cx="5080000" cy="1014730"/>
          </a:xfrm>
          <a:prstGeom prst="rect">
            <a:avLst/>
          </a:prstGeom>
        </p:spPr>
        <p:txBody>
          <a:bodyPr>
            <a:spAutoFit/>
          </a:bodyPr>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void sum(int a, int b, int *result){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*result = a + b;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 name="picture 460"/>
          <p:cNvPicPr>
            <a:picLocks noChangeAspect="1"/>
          </p:cNvPicPr>
          <p:nvPr/>
        </p:nvPicPr>
        <p:blipFill>
          <a:blip r:embed="rId1"/>
          <a:stretch>
            <a:fillRect/>
          </a:stretch>
        </p:blipFill>
        <p:spPr>
          <a:xfrm rot="21600000">
            <a:off x="0" y="0"/>
            <a:ext cx="12192000" cy="6858000"/>
          </a:xfrm>
          <a:prstGeom prst="rect">
            <a:avLst/>
          </a:prstGeom>
        </p:spPr>
      </p:pic>
      <p:grpSp>
        <p:nvGrpSpPr>
          <p:cNvPr id="22" name="group 22"/>
          <p:cNvGrpSpPr/>
          <p:nvPr/>
        </p:nvGrpSpPr>
        <p:grpSpPr>
          <a:xfrm rot="21600000">
            <a:off x="1200150" y="2520950"/>
            <a:ext cx="9175750" cy="4017010"/>
            <a:chOff x="0" y="0"/>
            <a:chExt cx="9175699" cy="3898909"/>
          </a:xfrm>
        </p:grpSpPr>
        <p:pic>
          <p:nvPicPr>
            <p:cNvPr id="462" name="picture 462"/>
            <p:cNvPicPr>
              <a:picLocks noChangeAspect="1"/>
            </p:cNvPicPr>
            <p:nvPr/>
          </p:nvPicPr>
          <p:blipFill>
            <a:blip r:embed="rId2"/>
            <a:stretch>
              <a:fillRect/>
            </a:stretch>
          </p:blipFill>
          <p:spPr>
            <a:xfrm rot="21600000">
              <a:off x="0" y="0"/>
              <a:ext cx="9175699" cy="3898909"/>
            </a:xfrm>
            <a:prstGeom prst="rect">
              <a:avLst/>
            </a:prstGeom>
          </p:spPr>
        </p:pic>
        <p:sp>
          <p:nvSpPr>
            <p:cNvPr id="466" name="textbox 466"/>
            <p:cNvSpPr/>
            <p:nvPr/>
          </p:nvSpPr>
          <p:spPr>
            <a:xfrm>
              <a:off x="1981111" y="2887136"/>
              <a:ext cx="479425" cy="292100"/>
            </a:xfrm>
            <a:prstGeom prst="rect">
              <a:avLst/>
            </a:prstGeom>
            <a:noFill/>
            <a:ln w="0" cap="flat">
              <a:noFill/>
              <a:prstDash val="solid"/>
              <a:miter lim="0"/>
            </a:ln>
          </p:spPr>
          <p:txBody>
            <a:bodyPr vert="horz" wrap="square" lIns="0" tIns="0" rIns="0" bIns="0"/>
            <a:lstStyle/>
            <a:p>
              <a:pPr algn="l" rtl="0" eaLnBrk="0">
                <a:lnSpc>
                  <a:spcPct val="77000"/>
                </a:lnSpc>
              </a:pPr>
              <a:endParaRPr sz="2700" dirty="0">
                <a:latin typeface="Arial" panose="020B0604020202020204"/>
                <a:ea typeface="Arial" panose="020B0604020202020204"/>
                <a:cs typeface="Arial" panose="020B0604020202020204"/>
              </a:endParaRPr>
            </a:p>
          </p:txBody>
        </p:sp>
        <p:sp>
          <p:nvSpPr>
            <p:cNvPr id="474" name="textbox 474"/>
            <p:cNvSpPr/>
            <p:nvPr/>
          </p:nvSpPr>
          <p:spPr>
            <a:xfrm>
              <a:off x="1308059" y="2821299"/>
              <a:ext cx="201929" cy="358140"/>
            </a:xfrm>
            <a:prstGeom prst="rect">
              <a:avLst/>
            </a:prstGeom>
            <a:noFill/>
            <a:ln w="0" cap="flat">
              <a:noFill/>
              <a:prstDash val="solid"/>
              <a:miter lim="0"/>
            </a:ln>
          </p:spPr>
          <p:txBody>
            <a:bodyPr vert="horz" wrap="square" lIns="0" tIns="0" rIns="0" bIns="0"/>
            <a:lstStyle/>
            <a:p>
              <a:pPr algn="l" rtl="0" eaLnBrk="0">
                <a:lnSpc>
                  <a:spcPct val="77000"/>
                </a:lnSpc>
              </a:pPr>
              <a:endParaRPr sz="2700" dirty="0">
                <a:latin typeface="Arial" panose="020B0604020202020204"/>
                <a:ea typeface="Arial" panose="020B0604020202020204"/>
                <a:cs typeface="Arial" panose="020B0604020202020204"/>
              </a:endParaRPr>
            </a:p>
          </p:txBody>
        </p:sp>
      </p:grpSp>
      <p:sp>
        <p:nvSpPr>
          <p:cNvPr id="482" name="textbox 482"/>
          <p:cNvSpPr/>
          <p:nvPr/>
        </p:nvSpPr>
        <p:spPr>
          <a:xfrm>
            <a:off x="1384300" y="102870"/>
            <a:ext cx="8984615" cy="1596390"/>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l" rtl="0" eaLnBrk="0">
              <a:lnSpc>
                <a:spcPct val="120000"/>
              </a:lnSpc>
            </a:pP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endParaRPr>
          </a:p>
          <a:p>
            <a:pPr algn="l" rtl="0" eaLnBrk="0">
              <a:lnSpc>
                <a:spcPct val="120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C++基础——引 用</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20000"/>
              </a:lnSpc>
            </a:pPr>
            <a:endParaRPr sz="1000" dirty="0">
              <a:latin typeface="Arial" panose="020B0604020202020204"/>
              <a:ea typeface="Arial" panose="020B0604020202020204"/>
              <a:cs typeface="Arial" panose="020B0604020202020204"/>
            </a:endParaRPr>
          </a:p>
          <a:p>
            <a:pPr algn="l" rtl="0" eaLnBrk="0">
              <a:lnSpc>
                <a:spcPct val="121000"/>
              </a:lnSpc>
            </a:pPr>
            <a:endParaRPr sz="1000" dirty="0">
              <a:latin typeface="Arial" panose="020B0604020202020204"/>
              <a:ea typeface="Arial" panose="020B0604020202020204"/>
              <a:cs typeface="Arial" panose="020B0604020202020204"/>
            </a:endParaRPr>
          </a:p>
          <a:p>
            <a:pPr marL="15875" algn="l" rtl="0" eaLnBrk="0">
              <a:lnSpc>
                <a:spcPct val="91000"/>
              </a:lnSpc>
              <a:spcBef>
                <a:spcPts val="55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引 用 (Reference)   是对象的别名。</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5875" algn="l" rtl="0" eaLnBrk="0">
              <a:lnSpc>
                <a:spcPct val="91000"/>
              </a:lnSpc>
              <a:spcBef>
                <a:spcPts val="55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引用不是另一个变量，更不是一个对象。没有引用的数组，也没有引用的指针， 也没有引用的引用。引用必须在声明时进行初始化</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486" name="picture 486"/>
          <p:cNvPicPr>
            <a:picLocks noChangeAspect="1"/>
          </p:cNvPicPr>
          <p:nvPr/>
        </p:nvPicPr>
        <p:blipFill>
          <a:blip r:embed="rId3"/>
          <a:stretch>
            <a:fillRect/>
          </a:stretch>
        </p:blipFill>
        <p:spPr>
          <a:xfrm rot="21600000">
            <a:off x="539739" y="273016"/>
            <a:ext cx="711159" cy="685800"/>
          </a:xfrm>
          <a:prstGeom prst="rect">
            <a:avLst/>
          </a:prstGeom>
        </p:spPr>
      </p:pic>
      <p:sp>
        <p:nvSpPr>
          <p:cNvPr id="3" name="文本框 2"/>
          <p:cNvSpPr txBox="1"/>
          <p:nvPr/>
        </p:nvSpPr>
        <p:spPr>
          <a:xfrm>
            <a:off x="1311910" y="2648902"/>
            <a:ext cx="5080000" cy="706755"/>
          </a:xfrm>
          <a:prstGeom prst="rect">
            <a:avLst/>
          </a:prstGeom>
        </p:spPr>
        <p:txBody>
          <a:bodyPr>
            <a:spAutoFit/>
          </a:bodyPr>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result = 0;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int&amp; ref = result;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4" name="文本框 3"/>
          <p:cNvSpPr txBox="1"/>
          <p:nvPr/>
        </p:nvSpPr>
        <p:spPr>
          <a:xfrm>
            <a:off x="1311910" y="3676333"/>
            <a:ext cx="5080000" cy="2861310"/>
          </a:xfrm>
          <a:prstGeom prst="rect">
            <a:avLst/>
          </a:prstGeom>
        </p:spPr>
        <p:txBody>
          <a:bodyPr>
            <a:spAutoFit/>
          </a:bodyPr>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void sum(int a, int b, int&amp; result){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result = a + b;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main()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result = 0;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sum(3, 4, result);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0;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0" name="picture 490"/>
          <p:cNvPicPr>
            <a:picLocks noChangeAspect="1"/>
          </p:cNvPicPr>
          <p:nvPr/>
        </p:nvPicPr>
        <p:blipFill>
          <a:blip r:embed="rId1"/>
          <a:stretch>
            <a:fillRect/>
          </a:stretch>
        </p:blipFill>
        <p:spPr>
          <a:xfrm rot="21600000">
            <a:off x="0" y="0"/>
            <a:ext cx="12192000" cy="6858000"/>
          </a:xfrm>
          <a:prstGeom prst="rect">
            <a:avLst/>
          </a:prstGeom>
        </p:spPr>
      </p:pic>
      <p:sp>
        <p:nvSpPr>
          <p:cNvPr id="492" name="rect 492"/>
          <p:cNvSpPr/>
          <p:nvPr/>
        </p:nvSpPr>
        <p:spPr>
          <a:xfrm>
            <a:off x="1295400" y="1637665"/>
            <a:ext cx="9156700" cy="1678940"/>
          </a:xfrm>
          <a:prstGeom prst="rect">
            <a:avLst/>
          </a:prstGeom>
          <a:solidFill>
            <a:srgbClr val="F6F3ED">
              <a:alpha val="100000"/>
            </a:srgbClr>
          </a:solidFill>
          <a:ln w="0" cap="flat">
            <a:noFill/>
            <a:prstDash val="solid"/>
            <a:miter lim="0"/>
          </a:ln>
        </p:spPr>
        <p:txBody>
          <a:bodyPr rtlCol="0"/>
          <a:lstStyle/>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*p = (int*)malloc(sizeof(int));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if(p == NULL){</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printf("Failed to allocate!");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494" name="textbox 494"/>
          <p:cNvSpPr/>
          <p:nvPr/>
        </p:nvSpPr>
        <p:spPr>
          <a:xfrm>
            <a:off x="1390650" y="3476625"/>
            <a:ext cx="8863330" cy="37465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42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malloc函数分配失败的时候，会返回NULL。 因此，我们需要检测分配失败的情况</a:t>
            </a:r>
            <a:r>
              <a:rPr lang="zh-CN"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并加以处理。</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140000"/>
              </a:lnSpc>
              <a:spcBef>
                <a:spcPts val="36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然而</a:t>
            </a:r>
            <a:r>
              <a:rPr lang="zh-CN"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C++中引入了新的错误处理机制。如果你使用C++的new 语句，当内存分配失 败时，我们有新的处理方法。</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496" name="textbox 496"/>
          <p:cNvSpPr/>
          <p:nvPr/>
        </p:nvSpPr>
        <p:spPr>
          <a:xfrm>
            <a:off x="3035300" y="2310202"/>
            <a:ext cx="129539" cy="334009"/>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algn="r" rtl="0" eaLnBrk="0">
              <a:lnSpc>
                <a:spcPct val="81000"/>
              </a:lnSpc>
            </a:pPr>
            <a:endParaRPr sz="2500" dirty="0">
              <a:latin typeface="Arial" panose="020B0604020202020204"/>
              <a:ea typeface="Arial" panose="020B0604020202020204"/>
              <a:cs typeface="Arial" panose="020B0604020202020204"/>
            </a:endParaRPr>
          </a:p>
        </p:txBody>
      </p:sp>
      <p:sp>
        <p:nvSpPr>
          <p:cNvPr id="498" name="textbox 498"/>
          <p:cNvSpPr/>
          <p:nvPr/>
        </p:nvSpPr>
        <p:spPr>
          <a:xfrm>
            <a:off x="3060783" y="2133484"/>
            <a:ext cx="135889" cy="236220"/>
          </a:xfrm>
          <a:prstGeom prst="rect">
            <a:avLst/>
          </a:prstGeom>
          <a:noFill/>
          <a:ln w="0" cap="flat">
            <a:noFill/>
            <a:prstDash val="solid"/>
            <a:miter lim="0"/>
          </a:ln>
        </p:spPr>
        <p:txBody>
          <a:bodyPr vert="horz" wrap="square" lIns="0" tIns="0" rIns="0" bIns="0"/>
          <a:lstStyle/>
          <a:p>
            <a:pPr algn="l" rtl="0" eaLnBrk="0">
              <a:lnSpc>
                <a:spcPct val="90000"/>
              </a:lnSpc>
            </a:pPr>
            <a:endParaRPr sz="1700" dirty="0">
              <a:latin typeface="Arial" panose="020B0604020202020204"/>
              <a:ea typeface="Arial" panose="020B0604020202020204"/>
              <a:cs typeface="Arial" panose="020B0604020202020204"/>
            </a:endParaRPr>
          </a:p>
        </p:txBody>
      </p:sp>
      <p:sp>
        <p:nvSpPr>
          <p:cNvPr id="504" name="textbox 504"/>
          <p:cNvSpPr/>
          <p:nvPr/>
        </p:nvSpPr>
        <p:spPr>
          <a:xfrm>
            <a:off x="2591491" y="2133484"/>
            <a:ext cx="173354" cy="236220"/>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algn="r" rtl="0" eaLnBrk="0">
              <a:lnSpc>
                <a:spcPct val="81000"/>
              </a:lnSpc>
            </a:pPr>
            <a:endParaRPr sz="1700" dirty="0">
              <a:latin typeface="Arial" panose="020B0604020202020204"/>
              <a:ea typeface="Arial" panose="020B0604020202020204"/>
              <a:cs typeface="Arial" panose="020B0604020202020204"/>
            </a:endParaRPr>
          </a:p>
        </p:txBody>
      </p:sp>
      <p:sp>
        <p:nvSpPr>
          <p:cNvPr id="508" name="textbox 508"/>
          <p:cNvSpPr/>
          <p:nvPr/>
        </p:nvSpPr>
        <p:spPr>
          <a:xfrm>
            <a:off x="2148108" y="2180938"/>
            <a:ext cx="279400" cy="194310"/>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61000"/>
              </a:lnSpc>
            </a:pPr>
            <a:endParaRPr sz="1800" dirty="0">
              <a:latin typeface="Arial" panose="020B0604020202020204"/>
              <a:ea typeface="Arial" panose="020B0604020202020204"/>
              <a:cs typeface="Arial" panose="020B0604020202020204"/>
            </a:endParaRPr>
          </a:p>
        </p:txBody>
      </p:sp>
      <p:sp>
        <p:nvSpPr>
          <p:cNvPr id="510" name="textbox 510"/>
          <p:cNvSpPr/>
          <p:nvPr/>
        </p:nvSpPr>
        <p:spPr>
          <a:xfrm>
            <a:off x="1390650" y="403225"/>
            <a:ext cx="5024120" cy="991235"/>
          </a:xfrm>
          <a:prstGeom prst="rect">
            <a:avLst/>
          </a:prstGeom>
          <a:noFill/>
          <a:ln w="0" cap="flat">
            <a:noFill/>
            <a:prstDash val="solid"/>
            <a:miter lim="0"/>
          </a:ln>
        </p:spPr>
        <p:txBody>
          <a:bodyPr vert="horz" wrap="square" lIns="0" tIns="0" rIns="0" bIns="0"/>
          <a:lstStyle/>
          <a:p>
            <a:pPr algn="l" rtl="0" eaLnBrk="0">
              <a:lnSpc>
                <a:spcPct val="76000"/>
              </a:lnSpc>
            </a:pPr>
            <a:endParaRPr sz="100" dirty="0">
              <a:latin typeface="Arial" panose="020B0604020202020204"/>
              <a:ea typeface="Arial" panose="020B0604020202020204"/>
              <a:cs typeface="Arial" panose="020B0604020202020204"/>
            </a:endParaRPr>
          </a:p>
          <a:p>
            <a:pPr marL="15875" algn="l" rtl="0" eaLnBrk="0">
              <a:lnSpc>
                <a:spcPct val="85000"/>
              </a:lnSpc>
            </a:pPr>
            <a:r>
              <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C++——基础异常</a:t>
            </a:r>
            <a:endPar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ts val="5775"/>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同学们可能很熟悉下面的写法：</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512" name="picture 512"/>
          <p:cNvPicPr>
            <a:picLocks noChangeAspect="1"/>
          </p:cNvPicPr>
          <p:nvPr/>
        </p:nvPicPr>
        <p:blipFill>
          <a:blip r:embed="rId2"/>
          <a:stretch>
            <a:fillRect/>
          </a:stretch>
        </p:blipFill>
        <p:spPr>
          <a:xfrm rot="21600000">
            <a:off x="539739" y="273016"/>
            <a:ext cx="704819" cy="685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0" name="picture 490"/>
          <p:cNvPicPr>
            <a:picLocks noChangeAspect="1"/>
          </p:cNvPicPr>
          <p:nvPr/>
        </p:nvPicPr>
        <p:blipFill>
          <a:blip r:embed="rId1"/>
          <a:stretch>
            <a:fillRect/>
          </a:stretch>
        </p:blipFill>
        <p:spPr>
          <a:xfrm rot="21600000">
            <a:off x="0" y="0"/>
            <a:ext cx="12192000" cy="6858000"/>
          </a:xfrm>
          <a:prstGeom prst="rect">
            <a:avLst/>
          </a:prstGeom>
        </p:spPr>
      </p:pic>
      <p:sp>
        <p:nvSpPr>
          <p:cNvPr id="514" name="textbox 514"/>
          <p:cNvSpPr/>
          <p:nvPr/>
        </p:nvSpPr>
        <p:spPr>
          <a:xfrm>
            <a:off x="533379" y="260316"/>
            <a:ext cx="9071609" cy="2729229"/>
          </a:xfrm>
          <a:prstGeom prst="rect">
            <a:avLst/>
          </a:prstGeom>
          <a:noFill/>
          <a:ln w="0" cap="flat">
            <a:noFill/>
            <a:prstDash val="solid"/>
            <a:miter lim="0"/>
          </a:ln>
        </p:spPr>
        <p:txBody>
          <a:bodyPr vert="horz" wrap="square" lIns="0" tIns="0" rIns="0" bIns="0"/>
          <a:lstStyle/>
          <a:p>
            <a:pPr algn="l" rtl="0" eaLnBrk="0">
              <a:lnSpc>
                <a:spcPct val="160000"/>
              </a:lnSpc>
            </a:pPr>
            <a:endParaRPr sz="1000" dirty="0">
              <a:latin typeface="Arial" panose="020B0604020202020204"/>
              <a:ea typeface="Arial" panose="020B0604020202020204"/>
              <a:cs typeface="Arial" panose="020B0604020202020204"/>
            </a:endParaRPr>
          </a:p>
          <a:p>
            <a:pPr algn="l" rtl="0" eaLnBrk="0">
              <a:lnSpc>
                <a:spcPct val="10000"/>
              </a:lnSpc>
            </a:pPr>
            <a:endParaRPr sz="100" dirty="0">
              <a:latin typeface="Arial" panose="020B0604020202020204"/>
              <a:ea typeface="Arial" panose="020B0604020202020204"/>
              <a:cs typeface="Arial" panose="020B0604020202020204"/>
            </a:endParaRPr>
          </a:p>
          <a:p>
            <a:pPr marL="716915" algn="l" rtl="0" eaLnBrk="0">
              <a:lnSpc>
                <a:spcPct val="98000"/>
              </a:lnSpc>
              <a:tabLst>
                <a:tab pos="873125" algn="l"/>
              </a:tabLst>
            </a:pPr>
            <a:r>
              <a:rPr sz="1800" kern="0" spc="0" dirty="0">
                <a:solidFill>
                  <a:srgbClr val="09306C">
                    <a:alpha val="100000"/>
                  </a:srgbClr>
                </a:solidFill>
                <a:latin typeface="黑体" panose="02010609060101010101" charset="-122"/>
                <a:ea typeface="黑体" panose="02010609060101010101" charset="-122"/>
                <a:cs typeface="黑体" panose="02010609060101010101" charset="-122"/>
              </a:rPr>
              <a:t>	</a:t>
            </a: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C++——基础异常</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716915" algn="l" rtl="0" eaLnBrk="0">
              <a:lnSpc>
                <a:spcPct val="98000"/>
              </a:lnSpc>
              <a:tabLst>
                <a:tab pos="873125" algn="l"/>
              </a:tabLst>
            </a:pPr>
            <a:endParaRPr sz="1000" dirty="0">
              <a:latin typeface="Arial" panose="020B0604020202020204"/>
              <a:ea typeface="Arial" panose="020B0604020202020204"/>
              <a:cs typeface="Arial" panose="020B0604020202020204"/>
            </a:endParaRPr>
          </a:p>
          <a:p>
            <a:pPr marL="869315" indent="3175" algn="l" rtl="0" eaLnBrk="0">
              <a:lnSpc>
                <a:spcPct val="142000"/>
              </a:lnSpc>
              <a:spcBef>
                <a:spcPts val="55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异常 (Exception)  处理机制用来处理程序运行过程中出现的错误(称为异常)。  当程序出现错误的时候，它将抛出 (Throw)  异常。异常将沿着函数的调用向外  传递，直到这个异常被捕获 (Catch) 并加以处理。</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在try块 (Try-block) 中运行可能造成异常的代码：</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1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2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4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872490" algn="l" rtl="0" eaLnBrk="0">
              <a:lnSpc>
                <a:spcPct val="97000"/>
              </a:lnSpc>
              <a:spcBef>
                <a:spcPts val="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用throw 表达式抛出异常：</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872490" algn="l" rtl="0" eaLnBrk="0">
              <a:lnSpc>
                <a:spcPct val="97000"/>
              </a:lnSpc>
              <a:spcBef>
                <a:spcPts val="5"/>
              </a:spcBef>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516" name="picture 516"/>
          <p:cNvPicPr>
            <a:picLocks noChangeAspect="1"/>
          </p:cNvPicPr>
          <p:nvPr/>
        </p:nvPicPr>
        <p:blipFill>
          <a:blip r:embed="rId2"/>
          <a:stretch>
            <a:fillRect/>
          </a:stretch>
        </p:blipFill>
        <p:spPr>
          <a:xfrm rot="21600000">
            <a:off x="546079" y="273016"/>
            <a:ext cx="704819" cy="685800"/>
          </a:xfrm>
          <a:prstGeom prst="rect">
            <a:avLst/>
          </a:prstGeom>
        </p:spPr>
      </p:pic>
      <p:sp>
        <p:nvSpPr>
          <p:cNvPr id="518" name="rect 518"/>
          <p:cNvSpPr/>
          <p:nvPr/>
        </p:nvSpPr>
        <p:spPr>
          <a:xfrm>
            <a:off x="1295400" y="5353022"/>
            <a:ext cx="9150339" cy="1270032"/>
          </a:xfrm>
          <a:prstGeom prst="rect">
            <a:avLst/>
          </a:prstGeom>
          <a:solidFill>
            <a:srgbClr val="F7F3ED">
              <a:alpha val="100000"/>
            </a:srgbClr>
          </a:solidFill>
          <a:ln w="0" cap="flat">
            <a:noFill/>
            <a:prstDash val="solid"/>
            <a:miter lim="0"/>
          </a:ln>
        </p:spPr>
        <p:txBody>
          <a:bodyPr rtlCol="0"/>
          <a:lstStyle/>
          <a:p>
            <a:pPr algn="ctr"/>
            <a:endParaRPr lang="zh-CN" altLang="en-US"/>
          </a:p>
        </p:txBody>
      </p:sp>
      <p:sp>
        <p:nvSpPr>
          <p:cNvPr id="520" name="textbox 520"/>
          <p:cNvSpPr/>
          <p:nvPr/>
        </p:nvSpPr>
        <p:spPr>
          <a:xfrm>
            <a:off x="1390650" y="4003040"/>
            <a:ext cx="6598285" cy="448310"/>
          </a:xfrm>
          <a:prstGeom prst="rect">
            <a:avLst/>
          </a:prstGeom>
          <a:noFill/>
          <a:ln w="0" cap="flat">
            <a:noFill/>
            <a:prstDash val="solid"/>
            <a:miter lim="0"/>
          </a:ln>
        </p:spPr>
        <p:txBody>
          <a:bodyPr vert="horz" wrap="square" lIns="0" tIns="0" rIns="0" bIns="0"/>
          <a:lstStyle/>
          <a:p>
            <a:pPr algn="l" rtl="0" eaLnBrk="0">
              <a:lnSpc>
                <a:spcPct val="86000"/>
              </a:lnSpc>
            </a:pPr>
            <a:endParaRPr sz="100" dirty="0">
              <a:latin typeface="Arial" panose="020B0604020202020204"/>
              <a:ea typeface="Arial" panose="020B0604020202020204"/>
              <a:cs typeface="Arial" panose="020B0604020202020204"/>
            </a:endParaRPr>
          </a:p>
          <a:p>
            <a:pPr marL="12700" algn="l" rtl="0" eaLnBrk="0">
              <a:lnSpc>
                <a:spcPct val="98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8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8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8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捕获异常并进行处理：</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24000"/>
              </a:lnSpc>
            </a:pPr>
            <a:endParaRPr sz="1000" dirty="0">
              <a:latin typeface="Arial" panose="020B0604020202020204"/>
              <a:ea typeface="Arial" panose="020B0604020202020204"/>
              <a:cs typeface="Arial" panose="020B0604020202020204"/>
            </a:endParaRPr>
          </a:p>
          <a:p>
            <a:pPr marL="114300" algn="l" rtl="0" eaLnBrk="0">
              <a:lnSpc>
                <a:spcPts val="2805"/>
              </a:lnSpc>
              <a:spcBef>
                <a:spcPts val="665"/>
              </a:spcBef>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catch</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const</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std</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 exception &amp;e){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marL="114300" algn="l" rtl="0" eaLnBrk="0">
              <a:lnSpc>
                <a:spcPts val="2805"/>
              </a:lnSpc>
              <a:spcBef>
                <a:spcPts val="665"/>
              </a:spcBef>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catch</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the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exception</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and</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do</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something</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8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grpSp>
        <p:nvGrpSpPr>
          <p:cNvPr id="24" name="group 24"/>
          <p:cNvGrpSpPr/>
          <p:nvPr/>
        </p:nvGrpSpPr>
        <p:grpSpPr>
          <a:xfrm rot="21600000">
            <a:off x="1200150" y="2785744"/>
            <a:ext cx="9245600" cy="1896746"/>
            <a:chOff x="-25400" y="-847555"/>
            <a:chExt cx="9245599" cy="1444405"/>
          </a:xfrm>
        </p:grpSpPr>
        <p:sp>
          <p:nvSpPr>
            <p:cNvPr id="522" name="rect 522"/>
            <p:cNvSpPr/>
            <p:nvPr/>
          </p:nvSpPr>
          <p:spPr>
            <a:xfrm>
              <a:off x="-25400" y="-847555"/>
              <a:ext cx="9182039" cy="571476"/>
            </a:xfrm>
            <a:prstGeom prst="rect">
              <a:avLst/>
            </a:prstGeom>
            <a:solidFill>
              <a:srgbClr val="F8F3ED">
                <a:alpha val="100000"/>
              </a:srgbClr>
            </a:solidFill>
            <a:ln w="0" cap="flat">
              <a:noFill/>
              <a:prstDash val="solid"/>
              <a:miter lim="0"/>
            </a:ln>
          </p:spPr>
          <p:txBody>
            <a:bodyPr rtlCol="0"/>
            <a:lstStyle/>
            <a:p>
              <a:pPr algn="ctr"/>
              <a:endParaRPr lang="zh-CN" altLang="en-US"/>
            </a:p>
          </p:txBody>
        </p:sp>
        <p:sp>
          <p:nvSpPr>
            <p:cNvPr id="524" name="textbox 524"/>
            <p:cNvSpPr/>
            <p:nvPr/>
          </p:nvSpPr>
          <p:spPr>
            <a:xfrm>
              <a:off x="215900" y="-773099"/>
              <a:ext cx="6783705" cy="41529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3065"/>
                </a:lnSpc>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try</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some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code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that</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may</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cause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exception</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pic>
          <p:nvPicPr>
            <p:cNvPr id="526" name="picture 526"/>
            <p:cNvPicPr>
              <a:picLocks noChangeAspect="1"/>
            </p:cNvPicPr>
            <p:nvPr/>
          </p:nvPicPr>
          <p:blipFill>
            <a:blip r:embed="rId3"/>
            <a:stretch>
              <a:fillRect/>
            </a:stretch>
          </p:blipFill>
          <p:spPr>
            <a:xfrm rot="21600000">
              <a:off x="25359" y="584163"/>
              <a:ext cx="9194840" cy="12687"/>
            </a:xfrm>
            <a:prstGeom prst="rect">
              <a:avLst/>
            </a:prstGeom>
          </p:spPr>
        </p:pic>
      </p:grpSp>
      <p:pic>
        <p:nvPicPr>
          <p:cNvPr id="528" name="picture 528"/>
          <p:cNvPicPr>
            <a:picLocks noChangeAspect="1"/>
          </p:cNvPicPr>
          <p:nvPr/>
        </p:nvPicPr>
        <p:blipFill>
          <a:blip r:embed="rId4"/>
          <a:stretch>
            <a:fillRect/>
          </a:stretch>
        </p:blipFill>
        <p:spPr>
          <a:xfrm rot="21600000">
            <a:off x="190560" y="6623044"/>
            <a:ext cx="11779180" cy="12687"/>
          </a:xfrm>
          <a:prstGeom prst="rect">
            <a:avLst/>
          </a:prstGeom>
        </p:spPr>
      </p:pic>
      <p:sp>
        <p:nvSpPr>
          <p:cNvPr id="536" name="textbox 536"/>
          <p:cNvSpPr/>
          <p:nvPr/>
        </p:nvSpPr>
        <p:spPr>
          <a:xfrm>
            <a:off x="1295400" y="4222765"/>
            <a:ext cx="9156700" cy="654050"/>
          </a:xfrm>
          <a:prstGeom prst="rect">
            <a:avLst/>
          </a:prstGeom>
          <a:solidFill>
            <a:srgbClr val="F8F3ED">
              <a:alpha val="100000"/>
            </a:srgbClr>
          </a:solidFill>
          <a:ln w="0" cap="flat">
            <a:noFill/>
            <a:prstDash val="solid"/>
            <a:miter lim="0"/>
          </a:ln>
        </p:spPr>
        <p:txBody>
          <a:bodyPr vert="horz" wrap="square" lIns="0" tIns="0" rIns="0" bIns="0"/>
          <a:p>
            <a:pPr algn="l" rtl="0" eaLnBrk="0">
              <a:lnSpc>
                <a:spcPct val="113000"/>
              </a:lnSpc>
            </a:pPr>
            <a:endParaRPr sz="1000" dirty="0">
              <a:latin typeface="Arial" panose="020B0604020202020204"/>
              <a:ea typeface="Arial" panose="020B0604020202020204"/>
              <a:cs typeface="Arial" panose="020B0604020202020204"/>
            </a:endParaRPr>
          </a:p>
          <a:p>
            <a:pPr marL="209550" algn="l" rtl="0" eaLnBrk="0">
              <a:lnSpc>
                <a:spcPts val="2520"/>
              </a:lnSpc>
              <a:spcBef>
                <a:spcPts val="5"/>
              </a:spcBef>
            </a:pP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throw</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some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_</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exception</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6" name="picture 546"/>
          <p:cNvPicPr>
            <a:picLocks noChangeAspect="1"/>
          </p:cNvPicPr>
          <p:nvPr/>
        </p:nvPicPr>
        <p:blipFill>
          <a:blip r:embed="rId1"/>
          <a:stretch>
            <a:fillRect/>
          </a:stretch>
        </p:blipFill>
        <p:spPr>
          <a:xfrm rot="21600000">
            <a:off x="0" y="0"/>
            <a:ext cx="12192000" cy="6858000"/>
          </a:xfrm>
          <a:prstGeom prst="rect">
            <a:avLst/>
          </a:prstGeom>
        </p:spPr>
      </p:pic>
      <p:grpSp>
        <p:nvGrpSpPr>
          <p:cNvPr id="26" name="group 26"/>
          <p:cNvGrpSpPr/>
          <p:nvPr/>
        </p:nvGrpSpPr>
        <p:grpSpPr>
          <a:xfrm rot="21600000">
            <a:off x="1271905" y="1195700"/>
            <a:ext cx="9239250" cy="3205480"/>
            <a:chOff x="0" y="0"/>
            <a:chExt cx="9239250" cy="3205480"/>
          </a:xfrm>
        </p:grpSpPr>
        <p:sp>
          <p:nvSpPr>
            <p:cNvPr id="548" name="textbox 548"/>
            <p:cNvSpPr/>
            <p:nvPr/>
          </p:nvSpPr>
          <p:spPr>
            <a:xfrm>
              <a:off x="0" y="0"/>
              <a:ext cx="9239250" cy="3205480"/>
            </a:xfrm>
            <a:prstGeom prst="rect">
              <a:avLst/>
            </a:prstGeom>
            <a:solidFill>
              <a:srgbClr val="F6F3ED">
                <a:alpha val="100000"/>
              </a:srgbClr>
            </a:solidFill>
            <a:ln w="0" cap="flat">
              <a:noFill/>
              <a:prstDash val="solid"/>
              <a:miter lim="0"/>
            </a:ln>
          </p:spPr>
          <p:txBody>
            <a:bodyPr vert="horz" wrap="square" lIns="0" tIns="0" rIns="0" bIns="0"/>
            <a:lstStyle/>
            <a:p>
              <a:pPr algn="l" rtl="0" eaLnBrk="0">
                <a:lnSpc>
                  <a:spcPct val="12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try{</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2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while (true){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2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new int[1000000000ul];</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2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"Successfully allocated!" &lt;&lt; "\n";}</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2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2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catch (const std::bad_alloc &amp;e){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2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"Allocation failed: " &lt;&lt; e.what() &lt;&lt; '\n';</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25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554" name="textbox 554"/>
            <p:cNvSpPr/>
            <p:nvPr/>
          </p:nvSpPr>
          <p:spPr>
            <a:xfrm>
              <a:off x="1289039" y="918219"/>
              <a:ext cx="6708140" cy="458469"/>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3405"/>
                </a:lnSpc>
              </a:pPr>
              <a:endParaRPr sz="2500" dirty="0">
                <a:latin typeface="Arial" panose="020B0604020202020204"/>
                <a:ea typeface="Arial" panose="020B0604020202020204"/>
                <a:cs typeface="Arial" panose="020B0604020202020204"/>
              </a:endParaRPr>
            </a:p>
          </p:txBody>
        </p:sp>
      </p:grpSp>
      <p:sp>
        <p:nvSpPr>
          <p:cNvPr id="560" name="textbox 560"/>
          <p:cNvSpPr/>
          <p:nvPr/>
        </p:nvSpPr>
        <p:spPr>
          <a:xfrm>
            <a:off x="527039" y="260316"/>
            <a:ext cx="3994784" cy="741680"/>
          </a:xfrm>
          <a:prstGeom prst="rect">
            <a:avLst/>
          </a:prstGeom>
          <a:noFill/>
          <a:ln w="0" cap="flat">
            <a:noFill/>
            <a:prstDash val="solid"/>
            <a:miter lim="0"/>
          </a:ln>
        </p:spPr>
        <p:txBody>
          <a:bodyPr vert="horz" wrap="square" lIns="0" tIns="0" rIns="0" bIns="0"/>
          <a:lstStyle/>
          <a:p>
            <a:pPr algn="l" rtl="0" eaLnBrk="0">
              <a:lnSpc>
                <a:spcPct val="157000"/>
              </a:lnSpc>
            </a:pPr>
            <a:endParaRPr sz="1000" dirty="0">
              <a:latin typeface="Arial" panose="020B0604020202020204"/>
              <a:ea typeface="Arial" panose="020B0604020202020204"/>
              <a:cs typeface="Arial" panose="020B0604020202020204"/>
            </a:endParaRPr>
          </a:p>
          <a:p>
            <a:pPr marL="723265" algn="l" rtl="0" eaLnBrk="0">
              <a:lnSpc>
                <a:spcPct val="100000"/>
              </a:lnSpc>
              <a:spcBef>
                <a:spcPts val="5"/>
              </a:spcBef>
              <a:tabLst>
                <a:tab pos="892175" algn="l"/>
              </a:tabLst>
            </a:pPr>
            <a:r>
              <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		C++——基础异常</a:t>
            </a:r>
            <a:endPar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723265" algn="l" rtl="0" eaLnBrk="0">
              <a:lnSpc>
                <a:spcPct val="100000"/>
              </a:lnSpc>
              <a:spcBef>
                <a:spcPts val="5"/>
              </a:spcBef>
              <a:tabLst>
                <a:tab pos="892175" algn="l"/>
              </a:tabLst>
            </a:pPr>
            <a:endParaRPr lang="zh-CN" altLang="en-US" sz="1800" dirty="0">
              <a:latin typeface="黑体" panose="02010609060101010101" charset="-122"/>
              <a:ea typeface="黑体" panose="02010609060101010101" charset="-122"/>
              <a:cs typeface="黑体" panose="02010609060101010101" charset="-122"/>
            </a:endParaRPr>
          </a:p>
        </p:txBody>
      </p:sp>
      <p:pic>
        <p:nvPicPr>
          <p:cNvPr id="562" name="picture 562"/>
          <p:cNvPicPr>
            <a:picLocks noChangeAspect="1"/>
          </p:cNvPicPr>
          <p:nvPr/>
        </p:nvPicPr>
        <p:blipFill>
          <a:blip r:embed="rId2"/>
          <a:stretch>
            <a:fillRect/>
          </a:stretch>
        </p:blipFill>
        <p:spPr>
          <a:xfrm rot="21600000">
            <a:off x="539739" y="273016"/>
            <a:ext cx="711159" cy="685800"/>
          </a:xfrm>
          <a:prstGeom prst="rect">
            <a:avLst/>
          </a:prstGeom>
        </p:spPr>
      </p:pic>
      <p:sp>
        <p:nvSpPr>
          <p:cNvPr id="578" name="textbox 578"/>
          <p:cNvSpPr/>
          <p:nvPr/>
        </p:nvSpPr>
        <p:spPr>
          <a:xfrm>
            <a:off x="1295379" y="5031206"/>
            <a:ext cx="2251710" cy="29400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110"/>
              </a:lnSpc>
            </a:pPr>
            <a:r>
              <a:rPr sz="1500" kern="0" spc="20" dirty="0">
                <a:solidFill>
                  <a:srgbClr val="FFFFFF">
                    <a:alpha val="100000"/>
                  </a:srgbClr>
                </a:solidFill>
                <a:latin typeface="Arial" panose="020B0604020202020204"/>
                <a:ea typeface="Arial" panose="020B0604020202020204"/>
                <a:cs typeface="Arial" panose="020B0604020202020204"/>
              </a:rPr>
              <a:t>Sucssfu</a:t>
            </a:r>
            <a:r>
              <a:rPr sz="1500" kern="0" spc="10" dirty="0">
                <a:solidFill>
                  <a:srgbClr val="FFFFFF">
                    <a:alpha val="100000"/>
                  </a:srgbClr>
                </a:solidFill>
                <a:latin typeface="Arial" panose="020B0604020202020204"/>
                <a:ea typeface="Arial" panose="020B0604020202020204"/>
                <a:cs typeface="Arial" panose="020B0604020202020204"/>
              </a:rPr>
              <a:t>lly</a:t>
            </a:r>
            <a:r>
              <a:rPr sz="1500" kern="0" spc="60" dirty="0">
                <a:solidFill>
                  <a:srgbClr val="FFFFFF">
                    <a:alpha val="100000"/>
                  </a:srgbClr>
                </a:solidFill>
                <a:latin typeface="Arial" panose="020B0604020202020204"/>
                <a:ea typeface="Arial" panose="020B0604020202020204"/>
                <a:cs typeface="Arial" panose="020B0604020202020204"/>
              </a:rPr>
              <a:t>     </a:t>
            </a:r>
            <a:r>
              <a:rPr sz="1500" kern="0" spc="10" dirty="0">
                <a:solidFill>
                  <a:srgbClr val="FFFFFF">
                    <a:alpha val="100000"/>
                  </a:srgbClr>
                </a:solidFill>
                <a:latin typeface="Arial" panose="020B0604020202020204"/>
                <a:ea typeface="Arial" panose="020B0604020202020204"/>
                <a:cs typeface="Arial" panose="020B0604020202020204"/>
              </a:rPr>
              <a:t>allocated!</a:t>
            </a:r>
            <a:endParaRPr sz="1500" dirty="0">
              <a:latin typeface="Arial" panose="020B0604020202020204"/>
              <a:ea typeface="Arial" panose="020B0604020202020204"/>
              <a:cs typeface="Arial" panose="020B0604020202020204"/>
            </a:endParaRPr>
          </a:p>
        </p:txBody>
      </p:sp>
      <p:sp>
        <p:nvSpPr>
          <p:cNvPr id="582" name="textbox 582"/>
          <p:cNvSpPr/>
          <p:nvPr/>
        </p:nvSpPr>
        <p:spPr>
          <a:xfrm>
            <a:off x="1295379" y="5215343"/>
            <a:ext cx="2251710" cy="294004"/>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ts val="2110"/>
              </a:lnSpc>
            </a:pPr>
            <a:r>
              <a:rPr sz="1500" kern="0" spc="10" dirty="0">
                <a:solidFill>
                  <a:srgbClr val="FFFFFF">
                    <a:alpha val="100000"/>
                  </a:srgbClr>
                </a:solidFill>
                <a:latin typeface="Arial" panose="020B0604020202020204"/>
                <a:ea typeface="Arial" panose="020B0604020202020204"/>
                <a:cs typeface="Arial" panose="020B0604020202020204"/>
              </a:rPr>
              <a:t>allocated!</a:t>
            </a:r>
            <a:endParaRPr sz="1500" dirty="0">
              <a:latin typeface="Arial" panose="020B0604020202020204"/>
              <a:ea typeface="Arial" panose="020B0604020202020204"/>
              <a:cs typeface="Arial" panose="020B0604020202020204"/>
            </a:endParaRPr>
          </a:p>
        </p:txBody>
      </p:sp>
      <p:pic>
        <p:nvPicPr>
          <p:cNvPr id="2" name="图片 1"/>
          <p:cNvPicPr>
            <a:picLocks noChangeAspect="1"/>
          </p:cNvPicPr>
          <p:nvPr/>
        </p:nvPicPr>
        <p:blipFill>
          <a:blip r:embed="rId3"/>
          <a:stretch>
            <a:fillRect/>
          </a:stretch>
        </p:blipFill>
        <p:spPr>
          <a:xfrm>
            <a:off x="1250950" y="4595495"/>
            <a:ext cx="5304155" cy="164528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8" name="picture 618"/>
          <p:cNvPicPr>
            <a:picLocks noChangeAspect="1"/>
          </p:cNvPicPr>
          <p:nvPr/>
        </p:nvPicPr>
        <p:blipFill>
          <a:blip r:embed="rId1"/>
          <a:stretch>
            <a:fillRect/>
          </a:stretch>
        </p:blipFill>
        <p:spPr>
          <a:xfrm rot="21600000">
            <a:off x="0" y="0"/>
            <a:ext cx="12192000" cy="6858000"/>
          </a:xfrm>
          <a:prstGeom prst="rect">
            <a:avLst/>
          </a:prstGeom>
        </p:spPr>
      </p:pic>
      <p:sp>
        <p:nvSpPr>
          <p:cNvPr id="620" name="textbox 620"/>
          <p:cNvSpPr/>
          <p:nvPr/>
        </p:nvSpPr>
        <p:spPr>
          <a:xfrm>
            <a:off x="1409700" y="1845310"/>
            <a:ext cx="9175750" cy="2286000"/>
          </a:xfrm>
          <a:prstGeom prst="rect">
            <a:avLst/>
          </a:prstGeom>
          <a:solidFill>
            <a:srgbClr val="F7F3ED">
              <a:alpha val="100000"/>
            </a:srgbClr>
          </a:solidFill>
          <a:ln w="0" cap="flat">
            <a:noFill/>
            <a:prstDash val="solid"/>
            <a:miter lim="0"/>
          </a:ln>
        </p:spPr>
        <p:txBody>
          <a:bodyPr vert="horz" wrap="square" lIns="0" tIns="0" rIns="0" bIns="0"/>
          <a:lstStyle/>
          <a:p>
            <a:pPr algn="l" rtl="0" eaLnBrk="0">
              <a:lnSpc>
                <a:spcPct val="11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void function()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throw std::runtime_error("Uncaught exception!");</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main()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function();</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0;</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1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638" name="textbox 638"/>
          <p:cNvSpPr/>
          <p:nvPr/>
        </p:nvSpPr>
        <p:spPr>
          <a:xfrm>
            <a:off x="1409700" y="1261745"/>
            <a:ext cx="7947025" cy="24955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2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当抛出的异常没有被捕获时，程序会调用std::terminate()停止运行。</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646" name="textbox 646"/>
          <p:cNvSpPr/>
          <p:nvPr/>
        </p:nvSpPr>
        <p:spPr>
          <a:xfrm>
            <a:off x="1406306" y="511831"/>
            <a:ext cx="3080385" cy="258445"/>
          </a:xfrm>
          <a:prstGeom prst="rect">
            <a:avLst/>
          </a:prstGeom>
          <a:noFill/>
          <a:ln w="0" cap="flat">
            <a:noFill/>
            <a:prstDash val="solid"/>
            <a:miter lim="0"/>
          </a:ln>
        </p:spPr>
        <p:txBody>
          <a:bodyPr vert="horz" wrap="square" lIns="0" tIns="0" rIns="0" bIns="0"/>
          <a:lstStyle/>
          <a:p>
            <a:pPr algn="l" rtl="0" eaLnBrk="0">
              <a:lnSpc>
                <a:spcPct val="91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C++——基础异常</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endParaRPr>
          </a:p>
        </p:txBody>
      </p:sp>
      <p:pic>
        <p:nvPicPr>
          <p:cNvPr id="648" name="picture 648"/>
          <p:cNvPicPr>
            <a:picLocks noChangeAspect="1"/>
          </p:cNvPicPr>
          <p:nvPr/>
        </p:nvPicPr>
        <p:blipFill>
          <a:blip r:embed="rId2"/>
          <a:stretch>
            <a:fillRect/>
          </a:stretch>
        </p:blipFill>
        <p:spPr>
          <a:xfrm rot="21600000">
            <a:off x="539739" y="273016"/>
            <a:ext cx="711159" cy="685800"/>
          </a:xfrm>
          <a:prstGeom prst="rect">
            <a:avLst/>
          </a:prstGeom>
        </p:spPr>
      </p:pic>
      <p:pic>
        <p:nvPicPr>
          <p:cNvPr id="2" name="图片 1"/>
          <p:cNvPicPr>
            <a:picLocks noChangeAspect="1"/>
          </p:cNvPicPr>
          <p:nvPr/>
        </p:nvPicPr>
        <p:blipFill>
          <a:blip r:embed="rId3"/>
          <a:stretch>
            <a:fillRect/>
          </a:stretch>
        </p:blipFill>
        <p:spPr>
          <a:xfrm>
            <a:off x="1250950" y="4465320"/>
            <a:ext cx="9221470" cy="1168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4" name="picture 654"/>
          <p:cNvPicPr>
            <a:picLocks noChangeAspect="1"/>
          </p:cNvPicPr>
          <p:nvPr/>
        </p:nvPicPr>
        <p:blipFill>
          <a:blip r:embed="rId1"/>
          <a:stretch>
            <a:fillRect/>
          </a:stretch>
        </p:blipFill>
        <p:spPr>
          <a:xfrm rot="21600000">
            <a:off x="0" y="0"/>
            <a:ext cx="12192000" cy="6858000"/>
          </a:xfrm>
          <a:prstGeom prst="rect">
            <a:avLst/>
          </a:prstGeom>
        </p:spPr>
      </p:pic>
      <p:sp>
        <p:nvSpPr>
          <p:cNvPr id="656" name="textbox 656"/>
          <p:cNvSpPr/>
          <p:nvPr/>
        </p:nvSpPr>
        <p:spPr>
          <a:xfrm>
            <a:off x="1282700" y="1778000"/>
            <a:ext cx="9169400" cy="2280285"/>
          </a:xfrm>
          <a:prstGeom prst="rect">
            <a:avLst/>
          </a:prstGeom>
          <a:solidFill>
            <a:srgbClr val="F6F3EE">
              <a:alpha val="100000"/>
            </a:srgbClr>
          </a:solidFill>
          <a:ln w="0" cap="flat">
            <a:noFill/>
            <a:prstDash val="solid"/>
            <a:miter lim="0"/>
          </a:ln>
        </p:spPr>
        <p:txBody>
          <a:bodyPr vert="horz" wrap="square" lIns="0" tIns="0" rIns="0" bIns="0"/>
          <a:lstStyle/>
          <a:p>
            <a:pPr algn="l" rtl="0" eaLnBrk="0">
              <a:lnSpc>
                <a:spcPct val="10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*p = new int(1);</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may_throw();</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if (something_bad())</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delete p;</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664" name="textbox 664"/>
          <p:cNvSpPr/>
          <p:nvPr/>
        </p:nvSpPr>
        <p:spPr>
          <a:xfrm>
            <a:off x="1390599" y="4614245"/>
            <a:ext cx="8740775" cy="1094739"/>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marL="12700" algn="l" rtl="0" eaLnBrk="0">
              <a:lnSpc>
                <a:spcPct val="98000"/>
              </a:lnSpc>
              <a:spcBef>
                <a:spcPts val="0"/>
              </a:spcBef>
              <a:buClrTx/>
              <a:buSzTx/>
              <a:buFontTx/>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这个程序看起来很好。它申请了内存，然后在最后释放了内存。</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8000"/>
              </a:lnSpc>
              <a:spcBef>
                <a:spcPts val="0"/>
              </a:spcBef>
              <a:buClrTx/>
              <a:buSzTx/>
              <a:buFontTx/>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8000"/>
              </a:lnSpc>
              <a:spcBef>
                <a:spcPts val="0"/>
              </a:spcBef>
              <a:buClrTx/>
              <a:buSzTx/>
              <a:buFontTx/>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但是注意：如果may_throw()抛出了异常，或者在if 语句中提前返回，p 将不会被释放。这将造成内存泄漏 (Memory Leak)!</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666" name="textbox 666"/>
          <p:cNvSpPr/>
          <p:nvPr/>
        </p:nvSpPr>
        <p:spPr>
          <a:xfrm>
            <a:off x="1393777" y="505823"/>
            <a:ext cx="3625215" cy="100520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8000"/>
              </a:lnSpc>
            </a:pPr>
            <a:r>
              <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C++基础——内存管理</a:t>
            </a:r>
            <a:endPar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33000"/>
              </a:lnSpc>
            </a:pPr>
            <a:endParaRPr sz="1000" dirty="0">
              <a:latin typeface="Arial" panose="020B0604020202020204"/>
              <a:ea typeface="Arial" panose="020B0604020202020204"/>
              <a:cs typeface="Arial" panose="020B0604020202020204"/>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06000"/>
              </a:lnSpc>
            </a:pPr>
            <a:endParaRPr sz="400" dirty="0">
              <a:latin typeface="Arial" panose="020B0604020202020204"/>
              <a:ea typeface="Arial" panose="020B0604020202020204"/>
              <a:cs typeface="Arial" panose="020B0604020202020204"/>
            </a:endParaRPr>
          </a:p>
          <a:p>
            <a:pPr marL="12700" algn="l" rtl="0" eaLnBrk="0">
              <a:lnSpc>
                <a:spcPct val="98000"/>
              </a:lnSpc>
              <a:spcBef>
                <a:spcPts val="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来看下面的程序：</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668" name="picture 668"/>
          <p:cNvPicPr>
            <a:picLocks noChangeAspect="1"/>
          </p:cNvPicPr>
          <p:nvPr/>
        </p:nvPicPr>
        <p:blipFill>
          <a:blip r:embed="rId2"/>
          <a:stretch>
            <a:fillRect/>
          </a:stretch>
        </p:blipFill>
        <p:spPr>
          <a:xfrm rot="21600000">
            <a:off x="539739" y="273016"/>
            <a:ext cx="711159" cy="685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4" name="picture 654"/>
          <p:cNvPicPr>
            <a:picLocks noChangeAspect="1"/>
          </p:cNvPicPr>
          <p:nvPr/>
        </p:nvPicPr>
        <p:blipFill>
          <a:blip r:embed="rId1"/>
          <a:stretch>
            <a:fillRect/>
          </a:stretch>
        </p:blipFill>
        <p:spPr>
          <a:xfrm rot="21600000">
            <a:off x="0" y="0"/>
            <a:ext cx="12192000" cy="6858000"/>
          </a:xfrm>
          <a:prstGeom prst="rect">
            <a:avLst/>
          </a:prstGeom>
        </p:spPr>
      </p:pic>
      <p:sp>
        <p:nvSpPr>
          <p:cNvPr id="670" name="textbox 670"/>
          <p:cNvSpPr/>
          <p:nvPr/>
        </p:nvSpPr>
        <p:spPr>
          <a:xfrm>
            <a:off x="1397060" y="474149"/>
            <a:ext cx="8973184" cy="365696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l" rtl="0" eaLnBrk="0">
              <a:lnSpc>
                <a:spcPct val="122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C++基础——内存管理</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22000"/>
              </a:lnSpc>
            </a:pPr>
            <a:endParaRPr sz="1000" dirty="0">
              <a:latin typeface="Arial" panose="020B0604020202020204"/>
              <a:ea typeface="Arial" panose="020B0604020202020204"/>
              <a:cs typeface="Arial" panose="020B0604020202020204"/>
            </a:endParaRPr>
          </a:p>
          <a:p>
            <a:pPr algn="l" rtl="0" eaLnBrk="0">
              <a:lnSpc>
                <a:spcPct val="123000"/>
              </a:lnSpc>
            </a:pPr>
            <a:endParaRPr sz="1000" dirty="0">
              <a:latin typeface="Arial" panose="020B0604020202020204"/>
              <a:ea typeface="Arial" panose="020B0604020202020204"/>
              <a:cs typeface="Arial" panose="020B0604020202020204"/>
            </a:endParaRPr>
          </a:p>
          <a:p>
            <a:pPr marL="12700" indent="3175" algn="l" rtl="0" eaLnBrk="0">
              <a:lnSpc>
                <a:spcPct val="149000"/>
              </a:lnSpc>
              <a:spcBef>
                <a:spcPts val="55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内存泄漏 (Memory   Leak) 指的是申请的内存，在不再需要的时候没有被释放的情况，这会系统的可用内存减少。</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spcBef>
                <a:spcPts val="140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不同的语言对此有不同的处理办法：</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145000"/>
              </a:lnSpc>
              <a:spcBef>
                <a:spcPts val="23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 语言完全依赖用户自己手动管理内存。如果发生了内存泄漏，那内存泄漏就发生了。 </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145000"/>
              </a:lnSpc>
              <a:spcBef>
                <a:spcPts val="23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java 等语言依赖于垃圾回收 (Garbage  Collection)机制。在Java 程序运行时，垃圾回收器负责检测和释放不再使用的内存。</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7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9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4000"/>
              </a:lnSpc>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 采用了资源获取即初始化 (Resource Acquisition Is Initialization,RAII)思想。</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672" name="picture 672"/>
          <p:cNvPicPr>
            <a:picLocks noChangeAspect="1"/>
          </p:cNvPicPr>
          <p:nvPr/>
        </p:nvPicPr>
        <p:blipFill>
          <a:blip r:embed="rId2"/>
          <a:stretch>
            <a:fillRect/>
          </a:stretch>
        </p:blipFill>
        <p:spPr>
          <a:xfrm rot="21600000">
            <a:off x="539739" y="273016"/>
            <a:ext cx="711159" cy="685800"/>
          </a:xfrm>
          <a:prstGeom prst="rect">
            <a:avLst/>
          </a:prstGeom>
        </p:spPr>
      </p:pic>
      <p:pic>
        <p:nvPicPr>
          <p:cNvPr id="674" name="picture 674"/>
          <p:cNvPicPr>
            <a:picLocks noChangeAspect="1"/>
          </p:cNvPicPr>
          <p:nvPr/>
        </p:nvPicPr>
        <p:blipFill>
          <a:blip r:embed="rId3"/>
          <a:stretch>
            <a:fillRect/>
          </a:stretch>
        </p:blipFill>
        <p:spPr>
          <a:xfrm rot="21600000">
            <a:off x="184099" y="6623044"/>
            <a:ext cx="11791981" cy="1268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4" name="picture 654"/>
          <p:cNvPicPr>
            <a:picLocks noChangeAspect="1"/>
          </p:cNvPicPr>
          <p:nvPr/>
        </p:nvPicPr>
        <p:blipFill>
          <a:blip r:embed="rId1"/>
          <a:stretch>
            <a:fillRect/>
          </a:stretch>
        </p:blipFill>
        <p:spPr>
          <a:xfrm rot="21600000">
            <a:off x="0" y="0"/>
            <a:ext cx="12192000" cy="6858000"/>
          </a:xfrm>
          <a:prstGeom prst="rect">
            <a:avLst/>
          </a:prstGeom>
        </p:spPr>
      </p:pic>
      <p:sp>
        <p:nvSpPr>
          <p:cNvPr id="678" name="textbox 678"/>
          <p:cNvSpPr/>
          <p:nvPr/>
        </p:nvSpPr>
        <p:spPr>
          <a:xfrm>
            <a:off x="1308100" y="1778000"/>
            <a:ext cx="9131935" cy="1441450"/>
          </a:xfrm>
          <a:prstGeom prst="rect">
            <a:avLst/>
          </a:prstGeom>
          <a:solidFill>
            <a:srgbClr val="F7F3ED">
              <a:alpha val="100000"/>
            </a:srgbClr>
          </a:solidFill>
          <a:ln w="0" cap="flat">
            <a:noFill/>
            <a:prstDash val="solid"/>
            <a:miter lim="0"/>
          </a:ln>
        </p:spPr>
        <p:txBody>
          <a:bodyPr vert="horz" wrap="square" lIns="0" tIns="0" rIns="0" bIns="0"/>
          <a:lstStyle/>
          <a:p>
            <a:pPr algn="l" rtl="0" eaLnBrk="0">
              <a:lnSpc>
                <a:spcPct val="108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 scope of num starts</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8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num = 1;</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8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 scope of num ends here!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8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num; // no longer accessible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690" name="textbox 690"/>
          <p:cNvSpPr/>
          <p:nvPr/>
        </p:nvSpPr>
        <p:spPr>
          <a:xfrm>
            <a:off x="1400148" y="512055"/>
            <a:ext cx="3618865" cy="998855"/>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95000"/>
              </a:lnSpc>
            </a:pPr>
            <a:r>
              <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C++基础——内存管理</a:t>
            </a:r>
            <a:endPar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pPr>
            <a:endParaRPr sz="1700" dirty="0">
              <a:latin typeface="黑体" panose="02010609060101010101" charset="-122"/>
              <a:ea typeface="黑体" panose="02010609060101010101" charset="-122"/>
              <a:cs typeface="黑体" panose="02010609060101010101" charset="-122"/>
            </a:endParaRPr>
          </a:p>
          <a:p>
            <a:pPr algn="l" rtl="0" eaLnBrk="0">
              <a:lnSpc>
                <a:spcPct val="135000"/>
              </a:lnSpc>
            </a:pPr>
            <a:endParaRPr sz="1000" dirty="0">
              <a:latin typeface="Arial" panose="020B0604020202020204"/>
              <a:ea typeface="Arial" panose="020B0604020202020204"/>
              <a:cs typeface="Arial" panose="020B0604020202020204"/>
            </a:endParaRPr>
          </a:p>
          <a:p>
            <a:pPr algn="l" rtl="0" eaLnBrk="0">
              <a:lnSpc>
                <a:spcPct val="135000"/>
              </a:lnSpc>
            </a:pPr>
            <a:endParaRPr sz="1000" dirty="0">
              <a:latin typeface="Arial" panose="020B0604020202020204"/>
              <a:ea typeface="Arial" panose="020B0604020202020204"/>
              <a:cs typeface="Arial" panose="020B0604020202020204"/>
            </a:endParaRPr>
          </a:p>
          <a:p>
            <a:pPr algn="l" rtl="0" eaLnBrk="0">
              <a:lnSpc>
                <a:spcPct val="107000"/>
              </a:lnSpc>
            </a:pPr>
            <a:endParaRPr sz="400" dirty="0">
              <a:latin typeface="Arial" panose="020B0604020202020204"/>
              <a:ea typeface="Arial" panose="020B0604020202020204"/>
              <a:cs typeface="Arial" panose="020B0604020202020204"/>
            </a:endParaRPr>
          </a:p>
          <a:p>
            <a:pPr marL="12700" algn="l" rtl="0" eaLnBrk="0">
              <a:lnSpc>
                <a:spcPct val="96000"/>
              </a:lnSpc>
              <a:spcBef>
                <a:spcPts val="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来看下面的程序：</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704" name="textbox 704"/>
          <p:cNvSpPr/>
          <p:nvPr/>
        </p:nvSpPr>
        <p:spPr>
          <a:xfrm>
            <a:off x="1311275" y="4998720"/>
            <a:ext cx="8612505" cy="263525"/>
          </a:xfrm>
          <a:prstGeom prst="rect">
            <a:avLst/>
          </a:prstGeom>
          <a:noFill/>
          <a:ln w="0" cap="flat">
            <a:noFill/>
            <a:prstDash val="solid"/>
            <a:miter lim="0"/>
          </a:ln>
        </p:spPr>
        <p:txBody>
          <a:bodyPr vert="horz" wrap="square" lIns="0" tIns="0" rIns="0" bIns="0"/>
          <a:lstStyle/>
          <a:p>
            <a:pPr algn="l" rtl="0" eaLnBrk="0">
              <a:lnSpc>
                <a:spcPct val="82000"/>
              </a:lnSpc>
            </a:pPr>
            <a:endParaRPr sz="100" dirty="0">
              <a:latin typeface="Arial" panose="020B0604020202020204"/>
              <a:ea typeface="Arial" panose="020B0604020202020204"/>
              <a:cs typeface="Arial" panose="020B0604020202020204"/>
            </a:endParaRPr>
          </a:p>
          <a:p>
            <a:pPr marL="12700" algn="l" rtl="0" eaLnBrk="0">
              <a:lnSpc>
                <a:spcPct val="96000"/>
              </a:lnSpc>
              <a:spcBef>
                <a:spcPts val="0"/>
              </a:spcBef>
              <a:buClrTx/>
              <a:buSzTx/>
              <a:buFontTx/>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在return时 ，num 变量已经不可见了，因为它超出了它的作用域 (Scope)。</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710" name="picture 710"/>
          <p:cNvPicPr>
            <a:picLocks noChangeAspect="1"/>
          </p:cNvPicPr>
          <p:nvPr/>
        </p:nvPicPr>
        <p:blipFill>
          <a:blip r:embed="rId2"/>
          <a:stretch>
            <a:fillRect/>
          </a:stretch>
        </p:blipFill>
        <p:spPr>
          <a:xfrm rot="21600000">
            <a:off x="539739" y="273016"/>
            <a:ext cx="711159" cy="685800"/>
          </a:xfrm>
          <a:prstGeom prst="rect">
            <a:avLst/>
          </a:prstGeom>
        </p:spPr>
      </p:pic>
      <p:pic>
        <p:nvPicPr>
          <p:cNvPr id="2" name="图片 1"/>
          <p:cNvPicPr>
            <a:picLocks noChangeAspect="1"/>
          </p:cNvPicPr>
          <p:nvPr/>
        </p:nvPicPr>
        <p:blipFill>
          <a:blip r:embed="rId3"/>
          <a:stretch>
            <a:fillRect/>
          </a:stretch>
        </p:blipFill>
        <p:spPr>
          <a:xfrm>
            <a:off x="1250950" y="3515995"/>
            <a:ext cx="8784590" cy="118681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4" name="picture 654"/>
          <p:cNvPicPr>
            <a:picLocks noChangeAspect="1"/>
          </p:cNvPicPr>
          <p:nvPr/>
        </p:nvPicPr>
        <p:blipFill>
          <a:blip r:embed="rId1"/>
          <a:stretch>
            <a:fillRect/>
          </a:stretch>
        </p:blipFill>
        <p:spPr>
          <a:xfrm rot="21600000">
            <a:off x="0" y="0"/>
            <a:ext cx="12192000" cy="6858000"/>
          </a:xfrm>
          <a:prstGeom prst="rect">
            <a:avLst/>
          </a:prstGeom>
        </p:spPr>
      </p:pic>
      <p:sp>
        <p:nvSpPr>
          <p:cNvPr id="712" name="textbox 712"/>
          <p:cNvSpPr/>
          <p:nvPr/>
        </p:nvSpPr>
        <p:spPr>
          <a:xfrm>
            <a:off x="1397060" y="-208596"/>
            <a:ext cx="9082405" cy="54260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5875" algn="l" rtl="0" eaLnBrk="0">
              <a:lnSpc>
                <a:spcPct val="98000"/>
              </a:lnSpc>
            </a:pPr>
            <a:endPar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endParaRPr>
          </a:p>
          <a:p>
            <a:pPr marL="15875" algn="l" rtl="0" eaLnBrk="0">
              <a:lnSpc>
                <a:spcPct val="98000"/>
              </a:lnSpc>
            </a:pPr>
            <a:endPar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endParaRPr>
          </a:p>
          <a:p>
            <a:pPr marL="15875" algn="l" rtl="0" eaLnBrk="0">
              <a:lnSpc>
                <a:spcPct val="98000"/>
              </a:lnSpc>
            </a:pPr>
            <a:endPar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endParaRPr>
          </a:p>
          <a:p>
            <a:pPr marL="15875" algn="l" rtl="0" eaLnBrk="0">
              <a:lnSpc>
                <a:spcPct val="98000"/>
              </a:lnSpc>
            </a:pPr>
            <a:r>
              <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C++基础——内存管理</a:t>
            </a:r>
            <a:endPar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15875" algn="l" rtl="0" eaLnBrk="0">
              <a:lnSpc>
                <a:spcPct val="98000"/>
              </a:lnSpc>
            </a:pPr>
            <a:endParaRPr sz="1700" dirty="0">
              <a:latin typeface="黑体" panose="02010609060101010101" charset="-122"/>
              <a:ea typeface="黑体" panose="02010609060101010101" charset="-122"/>
              <a:cs typeface="黑体" panose="02010609060101010101" charset="-122"/>
            </a:endParaRPr>
          </a:p>
          <a:p>
            <a:pPr algn="l" rtl="0" eaLnBrk="0">
              <a:lnSpc>
                <a:spcPct val="141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作用域 (Scope) 是指一个标识符在程序中可见的区域。</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147000"/>
              </a:lnSpc>
              <a:spcBef>
                <a:spcPts val="52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块作用域是由花括号{}内的区域定义的。在块作用域内声明的变量只在该块中可见，称为局部变量。</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144000"/>
              </a:lnSpc>
              <a:spcBef>
                <a:spcPts val="61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全局作用域的范围是整个程序。在函数外部定义的变量是全局变量，具有全局作用域。全局变量在整个程序内都可以被访问。</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72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生存期 (Lifetime) 是指一个对象在程序运行中存在的时间段。对象的生存期从它完成初始化之后开始，到它被销毁或者开始析构时结束。</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4000"/>
              </a:lnSpc>
              <a:spcBef>
                <a:spcPts val="1285"/>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静态生存期：对象在整个程序运行期间存在，例如全局变量、静态变量。</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4000"/>
              </a:lnSpc>
              <a:spcBef>
                <a:spcPts val="1335"/>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自动生存期：对象在其所在作用域内存在，离开作用域时自动销毁，例如局部变量。</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4000"/>
              </a:lnSpc>
              <a:spcBef>
                <a:spcPts val="143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动态生存期：通过new 关键字分配的对象在程序员显式释放 (delete) 之前一直存在，这是由程序员手动管理的。</a:t>
            </a:r>
            <a:endParaRPr sz="1700" dirty="0">
              <a:latin typeface="黑体" panose="02010609060101010101" charset="-122"/>
              <a:ea typeface="黑体" panose="02010609060101010101" charset="-122"/>
              <a:cs typeface="黑体" panose="02010609060101010101" charset="-122"/>
            </a:endParaRPr>
          </a:p>
        </p:txBody>
      </p:sp>
      <p:pic>
        <p:nvPicPr>
          <p:cNvPr id="714" name="picture 714"/>
          <p:cNvPicPr>
            <a:picLocks noChangeAspect="1"/>
          </p:cNvPicPr>
          <p:nvPr/>
        </p:nvPicPr>
        <p:blipFill>
          <a:blip r:embed="rId2"/>
          <a:stretch>
            <a:fillRect/>
          </a:stretch>
        </p:blipFill>
        <p:spPr>
          <a:xfrm rot="21600000">
            <a:off x="546079" y="279394"/>
            <a:ext cx="704819" cy="679422"/>
          </a:xfrm>
          <a:prstGeom prst="rect">
            <a:avLst/>
          </a:prstGeom>
        </p:spPr>
      </p:pic>
      <p:pic>
        <p:nvPicPr>
          <p:cNvPr id="716" name="picture 716"/>
          <p:cNvPicPr>
            <a:picLocks noChangeAspect="1"/>
          </p:cNvPicPr>
          <p:nvPr/>
        </p:nvPicPr>
        <p:blipFill>
          <a:blip r:embed="rId3"/>
          <a:stretch>
            <a:fillRect/>
          </a:stretch>
        </p:blipFill>
        <p:spPr>
          <a:xfrm rot="21600000">
            <a:off x="184099" y="6623044"/>
            <a:ext cx="11791981" cy="1268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4" name="picture 654"/>
          <p:cNvPicPr>
            <a:picLocks noChangeAspect="1"/>
          </p:cNvPicPr>
          <p:nvPr/>
        </p:nvPicPr>
        <p:blipFill>
          <a:blip r:embed="rId1"/>
          <a:stretch>
            <a:fillRect/>
          </a:stretch>
        </p:blipFill>
        <p:spPr>
          <a:xfrm rot="21600000">
            <a:off x="0" y="0"/>
            <a:ext cx="12192000" cy="6858000"/>
          </a:xfrm>
          <a:prstGeom prst="rect">
            <a:avLst/>
          </a:prstGeom>
        </p:spPr>
      </p:pic>
      <p:sp>
        <p:nvSpPr>
          <p:cNvPr id="718" name="textbox 718"/>
          <p:cNvSpPr/>
          <p:nvPr/>
        </p:nvSpPr>
        <p:spPr>
          <a:xfrm>
            <a:off x="1403400" y="376874"/>
            <a:ext cx="9128759" cy="382587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91000"/>
              </a:lnSpc>
            </a:pPr>
            <a:r>
              <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C++基础——内存管理</a:t>
            </a:r>
            <a:endParaRPr sz="1000" dirty="0">
              <a:latin typeface="Arial" panose="020B0604020202020204"/>
              <a:ea typeface="Arial" panose="020B0604020202020204"/>
              <a:cs typeface="Arial" panose="020B0604020202020204"/>
            </a:endParaRPr>
          </a:p>
          <a:p>
            <a:pPr marL="12700" algn="l" rtl="0" eaLnBrk="0">
              <a:lnSpc>
                <a:spcPct val="156000"/>
              </a:lnSpc>
              <a:spcBef>
                <a:spcPts val="52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如果把资源(例如内存)绑定在具有自动生存期的对象上，那么离开当它的生存期结束时，资源也会被自动释放掉。这就是RAII技术的根本原理。</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151000"/>
              </a:lnSpc>
              <a:spcBef>
                <a:spcPts val="19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换句话说，当对象初始化时，对象的生存期开始，同时资源也被获取。当对象的生存期结束</a:t>
            </a:r>
            <a:r>
              <a:rPr lang="zh-CN"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资源也同时被释放。</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44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45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4000"/>
              </a:lnSpc>
              <a:spcBef>
                <a:spcPts val="51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具体而言，将每个资源封装入一个类，其中：</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4000"/>
              </a:lnSpc>
              <a:spcBef>
                <a:spcPts val="133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构造函数请求资源，或在它无法完成时抛出异常；</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4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8000"/>
              </a:lnSpc>
              <a:spcBef>
                <a:spcPts val="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析构函数释放资源并决不抛出异常。</a:t>
            </a:r>
            <a:endParaRPr sz="1700" dirty="0">
              <a:latin typeface="黑体" panose="02010609060101010101" charset="-122"/>
              <a:ea typeface="黑体" panose="02010609060101010101" charset="-122"/>
              <a:cs typeface="黑体" panose="02010609060101010101" charset="-122"/>
            </a:endParaRPr>
          </a:p>
        </p:txBody>
      </p:sp>
      <p:pic>
        <p:nvPicPr>
          <p:cNvPr id="720" name="picture 720"/>
          <p:cNvPicPr>
            <a:picLocks noChangeAspect="1"/>
          </p:cNvPicPr>
          <p:nvPr/>
        </p:nvPicPr>
        <p:blipFill>
          <a:blip r:embed="rId2"/>
          <a:stretch>
            <a:fillRect/>
          </a:stretch>
        </p:blipFill>
        <p:spPr>
          <a:xfrm rot="21600000">
            <a:off x="546079" y="279394"/>
            <a:ext cx="704819" cy="679422"/>
          </a:xfrm>
          <a:prstGeom prst="rect">
            <a:avLst/>
          </a:prstGeom>
        </p:spPr>
      </p:pic>
      <p:pic>
        <p:nvPicPr>
          <p:cNvPr id="722" name="picture 722"/>
          <p:cNvPicPr>
            <a:picLocks noChangeAspect="1"/>
          </p:cNvPicPr>
          <p:nvPr/>
        </p:nvPicPr>
        <p:blipFill>
          <a:blip r:embed="rId3"/>
          <a:stretch>
            <a:fillRect/>
          </a:stretch>
        </p:blipFill>
        <p:spPr>
          <a:xfrm rot="21600000">
            <a:off x="184099" y="6623044"/>
            <a:ext cx="11791981" cy="1268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4" name="picture 724"/>
          <p:cNvPicPr>
            <a:picLocks noChangeAspect="1"/>
          </p:cNvPicPr>
          <p:nvPr/>
        </p:nvPicPr>
        <p:blipFill>
          <a:blip r:embed="rId1"/>
          <a:stretch>
            <a:fillRect/>
          </a:stretch>
        </p:blipFill>
        <p:spPr>
          <a:xfrm rot="21600000">
            <a:off x="0" y="0"/>
            <a:ext cx="12192000" cy="6858000"/>
          </a:xfrm>
          <a:prstGeom prst="rect">
            <a:avLst/>
          </a:prstGeom>
        </p:spPr>
      </p:pic>
      <p:sp>
        <p:nvSpPr>
          <p:cNvPr id="726" name="textbox 726"/>
          <p:cNvSpPr/>
          <p:nvPr/>
        </p:nvSpPr>
        <p:spPr>
          <a:xfrm>
            <a:off x="1320800" y="1079500"/>
            <a:ext cx="6807835" cy="4456430"/>
          </a:xfrm>
          <a:prstGeom prst="rect">
            <a:avLst/>
          </a:prstGeom>
          <a:solidFill>
            <a:srgbClr val="F6F2EB">
              <a:alpha val="100000"/>
            </a:srgbClr>
          </a:solidFill>
          <a:ln w="0" cap="flat">
            <a:noFill/>
            <a:prstDash val="solid"/>
            <a:miter lim="0"/>
          </a:ln>
        </p:spPr>
        <p:txBody>
          <a:bodyPr vert="horz" wrap="square" lIns="0" tIns="0" rIns="0" bIns="0"/>
          <a:lstStyle/>
          <a:p>
            <a:pPr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struct Resource{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*p;</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Resource(int num){</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p = new int(num);</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"Resource acquired!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~Resource(){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delete p;</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"Resource released!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main(){</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Resource res(123);</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*(res.p) &lt;&lt; “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0;</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1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752" name="textbox 752"/>
          <p:cNvSpPr/>
          <p:nvPr/>
        </p:nvSpPr>
        <p:spPr>
          <a:xfrm>
            <a:off x="1413094" y="273134"/>
            <a:ext cx="3606800" cy="302259"/>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l" rtl="0" eaLnBrk="0">
              <a:lnSpc>
                <a:spcPct val="191000"/>
              </a:lnSpc>
            </a:pPr>
            <a:r>
              <a:rPr sz="19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C++基础——内存管理</a:t>
            </a:r>
            <a:endParaRPr sz="1900" dirty="0">
              <a:latin typeface="黑体" panose="02010609060101010101" charset="-122"/>
              <a:ea typeface="黑体" panose="02010609060101010101" charset="-122"/>
              <a:cs typeface="黑体" panose="02010609060101010101" charset="-122"/>
            </a:endParaRPr>
          </a:p>
        </p:txBody>
      </p:sp>
      <p:pic>
        <p:nvPicPr>
          <p:cNvPr id="754" name="picture 754"/>
          <p:cNvPicPr>
            <a:picLocks noChangeAspect="1"/>
          </p:cNvPicPr>
          <p:nvPr/>
        </p:nvPicPr>
        <p:blipFill>
          <a:blip r:embed="rId2"/>
          <a:stretch>
            <a:fillRect/>
          </a:stretch>
        </p:blipFill>
        <p:spPr>
          <a:xfrm rot="21600000">
            <a:off x="539739" y="273016"/>
            <a:ext cx="711159" cy="6858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8" name="picture 848"/>
          <p:cNvPicPr>
            <a:picLocks noChangeAspect="1"/>
          </p:cNvPicPr>
          <p:nvPr/>
        </p:nvPicPr>
        <p:blipFill>
          <a:blip r:embed="rId1"/>
          <a:stretch>
            <a:fillRect/>
          </a:stretch>
        </p:blipFill>
        <p:spPr>
          <a:xfrm rot="21600000">
            <a:off x="0" y="0"/>
            <a:ext cx="12192000" cy="6858000"/>
          </a:xfrm>
          <a:prstGeom prst="rect">
            <a:avLst/>
          </a:prstGeom>
        </p:spPr>
      </p:pic>
      <p:sp>
        <p:nvSpPr>
          <p:cNvPr id="850" name="textbox 850"/>
          <p:cNvSpPr/>
          <p:nvPr/>
        </p:nvSpPr>
        <p:spPr>
          <a:xfrm>
            <a:off x="1400235" y="2663513"/>
            <a:ext cx="8797925" cy="2306954"/>
          </a:xfrm>
          <a:prstGeom prst="rect">
            <a:avLst/>
          </a:prstGeom>
          <a:noFill/>
          <a:ln w="0" cap="flat">
            <a:noFill/>
            <a:prstDash val="solid"/>
            <a:miter lim="0"/>
          </a:ln>
        </p:spPr>
        <p:txBody>
          <a:bodyPr vert="horz" wrap="square" lIns="0" tIns="0" rIns="0" bIns="0"/>
          <a:lstStyle/>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6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方括号内是捕获列表 (Capture  List)。lambda表达式可以捕获其外部的变量并使用。</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8000"/>
              </a:lnSpc>
              <a:spcBef>
                <a:spcPts val="1245"/>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值捕获：以复制的方式捕获。</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8775" indent="-342900" algn="l" rtl="0" eaLnBrk="0">
              <a:lnSpc>
                <a:spcPct val="98000"/>
              </a:lnSpc>
              <a:spcBef>
                <a:spcPts val="1225"/>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引用捕获：以引用的方式捕获。</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4000"/>
              </a:lnSpc>
              <a:spcBef>
                <a:spcPts val="131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隐式捕获：由编译器推断捕获列表。[=]表示值捕获，[&amp;]表示引用捕获。</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5875" algn="l" rtl="0" eaLnBrk="0">
              <a:lnSpc>
                <a:spcPct val="87000"/>
              </a:lnSpc>
              <a:spcBef>
                <a:spcPts val="127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圆括号内是形参列表。箭头后是返回类型。花括号内是函数体。</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5875" algn="l" rtl="0" eaLnBrk="0">
              <a:lnSpc>
                <a:spcPts val="325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函数体和捕获列表不可以省略。其他部分都可以省略。</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852" name="textbox 852"/>
          <p:cNvSpPr/>
          <p:nvPr/>
        </p:nvSpPr>
        <p:spPr>
          <a:xfrm>
            <a:off x="1400175" y="493395"/>
            <a:ext cx="6782435" cy="112014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98000"/>
              </a:lnSpc>
            </a:pPr>
            <a:r>
              <a:rPr sz="19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C++基础——lambda表达式</a:t>
            </a:r>
            <a:endParaRPr sz="19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14000"/>
              </a:lnSpc>
            </a:pPr>
            <a:endParaRPr sz="1000" dirty="0">
              <a:latin typeface="Arial" panose="020B0604020202020204"/>
              <a:ea typeface="Arial" panose="020B0604020202020204"/>
              <a:cs typeface="Arial" panose="020B0604020202020204"/>
            </a:endParaRPr>
          </a:p>
          <a:p>
            <a:pPr algn="l" rtl="0" eaLnBrk="0">
              <a:lnSpc>
                <a:spcPct val="107000"/>
              </a:lnSpc>
            </a:pPr>
            <a:endParaRPr sz="400" dirty="0">
              <a:latin typeface="Arial" panose="020B0604020202020204"/>
              <a:ea typeface="Arial" panose="020B0604020202020204"/>
              <a:cs typeface="Arial" panose="020B0604020202020204"/>
            </a:endParaRPr>
          </a:p>
          <a:p>
            <a:pPr marL="12700" algn="l" rtl="0" eaLnBrk="0">
              <a:lnSpc>
                <a:spcPct val="98000"/>
              </a:lnSpc>
              <a:spcBef>
                <a:spcPts val="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lambda 表达式是能够捕获作用域中的变量的无名函数对象</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854" name="textbox 854"/>
          <p:cNvSpPr/>
          <p:nvPr/>
        </p:nvSpPr>
        <p:spPr>
          <a:xfrm>
            <a:off x="1270040" y="5518152"/>
            <a:ext cx="9702800" cy="610234"/>
          </a:xfrm>
          <a:prstGeom prst="rect">
            <a:avLst/>
          </a:prstGeom>
          <a:solidFill>
            <a:srgbClr val="F8F3EC">
              <a:alpha val="100000"/>
            </a:srgbClr>
          </a:solidFill>
          <a:ln w="0" cap="flat">
            <a:noFill/>
            <a:prstDash val="solid"/>
            <a:miter lim="0"/>
          </a:ln>
        </p:spPr>
        <p:txBody>
          <a:bodyPr vert="horz" wrap="square" lIns="0" tIns="0" rIns="0" bIns="0"/>
          <a:lstStyle/>
          <a:p>
            <a:pPr algn="l" rtl="0" eaLnBrk="0">
              <a:lnSpc>
                <a:spcPct val="101000"/>
              </a:lnSpc>
            </a:pPr>
            <a:endParaRPr sz="1000" dirty="0">
              <a:latin typeface="Arial" panose="020B0604020202020204"/>
              <a:ea typeface="Arial" panose="020B0604020202020204"/>
              <a:cs typeface="Arial" panose="020B0604020202020204"/>
            </a:endParaRPr>
          </a:p>
          <a:p>
            <a:pPr marL="266700" algn="l" rtl="0" eaLnBrk="0">
              <a:lnSpc>
                <a:spcPct val="79000"/>
              </a:lnSpc>
              <a:spcBef>
                <a:spcPts val="5"/>
              </a:spcBef>
              <a:buClrTx/>
              <a:buSzTx/>
              <a:buFontTx/>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a   very</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simple</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lambda</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a:t>
            </a:r>
            <a:r>
              <a:rPr lang="en-US" sz="2000" kern="0" spc="0" dirty="0">
                <a:solidFill>
                  <a:schemeClr val="tx1">
                    <a:alpha val="100000"/>
                  </a:schemeClr>
                </a:solidFill>
                <a:latin typeface="华文中宋" panose="02010600040101010101" charset="-122"/>
                <a:ea typeface="华文中宋" panose="02010600040101010101" charset="-122"/>
                <a:cs typeface="华文中宋" panose="02010600040101010101" charset="-122"/>
              </a:rPr>
              <a:t>expression</a:t>
            </a: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856" name="textbox 856"/>
          <p:cNvSpPr/>
          <p:nvPr/>
        </p:nvSpPr>
        <p:spPr>
          <a:xfrm>
            <a:off x="1282669" y="1833270"/>
            <a:ext cx="9690100" cy="610234"/>
          </a:xfrm>
          <a:prstGeom prst="rect">
            <a:avLst/>
          </a:prstGeom>
          <a:solidFill>
            <a:srgbClr val="F7F3EC">
              <a:alpha val="100000"/>
            </a:srgbClr>
          </a:solidFill>
          <a:ln w="0" cap="flat">
            <a:noFill/>
            <a:prstDash val="solid"/>
            <a:miter lim="0"/>
          </a:ln>
        </p:spPr>
        <p:txBody>
          <a:bodyPr vert="horz" wrap="square" lIns="0" tIns="0" rIns="0" bIns="0"/>
          <a:lstStyle/>
          <a:p>
            <a:pPr algn="l" rtl="0" eaLnBrk="0">
              <a:lnSpc>
                <a:spcPct val="143000"/>
              </a:lnSpc>
            </a:pPr>
            <a:endParaRPr sz="1000" dirty="0">
              <a:latin typeface="Arial" panose="020B0604020202020204"/>
              <a:ea typeface="Arial" panose="020B0604020202020204"/>
              <a:cs typeface="Arial" panose="020B0604020202020204"/>
            </a:endParaRPr>
          </a:p>
          <a:p>
            <a:pPr algn="l" rtl="0" eaLnBrk="0">
              <a:lnSpc>
                <a:spcPct val="8000"/>
              </a:lnSpc>
            </a:pPr>
            <a:endParaRPr sz="100" dirty="0">
              <a:latin typeface="Arial" panose="020B0604020202020204"/>
              <a:ea typeface="Arial" panose="020B0604020202020204"/>
              <a:cs typeface="Arial" panose="020B0604020202020204"/>
            </a:endParaRPr>
          </a:p>
          <a:p>
            <a:pPr marL="266700" algn="l" rtl="0" eaLnBrk="0">
              <a:lnSpc>
                <a:spcPct val="79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[capture_list](parameter_list )-&gt; return_type  {  /*do   something   */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pic>
        <p:nvPicPr>
          <p:cNvPr id="858" name="picture 858"/>
          <p:cNvPicPr>
            <a:picLocks noChangeAspect="1"/>
          </p:cNvPicPr>
          <p:nvPr/>
        </p:nvPicPr>
        <p:blipFill>
          <a:blip r:embed="rId2"/>
          <a:stretch>
            <a:fillRect/>
          </a:stretch>
        </p:blipFill>
        <p:spPr>
          <a:xfrm rot="21600000">
            <a:off x="539739" y="273016"/>
            <a:ext cx="704819" cy="6858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 name="picture 860"/>
          <p:cNvPicPr>
            <a:picLocks noChangeAspect="1"/>
          </p:cNvPicPr>
          <p:nvPr/>
        </p:nvPicPr>
        <p:blipFill>
          <a:blip r:embed="rId1"/>
          <a:stretch>
            <a:fillRect/>
          </a:stretch>
        </p:blipFill>
        <p:spPr>
          <a:xfrm rot="21600000">
            <a:off x="0" y="0"/>
            <a:ext cx="12192000" cy="6858000"/>
          </a:xfrm>
          <a:prstGeom prst="rect">
            <a:avLst/>
          </a:prstGeom>
        </p:spPr>
      </p:pic>
      <p:sp>
        <p:nvSpPr>
          <p:cNvPr id="862" name="textbox 862"/>
          <p:cNvSpPr/>
          <p:nvPr/>
        </p:nvSpPr>
        <p:spPr>
          <a:xfrm>
            <a:off x="1289050" y="1308100"/>
            <a:ext cx="9766300" cy="3137535"/>
          </a:xfrm>
          <a:prstGeom prst="rect">
            <a:avLst/>
          </a:prstGeom>
          <a:solidFill>
            <a:srgbClr val="F7F3ED">
              <a:alpha val="100000"/>
            </a:srgbClr>
          </a:solidFill>
          <a:ln w="0" cap="flat">
            <a:noFill/>
            <a:prstDash val="solid"/>
            <a:miter lim="0"/>
          </a:ln>
        </p:spPr>
        <p:txBody>
          <a:bodyPr vert="horz" wrap="square" lIns="0" tIns="0" rIns="0" bIns="0"/>
          <a:lstStyle/>
          <a:p>
            <a:pPr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constexpr double PI = 3.1415926;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4000"/>
              </a:lnSpc>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auto volume_of_cylinder(int radius){</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[radius](int height) -&gt; double</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return PI * radius * radius * height;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int main(){</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std::cout &lt;&lt; volume_of_cylinder(3)(4);</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indent="457200"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return 0;</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pPr algn="l" rtl="0" eaLnBrk="0">
              <a:lnSpc>
                <a:spcPct val="104000"/>
              </a:lnSpc>
            </a:pPr>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876" name="textbox 876"/>
          <p:cNvSpPr/>
          <p:nvPr/>
        </p:nvSpPr>
        <p:spPr>
          <a:xfrm>
            <a:off x="1406488" y="512055"/>
            <a:ext cx="4196715" cy="27305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marL="12700" algn="l" rtl="0" eaLnBrk="0">
              <a:lnSpc>
                <a:spcPct val="98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C++基础——lambda表达式</a:t>
            </a:r>
            <a:endParaRPr dirty="0">
              <a:latin typeface="黑体" panose="02010609060101010101" charset="-122"/>
              <a:ea typeface="黑体" panose="02010609060101010101" charset="-122"/>
              <a:cs typeface="黑体" panose="02010609060101010101" charset="-122"/>
            </a:endParaRPr>
          </a:p>
        </p:txBody>
      </p:sp>
      <p:pic>
        <p:nvPicPr>
          <p:cNvPr id="878" name="picture 878"/>
          <p:cNvPicPr>
            <a:picLocks noChangeAspect="1"/>
          </p:cNvPicPr>
          <p:nvPr/>
        </p:nvPicPr>
        <p:blipFill>
          <a:blip r:embed="rId2"/>
          <a:stretch>
            <a:fillRect/>
          </a:stretch>
        </p:blipFill>
        <p:spPr>
          <a:xfrm rot="21600000">
            <a:off x="539739" y="273016"/>
            <a:ext cx="711159" cy="685800"/>
          </a:xfrm>
          <a:prstGeom prst="rect">
            <a:avLst/>
          </a:prstGeom>
        </p:spPr>
      </p:pic>
      <p:pic>
        <p:nvPicPr>
          <p:cNvPr id="2" name="图片 1"/>
          <p:cNvPicPr>
            <a:picLocks noChangeAspect="1"/>
          </p:cNvPicPr>
          <p:nvPr/>
        </p:nvPicPr>
        <p:blipFill>
          <a:blip r:embed="rId3"/>
          <a:stretch>
            <a:fillRect/>
          </a:stretch>
        </p:blipFill>
        <p:spPr>
          <a:xfrm>
            <a:off x="1355725" y="4875530"/>
            <a:ext cx="5565775" cy="118364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 name="picture 860"/>
          <p:cNvPicPr>
            <a:picLocks noChangeAspect="1"/>
          </p:cNvPicPr>
          <p:nvPr/>
        </p:nvPicPr>
        <p:blipFill>
          <a:blip r:embed="rId1"/>
          <a:stretch>
            <a:fillRect/>
          </a:stretch>
        </p:blipFill>
        <p:spPr>
          <a:xfrm rot="21600000">
            <a:off x="0" y="0"/>
            <a:ext cx="12192000" cy="6858000"/>
          </a:xfrm>
          <a:prstGeom prst="rect">
            <a:avLst/>
          </a:prstGeom>
        </p:spPr>
      </p:pic>
      <p:sp>
        <p:nvSpPr>
          <p:cNvPr id="880" name="textbox 880"/>
          <p:cNvSpPr/>
          <p:nvPr/>
        </p:nvSpPr>
        <p:spPr>
          <a:xfrm>
            <a:off x="1397000" y="480695"/>
            <a:ext cx="9083040" cy="357378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5875" algn="l" rtl="0" eaLnBrk="0">
              <a:lnSpc>
                <a:spcPct val="98000"/>
              </a:lnSpc>
            </a:pPr>
            <a:r>
              <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C++基础——良好的编程习惯</a:t>
            </a:r>
            <a:endParaRPr sz="18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algn="l" rtl="0" eaLnBrk="0">
              <a:lnSpc>
                <a:spcPct val="111000"/>
              </a:lnSpc>
            </a:pPr>
            <a:endParaRPr sz="1000" dirty="0">
              <a:latin typeface="Arial" panose="020B0604020202020204"/>
              <a:ea typeface="Arial" panose="020B0604020202020204"/>
              <a:cs typeface="Arial" panose="020B0604020202020204"/>
            </a:endParaRPr>
          </a:p>
          <a:p>
            <a:pPr marL="358775" indent="-342900" algn="l" rtl="0" eaLnBrk="0">
              <a:lnSpc>
                <a:spcPct val="94000"/>
              </a:lnSpc>
              <a:spcBef>
                <a:spcPts val="515"/>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代码首先是给人看的，其次才是给机器看的!</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4000"/>
              </a:lnSpc>
              <a:spcBef>
                <a:spcPts val="146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机器不需要看懂你的代码，它们只需要看得懂机器码就可以了。</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4000"/>
              </a:lnSpc>
              <a:spcBef>
                <a:spcPts val="128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但是你和你的同事需要看懂你的代码。否则，开发和维护就无法进行。</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0000"/>
              </a:lnSpc>
            </a:pPr>
            <a:endParaRPr sz="1700" dirty="0">
              <a:latin typeface="黑体" panose="02010609060101010101" charset="-122"/>
              <a:ea typeface="黑体" panose="02010609060101010101" charset="-122"/>
              <a:cs typeface="黑体" panose="02010609060101010101" charset="-122"/>
            </a:endParaRPr>
          </a:p>
          <a:p>
            <a:pPr marL="358775" indent="-342900" algn="l" rtl="0" eaLnBrk="0">
              <a:lnSpc>
                <a:spcPct val="98000"/>
              </a:lnSpc>
              <a:spcBef>
                <a:spcPts val="52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书写清晰、精炼、良好的注释。注释要言而有物，不说废话。</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87000"/>
              </a:lnSpc>
              <a:spcBef>
                <a:spcPts val="132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函数和类的声明处应当附有注释，清晰地描述其功能和用法。</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ts val="3225"/>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全局变量和类数据成员也应该用注释说明其用途。</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6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sym typeface="+mn-ea"/>
              </a:rPr>
              <a:t>对于代码中巧妙的、晦涩的、有趣的、重要的地方，适当加以注释，以方便人理解。</a:t>
            </a:r>
            <a:endParaRPr sz="1700" dirty="0">
              <a:latin typeface="黑体" panose="02010609060101010101" charset="-122"/>
              <a:ea typeface="黑体" panose="02010609060101010101" charset="-122"/>
              <a:cs typeface="黑体" panose="02010609060101010101" charset="-122"/>
            </a:endParaRPr>
          </a:p>
          <a:p>
            <a:pPr algn="l" rtl="0" eaLnBrk="0">
              <a:lnSpc>
                <a:spcPct val="117000"/>
              </a:lnSpc>
            </a:pPr>
            <a:endParaRPr sz="1700" dirty="0">
              <a:latin typeface="黑体" panose="02010609060101010101" charset="-122"/>
              <a:ea typeface="黑体" panose="02010609060101010101" charset="-122"/>
              <a:cs typeface="黑体" panose="02010609060101010101" charset="-122"/>
            </a:endParaRPr>
          </a:p>
        </p:txBody>
      </p:sp>
      <p:pic>
        <p:nvPicPr>
          <p:cNvPr id="882" name="picture 882"/>
          <p:cNvPicPr>
            <a:picLocks noChangeAspect="1"/>
          </p:cNvPicPr>
          <p:nvPr/>
        </p:nvPicPr>
        <p:blipFill>
          <a:blip r:embed="rId2"/>
          <a:stretch>
            <a:fillRect/>
          </a:stretch>
        </p:blipFill>
        <p:spPr>
          <a:xfrm rot="21600000">
            <a:off x="546079" y="273016"/>
            <a:ext cx="704819" cy="685800"/>
          </a:xfrm>
          <a:prstGeom prst="rect">
            <a:avLst/>
          </a:prstGeom>
        </p:spPr>
      </p:pic>
      <p:pic>
        <p:nvPicPr>
          <p:cNvPr id="884" name="picture 884"/>
          <p:cNvPicPr>
            <a:picLocks noChangeAspect="1"/>
          </p:cNvPicPr>
          <p:nvPr/>
        </p:nvPicPr>
        <p:blipFill>
          <a:blip r:embed="rId3"/>
          <a:stretch>
            <a:fillRect/>
          </a:stretch>
        </p:blipFill>
        <p:spPr>
          <a:xfrm rot="21600000">
            <a:off x="184099" y="6623044"/>
            <a:ext cx="11791981" cy="1268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 name="picture 860"/>
          <p:cNvPicPr>
            <a:picLocks noChangeAspect="1"/>
          </p:cNvPicPr>
          <p:nvPr/>
        </p:nvPicPr>
        <p:blipFill>
          <a:blip r:embed="rId1"/>
          <a:stretch>
            <a:fillRect/>
          </a:stretch>
        </p:blipFill>
        <p:spPr>
          <a:xfrm rot="21600000">
            <a:off x="0" y="0"/>
            <a:ext cx="12192000" cy="6858000"/>
          </a:xfrm>
          <a:prstGeom prst="rect">
            <a:avLst/>
          </a:prstGeom>
        </p:spPr>
      </p:pic>
      <p:sp>
        <p:nvSpPr>
          <p:cNvPr id="892" name="textbox 892"/>
          <p:cNvSpPr/>
          <p:nvPr/>
        </p:nvSpPr>
        <p:spPr>
          <a:xfrm>
            <a:off x="1397060" y="559282"/>
            <a:ext cx="8999855" cy="316928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algn="l" rtl="0" eaLnBrk="0">
              <a:lnSpc>
                <a:spcPct val="109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C++基础——良好的编程习惯</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10000"/>
              </a:lnSpc>
            </a:pPr>
            <a:endParaRPr sz="1000" dirty="0">
              <a:latin typeface="Arial" panose="020B0604020202020204"/>
              <a:ea typeface="Arial" panose="020B0604020202020204"/>
              <a:cs typeface="Arial" panose="020B0604020202020204"/>
            </a:endParaRPr>
          </a:p>
          <a:p>
            <a:pPr marL="15875" algn="l" rtl="0" eaLnBrk="0">
              <a:lnSpc>
                <a:spcPct val="94000"/>
              </a:lnSpc>
              <a:spcBef>
                <a:spcPts val="55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不应该忽略任何一个Warning。</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131000"/>
              </a:lnSpc>
              <a:spcBef>
                <a:spcPts val="60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毋宁说，你应当把任何一个Warning 都当做Error对待。并不是任何错误的代码都会导致编译失败(比如，未定义行为)。</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158000"/>
              </a:lnSpc>
              <a:spcBef>
                <a:spcPts val="41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很多时候，尽管代码中存在问题，编译器也可以输出可执行文件，但是其行为却常常不符合预期。</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1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4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当编译器给出了Warning, 这说明代码中一定存在着问题。你应当仔细地分析其原因。</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pic>
        <p:nvPicPr>
          <p:cNvPr id="894" name="picture 894"/>
          <p:cNvPicPr>
            <a:picLocks noChangeAspect="1"/>
          </p:cNvPicPr>
          <p:nvPr/>
        </p:nvPicPr>
        <p:blipFill>
          <a:blip r:embed="rId2"/>
          <a:stretch>
            <a:fillRect/>
          </a:stretch>
        </p:blipFill>
        <p:spPr>
          <a:xfrm rot="21600000">
            <a:off x="539739" y="273016"/>
            <a:ext cx="704819" cy="685800"/>
          </a:xfrm>
          <a:prstGeom prst="rect">
            <a:avLst/>
          </a:prstGeom>
        </p:spPr>
      </p:pic>
      <p:pic>
        <p:nvPicPr>
          <p:cNvPr id="896" name="picture 896"/>
          <p:cNvPicPr>
            <a:picLocks noChangeAspect="1"/>
          </p:cNvPicPr>
          <p:nvPr/>
        </p:nvPicPr>
        <p:blipFill>
          <a:blip r:embed="rId3"/>
          <a:stretch>
            <a:fillRect/>
          </a:stretch>
        </p:blipFill>
        <p:spPr>
          <a:xfrm rot="21600000">
            <a:off x="184099" y="6623044"/>
            <a:ext cx="11791981" cy="12687"/>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 name="picture 860"/>
          <p:cNvPicPr>
            <a:picLocks noChangeAspect="1"/>
          </p:cNvPicPr>
          <p:nvPr/>
        </p:nvPicPr>
        <p:blipFill>
          <a:blip r:embed="rId1"/>
          <a:stretch>
            <a:fillRect/>
          </a:stretch>
        </p:blipFill>
        <p:spPr>
          <a:xfrm rot="21600000">
            <a:off x="0" y="0"/>
            <a:ext cx="12192000" cy="6858000"/>
          </a:xfrm>
          <a:prstGeom prst="rect">
            <a:avLst/>
          </a:prstGeom>
        </p:spPr>
      </p:pic>
      <p:sp>
        <p:nvSpPr>
          <p:cNvPr id="904" name="textbox 904"/>
          <p:cNvSpPr/>
          <p:nvPr/>
        </p:nvSpPr>
        <p:spPr>
          <a:xfrm>
            <a:off x="1327200" y="499592"/>
            <a:ext cx="9194800" cy="545909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66675" algn="l" rtl="0" eaLnBrk="0">
              <a:lnSpc>
                <a:spcPct val="95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C++基础——良好的编程习惯</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marL="66675" algn="l" rtl="0" eaLnBrk="0">
              <a:lnSpc>
                <a:spcPct val="95000"/>
              </a:lnSpc>
            </a:pPr>
            <a:endParaRPr sz="1800" dirty="0">
              <a:latin typeface="黑体" panose="02010609060101010101" charset="-122"/>
              <a:ea typeface="黑体" panose="02010609060101010101" charset="-122"/>
              <a:cs typeface="黑体" panose="02010609060101010101" charset="-122"/>
            </a:endParaRPr>
          </a:p>
          <a:p>
            <a:pPr algn="l" rtl="0" eaLnBrk="0">
              <a:lnSpc>
                <a:spcPct val="101000"/>
              </a:lnSpc>
            </a:pPr>
            <a:endParaRPr sz="1000" dirty="0">
              <a:latin typeface="Arial" panose="020B0604020202020204"/>
              <a:ea typeface="Arial" panose="020B0604020202020204"/>
              <a:cs typeface="Arial" panose="020B0604020202020204"/>
            </a:endParaRPr>
          </a:p>
          <a:p>
            <a:pPr algn="l" rtl="0" eaLnBrk="0">
              <a:lnSpc>
                <a:spcPct val="101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保持良好的代码风格。</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66675" algn="l" rtl="0" eaLnBrk="0">
              <a:lnSpc>
                <a:spcPct val="92000"/>
              </a:lnSpc>
              <a:spcBef>
                <a:spcPts val="124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例如，为变量(函数，类，etc) 起清晰、明确、有意义的名字。</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62865" algn="l" rtl="0" eaLnBrk="0">
              <a:lnSpc>
                <a:spcPct val="131000"/>
              </a:lnSpc>
              <a:spcBef>
                <a:spcPts val="76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尽可能起清晰、明确、有意义的名字。不要使用拼音首字母缩写，不要使用不清晰的缩写， 也不要使用没有意义的字母。并且，遵循一些约定俗成的命名习惯。例如：</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405765" indent="-342900" algn="l" rtl="0" eaLnBrk="0">
              <a:lnSpc>
                <a:spcPct val="140000"/>
              </a:lnSpc>
              <a:spcBef>
                <a:spcPts val="57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变量和函数往往使用下划线命名法或小驼峰命名法，如some_value 或someFunc;</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405765" indent="-342900" algn="l" rtl="0" eaLnBrk="0">
              <a:lnSpc>
                <a:spcPct val="140000"/>
              </a:lnSpc>
              <a:spcBef>
                <a:spcPts val="57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类型，类和结构体往往使用大驼峰命名法，如SomeClass;</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405765" indent="-342900" algn="l" rtl="0" eaLnBrk="0">
              <a:lnSpc>
                <a:spcPct val="85000"/>
              </a:lnSpc>
              <a:spcBef>
                <a:spcPts val="1265"/>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常量和宏往往大写并使用下划线分隔，如CONST_VALUE;</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405765" indent="-342900" algn="l" rtl="0" eaLnBrk="0">
              <a:lnSpc>
                <a:spcPts val="3475"/>
              </a:lnSpc>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循环变量习惯使用i,j,k;</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405765" indent="-342900" algn="l" rtl="0" eaLnBrk="0">
              <a:lnSpc>
                <a:spcPct val="95000"/>
              </a:lnSpc>
              <a:spcBef>
                <a:spcPts val="1165"/>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类型参数习惯使用T。</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50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14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140000"/>
              </a:lnSpc>
              <a:spcBef>
                <a:spcPts val="0"/>
              </a:spcBef>
            </a:pPr>
            <a:endParaRPr sz="1800" dirty="0">
              <a:latin typeface="宋体" panose="02010600030101010101" pitchFamily="2" charset="-122"/>
              <a:ea typeface="宋体" panose="02010600030101010101" pitchFamily="2" charset="-122"/>
              <a:cs typeface="宋体" panose="02010600030101010101" pitchFamily="2" charset="-122"/>
            </a:endParaRPr>
          </a:p>
        </p:txBody>
      </p:sp>
      <p:pic>
        <p:nvPicPr>
          <p:cNvPr id="906" name="picture 906"/>
          <p:cNvPicPr>
            <a:picLocks noChangeAspect="1"/>
          </p:cNvPicPr>
          <p:nvPr/>
        </p:nvPicPr>
        <p:blipFill>
          <a:blip r:embed="rId2"/>
          <a:stretch>
            <a:fillRect/>
          </a:stretch>
        </p:blipFill>
        <p:spPr>
          <a:xfrm rot="21600000">
            <a:off x="539739" y="273016"/>
            <a:ext cx="711159" cy="679491"/>
          </a:xfrm>
          <a:prstGeom prst="rect">
            <a:avLst/>
          </a:prstGeom>
        </p:spPr>
      </p:pic>
      <p:pic>
        <p:nvPicPr>
          <p:cNvPr id="908" name="picture 908"/>
          <p:cNvPicPr>
            <a:picLocks noChangeAspect="1"/>
          </p:cNvPicPr>
          <p:nvPr/>
        </p:nvPicPr>
        <p:blipFill>
          <a:blip r:embed="rId3"/>
          <a:stretch>
            <a:fillRect/>
          </a:stretch>
        </p:blipFill>
        <p:spPr>
          <a:xfrm rot="21600000">
            <a:off x="184099" y="6623044"/>
            <a:ext cx="11791981" cy="12687"/>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0" name="picture 910"/>
          <p:cNvPicPr>
            <a:picLocks noChangeAspect="1"/>
          </p:cNvPicPr>
          <p:nvPr/>
        </p:nvPicPr>
        <p:blipFill>
          <a:blip r:embed="rId1"/>
          <a:stretch>
            <a:fillRect/>
          </a:stretch>
        </p:blipFill>
        <p:spPr>
          <a:xfrm rot="21600000">
            <a:off x="0" y="0"/>
            <a:ext cx="12192000" cy="6858000"/>
          </a:xfrm>
          <a:prstGeom prst="rect">
            <a:avLst/>
          </a:prstGeom>
        </p:spPr>
      </p:pic>
      <p:grpSp>
        <p:nvGrpSpPr>
          <p:cNvPr id="42" name="group 42"/>
          <p:cNvGrpSpPr/>
          <p:nvPr/>
        </p:nvGrpSpPr>
        <p:grpSpPr>
          <a:xfrm rot="21600000">
            <a:off x="1250919" y="1876458"/>
            <a:ext cx="9716134" cy="1695450"/>
            <a:chOff x="0" y="0"/>
            <a:chExt cx="9716134" cy="1695450"/>
          </a:xfrm>
        </p:grpSpPr>
        <p:sp>
          <p:nvSpPr>
            <p:cNvPr id="912" name="textbox 912"/>
            <p:cNvSpPr/>
            <p:nvPr/>
          </p:nvSpPr>
          <p:spPr>
            <a:xfrm>
              <a:off x="0" y="0"/>
              <a:ext cx="9716134" cy="1695450"/>
            </a:xfrm>
            <a:prstGeom prst="rect">
              <a:avLst/>
            </a:prstGeom>
            <a:solidFill>
              <a:srgbClr val="F6F3EC">
                <a:alpha val="100000"/>
              </a:srgbClr>
            </a:solidFill>
            <a:ln w="0" cap="flat">
              <a:noFill/>
              <a:prstDash val="solid"/>
              <a:miter lim="0"/>
            </a:ln>
          </p:spPr>
          <p:txBody>
            <a:bodyPr vert="horz" wrap="square" lIns="0" tIns="0" rIns="0" bIns="0"/>
            <a:lstStyle/>
            <a:p>
              <a:pPr algn="l" rtl="0" eaLnBrk="0">
                <a:lnSpc>
                  <a:spcPct val="107000"/>
                </a:lnSpc>
              </a:pPr>
              <a:endParaRPr sz="1000" dirty="0">
                <a:latin typeface="Arial" panose="020B0604020202020204"/>
                <a:ea typeface="Arial" panose="020B0604020202020204"/>
                <a:cs typeface="Arial" panose="020B0604020202020204"/>
              </a:endParaRPr>
            </a:p>
            <a:p>
              <a:pPr marL="171450" algn="l" rtl="0" eaLnBrk="0">
                <a:lnSpc>
                  <a:spcPts val="2115"/>
                </a:lnSpc>
                <a:spcBef>
                  <a:spcPts val="0"/>
                </a:spcBef>
              </a:pP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
          <p:nvSpPr>
            <p:cNvPr id="928" name="textbox 928"/>
            <p:cNvSpPr/>
            <p:nvPr/>
          </p:nvSpPr>
          <p:spPr>
            <a:xfrm>
              <a:off x="1111569" y="493196"/>
              <a:ext cx="142875" cy="142875"/>
            </a:xfrm>
            <a:prstGeom prst="rect">
              <a:avLst/>
            </a:prstGeom>
            <a:solidFill>
              <a:srgbClr val="F6F3EC">
                <a:alpha val="100000"/>
              </a:srgbClr>
            </a:solidFill>
            <a:ln w="0" cap="flat">
              <a:noFill/>
              <a:prstDash val="solid"/>
              <a:miter lim="0"/>
            </a:ln>
          </p:spPr>
          <p:txBody>
            <a:bodyPr vert="horz" wrap="square" lIns="0" tIns="0" rIns="0" bIns="0"/>
            <a:lstStyle/>
            <a:p>
              <a:pPr algn="l" rtl="0" eaLnBrk="0">
                <a:lnSpc>
                  <a:spcPct val="16000"/>
                </a:lnSpc>
              </a:pPr>
              <a:endParaRPr sz="100" dirty="0">
                <a:latin typeface="Arial" panose="020B0604020202020204"/>
                <a:ea typeface="Arial" panose="020B0604020202020204"/>
                <a:cs typeface="Arial" panose="020B0604020202020204"/>
              </a:endParaRPr>
            </a:p>
            <a:p>
              <a:pPr algn="r" rtl="0" eaLnBrk="0">
                <a:lnSpc>
                  <a:spcPct val="74000"/>
                </a:lnSpc>
              </a:pPr>
              <a:endParaRPr sz="1700" dirty="0">
                <a:latin typeface="Arial" panose="020B0604020202020204"/>
                <a:ea typeface="Arial" panose="020B0604020202020204"/>
                <a:cs typeface="Arial" panose="020B0604020202020204"/>
              </a:endParaRPr>
            </a:p>
          </p:txBody>
        </p:sp>
        <p:sp>
          <p:nvSpPr>
            <p:cNvPr id="938" name="textbox 938"/>
            <p:cNvSpPr/>
            <p:nvPr/>
          </p:nvSpPr>
          <p:spPr>
            <a:xfrm>
              <a:off x="171541" y="602083"/>
              <a:ext cx="149860" cy="335915"/>
            </a:xfrm>
            <a:prstGeom prst="rect">
              <a:avLst/>
            </a:prstGeom>
            <a:solidFill>
              <a:srgbClr val="F6F3EC">
                <a:alpha val="100000"/>
              </a:srgbClr>
            </a:solidFill>
            <a:ln w="0" cap="flat">
              <a:noFill/>
              <a:prstDash val="solid"/>
              <a:miter lim="0"/>
            </a:ln>
          </p:spPr>
          <p:txBody>
            <a:bodyPr vert="horz" wrap="square" lIns="0" tIns="0" rIns="0" bIns="0"/>
            <a:lstStyle/>
            <a:p>
              <a:pPr algn="r" rtl="0" eaLnBrk="0">
                <a:lnSpc>
                  <a:spcPts val="3140"/>
                </a:lnSpc>
              </a:pPr>
              <a:endParaRPr sz="2200" dirty="0">
                <a:latin typeface="Arial" panose="020B0604020202020204"/>
                <a:ea typeface="Arial" panose="020B0604020202020204"/>
                <a:cs typeface="Arial" panose="020B0604020202020204"/>
              </a:endParaRPr>
            </a:p>
          </p:txBody>
        </p:sp>
      </p:grpSp>
      <p:sp>
        <p:nvSpPr>
          <p:cNvPr id="944" name="textbox 944"/>
          <p:cNvSpPr/>
          <p:nvPr/>
        </p:nvSpPr>
        <p:spPr>
          <a:xfrm>
            <a:off x="1393777" y="505823"/>
            <a:ext cx="4316729" cy="1092200"/>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08000"/>
              </a:lnSpc>
            </a:pPr>
            <a:r>
              <a:rPr sz="1700"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sym typeface="+mn-ea"/>
              </a:rPr>
              <a:t>C++基础——良好的编程习惯</a:t>
            </a: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8000"/>
              </a:lnSpc>
            </a:pPr>
            <a:endParaRPr sz="1000" dirty="0">
              <a:latin typeface="Arial" panose="020B0604020202020204"/>
              <a:ea typeface="Arial" panose="020B0604020202020204"/>
              <a:cs typeface="Arial" panose="020B0604020202020204"/>
            </a:endParaRPr>
          </a:p>
          <a:p>
            <a:pPr algn="l" rtl="0" eaLnBrk="0">
              <a:lnSpc>
                <a:spcPct val="106000"/>
              </a:lnSpc>
            </a:pPr>
            <a:endParaRPr sz="400" dirty="0">
              <a:latin typeface="Arial" panose="020B0604020202020204"/>
              <a:ea typeface="Arial" panose="020B0604020202020204"/>
              <a:cs typeface="Arial" panose="020B0604020202020204"/>
            </a:endParaRPr>
          </a:p>
          <a:p>
            <a:pPr marL="12700" algn="l" rtl="0" eaLnBrk="0">
              <a:lnSpc>
                <a:spcPct val="98000"/>
              </a:lnSpc>
              <a:spcBef>
                <a:spcPts val="5"/>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通过下面的方式保护头文件：</a:t>
            </a:r>
            <a:endParaRPr sz="1700" dirty="0">
              <a:latin typeface="黑体" panose="02010609060101010101" charset="-122"/>
              <a:ea typeface="黑体" panose="02010609060101010101" charset="-122"/>
              <a:cs typeface="黑体" panose="02010609060101010101" charset="-122"/>
            </a:endParaRPr>
          </a:p>
        </p:txBody>
      </p:sp>
      <p:pic>
        <p:nvPicPr>
          <p:cNvPr id="946" name="picture 946"/>
          <p:cNvPicPr>
            <a:picLocks noChangeAspect="1"/>
          </p:cNvPicPr>
          <p:nvPr/>
        </p:nvPicPr>
        <p:blipFill>
          <a:blip r:embed="rId2"/>
          <a:stretch>
            <a:fillRect/>
          </a:stretch>
        </p:blipFill>
        <p:spPr>
          <a:xfrm rot="21600000">
            <a:off x="539739" y="273016"/>
            <a:ext cx="711159" cy="685800"/>
          </a:xfrm>
          <a:prstGeom prst="rect">
            <a:avLst/>
          </a:prstGeom>
        </p:spPr>
      </p:pic>
      <p:sp>
        <p:nvSpPr>
          <p:cNvPr id="2" name="文本框 1"/>
          <p:cNvSpPr txBox="1"/>
          <p:nvPr/>
        </p:nvSpPr>
        <p:spPr>
          <a:xfrm>
            <a:off x="1341120" y="1941830"/>
            <a:ext cx="5080000" cy="1630045"/>
          </a:xfrm>
          <a:prstGeom prst="rect">
            <a:avLst/>
          </a:prstGeom>
        </p:spPr>
        <p:txBody>
          <a:bodyPr>
            <a:spAutoFit/>
          </a:bodyPr>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#ifndef HEADER_FILE_H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#define HEADER_FILE_H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#include &lt;string&gt;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 Some code */ </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a:p>
            <a:r>
              <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rPr>
              <a:t>#endif</a:t>
            </a:r>
            <a:endParaRPr lang="en-US" sz="2000" kern="0" dirty="0">
              <a:solidFill>
                <a:schemeClr val="tx1">
                  <a:alpha val="100000"/>
                </a:schemeClr>
              </a:solidFill>
              <a:latin typeface="华文中宋" panose="02010600040101010101" charset="-122"/>
              <a:ea typeface="华文中宋" panose="02010600040101010101" charset="-122"/>
              <a:cs typeface="华文中宋" panose="02010600040101010101"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956"/>
          <p:cNvPicPr>
            <a:picLocks noChangeAspect="1"/>
          </p:cNvPicPr>
          <p:nvPr/>
        </p:nvPicPr>
        <p:blipFill>
          <a:blip r:embed="rId1"/>
          <a:stretch>
            <a:fillRect/>
          </a:stretch>
        </p:blipFill>
        <p:spPr>
          <a:xfrm rot="21600000">
            <a:off x="0" y="0"/>
            <a:ext cx="12192000" cy="6858000"/>
          </a:xfrm>
          <a:prstGeom prst="rect">
            <a:avLst/>
          </a:prstGeom>
        </p:spPr>
      </p:pic>
      <p:sp>
        <p:nvSpPr>
          <p:cNvPr id="964" name="textbox 964"/>
          <p:cNvSpPr/>
          <p:nvPr/>
        </p:nvSpPr>
        <p:spPr>
          <a:xfrm>
            <a:off x="1390650" y="487045"/>
            <a:ext cx="10370820" cy="482917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5875" algn="l" rtl="0" eaLnBrk="0">
              <a:lnSpc>
                <a:spcPct val="95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C++基础——作业</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9000"/>
              </a:lnSpc>
            </a:pP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9000"/>
              </a:lnSpc>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作业要求：</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5000"/>
              </a:lnSpc>
              <a:spcBef>
                <a:spcPts val="55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目标：</a:t>
            </a:r>
            <a:r>
              <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使用</a:t>
            </a:r>
            <a:r>
              <a:rPr lang="en-US" altLang="zh-CN"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C++</a:t>
            </a:r>
            <a:r>
              <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编写一个简易计算器，支持加法、减法、乘法和除法运算</a:t>
            </a:r>
            <a:endPar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5000"/>
              </a:lnSpc>
              <a:spcBef>
                <a:spcPts val="55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基础功能：</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spcBef>
                <a:spcPts val="550"/>
              </a:spcBef>
            </a:pPr>
            <a:r>
              <a:rPr 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1.</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主菜单：</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spcBef>
                <a:spcPts val="550"/>
              </a:spcBef>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展示所有可用的操作（加法、减法、乘法、除法）。</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spcBef>
                <a:spcPts val="550"/>
              </a:spcBef>
            </a:pPr>
            <a:r>
              <a:rPr 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2.</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提供退出选项。</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spcBef>
                <a:spcPts val="550"/>
              </a:spcBef>
            </a:pPr>
            <a:r>
              <a:rPr 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3.</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连续计算：允许用户在一次计算后选择是否使用上一次的结果作为下一个计算的输入之一。</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spcBef>
                <a:spcPts val="550"/>
              </a:spcBef>
            </a:pPr>
            <a:r>
              <a:rPr 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4.</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错误处理：对于除以零等情况给出友好的错误提示。</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55600" indent="-342900" algn="l" rtl="0" eaLnBrk="0">
              <a:lnSpc>
                <a:spcPct val="95000"/>
              </a:lnSpc>
              <a:spcBef>
                <a:spcPts val="550"/>
              </a:spcBef>
              <a:buFont typeface="Arial" panose="020B0604020202020204" pitchFamily="34" charset="0"/>
              <a:buChar char="•"/>
            </a:pP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加分项：</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spcBef>
                <a:spcPts val="550"/>
              </a:spcBef>
            </a:pPr>
            <a:r>
              <a:rPr 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1.</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简单表达式解析：允许用户输入简单的数学表达式（例如 2 + 3 * 4），并正确计算结果。</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12700" algn="l" rtl="0" eaLnBrk="0">
              <a:lnSpc>
                <a:spcPct val="95000"/>
              </a:lnSpc>
              <a:spcBef>
                <a:spcPts val="550"/>
              </a:spcBef>
            </a:pPr>
            <a:r>
              <a:rPr 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2.</a:t>
            </a:r>
            <a:r>
              <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图形化界面：使用第三方库来创建一个更加用户友好的界面。（可能需要额外学习如何使用这些库）</a:t>
            </a:r>
            <a:endParaRPr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34000"/>
              </a:lnSpc>
            </a:pPr>
            <a:endParaRPr sz="1000" dirty="0">
              <a:latin typeface="Arial" panose="020B0604020202020204"/>
              <a:ea typeface="Arial" panose="020B0604020202020204"/>
              <a:cs typeface="Arial" panose="020B0604020202020204"/>
            </a:endParaRPr>
          </a:p>
          <a:p>
            <a:pPr algn="l" rtl="0" eaLnBrk="0">
              <a:lnSpc>
                <a:spcPct val="104000"/>
              </a:lnSpc>
            </a:pPr>
            <a:endParaRPr sz="900" dirty="0">
              <a:latin typeface="Arial" panose="020B0604020202020204"/>
              <a:ea typeface="Arial" panose="020B0604020202020204"/>
              <a:cs typeface="Arial" panose="020B0604020202020204"/>
            </a:endParaRPr>
          </a:p>
          <a:p>
            <a:pPr marL="12700" algn="l" rtl="0" eaLnBrk="0">
              <a:lnSpc>
                <a:spcPct val="95000"/>
              </a:lnSpc>
              <a:spcBef>
                <a:spcPts val="5"/>
              </a:spcBef>
            </a:pPr>
            <a:endParaRPr sz="1800" dirty="0">
              <a:latin typeface="黑体" panose="02010609060101010101" charset="-122"/>
              <a:ea typeface="黑体" panose="02010609060101010101" charset="-122"/>
              <a:cs typeface="黑体" panose="02010609060101010101" charset="-122"/>
            </a:endParaRPr>
          </a:p>
        </p:txBody>
      </p:sp>
      <p:pic>
        <p:nvPicPr>
          <p:cNvPr id="966" name="picture 966"/>
          <p:cNvPicPr>
            <a:picLocks noChangeAspect="1"/>
          </p:cNvPicPr>
          <p:nvPr/>
        </p:nvPicPr>
        <p:blipFill>
          <a:blip r:embed="rId2"/>
          <a:stretch>
            <a:fillRect/>
          </a:stretch>
        </p:blipFill>
        <p:spPr>
          <a:xfrm rot="21600000">
            <a:off x="539739" y="273016"/>
            <a:ext cx="711159" cy="685800"/>
          </a:xfrm>
          <a:prstGeom prst="rect">
            <a:avLst/>
          </a:prstGeom>
        </p:spPr>
      </p:pic>
      <p:pic>
        <p:nvPicPr>
          <p:cNvPr id="968" name="picture 968"/>
          <p:cNvPicPr>
            <a:picLocks noChangeAspect="1"/>
          </p:cNvPicPr>
          <p:nvPr/>
        </p:nvPicPr>
        <p:blipFill>
          <a:blip r:embed="rId3"/>
          <a:stretch>
            <a:fillRect/>
          </a:stretch>
        </p:blipFill>
        <p:spPr>
          <a:xfrm rot="21600000">
            <a:off x="184099" y="6623044"/>
            <a:ext cx="11791981" cy="1268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956"/>
          <p:cNvPicPr>
            <a:picLocks noChangeAspect="1"/>
          </p:cNvPicPr>
          <p:nvPr/>
        </p:nvPicPr>
        <p:blipFill>
          <a:blip r:embed="rId1"/>
          <a:stretch>
            <a:fillRect/>
          </a:stretch>
        </p:blipFill>
        <p:spPr>
          <a:xfrm rot="21600000">
            <a:off x="0" y="0"/>
            <a:ext cx="12192000" cy="6858000"/>
          </a:xfrm>
          <a:prstGeom prst="rect">
            <a:avLst/>
          </a:prstGeom>
        </p:spPr>
      </p:pic>
      <p:sp>
        <p:nvSpPr>
          <p:cNvPr id="964" name="textbox 964"/>
          <p:cNvSpPr/>
          <p:nvPr/>
        </p:nvSpPr>
        <p:spPr>
          <a:xfrm>
            <a:off x="1390650" y="487045"/>
            <a:ext cx="10514330" cy="4829175"/>
          </a:xfrm>
          <a:prstGeom prst="rect">
            <a:avLst/>
          </a:prstGeom>
          <a:noFill/>
          <a:ln w="0" cap="flat">
            <a:noFill/>
            <a:prstDash val="solid"/>
            <a:miter lim="0"/>
          </a:ln>
        </p:spPr>
        <p:txBody>
          <a:bodyPr vert="horz" wrap="square" lIns="0" tIns="0" rIns="0" bIns="0"/>
          <a:lstStyle/>
          <a:p>
            <a:pPr algn="l" rtl="0" eaLnBrk="0">
              <a:lnSpc>
                <a:spcPct val="92000"/>
              </a:lnSpc>
            </a:pPr>
            <a:endParaRPr sz="100" dirty="0">
              <a:latin typeface="Arial" panose="020B0604020202020204"/>
              <a:ea typeface="Arial" panose="020B0604020202020204"/>
              <a:cs typeface="Arial" panose="020B0604020202020204"/>
            </a:endParaRPr>
          </a:p>
          <a:p>
            <a:pPr marL="15875" algn="l" rtl="0" eaLnBrk="0">
              <a:lnSpc>
                <a:spcPct val="95000"/>
              </a:lnSpc>
            </a:pPr>
            <a:r>
              <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rPr>
              <a:t>C++基础——作业</a:t>
            </a:r>
            <a:endParaRPr b="1" kern="0" spc="-30" dirty="0">
              <a:solidFill>
                <a:schemeClr val="tx1">
                  <a:alpha val="100000"/>
                </a:schemeClr>
              </a:solidFill>
              <a:latin typeface="方正公文楷体" panose="02000500000000000000" charset="-122"/>
              <a:ea typeface="方正公文楷体" panose="02000500000000000000" charset="-122"/>
              <a:cs typeface="方正公文楷体" panose="02000500000000000000" charset="-122"/>
            </a:endParaRPr>
          </a:p>
          <a:p>
            <a:pPr algn="l" rtl="0" eaLnBrk="0">
              <a:lnSpc>
                <a:spcPct val="109000"/>
              </a:lnSpc>
            </a:pPr>
            <a:endParaRPr sz="1000" dirty="0">
              <a:latin typeface="Arial" panose="020B0604020202020204"/>
              <a:ea typeface="Arial" panose="020B0604020202020204"/>
              <a:cs typeface="Arial" panose="020B0604020202020204"/>
            </a:endParaRPr>
          </a:p>
          <a:p>
            <a:pPr algn="l" rtl="0" eaLnBrk="0">
              <a:lnSpc>
                <a:spcPct val="104000"/>
              </a:lnSpc>
            </a:pPr>
            <a:endParaRPr sz="900" dirty="0">
              <a:latin typeface="Arial" panose="020B0604020202020204"/>
              <a:ea typeface="Arial" panose="020B0604020202020204"/>
              <a:cs typeface="Arial" panose="020B0604020202020204"/>
            </a:endParaRPr>
          </a:p>
          <a:p>
            <a:pPr marL="12700" algn="l" rtl="0" eaLnBrk="0">
              <a:lnSpc>
                <a:spcPct val="95000"/>
              </a:lnSpc>
              <a:spcBef>
                <a:spcPts val="5"/>
              </a:spcBef>
            </a:pPr>
            <a:endParaRPr sz="1800" dirty="0">
              <a:latin typeface="黑体" panose="02010609060101010101" charset="-122"/>
              <a:ea typeface="黑体" panose="02010609060101010101" charset="-122"/>
              <a:cs typeface="黑体" panose="02010609060101010101" charset="-122"/>
            </a:endParaRPr>
          </a:p>
        </p:txBody>
      </p:sp>
      <p:pic>
        <p:nvPicPr>
          <p:cNvPr id="966" name="picture 966"/>
          <p:cNvPicPr>
            <a:picLocks noChangeAspect="1"/>
          </p:cNvPicPr>
          <p:nvPr/>
        </p:nvPicPr>
        <p:blipFill>
          <a:blip r:embed="rId2"/>
          <a:stretch>
            <a:fillRect/>
          </a:stretch>
        </p:blipFill>
        <p:spPr>
          <a:xfrm rot="21600000">
            <a:off x="539739" y="273016"/>
            <a:ext cx="711159" cy="685800"/>
          </a:xfrm>
          <a:prstGeom prst="rect">
            <a:avLst/>
          </a:prstGeom>
        </p:spPr>
      </p:pic>
      <p:pic>
        <p:nvPicPr>
          <p:cNvPr id="968" name="picture 968"/>
          <p:cNvPicPr>
            <a:picLocks noChangeAspect="1"/>
          </p:cNvPicPr>
          <p:nvPr/>
        </p:nvPicPr>
        <p:blipFill>
          <a:blip r:embed="rId3"/>
          <a:stretch>
            <a:fillRect/>
          </a:stretch>
        </p:blipFill>
        <p:spPr>
          <a:xfrm rot="21600000">
            <a:off x="184099" y="6623044"/>
            <a:ext cx="11791981" cy="12687"/>
          </a:xfrm>
          <a:prstGeom prst="rect">
            <a:avLst/>
          </a:prstGeom>
        </p:spPr>
      </p:pic>
      <p:sp>
        <p:nvSpPr>
          <p:cNvPr id="3" name="文本框 2"/>
          <p:cNvSpPr txBox="1"/>
          <p:nvPr/>
        </p:nvSpPr>
        <p:spPr>
          <a:xfrm>
            <a:off x="1169670" y="1325245"/>
            <a:ext cx="9739630" cy="2245360"/>
          </a:xfrm>
          <a:prstGeom prst="rect">
            <a:avLst/>
          </a:prstGeom>
          <a:noFill/>
        </p:spPr>
        <p:txBody>
          <a:bodyPr wrap="square" rtlCol="0">
            <a:spAutoFit/>
          </a:bodyPr>
          <a:p>
            <a:r>
              <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用C++编写一个扫雷游戏吧!</a:t>
            </a:r>
            <a:endPar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r>
              <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你应当尽可能实现扫雷游戏的基本功能。</a:t>
            </a:r>
            <a:endPar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r>
              <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实现以下功能是加分项：</a:t>
            </a:r>
            <a:endPar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42900" indent="-342900">
              <a:buFont typeface="Arial" panose="020B0604020202020204" pitchFamily="34" charset="0"/>
              <a:buChar char="•"/>
            </a:pPr>
            <a:r>
              <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自定义地图大小和地雷的数量；</a:t>
            </a:r>
            <a:endPar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42900" indent="-342900">
              <a:buFont typeface="Arial" panose="020B0604020202020204" pitchFamily="34" charset="0"/>
              <a:buChar char="•"/>
            </a:pPr>
            <a:r>
              <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连锁挖开地块(即，自动挖开与无雷地块相邻的周围无雷的无雷地块。);</a:t>
            </a:r>
            <a:endPar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pPr marL="342900" indent="-342900">
              <a:buFont typeface="Arial" panose="020B0604020202020204" pitchFamily="34" charset="0"/>
              <a:buChar char="•"/>
            </a:pPr>
            <a:r>
              <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rPr>
              <a:t>实现良好的用户界面(甚至是图形界面))。</a:t>
            </a:r>
            <a:endPar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a:p>
            <a:endParaRPr lang="zh-CN" altLang="en-US" sz="2000" kern="0" spc="100" dirty="0">
              <a:solidFill>
                <a:srgbClr val="000000">
                  <a:alpha val="100000"/>
                </a:srgbClr>
              </a:solidFill>
              <a:latin typeface="方正公文楷体" panose="02000500000000000000" charset="-122"/>
              <a:ea typeface="方正公文楷体" panose="02000500000000000000" charset="-122"/>
              <a:cs typeface="方正公文楷体" panose="02000500000000000000" charset="-122"/>
            </a:endParaRPr>
          </a:p>
        </p:txBody>
      </p:sp>
      <p:sp>
        <p:nvSpPr>
          <p:cNvPr id="4" name="文本框 3"/>
          <p:cNvSpPr txBox="1"/>
          <p:nvPr/>
        </p:nvSpPr>
        <p:spPr>
          <a:xfrm>
            <a:off x="1169670" y="4295140"/>
            <a:ext cx="9147810" cy="983615"/>
          </a:xfrm>
          <a:prstGeom prst="rect">
            <a:avLst/>
          </a:prstGeom>
          <a:noFill/>
        </p:spPr>
        <p:txBody>
          <a:bodyPr wrap="square" rtlCol="0">
            <a:spAutoFit/>
          </a:bodyPr>
          <a:p>
            <a:r>
              <a:rPr lang="zh-CN" altLang="en-US" sz="2000" kern="0" spc="100" dirty="0">
                <a:solidFill>
                  <a:srgbClr val="000000">
                    <a:alpha val="100000"/>
                  </a:srgbClr>
                </a:solidFill>
                <a:highlight>
                  <a:srgbClr val="FFFF00"/>
                </a:highlight>
                <a:latin typeface="方正公文楷体" panose="02000500000000000000" charset="-122"/>
                <a:ea typeface="方正公文楷体" panose="02000500000000000000" charset="-122"/>
                <a:cs typeface="方正公文楷体" panose="02000500000000000000" charset="-122"/>
              </a:rPr>
              <a:t>提交作业，请将源代码、编译好的二进制程序，以及简单的使用说明打包为压缩文件， 发送至soccerbasesoftware@163.com。</a:t>
            </a:r>
            <a:endParaRPr lang="zh-CN" altLang="en-US" sz="2000" kern="0" spc="100" dirty="0">
              <a:solidFill>
                <a:srgbClr val="000000">
                  <a:alpha val="100000"/>
                </a:srgbClr>
              </a:solidFill>
              <a:highlight>
                <a:srgbClr val="FFFF00"/>
              </a:highlight>
              <a:latin typeface="方正公文楷体" panose="02000500000000000000" charset="-122"/>
              <a:ea typeface="方正公文楷体" panose="02000500000000000000" charset="-122"/>
              <a:cs typeface="方正公文楷体" panose="02000500000000000000" charset="-122"/>
            </a:endParaRPr>
          </a:p>
          <a:p>
            <a:endParaRPr lang="zh-CN" altLang="en-US" sz="2000" kern="0" spc="100" dirty="0">
              <a:solidFill>
                <a:srgbClr val="000000">
                  <a:alpha val="100000"/>
                </a:srgbClr>
              </a:solidFill>
              <a:highlight>
                <a:srgbClr val="FFFF00"/>
              </a:highlight>
              <a:latin typeface="方正公文楷体" panose="02000500000000000000" charset="-122"/>
              <a:ea typeface="方正公文楷体" panose="02000500000000000000" charset="-122"/>
              <a:cs typeface="方正公文楷体" panose="02000500000000000000" charset="-122"/>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9738</Words>
  <Application>WPS 演示</Application>
  <PresentationFormat/>
  <Paragraphs>783</Paragraphs>
  <Slides>43</Slides>
  <Notes>0</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43</vt:i4>
      </vt:variant>
    </vt:vector>
  </HeadingPairs>
  <TitlesOfParts>
    <vt:vector size="74" baseType="lpstr">
      <vt:lpstr>Arial</vt:lpstr>
      <vt:lpstr>宋体</vt:lpstr>
      <vt:lpstr>Wingdings</vt:lpstr>
      <vt:lpstr>Arial</vt:lpstr>
      <vt:lpstr>黑体</vt:lpstr>
      <vt:lpstr>Times New Roman</vt:lpstr>
      <vt:lpstr>微软雅黑</vt:lpstr>
      <vt:lpstr>Arial Unicode MS</vt:lpstr>
      <vt:lpstr>Calibri</vt:lpstr>
      <vt:lpstr>汉仪铸字卡酷体简</vt:lpstr>
      <vt:lpstr>汉仪星宇体简</vt:lpstr>
      <vt:lpstr>仿宋</vt:lpstr>
      <vt:lpstr>华文中宋</vt:lpstr>
      <vt:lpstr>华文仿宋</vt:lpstr>
      <vt:lpstr>华文琥珀</vt:lpstr>
      <vt:lpstr>华文细黑</vt:lpstr>
      <vt:lpstr>华文行楷</vt:lpstr>
      <vt:lpstr>OS小狗笨笨黑体</vt:lpstr>
      <vt:lpstr>方正公文楷体</vt:lpstr>
      <vt:lpstr>Wingdings</vt:lpstr>
      <vt:lpstr>方正姚体</vt:lpstr>
      <vt:lpstr>方正舒体</vt:lpstr>
      <vt:lpstr>隶书</vt:lpstr>
      <vt:lpstr>标准粗黑</vt:lpstr>
      <vt:lpstr>汉仪颜楷简</vt:lpstr>
      <vt:lpstr>新宋体</vt:lpstr>
      <vt:lpstr>Microsoft JhengHei</vt:lpstr>
      <vt:lpstr>汉仪中黑 197</vt:lpstr>
      <vt:lpstr>FiraCode-Regular</vt:lpstr>
      <vt:lpstr>ksdb</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Kingsoft-PDF</dc:creator>
  <dc:subject>pdfbuilder</dc:subject>
  <cp:lastModifiedBy>田雨竺</cp:lastModifiedBy>
  <cp:revision>11</cp:revision>
  <dcterms:created xsi:type="dcterms:W3CDTF">2025-02-05T12:18:36Z</dcterms:created>
  <dcterms:modified xsi:type="dcterms:W3CDTF">2025-02-07T14:56:47Z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2025-02-05T20:03:52Z</vt:filetime>
  </property>
  <property fmtid="{D5CDD505-2E9C-101B-9397-08002B2CF9AE}" pid="4" name="UsrData">
    <vt:lpwstr>67a35392e9f72c001f499cc3wl</vt:lpwstr>
  </property>
  <property fmtid="{D5CDD505-2E9C-101B-9397-08002B2CF9AE}" pid="5" name="ICV">
    <vt:lpwstr>8BFD56ABBA80450C8C234B7A2275D890_12</vt:lpwstr>
  </property>
  <property fmtid="{D5CDD505-2E9C-101B-9397-08002B2CF9AE}" pid="6" name="KSOProductBuildVer">
    <vt:lpwstr>2052-12.1.0.19302</vt:lpwstr>
  </property>
</Properties>
</file>