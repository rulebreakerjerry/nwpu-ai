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47"/>
  </p:notesMasterIdLst>
  <p:sldIdLst>
    <p:sldId id="314" r:id="rId2"/>
    <p:sldId id="312" r:id="rId3"/>
    <p:sldId id="354" r:id="rId4"/>
    <p:sldId id="355" r:id="rId5"/>
    <p:sldId id="711" r:id="rId6"/>
    <p:sldId id="713" r:id="rId7"/>
    <p:sldId id="714" r:id="rId8"/>
    <p:sldId id="715" r:id="rId9"/>
    <p:sldId id="712" r:id="rId10"/>
    <p:sldId id="258" r:id="rId11"/>
    <p:sldId id="338" r:id="rId12"/>
    <p:sldId id="339" r:id="rId13"/>
    <p:sldId id="341" r:id="rId14"/>
    <p:sldId id="342" r:id="rId15"/>
    <p:sldId id="343" r:id="rId16"/>
    <p:sldId id="269" r:id="rId17"/>
    <p:sldId id="270" r:id="rId18"/>
    <p:sldId id="273" r:id="rId19"/>
    <p:sldId id="315" r:id="rId20"/>
    <p:sldId id="316" r:id="rId21"/>
    <p:sldId id="317" r:id="rId22"/>
    <p:sldId id="318" r:id="rId23"/>
    <p:sldId id="319" r:id="rId24"/>
    <p:sldId id="274" r:id="rId25"/>
    <p:sldId id="276" r:id="rId26"/>
    <p:sldId id="277" r:id="rId27"/>
    <p:sldId id="275" r:id="rId28"/>
    <p:sldId id="279" r:id="rId29"/>
    <p:sldId id="320" r:id="rId30"/>
    <p:sldId id="321" r:id="rId31"/>
    <p:sldId id="322" r:id="rId32"/>
    <p:sldId id="284" r:id="rId33"/>
    <p:sldId id="347"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196" autoAdjust="0"/>
  </p:normalViewPr>
  <p:slideViewPr>
    <p:cSldViewPr>
      <p:cViewPr varScale="1">
        <p:scale>
          <a:sx n="120" d="100"/>
          <a:sy n="120" d="100"/>
        </p:scale>
        <p:origin x="2122" y="8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19C380-284E-4FD6-96D1-0CAAF66E2B4A}" type="datetimeFigureOut">
              <a:rPr lang="zh-CN" altLang="en-US" smtClean="0"/>
              <a:t>2026/5/17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248280-300E-4A8A-AC65-0162249D2523}" type="slidenum">
              <a:rPr lang="zh-CN" altLang="en-US" smtClean="0"/>
              <a:t>‹#›</a:t>
            </a:fld>
            <a:endParaRPr lang="zh-CN" altLang="en-US"/>
          </a:p>
        </p:txBody>
      </p:sp>
    </p:spTree>
    <p:extLst>
      <p:ext uri="{BB962C8B-B14F-4D97-AF65-F5344CB8AC3E}">
        <p14:creationId xmlns:p14="http://schemas.microsoft.com/office/powerpoint/2010/main" val="175540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3</a:t>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4</a:t>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5</a:t>
            </a:fld>
            <a:endParaRPr lang="zh-CN" altLang="en-US" dirty="0"/>
          </a:p>
        </p:txBody>
      </p:sp>
    </p:spTree>
    <p:extLst>
      <p:ext uri="{BB962C8B-B14F-4D97-AF65-F5344CB8AC3E}">
        <p14:creationId xmlns:p14="http://schemas.microsoft.com/office/powerpoint/2010/main" val="2956107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6</a:t>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7</a:t>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8</a:t>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9</a:t>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248280-300E-4A8A-AC65-0162249D2523}" type="slidenum">
              <a:rPr lang="zh-CN" altLang="en-US" smtClean="0"/>
              <a:t>30</a:t>
            </a:fld>
            <a:endParaRPr lang="zh-CN" altLang="en-US"/>
          </a:p>
        </p:txBody>
      </p:sp>
    </p:spTree>
    <p:extLst>
      <p:ext uri="{BB962C8B-B14F-4D97-AF65-F5344CB8AC3E}">
        <p14:creationId xmlns:p14="http://schemas.microsoft.com/office/powerpoint/2010/main" val="2368180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248280-300E-4A8A-AC65-0162249D2523}" type="slidenum">
              <a:rPr lang="zh-CN" altLang="en-US" smtClean="0"/>
              <a:t>39</a:t>
            </a:fld>
            <a:endParaRPr lang="zh-CN" altLang="en-US"/>
          </a:p>
        </p:txBody>
      </p:sp>
    </p:spTree>
    <p:extLst>
      <p:ext uri="{BB962C8B-B14F-4D97-AF65-F5344CB8AC3E}">
        <p14:creationId xmlns:p14="http://schemas.microsoft.com/office/powerpoint/2010/main" val="886586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84994" name="Freeform 2"/>
          <p:cNvSpPr>
            <a:spLocks/>
          </p:cNvSpPr>
          <p:nvPr/>
        </p:nvSpPr>
        <p:spPr bwMode="auto">
          <a:xfrm>
            <a:off x="4760913" y="20638"/>
            <a:ext cx="4438650" cy="4038600"/>
          </a:xfrm>
          <a:custGeom>
            <a:avLst/>
            <a:gdLst/>
            <a:ahLst/>
            <a:cxnLst>
              <a:cxn ang="0">
                <a:pos x="23" y="4"/>
              </a:cxn>
              <a:cxn ang="0">
                <a:pos x="11" y="71"/>
              </a:cxn>
              <a:cxn ang="0">
                <a:pos x="25" y="393"/>
              </a:cxn>
              <a:cxn ang="0">
                <a:pos x="54" y="457"/>
              </a:cxn>
              <a:cxn ang="0">
                <a:pos x="158" y="482"/>
              </a:cxn>
              <a:cxn ang="0">
                <a:pos x="204" y="495"/>
              </a:cxn>
              <a:cxn ang="0">
                <a:pos x="520" y="475"/>
              </a:cxn>
              <a:cxn ang="0">
                <a:pos x="533" y="167"/>
              </a:cxn>
              <a:cxn ang="0">
                <a:pos x="369" y="16"/>
              </a:cxn>
              <a:cxn ang="0">
                <a:pos x="249" y="29"/>
              </a:cxn>
              <a:cxn ang="0">
                <a:pos x="198" y="11"/>
              </a:cxn>
              <a:cxn ang="0">
                <a:pos x="151" y="2"/>
              </a:cxn>
              <a:cxn ang="0">
                <a:pos x="23" y="4"/>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w="0">
            <a:noFill/>
            <a:prstDash val="solid"/>
            <a:round/>
            <a:headEnd/>
            <a:tailEnd/>
          </a:ln>
        </p:spPr>
        <p:txBody>
          <a:bodyPr/>
          <a:lstStyle/>
          <a:p>
            <a:endParaRPr lang="zh-CN" altLang="en-US"/>
          </a:p>
        </p:txBody>
      </p:sp>
      <p:grpSp>
        <p:nvGrpSpPr>
          <p:cNvPr id="84995" name="Group 3"/>
          <p:cNvGrpSpPr>
            <a:grpSpLocks/>
          </p:cNvGrpSpPr>
          <p:nvPr/>
        </p:nvGrpSpPr>
        <p:grpSpPr bwMode="auto">
          <a:xfrm>
            <a:off x="4572000" y="28575"/>
            <a:ext cx="4756150" cy="4338638"/>
            <a:chOff x="2918" y="18"/>
            <a:chExt cx="2958" cy="2699"/>
          </a:xfrm>
        </p:grpSpPr>
        <p:sp>
          <p:nvSpPr>
            <p:cNvPr id="84996" name="Freeform 4"/>
            <p:cNvSpPr>
              <a:spLocks/>
            </p:cNvSpPr>
            <p:nvPr/>
          </p:nvSpPr>
          <p:spPr bwMode="auto">
            <a:xfrm>
              <a:off x="3060" y="18"/>
              <a:ext cx="490" cy="187"/>
            </a:xfrm>
            <a:custGeom>
              <a:avLst/>
              <a:gdLst/>
              <a:ahLst/>
              <a:cxnLst>
                <a:cxn ang="0">
                  <a:pos x="71" y="25"/>
                </a:cxn>
                <a:cxn ang="0">
                  <a:pos x="91" y="20"/>
                </a:cxn>
                <a:cxn ang="0">
                  <a:pos x="92" y="17"/>
                </a:cxn>
                <a:cxn ang="0">
                  <a:pos x="88" y="0"/>
                </a:cxn>
                <a:cxn ang="0">
                  <a:pos x="25" y="0"/>
                </a:cxn>
                <a:cxn ang="0">
                  <a:pos x="10" y="22"/>
                </a:cxn>
                <a:cxn ang="0">
                  <a:pos x="71" y="25"/>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w="0">
              <a:noFill/>
              <a:prstDash val="solid"/>
              <a:round/>
              <a:headEnd/>
              <a:tailEnd/>
            </a:ln>
          </p:spPr>
          <p:txBody>
            <a:bodyPr/>
            <a:lstStyle/>
            <a:p>
              <a:endParaRPr lang="zh-CN" altLang="en-US"/>
            </a:p>
          </p:txBody>
        </p:sp>
        <p:sp>
          <p:nvSpPr>
            <p:cNvPr id="84997" name="Freeform 5"/>
            <p:cNvSpPr>
              <a:spLocks noEditPoints="1"/>
            </p:cNvSpPr>
            <p:nvPr/>
          </p:nvSpPr>
          <p:spPr bwMode="auto">
            <a:xfrm>
              <a:off x="2918" y="18"/>
              <a:ext cx="2958" cy="2699"/>
            </a:xfrm>
            <a:custGeom>
              <a:avLst/>
              <a:gdLst/>
              <a:ahLst/>
              <a:cxnLst>
                <a:cxn ang="0">
                  <a:pos x="504" y="1"/>
                </a:cxn>
                <a:cxn ang="0">
                  <a:pos x="157" y="0"/>
                </a:cxn>
                <a:cxn ang="0">
                  <a:pos x="225" y="21"/>
                </a:cxn>
                <a:cxn ang="0">
                  <a:pos x="174" y="39"/>
                </a:cxn>
                <a:cxn ang="0">
                  <a:pos x="207" y="71"/>
                </a:cxn>
                <a:cxn ang="0">
                  <a:pos x="74" y="60"/>
                </a:cxn>
                <a:cxn ang="0">
                  <a:pos x="26" y="63"/>
                </a:cxn>
                <a:cxn ang="0">
                  <a:pos x="199" y="487"/>
                </a:cxn>
                <a:cxn ang="0">
                  <a:pos x="144" y="341"/>
                </a:cxn>
                <a:cxn ang="0">
                  <a:pos x="105" y="376"/>
                </a:cxn>
                <a:cxn ang="0">
                  <a:pos x="94" y="435"/>
                </a:cxn>
                <a:cxn ang="0">
                  <a:pos x="124" y="265"/>
                </a:cxn>
                <a:cxn ang="0">
                  <a:pos x="153" y="228"/>
                </a:cxn>
                <a:cxn ang="0">
                  <a:pos x="209" y="237"/>
                </a:cxn>
                <a:cxn ang="0">
                  <a:pos x="188" y="306"/>
                </a:cxn>
                <a:cxn ang="0">
                  <a:pos x="192" y="395"/>
                </a:cxn>
                <a:cxn ang="0">
                  <a:pos x="515" y="483"/>
                </a:cxn>
                <a:cxn ang="0">
                  <a:pos x="454" y="427"/>
                </a:cxn>
                <a:cxn ang="0">
                  <a:pos x="425" y="345"/>
                </a:cxn>
                <a:cxn ang="0">
                  <a:pos x="396" y="270"/>
                </a:cxn>
                <a:cxn ang="0">
                  <a:pos x="460" y="256"/>
                </a:cxn>
                <a:cxn ang="0">
                  <a:pos x="407" y="223"/>
                </a:cxn>
                <a:cxn ang="0">
                  <a:pos x="439" y="226"/>
                </a:cxn>
                <a:cxn ang="0">
                  <a:pos x="438" y="209"/>
                </a:cxn>
                <a:cxn ang="0">
                  <a:pos x="376" y="211"/>
                </a:cxn>
                <a:cxn ang="0">
                  <a:pos x="357" y="343"/>
                </a:cxn>
                <a:cxn ang="0">
                  <a:pos x="347" y="230"/>
                </a:cxn>
                <a:cxn ang="0">
                  <a:pos x="331" y="182"/>
                </a:cxn>
                <a:cxn ang="0">
                  <a:pos x="347" y="136"/>
                </a:cxn>
                <a:cxn ang="0">
                  <a:pos x="339" y="99"/>
                </a:cxn>
                <a:cxn ang="0">
                  <a:pos x="331" y="62"/>
                </a:cxn>
                <a:cxn ang="0">
                  <a:pos x="369" y="103"/>
                </a:cxn>
                <a:cxn ang="0">
                  <a:pos x="415" y="47"/>
                </a:cxn>
                <a:cxn ang="0">
                  <a:pos x="409" y="95"/>
                </a:cxn>
                <a:cxn ang="0">
                  <a:pos x="401" y="130"/>
                </a:cxn>
                <a:cxn ang="0">
                  <a:pos x="401" y="181"/>
                </a:cxn>
                <a:cxn ang="0">
                  <a:pos x="558" y="181"/>
                </a:cxn>
                <a:cxn ang="0">
                  <a:pos x="554" y="76"/>
                </a:cxn>
                <a:cxn ang="0">
                  <a:pos x="249" y="69"/>
                </a:cxn>
                <a:cxn ang="0">
                  <a:pos x="293" y="93"/>
                </a:cxn>
                <a:cxn ang="0">
                  <a:pos x="171" y="195"/>
                </a:cxn>
                <a:cxn ang="0">
                  <a:pos x="69" y="98"/>
                </a:cxn>
                <a:cxn ang="0">
                  <a:pos x="191" y="106"/>
                </a:cxn>
                <a:cxn ang="0">
                  <a:pos x="220" y="105"/>
                </a:cxn>
                <a:cxn ang="0">
                  <a:pos x="302" y="121"/>
                </a:cxn>
                <a:cxn ang="0">
                  <a:pos x="276" y="256"/>
                </a:cxn>
                <a:cxn ang="0">
                  <a:pos x="260" y="137"/>
                </a:cxn>
                <a:cxn ang="0">
                  <a:pos x="171" y="195"/>
                </a:cxn>
                <a:cxn ang="0">
                  <a:pos x="223" y="225"/>
                </a:cxn>
                <a:cxn ang="0">
                  <a:pos x="247" y="158"/>
                </a:cxn>
                <a:cxn ang="0">
                  <a:pos x="326" y="292"/>
                </a:cxn>
                <a:cxn ang="0">
                  <a:pos x="215" y="321"/>
                </a:cxn>
                <a:cxn ang="0">
                  <a:pos x="309" y="277"/>
                </a:cxn>
                <a:cxn ang="0">
                  <a:pos x="318" y="133"/>
                </a:cxn>
                <a:cxn ang="0">
                  <a:pos x="313" y="213"/>
                </a:cxn>
                <a:cxn ang="0">
                  <a:pos x="299" y="144"/>
                </a:cxn>
                <a:cxn ang="0">
                  <a:pos x="507" y="179"/>
                </a:cxn>
                <a:cxn ang="0">
                  <a:pos x="461" y="162"/>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w="0">
              <a:noFill/>
              <a:prstDash val="solid"/>
              <a:round/>
              <a:headEnd/>
              <a:tailEnd/>
            </a:ln>
          </p:spPr>
          <p:txBody>
            <a:bodyPr/>
            <a:lstStyle/>
            <a:p>
              <a:endParaRPr lang="zh-CN" altLang="en-US"/>
            </a:p>
          </p:txBody>
        </p:sp>
        <p:sp>
          <p:nvSpPr>
            <p:cNvPr id="84998" name="Freeform 6"/>
            <p:cNvSpPr>
              <a:spLocks/>
            </p:cNvSpPr>
            <p:nvPr/>
          </p:nvSpPr>
          <p:spPr bwMode="auto">
            <a:xfrm>
              <a:off x="3621" y="1287"/>
              <a:ext cx="238" cy="283"/>
            </a:xfrm>
            <a:custGeom>
              <a:avLst/>
              <a:gdLst/>
              <a:ahLst/>
              <a:cxnLst>
                <a:cxn ang="0">
                  <a:pos x="40" y="15"/>
                </a:cxn>
                <a:cxn ang="0">
                  <a:pos x="27" y="56"/>
                </a:cxn>
                <a:cxn ang="0">
                  <a:pos x="40" y="15"/>
                </a:cxn>
              </a:cxnLst>
              <a:rect l="0" t="0" r="r" b="b"/>
              <a:pathLst>
                <a:path w="47" h="56">
                  <a:moveTo>
                    <a:pt x="40" y="15"/>
                  </a:moveTo>
                  <a:cubicBezTo>
                    <a:pt x="37" y="0"/>
                    <a:pt x="0" y="23"/>
                    <a:pt x="27" y="56"/>
                  </a:cubicBezTo>
                  <a:cubicBezTo>
                    <a:pt x="27" y="56"/>
                    <a:pt x="47" y="49"/>
                    <a:pt x="40" y="15"/>
                  </a:cubicBezTo>
                  <a:close/>
                </a:path>
              </a:pathLst>
            </a:custGeom>
            <a:solidFill>
              <a:schemeClr val="bg1"/>
            </a:solidFill>
            <a:ln w="0">
              <a:noFill/>
              <a:prstDash val="solid"/>
              <a:round/>
              <a:headEnd/>
              <a:tailEnd/>
            </a:ln>
          </p:spPr>
          <p:txBody>
            <a:bodyPr/>
            <a:lstStyle/>
            <a:p>
              <a:endParaRPr lang="zh-CN" altLang="en-US"/>
            </a:p>
          </p:txBody>
        </p:sp>
        <p:sp>
          <p:nvSpPr>
            <p:cNvPr id="84999" name="Freeform 7"/>
            <p:cNvSpPr>
              <a:spLocks/>
            </p:cNvSpPr>
            <p:nvPr/>
          </p:nvSpPr>
          <p:spPr bwMode="auto">
            <a:xfrm>
              <a:off x="3403" y="1403"/>
              <a:ext cx="208" cy="379"/>
            </a:xfrm>
            <a:custGeom>
              <a:avLst/>
              <a:gdLst/>
              <a:ahLst/>
              <a:cxnLst>
                <a:cxn ang="0">
                  <a:pos x="19" y="27"/>
                </a:cxn>
                <a:cxn ang="0">
                  <a:pos x="12" y="69"/>
                </a:cxn>
                <a:cxn ang="0">
                  <a:pos x="40" y="45"/>
                </a:cxn>
                <a:cxn ang="0">
                  <a:pos x="37" y="24"/>
                </a:cxn>
                <a:cxn ang="0">
                  <a:pos x="19" y="27"/>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w="0">
              <a:noFill/>
              <a:prstDash val="solid"/>
              <a:round/>
              <a:headEnd/>
              <a:tailEnd/>
            </a:ln>
          </p:spPr>
          <p:txBody>
            <a:bodyPr/>
            <a:lstStyle/>
            <a:p>
              <a:endParaRPr lang="zh-CN" altLang="en-US"/>
            </a:p>
          </p:txBody>
        </p:sp>
        <p:sp>
          <p:nvSpPr>
            <p:cNvPr id="85000" name="Freeform 8"/>
            <p:cNvSpPr>
              <a:spLocks/>
            </p:cNvSpPr>
            <p:nvPr/>
          </p:nvSpPr>
          <p:spPr bwMode="auto">
            <a:xfrm>
              <a:off x="3272" y="645"/>
              <a:ext cx="683" cy="318"/>
            </a:xfrm>
            <a:custGeom>
              <a:avLst/>
              <a:gdLst/>
              <a:ahLst/>
              <a:cxnLst>
                <a:cxn ang="0">
                  <a:pos x="112" y="4"/>
                </a:cxn>
                <a:cxn ang="0">
                  <a:pos x="24" y="4"/>
                </a:cxn>
                <a:cxn ang="0">
                  <a:pos x="2" y="25"/>
                </a:cxn>
                <a:cxn ang="0">
                  <a:pos x="60" y="58"/>
                </a:cxn>
                <a:cxn ang="0">
                  <a:pos x="96" y="54"/>
                </a:cxn>
                <a:cxn ang="0">
                  <a:pos x="113" y="53"/>
                </a:cxn>
                <a:cxn ang="0">
                  <a:pos x="112" y="4"/>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w="0">
              <a:noFill/>
              <a:prstDash val="solid"/>
              <a:round/>
              <a:headEnd/>
              <a:tailEnd/>
            </a:ln>
          </p:spPr>
          <p:txBody>
            <a:bodyPr/>
            <a:lstStyle/>
            <a:p>
              <a:endParaRPr lang="zh-CN" altLang="en-US"/>
            </a:p>
          </p:txBody>
        </p:sp>
        <p:sp>
          <p:nvSpPr>
            <p:cNvPr id="85001" name="Freeform 9"/>
            <p:cNvSpPr>
              <a:spLocks/>
            </p:cNvSpPr>
            <p:nvPr/>
          </p:nvSpPr>
          <p:spPr bwMode="auto">
            <a:xfrm>
              <a:off x="4046" y="1545"/>
              <a:ext cx="490" cy="515"/>
            </a:xfrm>
            <a:custGeom>
              <a:avLst/>
              <a:gdLst/>
              <a:ahLst/>
              <a:cxnLst>
                <a:cxn ang="0">
                  <a:pos x="67" y="5"/>
                </a:cxn>
                <a:cxn ang="0">
                  <a:pos x="31" y="5"/>
                </a:cxn>
                <a:cxn ang="0">
                  <a:pos x="12" y="57"/>
                </a:cxn>
                <a:cxn ang="0">
                  <a:pos x="79" y="62"/>
                </a:cxn>
                <a:cxn ang="0">
                  <a:pos x="67" y="5"/>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w="0">
              <a:noFill/>
              <a:prstDash val="solid"/>
              <a:round/>
              <a:headEnd/>
              <a:tailEnd/>
            </a:ln>
          </p:spPr>
          <p:txBody>
            <a:bodyPr/>
            <a:lstStyle/>
            <a:p>
              <a:endParaRPr lang="zh-CN" altLang="en-US"/>
            </a:p>
          </p:txBody>
        </p:sp>
        <p:sp>
          <p:nvSpPr>
            <p:cNvPr id="85002" name="Freeform 10"/>
            <p:cNvSpPr>
              <a:spLocks/>
            </p:cNvSpPr>
            <p:nvPr/>
          </p:nvSpPr>
          <p:spPr bwMode="auto">
            <a:xfrm>
              <a:off x="5173" y="1024"/>
              <a:ext cx="501" cy="96"/>
            </a:xfrm>
            <a:custGeom>
              <a:avLst/>
              <a:gdLst/>
              <a:ahLst/>
              <a:cxnLst>
                <a:cxn ang="0">
                  <a:pos x="15" y="0"/>
                </a:cxn>
                <a:cxn ang="0">
                  <a:pos x="40" y="15"/>
                </a:cxn>
                <a:cxn ang="0">
                  <a:pos x="15" y="0"/>
                </a:cxn>
              </a:cxnLst>
              <a:rect l="0" t="0" r="r" b="b"/>
              <a:pathLst>
                <a:path w="99" h="19">
                  <a:moveTo>
                    <a:pt x="15" y="0"/>
                  </a:moveTo>
                  <a:cubicBezTo>
                    <a:pt x="0" y="0"/>
                    <a:pt x="19" y="19"/>
                    <a:pt x="40" y="15"/>
                  </a:cubicBezTo>
                  <a:cubicBezTo>
                    <a:pt x="99" y="1"/>
                    <a:pt x="15" y="0"/>
                    <a:pt x="15" y="0"/>
                  </a:cubicBezTo>
                  <a:close/>
                </a:path>
              </a:pathLst>
            </a:custGeom>
            <a:solidFill>
              <a:schemeClr val="bg1"/>
            </a:solidFill>
            <a:ln w="0">
              <a:noFill/>
              <a:prstDash val="solid"/>
              <a:round/>
              <a:headEnd/>
              <a:tailEnd/>
            </a:ln>
          </p:spPr>
          <p:txBody>
            <a:bodyPr/>
            <a:lstStyle/>
            <a:p>
              <a:endParaRPr lang="zh-CN" altLang="en-US"/>
            </a:p>
          </p:txBody>
        </p:sp>
        <p:sp>
          <p:nvSpPr>
            <p:cNvPr id="85003" name="Freeform 11"/>
            <p:cNvSpPr>
              <a:spLocks/>
            </p:cNvSpPr>
            <p:nvPr/>
          </p:nvSpPr>
          <p:spPr bwMode="auto">
            <a:xfrm>
              <a:off x="5340" y="1004"/>
              <a:ext cx="385" cy="237"/>
            </a:xfrm>
            <a:custGeom>
              <a:avLst/>
              <a:gdLst/>
              <a:ahLst/>
              <a:cxnLst>
                <a:cxn ang="0">
                  <a:pos x="21" y="37"/>
                </a:cxn>
                <a:cxn ang="0">
                  <a:pos x="70" y="17"/>
                </a:cxn>
                <a:cxn ang="0">
                  <a:pos x="48" y="3"/>
                </a:cxn>
                <a:cxn ang="0">
                  <a:pos x="19" y="32"/>
                </a:cxn>
                <a:cxn ang="0">
                  <a:pos x="21" y="37"/>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w="0">
              <a:noFill/>
              <a:prstDash val="solid"/>
              <a:round/>
              <a:headEnd/>
              <a:tailEnd/>
            </a:ln>
          </p:spPr>
          <p:txBody>
            <a:bodyPr/>
            <a:lstStyle/>
            <a:p>
              <a:endParaRPr lang="zh-CN" altLang="en-US"/>
            </a:p>
          </p:txBody>
        </p:sp>
        <p:sp>
          <p:nvSpPr>
            <p:cNvPr id="85004" name="Freeform 12"/>
            <p:cNvSpPr>
              <a:spLocks/>
            </p:cNvSpPr>
            <p:nvPr/>
          </p:nvSpPr>
          <p:spPr bwMode="auto">
            <a:xfrm>
              <a:off x="5325" y="1201"/>
              <a:ext cx="415" cy="187"/>
            </a:xfrm>
            <a:custGeom>
              <a:avLst/>
              <a:gdLst/>
              <a:ahLst/>
              <a:cxnLst>
                <a:cxn ang="0">
                  <a:pos x="72" y="6"/>
                </a:cxn>
                <a:cxn ang="0">
                  <a:pos x="24" y="17"/>
                </a:cxn>
                <a:cxn ang="0">
                  <a:pos x="17" y="26"/>
                </a:cxn>
                <a:cxn ang="0">
                  <a:pos x="76" y="23"/>
                </a:cxn>
                <a:cxn ang="0">
                  <a:pos x="82" y="20"/>
                </a:cxn>
                <a:cxn ang="0">
                  <a:pos x="82" y="0"/>
                </a:cxn>
                <a:cxn ang="0">
                  <a:pos x="72" y="6"/>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w="0">
              <a:noFill/>
              <a:prstDash val="solid"/>
              <a:round/>
              <a:headEnd/>
              <a:tailEnd/>
            </a:ln>
          </p:spPr>
          <p:txBody>
            <a:bodyPr/>
            <a:lstStyle/>
            <a:p>
              <a:endParaRPr lang="zh-CN" altLang="en-US"/>
            </a:p>
          </p:txBody>
        </p:sp>
        <p:sp>
          <p:nvSpPr>
            <p:cNvPr id="85005" name="Freeform 13"/>
            <p:cNvSpPr>
              <a:spLocks/>
            </p:cNvSpPr>
            <p:nvPr/>
          </p:nvSpPr>
          <p:spPr bwMode="auto">
            <a:xfrm>
              <a:off x="5001" y="1378"/>
              <a:ext cx="698" cy="167"/>
            </a:xfrm>
            <a:custGeom>
              <a:avLst/>
              <a:gdLst/>
              <a:ahLst/>
              <a:cxnLst>
                <a:cxn ang="0">
                  <a:pos x="21" y="1"/>
                </a:cxn>
                <a:cxn ang="0">
                  <a:pos x="8" y="14"/>
                </a:cxn>
                <a:cxn ang="0">
                  <a:pos x="57" y="22"/>
                </a:cxn>
                <a:cxn ang="0">
                  <a:pos x="117" y="23"/>
                </a:cxn>
                <a:cxn ang="0">
                  <a:pos x="114" y="8"/>
                </a:cxn>
                <a:cxn ang="0">
                  <a:pos x="82" y="3"/>
                </a:cxn>
                <a:cxn ang="0">
                  <a:pos x="21" y="1"/>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w="0">
              <a:noFill/>
              <a:prstDash val="solid"/>
              <a:round/>
              <a:headEnd/>
              <a:tailEnd/>
            </a:ln>
          </p:spPr>
          <p:txBody>
            <a:bodyPr/>
            <a:lstStyle/>
            <a:p>
              <a:endParaRPr lang="zh-CN" altLang="en-US"/>
            </a:p>
          </p:txBody>
        </p:sp>
        <p:sp>
          <p:nvSpPr>
            <p:cNvPr id="85006" name="Freeform 14"/>
            <p:cNvSpPr>
              <a:spLocks/>
            </p:cNvSpPr>
            <p:nvPr/>
          </p:nvSpPr>
          <p:spPr bwMode="auto">
            <a:xfrm>
              <a:off x="5077" y="1540"/>
              <a:ext cx="567" cy="146"/>
            </a:xfrm>
            <a:custGeom>
              <a:avLst/>
              <a:gdLst/>
              <a:ahLst/>
              <a:cxnLst>
                <a:cxn ang="0">
                  <a:pos x="98" y="19"/>
                </a:cxn>
                <a:cxn ang="0">
                  <a:pos x="103" y="4"/>
                </a:cxn>
                <a:cxn ang="0">
                  <a:pos x="74" y="10"/>
                </a:cxn>
                <a:cxn ang="0">
                  <a:pos x="36" y="6"/>
                </a:cxn>
                <a:cxn ang="0">
                  <a:pos x="2" y="4"/>
                </a:cxn>
                <a:cxn ang="0">
                  <a:pos x="98" y="19"/>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w="0">
              <a:noFill/>
              <a:prstDash val="solid"/>
              <a:round/>
              <a:headEnd/>
              <a:tailEnd/>
            </a:ln>
          </p:spPr>
          <p:txBody>
            <a:bodyPr/>
            <a:lstStyle/>
            <a:p>
              <a:endParaRPr lang="zh-CN" altLang="en-US"/>
            </a:p>
          </p:txBody>
        </p:sp>
        <p:sp>
          <p:nvSpPr>
            <p:cNvPr id="85007" name="Freeform 15"/>
            <p:cNvSpPr>
              <a:spLocks/>
            </p:cNvSpPr>
            <p:nvPr/>
          </p:nvSpPr>
          <p:spPr bwMode="auto">
            <a:xfrm>
              <a:off x="5042" y="1656"/>
              <a:ext cx="581" cy="480"/>
            </a:xfrm>
            <a:custGeom>
              <a:avLst/>
              <a:gdLst/>
              <a:ahLst/>
              <a:cxnLst>
                <a:cxn ang="0">
                  <a:pos x="3" y="53"/>
                </a:cxn>
                <a:cxn ang="0">
                  <a:pos x="26" y="54"/>
                </a:cxn>
                <a:cxn ang="0">
                  <a:pos x="50" y="77"/>
                </a:cxn>
                <a:cxn ang="0">
                  <a:pos x="59" y="84"/>
                </a:cxn>
                <a:cxn ang="0">
                  <a:pos x="81" y="52"/>
                </a:cxn>
                <a:cxn ang="0">
                  <a:pos x="111" y="52"/>
                </a:cxn>
                <a:cxn ang="0">
                  <a:pos x="79" y="27"/>
                </a:cxn>
                <a:cxn ang="0">
                  <a:pos x="37" y="16"/>
                </a:cxn>
                <a:cxn ang="0">
                  <a:pos x="12" y="41"/>
                </a:cxn>
                <a:cxn ang="0">
                  <a:pos x="3" y="53"/>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w="0">
              <a:noFill/>
              <a:prstDash val="solid"/>
              <a:round/>
              <a:headEnd/>
              <a:tailEnd/>
            </a:ln>
          </p:spPr>
          <p:txBody>
            <a:bodyPr/>
            <a:lstStyle/>
            <a:p>
              <a:endParaRPr lang="zh-CN" altLang="en-US"/>
            </a:p>
          </p:txBody>
        </p:sp>
        <p:sp>
          <p:nvSpPr>
            <p:cNvPr id="85008" name="Freeform 16"/>
            <p:cNvSpPr>
              <a:spLocks/>
            </p:cNvSpPr>
            <p:nvPr/>
          </p:nvSpPr>
          <p:spPr bwMode="auto">
            <a:xfrm>
              <a:off x="5421" y="1464"/>
              <a:ext cx="329" cy="854"/>
            </a:xfrm>
            <a:custGeom>
              <a:avLst/>
              <a:gdLst/>
              <a:ahLst/>
              <a:cxnLst>
                <a:cxn ang="0">
                  <a:pos x="51" y="40"/>
                </a:cxn>
                <a:cxn ang="0">
                  <a:pos x="22" y="49"/>
                </a:cxn>
                <a:cxn ang="0">
                  <a:pos x="22" y="59"/>
                </a:cxn>
                <a:cxn ang="0">
                  <a:pos x="50" y="90"/>
                </a:cxn>
                <a:cxn ang="0">
                  <a:pos x="34" y="118"/>
                </a:cxn>
                <a:cxn ang="0">
                  <a:pos x="0" y="148"/>
                </a:cxn>
                <a:cxn ang="0">
                  <a:pos x="17" y="155"/>
                </a:cxn>
                <a:cxn ang="0">
                  <a:pos x="47" y="166"/>
                </a:cxn>
                <a:cxn ang="0">
                  <a:pos x="63" y="162"/>
                </a:cxn>
                <a:cxn ang="0">
                  <a:pos x="65" y="0"/>
                </a:cxn>
                <a:cxn ang="0">
                  <a:pos x="51" y="40"/>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w="0">
              <a:noFill/>
              <a:prstDash val="solid"/>
              <a:round/>
              <a:headEnd/>
              <a:tailEnd/>
            </a:ln>
          </p:spPr>
          <p:txBody>
            <a:bodyPr/>
            <a:lstStyle/>
            <a:p>
              <a:endParaRPr lang="zh-CN" altLang="en-US"/>
            </a:p>
          </p:txBody>
        </p:sp>
      </p:grpSp>
      <p:grpSp>
        <p:nvGrpSpPr>
          <p:cNvPr id="85009" name="Group 17"/>
          <p:cNvGrpSpPr>
            <a:grpSpLocks/>
          </p:cNvGrpSpPr>
          <p:nvPr/>
        </p:nvGrpSpPr>
        <p:grpSpPr bwMode="auto">
          <a:xfrm>
            <a:off x="554038" y="36513"/>
            <a:ext cx="7891462" cy="6821487"/>
            <a:chOff x="349" y="23"/>
            <a:chExt cx="4971" cy="4297"/>
          </a:xfrm>
        </p:grpSpPr>
        <p:sp>
          <p:nvSpPr>
            <p:cNvPr id="85010" name="Rectangle 18"/>
            <p:cNvSpPr>
              <a:spLocks noChangeArrowheads="1"/>
            </p:cNvSpPr>
            <p:nvPr/>
          </p:nvSpPr>
          <p:spPr bwMode="auto">
            <a:xfrm>
              <a:off x="384" y="23"/>
              <a:ext cx="21" cy="101"/>
            </a:xfrm>
            <a:prstGeom prst="rect">
              <a:avLst/>
            </a:prstGeom>
            <a:solidFill>
              <a:schemeClr val="bg2">
                <a:alpha val="50000"/>
              </a:schemeClr>
            </a:solidFill>
            <a:ln w="0">
              <a:noFill/>
              <a:miter lim="800000"/>
              <a:headEnd/>
              <a:tailEnd/>
            </a:ln>
          </p:spPr>
          <p:txBody>
            <a:bodyPr/>
            <a:lstStyle/>
            <a:p>
              <a:endParaRPr lang="zh-CN" altLang="en-US"/>
            </a:p>
          </p:txBody>
        </p:sp>
        <p:sp>
          <p:nvSpPr>
            <p:cNvPr id="85011" name="Freeform 19"/>
            <p:cNvSpPr>
              <a:spLocks noEditPoints="1"/>
            </p:cNvSpPr>
            <p:nvPr/>
          </p:nvSpPr>
          <p:spPr bwMode="auto">
            <a:xfrm>
              <a:off x="38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2" name="Freeform 20"/>
            <p:cNvSpPr>
              <a:spLocks noEditPoints="1"/>
            </p:cNvSpPr>
            <p:nvPr/>
          </p:nvSpPr>
          <p:spPr bwMode="auto">
            <a:xfrm>
              <a:off x="38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3" name="Freeform 21"/>
            <p:cNvSpPr>
              <a:spLocks noEditPoints="1"/>
            </p:cNvSpPr>
            <p:nvPr/>
          </p:nvSpPr>
          <p:spPr bwMode="auto">
            <a:xfrm>
              <a:off x="38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4" name="Freeform 22"/>
            <p:cNvSpPr>
              <a:spLocks noEditPoints="1"/>
            </p:cNvSpPr>
            <p:nvPr/>
          </p:nvSpPr>
          <p:spPr bwMode="auto">
            <a:xfrm>
              <a:off x="38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5" name="Freeform 23"/>
            <p:cNvSpPr>
              <a:spLocks noEditPoints="1"/>
            </p:cNvSpPr>
            <p:nvPr/>
          </p:nvSpPr>
          <p:spPr bwMode="auto">
            <a:xfrm>
              <a:off x="38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6" name="Freeform 24"/>
            <p:cNvSpPr>
              <a:spLocks noEditPoints="1"/>
            </p:cNvSpPr>
            <p:nvPr/>
          </p:nvSpPr>
          <p:spPr bwMode="auto">
            <a:xfrm>
              <a:off x="38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7" name="Freeform 25"/>
            <p:cNvSpPr>
              <a:spLocks noEditPoints="1"/>
            </p:cNvSpPr>
            <p:nvPr/>
          </p:nvSpPr>
          <p:spPr bwMode="auto">
            <a:xfrm>
              <a:off x="38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8" name="Freeform 26"/>
            <p:cNvSpPr>
              <a:spLocks noEditPoints="1"/>
            </p:cNvSpPr>
            <p:nvPr/>
          </p:nvSpPr>
          <p:spPr bwMode="auto">
            <a:xfrm>
              <a:off x="38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19" name="Freeform 27"/>
            <p:cNvSpPr>
              <a:spLocks noEditPoints="1"/>
            </p:cNvSpPr>
            <p:nvPr/>
          </p:nvSpPr>
          <p:spPr bwMode="auto">
            <a:xfrm>
              <a:off x="38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0" name="Freeform 28"/>
            <p:cNvSpPr>
              <a:spLocks noEditPoints="1"/>
            </p:cNvSpPr>
            <p:nvPr/>
          </p:nvSpPr>
          <p:spPr bwMode="auto">
            <a:xfrm>
              <a:off x="38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1" name="Rectangle 29"/>
            <p:cNvSpPr>
              <a:spLocks noChangeArrowheads="1"/>
            </p:cNvSpPr>
            <p:nvPr/>
          </p:nvSpPr>
          <p:spPr bwMode="auto">
            <a:xfrm>
              <a:off x="384" y="4269"/>
              <a:ext cx="21" cy="51"/>
            </a:xfrm>
            <a:prstGeom prst="rect">
              <a:avLst/>
            </a:prstGeom>
            <a:solidFill>
              <a:schemeClr val="bg2">
                <a:alpha val="50000"/>
              </a:schemeClr>
            </a:solidFill>
            <a:ln w="0">
              <a:noFill/>
              <a:miter lim="800000"/>
              <a:headEnd/>
              <a:tailEnd/>
            </a:ln>
          </p:spPr>
          <p:txBody>
            <a:bodyPr/>
            <a:lstStyle/>
            <a:p>
              <a:endParaRPr lang="zh-CN" altLang="en-US"/>
            </a:p>
          </p:txBody>
        </p:sp>
        <p:sp>
          <p:nvSpPr>
            <p:cNvPr id="85022" name="Rectangle 30"/>
            <p:cNvSpPr>
              <a:spLocks noChangeArrowheads="1"/>
            </p:cNvSpPr>
            <p:nvPr/>
          </p:nvSpPr>
          <p:spPr bwMode="auto">
            <a:xfrm>
              <a:off x="829" y="23"/>
              <a:ext cx="21" cy="101"/>
            </a:xfrm>
            <a:prstGeom prst="rect">
              <a:avLst/>
            </a:prstGeom>
            <a:solidFill>
              <a:schemeClr val="bg2">
                <a:alpha val="50000"/>
              </a:schemeClr>
            </a:solidFill>
            <a:ln w="0">
              <a:noFill/>
              <a:miter lim="800000"/>
              <a:headEnd/>
              <a:tailEnd/>
            </a:ln>
          </p:spPr>
          <p:txBody>
            <a:bodyPr/>
            <a:lstStyle/>
            <a:p>
              <a:endParaRPr lang="zh-CN" altLang="en-US"/>
            </a:p>
          </p:txBody>
        </p:sp>
        <p:sp>
          <p:nvSpPr>
            <p:cNvPr id="85023" name="Freeform 31"/>
            <p:cNvSpPr>
              <a:spLocks noEditPoints="1"/>
            </p:cNvSpPr>
            <p:nvPr/>
          </p:nvSpPr>
          <p:spPr bwMode="auto">
            <a:xfrm>
              <a:off x="82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4" name="Freeform 32"/>
            <p:cNvSpPr>
              <a:spLocks noEditPoints="1"/>
            </p:cNvSpPr>
            <p:nvPr/>
          </p:nvSpPr>
          <p:spPr bwMode="auto">
            <a:xfrm>
              <a:off x="82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5" name="Freeform 33"/>
            <p:cNvSpPr>
              <a:spLocks noEditPoints="1"/>
            </p:cNvSpPr>
            <p:nvPr/>
          </p:nvSpPr>
          <p:spPr bwMode="auto">
            <a:xfrm>
              <a:off x="82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6" name="Freeform 34"/>
            <p:cNvSpPr>
              <a:spLocks noEditPoints="1"/>
            </p:cNvSpPr>
            <p:nvPr/>
          </p:nvSpPr>
          <p:spPr bwMode="auto">
            <a:xfrm>
              <a:off x="82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7" name="Freeform 35"/>
            <p:cNvSpPr>
              <a:spLocks noEditPoints="1"/>
            </p:cNvSpPr>
            <p:nvPr/>
          </p:nvSpPr>
          <p:spPr bwMode="auto">
            <a:xfrm>
              <a:off x="82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8" name="Freeform 36"/>
            <p:cNvSpPr>
              <a:spLocks noEditPoints="1"/>
            </p:cNvSpPr>
            <p:nvPr/>
          </p:nvSpPr>
          <p:spPr bwMode="auto">
            <a:xfrm>
              <a:off x="82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29" name="Freeform 37"/>
            <p:cNvSpPr>
              <a:spLocks noEditPoints="1"/>
            </p:cNvSpPr>
            <p:nvPr/>
          </p:nvSpPr>
          <p:spPr bwMode="auto">
            <a:xfrm>
              <a:off x="82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0" name="Freeform 38"/>
            <p:cNvSpPr>
              <a:spLocks noEditPoints="1"/>
            </p:cNvSpPr>
            <p:nvPr/>
          </p:nvSpPr>
          <p:spPr bwMode="auto">
            <a:xfrm>
              <a:off x="82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1" name="Freeform 39"/>
            <p:cNvSpPr>
              <a:spLocks noEditPoints="1"/>
            </p:cNvSpPr>
            <p:nvPr/>
          </p:nvSpPr>
          <p:spPr bwMode="auto">
            <a:xfrm>
              <a:off x="82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2" name="Freeform 40"/>
            <p:cNvSpPr>
              <a:spLocks noEditPoints="1"/>
            </p:cNvSpPr>
            <p:nvPr/>
          </p:nvSpPr>
          <p:spPr bwMode="auto">
            <a:xfrm>
              <a:off x="82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3" name="Rectangle 41"/>
            <p:cNvSpPr>
              <a:spLocks noChangeArrowheads="1"/>
            </p:cNvSpPr>
            <p:nvPr/>
          </p:nvSpPr>
          <p:spPr bwMode="auto">
            <a:xfrm>
              <a:off x="829" y="4269"/>
              <a:ext cx="21" cy="51"/>
            </a:xfrm>
            <a:prstGeom prst="rect">
              <a:avLst/>
            </a:prstGeom>
            <a:solidFill>
              <a:schemeClr val="bg2">
                <a:alpha val="50000"/>
              </a:schemeClr>
            </a:solidFill>
            <a:ln w="0">
              <a:noFill/>
              <a:miter lim="800000"/>
              <a:headEnd/>
              <a:tailEnd/>
            </a:ln>
          </p:spPr>
          <p:txBody>
            <a:bodyPr/>
            <a:lstStyle/>
            <a:p>
              <a:endParaRPr lang="zh-CN" altLang="en-US"/>
            </a:p>
          </p:txBody>
        </p:sp>
        <p:sp>
          <p:nvSpPr>
            <p:cNvPr id="85034" name="Rectangle 42"/>
            <p:cNvSpPr>
              <a:spLocks noChangeArrowheads="1"/>
            </p:cNvSpPr>
            <p:nvPr/>
          </p:nvSpPr>
          <p:spPr bwMode="auto">
            <a:xfrm>
              <a:off x="1279" y="23"/>
              <a:ext cx="21" cy="101"/>
            </a:xfrm>
            <a:prstGeom prst="rect">
              <a:avLst/>
            </a:prstGeom>
            <a:solidFill>
              <a:schemeClr val="bg2">
                <a:alpha val="50000"/>
              </a:schemeClr>
            </a:solidFill>
            <a:ln w="0">
              <a:noFill/>
              <a:miter lim="800000"/>
              <a:headEnd/>
              <a:tailEnd/>
            </a:ln>
          </p:spPr>
          <p:txBody>
            <a:bodyPr/>
            <a:lstStyle/>
            <a:p>
              <a:endParaRPr lang="zh-CN" altLang="en-US"/>
            </a:p>
          </p:txBody>
        </p:sp>
        <p:sp>
          <p:nvSpPr>
            <p:cNvPr id="85035" name="Freeform 43"/>
            <p:cNvSpPr>
              <a:spLocks noEditPoints="1"/>
            </p:cNvSpPr>
            <p:nvPr/>
          </p:nvSpPr>
          <p:spPr bwMode="auto">
            <a:xfrm>
              <a:off x="127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6" name="Freeform 44"/>
            <p:cNvSpPr>
              <a:spLocks noEditPoints="1"/>
            </p:cNvSpPr>
            <p:nvPr/>
          </p:nvSpPr>
          <p:spPr bwMode="auto">
            <a:xfrm>
              <a:off x="127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7" name="Freeform 45"/>
            <p:cNvSpPr>
              <a:spLocks noEditPoints="1"/>
            </p:cNvSpPr>
            <p:nvPr/>
          </p:nvSpPr>
          <p:spPr bwMode="auto">
            <a:xfrm>
              <a:off x="127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8" name="Freeform 46"/>
            <p:cNvSpPr>
              <a:spLocks noEditPoints="1"/>
            </p:cNvSpPr>
            <p:nvPr/>
          </p:nvSpPr>
          <p:spPr bwMode="auto">
            <a:xfrm>
              <a:off x="127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39" name="Freeform 47"/>
            <p:cNvSpPr>
              <a:spLocks noEditPoints="1"/>
            </p:cNvSpPr>
            <p:nvPr/>
          </p:nvSpPr>
          <p:spPr bwMode="auto">
            <a:xfrm>
              <a:off x="127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0" name="Freeform 48"/>
            <p:cNvSpPr>
              <a:spLocks noEditPoints="1"/>
            </p:cNvSpPr>
            <p:nvPr/>
          </p:nvSpPr>
          <p:spPr bwMode="auto">
            <a:xfrm>
              <a:off x="127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1" name="Freeform 49"/>
            <p:cNvSpPr>
              <a:spLocks noEditPoints="1"/>
            </p:cNvSpPr>
            <p:nvPr/>
          </p:nvSpPr>
          <p:spPr bwMode="auto">
            <a:xfrm>
              <a:off x="127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2" name="Freeform 50"/>
            <p:cNvSpPr>
              <a:spLocks noEditPoints="1"/>
            </p:cNvSpPr>
            <p:nvPr/>
          </p:nvSpPr>
          <p:spPr bwMode="auto">
            <a:xfrm>
              <a:off x="127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3" name="Freeform 51"/>
            <p:cNvSpPr>
              <a:spLocks noEditPoints="1"/>
            </p:cNvSpPr>
            <p:nvPr/>
          </p:nvSpPr>
          <p:spPr bwMode="auto">
            <a:xfrm>
              <a:off x="127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4" name="Freeform 52"/>
            <p:cNvSpPr>
              <a:spLocks noEditPoints="1"/>
            </p:cNvSpPr>
            <p:nvPr/>
          </p:nvSpPr>
          <p:spPr bwMode="auto">
            <a:xfrm>
              <a:off x="127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5" name="Rectangle 53"/>
            <p:cNvSpPr>
              <a:spLocks noChangeArrowheads="1"/>
            </p:cNvSpPr>
            <p:nvPr/>
          </p:nvSpPr>
          <p:spPr bwMode="auto">
            <a:xfrm>
              <a:off x="1279" y="4269"/>
              <a:ext cx="21" cy="51"/>
            </a:xfrm>
            <a:prstGeom prst="rect">
              <a:avLst/>
            </a:prstGeom>
            <a:solidFill>
              <a:schemeClr val="bg2">
                <a:alpha val="50000"/>
              </a:schemeClr>
            </a:solidFill>
            <a:ln w="0">
              <a:noFill/>
              <a:miter lim="800000"/>
              <a:headEnd/>
              <a:tailEnd/>
            </a:ln>
          </p:spPr>
          <p:txBody>
            <a:bodyPr/>
            <a:lstStyle/>
            <a:p>
              <a:endParaRPr lang="zh-CN" altLang="en-US"/>
            </a:p>
          </p:txBody>
        </p:sp>
        <p:sp>
          <p:nvSpPr>
            <p:cNvPr id="85046" name="Rectangle 54"/>
            <p:cNvSpPr>
              <a:spLocks noChangeArrowheads="1"/>
            </p:cNvSpPr>
            <p:nvPr/>
          </p:nvSpPr>
          <p:spPr bwMode="auto">
            <a:xfrm>
              <a:off x="1724" y="23"/>
              <a:ext cx="21" cy="101"/>
            </a:xfrm>
            <a:prstGeom prst="rect">
              <a:avLst/>
            </a:prstGeom>
            <a:solidFill>
              <a:schemeClr val="bg2">
                <a:alpha val="50000"/>
              </a:schemeClr>
            </a:solidFill>
            <a:ln w="0">
              <a:noFill/>
              <a:miter lim="800000"/>
              <a:headEnd/>
              <a:tailEnd/>
            </a:ln>
          </p:spPr>
          <p:txBody>
            <a:bodyPr/>
            <a:lstStyle/>
            <a:p>
              <a:endParaRPr lang="zh-CN" altLang="en-US"/>
            </a:p>
          </p:txBody>
        </p:sp>
        <p:sp>
          <p:nvSpPr>
            <p:cNvPr id="85047" name="Freeform 55"/>
            <p:cNvSpPr>
              <a:spLocks noEditPoints="1"/>
            </p:cNvSpPr>
            <p:nvPr/>
          </p:nvSpPr>
          <p:spPr bwMode="auto">
            <a:xfrm>
              <a:off x="172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8" name="Freeform 56"/>
            <p:cNvSpPr>
              <a:spLocks noEditPoints="1"/>
            </p:cNvSpPr>
            <p:nvPr/>
          </p:nvSpPr>
          <p:spPr bwMode="auto">
            <a:xfrm>
              <a:off x="172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49" name="Freeform 57"/>
            <p:cNvSpPr>
              <a:spLocks noEditPoints="1"/>
            </p:cNvSpPr>
            <p:nvPr/>
          </p:nvSpPr>
          <p:spPr bwMode="auto">
            <a:xfrm>
              <a:off x="172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0" name="Freeform 58"/>
            <p:cNvSpPr>
              <a:spLocks noEditPoints="1"/>
            </p:cNvSpPr>
            <p:nvPr/>
          </p:nvSpPr>
          <p:spPr bwMode="auto">
            <a:xfrm>
              <a:off x="172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1" name="Freeform 59"/>
            <p:cNvSpPr>
              <a:spLocks noEditPoints="1"/>
            </p:cNvSpPr>
            <p:nvPr/>
          </p:nvSpPr>
          <p:spPr bwMode="auto">
            <a:xfrm>
              <a:off x="172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2" name="Freeform 60"/>
            <p:cNvSpPr>
              <a:spLocks noEditPoints="1"/>
            </p:cNvSpPr>
            <p:nvPr/>
          </p:nvSpPr>
          <p:spPr bwMode="auto">
            <a:xfrm>
              <a:off x="172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3" name="Freeform 61"/>
            <p:cNvSpPr>
              <a:spLocks noEditPoints="1"/>
            </p:cNvSpPr>
            <p:nvPr/>
          </p:nvSpPr>
          <p:spPr bwMode="auto">
            <a:xfrm>
              <a:off x="172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4" name="Freeform 62"/>
            <p:cNvSpPr>
              <a:spLocks noEditPoints="1"/>
            </p:cNvSpPr>
            <p:nvPr/>
          </p:nvSpPr>
          <p:spPr bwMode="auto">
            <a:xfrm>
              <a:off x="172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5" name="Freeform 63"/>
            <p:cNvSpPr>
              <a:spLocks noEditPoints="1"/>
            </p:cNvSpPr>
            <p:nvPr/>
          </p:nvSpPr>
          <p:spPr bwMode="auto">
            <a:xfrm>
              <a:off x="172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6" name="Freeform 64"/>
            <p:cNvSpPr>
              <a:spLocks noEditPoints="1"/>
            </p:cNvSpPr>
            <p:nvPr/>
          </p:nvSpPr>
          <p:spPr bwMode="auto">
            <a:xfrm>
              <a:off x="172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57" name="Rectangle 65"/>
            <p:cNvSpPr>
              <a:spLocks noChangeArrowheads="1"/>
            </p:cNvSpPr>
            <p:nvPr/>
          </p:nvSpPr>
          <p:spPr bwMode="auto">
            <a:xfrm>
              <a:off x="1724" y="4269"/>
              <a:ext cx="21" cy="51"/>
            </a:xfrm>
            <a:prstGeom prst="rect">
              <a:avLst/>
            </a:prstGeom>
            <a:solidFill>
              <a:schemeClr val="bg2">
                <a:alpha val="50000"/>
              </a:schemeClr>
            </a:solidFill>
            <a:ln w="0">
              <a:noFill/>
              <a:miter lim="800000"/>
              <a:headEnd/>
              <a:tailEnd/>
            </a:ln>
          </p:spPr>
          <p:txBody>
            <a:bodyPr/>
            <a:lstStyle/>
            <a:p>
              <a:endParaRPr lang="zh-CN" altLang="en-US"/>
            </a:p>
          </p:txBody>
        </p:sp>
        <p:sp>
          <p:nvSpPr>
            <p:cNvPr id="85058" name="Rectangle 66"/>
            <p:cNvSpPr>
              <a:spLocks noChangeArrowheads="1"/>
            </p:cNvSpPr>
            <p:nvPr/>
          </p:nvSpPr>
          <p:spPr bwMode="auto">
            <a:xfrm>
              <a:off x="2169" y="23"/>
              <a:ext cx="21" cy="101"/>
            </a:xfrm>
            <a:prstGeom prst="rect">
              <a:avLst/>
            </a:prstGeom>
            <a:solidFill>
              <a:schemeClr val="bg2">
                <a:alpha val="50000"/>
              </a:schemeClr>
            </a:solidFill>
            <a:ln w="0">
              <a:noFill/>
              <a:miter lim="800000"/>
              <a:headEnd/>
              <a:tailEnd/>
            </a:ln>
          </p:spPr>
          <p:txBody>
            <a:bodyPr/>
            <a:lstStyle/>
            <a:p>
              <a:endParaRPr lang="zh-CN" altLang="en-US"/>
            </a:p>
          </p:txBody>
        </p:sp>
        <p:sp>
          <p:nvSpPr>
            <p:cNvPr id="85059" name="Freeform 67"/>
            <p:cNvSpPr>
              <a:spLocks noEditPoints="1"/>
            </p:cNvSpPr>
            <p:nvPr/>
          </p:nvSpPr>
          <p:spPr bwMode="auto">
            <a:xfrm>
              <a:off x="216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0" name="Freeform 68"/>
            <p:cNvSpPr>
              <a:spLocks noEditPoints="1"/>
            </p:cNvSpPr>
            <p:nvPr/>
          </p:nvSpPr>
          <p:spPr bwMode="auto">
            <a:xfrm>
              <a:off x="216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1" name="Freeform 69"/>
            <p:cNvSpPr>
              <a:spLocks noEditPoints="1"/>
            </p:cNvSpPr>
            <p:nvPr/>
          </p:nvSpPr>
          <p:spPr bwMode="auto">
            <a:xfrm>
              <a:off x="216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2" name="Freeform 70"/>
            <p:cNvSpPr>
              <a:spLocks noEditPoints="1"/>
            </p:cNvSpPr>
            <p:nvPr/>
          </p:nvSpPr>
          <p:spPr bwMode="auto">
            <a:xfrm>
              <a:off x="216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3" name="Freeform 71"/>
            <p:cNvSpPr>
              <a:spLocks noEditPoints="1"/>
            </p:cNvSpPr>
            <p:nvPr/>
          </p:nvSpPr>
          <p:spPr bwMode="auto">
            <a:xfrm>
              <a:off x="216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4" name="Freeform 72"/>
            <p:cNvSpPr>
              <a:spLocks noEditPoints="1"/>
            </p:cNvSpPr>
            <p:nvPr/>
          </p:nvSpPr>
          <p:spPr bwMode="auto">
            <a:xfrm>
              <a:off x="216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5" name="Freeform 73"/>
            <p:cNvSpPr>
              <a:spLocks noEditPoints="1"/>
            </p:cNvSpPr>
            <p:nvPr/>
          </p:nvSpPr>
          <p:spPr bwMode="auto">
            <a:xfrm>
              <a:off x="216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6" name="Freeform 74"/>
            <p:cNvSpPr>
              <a:spLocks noEditPoints="1"/>
            </p:cNvSpPr>
            <p:nvPr/>
          </p:nvSpPr>
          <p:spPr bwMode="auto">
            <a:xfrm>
              <a:off x="216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7" name="Freeform 75"/>
            <p:cNvSpPr>
              <a:spLocks noEditPoints="1"/>
            </p:cNvSpPr>
            <p:nvPr/>
          </p:nvSpPr>
          <p:spPr bwMode="auto">
            <a:xfrm>
              <a:off x="216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8" name="Freeform 76"/>
            <p:cNvSpPr>
              <a:spLocks noEditPoints="1"/>
            </p:cNvSpPr>
            <p:nvPr/>
          </p:nvSpPr>
          <p:spPr bwMode="auto">
            <a:xfrm>
              <a:off x="216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69" name="Rectangle 77"/>
            <p:cNvSpPr>
              <a:spLocks noChangeArrowheads="1"/>
            </p:cNvSpPr>
            <p:nvPr/>
          </p:nvSpPr>
          <p:spPr bwMode="auto">
            <a:xfrm>
              <a:off x="2169" y="4269"/>
              <a:ext cx="21" cy="51"/>
            </a:xfrm>
            <a:prstGeom prst="rect">
              <a:avLst/>
            </a:prstGeom>
            <a:solidFill>
              <a:schemeClr val="bg2">
                <a:alpha val="50000"/>
              </a:schemeClr>
            </a:solidFill>
            <a:ln w="0">
              <a:noFill/>
              <a:miter lim="800000"/>
              <a:headEnd/>
              <a:tailEnd/>
            </a:ln>
          </p:spPr>
          <p:txBody>
            <a:bodyPr/>
            <a:lstStyle/>
            <a:p>
              <a:endParaRPr lang="zh-CN" altLang="en-US"/>
            </a:p>
          </p:txBody>
        </p:sp>
        <p:sp>
          <p:nvSpPr>
            <p:cNvPr id="85070" name="Rectangle 78"/>
            <p:cNvSpPr>
              <a:spLocks noChangeArrowheads="1"/>
            </p:cNvSpPr>
            <p:nvPr/>
          </p:nvSpPr>
          <p:spPr bwMode="auto">
            <a:xfrm>
              <a:off x="2620" y="23"/>
              <a:ext cx="20" cy="101"/>
            </a:xfrm>
            <a:prstGeom prst="rect">
              <a:avLst/>
            </a:prstGeom>
            <a:solidFill>
              <a:schemeClr val="bg2">
                <a:alpha val="50000"/>
              </a:schemeClr>
            </a:solidFill>
            <a:ln w="0">
              <a:noFill/>
              <a:miter lim="800000"/>
              <a:headEnd/>
              <a:tailEnd/>
            </a:ln>
          </p:spPr>
          <p:txBody>
            <a:bodyPr/>
            <a:lstStyle/>
            <a:p>
              <a:endParaRPr lang="zh-CN" altLang="en-US"/>
            </a:p>
          </p:txBody>
        </p:sp>
        <p:sp>
          <p:nvSpPr>
            <p:cNvPr id="85071" name="Freeform 79"/>
            <p:cNvSpPr>
              <a:spLocks noEditPoints="1"/>
            </p:cNvSpPr>
            <p:nvPr/>
          </p:nvSpPr>
          <p:spPr bwMode="auto">
            <a:xfrm>
              <a:off x="262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2" name="Freeform 80"/>
            <p:cNvSpPr>
              <a:spLocks noEditPoints="1"/>
            </p:cNvSpPr>
            <p:nvPr/>
          </p:nvSpPr>
          <p:spPr bwMode="auto">
            <a:xfrm>
              <a:off x="262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3" name="Freeform 81"/>
            <p:cNvSpPr>
              <a:spLocks noEditPoints="1"/>
            </p:cNvSpPr>
            <p:nvPr/>
          </p:nvSpPr>
          <p:spPr bwMode="auto">
            <a:xfrm>
              <a:off x="262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4" name="Freeform 82"/>
            <p:cNvSpPr>
              <a:spLocks noEditPoints="1"/>
            </p:cNvSpPr>
            <p:nvPr/>
          </p:nvSpPr>
          <p:spPr bwMode="auto">
            <a:xfrm>
              <a:off x="262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5" name="Freeform 83"/>
            <p:cNvSpPr>
              <a:spLocks noEditPoints="1"/>
            </p:cNvSpPr>
            <p:nvPr/>
          </p:nvSpPr>
          <p:spPr bwMode="auto">
            <a:xfrm>
              <a:off x="262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6" name="Freeform 84"/>
            <p:cNvSpPr>
              <a:spLocks noEditPoints="1"/>
            </p:cNvSpPr>
            <p:nvPr/>
          </p:nvSpPr>
          <p:spPr bwMode="auto">
            <a:xfrm>
              <a:off x="262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7" name="Freeform 85"/>
            <p:cNvSpPr>
              <a:spLocks noEditPoints="1"/>
            </p:cNvSpPr>
            <p:nvPr/>
          </p:nvSpPr>
          <p:spPr bwMode="auto">
            <a:xfrm>
              <a:off x="262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8" name="Freeform 86"/>
            <p:cNvSpPr>
              <a:spLocks noEditPoints="1"/>
            </p:cNvSpPr>
            <p:nvPr/>
          </p:nvSpPr>
          <p:spPr bwMode="auto">
            <a:xfrm>
              <a:off x="262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79" name="Freeform 87"/>
            <p:cNvSpPr>
              <a:spLocks noEditPoints="1"/>
            </p:cNvSpPr>
            <p:nvPr/>
          </p:nvSpPr>
          <p:spPr bwMode="auto">
            <a:xfrm>
              <a:off x="262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0" name="Freeform 88"/>
            <p:cNvSpPr>
              <a:spLocks noEditPoints="1"/>
            </p:cNvSpPr>
            <p:nvPr/>
          </p:nvSpPr>
          <p:spPr bwMode="auto">
            <a:xfrm>
              <a:off x="262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1" name="Rectangle 89"/>
            <p:cNvSpPr>
              <a:spLocks noChangeArrowheads="1"/>
            </p:cNvSpPr>
            <p:nvPr/>
          </p:nvSpPr>
          <p:spPr bwMode="auto">
            <a:xfrm>
              <a:off x="2620" y="4269"/>
              <a:ext cx="20" cy="51"/>
            </a:xfrm>
            <a:prstGeom prst="rect">
              <a:avLst/>
            </a:prstGeom>
            <a:solidFill>
              <a:schemeClr val="bg2">
                <a:alpha val="50000"/>
              </a:schemeClr>
            </a:solidFill>
            <a:ln w="0">
              <a:noFill/>
              <a:miter lim="800000"/>
              <a:headEnd/>
              <a:tailEnd/>
            </a:ln>
          </p:spPr>
          <p:txBody>
            <a:bodyPr/>
            <a:lstStyle/>
            <a:p>
              <a:endParaRPr lang="zh-CN" altLang="en-US"/>
            </a:p>
          </p:txBody>
        </p:sp>
        <p:sp>
          <p:nvSpPr>
            <p:cNvPr id="85082" name="Rectangle 90"/>
            <p:cNvSpPr>
              <a:spLocks noChangeArrowheads="1"/>
            </p:cNvSpPr>
            <p:nvPr/>
          </p:nvSpPr>
          <p:spPr bwMode="auto">
            <a:xfrm>
              <a:off x="3065" y="23"/>
              <a:ext cx="20" cy="101"/>
            </a:xfrm>
            <a:prstGeom prst="rect">
              <a:avLst/>
            </a:prstGeom>
            <a:solidFill>
              <a:schemeClr val="bg2">
                <a:alpha val="50000"/>
              </a:schemeClr>
            </a:solidFill>
            <a:ln w="0">
              <a:noFill/>
              <a:miter lim="800000"/>
              <a:headEnd/>
              <a:tailEnd/>
            </a:ln>
          </p:spPr>
          <p:txBody>
            <a:bodyPr/>
            <a:lstStyle/>
            <a:p>
              <a:endParaRPr lang="zh-CN" altLang="en-US"/>
            </a:p>
          </p:txBody>
        </p:sp>
        <p:sp>
          <p:nvSpPr>
            <p:cNvPr id="85083" name="Freeform 91"/>
            <p:cNvSpPr>
              <a:spLocks noEditPoints="1"/>
            </p:cNvSpPr>
            <p:nvPr/>
          </p:nvSpPr>
          <p:spPr bwMode="auto">
            <a:xfrm>
              <a:off x="306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4" name="Freeform 92"/>
            <p:cNvSpPr>
              <a:spLocks noEditPoints="1"/>
            </p:cNvSpPr>
            <p:nvPr/>
          </p:nvSpPr>
          <p:spPr bwMode="auto">
            <a:xfrm>
              <a:off x="306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5" name="Freeform 93"/>
            <p:cNvSpPr>
              <a:spLocks noEditPoints="1"/>
            </p:cNvSpPr>
            <p:nvPr/>
          </p:nvSpPr>
          <p:spPr bwMode="auto">
            <a:xfrm>
              <a:off x="306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6" name="Freeform 94"/>
            <p:cNvSpPr>
              <a:spLocks noEditPoints="1"/>
            </p:cNvSpPr>
            <p:nvPr/>
          </p:nvSpPr>
          <p:spPr bwMode="auto">
            <a:xfrm>
              <a:off x="306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7" name="Freeform 95"/>
            <p:cNvSpPr>
              <a:spLocks noEditPoints="1"/>
            </p:cNvSpPr>
            <p:nvPr/>
          </p:nvSpPr>
          <p:spPr bwMode="auto">
            <a:xfrm>
              <a:off x="306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8" name="Freeform 96"/>
            <p:cNvSpPr>
              <a:spLocks noEditPoints="1"/>
            </p:cNvSpPr>
            <p:nvPr/>
          </p:nvSpPr>
          <p:spPr bwMode="auto">
            <a:xfrm>
              <a:off x="306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89" name="Freeform 97"/>
            <p:cNvSpPr>
              <a:spLocks noEditPoints="1"/>
            </p:cNvSpPr>
            <p:nvPr/>
          </p:nvSpPr>
          <p:spPr bwMode="auto">
            <a:xfrm>
              <a:off x="306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0" name="Freeform 98"/>
            <p:cNvSpPr>
              <a:spLocks noEditPoints="1"/>
            </p:cNvSpPr>
            <p:nvPr/>
          </p:nvSpPr>
          <p:spPr bwMode="auto">
            <a:xfrm>
              <a:off x="306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1" name="Freeform 99"/>
            <p:cNvSpPr>
              <a:spLocks noEditPoints="1"/>
            </p:cNvSpPr>
            <p:nvPr/>
          </p:nvSpPr>
          <p:spPr bwMode="auto">
            <a:xfrm>
              <a:off x="306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2" name="Freeform 100"/>
            <p:cNvSpPr>
              <a:spLocks noEditPoints="1"/>
            </p:cNvSpPr>
            <p:nvPr/>
          </p:nvSpPr>
          <p:spPr bwMode="auto">
            <a:xfrm>
              <a:off x="306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3" name="Rectangle 101"/>
            <p:cNvSpPr>
              <a:spLocks noChangeArrowheads="1"/>
            </p:cNvSpPr>
            <p:nvPr/>
          </p:nvSpPr>
          <p:spPr bwMode="auto">
            <a:xfrm>
              <a:off x="3065" y="4269"/>
              <a:ext cx="20" cy="51"/>
            </a:xfrm>
            <a:prstGeom prst="rect">
              <a:avLst/>
            </a:prstGeom>
            <a:solidFill>
              <a:schemeClr val="bg2">
                <a:alpha val="50000"/>
              </a:schemeClr>
            </a:solidFill>
            <a:ln w="0">
              <a:noFill/>
              <a:miter lim="800000"/>
              <a:headEnd/>
              <a:tailEnd/>
            </a:ln>
          </p:spPr>
          <p:txBody>
            <a:bodyPr/>
            <a:lstStyle/>
            <a:p>
              <a:endParaRPr lang="zh-CN" altLang="en-US"/>
            </a:p>
          </p:txBody>
        </p:sp>
        <p:sp>
          <p:nvSpPr>
            <p:cNvPr id="85094" name="Rectangle 102"/>
            <p:cNvSpPr>
              <a:spLocks noChangeArrowheads="1"/>
            </p:cNvSpPr>
            <p:nvPr/>
          </p:nvSpPr>
          <p:spPr bwMode="auto">
            <a:xfrm>
              <a:off x="3510" y="23"/>
              <a:ext cx="20" cy="101"/>
            </a:xfrm>
            <a:prstGeom prst="rect">
              <a:avLst/>
            </a:prstGeom>
            <a:solidFill>
              <a:schemeClr val="bg2">
                <a:alpha val="50000"/>
              </a:schemeClr>
            </a:solidFill>
            <a:ln w="0">
              <a:noFill/>
              <a:miter lim="800000"/>
              <a:headEnd/>
              <a:tailEnd/>
            </a:ln>
          </p:spPr>
          <p:txBody>
            <a:bodyPr/>
            <a:lstStyle/>
            <a:p>
              <a:endParaRPr lang="zh-CN" altLang="en-US"/>
            </a:p>
          </p:txBody>
        </p:sp>
        <p:sp>
          <p:nvSpPr>
            <p:cNvPr id="85095" name="Freeform 103"/>
            <p:cNvSpPr>
              <a:spLocks noEditPoints="1"/>
            </p:cNvSpPr>
            <p:nvPr/>
          </p:nvSpPr>
          <p:spPr bwMode="auto">
            <a:xfrm>
              <a:off x="351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6" name="Freeform 104"/>
            <p:cNvSpPr>
              <a:spLocks noEditPoints="1"/>
            </p:cNvSpPr>
            <p:nvPr/>
          </p:nvSpPr>
          <p:spPr bwMode="auto">
            <a:xfrm>
              <a:off x="351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7" name="Freeform 105"/>
            <p:cNvSpPr>
              <a:spLocks noEditPoints="1"/>
            </p:cNvSpPr>
            <p:nvPr/>
          </p:nvSpPr>
          <p:spPr bwMode="auto">
            <a:xfrm>
              <a:off x="351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8" name="Freeform 106"/>
            <p:cNvSpPr>
              <a:spLocks noEditPoints="1"/>
            </p:cNvSpPr>
            <p:nvPr/>
          </p:nvSpPr>
          <p:spPr bwMode="auto">
            <a:xfrm>
              <a:off x="351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099" name="Freeform 107"/>
            <p:cNvSpPr>
              <a:spLocks noEditPoints="1"/>
            </p:cNvSpPr>
            <p:nvPr/>
          </p:nvSpPr>
          <p:spPr bwMode="auto">
            <a:xfrm>
              <a:off x="351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0" name="Freeform 108"/>
            <p:cNvSpPr>
              <a:spLocks noEditPoints="1"/>
            </p:cNvSpPr>
            <p:nvPr/>
          </p:nvSpPr>
          <p:spPr bwMode="auto">
            <a:xfrm>
              <a:off x="351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1" name="Freeform 109"/>
            <p:cNvSpPr>
              <a:spLocks noEditPoints="1"/>
            </p:cNvSpPr>
            <p:nvPr/>
          </p:nvSpPr>
          <p:spPr bwMode="auto">
            <a:xfrm>
              <a:off x="351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2" name="Freeform 110"/>
            <p:cNvSpPr>
              <a:spLocks noEditPoints="1"/>
            </p:cNvSpPr>
            <p:nvPr/>
          </p:nvSpPr>
          <p:spPr bwMode="auto">
            <a:xfrm>
              <a:off x="351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3" name="Freeform 111"/>
            <p:cNvSpPr>
              <a:spLocks noEditPoints="1"/>
            </p:cNvSpPr>
            <p:nvPr/>
          </p:nvSpPr>
          <p:spPr bwMode="auto">
            <a:xfrm>
              <a:off x="351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4" name="Freeform 112"/>
            <p:cNvSpPr>
              <a:spLocks noEditPoints="1"/>
            </p:cNvSpPr>
            <p:nvPr/>
          </p:nvSpPr>
          <p:spPr bwMode="auto">
            <a:xfrm>
              <a:off x="351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5" name="Rectangle 113"/>
            <p:cNvSpPr>
              <a:spLocks noChangeArrowheads="1"/>
            </p:cNvSpPr>
            <p:nvPr/>
          </p:nvSpPr>
          <p:spPr bwMode="auto">
            <a:xfrm>
              <a:off x="3510" y="4269"/>
              <a:ext cx="20" cy="51"/>
            </a:xfrm>
            <a:prstGeom prst="rect">
              <a:avLst/>
            </a:prstGeom>
            <a:solidFill>
              <a:schemeClr val="bg2">
                <a:alpha val="50000"/>
              </a:schemeClr>
            </a:solidFill>
            <a:ln w="0">
              <a:noFill/>
              <a:miter lim="800000"/>
              <a:headEnd/>
              <a:tailEnd/>
            </a:ln>
          </p:spPr>
          <p:txBody>
            <a:bodyPr/>
            <a:lstStyle/>
            <a:p>
              <a:endParaRPr lang="zh-CN" altLang="en-US"/>
            </a:p>
          </p:txBody>
        </p:sp>
        <p:sp>
          <p:nvSpPr>
            <p:cNvPr id="85106" name="Rectangle 114"/>
            <p:cNvSpPr>
              <a:spLocks noChangeArrowheads="1"/>
            </p:cNvSpPr>
            <p:nvPr/>
          </p:nvSpPr>
          <p:spPr bwMode="auto">
            <a:xfrm>
              <a:off x="3960" y="23"/>
              <a:ext cx="20" cy="101"/>
            </a:xfrm>
            <a:prstGeom prst="rect">
              <a:avLst/>
            </a:prstGeom>
            <a:solidFill>
              <a:schemeClr val="bg2">
                <a:alpha val="50000"/>
              </a:schemeClr>
            </a:solidFill>
            <a:ln w="0">
              <a:noFill/>
              <a:miter lim="800000"/>
              <a:headEnd/>
              <a:tailEnd/>
            </a:ln>
          </p:spPr>
          <p:txBody>
            <a:bodyPr/>
            <a:lstStyle/>
            <a:p>
              <a:endParaRPr lang="zh-CN" altLang="en-US"/>
            </a:p>
          </p:txBody>
        </p:sp>
        <p:sp>
          <p:nvSpPr>
            <p:cNvPr id="85107" name="Freeform 115"/>
            <p:cNvSpPr>
              <a:spLocks noEditPoints="1"/>
            </p:cNvSpPr>
            <p:nvPr/>
          </p:nvSpPr>
          <p:spPr bwMode="auto">
            <a:xfrm>
              <a:off x="396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8" name="Freeform 116"/>
            <p:cNvSpPr>
              <a:spLocks noEditPoints="1"/>
            </p:cNvSpPr>
            <p:nvPr/>
          </p:nvSpPr>
          <p:spPr bwMode="auto">
            <a:xfrm>
              <a:off x="396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09" name="Freeform 117"/>
            <p:cNvSpPr>
              <a:spLocks noEditPoints="1"/>
            </p:cNvSpPr>
            <p:nvPr/>
          </p:nvSpPr>
          <p:spPr bwMode="auto">
            <a:xfrm>
              <a:off x="396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0" name="Freeform 118"/>
            <p:cNvSpPr>
              <a:spLocks noEditPoints="1"/>
            </p:cNvSpPr>
            <p:nvPr/>
          </p:nvSpPr>
          <p:spPr bwMode="auto">
            <a:xfrm>
              <a:off x="396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1" name="Freeform 119"/>
            <p:cNvSpPr>
              <a:spLocks noEditPoints="1"/>
            </p:cNvSpPr>
            <p:nvPr/>
          </p:nvSpPr>
          <p:spPr bwMode="auto">
            <a:xfrm>
              <a:off x="396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2" name="Freeform 120"/>
            <p:cNvSpPr>
              <a:spLocks noEditPoints="1"/>
            </p:cNvSpPr>
            <p:nvPr/>
          </p:nvSpPr>
          <p:spPr bwMode="auto">
            <a:xfrm>
              <a:off x="396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3" name="Freeform 121"/>
            <p:cNvSpPr>
              <a:spLocks noEditPoints="1"/>
            </p:cNvSpPr>
            <p:nvPr/>
          </p:nvSpPr>
          <p:spPr bwMode="auto">
            <a:xfrm>
              <a:off x="396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4" name="Freeform 122"/>
            <p:cNvSpPr>
              <a:spLocks noEditPoints="1"/>
            </p:cNvSpPr>
            <p:nvPr/>
          </p:nvSpPr>
          <p:spPr bwMode="auto">
            <a:xfrm>
              <a:off x="396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5" name="Freeform 123"/>
            <p:cNvSpPr>
              <a:spLocks noEditPoints="1"/>
            </p:cNvSpPr>
            <p:nvPr/>
          </p:nvSpPr>
          <p:spPr bwMode="auto">
            <a:xfrm>
              <a:off x="396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6" name="Freeform 124"/>
            <p:cNvSpPr>
              <a:spLocks noEditPoints="1"/>
            </p:cNvSpPr>
            <p:nvPr/>
          </p:nvSpPr>
          <p:spPr bwMode="auto">
            <a:xfrm>
              <a:off x="396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17" name="Rectangle 125"/>
            <p:cNvSpPr>
              <a:spLocks noChangeArrowheads="1"/>
            </p:cNvSpPr>
            <p:nvPr/>
          </p:nvSpPr>
          <p:spPr bwMode="auto">
            <a:xfrm>
              <a:off x="3960" y="4269"/>
              <a:ext cx="20" cy="51"/>
            </a:xfrm>
            <a:prstGeom prst="rect">
              <a:avLst/>
            </a:prstGeom>
            <a:solidFill>
              <a:schemeClr val="bg2">
                <a:alpha val="50000"/>
              </a:schemeClr>
            </a:solidFill>
            <a:ln w="0">
              <a:noFill/>
              <a:miter lim="800000"/>
              <a:headEnd/>
              <a:tailEnd/>
            </a:ln>
          </p:spPr>
          <p:txBody>
            <a:bodyPr/>
            <a:lstStyle/>
            <a:p>
              <a:endParaRPr lang="zh-CN" altLang="en-US"/>
            </a:p>
          </p:txBody>
        </p:sp>
        <p:sp>
          <p:nvSpPr>
            <p:cNvPr id="85118" name="Rectangle 126"/>
            <p:cNvSpPr>
              <a:spLocks noChangeArrowheads="1"/>
            </p:cNvSpPr>
            <p:nvPr/>
          </p:nvSpPr>
          <p:spPr bwMode="auto">
            <a:xfrm>
              <a:off x="4405" y="23"/>
              <a:ext cx="20" cy="101"/>
            </a:xfrm>
            <a:prstGeom prst="rect">
              <a:avLst/>
            </a:prstGeom>
            <a:solidFill>
              <a:schemeClr val="bg2">
                <a:alpha val="50000"/>
              </a:schemeClr>
            </a:solidFill>
            <a:ln w="0">
              <a:noFill/>
              <a:miter lim="800000"/>
              <a:headEnd/>
              <a:tailEnd/>
            </a:ln>
          </p:spPr>
          <p:txBody>
            <a:bodyPr/>
            <a:lstStyle/>
            <a:p>
              <a:endParaRPr lang="zh-CN" altLang="en-US"/>
            </a:p>
          </p:txBody>
        </p:sp>
        <p:sp>
          <p:nvSpPr>
            <p:cNvPr id="85119" name="Freeform 127"/>
            <p:cNvSpPr>
              <a:spLocks noEditPoints="1"/>
            </p:cNvSpPr>
            <p:nvPr/>
          </p:nvSpPr>
          <p:spPr bwMode="auto">
            <a:xfrm>
              <a:off x="440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0" name="Freeform 128"/>
            <p:cNvSpPr>
              <a:spLocks noEditPoints="1"/>
            </p:cNvSpPr>
            <p:nvPr/>
          </p:nvSpPr>
          <p:spPr bwMode="auto">
            <a:xfrm>
              <a:off x="440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1" name="Freeform 129"/>
            <p:cNvSpPr>
              <a:spLocks noEditPoints="1"/>
            </p:cNvSpPr>
            <p:nvPr/>
          </p:nvSpPr>
          <p:spPr bwMode="auto">
            <a:xfrm>
              <a:off x="440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2" name="Freeform 130"/>
            <p:cNvSpPr>
              <a:spLocks noEditPoints="1"/>
            </p:cNvSpPr>
            <p:nvPr/>
          </p:nvSpPr>
          <p:spPr bwMode="auto">
            <a:xfrm>
              <a:off x="440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3" name="Freeform 131"/>
            <p:cNvSpPr>
              <a:spLocks noEditPoints="1"/>
            </p:cNvSpPr>
            <p:nvPr/>
          </p:nvSpPr>
          <p:spPr bwMode="auto">
            <a:xfrm>
              <a:off x="440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4" name="Freeform 132"/>
            <p:cNvSpPr>
              <a:spLocks noEditPoints="1"/>
            </p:cNvSpPr>
            <p:nvPr/>
          </p:nvSpPr>
          <p:spPr bwMode="auto">
            <a:xfrm>
              <a:off x="440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5" name="Freeform 133"/>
            <p:cNvSpPr>
              <a:spLocks noEditPoints="1"/>
            </p:cNvSpPr>
            <p:nvPr/>
          </p:nvSpPr>
          <p:spPr bwMode="auto">
            <a:xfrm>
              <a:off x="440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6" name="Freeform 134"/>
            <p:cNvSpPr>
              <a:spLocks noEditPoints="1"/>
            </p:cNvSpPr>
            <p:nvPr/>
          </p:nvSpPr>
          <p:spPr bwMode="auto">
            <a:xfrm>
              <a:off x="440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7" name="Freeform 135"/>
            <p:cNvSpPr>
              <a:spLocks noEditPoints="1"/>
            </p:cNvSpPr>
            <p:nvPr/>
          </p:nvSpPr>
          <p:spPr bwMode="auto">
            <a:xfrm>
              <a:off x="440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8" name="Freeform 136"/>
            <p:cNvSpPr>
              <a:spLocks noEditPoints="1"/>
            </p:cNvSpPr>
            <p:nvPr/>
          </p:nvSpPr>
          <p:spPr bwMode="auto">
            <a:xfrm>
              <a:off x="440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29" name="Rectangle 137"/>
            <p:cNvSpPr>
              <a:spLocks noChangeArrowheads="1"/>
            </p:cNvSpPr>
            <p:nvPr/>
          </p:nvSpPr>
          <p:spPr bwMode="auto">
            <a:xfrm>
              <a:off x="4405" y="4269"/>
              <a:ext cx="20" cy="51"/>
            </a:xfrm>
            <a:prstGeom prst="rect">
              <a:avLst/>
            </a:prstGeom>
            <a:solidFill>
              <a:schemeClr val="bg2">
                <a:alpha val="50000"/>
              </a:schemeClr>
            </a:solidFill>
            <a:ln w="0">
              <a:noFill/>
              <a:miter lim="800000"/>
              <a:headEnd/>
              <a:tailEnd/>
            </a:ln>
          </p:spPr>
          <p:txBody>
            <a:bodyPr/>
            <a:lstStyle/>
            <a:p>
              <a:endParaRPr lang="zh-CN" altLang="en-US"/>
            </a:p>
          </p:txBody>
        </p:sp>
        <p:sp>
          <p:nvSpPr>
            <p:cNvPr id="85130" name="Rectangle 138"/>
            <p:cNvSpPr>
              <a:spLocks noChangeArrowheads="1"/>
            </p:cNvSpPr>
            <p:nvPr/>
          </p:nvSpPr>
          <p:spPr bwMode="auto">
            <a:xfrm>
              <a:off x="4850" y="23"/>
              <a:ext cx="20" cy="101"/>
            </a:xfrm>
            <a:prstGeom prst="rect">
              <a:avLst/>
            </a:prstGeom>
            <a:solidFill>
              <a:schemeClr val="bg2">
                <a:alpha val="50000"/>
              </a:schemeClr>
            </a:solidFill>
            <a:ln w="0">
              <a:noFill/>
              <a:miter lim="800000"/>
              <a:headEnd/>
              <a:tailEnd/>
            </a:ln>
          </p:spPr>
          <p:txBody>
            <a:bodyPr/>
            <a:lstStyle/>
            <a:p>
              <a:endParaRPr lang="zh-CN" altLang="en-US"/>
            </a:p>
          </p:txBody>
        </p:sp>
        <p:sp>
          <p:nvSpPr>
            <p:cNvPr id="85131" name="Freeform 139"/>
            <p:cNvSpPr>
              <a:spLocks noEditPoints="1"/>
            </p:cNvSpPr>
            <p:nvPr/>
          </p:nvSpPr>
          <p:spPr bwMode="auto">
            <a:xfrm>
              <a:off x="485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2" name="Freeform 140"/>
            <p:cNvSpPr>
              <a:spLocks noEditPoints="1"/>
            </p:cNvSpPr>
            <p:nvPr/>
          </p:nvSpPr>
          <p:spPr bwMode="auto">
            <a:xfrm>
              <a:off x="485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3" name="Freeform 141"/>
            <p:cNvSpPr>
              <a:spLocks noEditPoints="1"/>
            </p:cNvSpPr>
            <p:nvPr/>
          </p:nvSpPr>
          <p:spPr bwMode="auto">
            <a:xfrm>
              <a:off x="485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4" name="Freeform 142"/>
            <p:cNvSpPr>
              <a:spLocks noEditPoints="1"/>
            </p:cNvSpPr>
            <p:nvPr/>
          </p:nvSpPr>
          <p:spPr bwMode="auto">
            <a:xfrm>
              <a:off x="485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5" name="Freeform 143"/>
            <p:cNvSpPr>
              <a:spLocks noEditPoints="1"/>
            </p:cNvSpPr>
            <p:nvPr/>
          </p:nvSpPr>
          <p:spPr bwMode="auto">
            <a:xfrm>
              <a:off x="485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6" name="Freeform 144"/>
            <p:cNvSpPr>
              <a:spLocks noEditPoints="1"/>
            </p:cNvSpPr>
            <p:nvPr/>
          </p:nvSpPr>
          <p:spPr bwMode="auto">
            <a:xfrm>
              <a:off x="485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7" name="Freeform 145"/>
            <p:cNvSpPr>
              <a:spLocks noEditPoints="1"/>
            </p:cNvSpPr>
            <p:nvPr/>
          </p:nvSpPr>
          <p:spPr bwMode="auto">
            <a:xfrm>
              <a:off x="485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8" name="Freeform 146"/>
            <p:cNvSpPr>
              <a:spLocks noEditPoints="1"/>
            </p:cNvSpPr>
            <p:nvPr/>
          </p:nvSpPr>
          <p:spPr bwMode="auto">
            <a:xfrm>
              <a:off x="485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39" name="Freeform 147"/>
            <p:cNvSpPr>
              <a:spLocks noEditPoints="1"/>
            </p:cNvSpPr>
            <p:nvPr/>
          </p:nvSpPr>
          <p:spPr bwMode="auto">
            <a:xfrm>
              <a:off x="485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0" name="Freeform 148"/>
            <p:cNvSpPr>
              <a:spLocks noEditPoints="1"/>
            </p:cNvSpPr>
            <p:nvPr/>
          </p:nvSpPr>
          <p:spPr bwMode="auto">
            <a:xfrm>
              <a:off x="485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1" name="Rectangle 149"/>
            <p:cNvSpPr>
              <a:spLocks noChangeArrowheads="1"/>
            </p:cNvSpPr>
            <p:nvPr/>
          </p:nvSpPr>
          <p:spPr bwMode="auto">
            <a:xfrm>
              <a:off x="4850" y="4269"/>
              <a:ext cx="20" cy="51"/>
            </a:xfrm>
            <a:prstGeom prst="rect">
              <a:avLst/>
            </a:prstGeom>
            <a:solidFill>
              <a:schemeClr val="bg2">
                <a:alpha val="50000"/>
              </a:schemeClr>
            </a:solidFill>
            <a:ln w="0">
              <a:noFill/>
              <a:miter lim="800000"/>
              <a:headEnd/>
              <a:tailEnd/>
            </a:ln>
          </p:spPr>
          <p:txBody>
            <a:bodyPr/>
            <a:lstStyle/>
            <a:p>
              <a:endParaRPr lang="zh-CN" altLang="en-US"/>
            </a:p>
          </p:txBody>
        </p:sp>
        <p:sp>
          <p:nvSpPr>
            <p:cNvPr id="85142" name="Rectangle 150"/>
            <p:cNvSpPr>
              <a:spLocks noChangeArrowheads="1"/>
            </p:cNvSpPr>
            <p:nvPr/>
          </p:nvSpPr>
          <p:spPr bwMode="auto">
            <a:xfrm>
              <a:off x="5300" y="23"/>
              <a:ext cx="20" cy="101"/>
            </a:xfrm>
            <a:prstGeom prst="rect">
              <a:avLst/>
            </a:prstGeom>
            <a:solidFill>
              <a:schemeClr val="bg2">
                <a:alpha val="50000"/>
              </a:schemeClr>
            </a:solidFill>
            <a:ln w="0">
              <a:noFill/>
              <a:miter lim="800000"/>
              <a:headEnd/>
              <a:tailEnd/>
            </a:ln>
          </p:spPr>
          <p:txBody>
            <a:bodyPr/>
            <a:lstStyle/>
            <a:p>
              <a:endParaRPr lang="zh-CN" altLang="en-US"/>
            </a:p>
          </p:txBody>
        </p:sp>
        <p:sp>
          <p:nvSpPr>
            <p:cNvPr id="85143" name="Freeform 151"/>
            <p:cNvSpPr>
              <a:spLocks noEditPoints="1"/>
            </p:cNvSpPr>
            <p:nvPr/>
          </p:nvSpPr>
          <p:spPr bwMode="auto">
            <a:xfrm>
              <a:off x="530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4" name="Freeform 152"/>
            <p:cNvSpPr>
              <a:spLocks noEditPoints="1"/>
            </p:cNvSpPr>
            <p:nvPr/>
          </p:nvSpPr>
          <p:spPr bwMode="auto">
            <a:xfrm>
              <a:off x="530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5" name="Freeform 153"/>
            <p:cNvSpPr>
              <a:spLocks noEditPoints="1"/>
            </p:cNvSpPr>
            <p:nvPr/>
          </p:nvSpPr>
          <p:spPr bwMode="auto">
            <a:xfrm>
              <a:off x="530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6" name="Freeform 154"/>
            <p:cNvSpPr>
              <a:spLocks noEditPoints="1"/>
            </p:cNvSpPr>
            <p:nvPr/>
          </p:nvSpPr>
          <p:spPr bwMode="auto">
            <a:xfrm>
              <a:off x="530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7" name="Freeform 155"/>
            <p:cNvSpPr>
              <a:spLocks noEditPoints="1"/>
            </p:cNvSpPr>
            <p:nvPr/>
          </p:nvSpPr>
          <p:spPr bwMode="auto">
            <a:xfrm>
              <a:off x="530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8" name="Freeform 156"/>
            <p:cNvSpPr>
              <a:spLocks noEditPoints="1"/>
            </p:cNvSpPr>
            <p:nvPr/>
          </p:nvSpPr>
          <p:spPr bwMode="auto">
            <a:xfrm>
              <a:off x="530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49" name="Freeform 157"/>
            <p:cNvSpPr>
              <a:spLocks noEditPoints="1"/>
            </p:cNvSpPr>
            <p:nvPr/>
          </p:nvSpPr>
          <p:spPr bwMode="auto">
            <a:xfrm>
              <a:off x="530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50" name="Freeform 158"/>
            <p:cNvSpPr>
              <a:spLocks noEditPoints="1"/>
            </p:cNvSpPr>
            <p:nvPr/>
          </p:nvSpPr>
          <p:spPr bwMode="auto">
            <a:xfrm>
              <a:off x="530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51" name="Freeform 159"/>
            <p:cNvSpPr>
              <a:spLocks noEditPoints="1"/>
            </p:cNvSpPr>
            <p:nvPr/>
          </p:nvSpPr>
          <p:spPr bwMode="auto">
            <a:xfrm>
              <a:off x="530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52" name="Freeform 160"/>
            <p:cNvSpPr>
              <a:spLocks noEditPoints="1"/>
            </p:cNvSpPr>
            <p:nvPr/>
          </p:nvSpPr>
          <p:spPr bwMode="auto">
            <a:xfrm>
              <a:off x="530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endParaRPr lang="zh-CN" altLang="en-US"/>
            </a:p>
          </p:txBody>
        </p:sp>
        <p:sp>
          <p:nvSpPr>
            <p:cNvPr id="85153" name="Rectangle 161"/>
            <p:cNvSpPr>
              <a:spLocks noChangeArrowheads="1"/>
            </p:cNvSpPr>
            <p:nvPr/>
          </p:nvSpPr>
          <p:spPr bwMode="auto">
            <a:xfrm>
              <a:off x="5300" y="4269"/>
              <a:ext cx="20" cy="51"/>
            </a:xfrm>
            <a:prstGeom prst="rect">
              <a:avLst/>
            </a:prstGeom>
            <a:solidFill>
              <a:schemeClr val="bg2">
                <a:alpha val="50000"/>
              </a:schemeClr>
            </a:solidFill>
            <a:ln w="0">
              <a:noFill/>
              <a:miter lim="800000"/>
              <a:headEnd/>
              <a:tailEnd/>
            </a:ln>
          </p:spPr>
          <p:txBody>
            <a:bodyPr/>
            <a:lstStyle/>
            <a:p>
              <a:endParaRPr lang="zh-CN" altLang="en-US"/>
            </a:p>
          </p:txBody>
        </p:sp>
        <p:sp>
          <p:nvSpPr>
            <p:cNvPr id="85154" name="Freeform 162"/>
            <p:cNvSpPr>
              <a:spLocks/>
            </p:cNvSpPr>
            <p:nvPr/>
          </p:nvSpPr>
          <p:spPr bwMode="auto">
            <a:xfrm>
              <a:off x="349" y="3304"/>
              <a:ext cx="20" cy="10"/>
            </a:xfrm>
            <a:custGeom>
              <a:avLst/>
              <a:gdLst/>
              <a:ahLst/>
              <a:cxnLst>
                <a:cxn ang="0">
                  <a:pos x="0" y="1"/>
                </a:cxn>
                <a:cxn ang="0">
                  <a:pos x="0" y="1"/>
                </a:cxn>
              </a:cxnLst>
              <a:rect l="0" t="0" r="r" b="b"/>
              <a:pathLst>
                <a:path w="4" h="2">
                  <a:moveTo>
                    <a:pt x="0" y="1"/>
                  </a:moveTo>
                  <a:cubicBezTo>
                    <a:pt x="1" y="2"/>
                    <a:pt x="4" y="0"/>
                    <a:pt x="0" y="1"/>
                  </a:cubicBezTo>
                  <a:close/>
                </a:path>
              </a:pathLst>
            </a:custGeom>
            <a:solidFill>
              <a:schemeClr val="bg2">
                <a:alpha val="50000"/>
              </a:schemeClr>
            </a:solidFill>
            <a:ln w="0">
              <a:noFill/>
              <a:prstDash val="solid"/>
              <a:round/>
              <a:headEnd/>
              <a:tailEnd/>
            </a:ln>
          </p:spPr>
          <p:txBody>
            <a:bodyPr/>
            <a:lstStyle/>
            <a:p>
              <a:endParaRPr lang="zh-CN" altLang="en-US"/>
            </a:p>
          </p:txBody>
        </p:sp>
      </p:grpSp>
      <p:sp>
        <p:nvSpPr>
          <p:cNvPr id="85155" name="Rectangle 163"/>
          <p:cNvSpPr>
            <a:spLocks noGrp="1" noRot="1" noChangeArrowheads="1"/>
          </p:cNvSpPr>
          <p:nvPr>
            <p:ph type="ctrTitle"/>
          </p:nvPr>
        </p:nvSpPr>
        <p:spPr>
          <a:xfrm>
            <a:off x="685800" y="2057400"/>
            <a:ext cx="7772400" cy="1143000"/>
          </a:xfrm>
        </p:spPr>
        <p:txBody>
          <a:bodyPr/>
          <a:lstStyle>
            <a:lvl1pPr>
              <a:defRPr/>
            </a:lvl1pPr>
          </a:lstStyle>
          <a:p>
            <a:r>
              <a:rPr lang="zh-CN" altLang="en-US"/>
              <a:t>单击此处编辑母版标题样式</a:t>
            </a:r>
          </a:p>
        </p:txBody>
      </p:sp>
      <p:sp>
        <p:nvSpPr>
          <p:cNvPr id="85156" name="Rectangle 164"/>
          <p:cNvSpPr>
            <a:spLocks noGrp="1" noChangeArrowheads="1"/>
          </p:cNvSpPr>
          <p:nvPr>
            <p:ph type="dt" sz="half" idx="2"/>
          </p:nvPr>
        </p:nvSpPr>
        <p:spPr>
          <a:xfrm>
            <a:off x="301625" y="6248400"/>
            <a:ext cx="2289175" cy="476250"/>
          </a:xfrm>
        </p:spPr>
        <p:txBody>
          <a:bodyPr/>
          <a:lstStyle>
            <a:lvl1pPr>
              <a:defRPr/>
            </a:lvl1pPr>
          </a:lstStyle>
          <a:p>
            <a:endParaRPr lang="en-US" altLang="zh-CN"/>
          </a:p>
        </p:txBody>
      </p:sp>
      <p:sp>
        <p:nvSpPr>
          <p:cNvPr id="85157" name="Rectangle 165"/>
          <p:cNvSpPr>
            <a:spLocks noGrp="1" noChangeArrowheads="1"/>
          </p:cNvSpPr>
          <p:nvPr>
            <p:ph type="ftr" sz="quarter" idx="3"/>
          </p:nvPr>
        </p:nvSpPr>
        <p:spPr>
          <a:xfrm>
            <a:off x="3124200" y="6248400"/>
            <a:ext cx="2895600" cy="476250"/>
          </a:xfrm>
        </p:spPr>
        <p:txBody>
          <a:bodyPr/>
          <a:lstStyle>
            <a:lvl1pPr>
              <a:defRPr/>
            </a:lvl1pPr>
          </a:lstStyle>
          <a:p>
            <a:endParaRPr lang="en-US" altLang="zh-CN"/>
          </a:p>
        </p:txBody>
      </p:sp>
      <p:sp>
        <p:nvSpPr>
          <p:cNvPr id="85158" name="Rectangle 166"/>
          <p:cNvSpPr>
            <a:spLocks noGrp="1" noChangeArrowheads="1"/>
          </p:cNvSpPr>
          <p:nvPr>
            <p:ph type="sldNum" sz="quarter" idx="4"/>
          </p:nvPr>
        </p:nvSpPr>
        <p:spPr>
          <a:xfrm>
            <a:off x="6553200" y="6248400"/>
            <a:ext cx="2289175" cy="476250"/>
          </a:xfrm>
        </p:spPr>
        <p:txBody>
          <a:bodyPr/>
          <a:lstStyle>
            <a:lvl1pPr>
              <a:defRPr/>
            </a:lvl1pPr>
          </a:lstStyle>
          <a:p>
            <a:fld id="{2ECB0A58-8B5D-4A34-B377-2155F57348CC}" type="slidenum">
              <a:rPr lang="en-US" altLang="zh-CN"/>
              <a:pPr/>
              <a:t>‹#›</a:t>
            </a:fld>
            <a:endParaRPr lang="en-US" altLang="zh-CN"/>
          </a:p>
        </p:txBody>
      </p:sp>
      <p:sp>
        <p:nvSpPr>
          <p:cNvPr id="85159" name="Rectangle 167"/>
          <p:cNvSpPr>
            <a:spLocks noGrp="1" noRot="1" noChangeArrowheads="1"/>
          </p:cNvSpPr>
          <p:nvPr>
            <p:ph type="subTitle" idx="1"/>
          </p:nvPr>
        </p:nvSpPr>
        <p:spPr>
          <a:xfrm>
            <a:off x="1371600" y="3505200"/>
            <a:ext cx="6400800" cy="1752600"/>
          </a:xfrm>
        </p:spPr>
        <p:txBody>
          <a:bodyPr/>
          <a:lstStyle>
            <a:lvl1pPr marL="0" indent="0" algn="ctr">
              <a:buFont typeface="Wingdings" pitchFamily="2" charset="2"/>
              <a:buNone/>
              <a:defRPr/>
            </a:lvl1pPr>
          </a:lstStyle>
          <a:p>
            <a:r>
              <a:rPr lang="zh-CN" altLang="en-US"/>
              <a:t>单击此处编辑母版副标题样式</a:t>
            </a:r>
          </a:p>
        </p:txBody>
      </p:sp>
      <p:grpSp>
        <p:nvGrpSpPr>
          <p:cNvPr id="85160" name="Group 168"/>
          <p:cNvGrpSpPr>
            <a:grpSpLocks/>
          </p:cNvGrpSpPr>
          <p:nvPr/>
        </p:nvGrpSpPr>
        <p:grpSpPr bwMode="auto">
          <a:xfrm>
            <a:off x="152400" y="4724400"/>
            <a:ext cx="1685925" cy="1557338"/>
            <a:chOff x="96" y="2784"/>
            <a:chExt cx="1062" cy="981"/>
          </a:xfrm>
        </p:grpSpPr>
        <p:sp>
          <p:nvSpPr>
            <p:cNvPr id="85161" name="Freeform 169"/>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folHlink"/>
            </a:solidFill>
            <a:ln w="0">
              <a:noFill/>
              <a:prstDash val="solid"/>
              <a:round/>
              <a:headEnd/>
              <a:tailEnd/>
            </a:ln>
          </p:spPr>
          <p:txBody>
            <a:bodyPr/>
            <a:lstStyle/>
            <a:p>
              <a:endParaRPr lang="zh-CN" altLang="en-US"/>
            </a:p>
          </p:txBody>
        </p:sp>
        <p:sp>
          <p:nvSpPr>
            <p:cNvPr id="85162" name="Freeform 170"/>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folHlink"/>
            </a:solidFill>
            <a:ln w="0">
              <a:noFill/>
              <a:prstDash val="solid"/>
              <a:round/>
              <a:headEnd/>
              <a:tailEnd/>
            </a:ln>
          </p:spPr>
          <p:txBody>
            <a:bodyPr/>
            <a:lstStyle/>
            <a:p>
              <a:endParaRPr lang="zh-CN" altLang="en-US"/>
            </a:p>
          </p:txBody>
        </p:sp>
        <p:sp>
          <p:nvSpPr>
            <p:cNvPr id="85163" name="Freeform 171"/>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folHlink"/>
            </a:solidFill>
            <a:ln w="0">
              <a:noFill/>
              <a:prstDash val="solid"/>
              <a:round/>
              <a:headEnd/>
              <a:tailEnd/>
            </a:ln>
          </p:spPr>
          <p:txBody>
            <a:bodyPr/>
            <a:lstStyle/>
            <a:p>
              <a:endParaRPr lang="zh-CN" altLang="en-US"/>
            </a:p>
          </p:txBody>
        </p:sp>
        <p:sp>
          <p:nvSpPr>
            <p:cNvPr id="85164" name="Freeform 172"/>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folHlink"/>
            </a:solidFill>
            <a:ln w="0">
              <a:noFill/>
              <a:prstDash val="solid"/>
              <a:round/>
              <a:headEnd/>
              <a:tailEnd/>
            </a:ln>
          </p:spPr>
          <p:txBody>
            <a:bodyPr/>
            <a:lstStyle/>
            <a:p>
              <a:endParaRPr lang="zh-CN" altLang="en-US"/>
            </a:p>
          </p:txBody>
        </p:sp>
        <p:sp>
          <p:nvSpPr>
            <p:cNvPr id="85165" name="Freeform 173"/>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folHlink"/>
            </a:solidFill>
            <a:ln w="0">
              <a:noFill/>
              <a:prstDash val="solid"/>
              <a:round/>
              <a:headEnd/>
              <a:tailEnd/>
            </a:ln>
          </p:spPr>
          <p:txBody>
            <a:bodyPr/>
            <a:lstStyle/>
            <a:p>
              <a:endParaRPr lang="zh-CN" altLang="en-US"/>
            </a:p>
          </p:txBody>
        </p:sp>
        <p:sp>
          <p:nvSpPr>
            <p:cNvPr id="85166" name="Freeform 174"/>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folHlink"/>
            </a:solidFill>
            <a:ln w="0">
              <a:noFill/>
              <a:prstDash val="solid"/>
              <a:round/>
              <a:headEnd/>
              <a:tailEnd/>
            </a:ln>
          </p:spPr>
          <p:txBody>
            <a:bodyPr/>
            <a:lstStyle/>
            <a:p>
              <a:endParaRPr lang="zh-CN" altLang="en-US"/>
            </a:p>
          </p:txBody>
        </p:sp>
        <p:sp>
          <p:nvSpPr>
            <p:cNvPr id="85167" name="Freeform 175"/>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folHlink"/>
            </a:solidFill>
            <a:ln w="0">
              <a:noFill/>
              <a:prstDash val="solid"/>
              <a:round/>
              <a:headEnd/>
              <a:tailEnd/>
            </a:ln>
          </p:spPr>
          <p:txBody>
            <a:bodyPr/>
            <a:lstStyle/>
            <a:p>
              <a:endParaRPr lang="zh-CN" altLang="en-US"/>
            </a:p>
          </p:txBody>
        </p:sp>
        <p:sp>
          <p:nvSpPr>
            <p:cNvPr id="85168" name="Freeform 176"/>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folHlink"/>
            </a:solidFill>
            <a:ln w="0">
              <a:noFill/>
              <a:prstDash val="solid"/>
              <a:round/>
              <a:headEnd/>
              <a:tailEnd/>
            </a:ln>
          </p:spPr>
          <p:txBody>
            <a:bodyPr/>
            <a:lstStyle/>
            <a:p>
              <a:endParaRPr lang="zh-CN" altLang="en-US"/>
            </a:p>
          </p:txBody>
        </p:sp>
        <p:sp>
          <p:nvSpPr>
            <p:cNvPr id="85169" name="Freeform 177"/>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folHlink"/>
            </a:solidFill>
            <a:ln w="0">
              <a:noFill/>
              <a:prstDash val="solid"/>
              <a:round/>
              <a:headEnd/>
              <a:tailEnd/>
            </a:ln>
          </p:spPr>
          <p:txBody>
            <a:bodyPr/>
            <a:lstStyle/>
            <a:p>
              <a:endParaRPr lang="zh-CN" altLang="en-US"/>
            </a:p>
          </p:txBody>
        </p:sp>
        <p:sp>
          <p:nvSpPr>
            <p:cNvPr id="85170" name="Freeform 178"/>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folHlink"/>
            </a:solidFill>
            <a:ln w="0">
              <a:noFill/>
              <a:prstDash val="solid"/>
              <a:round/>
              <a:headEnd/>
              <a:tailEnd/>
            </a:ln>
          </p:spPr>
          <p:txBody>
            <a:bodyPr/>
            <a:lstStyle/>
            <a:p>
              <a:endParaRPr lang="zh-CN" altLang="en-US"/>
            </a:p>
          </p:txBody>
        </p:sp>
        <p:sp>
          <p:nvSpPr>
            <p:cNvPr id="85171" name="Freeform 179"/>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folHlink"/>
            </a:solidFill>
            <a:ln w="0">
              <a:noFill/>
              <a:prstDash val="solid"/>
              <a:round/>
              <a:headEnd/>
              <a:tailEnd/>
            </a:ln>
          </p:spPr>
          <p:txBody>
            <a:bodyPr/>
            <a:lstStyle/>
            <a:p>
              <a:endParaRPr lang="zh-CN" altLang="en-US"/>
            </a:p>
          </p:txBody>
        </p:sp>
        <p:sp>
          <p:nvSpPr>
            <p:cNvPr id="85172" name="Freeform 180"/>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folHlink"/>
            </a:solidFill>
            <a:ln w="0">
              <a:noFill/>
              <a:prstDash val="solid"/>
              <a:round/>
              <a:headEnd/>
              <a:tailEnd/>
            </a:ln>
          </p:spPr>
          <p:txBody>
            <a:bodyPr/>
            <a:lstStyle/>
            <a:p>
              <a:endParaRPr lang="zh-CN" altLang="en-US"/>
            </a:p>
          </p:txBody>
        </p:sp>
        <p:sp>
          <p:nvSpPr>
            <p:cNvPr id="85173" name="Freeform 181"/>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folHlink"/>
            </a:solidFill>
            <a:ln w="0">
              <a:noFill/>
              <a:prstDash val="solid"/>
              <a:round/>
              <a:headEnd/>
              <a:tailEnd/>
            </a:ln>
          </p:spPr>
          <p:txBody>
            <a:bodyPr/>
            <a:lstStyle/>
            <a:p>
              <a:endParaRPr lang="zh-CN" alt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5AD7DD7-C5FE-4970-9966-394B95DCB6D5}" type="slidenum">
              <a:rPr lang="en-US" altLang="zh-CN"/>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5BD0C45-3726-4DB3-B08A-0CFDA6FAD8F8}" type="slidenum">
              <a:rPr lang="en-US" altLang="zh-CN"/>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C5F8F5E-D555-4A01-8331-E6D3BC963D70}" type="slidenum">
              <a:rPr lang="en-US" altLang="zh-CN"/>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A0F285C4-F8BF-44FF-86C9-CC8A0A0495CF}" type="slidenum">
              <a:rPr lang="en-US" altLang="zh-CN"/>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D9B6C54C-1663-492A-A17B-11A1602F6D98}" type="slidenum">
              <a:rPr lang="en-US" altLang="zh-CN"/>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569C4247-1C8B-4F8E-85BE-C7DD59D30A22}" type="slidenum">
              <a:rPr lang="en-US" altLang="zh-CN"/>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50ED28D8-FCF5-4B09-909B-630287B27502}" type="slidenum">
              <a:rPr lang="en-US" altLang="zh-CN"/>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8DA75A9-FC51-4117-875E-48FE0AF9342C}" type="slidenum">
              <a:rPr lang="en-US" altLang="zh-CN"/>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8AB66FF-AB47-4135-A53E-9630068C3187}" type="slidenum">
              <a:rPr lang="en-US" altLang="zh-CN"/>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4013" y="228600"/>
            <a:ext cx="2135187" cy="5870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98450" y="228600"/>
            <a:ext cx="6253163" cy="5870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159FF80-52B8-4E47-B24D-6CA694938381}" type="slidenum">
              <a:rPr lang="en-US" altLang="zh-CN"/>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228600"/>
            <a:ext cx="854075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62500" y="1600200"/>
            <a:ext cx="4000500" cy="21732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62500" y="3925888"/>
            <a:ext cx="4000500" cy="21732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298450" y="6245225"/>
            <a:ext cx="2289175" cy="476250"/>
          </a:xfrm>
        </p:spPr>
        <p:txBody>
          <a:bodyPr/>
          <a:lstStyle>
            <a:lvl1pPr>
              <a:defRPr/>
            </a:lvl1pPr>
          </a:lstStyle>
          <a:p>
            <a:endParaRPr lang="en-US" altLang="zh-CN"/>
          </a:p>
        </p:txBody>
      </p:sp>
      <p:sp>
        <p:nvSpPr>
          <p:cNvPr id="7" name="页脚占位符 6"/>
          <p:cNvSpPr>
            <a:spLocks noGrp="1"/>
          </p:cNvSpPr>
          <p:nvPr>
            <p:ph type="ftr" sz="quarter" idx="11"/>
          </p:nvPr>
        </p:nvSpPr>
        <p:spPr>
          <a:xfrm>
            <a:off x="3121025" y="6245225"/>
            <a:ext cx="2895600" cy="47625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0025" y="6245225"/>
            <a:ext cx="2289175" cy="476250"/>
          </a:xfrm>
        </p:spPr>
        <p:txBody>
          <a:bodyPr/>
          <a:lstStyle>
            <a:lvl1pPr>
              <a:defRPr/>
            </a:lvl1pPr>
          </a:lstStyle>
          <a:p>
            <a:fld id="{735730F1-4DB3-400A-AA0A-E87724A42DBF}" type="slidenum">
              <a:rPr lang="en-US" altLang="zh-CN"/>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228600"/>
            <a:ext cx="854075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298450" y="6245225"/>
            <a:ext cx="2289175" cy="476250"/>
          </a:xfrm>
        </p:spPr>
        <p:txBody>
          <a:bodyPr/>
          <a:lstStyle>
            <a:lvl1pPr>
              <a:defRPr/>
            </a:lvl1pPr>
          </a:lstStyle>
          <a:p>
            <a:endParaRPr lang="en-US" altLang="zh-CN"/>
          </a:p>
        </p:txBody>
      </p:sp>
      <p:sp>
        <p:nvSpPr>
          <p:cNvPr id="6" name="页脚占位符 5"/>
          <p:cNvSpPr>
            <a:spLocks noGrp="1"/>
          </p:cNvSpPr>
          <p:nvPr>
            <p:ph type="ftr" sz="quarter" idx="11"/>
          </p:nvPr>
        </p:nvSpPr>
        <p:spPr>
          <a:xfrm>
            <a:off x="3121025" y="6245225"/>
            <a:ext cx="2895600" cy="47625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0025" y="6245225"/>
            <a:ext cx="2289175" cy="476250"/>
          </a:xfrm>
        </p:spPr>
        <p:txBody>
          <a:bodyPr/>
          <a:lstStyle>
            <a:lvl1pPr>
              <a:defRPr/>
            </a:lvl1pPr>
          </a:lstStyle>
          <a:p>
            <a:fld id="{AEAB3E1A-87C6-40C7-A8FD-BAC26DDC91AB}" type="slidenum">
              <a:rPr lang="en-US" altLang="zh-CN"/>
              <a:pPr/>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仅标题页">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9354B24-CB5B-412F-B128-4628C90E8BC1}" type="datetime1">
              <a:rPr lang="zh-CN" altLang="en-US" smtClean="0"/>
              <a:t>2026/5/17</a:t>
            </a:fld>
            <a:endParaRPr lang="zh-CN" altLang="en-US" dirty="0"/>
          </a:p>
        </p:txBody>
      </p:sp>
      <p:sp>
        <p:nvSpPr>
          <p:cNvPr id="4" name="Footer Placeholder 3"/>
          <p:cNvSpPr>
            <a:spLocks noGrp="1"/>
          </p:cNvSpPr>
          <p:nvPr>
            <p:ph type="ftr" sz="quarter" idx="11"/>
          </p:nvPr>
        </p:nvSpPr>
        <p:spPr/>
        <p:txBody>
          <a:bodyPr/>
          <a:lstStyle>
            <a:lvl1pPr>
              <a:defRPr sz="1000" b="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stStyle>
          <a:p>
            <a:r>
              <a:rPr lang="zh-CN" altLang="en-US" dirty="0"/>
              <a:t>此处请输出出处和引用</a:t>
            </a:r>
          </a:p>
        </p:txBody>
      </p:sp>
      <p:sp>
        <p:nvSpPr>
          <p:cNvPr id="5" name="Slide Number Placeholder 4"/>
          <p:cNvSpPr>
            <a:spLocks noGrp="1"/>
          </p:cNvSpPr>
          <p:nvPr>
            <p:ph type="sldNum" sz="quarter" idx="12"/>
          </p:nvPr>
        </p:nvSpPr>
        <p:spPr/>
        <p:txBody>
          <a:bodyPr/>
          <a:lstStyle>
            <a:lvl1pPr>
              <a:defRPr sz="1000">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fld id="{5DD3DB80-B894-403A-B48E-6FDC1A72010E}" type="slidenum">
              <a:rPr lang="zh-CN" altLang="en-US" smtClean="0"/>
              <a:t>‹#›</a:t>
            </a:fld>
            <a:endParaRPr lang="zh-CN" altLang="en-US" dirty="0"/>
          </a:p>
        </p:txBody>
      </p:sp>
      <p:sp>
        <p:nvSpPr>
          <p:cNvPr id="6" name="标题 5"/>
          <p:cNvSpPr>
            <a:spLocks noGrp="1"/>
          </p:cNvSpPr>
          <p:nvPr>
            <p:ph type="title" hasCustomPrompt="1"/>
          </p:nvPr>
        </p:nvSpPr>
        <p:spPr>
          <a:xfrm>
            <a:off x="502444" y="2"/>
            <a:ext cx="8137922" cy="1028699"/>
          </a:xfrm>
        </p:spPr>
        <p:txBody>
          <a:bodyPr>
            <a:normAutofit/>
          </a:bodyPr>
          <a:lstStyle>
            <a:lvl1pPr>
              <a:defRPr sz="2800">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lang="en-US" altLang="zh-CN" dirty="0"/>
              <a:t>  </a:t>
            </a:r>
            <a:r>
              <a:rPr lang="en-US" altLang="zh-CN" dirty="0" err="1"/>
              <a:t>ElitesAI</a:t>
            </a:r>
            <a:r>
              <a:rPr lang="en-US" altLang="zh-CN" dirty="0"/>
              <a:t> Title</a:t>
            </a:r>
            <a:endParaRPr lang="zh-CN" altLang="en-US" dirty="0"/>
          </a:p>
        </p:txBody>
      </p:sp>
      <p:sp>
        <p:nvSpPr>
          <p:cNvPr id="7" name="矩形 6"/>
          <p:cNvSpPr/>
          <p:nvPr userDrawn="1"/>
        </p:nvSpPr>
        <p:spPr>
          <a:xfrm>
            <a:off x="502443" y="573024"/>
            <a:ext cx="155925" cy="377952"/>
          </a:xfrm>
          <a:prstGeom prst="rect">
            <a:avLst/>
          </a:prstGeom>
          <a:solidFill>
            <a:srgbClr val="C2E9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R" panose="00020600040101010101" pitchFamily="18" charset="-122"/>
              <a:ea typeface="阿里巴巴普惠体 R" panose="00020600040101010101" pitchFamily="18" charset="-122"/>
            </a:endParaRPr>
          </a:p>
        </p:txBody>
      </p:sp>
    </p:spTree>
    <p:extLst>
      <p:ext uri="{BB962C8B-B14F-4D97-AF65-F5344CB8AC3E}">
        <p14:creationId xmlns:p14="http://schemas.microsoft.com/office/powerpoint/2010/main" val="1674157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3970" name="Group 2"/>
          <p:cNvGrpSpPr>
            <a:grpSpLocks/>
          </p:cNvGrpSpPr>
          <p:nvPr/>
        </p:nvGrpSpPr>
        <p:grpSpPr bwMode="auto">
          <a:xfrm>
            <a:off x="566738" y="0"/>
            <a:ext cx="7891462" cy="6821488"/>
            <a:chOff x="349" y="23"/>
            <a:chExt cx="4971" cy="4297"/>
          </a:xfrm>
        </p:grpSpPr>
        <p:sp>
          <p:nvSpPr>
            <p:cNvPr id="83971" name="Rectangle 3"/>
            <p:cNvSpPr>
              <a:spLocks noChangeArrowheads="1"/>
            </p:cNvSpPr>
            <p:nvPr/>
          </p:nvSpPr>
          <p:spPr bwMode="auto">
            <a:xfrm>
              <a:off x="384" y="23"/>
              <a:ext cx="21" cy="101"/>
            </a:xfrm>
            <a:prstGeom prst="rect">
              <a:avLst/>
            </a:prstGeom>
            <a:solidFill>
              <a:schemeClr val="bg2">
                <a:alpha val="60001"/>
              </a:schemeClr>
            </a:solidFill>
            <a:ln w="0">
              <a:noFill/>
              <a:miter lim="800000"/>
              <a:headEnd/>
              <a:tailEnd/>
            </a:ln>
          </p:spPr>
          <p:txBody>
            <a:bodyPr/>
            <a:lstStyle/>
            <a:p>
              <a:endParaRPr lang="zh-CN" altLang="en-US"/>
            </a:p>
          </p:txBody>
        </p:sp>
        <p:sp>
          <p:nvSpPr>
            <p:cNvPr id="83972" name="Freeform 4"/>
            <p:cNvSpPr>
              <a:spLocks noEditPoints="1"/>
            </p:cNvSpPr>
            <p:nvPr/>
          </p:nvSpPr>
          <p:spPr bwMode="auto">
            <a:xfrm>
              <a:off x="38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73" name="Freeform 5"/>
            <p:cNvSpPr>
              <a:spLocks noEditPoints="1"/>
            </p:cNvSpPr>
            <p:nvPr/>
          </p:nvSpPr>
          <p:spPr bwMode="auto">
            <a:xfrm>
              <a:off x="38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74" name="Freeform 6"/>
            <p:cNvSpPr>
              <a:spLocks noEditPoints="1"/>
            </p:cNvSpPr>
            <p:nvPr/>
          </p:nvSpPr>
          <p:spPr bwMode="auto">
            <a:xfrm>
              <a:off x="38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75" name="Freeform 7"/>
            <p:cNvSpPr>
              <a:spLocks noEditPoints="1"/>
            </p:cNvSpPr>
            <p:nvPr/>
          </p:nvSpPr>
          <p:spPr bwMode="auto">
            <a:xfrm>
              <a:off x="38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76" name="Freeform 8"/>
            <p:cNvSpPr>
              <a:spLocks noEditPoints="1"/>
            </p:cNvSpPr>
            <p:nvPr/>
          </p:nvSpPr>
          <p:spPr bwMode="auto">
            <a:xfrm>
              <a:off x="38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77" name="Freeform 9"/>
            <p:cNvSpPr>
              <a:spLocks noEditPoints="1"/>
            </p:cNvSpPr>
            <p:nvPr/>
          </p:nvSpPr>
          <p:spPr bwMode="auto">
            <a:xfrm>
              <a:off x="38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78" name="Freeform 10"/>
            <p:cNvSpPr>
              <a:spLocks noEditPoints="1"/>
            </p:cNvSpPr>
            <p:nvPr/>
          </p:nvSpPr>
          <p:spPr bwMode="auto">
            <a:xfrm>
              <a:off x="38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79" name="Freeform 11"/>
            <p:cNvSpPr>
              <a:spLocks noEditPoints="1"/>
            </p:cNvSpPr>
            <p:nvPr/>
          </p:nvSpPr>
          <p:spPr bwMode="auto">
            <a:xfrm>
              <a:off x="38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0" name="Freeform 12"/>
            <p:cNvSpPr>
              <a:spLocks noEditPoints="1"/>
            </p:cNvSpPr>
            <p:nvPr/>
          </p:nvSpPr>
          <p:spPr bwMode="auto">
            <a:xfrm>
              <a:off x="38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1" name="Freeform 13"/>
            <p:cNvSpPr>
              <a:spLocks noEditPoints="1"/>
            </p:cNvSpPr>
            <p:nvPr/>
          </p:nvSpPr>
          <p:spPr bwMode="auto">
            <a:xfrm>
              <a:off x="38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2" name="Rectangle 14"/>
            <p:cNvSpPr>
              <a:spLocks noChangeArrowheads="1"/>
            </p:cNvSpPr>
            <p:nvPr/>
          </p:nvSpPr>
          <p:spPr bwMode="auto">
            <a:xfrm>
              <a:off x="384" y="4269"/>
              <a:ext cx="21" cy="51"/>
            </a:xfrm>
            <a:prstGeom prst="rect">
              <a:avLst/>
            </a:prstGeom>
            <a:solidFill>
              <a:schemeClr val="bg2">
                <a:alpha val="60001"/>
              </a:schemeClr>
            </a:solidFill>
            <a:ln w="0">
              <a:noFill/>
              <a:miter lim="800000"/>
              <a:headEnd/>
              <a:tailEnd/>
            </a:ln>
          </p:spPr>
          <p:txBody>
            <a:bodyPr/>
            <a:lstStyle/>
            <a:p>
              <a:endParaRPr lang="zh-CN" altLang="en-US"/>
            </a:p>
          </p:txBody>
        </p:sp>
        <p:sp>
          <p:nvSpPr>
            <p:cNvPr id="83983" name="Rectangle 15"/>
            <p:cNvSpPr>
              <a:spLocks noChangeArrowheads="1"/>
            </p:cNvSpPr>
            <p:nvPr/>
          </p:nvSpPr>
          <p:spPr bwMode="auto">
            <a:xfrm>
              <a:off x="829" y="23"/>
              <a:ext cx="21" cy="101"/>
            </a:xfrm>
            <a:prstGeom prst="rect">
              <a:avLst/>
            </a:prstGeom>
            <a:solidFill>
              <a:schemeClr val="bg2">
                <a:alpha val="60001"/>
              </a:schemeClr>
            </a:solidFill>
            <a:ln w="0">
              <a:noFill/>
              <a:miter lim="800000"/>
              <a:headEnd/>
              <a:tailEnd/>
            </a:ln>
          </p:spPr>
          <p:txBody>
            <a:bodyPr/>
            <a:lstStyle/>
            <a:p>
              <a:endParaRPr lang="zh-CN" altLang="en-US"/>
            </a:p>
          </p:txBody>
        </p:sp>
        <p:sp>
          <p:nvSpPr>
            <p:cNvPr id="83984" name="Freeform 16"/>
            <p:cNvSpPr>
              <a:spLocks noEditPoints="1"/>
            </p:cNvSpPr>
            <p:nvPr/>
          </p:nvSpPr>
          <p:spPr bwMode="auto">
            <a:xfrm>
              <a:off x="82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5" name="Freeform 17"/>
            <p:cNvSpPr>
              <a:spLocks noEditPoints="1"/>
            </p:cNvSpPr>
            <p:nvPr/>
          </p:nvSpPr>
          <p:spPr bwMode="auto">
            <a:xfrm>
              <a:off x="82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6" name="Freeform 18"/>
            <p:cNvSpPr>
              <a:spLocks noEditPoints="1"/>
            </p:cNvSpPr>
            <p:nvPr/>
          </p:nvSpPr>
          <p:spPr bwMode="auto">
            <a:xfrm>
              <a:off x="82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7" name="Freeform 19"/>
            <p:cNvSpPr>
              <a:spLocks noEditPoints="1"/>
            </p:cNvSpPr>
            <p:nvPr/>
          </p:nvSpPr>
          <p:spPr bwMode="auto">
            <a:xfrm>
              <a:off x="82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8" name="Freeform 20"/>
            <p:cNvSpPr>
              <a:spLocks noEditPoints="1"/>
            </p:cNvSpPr>
            <p:nvPr/>
          </p:nvSpPr>
          <p:spPr bwMode="auto">
            <a:xfrm>
              <a:off x="82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89" name="Freeform 21"/>
            <p:cNvSpPr>
              <a:spLocks noEditPoints="1"/>
            </p:cNvSpPr>
            <p:nvPr/>
          </p:nvSpPr>
          <p:spPr bwMode="auto">
            <a:xfrm>
              <a:off x="82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0" name="Freeform 22"/>
            <p:cNvSpPr>
              <a:spLocks noEditPoints="1"/>
            </p:cNvSpPr>
            <p:nvPr/>
          </p:nvSpPr>
          <p:spPr bwMode="auto">
            <a:xfrm>
              <a:off x="82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1" name="Freeform 23"/>
            <p:cNvSpPr>
              <a:spLocks noEditPoints="1"/>
            </p:cNvSpPr>
            <p:nvPr/>
          </p:nvSpPr>
          <p:spPr bwMode="auto">
            <a:xfrm>
              <a:off x="82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2" name="Freeform 24"/>
            <p:cNvSpPr>
              <a:spLocks noEditPoints="1"/>
            </p:cNvSpPr>
            <p:nvPr/>
          </p:nvSpPr>
          <p:spPr bwMode="auto">
            <a:xfrm>
              <a:off x="82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3" name="Freeform 25"/>
            <p:cNvSpPr>
              <a:spLocks noEditPoints="1"/>
            </p:cNvSpPr>
            <p:nvPr/>
          </p:nvSpPr>
          <p:spPr bwMode="auto">
            <a:xfrm>
              <a:off x="82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4" name="Rectangle 26"/>
            <p:cNvSpPr>
              <a:spLocks noChangeArrowheads="1"/>
            </p:cNvSpPr>
            <p:nvPr/>
          </p:nvSpPr>
          <p:spPr bwMode="auto">
            <a:xfrm>
              <a:off x="829" y="4269"/>
              <a:ext cx="21" cy="51"/>
            </a:xfrm>
            <a:prstGeom prst="rect">
              <a:avLst/>
            </a:prstGeom>
            <a:solidFill>
              <a:schemeClr val="bg2">
                <a:alpha val="60001"/>
              </a:schemeClr>
            </a:solidFill>
            <a:ln w="0">
              <a:noFill/>
              <a:miter lim="800000"/>
              <a:headEnd/>
              <a:tailEnd/>
            </a:ln>
          </p:spPr>
          <p:txBody>
            <a:bodyPr/>
            <a:lstStyle/>
            <a:p>
              <a:endParaRPr lang="zh-CN" altLang="en-US"/>
            </a:p>
          </p:txBody>
        </p:sp>
        <p:sp>
          <p:nvSpPr>
            <p:cNvPr id="83995" name="Rectangle 27"/>
            <p:cNvSpPr>
              <a:spLocks noChangeArrowheads="1"/>
            </p:cNvSpPr>
            <p:nvPr/>
          </p:nvSpPr>
          <p:spPr bwMode="auto">
            <a:xfrm>
              <a:off x="1279" y="23"/>
              <a:ext cx="21" cy="101"/>
            </a:xfrm>
            <a:prstGeom prst="rect">
              <a:avLst/>
            </a:prstGeom>
            <a:solidFill>
              <a:schemeClr val="bg2">
                <a:alpha val="60001"/>
              </a:schemeClr>
            </a:solidFill>
            <a:ln w="0">
              <a:noFill/>
              <a:miter lim="800000"/>
              <a:headEnd/>
              <a:tailEnd/>
            </a:ln>
          </p:spPr>
          <p:txBody>
            <a:bodyPr/>
            <a:lstStyle/>
            <a:p>
              <a:endParaRPr lang="zh-CN" altLang="en-US"/>
            </a:p>
          </p:txBody>
        </p:sp>
        <p:sp>
          <p:nvSpPr>
            <p:cNvPr id="83996" name="Freeform 28"/>
            <p:cNvSpPr>
              <a:spLocks noEditPoints="1"/>
            </p:cNvSpPr>
            <p:nvPr/>
          </p:nvSpPr>
          <p:spPr bwMode="auto">
            <a:xfrm>
              <a:off x="127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7" name="Freeform 29"/>
            <p:cNvSpPr>
              <a:spLocks noEditPoints="1"/>
            </p:cNvSpPr>
            <p:nvPr/>
          </p:nvSpPr>
          <p:spPr bwMode="auto">
            <a:xfrm>
              <a:off x="127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8" name="Freeform 30"/>
            <p:cNvSpPr>
              <a:spLocks noEditPoints="1"/>
            </p:cNvSpPr>
            <p:nvPr/>
          </p:nvSpPr>
          <p:spPr bwMode="auto">
            <a:xfrm>
              <a:off x="127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3999" name="Freeform 31"/>
            <p:cNvSpPr>
              <a:spLocks noEditPoints="1"/>
            </p:cNvSpPr>
            <p:nvPr/>
          </p:nvSpPr>
          <p:spPr bwMode="auto">
            <a:xfrm>
              <a:off x="127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0" name="Freeform 32"/>
            <p:cNvSpPr>
              <a:spLocks noEditPoints="1"/>
            </p:cNvSpPr>
            <p:nvPr/>
          </p:nvSpPr>
          <p:spPr bwMode="auto">
            <a:xfrm>
              <a:off x="127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1" name="Freeform 33"/>
            <p:cNvSpPr>
              <a:spLocks noEditPoints="1"/>
            </p:cNvSpPr>
            <p:nvPr/>
          </p:nvSpPr>
          <p:spPr bwMode="auto">
            <a:xfrm>
              <a:off x="127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2" name="Freeform 34"/>
            <p:cNvSpPr>
              <a:spLocks noEditPoints="1"/>
            </p:cNvSpPr>
            <p:nvPr/>
          </p:nvSpPr>
          <p:spPr bwMode="auto">
            <a:xfrm>
              <a:off x="127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3" name="Freeform 35"/>
            <p:cNvSpPr>
              <a:spLocks noEditPoints="1"/>
            </p:cNvSpPr>
            <p:nvPr/>
          </p:nvSpPr>
          <p:spPr bwMode="auto">
            <a:xfrm>
              <a:off x="127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4" name="Freeform 36"/>
            <p:cNvSpPr>
              <a:spLocks noEditPoints="1"/>
            </p:cNvSpPr>
            <p:nvPr/>
          </p:nvSpPr>
          <p:spPr bwMode="auto">
            <a:xfrm>
              <a:off x="127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5" name="Freeform 37"/>
            <p:cNvSpPr>
              <a:spLocks noEditPoints="1"/>
            </p:cNvSpPr>
            <p:nvPr/>
          </p:nvSpPr>
          <p:spPr bwMode="auto">
            <a:xfrm>
              <a:off x="127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6" name="Rectangle 38"/>
            <p:cNvSpPr>
              <a:spLocks noChangeArrowheads="1"/>
            </p:cNvSpPr>
            <p:nvPr/>
          </p:nvSpPr>
          <p:spPr bwMode="auto">
            <a:xfrm>
              <a:off x="1279" y="4269"/>
              <a:ext cx="21" cy="51"/>
            </a:xfrm>
            <a:prstGeom prst="rect">
              <a:avLst/>
            </a:prstGeom>
            <a:solidFill>
              <a:schemeClr val="bg2">
                <a:alpha val="60001"/>
              </a:schemeClr>
            </a:solidFill>
            <a:ln w="0">
              <a:noFill/>
              <a:miter lim="800000"/>
              <a:headEnd/>
              <a:tailEnd/>
            </a:ln>
          </p:spPr>
          <p:txBody>
            <a:bodyPr/>
            <a:lstStyle/>
            <a:p>
              <a:endParaRPr lang="zh-CN" altLang="en-US"/>
            </a:p>
          </p:txBody>
        </p:sp>
        <p:sp>
          <p:nvSpPr>
            <p:cNvPr id="84007" name="Rectangle 39"/>
            <p:cNvSpPr>
              <a:spLocks noChangeArrowheads="1"/>
            </p:cNvSpPr>
            <p:nvPr/>
          </p:nvSpPr>
          <p:spPr bwMode="auto">
            <a:xfrm>
              <a:off x="1724" y="23"/>
              <a:ext cx="21" cy="101"/>
            </a:xfrm>
            <a:prstGeom prst="rect">
              <a:avLst/>
            </a:prstGeom>
            <a:solidFill>
              <a:schemeClr val="bg2">
                <a:alpha val="60001"/>
              </a:schemeClr>
            </a:solidFill>
            <a:ln w="0">
              <a:noFill/>
              <a:miter lim="800000"/>
              <a:headEnd/>
              <a:tailEnd/>
            </a:ln>
          </p:spPr>
          <p:txBody>
            <a:bodyPr/>
            <a:lstStyle/>
            <a:p>
              <a:endParaRPr lang="zh-CN" altLang="en-US"/>
            </a:p>
          </p:txBody>
        </p:sp>
        <p:sp>
          <p:nvSpPr>
            <p:cNvPr id="84008" name="Freeform 40"/>
            <p:cNvSpPr>
              <a:spLocks noEditPoints="1"/>
            </p:cNvSpPr>
            <p:nvPr/>
          </p:nvSpPr>
          <p:spPr bwMode="auto">
            <a:xfrm>
              <a:off x="172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09" name="Freeform 41"/>
            <p:cNvSpPr>
              <a:spLocks noEditPoints="1"/>
            </p:cNvSpPr>
            <p:nvPr/>
          </p:nvSpPr>
          <p:spPr bwMode="auto">
            <a:xfrm>
              <a:off x="172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0" name="Freeform 42"/>
            <p:cNvSpPr>
              <a:spLocks noEditPoints="1"/>
            </p:cNvSpPr>
            <p:nvPr/>
          </p:nvSpPr>
          <p:spPr bwMode="auto">
            <a:xfrm>
              <a:off x="172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1" name="Freeform 43"/>
            <p:cNvSpPr>
              <a:spLocks noEditPoints="1"/>
            </p:cNvSpPr>
            <p:nvPr/>
          </p:nvSpPr>
          <p:spPr bwMode="auto">
            <a:xfrm>
              <a:off x="172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2" name="Freeform 44"/>
            <p:cNvSpPr>
              <a:spLocks noEditPoints="1"/>
            </p:cNvSpPr>
            <p:nvPr/>
          </p:nvSpPr>
          <p:spPr bwMode="auto">
            <a:xfrm>
              <a:off x="172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3" name="Freeform 45"/>
            <p:cNvSpPr>
              <a:spLocks noEditPoints="1"/>
            </p:cNvSpPr>
            <p:nvPr/>
          </p:nvSpPr>
          <p:spPr bwMode="auto">
            <a:xfrm>
              <a:off x="172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4" name="Freeform 46"/>
            <p:cNvSpPr>
              <a:spLocks noEditPoints="1"/>
            </p:cNvSpPr>
            <p:nvPr/>
          </p:nvSpPr>
          <p:spPr bwMode="auto">
            <a:xfrm>
              <a:off x="172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5" name="Freeform 47"/>
            <p:cNvSpPr>
              <a:spLocks noEditPoints="1"/>
            </p:cNvSpPr>
            <p:nvPr/>
          </p:nvSpPr>
          <p:spPr bwMode="auto">
            <a:xfrm>
              <a:off x="172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6" name="Freeform 48"/>
            <p:cNvSpPr>
              <a:spLocks noEditPoints="1"/>
            </p:cNvSpPr>
            <p:nvPr/>
          </p:nvSpPr>
          <p:spPr bwMode="auto">
            <a:xfrm>
              <a:off x="172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7" name="Freeform 49"/>
            <p:cNvSpPr>
              <a:spLocks noEditPoints="1"/>
            </p:cNvSpPr>
            <p:nvPr/>
          </p:nvSpPr>
          <p:spPr bwMode="auto">
            <a:xfrm>
              <a:off x="172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18" name="Rectangle 50"/>
            <p:cNvSpPr>
              <a:spLocks noChangeArrowheads="1"/>
            </p:cNvSpPr>
            <p:nvPr/>
          </p:nvSpPr>
          <p:spPr bwMode="auto">
            <a:xfrm>
              <a:off x="1724" y="4269"/>
              <a:ext cx="21" cy="51"/>
            </a:xfrm>
            <a:prstGeom prst="rect">
              <a:avLst/>
            </a:prstGeom>
            <a:solidFill>
              <a:schemeClr val="bg2">
                <a:alpha val="60001"/>
              </a:schemeClr>
            </a:solidFill>
            <a:ln w="0">
              <a:noFill/>
              <a:miter lim="800000"/>
              <a:headEnd/>
              <a:tailEnd/>
            </a:ln>
          </p:spPr>
          <p:txBody>
            <a:bodyPr/>
            <a:lstStyle/>
            <a:p>
              <a:endParaRPr lang="zh-CN" altLang="en-US"/>
            </a:p>
          </p:txBody>
        </p:sp>
        <p:sp>
          <p:nvSpPr>
            <p:cNvPr id="84019" name="Rectangle 51"/>
            <p:cNvSpPr>
              <a:spLocks noChangeArrowheads="1"/>
            </p:cNvSpPr>
            <p:nvPr/>
          </p:nvSpPr>
          <p:spPr bwMode="auto">
            <a:xfrm>
              <a:off x="2169" y="23"/>
              <a:ext cx="21" cy="101"/>
            </a:xfrm>
            <a:prstGeom prst="rect">
              <a:avLst/>
            </a:prstGeom>
            <a:solidFill>
              <a:schemeClr val="bg2">
                <a:alpha val="60001"/>
              </a:schemeClr>
            </a:solidFill>
            <a:ln w="0">
              <a:noFill/>
              <a:miter lim="800000"/>
              <a:headEnd/>
              <a:tailEnd/>
            </a:ln>
          </p:spPr>
          <p:txBody>
            <a:bodyPr/>
            <a:lstStyle/>
            <a:p>
              <a:endParaRPr lang="zh-CN" altLang="en-US"/>
            </a:p>
          </p:txBody>
        </p:sp>
        <p:sp>
          <p:nvSpPr>
            <p:cNvPr id="84020" name="Freeform 52"/>
            <p:cNvSpPr>
              <a:spLocks noEditPoints="1"/>
            </p:cNvSpPr>
            <p:nvPr/>
          </p:nvSpPr>
          <p:spPr bwMode="auto">
            <a:xfrm>
              <a:off x="216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1" name="Freeform 53"/>
            <p:cNvSpPr>
              <a:spLocks noEditPoints="1"/>
            </p:cNvSpPr>
            <p:nvPr/>
          </p:nvSpPr>
          <p:spPr bwMode="auto">
            <a:xfrm>
              <a:off x="216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2" name="Freeform 54"/>
            <p:cNvSpPr>
              <a:spLocks noEditPoints="1"/>
            </p:cNvSpPr>
            <p:nvPr/>
          </p:nvSpPr>
          <p:spPr bwMode="auto">
            <a:xfrm>
              <a:off x="216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3" name="Freeform 55"/>
            <p:cNvSpPr>
              <a:spLocks noEditPoints="1"/>
            </p:cNvSpPr>
            <p:nvPr/>
          </p:nvSpPr>
          <p:spPr bwMode="auto">
            <a:xfrm>
              <a:off x="216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4" name="Freeform 56"/>
            <p:cNvSpPr>
              <a:spLocks noEditPoints="1"/>
            </p:cNvSpPr>
            <p:nvPr/>
          </p:nvSpPr>
          <p:spPr bwMode="auto">
            <a:xfrm>
              <a:off x="216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5" name="Freeform 57"/>
            <p:cNvSpPr>
              <a:spLocks noEditPoints="1"/>
            </p:cNvSpPr>
            <p:nvPr/>
          </p:nvSpPr>
          <p:spPr bwMode="auto">
            <a:xfrm>
              <a:off x="216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6" name="Freeform 58"/>
            <p:cNvSpPr>
              <a:spLocks noEditPoints="1"/>
            </p:cNvSpPr>
            <p:nvPr/>
          </p:nvSpPr>
          <p:spPr bwMode="auto">
            <a:xfrm>
              <a:off x="216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7" name="Freeform 59"/>
            <p:cNvSpPr>
              <a:spLocks noEditPoints="1"/>
            </p:cNvSpPr>
            <p:nvPr/>
          </p:nvSpPr>
          <p:spPr bwMode="auto">
            <a:xfrm>
              <a:off x="216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8" name="Freeform 60"/>
            <p:cNvSpPr>
              <a:spLocks noEditPoints="1"/>
            </p:cNvSpPr>
            <p:nvPr/>
          </p:nvSpPr>
          <p:spPr bwMode="auto">
            <a:xfrm>
              <a:off x="216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29" name="Freeform 61"/>
            <p:cNvSpPr>
              <a:spLocks noEditPoints="1"/>
            </p:cNvSpPr>
            <p:nvPr/>
          </p:nvSpPr>
          <p:spPr bwMode="auto">
            <a:xfrm>
              <a:off x="216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0" name="Rectangle 62"/>
            <p:cNvSpPr>
              <a:spLocks noChangeArrowheads="1"/>
            </p:cNvSpPr>
            <p:nvPr/>
          </p:nvSpPr>
          <p:spPr bwMode="auto">
            <a:xfrm>
              <a:off x="2169" y="4269"/>
              <a:ext cx="21" cy="51"/>
            </a:xfrm>
            <a:prstGeom prst="rect">
              <a:avLst/>
            </a:prstGeom>
            <a:solidFill>
              <a:schemeClr val="bg2">
                <a:alpha val="60001"/>
              </a:schemeClr>
            </a:solidFill>
            <a:ln w="0">
              <a:noFill/>
              <a:miter lim="800000"/>
              <a:headEnd/>
              <a:tailEnd/>
            </a:ln>
          </p:spPr>
          <p:txBody>
            <a:bodyPr/>
            <a:lstStyle/>
            <a:p>
              <a:endParaRPr lang="zh-CN" altLang="en-US"/>
            </a:p>
          </p:txBody>
        </p:sp>
        <p:sp>
          <p:nvSpPr>
            <p:cNvPr id="84031" name="Rectangle 63"/>
            <p:cNvSpPr>
              <a:spLocks noChangeArrowheads="1"/>
            </p:cNvSpPr>
            <p:nvPr/>
          </p:nvSpPr>
          <p:spPr bwMode="auto">
            <a:xfrm>
              <a:off x="2620" y="23"/>
              <a:ext cx="20" cy="101"/>
            </a:xfrm>
            <a:prstGeom prst="rect">
              <a:avLst/>
            </a:prstGeom>
            <a:solidFill>
              <a:schemeClr val="bg2">
                <a:alpha val="60001"/>
              </a:schemeClr>
            </a:solidFill>
            <a:ln w="0">
              <a:noFill/>
              <a:miter lim="800000"/>
              <a:headEnd/>
              <a:tailEnd/>
            </a:ln>
          </p:spPr>
          <p:txBody>
            <a:bodyPr/>
            <a:lstStyle/>
            <a:p>
              <a:endParaRPr lang="zh-CN" altLang="en-US"/>
            </a:p>
          </p:txBody>
        </p:sp>
        <p:sp>
          <p:nvSpPr>
            <p:cNvPr id="84032" name="Freeform 64"/>
            <p:cNvSpPr>
              <a:spLocks noEditPoints="1"/>
            </p:cNvSpPr>
            <p:nvPr/>
          </p:nvSpPr>
          <p:spPr bwMode="auto">
            <a:xfrm>
              <a:off x="262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3" name="Freeform 65"/>
            <p:cNvSpPr>
              <a:spLocks noEditPoints="1"/>
            </p:cNvSpPr>
            <p:nvPr/>
          </p:nvSpPr>
          <p:spPr bwMode="auto">
            <a:xfrm>
              <a:off x="262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4" name="Freeform 66"/>
            <p:cNvSpPr>
              <a:spLocks noEditPoints="1"/>
            </p:cNvSpPr>
            <p:nvPr/>
          </p:nvSpPr>
          <p:spPr bwMode="auto">
            <a:xfrm>
              <a:off x="262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5" name="Freeform 67"/>
            <p:cNvSpPr>
              <a:spLocks noEditPoints="1"/>
            </p:cNvSpPr>
            <p:nvPr/>
          </p:nvSpPr>
          <p:spPr bwMode="auto">
            <a:xfrm>
              <a:off x="262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6" name="Freeform 68"/>
            <p:cNvSpPr>
              <a:spLocks noEditPoints="1"/>
            </p:cNvSpPr>
            <p:nvPr/>
          </p:nvSpPr>
          <p:spPr bwMode="auto">
            <a:xfrm>
              <a:off x="262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7" name="Freeform 69"/>
            <p:cNvSpPr>
              <a:spLocks noEditPoints="1"/>
            </p:cNvSpPr>
            <p:nvPr/>
          </p:nvSpPr>
          <p:spPr bwMode="auto">
            <a:xfrm>
              <a:off x="262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8" name="Freeform 70"/>
            <p:cNvSpPr>
              <a:spLocks noEditPoints="1"/>
            </p:cNvSpPr>
            <p:nvPr/>
          </p:nvSpPr>
          <p:spPr bwMode="auto">
            <a:xfrm>
              <a:off x="262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39" name="Freeform 71"/>
            <p:cNvSpPr>
              <a:spLocks noEditPoints="1"/>
            </p:cNvSpPr>
            <p:nvPr/>
          </p:nvSpPr>
          <p:spPr bwMode="auto">
            <a:xfrm>
              <a:off x="262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0" name="Freeform 72"/>
            <p:cNvSpPr>
              <a:spLocks noEditPoints="1"/>
            </p:cNvSpPr>
            <p:nvPr/>
          </p:nvSpPr>
          <p:spPr bwMode="auto">
            <a:xfrm>
              <a:off x="262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1" name="Freeform 73"/>
            <p:cNvSpPr>
              <a:spLocks noEditPoints="1"/>
            </p:cNvSpPr>
            <p:nvPr/>
          </p:nvSpPr>
          <p:spPr bwMode="auto">
            <a:xfrm>
              <a:off x="262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2" name="Rectangle 74"/>
            <p:cNvSpPr>
              <a:spLocks noChangeArrowheads="1"/>
            </p:cNvSpPr>
            <p:nvPr/>
          </p:nvSpPr>
          <p:spPr bwMode="auto">
            <a:xfrm>
              <a:off x="2620" y="4269"/>
              <a:ext cx="20" cy="51"/>
            </a:xfrm>
            <a:prstGeom prst="rect">
              <a:avLst/>
            </a:prstGeom>
            <a:solidFill>
              <a:schemeClr val="bg2">
                <a:alpha val="60001"/>
              </a:schemeClr>
            </a:solidFill>
            <a:ln w="0">
              <a:noFill/>
              <a:miter lim="800000"/>
              <a:headEnd/>
              <a:tailEnd/>
            </a:ln>
          </p:spPr>
          <p:txBody>
            <a:bodyPr/>
            <a:lstStyle/>
            <a:p>
              <a:endParaRPr lang="zh-CN" altLang="en-US"/>
            </a:p>
          </p:txBody>
        </p:sp>
        <p:sp>
          <p:nvSpPr>
            <p:cNvPr id="84043" name="Rectangle 75"/>
            <p:cNvSpPr>
              <a:spLocks noChangeArrowheads="1"/>
            </p:cNvSpPr>
            <p:nvPr/>
          </p:nvSpPr>
          <p:spPr bwMode="auto">
            <a:xfrm>
              <a:off x="3065" y="23"/>
              <a:ext cx="20" cy="101"/>
            </a:xfrm>
            <a:prstGeom prst="rect">
              <a:avLst/>
            </a:prstGeom>
            <a:solidFill>
              <a:schemeClr val="bg2">
                <a:alpha val="60001"/>
              </a:schemeClr>
            </a:solidFill>
            <a:ln w="0">
              <a:noFill/>
              <a:miter lim="800000"/>
              <a:headEnd/>
              <a:tailEnd/>
            </a:ln>
          </p:spPr>
          <p:txBody>
            <a:bodyPr/>
            <a:lstStyle/>
            <a:p>
              <a:endParaRPr lang="zh-CN" altLang="en-US"/>
            </a:p>
          </p:txBody>
        </p:sp>
        <p:sp>
          <p:nvSpPr>
            <p:cNvPr id="84044" name="Freeform 76"/>
            <p:cNvSpPr>
              <a:spLocks noEditPoints="1"/>
            </p:cNvSpPr>
            <p:nvPr/>
          </p:nvSpPr>
          <p:spPr bwMode="auto">
            <a:xfrm>
              <a:off x="306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5" name="Freeform 77"/>
            <p:cNvSpPr>
              <a:spLocks noEditPoints="1"/>
            </p:cNvSpPr>
            <p:nvPr/>
          </p:nvSpPr>
          <p:spPr bwMode="auto">
            <a:xfrm>
              <a:off x="306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6" name="Freeform 78"/>
            <p:cNvSpPr>
              <a:spLocks noEditPoints="1"/>
            </p:cNvSpPr>
            <p:nvPr/>
          </p:nvSpPr>
          <p:spPr bwMode="auto">
            <a:xfrm>
              <a:off x="306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7" name="Freeform 79"/>
            <p:cNvSpPr>
              <a:spLocks noEditPoints="1"/>
            </p:cNvSpPr>
            <p:nvPr/>
          </p:nvSpPr>
          <p:spPr bwMode="auto">
            <a:xfrm>
              <a:off x="306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8" name="Freeform 80"/>
            <p:cNvSpPr>
              <a:spLocks noEditPoints="1"/>
            </p:cNvSpPr>
            <p:nvPr/>
          </p:nvSpPr>
          <p:spPr bwMode="auto">
            <a:xfrm>
              <a:off x="306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49" name="Freeform 81"/>
            <p:cNvSpPr>
              <a:spLocks noEditPoints="1"/>
            </p:cNvSpPr>
            <p:nvPr/>
          </p:nvSpPr>
          <p:spPr bwMode="auto">
            <a:xfrm>
              <a:off x="306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0" name="Freeform 82"/>
            <p:cNvSpPr>
              <a:spLocks noEditPoints="1"/>
            </p:cNvSpPr>
            <p:nvPr/>
          </p:nvSpPr>
          <p:spPr bwMode="auto">
            <a:xfrm>
              <a:off x="306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1" name="Freeform 83"/>
            <p:cNvSpPr>
              <a:spLocks noEditPoints="1"/>
            </p:cNvSpPr>
            <p:nvPr/>
          </p:nvSpPr>
          <p:spPr bwMode="auto">
            <a:xfrm>
              <a:off x="306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2" name="Freeform 84"/>
            <p:cNvSpPr>
              <a:spLocks noEditPoints="1"/>
            </p:cNvSpPr>
            <p:nvPr/>
          </p:nvSpPr>
          <p:spPr bwMode="auto">
            <a:xfrm>
              <a:off x="306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3" name="Freeform 85"/>
            <p:cNvSpPr>
              <a:spLocks noEditPoints="1"/>
            </p:cNvSpPr>
            <p:nvPr/>
          </p:nvSpPr>
          <p:spPr bwMode="auto">
            <a:xfrm>
              <a:off x="306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4" name="Rectangle 86"/>
            <p:cNvSpPr>
              <a:spLocks noChangeArrowheads="1"/>
            </p:cNvSpPr>
            <p:nvPr/>
          </p:nvSpPr>
          <p:spPr bwMode="auto">
            <a:xfrm>
              <a:off x="3065" y="4269"/>
              <a:ext cx="20" cy="51"/>
            </a:xfrm>
            <a:prstGeom prst="rect">
              <a:avLst/>
            </a:prstGeom>
            <a:solidFill>
              <a:schemeClr val="bg2">
                <a:alpha val="60001"/>
              </a:schemeClr>
            </a:solidFill>
            <a:ln w="0">
              <a:noFill/>
              <a:miter lim="800000"/>
              <a:headEnd/>
              <a:tailEnd/>
            </a:ln>
          </p:spPr>
          <p:txBody>
            <a:bodyPr/>
            <a:lstStyle/>
            <a:p>
              <a:endParaRPr lang="zh-CN" altLang="en-US"/>
            </a:p>
          </p:txBody>
        </p:sp>
        <p:sp>
          <p:nvSpPr>
            <p:cNvPr id="84055" name="Rectangle 87"/>
            <p:cNvSpPr>
              <a:spLocks noChangeArrowheads="1"/>
            </p:cNvSpPr>
            <p:nvPr/>
          </p:nvSpPr>
          <p:spPr bwMode="auto">
            <a:xfrm>
              <a:off x="3510" y="23"/>
              <a:ext cx="20" cy="101"/>
            </a:xfrm>
            <a:prstGeom prst="rect">
              <a:avLst/>
            </a:prstGeom>
            <a:solidFill>
              <a:schemeClr val="bg2">
                <a:alpha val="60001"/>
              </a:schemeClr>
            </a:solidFill>
            <a:ln w="0">
              <a:noFill/>
              <a:miter lim="800000"/>
              <a:headEnd/>
              <a:tailEnd/>
            </a:ln>
          </p:spPr>
          <p:txBody>
            <a:bodyPr/>
            <a:lstStyle/>
            <a:p>
              <a:endParaRPr lang="zh-CN" altLang="en-US"/>
            </a:p>
          </p:txBody>
        </p:sp>
        <p:sp>
          <p:nvSpPr>
            <p:cNvPr id="84056" name="Freeform 88"/>
            <p:cNvSpPr>
              <a:spLocks noEditPoints="1"/>
            </p:cNvSpPr>
            <p:nvPr/>
          </p:nvSpPr>
          <p:spPr bwMode="auto">
            <a:xfrm>
              <a:off x="351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7" name="Freeform 89"/>
            <p:cNvSpPr>
              <a:spLocks noEditPoints="1"/>
            </p:cNvSpPr>
            <p:nvPr/>
          </p:nvSpPr>
          <p:spPr bwMode="auto">
            <a:xfrm>
              <a:off x="351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8" name="Freeform 90"/>
            <p:cNvSpPr>
              <a:spLocks noEditPoints="1"/>
            </p:cNvSpPr>
            <p:nvPr/>
          </p:nvSpPr>
          <p:spPr bwMode="auto">
            <a:xfrm>
              <a:off x="351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59" name="Freeform 91"/>
            <p:cNvSpPr>
              <a:spLocks noEditPoints="1"/>
            </p:cNvSpPr>
            <p:nvPr/>
          </p:nvSpPr>
          <p:spPr bwMode="auto">
            <a:xfrm>
              <a:off x="351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0" name="Freeform 92"/>
            <p:cNvSpPr>
              <a:spLocks noEditPoints="1"/>
            </p:cNvSpPr>
            <p:nvPr/>
          </p:nvSpPr>
          <p:spPr bwMode="auto">
            <a:xfrm>
              <a:off x="351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1" name="Freeform 93"/>
            <p:cNvSpPr>
              <a:spLocks noEditPoints="1"/>
            </p:cNvSpPr>
            <p:nvPr/>
          </p:nvSpPr>
          <p:spPr bwMode="auto">
            <a:xfrm>
              <a:off x="351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2" name="Freeform 94"/>
            <p:cNvSpPr>
              <a:spLocks noEditPoints="1"/>
            </p:cNvSpPr>
            <p:nvPr/>
          </p:nvSpPr>
          <p:spPr bwMode="auto">
            <a:xfrm>
              <a:off x="351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3" name="Freeform 95"/>
            <p:cNvSpPr>
              <a:spLocks noEditPoints="1"/>
            </p:cNvSpPr>
            <p:nvPr/>
          </p:nvSpPr>
          <p:spPr bwMode="auto">
            <a:xfrm>
              <a:off x="351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4" name="Freeform 96"/>
            <p:cNvSpPr>
              <a:spLocks noEditPoints="1"/>
            </p:cNvSpPr>
            <p:nvPr/>
          </p:nvSpPr>
          <p:spPr bwMode="auto">
            <a:xfrm>
              <a:off x="351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5" name="Freeform 97"/>
            <p:cNvSpPr>
              <a:spLocks noEditPoints="1"/>
            </p:cNvSpPr>
            <p:nvPr/>
          </p:nvSpPr>
          <p:spPr bwMode="auto">
            <a:xfrm>
              <a:off x="351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6" name="Rectangle 98"/>
            <p:cNvSpPr>
              <a:spLocks noChangeArrowheads="1"/>
            </p:cNvSpPr>
            <p:nvPr/>
          </p:nvSpPr>
          <p:spPr bwMode="auto">
            <a:xfrm>
              <a:off x="3510" y="4269"/>
              <a:ext cx="20" cy="51"/>
            </a:xfrm>
            <a:prstGeom prst="rect">
              <a:avLst/>
            </a:prstGeom>
            <a:solidFill>
              <a:schemeClr val="bg2">
                <a:alpha val="60001"/>
              </a:schemeClr>
            </a:solidFill>
            <a:ln w="0">
              <a:noFill/>
              <a:miter lim="800000"/>
              <a:headEnd/>
              <a:tailEnd/>
            </a:ln>
          </p:spPr>
          <p:txBody>
            <a:bodyPr/>
            <a:lstStyle/>
            <a:p>
              <a:endParaRPr lang="zh-CN" altLang="en-US"/>
            </a:p>
          </p:txBody>
        </p:sp>
        <p:sp>
          <p:nvSpPr>
            <p:cNvPr id="84067" name="Rectangle 99"/>
            <p:cNvSpPr>
              <a:spLocks noChangeArrowheads="1"/>
            </p:cNvSpPr>
            <p:nvPr/>
          </p:nvSpPr>
          <p:spPr bwMode="auto">
            <a:xfrm>
              <a:off x="3960" y="23"/>
              <a:ext cx="20" cy="101"/>
            </a:xfrm>
            <a:prstGeom prst="rect">
              <a:avLst/>
            </a:prstGeom>
            <a:solidFill>
              <a:schemeClr val="bg2">
                <a:alpha val="60001"/>
              </a:schemeClr>
            </a:solidFill>
            <a:ln w="0">
              <a:noFill/>
              <a:miter lim="800000"/>
              <a:headEnd/>
              <a:tailEnd/>
            </a:ln>
          </p:spPr>
          <p:txBody>
            <a:bodyPr/>
            <a:lstStyle/>
            <a:p>
              <a:endParaRPr lang="zh-CN" altLang="en-US"/>
            </a:p>
          </p:txBody>
        </p:sp>
        <p:sp>
          <p:nvSpPr>
            <p:cNvPr id="84068" name="Freeform 100"/>
            <p:cNvSpPr>
              <a:spLocks noEditPoints="1"/>
            </p:cNvSpPr>
            <p:nvPr/>
          </p:nvSpPr>
          <p:spPr bwMode="auto">
            <a:xfrm>
              <a:off x="396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69" name="Freeform 101"/>
            <p:cNvSpPr>
              <a:spLocks noEditPoints="1"/>
            </p:cNvSpPr>
            <p:nvPr/>
          </p:nvSpPr>
          <p:spPr bwMode="auto">
            <a:xfrm>
              <a:off x="396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0" name="Freeform 102"/>
            <p:cNvSpPr>
              <a:spLocks noEditPoints="1"/>
            </p:cNvSpPr>
            <p:nvPr/>
          </p:nvSpPr>
          <p:spPr bwMode="auto">
            <a:xfrm>
              <a:off x="396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1" name="Freeform 103"/>
            <p:cNvSpPr>
              <a:spLocks noEditPoints="1"/>
            </p:cNvSpPr>
            <p:nvPr/>
          </p:nvSpPr>
          <p:spPr bwMode="auto">
            <a:xfrm>
              <a:off x="396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2" name="Freeform 104"/>
            <p:cNvSpPr>
              <a:spLocks noEditPoints="1"/>
            </p:cNvSpPr>
            <p:nvPr/>
          </p:nvSpPr>
          <p:spPr bwMode="auto">
            <a:xfrm>
              <a:off x="396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3" name="Freeform 105"/>
            <p:cNvSpPr>
              <a:spLocks noEditPoints="1"/>
            </p:cNvSpPr>
            <p:nvPr/>
          </p:nvSpPr>
          <p:spPr bwMode="auto">
            <a:xfrm>
              <a:off x="396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4" name="Freeform 106"/>
            <p:cNvSpPr>
              <a:spLocks noEditPoints="1"/>
            </p:cNvSpPr>
            <p:nvPr/>
          </p:nvSpPr>
          <p:spPr bwMode="auto">
            <a:xfrm>
              <a:off x="396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5" name="Freeform 107"/>
            <p:cNvSpPr>
              <a:spLocks noEditPoints="1"/>
            </p:cNvSpPr>
            <p:nvPr/>
          </p:nvSpPr>
          <p:spPr bwMode="auto">
            <a:xfrm>
              <a:off x="396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6" name="Freeform 108"/>
            <p:cNvSpPr>
              <a:spLocks noEditPoints="1"/>
            </p:cNvSpPr>
            <p:nvPr/>
          </p:nvSpPr>
          <p:spPr bwMode="auto">
            <a:xfrm>
              <a:off x="396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7" name="Freeform 109"/>
            <p:cNvSpPr>
              <a:spLocks noEditPoints="1"/>
            </p:cNvSpPr>
            <p:nvPr/>
          </p:nvSpPr>
          <p:spPr bwMode="auto">
            <a:xfrm>
              <a:off x="396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78" name="Rectangle 110"/>
            <p:cNvSpPr>
              <a:spLocks noChangeArrowheads="1"/>
            </p:cNvSpPr>
            <p:nvPr/>
          </p:nvSpPr>
          <p:spPr bwMode="auto">
            <a:xfrm>
              <a:off x="3960" y="4269"/>
              <a:ext cx="20" cy="51"/>
            </a:xfrm>
            <a:prstGeom prst="rect">
              <a:avLst/>
            </a:prstGeom>
            <a:solidFill>
              <a:schemeClr val="bg2">
                <a:alpha val="60001"/>
              </a:schemeClr>
            </a:solidFill>
            <a:ln w="0">
              <a:noFill/>
              <a:miter lim="800000"/>
              <a:headEnd/>
              <a:tailEnd/>
            </a:ln>
          </p:spPr>
          <p:txBody>
            <a:bodyPr/>
            <a:lstStyle/>
            <a:p>
              <a:endParaRPr lang="zh-CN" altLang="en-US"/>
            </a:p>
          </p:txBody>
        </p:sp>
        <p:sp>
          <p:nvSpPr>
            <p:cNvPr id="84079" name="Rectangle 111"/>
            <p:cNvSpPr>
              <a:spLocks noChangeArrowheads="1"/>
            </p:cNvSpPr>
            <p:nvPr/>
          </p:nvSpPr>
          <p:spPr bwMode="auto">
            <a:xfrm>
              <a:off x="4405" y="23"/>
              <a:ext cx="20" cy="101"/>
            </a:xfrm>
            <a:prstGeom prst="rect">
              <a:avLst/>
            </a:prstGeom>
            <a:solidFill>
              <a:schemeClr val="bg2">
                <a:alpha val="60001"/>
              </a:schemeClr>
            </a:solidFill>
            <a:ln w="0">
              <a:noFill/>
              <a:miter lim="800000"/>
              <a:headEnd/>
              <a:tailEnd/>
            </a:ln>
          </p:spPr>
          <p:txBody>
            <a:bodyPr/>
            <a:lstStyle/>
            <a:p>
              <a:endParaRPr lang="zh-CN" altLang="en-US"/>
            </a:p>
          </p:txBody>
        </p:sp>
        <p:sp>
          <p:nvSpPr>
            <p:cNvPr id="84080" name="Freeform 112"/>
            <p:cNvSpPr>
              <a:spLocks noEditPoints="1"/>
            </p:cNvSpPr>
            <p:nvPr/>
          </p:nvSpPr>
          <p:spPr bwMode="auto">
            <a:xfrm>
              <a:off x="440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1" name="Freeform 113"/>
            <p:cNvSpPr>
              <a:spLocks noEditPoints="1"/>
            </p:cNvSpPr>
            <p:nvPr/>
          </p:nvSpPr>
          <p:spPr bwMode="auto">
            <a:xfrm>
              <a:off x="440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2" name="Freeform 114"/>
            <p:cNvSpPr>
              <a:spLocks noEditPoints="1"/>
            </p:cNvSpPr>
            <p:nvPr/>
          </p:nvSpPr>
          <p:spPr bwMode="auto">
            <a:xfrm>
              <a:off x="440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3" name="Freeform 115"/>
            <p:cNvSpPr>
              <a:spLocks noEditPoints="1"/>
            </p:cNvSpPr>
            <p:nvPr/>
          </p:nvSpPr>
          <p:spPr bwMode="auto">
            <a:xfrm>
              <a:off x="440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4" name="Freeform 116"/>
            <p:cNvSpPr>
              <a:spLocks noEditPoints="1"/>
            </p:cNvSpPr>
            <p:nvPr/>
          </p:nvSpPr>
          <p:spPr bwMode="auto">
            <a:xfrm>
              <a:off x="440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5" name="Freeform 117"/>
            <p:cNvSpPr>
              <a:spLocks noEditPoints="1"/>
            </p:cNvSpPr>
            <p:nvPr/>
          </p:nvSpPr>
          <p:spPr bwMode="auto">
            <a:xfrm>
              <a:off x="440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6" name="Freeform 118"/>
            <p:cNvSpPr>
              <a:spLocks noEditPoints="1"/>
            </p:cNvSpPr>
            <p:nvPr/>
          </p:nvSpPr>
          <p:spPr bwMode="auto">
            <a:xfrm>
              <a:off x="440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7" name="Freeform 119"/>
            <p:cNvSpPr>
              <a:spLocks noEditPoints="1"/>
            </p:cNvSpPr>
            <p:nvPr/>
          </p:nvSpPr>
          <p:spPr bwMode="auto">
            <a:xfrm>
              <a:off x="440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8" name="Freeform 120"/>
            <p:cNvSpPr>
              <a:spLocks noEditPoints="1"/>
            </p:cNvSpPr>
            <p:nvPr/>
          </p:nvSpPr>
          <p:spPr bwMode="auto">
            <a:xfrm>
              <a:off x="440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89" name="Freeform 121"/>
            <p:cNvSpPr>
              <a:spLocks noEditPoints="1"/>
            </p:cNvSpPr>
            <p:nvPr/>
          </p:nvSpPr>
          <p:spPr bwMode="auto">
            <a:xfrm>
              <a:off x="440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0" name="Rectangle 122"/>
            <p:cNvSpPr>
              <a:spLocks noChangeArrowheads="1"/>
            </p:cNvSpPr>
            <p:nvPr/>
          </p:nvSpPr>
          <p:spPr bwMode="auto">
            <a:xfrm>
              <a:off x="4405" y="4269"/>
              <a:ext cx="20" cy="51"/>
            </a:xfrm>
            <a:prstGeom prst="rect">
              <a:avLst/>
            </a:prstGeom>
            <a:solidFill>
              <a:schemeClr val="bg2">
                <a:alpha val="60001"/>
              </a:schemeClr>
            </a:solidFill>
            <a:ln w="0">
              <a:noFill/>
              <a:miter lim="800000"/>
              <a:headEnd/>
              <a:tailEnd/>
            </a:ln>
          </p:spPr>
          <p:txBody>
            <a:bodyPr/>
            <a:lstStyle/>
            <a:p>
              <a:endParaRPr lang="zh-CN" altLang="en-US"/>
            </a:p>
          </p:txBody>
        </p:sp>
        <p:sp>
          <p:nvSpPr>
            <p:cNvPr id="84091" name="Rectangle 123"/>
            <p:cNvSpPr>
              <a:spLocks noChangeArrowheads="1"/>
            </p:cNvSpPr>
            <p:nvPr/>
          </p:nvSpPr>
          <p:spPr bwMode="auto">
            <a:xfrm>
              <a:off x="4850" y="23"/>
              <a:ext cx="20" cy="101"/>
            </a:xfrm>
            <a:prstGeom prst="rect">
              <a:avLst/>
            </a:prstGeom>
            <a:solidFill>
              <a:schemeClr val="bg2">
                <a:alpha val="60001"/>
              </a:schemeClr>
            </a:solidFill>
            <a:ln w="0">
              <a:noFill/>
              <a:miter lim="800000"/>
              <a:headEnd/>
              <a:tailEnd/>
            </a:ln>
          </p:spPr>
          <p:txBody>
            <a:bodyPr/>
            <a:lstStyle/>
            <a:p>
              <a:endParaRPr lang="zh-CN" altLang="en-US"/>
            </a:p>
          </p:txBody>
        </p:sp>
        <p:sp>
          <p:nvSpPr>
            <p:cNvPr id="84092" name="Freeform 124"/>
            <p:cNvSpPr>
              <a:spLocks noEditPoints="1"/>
            </p:cNvSpPr>
            <p:nvPr/>
          </p:nvSpPr>
          <p:spPr bwMode="auto">
            <a:xfrm>
              <a:off x="485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3" name="Freeform 125"/>
            <p:cNvSpPr>
              <a:spLocks noEditPoints="1"/>
            </p:cNvSpPr>
            <p:nvPr/>
          </p:nvSpPr>
          <p:spPr bwMode="auto">
            <a:xfrm>
              <a:off x="485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4" name="Freeform 126"/>
            <p:cNvSpPr>
              <a:spLocks noEditPoints="1"/>
            </p:cNvSpPr>
            <p:nvPr/>
          </p:nvSpPr>
          <p:spPr bwMode="auto">
            <a:xfrm>
              <a:off x="485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5" name="Freeform 127"/>
            <p:cNvSpPr>
              <a:spLocks noEditPoints="1"/>
            </p:cNvSpPr>
            <p:nvPr/>
          </p:nvSpPr>
          <p:spPr bwMode="auto">
            <a:xfrm>
              <a:off x="485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6" name="Freeform 128"/>
            <p:cNvSpPr>
              <a:spLocks noEditPoints="1"/>
            </p:cNvSpPr>
            <p:nvPr/>
          </p:nvSpPr>
          <p:spPr bwMode="auto">
            <a:xfrm>
              <a:off x="485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7" name="Freeform 129"/>
            <p:cNvSpPr>
              <a:spLocks noEditPoints="1"/>
            </p:cNvSpPr>
            <p:nvPr/>
          </p:nvSpPr>
          <p:spPr bwMode="auto">
            <a:xfrm>
              <a:off x="485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8" name="Freeform 130"/>
            <p:cNvSpPr>
              <a:spLocks noEditPoints="1"/>
            </p:cNvSpPr>
            <p:nvPr/>
          </p:nvSpPr>
          <p:spPr bwMode="auto">
            <a:xfrm>
              <a:off x="485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099" name="Freeform 131"/>
            <p:cNvSpPr>
              <a:spLocks noEditPoints="1"/>
            </p:cNvSpPr>
            <p:nvPr/>
          </p:nvSpPr>
          <p:spPr bwMode="auto">
            <a:xfrm>
              <a:off x="485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0" name="Freeform 132"/>
            <p:cNvSpPr>
              <a:spLocks noEditPoints="1"/>
            </p:cNvSpPr>
            <p:nvPr/>
          </p:nvSpPr>
          <p:spPr bwMode="auto">
            <a:xfrm>
              <a:off x="485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1" name="Freeform 133"/>
            <p:cNvSpPr>
              <a:spLocks noEditPoints="1"/>
            </p:cNvSpPr>
            <p:nvPr/>
          </p:nvSpPr>
          <p:spPr bwMode="auto">
            <a:xfrm>
              <a:off x="485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2" name="Rectangle 134"/>
            <p:cNvSpPr>
              <a:spLocks noChangeArrowheads="1"/>
            </p:cNvSpPr>
            <p:nvPr/>
          </p:nvSpPr>
          <p:spPr bwMode="auto">
            <a:xfrm>
              <a:off x="4850" y="4269"/>
              <a:ext cx="20" cy="51"/>
            </a:xfrm>
            <a:prstGeom prst="rect">
              <a:avLst/>
            </a:prstGeom>
            <a:solidFill>
              <a:schemeClr val="bg2">
                <a:alpha val="60001"/>
              </a:schemeClr>
            </a:solidFill>
            <a:ln w="0">
              <a:noFill/>
              <a:miter lim="800000"/>
              <a:headEnd/>
              <a:tailEnd/>
            </a:ln>
          </p:spPr>
          <p:txBody>
            <a:bodyPr/>
            <a:lstStyle/>
            <a:p>
              <a:endParaRPr lang="zh-CN" altLang="en-US"/>
            </a:p>
          </p:txBody>
        </p:sp>
        <p:sp>
          <p:nvSpPr>
            <p:cNvPr id="84103" name="Rectangle 135"/>
            <p:cNvSpPr>
              <a:spLocks noChangeArrowheads="1"/>
            </p:cNvSpPr>
            <p:nvPr/>
          </p:nvSpPr>
          <p:spPr bwMode="auto">
            <a:xfrm>
              <a:off x="5300" y="23"/>
              <a:ext cx="20" cy="101"/>
            </a:xfrm>
            <a:prstGeom prst="rect">
              <a:avLst/>
            </a:prstGeom>
            <a:solidFill>
              <a:schemeClr val="bg2">
                <a:alpha val="60001"/>
              </a:schemeClr>
            </a:solidFill>
            <a:ln w="0">
              <a:noFill/>
              <a:miter lim="800000"/>
              <a:headEnd/>
              <a:tailEnd/>
            </a:ln>
          </p:spPr>
          <p:txBody>
            <a:bodyPr/>
            <a:lstStyle/>
            <a:p>
              <a:endParaRPr lang="zh-CN" altLang="en-US"/>
            </a:p>
          </p:txBody>
        </p:sp>
        <p:sp>
          <p:nvSpPr>
            <p:cNvPr id="84104" name="Freeform 136"/>
            <p:cNvSpPr>
              <a:spLocks noEditPoints="1"/>
            </p:cNvSpPr>
            <p:nvPr/>
          </p:nvSpPr>
          <p:spPr bwMode="auto">
            <a:xfrm>
              <a:off x="530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5" name="Freeform 137"/>
            <p:cNvSpPr>
              <a:spLocks noEditPoints="1"/>
            </p:cNvSpPr>
            <p:nvPr/>
          </p:nvSpPr>
          <p:spPr bwMode="auto">
            <a:xfrm>
              <a:off x="530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6" name="Freeform 138"/>
            <p:cNvSpPr>
              <a:spLocks noEditPoints="1"/>
            </p:cNvSpPr>
            <p:nvPr/>
          </p:nvSpPr>
          <p:spPr bwMode="auto">
            <a:xfrm>
              <a:off x="530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7" name="Freeform 139"/>
            <p:cNvSpPr>
              <a:spLocks noEditPoints="1"/>
            </p:cNvSpPr>
            <p:nvPr/>
          </p:nvSpPr>
          <p:spPr bwMode="auto">
            <a:xfrm>
              <a:off x="530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8" name="Freeform 140"/>
            <p:cNvSpPr>
              <a:spLocks noEditPoints="1"/>
            </p:cNvSpPr>
            <p:nvPr/>
          </p:nvSpPr>
          <p:spPr bwMode="auto">
            <a:xfrm>
              <a:off x="530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09" name="Freeform 141"/>
            <p:cNvSpPr>
              <a:spLocks noEditPoints="1"/>
            </p:cNvSpPr>
            <p:nvPr/>
          </p:nvSpPr>
          <p:spPr bwMode="auto">
            <a:xfrm>
              <a:off x="530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10" name="Freeform 142"/>
            <p:cNvSpPr>
              <a:spLocks noEditPoints="1"/>
            </p:cNvSpPr>
            <p:nvPr/>
          </p:nvSpPr>
          <p:spPr bwMode="auto">
            <a:xfrm>
              <a:off x="530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11" name="Freeform 143"/>
            <p:cNvSpPr>
              <a:spLocks noEditPoints="1"/>
            </p:cNvSpPr>
            <p:nvPr/>
          </p:nvSpPr>
          <p:spPr bwMode="auto">
            <a:xfrm>
              <a:off x="530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12" name="Freeform 144"/>
            <p:cNvSpPr>
              <a:spLocks noEditPoints="1"/>
            </p:cNvSpPr>
            <p:nvPr/>
          </p:nvSpPr>
          <p:spPr bwMode="auto">
            <a:xfrm>
              <a:off x="530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13" name="Freeform 145"/>
            <p:cNvSpPr>
              <a:spLocks noEditPoints="1"/>
            </p:cNvSpPr>
            <p:nvPr/>
          </p:nvSpPr>
          <p:spPr bwMode="auto">
            <a:xfrm>
              <a:off x="530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endParaRPr lang="zh-CN" altLang="en-US"/>
            </a:p>
          </p:txBody>
        </p:sp>
        <p:sp>
          <p:nvSpPr>
            <p:cNvPr id="84114" name="Rectangle 146"/>
            <p:cNvSpPr>
              <a:spLocks noChangeArrowheads="1"/>
            </p:cNvSpPr>
            <p:nvPr/>
          </p:nvSpPr>
          <p:spPr bwMode="auto">
            <a:xfrm>
              <a:off x="5300" y="4269"/>
              <a:ext cx="20" cy="51"/>
            </a:xfrm>
            <a:prstGeom prst="rect">
              <a:avLst/>
            </a:prstGeom>
            <a:solidFill>
              <a:schemeClr val="bg2">
                <a:alpha val="60001"/>
              </a:schemeClr>
            </a:solidFill>
            <a:ln w="0">
              <a:noFill/>
              <a:miter lim="800000"/>
              <a:headEnd/>
              <a:tailEnd/>
            </a:ln>
          </p:spPr>
          <p:txBody>
            <a:bodyPr/>
            <a:lstStyle/>
            <a:p>
              <a:endParaRPr lang="zh-CN" altLang="en-US"/>
            </a:p>
          </p:txBody>
        </p:sp>
        <p:sp>
          <p:nvSpPr>
            <p:cNvPr id="84115" name="Freeform 147"/>
            <p:cNvSpPr>
              <a:spLocks/>
            </p:cNvSpPr>
            <p:nvPr/>
          </p:nvSpPr>
          <p:spPr bwMode="auto">
            <a:xfrm>
              <a:off x="349" y="3304"/>
              <a:ext cx="20" cy="10"/>
            </a:xfrm>
            <a:custGeom>
              <a:avLst/>
              <a:gdLst/>
              <a:ahLst/>
              <a:cxnLst>
                <a:cxn ang="0">
                  <a:pos x="0" y="1"/>
                </a:cxn>
                <a:cxn ang="0">
                  <a:pos x="0" y="1"/>
                </a:cxn>
              </a:cxnLst>
              <a:rect l="0" t="0" r="r" b="b"/>
              <a:pathLst>
                <a:path w="4" h="2">
                  <a:moveTo>
                    <a:pt x="0" y="1"/>
                  </a:moveTo>
                  <a:cubicBezTo>
                    <a:pt x="1" y="2"/>
                    <a:pt x="4" y="0"/>
                    <a:pt x="0" y="1"/>
                  </a:cubicBezTo>
                  <a:close/>
                </a:path>
              </a:pathLst>
            </a:custGeom>
            <a:solidFill>
              <a:schemeClr val="bg2">
                <a:alpha val="60001"/>
              </a:schemeClr>
            </a:solidFill>
            <a:ln w="0">
              <a:noFill/>
              <a:prstDash val="solid"/>
              <a:round/>
              <a:headEnd/>
              <a:tailEnd/>
            </a:ln>
          </p:spPr>
          <p:txBody>
            <a:bodyPr/>
            <a:lstStyle/>
            <a:p>
              <a:endParaRPr lang="zh-CN" altLang="en-US"/>
            </a:p>
          </p:txBody>
        </p:sp>
      </p:grpSp>
      <p:grpSp>
        <p:nvGrpSpPr>
          <p:cNvPr id="84116" name="Group 148"/>
          <p:cNvGrpSpPr>
            <a:grpSpLocks/>
          </p:cNvGrpSpPr>
          <p:nvPr/>
        </p:nvGrpSpPr>
        <p:grpSpPr bwMode="auto">
          <a:xfrm>
            <a:off x="1066800" y="3444875"/>
            <a:ext cx="533400" cy="492125"/>
            <a:chOff x="96" y="2784"/>
            <a:chExt cx="1062" cy="981"/>
          </a:xfrm>
        </p:grpSpPr>
        <p:sp>
          <p:nvSpPr>
            <p:cNvPr id="84117" name="Freeform 149"/>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prstDash val="solid"/>
              <a:round/>
              <a:headEnd/>
              <a:tailEnd/>
            </a:ln>
          </p:spPr>
          <p:txBody>
            <a:bodyPr/>
            <a:lstStyle/>
            <a:p>
              <a:endParaRPr lang="zh-CN" altLang="en-US"/>
            </a:p>
          </p:txBody>
        </p:sp>
        <p:sp>
          <p:nvSpPr>
            <p:cNvPr id="84118" name="Freeform 150"/>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prstDash val="solid"/>
              <a:round/>
              <a:headEnd/>
              <a:tailEnd/>
            </a:ln>
          </p:spPr>
          <p:txBody>
            <a:bodyPr/>
            <a:lstStyle/>
            <a:p>
              <a:endParaRPr lang="zh-CN" altLang="en-US"/>
            </a:p>
          </p:txBody>
        </p:sp>
        <p:sp>
          <p:nvSpPr>
            <p:cNvPr id="84119" name="Freeform 151"/>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accent2"/>
            </a:solidFill>
            <a:ln w="0">
              <a:noFill/>
              <a:prstDash val="solid"/>
              <a:round/>
              <a:headEnd/>
              <a:tailEnd/>
            </a:ln>
          </p:spPr>
          <p:txBody>
            <a:bodyPr/>
            <a:lstStyle/>
            <a:p>
              <a:endParaRPr lang="zh-CN" altLang="en-US"/>
            </a:p>
          </p:txBody>
        </p:sp>
        <p:sp>
          <p:nvSpPr>
            <p:cNvPr id="84120" name="Freeform 152"/>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prstDash val="solid"/>
              <a:round/>
              <a:headEnd/>
              <a:tailEnd/>
            </a:ln>
          </p:spPr>
          <p:txBody>
            <a:bodyPr/>
            <a:lstStyle/>
            <a:p>
              <a:endParaRPr lang="zh-CN" altLang="en-US"/>
            </a:p>
          </p:txBody>
        </p:sp>
        <p:sp>
          <p:nvSpPr>
            <p:cNvPr id="84121" name="Freeform 153"/>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prstDash val="solid"/>
              <a:round/>
              <a:headEnd/>
              <a:tailEnd/>
            </a:ln>
          </p:spPr>
          <p:txBody>
            <a:bodyPr/>
            <a:lstStyle/>
            <a:p>
              <a:endParaRPr lang="zh-CN" altLang="en-US"/>
            </a:p>
          </p:txBody>
        </p:sp>
        <p:sp>
          <p:nvSpPr>
            <p:cNvPr id="84122" name="Freeform 154"/>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prstDash val="solid"/>
              <a:round/>
              <a:headEnd/>
              <a:tailEnd/>
            </a:ln>
          </p:spPr>
          <p:txBody>
            <a:bodyPr/>
            <a:lstStyle/>
            <a:p>
              <a:endParaRPr lang="zh-CN" altLang="en-US"/>
            </a:p>
          </p:txBody>
        </p:sp>
        <p:sp>
          <p:nvSpPr>
            <p:cNvPr id="84123" name="Freeform 155"/>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accent2"/>
            </a:solidFill>
            <a:ln w="0">
              <a:noFill/>
              <a:prstDash val="solid"/>
              <a:round/>
              <a:headEnd/>
              <a:tailEnd/>
            </a:ln>
          </p:spPr>
          <p:txBody>
            <a:bodyPr/>
            <a:lstStyle/>
            <a:p>
              <a:endParaRPr lang="zh-CN" altLang="en-US"/>
            </a:p>
          </p:txBody>
        </p:sp>
        <p:sp>
          <p:nvSpPr>
            <p:cNvPr id="84124" name="Freeform 156"/>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prstDash val="solid"/>
              <a:round/>
              <a:headEnd/>
              <a:tailEnd/>
            </a:ln>
          </p:spPr>
          <p:txBody>
            <a:bodyPr/>
            <a:lstStyle/>
            <a:p>
              <a:endParaRPr lang="zh-CN" altLang="en-US"/>
            </a:p>
          </p:txBody>
        </p:sp>
        <p:sp>
          <p:nvSpPr>
            <p:cNvPr id="84125" name="Freeform 157"/>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prstDash val="solid"/>
              <a:round/>
              <a:headEnd/>
              <a:tailEnd/>
            </a:ln>
          </p:spPr>
          <p:txBody>
            <a:bodyPr/>
            <a:lstStyle/>
            <a:p>
              <a:endParaRPr lang="zh-CN" altLang="en-US"/>
            </a:p>
          </p:txBody>
        </p:sp>
        <p:sp>
          <p:nvSpPr>
            <p:cNvPr id="84126" name="Freeform 158"/>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prstDash val="solid"/>
              <a:round/>
              <a:headEnd/>
              <a:tailEnd/>
            </a:ln>
          </p:spPr>
          <p:txBody>
            <a:bodyPr/>
            <a:lstStyle/>
            <a:p>
              <a:endParaRPr lang="zh-CN" altLang="en-US"/>
            </a:p>
          </p:txBody>
        </p:sp>
        <p:sp>
          <p:nvSpPr>
            <p:cNvPr id="84127" name="Freeform 159"/>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prstDash val="solid"/>
              <a:round/>
              <a:headEnd/>
              <a:tailEnd/>
            </a:ln>
          </p:spPr>
          <p:txBody>
            <a:bodyPr/>
            <a:lstStyle/>
            <a:p>
              <a:endParaRPr lang="zh-CN" altLang="en-US"/>
            </a:p>
          </p:txBody>
        </p:sp>
        <p:sp>
          <p:nvSpPr>
            <p:cNvPr id="84128" name="Freeform 160"/>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prstDash val="solid"/>
              <a:round/>
              <a:headEnd/>
              <a:tailEnd/>
            </a:ln>
          </p:spPr>
          <p:txBody>
            <a:bodyPr/>
            <a:lstStyle/>
            <a:p>
              <a:endParaRPr lang="zh-CN" altLang="en-US"/>
            </a:p>
          </p:txBody>
        </p:sp>
        <p:sp>
          <p:nvSpPr>
            <p:cNvPr id="84129" name="Freeform 161"/>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prstDash val="solid"/>
              <a:round/>
              <a:headEnd/>
              <a:tailEnd/>
            </a:ln>
          </p:spPr>
          <p:txBody>
            <a:bodyPr/>
            <a:lstStyle/>
            <a:p>
              <a:endParaRPr lang="zh-CN" altLang="en-US"/>
            </a:p>
          </p:txBody>
        </p:sp>
      </p:grpSp>
      <p:grpSp>
        <p:nvGrpSpPr>
          <p:cNvPr id="84130" name="Group 162"/>
          <p:cNvGrpSpPr>
            <a:grpSpLocks/>
          </p:cNvGrpSpPr>
          <p:nvPr/>
        </p:nvGrpSpPr>
        <p:grpSpPr bwMode="auto">
          <a:xfrm>
            <a:off x="1066800" y="4552950"/>
            <a:ext cx="533400" cy="492125"/>
            <a:chOff x="96" y="2784"/>
            <a:chExt cx="1062" cy="981"/>
          </a:xfrm>
        </p:grpSpPr>
        <p:sp>
          <p:nvSpPr>
            <p:cNvPr id="84131" name="Freeform 163"/>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prstDash val="solid"/>
              <a:round/>
              <a:headEnd/>
              <a:tailEnd/>
            </a:ln>
          </p:spPr>
          <p:txBody>
            <a:bodyPr/>
            <a:lstStyle/>
            <a:p>
              <a:endParaRPr lang="zh-CN" altLang="en-US"/>
            </a:p>
          </p:txBody>
        </p:sp>
        <p:sp>
          <p:nvSpPr>
            <p:cNvPr id="84132" name="Freeform 164"/>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prstDash val="solid"/>
              <a:round/>
              <a:headEnd/>
              <a:tailEnd/>
            </a:ln>
          </p:spPr>
          <p:txBody>
            <a:bodyPr/>
            <a:lstStyle/>
            <a:p>
              <a:endParaRPr lang="zh-CN" altLang="en-US"/>
            </a:p>
          </p:txBody>
        </p:sp>
        <p:sp>
          <p:nvSpPr>
            <p:cNvPr id="84133" name="Freeform 165"/>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accent2"/>
            </a:solidFill>
            <a:ln w="0">
              <a:noFill/>
              <a:prstDash val="solid"/>
              <a:round/>
              <a:headEnd/>
              <a:tailEnd/>
            </a:ln>
          </p:spPr>
          <p:txBody>
            <a:bodyPr/>
            <a:lstStyle/>
            <a:p>
              <a:endParaRPr lang="zh-CN" altLang="en-US"/>
            </a:p>
          </p:txBody>
        </p:sp>
        <p:sp>
          <p:nvSpPr>
            <p:cNvPr id="84134" name="Freeform 166"/>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prstDash val="solid"/>
              <a:round/>
              <a:headEnd/>
              <a:tailEnd/>
            </a:ln>
          </p:spPr>
          <p:txBody>
            <a:bodyPr/>
            <a:lstStyle/>
            <a:p>
              <a:endParaRPr lang="zh-CN" altLang="en-US"/>
            </a:p>
          </p:txBody>
        </p:sp>
        <p:sp>
          <p:nvSpPr>
            <p:cNvPr id="84135" name="Freeform 167"/>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prstDash val="solid"/>
              <a:round/>
              <a:headEnd/>
              <a:tailEnd/>
            </a:ln>
          </p:spPr>
          <p:txBody>
            <a:bodyPr/>
            <a:lstStyle/>
            <a:p>
              <a:endParaRPr lang="zh-CN" altLang="en-US"/>
            </a:p>
          </p:txBody>
        </p:sp>
        <p:sp>
          <p:nvSpPr>
            <p:cNvPr id="84136" name="Freeform 168"/>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prstDash val="solid"/>
              <a:round/>
              <a:headEnd/>
              <a:tailEnd/>
            </a:ln>
          </p:spPr>
          <p:txBody>
            <a:bodyPr/>
            <a:lstStyle/>
            <a:p>
              <a:endParaRPr lang="zh-CN" altLang="en-US"/>
            </a:p>
          </p:txBody>
        </p:sp>
        <p:sp>
          <p:nvSpPr>
            <p:cNvPr id="84137" name="Freeform 169"/>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accent2"/>
            </a:solidFill>
            <a:ln w="0">
              <a:noFill/>
              <a:prstDash val="solid"/>
              <a:round/>
              <a:headEnd/>
              <a:tailEnd/>
            </a:ln>
          </p:spPr>
          <p:txBody>
            <a:bodyPr/>
            <a:lstStyle/>
            <a:p>
              <a:endParaRPr lang="zh-CN" altLang="en-US"/>
            </a:p>
          </p:txBody>
        </p:sp>
        <p:sp>
          <p:nvSpPr>
            <p:cNvPr id="84138" name="Freeform 170"/>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prstDash val="solid"/>
              <a:round/>
              <a:headEnd/>
              <a:tailEnd/>
            </a:ln>
          </p:spPr>
          <p:txBody>
            <a:bodyPr/>
            <a:lstStyle/>
            <a:p>
              <a:endParaRPr lang="zh-CN" altLang="en-US"/>
            </a:p>
          </p:txBody>
        </p:sp>
        <p:sp>
          <p:nvSpPr>
            <p:cNvPr id="84139" name="Freeform 171"/>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prstDash val="solid"/>
              <a:round/>
              <a:headEnd/>
              <a:tailEnd/>
            </a:ln>
          </p:spPr>
          <p:txBody>
            <a:bodyPr/>
            <a:lstStyle/>
            <a:p>
              <a:endParaRPr lang="zh-CN" altLang="en-US"/>
            </a:p>
          </p:txBody>
        </p:sp>
        <p:sp>
          <p:nvSpPr>
            <p:cNvPr id="84140" name="Freeform 172"/>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prstDash val="solid"/>
              <a:round/>
              <a:headEnd/>
              <a:tailEnd/>
            </a:ln>
          </p:spPr>
          <p:txBody>
            <a:bodyPr/>
            <a:lstStyle/>
            <a:p>
              <a:endParaRPr lang="zh-CN" altLang="en-US"/>
            </a:p>
          </p:txBody>
        </p:sp>
        <p:sp>
          <p:nvSpPr>
            <p:cNvPr id="84141" name="Freeform 173"/>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prstDash val="solid"/>
              <a:round/>
              <a:headEnd/>
              <a:tailEnd/>
            </a:ln>
          </p:spPr>
          <p:txBody>
            <a:bodyPr/>
            <a:lstStyle/>
            <a:p>
              <a:endParaRPr lang="zh-CN" altLang="en-US"/>
            </a:p>
          </p:txBody>
        </p:sp>
        <p:sp>
          <p:nvSpPr>
            <p:cNvPr id="84142" name="Freeform 174"/>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prstDash val="solid"/>
              <a:round/>
              <a:headEnd/>
              <a:tailEnd/>
            </a:ln>
          </p:spPr>
          <p:txBody>
            <a:bodyPr/>
            <a:lstStyle/>
            <a:p>
              <a:endParaRPr lang="zh-CN" altLang="en-US"/>
            </a:p>
          </p:txBody>
        </p:sp>
        <p:sp>
          <p:nvSpPr>
            <p:cNvPr id="84143" name="Freeform 175"/>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prstDash val="solid"/>
              <a:round/>
              <a:headEnd/>
              <a:tailEnd/>
            </a:ln>
          </p:spPr>
          <p:txBody>
            <a:bodyPr/>
            <a:lstStyle/>
            <a:p>
              <a:endParaRPr lang="zh-CN" altLang="en-US"/>
            </a:p>
          </p:txBody>
        </p:sp>
      </p:grpSp>
      <p:grpSp>
        <p:nvGrpSpPr>
          <p:cNvPr id="84144" name="Group 176"/>
          <p:cNvGrpSpPr>
            <a:grpSpLocks/>
          </p:cNvGrpSpPr>
          <p:nvPr/>
        </p:nvGrpSpPr>
        <p:grpSpPr bwMode="auto">
          <a:xfrm>
            <a:off x="1066800" y="5562600"/>
            <a:ext cx="533400" cy="492125"/>
            <a:chOff x="96" y="2784"/>
            <a:chExt cx="1062" cy="981"/>
          </a:xfrm>
        </p:grpSpPr>
        <p:sp>
          <p:nvSpPr>
            <p:cNvPr id="84145" name="Freeform 177"/>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prstDash val="solid"/>
              <a:round/>
              <a:headEnd/>
              <a:tailEnd/>
            </a:ln>
          </p:spPr>
          <p:txBody>
            <a:bodyPr/>
            <a:lstStyle/>
            <a:p>
              <a:endParaRPr lang="zh-CN" altLang="en-US"/>
            </a:p>
          </p:txBody>
        </p:sp>
        <p:sp>
          <p:nvSpPr>
            <p:cNvPr id="84146" name="Freeform 178"/>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prstDash val="solid"/>
              <a:round/>
              <a:headEnd/>
              <a:tailEnd/>
            </a:ln>
          </p:spPr>
          <p:txBody>
            <a:bodyPr/>
            <a:lstStyle/>
            <a:p>
              <a:endParaRPr lang="zh-CN" altLang="en-US"/>
            </a:p>
          </p:txBody>
        </p:sp>
        <p:sp>
          <p:nvSpPr>
            <p:cNvPr id="84147" name="Freeform 179"/>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accent2"/>
            </a:solidFill>
            <a:ln w="0">
              <a:noFill/>
              <a:prstDash val="solid"/>
              <a:round/>
              <a:headEnd/>
              <a:tailEnd/>
            </a:ln>
          </p:spPr>
          <p:txBody>
            <a:bodyPr/>
            <a:lstStyle/>
            <a:p>
              <a:endParaRPr lang="zh-CN" altLang="en-US"/>
            </a:p>
          </p:txBody>
        </p:sp>
        <p:sp>
          <p:nvSpPr>
            <p:cNvPr id="84148" name="Freeform 180"/>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prstDash val="solid"/>
              <a:round/>
              <a:headEnd/>
              <a:tailEnd/>
            </a:ln>
          </p:spPr>
          <p:txBody>
            <a:bodyPr/>
            <a:lstStyle/>
            <a:p>
              <a:endParaRPr lang="zh-CN" altLang="en-US"/>
            </a:p>
          </p:txBody>
        </p:sp>
        <p:sp>
          <p:nvSpPr>
            <p:cNvPr id="84149" name="Freeform 181"/>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prstDash val="solid"/>
              <a:round/>
              <a:headEnd/>
              <a:tailEnd/>
            </a:ln>
          </p:spPr>
          <p:txBody>
            <a:bodyPr/>
            <a:lstStyle/>
            <a:p>
              <a:endParaRPr lang="zh-CN" altLang="en-US"/>
            </a:p>
          </p:txBody>
        </p:sp>
        <p:sp>
          <p:nvSpPr>
            <p:cNvPr id="84150" name="Freeform 182"/>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prstDash val="solid"/>
              <a:round/>
              <a:headEnd/>
              <a:tailEnd/>
            </a:ln>
          </p:spPr>
          <p:txBody>
            <a:bodyPr/>
            <a:lstStyle/>
            <a:p>
              <a:endParaRPr lang="zh-CN" altLang="en-US"/>
            </a:p>
          </p:txBody>
        </p:sp>
        <p:sp>
          <p:nvSpPr>
            <p:cNvPr id="84151" name="Freeform 183"/>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accent2"/>
            </a:solidFill>
            <a:ln w="0">
              <a:noFill/>
              <a:prstDash val="solid"/>
              <a:round/>
              <a:headEnd/>
              <a:tailEnd/>
            </a:ln>
          </p:spPr>
          <p:txBody>
            <a:bodyPr/>
            <a:lstStyle/>
            <a:p>
              <a:endParaRPr lang="zh-CN" altLang="en-US"/>
            </a:p>
          </p:txBody>
        </p:sp>
        <p:sp>
          <p:nvSpPr>
            <p:cNvPr id="84152" name="Freeform 184"/>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prstDash val="solid"/>
              <a:round/>
              <a:headEnd/>
              <a:tailEnd/>
            </a:ln>
          </p:spPr>
          <p:txBody>
            <a:bodyPr/>
            <a:lstStyle/>
            <a:p>
              <a:endParaRPr lang="zh-CN" altLang="en-US"/>
            </a:p>
          </p:txBody>
        </p:sp>
        <p:sp>
          <p:nvSpPr>
            <p:cNvPr id="84153" name="Freeform 185"/>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prstDash val="solid"/>
              <a:round/>
              <a:headEnd/>
              <a:tailEnd/>
            </a:ln>
          </p:spPr>
          <p:txBody>
            <a:bodyPr/>
            <a:lstStyle/>
            <a:p>
              <a:endParaRPr lang="zh-CN" altLang="en-US"/>
            </a:p>
          </p:txBody>
        </p:sp>
        <p:sp>
          <p:nvSpPr>
            <p:cNvPr id="84154" name="Freeform 186"/>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prstDash val="solid"/>
              <a:round/>
              <a:headEnd/>
              <a:tailEnd/>
            </a:ln>
          </p:spPr>
          <p:txBody>
            <a:bodyPr/>
            <a:lstStyle/>
            <a:p>
              <a:endParaRPr lang="zh-CN" altLang="en-US"/>
            </a:p>
          </p:txBody>
        </p:sp>
        <p:sp>
          <p:nvSpPr>
            <p:cNvPr id="84155" name="Freeform 187"/>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prstDash val="solid"/>
              <a:round/>
              <a:headEnd/>
              <a:tailEnd/>
            </a:ln>
          </p:spPr>
          <p:txBody>
            <a:bodyPr/>
            <a:lstStyle/>
            <a:p>
              <a:endParaRPr lang="zh-CN" altLang="en-US"/>
            </a:p>
          </p:txBody>
        </p:sp>
        <p:sp>
          <p:nvSpPr>
            <p:cNvPr id="84156" name="Freeform 188"/>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prstDash val="solid"/>
              <a:round/>
              <a:headEnd/>
              <a:tailEnd/>
            </a:ln>
          </p:spPr>
          <p:txBody>
            <a:bodyPr/>
            <a:lstStyle/>
            <a:p>
              <a:endParaRPr lang="zh-CN" altLang="en-US"/>
            </a:p>
          </p:txBody>
        </p:sp>
        <p:sp>
          <p:nvSpPr>
            <p:cNvPr id="84157" name="Freeform 189"/>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prstDash val="solid"/>
              <a:round/>
              <a:headEnd/>
              <a:tailEnd/>
            </a:ln>
          </p:spPr>
          <p:txBody>
            <a:bodyPr/>
            <a:lstStyle/>
            <a:p>
              <a:endParaRPr lang="zh-CN" altLang="en-US"/>
            </a:p>
          </p:txBody>
        </p:sp>
      </p:grpSp>
      <p:grpSp>
        <p:nvGrpSpPr>
          <p:cNvPr id="84158" name="Group 190"/>
          <p:cNvGrpSpPr>
            <a:grpSpLocks/>
          </p:cNvGrpSpPr>
          <p:nvPr/>
        </p:nvGrpSpPr>
        <p:grpSpPr bwMode="auto">
          <a:xfrm>
            <a:off x="381000" y="3962400"/>
            <a:ext cx="533400" cy="492125"/>
            <a:chOff x="96" y="2784"/>
            <a:chExt cx="1062" cy="981"/>
          </a:xfrm>
        </p:grpSpPr>
        <p:sp>
          <p:nvSpPr>
            <p:cNvPr id="84159" name="Freeform 191"/>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prstDash val="solid"/>
              <a:round/>
              <a:headEnd/>
              <a:tailEnd/>
            </a:ln>
          </p:spPr>
          <p:txBody>
            <a:bodyPr/>
            <a:lstStyle/>
            <a:p>
              <a:endParaRPr lang="zh-CN" altLang="en-US"/>
            </a:p>
          </p:txBody>
        </p:sp>
        <p:sp>
          <p:nvSpPr>
            <p:cNvPr id="84160" name="Freeform 192"/>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prstDash val="solid"/>
              <a:round/>
              <a:headEnd/>
              <a:tailEnd/>
            </a:ln>
          </p:spPr>
          <p:txBody>
            <a:bodyPr/>
            <a:lstStyle/>
            <a:p>
              <a:endParaRPr lang="zh-CN" altLang="en-US"/>
            </a:p>
          </p:txBody>
        </p:sp>
        <p:sp>
          <p:nvSpPr>
            <p:cNvPr id="84161" name="Freeform 193"/>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accent2"/>
            </a:solidFill>
            <a:ln w="0">
              <a:noFill/>
              <a:prstDash val="solid"/>
              <a:round/>
              <a:headEnd/>
              <a:tailEnd/>
            </a:ln>
          </p:spPr>
          <p:txBody>
            <a:bodyPr/>
            <a:lstStyle/>
            <a:p>
              <a:endParaRPr lang="zh-CN" altLang="en-US"/>
            </a:p>
          </p:txBody>
        </p:sp>
        <p:sp>
          <p:nvSpPr>
            <p:cNvPr id="84162" name="Freeform 194"/>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prstDash val="solid"/>
              <a:round/>
              <a:headEnd/>
              <a:tailEnd/>
            </a:ln>
          </p:spPr>
          <p:txBody>
            <a:bodyPr/>
            <a:lstStyle/>
            <a:p>
              <a:endParaRPr lang="zh-CN" altLang="en-US"/>
            </a:p>
          </p:txBody>
        </p:sp>
        <p:sp>
          <p:nvSpPr>
            <p:cNvPr id="84163" name="Freeform 195"/>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prstDash val="solid"/>
              <a:round/>
              <a:headEnd/>
              <a:tailEnd/>
            </a:ln>
          </p:spPr>
          <p:txBody>
            <a:bodyPr/>
            <a:lstStyle/>
            <a:p>
              <a:endParaRPr lang="zh-CN" altLang="en-US"/>
            </a:p>
          </p:txBody>
        </p:sp>
        <p:sp>
          <p:nvSpPr>
            <p:cNvPr id="84164" name="Freeform 196"/>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prstDash val="solid"/>
              <a:round/>
              <a:headEnd/>
              <a:tailEnd/>
            </a:ln>
          </p:spPr>
          <p:txBody>
            <a:bodyPr/>
            <a:lstStyle/>
            <a:p>
              <a:endParaRPr lang="zh-CN" altLang="en-US"/>
            </a:p>
          </p:txBody>
        </p:sp>
        <p:sp>
          <p:nvSpPr>
            <p:cNvPr id="84165" name="Freeform 197"/>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accent2"/>
            </a:solidFill>
            <a:ln w="0">
              <a:noFill/>
              <a:prstDash val="solid"/>
              <a:round/>
              <a:headEnd/>
              <a:tailEnd/>
            </a:ln>
          </p:spPr>
          <p:txBody>
            <a:bodyPr/>
            <a:lstStyle/>
            <a:p>
              <a:endParaRPr lang="zh-CN" altLang="en-US"/>
            </a:p>
          </p:txBody>
        </p:sp>
        <p:sp>
          <p:nvSpPr>
            <p:cNvPr id="84166" name="Freeform 198"/>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prstDash val="solid"/>
              <a:round/>
              <a:headEnd/>
              <a:tailEnd/>
            </a:ln>
          </p:spPr>
          <p:txBody>
            <a:bodyPr/>
            <a:lstStyle/>
            <a:p>
              <a:endParaRPr lang="zh-CN" altLang="en-US"/>
            </a:p>
          </p:txBody>
        </p:sp>
        <p:sp>
          <p:nvSpPr>
            <p:cNvPr id="84167" name="Freeform 199"/>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prstDash val="solid"/>
              <a:round/>
              <a:headEnd/>
              <a:tailEnd/>
            </a:ln>
          </p:spPr>
          <p:txBody>
            <a:bodyPr/>
            <a:lstStyle/>
            <a:p>
              <a:endParaRPr lang="zh-CN" altLang="en-US"/>
            </a:p>
          </p:txBody>
        </p:sp>
        <p:sp>
          <p:nvSpPr>
            <p:cNvPr id="84168" name="Freeform 200"/>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prstDash val="solid"/>
              <a:round/>
              <a:headEnd/>
              <a:tailEnd/>
            </a:ln>
          </p:spPr>
          <p:txBody>
            <a:bodyPr/>
            <a:lstStyle/>
            <a:p>
              <a:endParaRPr lang="zh-CN" altLang="en-US"/>
            </a:p>
          </p:txBody>
        </p:sp>
        <p:sp>
          <p:nvSpPr>
            <p:cNvPr id="84169" name="Freeform 201"/>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prstDash val="solid"/>
              <a:round/>
              <a:headEnd/>
              <a:tailEnd/>
            </a:ln>
          </p:spPr>
          <p:txBody>
            <a:bodyPr/>
            <a:lstStyle/>
            <a:p>
              <a:endParaRPr lang="zh-CN" altLang="en-US"/>
            </a:p>
          </p:txBody>
        </p:sp>
        <p:sp>
          <p:nvSpPr>
            <p:cNvPr id="84170" name="Freeform 202"/>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prstDash val="solid"/>
              <a:round/>
              <a:headEnd/>
              <a:tailEnd/>
            </a:ln>
          </p:spPr>
          <p:txBody>
            <a:bodyPr/>
            <a:lstStyle/>
            <a:p>
              <a:endParaRPr lang="zh-CN" altLang="en-US"/>
            </a:p>
          </p:txBody>
        </p:sp>
        <p:sp>
          <p:nvSpPr>
            <p:cNvPr id="84171" name="Freeform 203"/>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prstDash val="solid"/>
              <a:round/>
              <a:headEnd/>
              <a:tailEnd/>
            </a:ln>
          </p:spPr>
          <p:txBody>
            <a:bodyPr/>
            <a:lstStyle/>
            <a:p>
              <a:endParaRPr lang="zh-CN" altLang="en-US"/>
            </a:p>
          </p:txBody>
        </p:sp>
      </p:grpSp>
      <p:grpSp>
        <p:nvGrpSpPr>
          <p:cNvPr id="84172" name="Group 204"/>
          <p:cNvGrpSpPr>
            <a:grpSpLocks/>
          </p:cNvGrpSpPr>
          <p:nvPr/>
        </p:nvGrpSpPr>
        <p:grpSpPr bwMode="auto">
          <a:xfrm>
            <a:off x="381000" y="5070475"/>
            <a:ext cx="533400" cy="492125"/>
            <a:chOff x="96" y="2784"/>
            <a:chExt cx="1062" cy="981"/>
          </a:xfrm>
        </p:grpSpPr>
        <p:sp>
          <p:nvSpPr>
            <p:cNvPr id="84173" name="Freeform 205"/>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prstDash val="solid"/>
              <a:round/>
              <a:headEnd/>
              <a:tailEnd/>
            </a:ln>
          </p:spPr>
          <p:txBody>
            <a:bodyPr/>
            <a:lstStyle/>
            <a:p>
              <a:endParaRPr lang="zh-CN" altLang="en-US"/>
            </a:p>
          </p:txBody>
        </p:sp>
        <p:sp>
          <p:nvSpPr>
            <p:cNvPr id="84174" name="Freeform 206"/>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prstDash val="solid"/>
              <a:round/>
              <a:headEnd/>
              <a:tailEnd/>
            </a:ln>
          </p:spPr>
          <p:txBody>
            <a:bodyPr/>
            <a:lstStyle/>
            <a:p>
              <a:endParaRPr lang="zh-CN" altLang="en-US"/>
            </a:p>
          </p:txBody>
        </p:sp>
        <p:sp>
          <p:nvSpPr>
            <p:cNvPr id="84175" name="Freeform 207"/>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accent2"/>
            </a:solidFill>
            <a:ln w="0">
              <a:noFill/>
              <a:prstDash val="solid"/>
              <a:round/>
              <a:headEnd/>
              <a:tailEnd/>
            </a:ln>
          </p:spPr>
          <p:txBody>
            <a:bodyPr/>
            <a:lstStyle/>
            <a:p>
              <a:endParaRPr lang="zh-CN" altLang="en-US"/>
            </a:p>
          </p:txBody>
        </p:sp>
        <p:sp>
          <p:nvSpPr>
            <p:cNvPr id="84176" name="Freeform 208"/>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prstDash val="solid"/>
              <a:round/>
              <a:headEnd/>
              <a:tailEnd/>
            </a:ln>
          </p:spPr>
          <p:txBody>
            <a:bodyPr/>
            <a:lstStyle/>
            <a:p>
              <a:endParaRPr lang="zh-CN" altLang="en-US"/>
            </a:p>
          </p:txBody>
        </p:sp>
        <p:sp>
          <p:nvSpPr>
            <p:cNvPr id="84177" name="Freeform 209"/>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prstDash val="solid"/>
              <a:round/>
              <a:headEnd/>
              <a:tailEnd/>
            </a:ln>
          </p:spPr>
          <p:txBody>
            <a:bodyPr/>
            <a:lstStyle/>
            <a:p>
              <a:endParaRPr lang="zh-CN" altLang="en-US"/>
            </a:p>
          </p:txBody>
        </p:sp>
        <p:sp>
          <p:nvSpPr>
            <p:cNvPr id="84178" name="Freeform 210"/>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prstDash val="solid"/>
              <a:round/>
              <a:headEnd/>
              <a:tailEnd/>
            </a:ln>
          </p:spPr>
          <p:txBody>
            <a:bodyPr/>
            <a:lstStyle/>
            <a:p>
              <a:endParaRPr lang="zh-CN" altLang="en-US"/>
            </a:p>
          </p:txBody>
        </p:sp>
        <p:sp>
          <p:nvSpPr>
            <p:cNvPr id="84179" name="Freeform 211"/>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accent2"/>
            </a:solidFill>
            <a:ln w="0">
              <a:noFill/>
              <a:prstDash val="solid"/>
              <a:round/>
              <a:headEnd/>
              <a:tailEnd/>
            </a:ln>
          </p:spPr>
          <p:txBody>
            <a:bodyPr/>
            <a:lstStyle/>
            <a:p>
              <a:endParaRPr lang="zh-CN" altLang="en-US"/>
            </a:p>
          </p:txBody>
        </p:sp>
        <p:sp>
          <p:nvSpPr>
            <p:cNvPr id="84180" name="Freeform 212"/>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prstDash val="solid"/>
              <a:round/>
              <a:headEnd/>
              <a:tailEnd/>
            </a:ln>
          </p:spPr>
          <p:txBody>
            <a:bodyPr/>
            <a:lstStyle/>
            <a:p>
              <a:endParaRPr lang="zh-CN" altLang="en-US"/>
            </a:p>
          </p:txBody>
        </p:sp>
        <p:sp>
          <p:nvSpPr>
            <p:cNvPr id="84181" name="Freeform 213"/>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prstDash val="solid"/>
              <a:round/>
              <a:headEnd/>
              <a:tailEnd/>
            </a:ln>
          </p:spPr>
          <p:txBody>
            <a:bodyPr/>
            <a:lstStyle/>
            <a:p>
              <a:endParaRPr lang="zh-CN" altLang="en-US"/>
            </a:p>
          </p:txBody>
        </p:sp>
        <p:sp>
          <p:nvSpPr>
            <p:cNvPr id="84182" name="Freeform 214"/>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prstDash val="solid"/>
              <a:round/>
              <a:headEnd/>
              <a:tailEnd/>
            </a:ln>
          </p:spPr>
          <p:txBody>
            <a:bodyPr/>
            <a:lstStyle/>
            <a:p>
              <a:endParaRPr lang="zh-CN" altLang="en-US"/>
            </a:p>
          </p:txBody>
        </p:sp>
        <p:sp>
          <p:nvSpPr>
            <p:cNvPr id="84183" name="Freeform 215"/>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prstDash val="solid"/>
              <a:round/>
              <a:headEnd/>
              <a:tailEnd/>
            </a:ln>
          </p:spPr>
          <p:txBody>
            <a:bodyPr/>
            <a:lstStyle/>
            <a:p>
              <a:endParaRPr lang="zh-CN" altLang="en-US"/>
            </a:p>
          </p:txBody>
        </p:sp>
        <p:sp>
          <p:nvSpPr>
            <p:cNvPr id="84184" name="Freeform 216"/>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prstDash val="solid"/>
              <a:round/>
              <a:headEnd/>
              <a:tailEnd/>
            </a:ln>
          </p:spPr>
          <p:txBody>
            <a:bodyPr/>
            <a:lstStyle/>
            <a:p>
              <a:endParaRPr lang="zh-CN" altLang="en-US"/>
            </a:p>
          </p:txBody>
        </p:sp>
        <p:sp>
          <p:nvSpPr>
            <p:cNvPr id="84185" name="Freeform 217"/>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prstDash val="solid"/>
              <a:round/>
              <a:headEnd/>
              <a:tailEnd/>
            </a:ln>
          </p:spPr>
          <p:txBody>
            <a:bodyPr/>
            <a:lstStyle/>
            <a:p>
              <a:endParaRPr lang="zh-CN" altLang="en-US"/>
            </a:p>
          </p:txBody>
        </p:sp>
      </p:grpSp>
      <p:grpSp>
        <p:nvGrpSpPr>
          <p:cNvPr id="84186" name="Group 218"/>
          <p:cNvGrpSpPr>
            <a:grpSpLocks/>
          </p:cNvGrpSpPr>
          <p:nvPr/>
        </p:nvGrpSpPr>
        <p:grpSpPr bwMode="auto">
          <a:xfrm>
            <a:off x="381000" y="6121400"/>
            <a:ext cx="533400" cy="492125"/>
            <a:chOff x="96" y="2784"/>
            <a:chExt cx="1062" cy="981"/>
          </a:xfrm>
        </p:grpSpPr>
        <p:sp>
          <p:nvSpPr>
            <p:cNvPr id="84187" name="Freeform 219"/>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prstDash val="solid"/>
              <a:round/>
              <a:headEnd/>
              <a:tailEnd/>
            </a:ln>
          </p:spPr>
          <p:txBody>
            <a:bodyPr/>
            <a:lstStyle/>
            <a:p>
              <a:endParaRPr lang="zh-CN" altLang="en-US"/>
            </a:p>
          </p:txBody>
        </p:sp>
        <p:sp>
          <p:nvSpPr>
            <p:cNvPr id="84188" name="Freeform 220"/>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prstDash val="solid"/>
              <a:round/>
              <a:headEnd/>
              <a:tailEnd/>
            </a:ln>
          </p:spPr>
          <p:txBody>
            <a:bodyPr/>
            <a:lstStyle/>
            <a:p>
              <a:endParaRPr lang="zh-CN" altLang="en-US"/>
            </a:p>
          </p:txBody>
        </p:sp>
        <p:sp>
          <p:nvSpPr>
            <p:cNvPr id="84189" name="Freeform 221"/>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accent2"/>
            </a:solidFill>
            <a:ln w="0">
              <a:noFill/>
              <a:prstDash val="solid"/>
              <a:round/>
              <a:headEnd/>
              <a:tailEnd/>
            </a:ln>
          </p:spPr>
          <p:txBody>
            <a:bodyPr/>
            <a:lstStyle/>
            <a:p>
              <a:endParaRPr lang="zh-CN" altLang="en-US"/>
            </a:p>
          </p:txBody>
        </p:sp>
        <p:sp>
          <p:nvSpPr>
            <p:cNvPr id="84190" name="Freeform 222"/>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prstDash val="solid"/>
              <a:round/>
              <a:headEnd/>
              <a:tailEnd/>
            </a:ln>
          </p:spPr>
          <p:txBody>
            <a:bodyPr/>
            <a:lstStyle/>
            <a:p>
              <a:endParaRPr lang="zh-CN" altLang="en-US"/>
            </a:p>
          </p:txBody>
        </p:sp>
        <p:sp>
          <p:nvSpPr>
            <p:cNvPr id="84191" name="Freeform 223"/>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prstDash val="solid"/>
              <a:round/>
              <a:headEnd/>
              <a:tailEnd/>
            </a:ln>
          </p:spPr>
          <p:txBody>
            <a:bodyPr/>
            <a:lstStyle/>
            <a:p>
              <a:endParaRPr lang="zh-CN" altLang="en-US"/>
            </a:p>
          </p:txBody>
        </p:sp>
        <p:sp>
          <p:nvSpPr>
            <p:cNvPr id="84192" name="Freeform 224"/>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prstDash val="solid"/>
              <a:round/>
              <a:headEnd/>
              <a:tailEnd/>
            </a:ln>
          </p:spPr>
          <p:txBody>
            <a:bodyPr/>
            <a:lstStyle/>
            <a:p>
              <a:endParaRPr lang="zh-CN" altLang="en-US"/>
            </a:p>
          </p:txBody>
        </p:sp>
        <p:sp>
          <p:nvSpPr>
            <p:cNvPr id="84193" name="Freeform 225"/>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accent2"/>
            </a:solidFill>
            <a:ln w="0">
              <a:noFill/>
              <a:prstDash val="solid"/>
              <a:round/>
              <a:headEnd/>
              <a:tailEnd/>
            </a:ln>
          </p:spPr>
          <p:txBody>
            <a:bodyPr/>
            <a:lstStyle/>
            <a:p>
              <a:endParaRPr lang="zh-CN" altLang="en-US"/>
            </a:p>
          </p:txBody>
        </p:sp>
        <p:sp>
          <p:nvSpPr>
            <p:cNvPr id="84194" name="Freeform 226"/>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prstDash val="solid"/>
              <a:round/>
              <a:headEnd/>
              <a:tailEnd/>
            </a:ln>
          </p:spPr>
          <p:txBody>
            <a:bodyPr/>
            <a:lstStyle/>
            <a:p>
              <a:endParaRPr lang="zh-CN" altLang="en-US"/>
            </a:p>
          </p:txBody>
        </p:sp>
        <p:sp>
          <p:nvSpPr>
            <p:cNvPr id="84195" name="Freeform 227"/>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prstDash val="solid"/>
              <a:round/>
              <a:headEnd/>
              <a:tailEnd/>
            </a:ln>
          </p:spPr>
          <p:txBody>
            <a:bodyPr/>
            <a:lstStyle/>
            <a:p>
              <a:endParaRPr lang="zh-CN" altLang="en-US"/>
            </a:p>
          </p:txBody>
        </p:sp>
        <p:sp>
          <p:nvSpPr>
            <p:cNvPr id="84196" name="Freeform 228"/>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prstDash val="solid"/>
              <a:round/>
              <a:headEnd/>
              <a:tailEnd/>
            </a:ln>
          </p:spPr>
          <p:txBody>
            <a:bodyPr/>
            <a:lstStyle/>
            <a:p>
              <a:endParaRPr lang="zh-CN" altLang="en-US"/>
            </a:p>
          </p:txBody>
        </p:sp>
        <p:sp>
          <p:nvSpPr>
            <p:cNvPr id="84197" name="Freeform 229"/>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prstDash val="solid"/>
              <a:round/>
              <a:headEnd/>
              <a:tailEnd/>
            </a:ln>
          </p:spPr>
          <p:txBody>
            <a:bodyPr/>
            <a:lstStyle/>
            <a:p>
              <a:endParaRPr lang="zh-CN" altLang="en-US"/>
            </a:p>
          </p:txBody>
        </p:sp>
        <p:sp>
          <p:nvSpPr>
            <p:cNvPr id="84198" name="Freeform 230"/>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prstDash val="solid"/>
              <a:round/>
              <a:headEnd/>
              <a:tailEnd/>
            </a:ln>
          </p:spPr>
          <p:txBody>
            <a:bodyPr/>
            <a:lstStyle/>
            <a:p>
              <a:endParaRPr lang="zh-CN" altLang="en-US"/>
            </a:p>
          </p:txBody>
        </p:sp>
        <p:sp>
          <p:nvSpPr>
            <p:cNvPr id="84199" name="Freeform 231"/>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prstDash val="solid"/>
              <a:round/>
              <a:headEnd/>
              <a:tailEnd/>
            </a:ln>
          </p:spPr>
          <p:txBody>
            <a:bodyPr/>
            <a:lstStyle/>
            <a:p>
              <a:endParaRPr lang="zh-CN" altLang="en-US"/>
            </a:p>
          </p:txBody>
        </p:sp>
      </p:grpSp>
      <p:grpSp>
        <p:nvGrpSpPr>
          <p:cNvPr id="84200" name="Group 232"/>
          <p:cNvGrpSpPr>
            <a:grpSpLocks/>
          </p:cNvGrpSpPr>
          <p:nvPr/>
        </p:nvGrpSpPr>
        <p:grpSpPr bwMode="auto">
          <a:xfrm>
            <a:off x="6934200" y="-7938"/>
            <a:ext cx="2317750" cy="2063751"/>
            <a:chOff x="4080" y="-5"/>
            <a:chExt cx="1748" cy="1556"/>
          </a:xfrm>
        </p:grpSpPr>
        <p:sp>
          <p:nvSpPr>
            <p:cNvPr id="84201" name="Freeform 233"/>
            <p:cNvSpPr>
              <a:spLocks/>
            </p:cNvSpPr>
            <p:nvPr userDrawn="1"/>
          </p:nvSpPr>
          <p:spPr bwMode="auto">
            <a:xfrm>
              <a:off x="4161" y="-5"/>
              <a:ext cx="1586" cy="1443"/>
            </a:xfrm>
            <a:custGeom>
              <a:avLst/>
              <a:gdLst/>
              <a:ahLst/>
              <a:cxnLst>
                <a:cxn ang="0">
                  <a:pos x="23" y="4"/>
                </a:cxn>
                <a:cxn ang="0">
                  <a:pos x="11" y="71"/>
                </a:cxn>
                <a:cxn ang="0">
                  <a:pos x="25" y="393"/>
                </a:cxn>
                <a:cxn ang="0">
                  <a:pos x="54" y="457"/>
                </a:cxn>
                <a:cxn ang="0">
                  <a:pos x="158" y="482"/>
                </a:cxn>
                <a:cxn ang="0">
                  <a:pos x="204" y="495"/>
                </a:cxn>
                <a:cxn ang="0">
                  <a:pos x="520" y="475"/>
                </a:cxn>
                <a:cxn ang="0">
                  <a:pos x="533" y="167"/>
                </a:cxn>
                <a:cxn ang="0">
                  <a:pos x="369" y="16"/>
                </a:cxn>
                <a:cxn ang="0">
                  <a:pos x="249" y="29"/>
                </a:cxn>
                <a:cxn ang="0">
                  <a:pos x="198" y="11"/>
                </a:cxn>
                <a:cxn ang="0">
                  <a:pos x="151" y="2"/>
                </a:cxn>
                <a:cxn ang="0">
                  <a:pos x="23" y="4"/>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w="0">
              <a:noFill/>
              <a:prstDash val="solid"/>
              <a:round/>
              <a:headEnd/>
              <a:tailEnd/>
            </a:ln>
          </p:spPr>
          <p:txBody>
            <a:bodyPr/>
            <a:lstStyle/>
            <a:p>
              <a:endParaRPr lang="zh-CN" altLang="en-US"/>
            </a:p>
          </p:txBody>
        </p:sp>
        <p:grpSp>
          <p:nvGrpSpPr>
            <p:cNvPr id="84202" name="Group 234"/>
            <p:cNvGrpSpPr>
              <a:grpSpLocks/>
            </p:cNvGrpSpPr>
            <p:nvPr userDrawn="1"/>
          </p:nvGrpSpPr>
          <p:grpSpPr bwMode="auto">
            <a:xfrm>
              <a:off x="4080" y="0"/>
              <a:ext cx="1748" cy="1551"/>
              <a:chOff x="2918" y="18"/>
              <a:chExt cx="2958" cy="2699"/>
            </a:xfrm>
          </p:grpSpPr>
          <p:sp>
            <p:nvSpPr>
              <p:cNvPr id="84203" name="Freeform 235"/>
              <p:cNvSpPr>
                <a:spLocks/>
              </p:cNvSpPr>
              <p:nvPr/>
            </p:nvSpPr>
            <p:spPr bwMode="auto">
              <a:xfrm>
                <a:off x="3060" y="18"/>
                <a:ext cx="490" cy="187"/>
              </a:xfrm>
              <a:custGeom>
                <a:avLst/>
                <a:gdLst/>
                <a:ahLst/>
                <a:cxnLst>
                  <a:cxn ang="0">
                    <a:pos x="71" y="25"/>
                  </a:cxn>
                  <a:cxn ang="0">
                    <a:pos x="91" y="20"/>
                  </a:cxn>
                  <a:cxn ang="0">
                    <a:pos x="92" y="17"/>
                  </a:cxn>
                  <a:cxn ang="0">
                    <a:pos x="88" y="0"/>
                  </a:cxn>
                  <a:cxn ang="0">
                    <a:pos x="25" y="0"/>
                  </a:cxn>
                  <a:cxn ang="0">
                    <a:pos x="10" y="22"/>
                  </a:cxn>
                  <a:cxn ang="0">
                    <a:pos x="71" y="25"/>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w="0">
                <a:noFill/>
                <a:prstDash val="solid"/>
                <a:round/>
                <a:headEnd/>
                <a:tailEnd/>
              </a:ln>
            </p:spPr>
            <p:txBody>
              <a:bodyPr/>
              <a:lstStyle/>
              <a:p>
                <a:endParaRPr lang="zh-CN" altLang="en-US"/>
              </a:p>
            </p:txBody>
          </p:sp>
          <p:sp>
            <p:nvSpPr>
              <p:cNvPr id="84204" name="Freeform 236"/>
              <p:cNvSpPr>
                <a:spLocks noEditPoints="1"/>
              </p:cNvSpPr>
              <p:nvPr/>
            </p:nvSpPr>
            <p:spPr bwMode="auto">
              <a:xfrm>
                <a:off x="2918" y="18"/>
                <a:ext cx="2958" cy="2699"/>
              </a:xfrm>
              <a:custGeom>
                <a:avLst/>
                <a:gdLst/>
                <a:ahLst/>
                <a:cxnLst>
                  <a:cxn ang="0">
                    <a:pos x="504" y="1"/>
                  </a:cxn>
                  <a:cxn ang="0">
                    <a:pos x="157" y="0"/>
                  </a:cxn>
                  <a:cxn ang="0">
                    <a:pos x="225" y="21"/>
                  </a:cxn>
                  <a:cxn ang="0">
                    <a:pos x="174" y="39"/>
                  </a:cxn>
                  <a:cxn ang="0">
                    <a:pos x="207" y="71"/>
                  </a:cxn>
                  <a:cxn ang="0">
                    <a:pos x="74" y="60"/>
                  </a:cxn>
                  <a:cxn ang="0">
                    <a:pos x="26" y="63"/>
                  </a:cxn>
                  <a:cxn ang="0">
                    <a:pos x="199" y="487"/>
                  </a:cxn>
                  <a:cxn ang="0">
                    <a:pos x="144" y="341"/>
                  </a:cxn>
                  <a:cxn ang="0">
                    <a:pos x="105" y="376"/>
                  </a:cxn>
                  <a:cxn ang="0">
                    <a:pos x="94" y="435"/>
                  </a:cxn>
                  <a:cxn ang="0">
                    <a:pos x="124" y="265"/>
                  </a:cxn>
                  <a:cxn ang="0">
                    <a:pos x="153" y="228"/>
                  </a:cxn>
                  <a:cxn ang="0">
                    <a:pos x="209" y="237"/>
                  </a:cxn>
                  <a:cxn ang="0">
                    <a:pos x="188" y="306"/>
                  </a:cxn>
                  <a:cxn ang="0">
                    <a:pos x="192" y="395"/>
                  </a:cxn>
                  <a:cxn ang="0">
                    <a:pos x="515" y="483"/>
                  </a:cxn>
                  <a:cxn ang="0">
                    <a:pos x="454" y="427"/>
                  </a:cxn>
                  <a:cxn ang="0">
                    <a:pos x="425" y="345"/>
                  </a:cxn>
                  <a:cxn ang="0">
                    <a:pos x="396" y="270"/>
                  </a:cxn>
                  <a:cxn ang="0">
                    <a:pos x="460" y="256"/>
                  </a:cxn>
                  <a:cxn ang="0">
                    <a:pos x="407" y="223"/>
                  </a:cxn>
                  <a:cxn ang="0">
                    <a:pos x="439" y="226"/>
                  </a:cxn>
                  <a:cxn ang="0">
                    <a:pos x="438" y="209"/>
                  </a:cxn>
                  <a:cxn ang="0">
                    <a:pos x="376" y="211"/>
                  </a:cxn>
                  <a:cxn ang="0">
                    <a:pos x="357" y="343"/>
                  </a:cxn>
                  <a:cxn ang="0">
                    <a:pos x="347" y="230"/>
                  </a:cxn>
                  <a:cxn ang="0">
                    <a:pos x="331" y="182"/>
                  </a:cxn>
                  <a:cxn ang="0">
                    <a:pos x="347" y="136"/>
                  </a:cxn>
                  <a:cxn ang="0">
                    <a:pos x="339" y="99"/>
                  </a:cxn>
                  <a:cxn ang="0">
                    <a:pos x="331" y="62"/>
                  </a:cxn>
                  <a:cxn ang="0">
                    <a:pos x="369" y="103"/>
                  </a:cxn>
                  <a:cxn ang="0">
                    <a:pos x="415" y="47"/>
                  </a:cxn>
                  <a:cxn ang="0">
                    <a:pos x="409" y="95"/>
                  </a:cxn>
                  <a:cxn ang="0">
                    <a:pos x="401" y="130"/>
                  </a:cxn>
                  <a:cxn ang="0">
                    <a:pos x="401" y="181"/>
                  </a:cxn>
                  <a:cxn ang="0">
                    <a:pos x="558" y="181"/>
                  </a:cxn>
                  <a:cxn ang="0">
                    <a:pos x="554" y="76"/>
                  </a:cxn>
                  <a:cxn ang="0">
                    <a:pos x="249" y="69"/>
                  </a:cxn>
                  <a:cxn ang="0">
                    <a:pos x="293" y="93"/>
                  </a:cxn>
                  <a:cxn ang="0">
                    <a:pos x="171" y="195"/>
                  </a:cxn>
                  <a:cxn ang="0">
                    <a:pos x="69" y="98"/>
                  </a:cxn>
                  <a:cxn ang="0">
                    <a:pos x="191" y="106"/>
                  </a:cxn>
                  <a:cxn ang="0">
                    <a:pos x="220" y="105"/>
                  </a:cxn>
                  <a:cxn ang="0">
                    <a:pos x="302" y="121"/>
                  </a:cxn>
                  <a:cxn ang="0">
                    <a:pos x="276" y="256"/>
                  </a:cxn>
                  <a:cxn ang="0">
                    <a:pos x="260" y="137"/>
                  </a:cxn>
                  <a:cxn ang="0">
                    <a:pos x="171" y="195"/>
                  </a:cxn>
                  <a:cxn ang="0">
                    <a:pos x="223" y="225"/>
                  </a:cxn>
                  <a:cxn ang="0">
                    <a:pos x="247" y="158"/>
                  </a:cxn>
                  <a:cxn ang="0">
                    <a:pos x="326" y="292"/>
                  </a:cxn>
                  <a:cxn ang="0">
                    <a:pos x="215" y="321"/>
                  </a:cxn>
                  <a:cxn ang="0">
                    <a:pos x="309" y="277"/>
                  </a:cxn>
                  <a:cxn ang="0">
                    <a:pos x="318" y="133"/>
                  </a:cxn>
                  <a:cxn ang="0">
                    <a:pos x="313" y="213"/>
                  </a:cxn>
                  <a:cxn ang="0">
                    <a:pos x="299" y="144"/>
                  </a:cxn>
                  <a:cxn ang="0">
                    <a:pos x="507" y="179"/>
                  </a:cxn>
                  <a:cxn ang="0">
                    <a:pos x="461" y="162"/>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w="0">
                <a:noFill/>
                <a:prstDash val="solid"/>
                <a:round/>
                <a:headEnd/>
                <a:tailEnd/>
              </a:ln>
            </p:spPr>
            <p:txBody>
              <a:bodyPr/>
              <a:lstStyle/>
              <a:p>
                <a:endParaRPr lang="zh-CN" altLang="en-US"/>
              </a:p>
            </p:txBody>
          </p:sp>
          <p:sp>
            <p:nvSpPr>
              <p:cNvPr id="84205" name="Freeform 237"/>
              <p:cNvSpPr>
                <a:spLocks/>
              </p:cNvSpPr>
              <p:nvPr/>
            </p:nvSpPr>
            <p:spPr bwMode="auto">
              <a:xfrm>
                <a:off x="3621" y="1287"/>
                <a:ext cx="238" cy="283"/>
              </a:xfrm>
              <a:custGeom>
                <a:avLst/>
                <a:gdLst/>
                <a:ahLst/>
                <a:cxnLst>
                  <a:cxn ang="0">
                    <a:pos x="40" y="15"/>
                  </a:cxn>
                  <a:cxn ang="0">
                    <a:pos x="27" y="56"/>
                  </a:cxn>
                  <a:cxn ang="0">
                    <a:pos x="40" y="15"/>
                  </a:cxn>
                </a:cxnLst>
                <a:rect l="0" t="0" r="r" b="b"/>
                <a:pathLst>
                  <a:path w="47" h="56">
                    <a:moveTo>
                      <a:pt x="40" y="15"/>
                    </a:moveTo>
                    <a:cubicBezTo>
                      <a:pt x="37" y="0"/>
                      <a:pt x="0" y="23"/>
                      <a:pt x="27" y="56"/>
                    </a:cubicBezTo>
                    <a:cubicBezTo>
                      <a:pt x="27" y="56"/>
                      <a:pt x="47" y="49"/>
                      <a:pt x="40" y="15"/>
                    </a:cubicBezTo>
                    <a:close/>
                  </a:path>
                </a:pathLst>
              </a:custGeom>
              <a:solidFill>
                <a:schemeClr val="bg1"/>
              </a:solidFill>
              <a:ln w="0">
                <a:noFill/>
                <a:prstDash val="solid"/>
                <a:round/>
                <a:headEnd/>
                <a:tailEnd/>
              </a:ln>
            </p:spPr>
            <p:txBody>
              <a:bodyPr/>
              <a:lstStyle/>
              <a:p>
                <a:endParaRPr lang="zh-CN" altLang="en-US"/>
              </a:p>
            </p:txBody>
          </p:sp>
          <p:sp>
            <p:nvSpPr>
              <p:cNvPr id="84206" name="Freeform 238"/>
              <p:cNvSpPr>
                <a:spLocks/>
              </p:cNvSpPr>
              <p:nvPr/>
            </p:nvSpPr>
            <p:spPr bwMode="auto">
              <a:xfrm>
                <a:off x="3403" y="1403"/>
                <a:ext cx="208" cy="379"/>
              </a:xfrm>
              <a:custGeom>
                <a:avLst/>
                <a:gdLst/>
                <a:ahLst/>
                <a:cxnLst>
                  <a:cxn ang="0">
                    <a:pos x="19" y="27"/>
                  </a:cxn>
                  <a:cxn ang="0">
                    <a:pos x="12" y="69"/>
                  </a:cxn>
                  <a:cxn ang="0">
                    <a:pos x="40" y="45"/>
                  </a:cxn>
                  <a:cxn ang="0">
                    <a:pos x="37" y="24"/>
                  </a:cxn>
                  <a:cxn ang="0">
                    <a:pos x="19" y="27"/>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w="0">
                <a:noFill/>
                <a:prstDash val="solid"/>
                <a:round/>
                <a:headEnd/>
                <a:tailEnd/>
              </a:ln>
            </p:spPr>
            <p:txBody>
              <a:bodyPr/>
              <a:lstStyle/>
              <a:p>
                <a:endParaRPr lang="zh-CN" altLang="en-US"/>
              </a:p>
            </p:txBody>
          </p:sp>
          <p:sp>
            <p:nvSpPr>
              <p:cNvPr id="84207" name="Freeform 239"/>
              <p:cNvSpPr>
                <a:spLocks/>
              </p:cNvSpPr>
              <p:nvPr/>
            </p:nvSpPr>
            <p:spPr bwMode="auto">
              <a:xfrm>
                <a:off x="3272" y="645"/>
                <a:ext cx="683" cy="318"/>
              </a:xfrm>
              <a:custGeom>
                <a:avLst/>
                <a:gdLst/>
                <a:ahLst/>
                <a:cxnLst>
                  <a:cxn ang="0">
                    <a:pos x="112" y="4"/>
                  </a:cxn>
                  <a:cxn ang="0">
                    <a:pos x="24" y="4"/>
                  </a:cxn>
                  <a:cxn ang="0">
                    <a:pos x="2" y="25"/>
                  </a:cxn>
                  <a:cxn ang="0">
                    <a:pos x="60" y="58"/>
                  </a:cxn>
                  <a:cxn ang="0">
                    <a:pos x="96" y="54"/>
                  </a:cxn>
                  <a:cxn ang="0">
                    <a:pos x="113" y="53"/>
                  </a:cxn>
                  <a:cxn ang="0">
                    <a:pos x="112" y="4"/>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w="0">
                <a:noFill/>
                <a:prstDash val="solid"/>
                <a:round/>
                <a:headEnd/>
                <a:tailEnd/>
              </a:ln>
            </p:spPr>
            <p:txBody>
              <a:bodyPr/>
              <a:lstStyle/>
              <a:p>
                <a:endParaRPr lang="zh-CN" altLang="en-US"/>
              </a:p>
            </p:txBody>
          </p:sp>
          <p:sp>
            <p:nvSpPr>
              <p:cNvPr id="84208" name="Freeform 240"/>
              <p:cNvSpPr>
                <a:spLocks/>
              </p:cNvSpPr>
              <p:nvPr/>
            </p:nvSpPr>
            <p:spPr bwMode="auto">
              <a:xfrm>
                <a:off x="4046" y="1545"/>
                <a:ext cx="490" cy="515"/>
              </a:xfrm>
              <a:custGeom>
                <a:avLst/>
                <a:gdLst/>
                <a:ahLst/>
                <a:cxnLst>
                  <a:cxn ang="0">
                    <a:pos x="67" y="5"/>
                  </a:cxn>
                  <a:cxn ang="0">
                    <a:pos x="31" y="5"/>
                  </a:cxn>
                  <a:cxn ang="0">
                    <a:pos x="12" y="57"/>
                  </a:cxn>
                  <a:cxn ang="0">
                    <a:pos x="79" y="62"/>
                  </a:cxn>
                  <a:cxn ang="0">
                    <a:pos x="67" y="5"/>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w="0">
                <a:noFill/>
                <a:prstDash val="solid"/>
                <a:round/>
                <a:headEnd/>
                <a:tailEnd/>
              </a:ln>
            </p:spPr>
            <p:txBody>
              <a:bodyPr/>
              <a:lstStyle/>
              <a:p>
                <a:endParaRPr lang="zh-CN" altLang="en-US"/>
              </a:p>
            </p:txBody>
          </p:sp>
          <p:sp>
            <p:nvSpPr>
              <p:cNvPr id="84209" name="Freeform 241"/>
              <p:cNvSpPr>
                <a:spLocks/>
              </p:cNvSpPr>
              <p:nvPr/>
            </p:nvSpPr>
            <p:spPr bwMode="auto">
              <a:xfrm>
                <a:off x="5173" y="1024"/>
                <a:ext cx="501" cy="96"/>
              </a:xfrm>
              <a:custGeom>
                <a:avLst/>
                <a:gdLst/>
                <a:ahLst/>
                <a:cxnLst>
                  <a:cxn ang="0">
                    <a:pos x="15" y="0"/>
                  </a:cxn>
                  <a:cxn ang="0">
                    <a:pos x="40" y="15"/>
                  </a:cxn>
                  <a:cxn ang="0">
                    <a:pos x="15" y="0"/>
                  </a:cxn>
                </a:cxnLst>
                <a:rect l="0" t="0" r="r" b="b"/>
                <a:pathLst>
                  <a:path w="99" h="19">
                    <a:moveTo>
                      <a:pt x="15" y="0"/>
                    </a:moveTo>
                    <a:cubicBezTo>
                      <a:pt x="0" y="0"/>
                      <a:pt x="19" y="19"/>
                      <a:pt x="40" y="15"/>
                    </a:cubicBezTo>
                    <a:cubicBezTo>
                      <a:pt x="99" y="1"/>
                      <a:pt x="15" y="0"/>
                      <a:pt x="15" y="0"/>
                    </a:cubicBezTo>
                    <a:close/>
                  </a:path>
                </a:pathLst>
              </a:custGeom>
              <a:solidFill>
                <a:schemeClr val="bg1"/>
              </a:solidFill>
              <a:ln w="0">
                <a:noFill/>
                <a:prstDash val="solid"/>
                <a:round/>
                <a:headEnd/>
                <a:tailEnd/>
              </a:ln>
            </p:spPr>
            <p:txBody>
              <a:bodyPr/>
              <a:lstStyle/>
              <a:p>
                <a:endParaRPr lang="zh-CN" altLang="en-US"/>
              </a:p>
            </p:txBody>
          </p:sp>
          <p:sp>
            <p:nvSpPr>
              <p:cNvPr id="84210" name="Freeform 242"/>
              <p:cNvSpPr>
                <a:spLocks/>
              </p:cNvSpPr>
              <p:nvPr/>
            </p:nvSpPr>
            <p:spPr bwMode="auto">
              <a:xfrm>
                <a:off x="5340" y="1004"/>
                <a:ext cx="385" cy="237"/>
              </a:xfrm>
              <a:custGeom>
                <a:avLst/>
                <a:gdLst/>
                <a:ahLst/>
                <a:cxnLst>
                  <a:cxn ang="0">
                    <a:pos x="21" y="37"/>
                  </a:cxn>
                  <a:cxn ang="0">
                    <a:pos x="70" y="17"/>
                  </a:cxn>
                  <a:cxn ang="0">
                    <a:pos x="48" y="3"/>
                  </a:cxn>
                  <a:cxn ang="0">
                    <a:pos x="19" y="32"/>
                  </a:cxn>
                  <a:cxn ang="0">
                    <a:pos x="21" y="37"/>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w="0">
                <a:noFill/>
                <a:prstDash val="solid"/>
                <a:round/>
                <a:headEnd/>
                <a:tailEnd/>
              </a:ln>
            </p:spPr>
            <p:txBody>
              <a:bodyPr/>
              <a:lstStyle/>
              <a:p>
                <a:endParaRPr lang="zh-CN" altLang="en-US"/>
              </a:p>
            </p:txBody>
          </p:sp>
          <p:sp>
            <p:nvSpPr>
              <p:cNvPr id="84211" name="Freeform 243"/>
              <p:cNvSpPr>
                <a:spLocks/>
              </p:cNvSpPr>
              <p:nvPr/>
            </p:nvSpPr>
            <p:spPr bwMode="auto">
              <a:xfrm>
                <a:off x="5325" y="1201"/>
                <a:ext cx="415" cy="187"/>
              </a:xfrm>
              <a:custGeom>
                <a:avLst/>
                <a:gdLst/>
                <a:ahLst/>
                <a:cxnLst>
                  <a:cxn ang="0">
                    <a:pos x="72" y="6"/>
                  </a:cxn>
                  <a:cxn ang="0">
                    <a:pos x="24" y="17"/>
                  </a:cxn>
                  <a:cxn ang="0">
                    <a:pos x="17" y="26"/>
                  </a:cxn>
                  <a:cxn ang="0">
                    <a:pos x="76" y="23"/>
                  </a:cxn>
                  <a:cxn ang="0">
                    <a:pos x="82" y="20"/>
                  </a:cxn>
                  <a:cxn ang="0">
                    <a:pos x="82" y="0"/>
                  </a:cxn>
                  <a:cxn ang="0">
                    <a:pos x="72" y="6"/>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w="0">
                <a:noFill/>
                <a:prstDash val="solid"/>
                <a:round/>
                <a:headEnd/>
                <a:tailEnd/>
              </a:ln>
            </p:spPr>
            <p:txBody>
              <a:bodyPr/>
              <a:lstStyle/>
              <a:p>
                <a:endParaRPr lang="zh-CN" altLang="en-US"/>
              </a:p>
            </p:txBody>
          </p:sp>
          <p:sp>
            <p:nvSpPr>
              <p:cNvPr id="84212" name="Freeform 244"/>
              <p:cNvSpPr>
                <a:spLocks/>
              </p:cNvSpPr>
              <p:nvPr/>
            </p:nvSpPr>
            <p:spPr bwMode="auto">
              <a:xfrm>
                <a:off x="5001" y="1378"/>
                <a:ext cx="698" cy="167"/>
              </a:xfrm>
              <a:custGeom>
                <a:avLst/>
                <a:gdLst/>
                <a:ahLst/>
                <a:cxnLst>
                  <a:cxn ang="0">
                    <a:pos x="21" y="1"/>
                  </a:cxn>
                  <a:cxn ang="0">
                    <a:pos x="8" y="14"/>
                  </a:cxn>
                  <a:cxn ang="0">
                    <a:pos x="57" y="22"/>
                  </a:cxn>
                  <a:cxn ang="0">
                    <a:pos x="117" y="23"/>
                  </a:cxn>
                  <a:cxn ang="0">
                    <a:pos x="114" y="8"/>
                  </a:cxn>
                  <a:cxn ang="0">
                    <a:pos x="82" y="3"/>
                  </a:cxn>
                  <a:cxn ang="0">
                    <a:pos x="21" y="1"/>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w="0">
                <a:noFill/>
                <a:prstDash val="solid"/>
                <a:round/>
                <a:headEnd/>
                <a:tailEnd/>
              </a:ln>
            </p:spPr>
            <p:txBody>
              <a:bodyPr/>
              <a:lstStyle/>
              <a:p>
                <a:endParaRPr lang="zh-CN" altLang="en-US"/>
              </a:p>
            </p:txBody>
          </p:sp>
          <p:sp>
            <p:nvSpPr>
              <p:cNvPr id="84213" name="Freeform 245"/>
              <p:cNvSpPr>
                <a:spLocks/>
              </p:cNvSpPr>
              <p:nvPr/>
            </p:nvSpPr>
            <p:spPr bwMode="auto">
              <a:xfrm>
                <a:off x="5077" y="1540"/>
                <a:ext cx="567" cy="146"/>
              </a:xfrm>
              <a:custGeom>
                <a:avLst/>
                <a:gdLst/>
                <a:ahLst/>
                <a:cxnLst>
                  <a:cxn ang="0">
                    <a:pos x="98" y="19"/>
                  </a:cxn>
                  <a:cxn ang="0">
                    <a:pos x="103" y="4"/>
                  </a:cxn>
                  <a:cxn ang="0">
                    <a:pos x="74" y="10"/>
                  </a:cxn>
                  <a:cxn ang="0">
                    <a:pos x="36" y="6"/>
                  </a:cxn>
                  <a:cxn ang="0">
                    <a:pos x="2" y="4"/>
                  </a:cxn>
                  <a:cxn ang="0">
                    <a:pos x="98" y="19"/>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w="0">
                <a:noFill/>
                <a:prstDash val="solid"/>
                <a:round/>
                <a:headEnd/>
                <a:tailEnd/>
              </a:ln>
            </p:spPr>
            <p:txBody>
              <a:bodyPr/>
              <a:lstStyle/>
              <a:p>
                <a:endParaRPr lang="zh-CN" altLang="en-US"/>
              </a:p>
            </p:txBody>
          </p:sp>
          <p:sp>
            <p:nvSpPr>
              <p:cNvPr id="84214" name="Freeform 246"/>
              <p:cNvSpPr>
                <a:spLocks/>
              </p:cNvSpPr>
              <p:nvPr/>
            </p:nvSpPr>
            <p:spPr bwMode="auto">
              <a:xfrm>
                <a:off x="5042" y="1656"/>
                <a:ext cx="581" cy="480"/>
              </a:xfrm>
              <a:custGeom>
                <a:avLst/>
                <a:gdLst/>
                <a:ahLst/>
                <a:cxnLst>
                  <a:cxn ang="0">
                    <a:pos x="3" y="53"/>
                  </a:cxn>
                  <a:cxn ang="0">
                    <a:pos x="26" y="54"/>
                  </a:cxn>
                  <a:cxn ang="0">
                    <a:pos x="50" y="77"/>
                  </a:cxn>
                  <a:cxn ang="0">
                    <a:pos x="59" y="84"/>
                  </a:cxn>
                  <a:cxn ang="0">
                    <a:pos x="81" y="52"/>
                  </a:cxn>
                  <a:cxn ang="0">
                    <a:pos x="111" y="52"/>
                  </a:cxn>
                  <a:cxn ang="0">
                    <a:pos x="79" y="27"/>
                  </a:cxn>
                  <a:cxn ang="0">
                    <a:pos x="37" y="16"/>
                  </a:cxn>
                  <a:cxn ang="0">
                    <a:pos x="12" y="41"/>
                  </a:cxn>
                  <a:cxn ang="0">
                    <a:pos x="3" y="53"/>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w="0">
                <a:noFill/>
                <a:prstDash val="solid"/>
                <a:round/>
                <a:headEnd/>
                <a:tailEnd/>
              </a:ln>
            </p:spPr>
            <p:txBody>
              <a:bodyPr/>
              <a:lstStyle/>
              <a:p>
                <a:endParaRPr lang="zh-CN" altLang="en-US"/>
              </a:p>
            </p:txBody>
          </p:sp>
          <p:sp>
            <p:nvSpPr>
              <p:cNvPr id="84215" name="Freeform 247"/>
              <p:cNvSpPr>
                <a:spLocks/>
              </p:cNvSpPr>
              <p:nvPr/>
            </p:nvSpPr>
            <p:spPr bwMode="auto">
              <a:xfrm>
                <a:off x="5421" y="1464"/>
                <a:ext cx="329" cy="854"/>
              </a:xfrm>
              <a:custGeom>
                <a:avLst/>
                <a:gdLst/>
                <a:ahLst/>
                <a:cxnLst>
                  <a:cxn ang="0">
                    <a:pos x="51" y="40"/>
                  </a:cxn>
                  <a:cxn ang="0">
                    <a:pos x="22" y="49"/>
                  </a:cxn>
                  <a:cxn ang="0">
                    <a:pos x="22" y="59"/>
                  </a:cxn>
                  <a:cxn ang="0">
                    <a:pos x="50" y="90"/>
                  </a:cxn>
                  <a:cxn ang="0">
                    <a:pos x="34" y="118"/>
                  </a:cxn>
                  <a:cxn ang="0">
                    <a:pos x="0" y="148"/>
                  </a:cxn>
                  <a:cxn ang="0">
                    <a:pos x="17" y="155"/>
                  </a:cxn>
                  <a:cxn ang="0">
                    <a:pos x="47" y="166"/>
                  </a:cxn>
                  <a:cxn ang="0">
                    <a:pos x="63" y="162"/>
                  </a:cxn>
                  <a:cxn ang="0">
                    <a:pos x="65" y="0"/>
                  </a:cxn>
                  <a:cxn ang="0">
                    <a:pos x="51" y="40"/>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w="0">
                <a:noFill/>
                <a:prstDash val="solid"/>
                <a:round/>
                <a:headEnd/>
                <a:tailEnd/>
              </a:ln>
            </p:spPr>
            <p:txBody>
              <a:bodyPr/>
              <a:lstStyle/>
              <a:p>
                <a:endParaRPr lang="zh-CN" altLang="en-US"/>
              </a:p>
            </p:txBody>
          </p:sp>
        </p:grpSp>
      </p:grpSp>
      <p:sp>
        <p:nvSpPr>
          <p:cNvPr id="84216" name="Rectangle 248"/>
          <p:cNvSpPr>
            <a:spLocks noGrp="1" noRot="1" noChangeArrowheads="1"/>
          </p:cNvSpPr>
          <p:nvPr>
            <p:ph type="title"/>
          </p:nvPr>
        </p:nvSpPr>
        <p:spPr bwMode="auto">
          <a:xfrm>
            <a:off x="298450" y="228600"/>
            <a:ext cx="854075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84217" name="Rectangle 249"/>
          <p:cNvSpPr>
            <a:spLocks noGrp="1" noRot="1" noChangeArrowheads="1"/>
          </p:cNvSpPr>
          <p:nvPr>
            <p:ph type="body" idx="1"/>
          </p:nvPr>
        </p:nvSpPr>
        <p:spPr bwMode="auto">
          <a:xfrm>
            <a:off x="609600" y="1600200"/>
            <a:ext cx="8153400" cy="44989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4218" name="Rectangle 250"/>
          <p:cNvSpPr>
            <a:spLocks noGrp="1" noChangeArrowheads="1"/>
          </p:cNvSpPr>
          <p:nvPr>
            <p:ph type="dt" sz="half" idx="2"/>
          </p:nvPr>
        </p:nvSpPr>
        <p:spPr bwMode="auto">
          <a:xfrm>
            <a:off x="29845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84219" name="Rectangle 251"/>
          <p:cNvSpPr>
            <a:spLocks noGrp="1" noChangeArrowheads="1"/>
          </p:cNvSpPr>
          <p:nvPr>
            <p:ph type="ftr" sz="quarter" idx="3"/>
          </p:nvPr>
        </p:nvSpPr>
        <p:spPr bwMode="auto">
          <a:xfrm>
            <a:off x="3121025"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84220" name="Rectangle 252"/>
          <p:cNvSpPr>
            <a:spLocks noGrp="1" noChangeArrowheads="1"/>
          </p:cNvSpPr>
          <p:nvPr>
            <p:ph type="sldNum" sz="quarter" idx="4"/>
          </p:nvPr>
        </p:nvSpPr>
        <p:spPr bwMode="auto">
          <a:xfrm>
            <a:off x="65500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78D1B6F4-C152-4A3F-B42A-1BCB1071FF16}"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ea typeface="宋体" pitchFamily="2" charset="-122"/>
        </a:defRPr>
      </a:lvl2pPr>
      <a:lvl3pPr algn="ctr" rtl="0" fontAlgn="base">
        <a:spcBef>
          <a:spcPct val="0"/>
        </a:spcBef>
        <a:spcAft>
          <a:spcPct val="0"/>
        </a:spcAft>
        <a:defRPr sz="4400">
          <a:solidFill>
            <a:schemeClr val="tx2"/>
          </a:solidFill>
          <a:latin typeface="Arial" pitchFamily="34" charset="0"/>
          <a:ea typeface="宋体" pitchFamily="2" charset="-122"/>
        </a:defRPr>
      </a:lvl3pPr>
      <a:lvl4pPr algn="ctr" rtl="0" fontAlgn="base">
        <a:spcBef>
          <a:spcPct val="0"/>
        </a:spcBef>
        <a:spcAft>
          <a:spcPct val="0"/>
        </a:spcAft>
        <a:defRPr sz="4400">
          <a:solidFill>
            <a:schemeClr val="tx2"/>
          </a:solidFill>
          <a:latin typeface="Arial" pitchFamily="34" charset="0"/>
          <a:ea typeface="宋体" pitchFamily="2" charset="-122"/>
        </a:defRPr>
      </a:lvl4pPr>
      <a:lvl5pPr algn="ctr" rtl="0" fontAlgn="base">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fontAlgn="base">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SzPct val="85000"/>
        <a:buFont typeface="Wingdings" pitchFamily="2" charset="2"/>
        <a:buChar char="Ø"/>
        <a:defRPr sz="2800">
          <a:solidFill>
            <a:schemeClr val="tx1"/>
          </a:solidFill>
          <a:latin typeface="+mn-lt"/>
          <a:ea typeface="+mn-ea"/>
        </a:defRPr>
      </a:lvl2pPr>
      <a:lvl3pPr marL="1143000" indent="-228600" algn="l" rtl="0" fontAlgn="base">
        <a:spcBef>
          <a:spcPct val="20000"/>
        </a:spcBef>
        <a:spcAft>
          <a:spcPct val="0"/>
        </a:spcAft>
        <a:buClr>
          <a:schemeClr val="hlink"/>
        </a:buClr>
        <a:buSzPct val="95000"/>
        <a:buFont typeface="Wingdings 2" pitchFamily="18" charset="2"/>
        <a:buChar char="¡"/>
        <a:defRPr sz="2400">
          <a:solidFill>
            <a:schemeClr val="tx1"/>
          </a:solidFill>
          <a:latin typeface="+mn-lt"/>
          <a:ea typeface="+mn-ea"/>
        </a:defRPr>
      </a:lvl3pPr>
      <a:lvl4pPr marL="1600200" indent="-228600" algn="l" rtl="0" fontAlgn="base">
        <a:spcBef>
          <a:spcPct val="20000"/>
        </a:spcBef>
        <a:spcAft>
          <a:spcPct val="0"/>
        </a:spcAft>
        <a:buClr>
          <a:schemeClr val="tx2"/>
        </a:buClr>
        <a:buSzPct val="90000"/>
        <a:buFont typeface="Wingdings" pitchFamily="2" charset="2"/>
        <a:buChar char="Ø"/>
        <a:defRPr sz="2000">
          <a:solidFill>
            <a:schemeClr val="tx1"/>
          </a:solidFill>
          <a:latin typeface="+mn-lt"/>
          <a:ea typeface="+mn-ea"/>
        </a:defRPr>
      </a:lvl4pPr>
      <a:lvl5pPr marL="20574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3.wmf"/><Relationship Id="rId5" Type="http://schemas.openxmlformats.org/officeDocument/2006/relationships/oleObject" Target="../embeddings/oleObject2.bin"/><Relationship Id="rId4" Type="http://schemas.openxmlformats.org/officeDocument/2006/relationships/image" Target="../media/image12.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14.wmf"/><Relationship Id="rId7" Type="http://schemas.openxmlformats.org/officeDocument/2006/relationships/image" Target="../media/image12.wmf"/><Relationship Id="rId12" Type="http://schemas.openxmlformats.org/officeDocument/2006/relationships/image" Target="../media/image18.png"/><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oleObject" Target="../embeddings/oleObject1.bin"/><Relationship Id="rId11" Type="http://schemas.openxmlformats.org/officeDocument/2006/relationships/image" Target="../media/image17.png"/><Relationship Id="rId5" Type="http://schemas.openxmlformats.org/officeDocument/2006/relationships/image" Target="../media/image15.wmf"/><Relationship Id="rId10" Type="http://schemas.openxmlformats.org/officeDocument/2006/relationships/image" Target="../media/image16.png"/><Relationship Id="rId4" Type="http://schemas.openxmlformats.org/officeDocument/2006/relationships/oleObject" Target="../embeddings/oleObject4.bin"/><Relationship Id="rId9" Type="http://schemas.openxmlformats.org/officeDocument/2006/relationships/image" Target="../media/image13.wmf"/></Relationships>
</file>

<file path=ppt/slides/_rels/slide42.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5.bin"/><Relationship Id="rId1" Type="http://schemas.openxmlformats.org/officeDocument/2006/relationships/slideLayout" Target="../slideLayouts/slideLayout7.xml"/><Relationship Id="rId5" Type="http://schemas.openxmlformats.org/officeDocument/2006/relationships/image" Target="../media/image13.wmf"/><Relationship Id="rId4" Type="http://schemas.openxmlformats.org/officeDocument/2006/relationships/oleObject" Target="../embeddings/oleObject2.bin"/></Relationships>
</file>

<file path=ppt/slides/_rels/slide43.x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13.wmf"/><Relationship Id="rId2" Type="http://schemas.openxmlformats.org/officeDocument/2006/relationships/oleObject" Target="../embeddings/oleObject6.bin"/><Relationship Id="rId1" Type="http://schemas.openxmlformats.org/officeDocument/2006/relationships/slideLayout" Target="../slideLayouts/slideLayout7.xml"/><Relationship Id="rId6" Type="http://schemas.openxmlformats.org/officeDocument/2006/relationships/oleObject" Target="../embeddings/oleObject2.bin"/><Relationship Id="rId5" Type="http://schemas.openxmlformats.org/officeDocument/2006/relationships/image" Target="../media/image20.wmf"/><Relationship Id="rId4" Type="http://schemas.openxmlformats.org/officeDocument/2006/relationships/oleObject" Target="../embeddings/oleObject7.bin"/></Relationships>
</file>

<file path=ppt/slides/_rels/slide44.x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13.wmf"/><Relationship Id="rId2" Type="http://schemas.openxmlformats.org/officeDocument/2006/relationships/oleObject" Target="../embeddings/oleObject8.bin"/><Relationship Id="rId1" Type="http://schemas.openxmlformats.org/officeDocument/2006/relationships/slideLayout" Target="../slideLayouts/slideLayout7.xml"/><Relationship Id="rId6" Type="http://schemas.openxmlformats.org/officeDocument/2006/relationships/oleObject" Target="../embeddings/oleObject2.bin"/><Relationship Id="rId5" Type="http://schemas.openxmlformats.org/officeDocument/2006/relationships/image" Target="../media/image22.wmf"/><Relationship Id="rId4" Type="http://schemas.openxmlformats.org/officeDocument/2006/relationships/oleObject" Target="../embeddings/oleObject9.bin"/></Relationships>
</file>

<file path=ppt/slides/_rels/slide4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3"/>
          <p:cNvSpPr>
            <a:spLocks noGrp="1" noRot="1" noChangeArrowheads="1"/>
          </p:cNvSpPr>
          <p:nvPr>
            <p:ph type="body" idx="1"/>
          </p:nvPr>
        </p:nvSpPr>
        <p:spPr>
          <a:xfrm>
            <a:off x="395288" y="260350"/>
            <a:ext cx="8497887" cy="5026038"/>
          </a:xfrm>
        </p:spPr>
        <p:txBody>
          <a:bodyPr/>
          <a:lstStyle/>
          <a:p>
            <a:pPr>
              <a:lnSpc>
                <a:spcPct val="200000"/>
              </a:lnSpc>
              <a:buFont typeface="Wingdings" pitchFamily="2" charset="2"/>
              <a:buNone/>
            </a:pPr>
            <a:r>
              <a:rPr lang="en-US" altLang="zh-CN" sz="4000" dirty="0">
                <a:latin typeface="黑体" pitchFamily="49" charset="-122"/>
                <a:ea typeface="黑体" pitchFamily="49" charset="-122"/>
              </a:rPr>
              <a:t>   </a:t>
            </a:r>
            <a:r>
              <a:rPr lang="zh-CN" altLang="en-US" dirty="0">
                <a:solidFill>
                  <a:srgbClr val="FF0000"/>
                </a:solidFill>
                <a:effectLst>
                  <a:outerShdw blurRad="38100" dist="38100" dir="2700000" algn="tl">
                    <a:srgbClr val="000000">
                      <a:alpha val="43137"/>
                    </a:srgbClr>
                  </a:outerShdw>
                </a:effectLst>
                <a:latin typeface="黑体" pitchFamily="49" charset="-122"/>
                <a:ea typeface="黑体" pitchFamily="49" charset="-122"/>
              </a:rPr>
              <a:t>第</a:t>
            </a:r>
            <a:r>
              <a:rPr lang="en-US" altLang="zh-CN" dirty="0">
                <a:solidFill>
                  <a:srgbClr val="FF0000"/>
                </a:solidFill>
                <a:effectLst>
                  <a:outerShdw blurRad="38100" dist="38100" dir="2700000" algn="tl">
                    <a:srgbClr val="000000">
                      <a:alpha val="43137"/>
                    </a:srgbClr>
                  </a:outerShdw>
                </a:effectLst>
                <a:latin typeface="黑体" pitchFamily="49" charset="-122"/>
                <a:ea typeface="黑体" pitchFamily="49" charset="-122"/>
              </a:rPr>
              <a:t>9</a:t>
            </a:r>
            <a:r>
              <a:rPr lang="zh-CN" altLang="en-US" dirty="0">
                <a:solidFill>
                  <a:srgbClr val="FF0000"/>
                </a:solidFill>
                <a:effectLst>
                  <a:outerShdw blurRad="38100" dist="38100" dir="2700000" algn="tl">
                    <a:srgbClr val="000000">
                      <a:alpha val="43137"/>
                    </a:srgbClr>
                  </a:outerShdw>
                </a:effectLst>
                <a:latin typeface="黑体" pitchFamily="49" charset="-122"/>
                <a:ea typeface="黑体" pitchFamily="49" charset="-122"/>
              </a:rPr>
              <a:t>章 机器学习</a:t>
            </a:r>
          </a:p>
          <a:p>
            <a:pPr>
              <a:lnSpc>
                <a:spcPct val="150000"/>
              </a:lnSpc>
              <a:spcBef>
                <a:spcPct val="50000"/>
              </a:spcBef>
              <a:buFont typeface="Wingdings" pitchFamily="2" charset="2"/>
              <a:buNone/>
            </a:pPr>
            <a:r>
              <a:rPr lang="zh-CN" altLang="en-US" sz="2800" dirty="0">
                <a:latin typeface="隶书" pitchFamily="49" charset="-122"/>
                <a:ea typeface="隶书" pitchFamily="49" charset="-122"/>
              </a:rPr>
              <a:t>           </a:t>
            </a:r>
            <a:r>
              <a:rPr lang="en-US" altLang="zh-CN" sz="2800" dirty="0">
                <a:solidFill>
                  <a:srgbClr val="FF0000"/>
                </a:solidFill>
                <a:latin typeface="隶书" pitchFamily="49" charset="-122"/>
                <a:ea typeface="隶书" pitchFamily="49" charset="-122"/>
                <a:hlinkClick r:id="rId2" action="ppaction://hlinksldjump"/>
              </a:rPr>
              <a:t>9.1 </a:t>
            </a:r>
            <a:r>
              <a:rPr lang="zh-CN" altLang="en-US" sz="2800" dirty="0">
                <a:solidFill>
                  <a:srgbClr val="FF0000"/>
                </a:solidFill>
                <a:latin typeface="隶书" pitchFamily="49" charset="-122"/>
                <a:ea typeface="隶书" pitchFamily="49" charset="-122"/>
                <a:hlinkClick r:id="rId2" action="ppaction://hlinksldjump"/>
              </a:rPr>
              <a:t>机器学习概述</a:t>
            </a:r>
            <a:endParaRPr lang="zh-CN" altLang="en-US" sz="2800" dirty="0">
              <a:solidFill>
                <a:srgbClr val="FF0000"/>
              </a:solidFill>
              <a:latin typeface="隶书" pitchFamily="49" charset="-122"/>
              <a:ea typeface="隶书" pitchFamily="49" charset="-122"/>
            </a:endParaRPr>
          </a:p>
          <a:p>
            <a:pPr>
              <a:lnSpc>
                <a:spcPct val="150000"/>
              </a:lnSpc>
              <a:buNone/>
            </a:pPr>
            <a:r>
              <a:rPr lang="zh-CN" altLang="en-US" sz="2800" dirty="0">
                <a:solidFill>
                  <a:srgbClr val="FF0000"/>
                </a:solidFill>
                <a:latin typeface="隶书" pitchFamily="49" charset="-122"/>
                <a:ea typeface="隶书" pitchFamily="49" charset="-122"/>
              </a:rPr>
              <a:t>           </a:t>
            </a:r>
            <a:r>
              <a:rPr lang="en-US" altLang="zh-CN" sz="2800" dirty="0">
                <a:solidFill>
                  <a:srgbClr val="FF0000"/>
                </a:solidFill>
                <a:latin typeface="隶书" pitchFamily="49" charset="-122"/>
                <a:ea typeface="隶书" pitchFamily="49" charset="-122"/>
                <a:hlinkClick r:id="rId3" action="ppaction://hlinksldjump"/>
              </a:rPr>
              <a:t>9.2 </a:t>
            </a:r>
            <a:r>
              <a:rPr lang="zh-CN" altLang="en-US" sz="2800" dirty="0">
                <a:solidFill>
                  <a:srgbClr val="FF0000"/>
                </a:solidFill>
                <a:latin typeface="隶书" pitchFamily="49" charset="-122"/>
                <a:ea typeface="隶书" pitchFamily="49" charset="-122"/>
                <a:hlinkClick r:id="rId3" action="ppaction://hlinksldjump"/>
              </a:rPr>
              <a:t>几种经典的（符号）学习方法</a:t>
            </a:r>
            <a:endParaRPr lang="zh-CN" altLang="en-US" sz="2800" dirty="0">
              <a:solidFill>
                <a:srgbClr val="FF0000"/>
              </a:solidFill>
              <a:latin typeface="隶书" pitchFamily="49" charset="-122"/>
              <a:ea typeface="隶书" pitchFamily="49" charset="-122"/>
            </a:endParaRPr>
          </a:p>
          <a:p>
            <a:pPr>
              <a:lnSpc>
                <a:spcPct val="150000"/>
              </a:lnSpc>
              <a:buFont typeface="Wingdings" pitchFamily="2" charset="2"/>
              <a:buNone/>
            </a:pPr>
            <a:r>
              <a:rPr lang="zh-CN" altLang="en-US" sz="2800" dirty="0">
                <a:solidFill>
                  <a:srgbClr val="FF0000"/>
                </a:solidFill>
                <a:latin typeface="隶书" pitchFamily="49" charset="-122"/>
                <a:ea typeface="隶书" pitchFamily="49" charset="-122"/>
              </a:rPr>
              <a:t>           </a:t>
            </a:r>
            <a:r>
              <a:rPr lang="en-US" altLang="zh-CN" sz="2800" dirty="0">
                <a:solidFill>
                  <a:srgbClr val="FF0000"/>
                </a:solidFill>
                <a:latin typeface="隶书" pitchFamily="49" charset="-122"/>
                <a:ea typeface="隶书" pitchFamily="49" charset="-122"/>
                <a:hlinkClick r:id="rId4" action="ppaction://hlinksldjump"/>
              </a:rPr>
              <a:t>9.3 </a:t>
            </a:r>
            <a:r>
              <a:rPr lang="zh-CN" altLang="en-US" sz="2800" dirty="0">
                <a:solidFill>
                  <a:srgbClr val="FF0000"/>
                </a:solidFill>
                <a:latin typeface="隶书" pitchFamily="49" charset="-122"/>
                <a:ea typeface="隶书" pitchFamily="49" charset="-122"/>
                <a:hlinkClick r:id="rId4" action="ppaction://hlinksldjump"/>
              </a:rPr>
              <a:t>决策树学习</a:t>
            </a:r>
            <a:endParaRPr lang="zh-CN" altLang="en-US" sz="2800" dirty="0">
              <a:solidFill>
                <a:srgbClr val="FF0000"/>
              </a:solidFill>
              <a:latin typeface="隶书" pitchFamily="49" charset="-122"/>
              <a:ea typeface="隶书" pitchFamily="49" charset="-122"/>
            </a:endParaRPr>
          </a:p>
          <a:p>
            <a:pPr>
              <a:lnSpc>
                <a:spcPct val="150000"/>
              </a:lnSpc>
              <a:buFont typeface="Wingdings" pitchFamily="2" charset="2"/>
              <a:buNone/>
            </a:pPr>
            <a:r>
              <a:rPr lang="zh-CN" altLang="en-US" sz="2800" dirty="0">
                <a:solidFill>
                  <a:srgbClr val="FF0000"/>
                </a:solidFill>
                <a:latin typeface="隶书" pitchFamily="49" charset="-122"/>
                <a:ea typeface="隶书" pitchFamily="49" charset="-122"/>
              </a:rPr>
              <a:t>           </a:t>
            </a:r>
            <a:endParaRPr lang="en-US" altLang="zh-CN" sz="2800" dirty="0">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5">
                                            <p:txEl>
                                              <p:pRg st="1" end="1"/>
                                            </p:txEl>
                                          </p:spTgt>
                                        </p:tgtEl>
                                        <p:attrNameLst>
                                          <p:attrName>style.visibility</p:attrName>
                                        </p:attrNameLst>
                                      </p:cBhvr>
                                      <p:to>
                                        <p:strVal val="visible"/>
                                      </p:to>
                                    </p:set>
                                    <p:animEffect transition="in" filter="blinds(horizontal)">
                                      <p:cBhvr>
                                        <p:cTn id="7" dur="500"/>
                                        <p:tgtEl>
                                          <p:spTgt spid="307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075">
                                            <p:txEl>
                                              <p:pRg st="2" end="2"/>
                                            </p:txEl>
                                          </p:spTgt>
                                        </p:tgtEl>
                                        <p:attrNameLst>
                                          <p:attrName>style.visibility</p:attrName>
                                        </p:attrNameLst>
                                      </p:cBhvr>
                                      <p:to>
                                        <p:strVal val="visible"/>
                                      </p:to>
                                    </p:set>
                                    <p:animEffect transition="in" filter="blinds(horizontal)">
                                      <p:cBhvr>
                                        <p:cTn id="10" dur="500"/>
                                        <p:tgtEl>
                                          <p:spTgt spid="3075">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075">
                                            <p:txEl>
                                              <p:pRg st="3" end="3"/>
                                            </p:txEl>
                                          </p:spTgt>
                                        </p:tgtEl>
                                        <p:attrNameLst>
                                          <p:attrName>style.visibility</p:attrName>
                                        </p:attrNameLst>
                                      </p:cBhvr>
                                      <p:to>
                                        <p:strVal val="visible"/>
                                      </p:to>
                                    </p:set>
                                    <p:animEffect transition="in" filter="blinds(horizontal)">
                                      <p:cBhvr>
                                        <p:cTn id="13" dur="500"/>
                                        <p:tgtEl>
                                          <p:spTgt spid="3075">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075">
                                            <p:txEl>
                                              <p:pRg st="4" end="4"/>
                                            </p:txEl>
                                          </p:spTgt>
                                        </p:tgtEl>
                                        <p:attrNameLst>
                                          <p:attrName>style.visibility</p:attrName>
                                        </p:attrNameLst>
                                      </p:cBhvr>
                                      <p:to>
                                        <p:strVal val="visible"/>
                                      </p:to>
                                    </p:set>
                                    <p:animEffect transition="in" filter="blinds(horizontal)">
                                      <p:cBhvr>
                                        <p:cTn id="16" dur="500"/>
                                        <p:tgtEl>
                                          <p:spTgt spid="30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3"/>
          <p:cNvSpPr>
            <a:spLocks noGrp="1" noRot="1" noChangeArrowheads="1"/>
          </p:cNvSpPr>
          <p:nvPr>
            <p:ph type="body" idx="1"/>
          </p:nvPr>
        </p:nvSpPr>
        <p:spPr>
          <a:xfrm>
            <a:off x="500034" y="224434"/>
            <a:ext cx="8072494" cy="6062086"/>
          </a:xfrm>
        </p:spPr>
        <p:txBody>
          <a:bodyPr/>
          <a:lstStyle/>
          <a:p>
            <a:pPr>
              <a:lnSpc>
                <a:spcPct val="150000"/>
              </a:lnSpc>
              <a:buFont typeface="Wingdings" pitchFamily="2" charset="2"/>
              <a:buNone/>
            </a:pPr>
            <a:r>
              <a:rPr lang="en-US" altLang="zh-CN" sz="2800" dirty="0">
                <a:latin typeface="黑体" pitchFamily="49" charset="-122"/>
                <a:ea typeface="黑体" pitchFamily="49" charset="-122"/>
              </a:rPr>
              <a:t>               </a:t>
            </a:r>
            <a:r>
              <a:rPr lang="en-US" altLang="zh-CN" sz="2800" dirty="0">
                <a:solidFill>
                  <a:srgbClr val="0070C0"/>
                </a:solidFill>
                <a:latin typeface="黑体" pitchFamily="49" charset="-122"/>
                <a:ea typeface="黑体" pitchFamily="49" charset="-122"/>
              </a:rPr>
              <a:t>9.1 </a:t>
            </a:r>
            <a:r>
              <a:rPr lang="zh-CN" altLang="en-US" sz="2800" dirty="0">
                <a:solidFill>
                  <a:srgbClr val="0070C0"/>
                </a:solidFill>
                <a:latin typeface="黑体" pitchFamily="49" charset="-122"/>
                <a:ea typeface="黑体" pitchFamily="49" charset="-122"/>
              </a:rPr>
              <a:t>机器学习概述</a:t>
            </a:r>
          </a:p>
          <a:p>
            <a:pPr>
              <a:lnSpc>
                <a:spcPct val="120000"/>
              </a:lnSpc>
              <a:spcBef>
                <a:spcPts val="0"/>
              </a:spcBef>
              <a:buFont typeface="Wingdings" pitchFamily="2" charset="2"/>
              <a:buNone/>
            </a:pPr>
            <a:r>
              <a:rPr lang="en-US" altLang="zh-CN" sz="2400" dirty="0">
                <a:solidFill>
                  <a:srgbClr val="0070C0"/>
                </a:solidFill>
                <a:latin typeface="黑体" pitchFamily="49" charset="-122"/>
                <a:ea typeface="黑体" pitchFamily="49" charset="-122"/>
              </a:rPr>
              <a:t>  9.1.1 </a:t>
            </a:r>
            <a:r>
              <a:rPr lang="zh-CN" altLang="en-US" sz="2400" dirty="0">
                <a:solidFill>
                  <a:srgbClr val="0070C0"/>
                </a:solidFill>
                <a:latin typeface="黑体" pitchFamily="49" charset="-122"/>
                <a:ea typeface="黑体" pitchFamily="49" charset="-122"/>
              </a:rPr>
              <a:t>机器学习的概念</a:t>
            </a:r>
          </a:p>
          <a:p>
            <a:pPr algn="just"/>
            <a:r>
              <a:rPr lang="zh-CN" altLang="en-US" sz="2300" dirty="0">
                <a:solidFill>
                  <a:srgbClr val="0070C0"/>
                </a:solidFill>
                <a:latin typeface="方正姚体" pitchFamily="2" charset="-122"/>
                <a:ea typeface="方正姚体" pitchFamily="2" charset="-122"/>
              </a:rPr>
              <a:t>心理学中对学习的解释是</a:t>
            </a:r>
            <a:r>
              <a:rPr lang="zh-CN" altLang="en-US" sz="2300" dirty="0">
                <a:solidFill>
                  <a:srgbClr val="0070C0"/>
                </a:solidFill>
                <a:latin typeface="华文新魏" pitchFamily="2" charset="-122"/>
                <a:ea typeface="华文新魏" pitchFamily="2" charset="-122"/>
              </a:rPr>
              <a:t>：</a:t>
            </a:r>
            <a:r>
              <a:rPr lang="zh-CN" altLang="en-US" sz="2300" dirty="0">
                <a:solidFill>
                  <a:srgbClr val="0070C0"/>
                </a:solidFill>
                <a:latin typeface="楷体" pitchFamily="49" charset="-122"/>
                <a:ea typeface="楷体" pitchFamily="49" charset="-122"/>
              </a:rPr>
              <a:t>学习是指（人或动物）依靠经验的获得而使行为持久变化的过程。</a:t>
            </a:r>
          </a:p>
          <a:p>
            <a:pPr algn="just"/>
            <a:r>
              <a:rPr lang="en-US" altLang="zh-CN" sz="2300" dirty="0">
                <a:solidFill>
                  <a:srgbClr val="0070C0"/>
                </a:solidFill>
                <a:latin typeface="方正姚体" pitchFamily="2" charset="-122"/>
                <a:ea typeface="方正姚体" pitchFamily="2" charset="-122"/>
              </a:rPr>
              <a:t>Simon</a:t>
            </a:r>
            <a:r>
              <a:rPr lang="zh-CN" altLang="en-US" sz="2300" dirty="0">
                <a:solidFill>
                  <a:srgbClr val="0070C0"/>
                </a:solidFill>
                <a:latin typeface="方正姚体" pitchFamily="2" charset="-122"/>
                <a:ea typeface="方正姚体" pitchFamily="2" charset="-122"/>
              </a:rPr>
              <a:t>认为：</a:t>
            </a:r>
            <a:r>
              <a:rPr lang="zh-CN" altLang="en-US" sz="2300" dirty="0">
                <a:solidFill>
                  <a:srgbClr val="0070C0"/>
                </a:solidFill>
                <a:latin typeface="楷体" pitchFamily="49" charset="-122"/>
                <a:ea typeface="楷体" pitchFamily="49" charset="-122"/>
              </a:rPr>
              <a:t>如果一个系统能够通过执行某种过程而改进它的性能，这就是学习。</a:t>
            </a:r>
          </a:p>
          <a:p>
            <a:pPr algn="just"/>
            <a:r>
              <a:rPr lang="en-US" altLang="zh-CN" sz="2300" dirty="0" err="1">
                <a:solidFill>
                  <a:srgbClr val="0070C0"/>
                </a:solidFill>
                <a:latin typeface="方正姚体" pitchFamily="2" charset="-122"/>
                <a:ea typeface="方正姚体" pitchFamily="2" charset="-122"/>
              </a:rPr>
              <a:t>Minsky</a:t>
            </a:r>
            <a:r>
              <a:rPr lang="en-US" altLang="zh-CN" sz="2300" dirty="0">
                <a:solidFill>
                  <a:srgbClr val="0070C0"/>
                </a:solidFill>
                <a:latin typeface="方正姚体" pitchFamily="2" charset="-122"/>
                <a:ea typeface="方正姚体" pitchFamily="2" charset="-122"/>
              </a:rPr>
              <a:t> </a:t>
            </a:r>
            <a:r>
              <a:rPr lang="zh-CN" altLang="en-US" sz="2300" dirty="0">
                <a:solidFill>
                  <a:srgbClr val="0070C0"/>
                </a:solidFill>
                <a:latin typeface="方正姚体" pitchFamily="2" charset="-122"/>
                <a:ea typeface="方正姚体" pitchFamily="2" charset="-122"/>
              </a:rPr>
              <a:t>认为：</a:t>
            </a:r>
            <a:r>
              <a:rPr lang="zh-CN" altLang="en-US" sz="2300" dirty="0">
                <a:solidFill>
                  <a:srgbClr val="0070C0"/>
                </a:solidFill>
                <a:latin typeface="楷体" pitchFamily="49" charset="-122"/>
                <a:ea typeface="楷体" pitchFamily="49" charset="-122"/>
              </a:rPr>
              <a:t>学习是在人们头脑中（心理内部）进行有用的变化。</a:t>
            </a:r>
          </a:p>
          <a:p>
            <a:pPr algn="just"/>
            <a:r>
              <a:rPr lang="en-US" altLang="zh-CN" sz="2300" dirty="0">
                <a:solidFill>
                  <a:srgbClr val="0070C0"/>
                </a:solidFill>
                <a:latin typeface="方正姚体" pitchFamily="2" charset="-122"/>
                <a:ea typeface="方正姚体" pitchFamily="2" charset="-122"/>
              </a:rPr>
              <a:t>Tom M. Mitchell</a:t>
            </a:r>
            <a:r>
              <a:rPr lang="zh-CN" altLang="en-US" sz="2300" dirty="0">
                <a:solidFill>
                  <a:srgbClr val="0070C0"/>
                </a:solidFill>
                <a:latin typeface="方正姚体" pitchFamily="2" charset="-122"/>
                <a:ea typeface="方正姚体" pitchFamily="2" charset="-122"/>
              </a:rPr>
              <a:t>在</a:t>
            </a:r>
            <a:r>
              <a:rPr lang="en-US" altLang="zh-CN" sz="2300" dirty="0">
                <a:solidFill>
                  <a:srgbClr val="0070C0"/>
                </a:solidFill>
                <a:latin typeface="方正姚体" pitchFamily="2" charset="-122"/>
                <a:ea typeface="方正姚体" pitchFamily="2" charset="-122"/>
              </a:rPr>
              <a:t>《</a:t>
            </a:r>
            <a:r>
              <a:rPr lang="zh-CN" altLang="en-US" sz="2300" dirty="0">
                <a:solidFill>
                  <a:srgbClr val="0070C0"/>
                </a:solidFill>
                <a:latin typeface="方正姚体" pitchFamily="2" charset="-122"/>
                <a:ea typeface="方正姚体" pitchFamily="2" charset="-122"/>
              </a:rPr>
              <a:t>机器学习</a:t>
            </a:r>
            <a:r>
              <a:rPr lang="en-US" altLang="zh-CN" sz="2300" dirty="0">
                <a:solidFill>
                  <a:srgbClr val="0070C0"/>
                </a:solidFill>
                <a:latin typeface="方正姚体" pitchFamily="2" charset="-122"/>
                <a:ea typeface="方正姚体" pitchFamily="2" charset="-122"/>
              </a:rPr>
              <a:t>》</a:t>
            </a:r>
            <a:r>
              <a:rPr lang="zh-CN" altLang="en-US" sz="2300" dirty="0">
                <a:solidFill>
                  <a:srgbClr val="0070C0"/>
                </a:solidFill>
                <a:latin typeface="方正姚体" pitchFamily="2" charset="-122"/>
                <a:ea typeface="方正姚体" pitchFamily="2" charset="-122"/>
              </a:rPr>
              <a:t>一书中对学习的定义是：</a:t>
            </a:r>
            <a:r>
              <a:rPr lang="zh-CN" altLang="en-US" sz="2300" dirty="0">
                <a:solidFill>
                  <a:srgbClr val="0070C0"/>
                </a:solidFill>
                <a:latin typeface="楷体" pitchFamily="49" charset="-122"/>
                <a:ea typeface="楷体" pitchFamily="49" charset="-122"/>
              </a:rPr>
              <a:t>对于某类任务</a:t>
            </a:r>
            <a:r>
              <a:rPr lang="en-US" altLang="zh-CN" sz="2300" dirty="0">
                <a:solidFill>
                  <a:srgbClr val="0070C0"/>
                </a:solidFill>
                <a:latin typeface="楷体" pitchFamily="49" charset="-122"/>
                <a:ea typeface="楷体" pitchFamily="49" charset="-122"/>
              </a:rPr>
              <a:t>T</a:t>
            </a:r>
            <a:r>
              <a:rPr lang="zh-CN" altLang="en-US" sz="2300" dirty="0">
                <a:solidFill>
                  <a:srgbClr val="0070C0"/>
                </a:solidFill>
                <a:latin typeface="楷体" pitchFamily="49" charset="-122"/>
                <a:ea typeface="楷体" pitchFamily="49" charset="-122"/>
              </a:rPr>
              <a:t>和性能度</a:t>
            </a:r>
            <a:r>
              <a:rPr lang="en-US" altLang="zh-CN" sz="2300" dirty="0">
                <a:solidFill>
                  <a:srgbClr val="0070C0"/>
                </a:solidFill>
                <a:latin typeface="楷体" pitchFamily="49" charset="-122"/>
                <a:ea typeface="楷体" pitchFamily="49" charset="-122"/>
              </a:rPr>
              <a:t>P</a:t>
            </a:r>
            <a:r>
              <a:rPr lang="zh-CN" altLang="en-US" sz="2300" dirty="0">
                <a:solidFill>
                  <a:srgbClr val="0070C0"/>
                </a:solidFill>
                <a:latin typeface="楷体" pitchFamily="49" charset="-122"/>
                <a:ea typeface="楷体" pitchFamily="49" charset="-122"/>
              </a:rPr>
              <a:t>，如果一个计算机程序在</a:t>
            </a:r>
            <a:r>
              <a:rPr lang="en-US" altLang="zh-CN" sz="2300" dirty="0">
                <a:solidFill>
                  <a:srgbClr val="0070C0"/>
                </a:solidFill>
                <a:latin typeface="楷体" pitchFamily="49" charset="-122"/>
                <a:ea typeface="楷体" pitchFamily="49" charset="-122"/>
              </a:rPr>
              <a:t>T</a:t>
            </a:r>
            <a:r>
              <a:rPr lang="zh-CN" altLang="en-US" sz="2300" dirty="0">
                <a:solidFill>
                  <a:srgbClr val="0070C0"/>
                </a:solidFill>
                <a:latin typeface="楷体" pitchFamily="49" charset="-122"/>
                <a:ea typeface="楷体" pitchFamily="49" charset="-122"/>
              </a:rPr>
              <a:t>上以</a:t>
            </a:r>
            <a:r>
              <a:rPr lang="en-US" altLang="zh-CN" sz="2300" dirty="0">
                <a:solidFill>
                  <a:srgbClr val="0070C0"/>
                </a:solidFill>
                <a:latin typeface="楷体" pitchFamily="49" charset="-122"/>
                <a:ea typeface="楷体" pitchFamily="49" charset="-122"/>
              </a:rPr>
              <a:t>P</a:t>
            </a:r>
            <a:r>
              <a:rPr lang="zh-CN" altLang="en-US" sz="2300" dirty="0">
                <a:solidFill>
                  <a:srgbClr val="0070C0"/>
                </a:solidFill>
                <a:latin typeface="楷体" pitchFamily="49" charset="-122"/>
                <a:ea typeface="楷体" pitchFamily="49" charset="-122"/>
              </a:rPr>
              <a:t>衡量的性能随着经验</a:t>
            </a:r>
            <a:r>
              <a:rPr lang="en-US" altLang="zh-CN" sz="2300" dirty="0">
                <a:solidFill>
                  <a:srgbClr val="0070C0"/>
                </a:solidFill>
                <a:latin typeface="楷体" pitchFamily="49" charset="-122"/>
                <a:ea typeface="楷体" pitchFamily="49" charset="-122"/>
              </a:rPr>
              <a:t>E</a:t>
            </a:r>
            <a:r>
              <a:rPr lang="zh-CN" altLang="en-US" sz="2300" dirty="0">
                <a:solidFill>
                  <a:srgbClr val="0070C0"/>
                </a:solidFill>
                <a:latin typeface="楷体" pitchFamily="49" charset="-122"/>
                <a:ea typeface="楷体" pitchFamily="49" charset="-122"/>
              </a:rPr>
              <a:t>而自我完善，那么，我们称这个计算机程序从经验</a:t>
            </a:r>
            <a:r>
              <a:rPr lang="en-US" altLang="zh-CN" sz="2300" dirty="0">
                <a:solidFill>
                  <a:srgbClr val="0070C0"/>
                </a:solidFill>
                <a:latin typeface="楷体" pitchFamily="49" charset="-122"/>
                <a:ea typeface="楷体" pitchFamily="49" charset="-122"/>
              </a:rPr>
              <a:t>E</a:t>
            </a:r>
            <a:r>
              <a:rPr lang="zh-CN" altLang="en-US" sz="2300" dirty="0">
                <a:solidFill>
                  <a:srgbClr val="0070C0"/>
                </a:solidFill>
                <a:latin typeface="楷体" pitchFamily="49" charset="-122"/>
                <a:ea typeface="楷体" pitchFamily="49" charset="-122"/>
              </a:rPr>
              <a:t>中学习。</a:t>
            </a:r>
          </a:p>
          <a:p>
            <a:pPr algn="just"/>
            <a:r>
              <a:rPr lang="zh-CN" altLang="en-US" sz="2300" dirty="0">
                <a:solidFill>
                  <a:srgbClr val="0070C0"/>
                </a:solidFill>
                <a:latin typeface="方正姚体" pitchFamily="2" charset="-122"/>
                <a:ea typeface="方正姚体" pitchFamily="2" charset="-122"/>
              </a:rPr>
              <a:t>当前关于机器学习的许多文献中也大都认为：</a:t>
            </a:r>
            <a:r>
              <a:rPr lang="zh-CN" altLang="en-US" sz="2300" dirty="0">
                <a:solidFill>
                  <a:srgbClr val="0070C0"/>
                </a:solidFill>
                <a:latin typeface="楷体" pitchFamily="49" charset="-122"/>
                <a:ea typeface="楷体" pitchFamily="49" charset="-122"/>
              </a:rPr>
              <a:t>学习是系统积累经验以改善其自身性能的过程。</a:t>
            </a:r>
          </a:p>
          <a:p>
            <a:pPr>
              <a:lnSpc>
                <a:spcPct val="90000"/>
              </a:lnSpc>
              <a:buFont typeface="Wingdings" pitchFamily="2" charset="2"/>
              <a:buNone/>
            </a:pP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0899">
                                            <p:txEl>
                                              <p:pRg st="1" end="1"/>
                                            </p:txEl>
                                          </p:spTgt>
                                        </p:tgtEl>
                                        <p:attrNameLst>
                                          <p:attrName>style.visibility</p:attrName>
                                        </p:attrNameLst>
                                      </p:cBhvr>
                                      <p:to>
                                        <p:strVal val="visible"/>
                                      </p:to>
                                    </p:set>
                                    <p:animEffect transition="in" filter="blinds(horizontal)">
                                      <p:cBhvr>
                                        <p:cTn id="7" dur="500"/>
                                        <p:tgtEl>
                                          <p:spTgt spid="8089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0899">
                                            <p:txEl>
                                              <p:pRg st="2" end="2"/>
                                            </p:txEl>
                                          </p:spTgt>
                                        </p:tgtEl>
                                        <p:attrNameLst>
                                          <p:attrName>style.visibility</p:attrName>
                                        </p:attrNameLst>
                                      </p:cBhvr>
                                      <p:to>
                                        <p:strVal val="visible"/>
                                      </p:to>
                                    </p:set>
                                    <p:animEffect transition="in" filter="blinds(horizontal)">
                                      <p:cBhvr>
                                        <p:cTn id="10" dur="500"/>
                                        <p:tgtEl>
                                          <p:spTgt spid="80899">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80899">
                                            <p:txEl>
                                              <p:pRg st="3" end="3"/>
                                            </p:txEl>
                                          </p:spTgt>
                                        </p:tgtEl>
                                        <p:attrNameLst>
                                          <p:attrName>style.visibility</p:attrName>
                                        </p:attrNameLst>
                                      </p:cBhvr>
                                      <p:to>
                                        <p:strVal val="visible"/>
                                      </p:to>
                                    </p:set>
                                    <p:animEffect transition="in" filter="blinds(horizontal)">
                                      <p:cBhvr>
                                        <p:cTn id="13" dur="500"/>
                                        <p:tgtEl>
                                          <p:spTgt spid="80899">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80899">
                                            <p:txEl>
                                              <p:pRg st="4" end="4"/>
                                            </p:txEl>
                                          </p:spTgt>
                                        </p:tgtEl>
                                        <p:attrNameLst>
                                          <p:attrName>style.visibility</p:attrName>
                                        </p:attrNameLst>
                                      </p:cBhvr>
                                      <p:to>
                                        <p:strVal val="visible"/>
                                      </p:to>
                                    </p:set>
                                    <p:animEffect transition="in" filter="blinds(horizontal)">
                                      <p:cBhvr>
                                        <p:cTn id="16" dur="500"/>
                                        <p:tgtEl>
                                          <p:spTgt spid="80899">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80899">
                                            <p:txEl>
                                              <p:pRg st="5" end="5"/>
                                            </p:txEl>
                                          </p:spTgt>
                                        </p:tgtEl>
                                        <p:attrNameLst>
                                          <p:attrName>style.visibility</p:attrName>
                                        </p:attrNameLst>
                                      </p:cBhvr>
                                      <p:to>
                                        <p:strVal val="visible"/>
                                      </p:to>
                                    </p:set>
                                    <p:animEffect transition="in" filter="blinds(horizontal)">
                                      <p:cBhvr>
                                        <p:cTn id="19" dur="500"/>
                                        <p:tgtEl>
                                          <p:spTgt spid="80899">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80899">
                                            <p:txEl>
                                              <p:pRg st="6" end="6"/>
                                            </p:txEl>
                                          </p:spTgt>
                                        </p:tgtEl>
                                        <p:attrNameLst>
                                          <p:attrName>style.visibility</p:attrName>
                                        </p:attrNameLst>
                                      </p:cBhvr>
                                      <p:to>
                                        <p:strVal val="visible"/>
                                      </p:to>
                                    </p:set>
                                    <p:animEffect transition="in" filter="blinds(horizontal)">
                                      <p:cBhvr>
                                        <p:cTn id="22" dur="500"/>
                                        <p:tgtEl>
                                          <p:spTgt spid="808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1738" y="1"/>
            <a:ext cx="8137922" cy="1028699"/>
          </a:xfrm>
        </p:spPr>
        <p:txBody>
          <a:bodyPr/>
          <a:lstStyle/>
          <a:p>
            <a:r>
              <a:rPr lang="zh-CN" altLang="en-US" dirty="0"/>
              <a:t>什么是学习</a:t>
            </a:r>
            <a:endParaRPr lang="zh-CN" altLang="en-US"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4" name="灯片编号占位符 3"/>
          <p:cNvSpPr>
            <a:spLocks noGrp="1"/>
          </p:cNvSpPr>
          <p:nvPr>
            <p:ph type="sldNum" sz="quarter" idx="12"/>
          </p:nvPr>
        </p:nvSpPr>
        <p:spPr>
          <a:xfrm>
            <a:off x="6457949" y="6240464"/>
            <a:ext cx="2182416" cy="206381"/>
          </a:xfrm>
        </p:spPr>
        <p:txBody>
          <a:bodyPr/>
          <a:lstStyle/>
          <a:p>
            <a:fld id="{5DD3DB80-B894-403A-B48E-6FDC1A72010E}" type="slidenum">
              <a:rPr lang="zh-CN" altLang="en-US" smtClean="0"/>
              <a:t>3</a:t>
            </a:fld>
            <a:endParaRPr lang="zh-CN" altLang="en-US" dirty="0"/>
          </a:p>
        </p:txBody>
      </p:sp>
      <p:sp>
        <p:nvSpPr>
          <p:cNvPr id="12" name="文本占位符 3"/>
          <p:cNvSpPr txBox="1"/>
          <p:nvPr/>
        </p:nvSpPr>
        <p:spPr>
          <a:xfrm>
            <a:off x="502445" y="1336091"/>
            <a:ext cx="919956" cy="414902"/>
          </a:xfrm>
          <a:prstGeom prst="roundRect">
            <a:avLst>
              <a:gd name="adj" fmla="val 50000"/>
            </a:avLst>
          </a:prstGeom>
          <a:solidFill>
            <a:schemeClr val="accent1"/>
          </a:solidFill>
          <a:ln>
            <a:solidFill>
              <a:srgbClr val="80C0F6"/>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000" b="1"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zh-CN" altLang="en-US"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学习 </a:t>
            </a:r>
          </a:p>
        </p:txBody>
      </p:sp>
      <p:sp>
        <p:nvSpPr>
          <p:cNvPr id="13" name="内容占位符 2"/>
          <p:cNvSpPr txBox="1"/>
          <p:nvPr/>
        </p:nvSpPr>
        <p:spPr>
          <a:xfrm>
            <a:off x="986443" y="1980333"/>
            <a:ext cx="3814157" cy="4742200"/>
          </a:xfrm>
          <a:prstGeom prst="rect">
            <a:avLst/>
          </a:prstGeom>
        </p:spPr>
        <p:txBody>
          <a:bodyPr vert="horz" lIns="91440" tIns="45720" rIns="91440" bIns="45720" rtlCol="0">
            <a:normAutofit/>
          </a:bodyPr>
          <a:lstStyle>
            <a:lvl1pPr marL="285750" indent="-285750" algn="l" defTabSz="914400" rtl="0" eaLnBrk="1" latinLnBrk="0" hangingPunct="1">
              <a:lnSpc>
                <a:spcPct val="100000"/>
              </a:lnSpc>
              <a:spcBef>
                <a:spcPts val="1000"/>
              </a:spcBef>
              <a:buClr>
                <a:schemeClr val="accent1"/>
              </a:buClr>
              <a:buSzPct val="88000"/>
              <a:buFont typeface="Wingdings" panose="05000000000000000000" pitchFamily="2" charset="2"/>
              <a:buChar char="p"/>
              <a:defRPr sz="20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500"/>
              </a:spcBef>
              <a:buClr>
                <a:schemeClr val="accent1"/>
              </a:buClr>
              <a:buSzPct val="100000"/>
              <a:buFont typeface="Arial" panose="020B0604020202020204" pitchFamily="34" charset="0"/>
              <a:buChar char="•"/>
              <a:defRPr sz="1800" b="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500"/>
              </a:spcBef>
              <a:buClr>
                <a:schemeClr val="accent1"/>
              </a:buClr>
              <a:buSzPct val="100000"/>
              <a:buFont typeface="Arial" panose="020B0604020202020204" pitchFamily="34" charset="0"/>
              <a:buChar char="•"/>
              <a:defRPr sz="1600" b="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“学习是系统通过经验提升性能的过程。”</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0" indent="0">
              <a:buNone/>
            </a:pP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0" indent="0" algn="r">
              <a:lnSpc>
                <a:spcPct val="150000"/>
              </a:lnSpc>
              <a:buNone/>
            </a:pPr>
            <a:r>
              <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 Herbert Simon</a:t>
            </a:r>
          </a:p>
          <a:p>
            <a:pPr marL="0" indent="0" algn="r">
              <a:buNone/>
            </a:pPr>
            <a:r>
              <a:rPr lang="zh-CN" alt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卡内基</a:t>
            </a:r>
            <a:r>
              <a:rPr lang="en-US" altLang="zh-CN"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r>
              <a:rPr lang="zh-CN" alt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梅隆大学</a:t>
            </a:r>
            <a:endParaRPr lang="en-US" altLang="zh-CN"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0" indent="0" algn="r">
              <a:buNone/>
            </a:pPr>
            <a:r>
              <a:rPr lang="zh-CN" alt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图灵奖</a:t>
            </a:r>
            <a:r>
              <a:rPr lang="en-US" altLang="zh-CN"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(1975)</a:t>
            </a:r>
          </a:p>
          <a:p>
            <a:pPr marL="0" indent="0" algn="r">
              <a:buNone/>
            </a:pPr>
            <a:r>
              <a:rPr lang="zh-CN" alt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人工智能，人类认知心理学</a:t>
            </a:r>
            <a:endParaRPr lang="en-US" altLang="zh-CN"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0" indent="0" algn="r">
              <a:buNone/>
            </a:pPr>
            <a:r>
              <a:rPr lang="zh-CN" alt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诺贝尔经济学奖</a:t>
            </a:r>
            <a:r>
              <a:rPr lang="en-US" altLang="zh-CN"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(1978)</a:t>
            </a:r>
          </a:p>
          <a:p>
            <a:pPr marL="0" indent="0" algn="r">
              <a:buNone/>
            </a:pPr>
            <a:r>
              <a:rPr lang="zh-CN" alt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经济组织内的决策过程</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pic>
        <p:nvPicPr>
          <p:cNvPr id="10" name="Picture 2" descr="Herbert simon red complet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764" y="1225752"/>
            <a:ext cx="3221534" cy="48176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1738" y="1"/>
            <a:ext cx="8137922" cy="1028699"/>
          </a:xfrm>
        </p:spPr>
        <p:txBody>
          <a:bodyPr/>
          <a:lstStyle/>
          <a:p>
            <a:r>
              <a:rPr lang="zh-CN" altLang="en-US" dirty="0"/>
              <a:t>什么是机器学习</a:t>
            </a:r>
            <a:endParaRPr lang="zh-CN" altLang="en-US"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4" name="灯片编号占位符 3"/>
          <p:cNvSpPr>
            <a:spLocks noGrp="1"/>
          </p:cNvSpPr>
          <p:nvPr>
            <p:ph type="sldNum" sz="quarter" idx="12"/>
          </p:nvPr>
        </p:nvSpPr>
        <p:spPr>
          <a:xfrm>
            <a:off x="6457949" y="6240464"/>
            <a:ext cx="2182416" cy="206381"/>
          </a:xfrm>
        </p:spPr>
        <p:txBody>
          <a:bodyPr/>
          <a:lstStyle/>
          <a:p>
            <a:fld id="{5DD3DB80-B894-403A-B48E-6FDC1A72010E}" type="slidenum">
              <a:rPr lang="zh-CN" altLang="en-US" smtClean="0"/>
              <a:t>4</a:t>
            </a:fld>
            <a:endParaRPr lang="zh-CN" altLang="en-US" dirty="0"/>
          </a:p>
        </p:txBody>
      </p:sp>
      <p:sp>
        <p:nvSpPr>
          <p:cNvPr id="12" name="文本占位符 3"/>
          <p:cNvSpPr txBox="1"/>
          <p:nvPr/>
        </p:nvSpPr>
        <p:spPr>
          <a:xfrm>
            <a:off x="502444" y="1336091"/>
            <a:ext cx="5307806" cy="414902"/>
          </a:xfrm>
          <a:prstGeom prst="roundRect">
            <a:avLst>
              <a:gd name="adj" fmla="val 50000"/>
            </a:avLst>
          </a:prstGeom>
          <a:solidFill>
            <a:schemeClr val="accent1"/>
          </a:solidFill>
          <a:ln>
            <a:solidFill>
              <a:srgbClr val="80C0F6"/>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000" b="1"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zh-CN" altLang="en-US" dirty="0">
                <a:solidFill>
                  <a:schemeClr val="tx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由</a:t>
            </a:r>
            <a:r>
              <a:rPr lang="en-US" altLang="zh-CN" dirty="0">
                <a:solidFill>
                  <a:schemeClr val="tx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Tom Mitchell </a:t>
            </a:r>
            <a:r>
              <a:rPr lang="zh-CN" altLang="en-US" dirty="0">
                <a:solidFill>
                  <a:schemeClr val="tx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给出的更加数学化的定义</a:t>
            </a:r>
            <a:r>
              <a:rPr lang="en-US" altLang="zh-CN" dirty="0">
                <a:solidFill>
                  <a:schemeClr val="tx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 </a:t>
            </a:r>
            <a:r>
              <a:rPr lang="zh-CN" altLang="en-US" dirty="0">
                <a:solidFill>
                  <a:schemeClr val="tx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 </a:t>
            </a:r>
          </a:p>
        </p:txBody>
      </p:sp>
      <p:sp>
        <p:nvSpPr>
          <p:cNvPr id="13" name="内容占位符 2"/>
          <p:cNvSpPr txBox="1"/>
          <p:nvPr/>
        </p:nvSpPr>
        <p:spPr>
          <a:xfrm>
            <a:off x="502444" y="1922917"/>
            <a:ext cx="7981157" cy="3683867"/>
          </a:xfrm>
          <a:prstGeom prst="rect">
            <a:avLst/>
          </a:prstGeom>
        </p:spPr>
        <p:txBody>
          <a:bodyPr vert="horz" lIns="91440" tIns="45720" rIns="91440" bIns="45720" rtlCol="0">
            <a:normAutofit/>
          </a:bodyPr>
          <a:lstStyle>
            <a:lvl1pPr marL="285750" indent="-285750" algn="l" defTabSz="914400" rtl="0" eaLnBrk="1" latinLnBrk="0" hangingPunct="1">
              <a:lnSpc>
                <a:spcPct val="100000"/>
              </a:lnSpc>
              <a:spcBef>
                <a:spcPts val="1000"/>
              </a:spcBef>
              <a:buClr>
                <a:schemeClr val="accent1"/>
              </a:buClr>
              <a:buSzPct val="88000"/>
              <a:buFont typeface="Wingdings" panose="05000000000000000000" pitchFamily="2" charset="2"/>
              <a:buChar char="p"/>
              <a:defRPr sz="20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500"/>
              </a:spcBef>
              <a:buClr>
                <a:schemeClr val="accent1"/>
              </a:buClr>
              <a:buSzPct val="100000"/>
              <a:buFont typeface="Arial" panose="020B0604020202020204" pitchFamily="34" charset="0"/>
              <a:buChar char="•"/>
              <a:defRPr sz="1800" b="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500"/>
              </a:spcBef>
              <a:buClr>
                <a:schemeClr val="accent1"/>
              </a:buClr>
              <a:buSzPct val="100000"/>
              <a:buFont typeface="Arial" panose="020B0604020202020204" pitchFamily="34" charset="0"/>
              <a:buChar char="•"/>
              <a:defRPr sz="1600" b="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机器学习是一门</a:t>
            </a:r>
            <a:r>
              <a:rPr lang="zh-CN" altLang="en-US" dirty="0"/>
              <a:t>研究学习算法的学科，这些算法能够：</a:t>
            </a:r>
            <a:endParaRPr lang="en-US" altLang="zh-CN" dirty="0"/>
          </a:p>
          <a:p>
            <a:pPr lvl="1">
              <a:lnSpc>
                <a:spcPct val="150000"/>
              </a:lnSpc>
            </a:pP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在某些任务 </a:t>
            </a:r>
            <a:r>
              <a:rPr lang="en-US" altLang="zh-CN" i="1"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T </a:t>
            </a: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上</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lvl="1">
              <a:lnSpc>
                <a:spcPct val="150000"/>
              </a:lnSpc>
            </a:pP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通过经验 </a:t>
            </a:r>
            <a:r>
              <a:rPr lang="en-US" altLang="zh-CN" i="1"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E</a:t>
            </a:r>
          </a:p>
          <a:p>
            <a:pPr lvl="1">
              <a:lnSpc>
                <a:spcPct val="150000"/>
              </a:lnSpc>
            </a:pP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提升性能 </a:t>
            </a:r>
            <a:r>
              <a:rPr lang="en-US" altLang="zh-CN" i="1"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P</a:t>
            </a:r>
          </a:p>
          <a:p>
            <a:pPr lvl="1">
              <a:lnSpc>
                <a:spcPct val="150000"/>
              </a:lnSpc>
            </a:pP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非显式编程</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endParaRPr lang="en-US" altLang="zh-CN" dirty="0">
              <a:solidFill>
                <a:schemeClr val="accent2"/>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a:lnSpc>
                <a:spcPct val="150000"/>
              </a:lnSpc>
            </a:pP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一个学习任务可以由三元组 </a:t>
            </a:r>
            <a:r>
              <a:rPr lang="en-US" altLang="zh-CN" i="1"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&lt;T,P,E&gt; </a:t>
            </a: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明确定义</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a:lnSpc>
                <a:spcPct val="150000"/>
              </a:lnSpc>
            </a:pPr>
            <a:endParaRPr lang="en-US" altLang="zh-CN" dirty="0">
              <a:solidFill>
                <a:schemeClr val="accent2"/>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0" indent="0">
              <a:lnSpc>
                <a:spcPct val="150000"/>
              </a:lnSpc>
              <a:buNone/>
            </a:pPr>
            <a:endParaRPr lang="en-US" altLang="zh-CN" dirty="0">
              <a:solidFill>
                <a:schemeClr val="accent2"/>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5" name="AutoShape 2" descr="https://cdn.nlark.com/yuque/__latex/b9ece18c950afbfa6b0fdbfa4ff731d3.svg"/>
          <p:cNvSpPr>
            <a:spLocks noChangeAspect="1" noChangeArrowheads="1"/>
          </p:cNvSpPr>
          <p:nvPr/>
        </p:nvSpPr>
        <p:spPr bwMode="auto">
          <a:xfrm>
            <a:off x="38798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1738" y="1"/>
            <a:ext cx="8137922" cy="1028699"/>
          </a:xfrm>
        </p:spPr>
        <p:txBody>
          <a:bodyPr/>
          <a:lstStyle/>
          <a:p>
            <a:r>
              <a:rPr lang="zh-CN" altLang="en-US"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编程 </a:t>
            </a:r>
            <a:r>
              <a:rPr lang="en-US" altLang="zh-CN"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vs. </a:t>
            </a:r>
            <a:r>
              <a:rPr lang="zh-CN" altLang="en-US" dirty="0"/>
              <a:t>机器学习</a:t>
            </a:r>
            <a:endParaRPr lang="zh-CN" altLang="en-US"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13" name="内容占位符 2"/>
          <p:cNvSpPr txBox="1"/>
          <p:nvPr/>
        </p:nvSpPr>
        <p:spPr>
          <a:xfrm>
            <a:off x="122671" y="1587066"/>
            <a:ext cx="3205956" cy="512667"/>
          </a:xfrm>
          <a:prstGeom prst="rect">
            <a:avLst/>
          </a:prstGeom>
        </p:spPr>
        <p:txBody>
          <a:bodyPr vert="horz" lIns="91440" tIns="45720" rIns="91440" bIns="45720" rtlCol="0">
            <a:normAutofit/>
          </a:bodyPr>
          <a:lstStyle>
            <a:lvl1pPr marL="285750" indent="-285750" algn="l" defTabSz="914400" rtl="0" eaLnBrk="1" latinLnBrk="0" hangingPunct="1">
              <a:lnSpc>
                <a:spcPct val="100000"/>
              </a:lnSpc>
              <a:spcBef>
                <a:spcPts val="1000"/>
              </a:spcBef>
              <a:buClr>
                <a:schemeClr val="accent1"/>
              </a:buClr>
              <a:buSzPct val="88000"/>
              <a:buFont typeface="Wingdings" panose="05000000000000000000" pitchFamily="2" charset="2"/>
              <a:buChar char="p"/>
              <a:defRPr sz="20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500"/>
              </a:spcBef>
              <a:buClr>
                <a:schemeClr val="accent1"/>
              </a:buClr>
              <a:buSzPct val="100000"/>
              <a:buFont typeface="Arial" panose="020B0604020202020204" pitchFamily="34" charset="0"/>
              <a:buChar char="•"/>
              <a:defRPr sz="1800" b="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500"/>
              </a:spcBef>
              <a:buClr>
                <a:schemeClr val="accent1"/>
              </a:buClr>
              <a:buSzPct val="100000"/>
              <a:buFont typeface="Arial" panose="020B0604020202020204" pitchFamily="34" charset="0"/>
              <a:buChar char="•"/>
              <a:defRPr sz="1600" b="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传统编程</a:t>
            </a:r>
            <a:endParaRPr lang="en-US" altLang="zh-CN" dirty="0">
              <a:solidFill>
                <a:schemeClr val="accent2"/>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5" name="AutoShape 2" descr="https://cdn.nlark.com/yuque/__latex/b9ece18c950afbfa6b0fdbfa4ff731d3.svg"/>
          <p:cNvSpPr>
            <a:spLocks noChangeAspect="1" noChangeArrowheads="1"/>
          </p:cNvSpPr>
          <p:nvPr/>
        </p:nvSpPr>
        <p:spPr bwMode="auto">
          <a:xfrm>
            <a:off x="38798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1" name="矩形 30"/>
          <p:cNvSpPr/>
          <p:nvPr/>
        </p:nvSpPr>
        <p:spPr>
          <a:xfrm>
            <a:off x="5366477" y="2566216"/>
            <a:ext cx="1733265" cy="974943"/>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rPr>
              <a:t>程序</a:t>
            </a:r>
            <a:endParaRPr lang="en-US" sz="2400" dirty="0">
              <a:solidFill>
                <a:schemeClr val="tx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32" name="文本框 31"/>
          <p:cNvSpPr txBox="1"/>
          <p:nvPr/>
        </p:nvSpPr>
        <p:spPr>
          <a:xfrm>
            <a:off x="5889104" y="1899678"/>
            <a:ext cx="688009" cy="400110"/>
          </a:xfrm>
          <a:prstGeom prst="rect">
            <a:avLst/>
          </a:prstGeom>
          <a:noFill/>
        </p:spPr>
        <p:txBody>
          <a:bodyPr wrap="none" rtlCol="0">
            <a:spAutoFit/>
          </a:bodyPr>
          <a:lstStyle/>
          <a:p>
            <a:pPr>
              <a:spcBef>
                <a:spcPts val="1000"/>
              </a:spcBef>
              <a:buClr>
                <a:schemeClr val="accent1"/>
              </a:buClr>
              <a:buSzPct val="88000"/>
            </a:pP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输入</a:t>
            </a:r>
            <a:endParaRPr 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33" name="文本框 32"/>
          <p:cNvSpPr txBox="1"/>
          <p:nvPr/>
        </p:nvSpPr>
        <p:spPr>
          <a:xfrm>
            <a:off x="2244387" y="2853520"/>
            <a:ext cx="939681" cy="400110"/>
          </a:xfrm>
          <a:prstGeom prst="rect">
            <a:avLst/>
          </a:prstGeom>
          <a:noFill/>
        </p:spPr>
        <p:txBody>
          <a:bodyPr wrap="none" rtlCol="0">
            <a:spAutoFit/>
          </a:bodyPr>
          <a:lstStyle/>
          <a:p>
            <a:pPr>
              <a:spcBef>
                <a:spcPts val="1000"/>
              </a:spcBef>
              <a:buClr>
                <a:schemeClr val="accent1"/>
              </a:buClr>
              <a:buSzPct val="88000"/>
            </a:pP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程序员</a:t>
            </a:r>
            <a:endParaRPr 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cxnSp>
        <p:nvCxnSpPr>
          <p:cNvPr id="34" name="直接箭头连接符 33"/>
          <p:cNvCxnSpPr>
            <a:cxnSpLocks/>
          </p:cNvCxnSpPr>
          <p:nvPr/>
        </p:nvCxnSpPr>
        <p:spPr>
          <a:xfrm>
            <a:off x="6233110" y="2315817"/>
            <a:ext cx="0" cy="2497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4094370" y="3053575"/>
            <a:ext cx="127210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7099742" y="3053688"/>
            <a:ext cx="85858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38" name="图片 37"/>
          <p:cNvPicPr>
            <a:picLocks noChangeAspect="1"/>
          </p:cNvPicPr>
          <p:nvPr/>
        </p:nvPicPr>
        <p:blipFill>
          <a:blip r:embed="rId4"/>
          <a:stretch>
            <a:fillRect/>
          </a:stretch>
        </p:blipFill>
        <p:spPr>
          <a:xfrm>
            <a:off x="3444659" y="2607401"/>
            <a:ext cx="460955" cy="690476"/>
          </a:xfrm>
          <a:prstGeom prst="rect">
            <a:avLst/>
          </a:prstGeom>
        </p:spPr>
      </p:pic>
      <p:sp>
        <p:nvSpPr>
          <p:cNvPr id="39" name="文本框 38"/>
          <p:cNvSpPr txBox="1"/>
          <p:nvPr/>
        </p:nvSpPr>
        <p:spPr>
          <a:xfrm>
            <a:off x="7987980" y="2855101"/>
            <a:ext cx="688009" cy="400110"/>
          </a:xfrm>
          <a:prstGeom prst="rect">
            <a:avLst/>
          </a:prstGeom>
          <a:noFill/>
        </p:spPr>
        <p:txBody>
          <a:bodyPr wrap="none" rtlCol="0">
            <a:spAutoFit/>
          </a:bodyPr>
          <a:lstStyle/>
          <a:p>
            <a:pPr>
              <a:spcBef>
                <a:spcPts val="1000"/>
              </a:spcBef>
              <a:buClr>
                <a:schemeClr val="accent1"/>
              </a:buClr>
              <a:buSzPct val="88000"/>
            </a:pP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输出</a:t>
            </a:r>
            <a:endParaRPr 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40" name="内容占位符 2"/>
          <p:cNvSpPr txBox="1"/>
          <p:nvPr/>
        </p:nvSpPr>
        <p:spPr>
          <a:xfrm>
            <a:off x="122671" y="4176432"/>
            <a:ext cx="3205956" cy="512667"/>
          </a:xfrm>
          <a:prstGeom prst="rect">
            <a:avLst/>
          </a:prstGeom>
        </p:spPr>
        <p:txBody>
          <a:bodyPr vert="horz" lIns="91440" tIns="45720" rIns="91440" bIns="45720" rtlCol="0">
            <a:normAutofit/>
          </a:bodyPr>
          <a:lstStyle>
            <a:lvl1pPr marL="285750" indent="-285750" algn="l" defTabSz="914400" rtl="0" eaLnBrk="1" latinLnBrk="0" hangingPunct="1">
              <a:lnSpc>
                <a:spcPct val="100000"/>
              </a:lnSpc>
              <a:spcBef>
                <a:spcPts val="1000"/>
              </a:spcBef>
              <a:buClr>
                <a:schemeClr val="accent1"/>
              </a:buClr>
              <a:buSzPct val="88000"/>
              <a:buFont typeface="Wingdings" panose="05000000000000000000" pitchFamily="2" charset="2"/>
              <a:buChar char="p"/>
              <a:defRPr sz="20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500"/>
              </a:spcBef>
              <a:buClr>
                <a:schemeClr val="accent1"/>
              </a:buClr>
              <a:buSzPct val="100000"/>
              <a:buFont typeface="Arial" panose="020B0604020202020204" pitchFamily="34" charset="0"/>
              <a:buChar char="•"/>
              <a:defRPr sz="1800" b="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500"/>
              </a:spcBef>
              <a:buClr>
                <a:schemeClr val="accent1"/>
              </a:buClr>
              <a:buSzPct val="100000"/>
              <a:buFont typeface="Arial" panose="020B0604020202020204" pitchFamily="34" charset="0"/>
              <a:buChar char="•"/>
              <a:defRPr sz="1600" b="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机器学习</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51" name="矩形 50"/>
          <p:cNvSpPr/>
          <p:nvPr/>
        </p:nvSpPr>
        <p:spPr>
          <a:xfrm>
            <a:off x="5332512" y="5263940"/>
            <a:ext cx="1733265" cy="974943"/>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000" dirty="0">
                <a:solidFill>
                  <a:schemeClr val="tx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rPr>
              <a:t>程序</a:t>
            </a:r>
            <a:endParaRPr lang="en-US" altLang="zh-CN" sz="2000" dirty="0">
              <a:solidFill>
                <a:schemeClr val="tx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cxnSp>
        <p:nvCxnSpPr>
          <p:cNvPr id="54" name="直接箭头连接符 53"/>
          <p:cNvCxnSpPr/>
          <p:nvPr/>
        </p:nvCxnSpPr>
        <p:spPr>
          <a:xfrm>
            <a:off x="4473931" y="5751299"/>
            <a:ext cx="85858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7065777" y="5751412"/>
            <a:ext cx="85858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2740667" y="5263940"/>
            <a:ext cx="1733265" cy="97494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机器学习算法</a:t>
            </a:r>
            <a:endParaRPr 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cxnSp>
        <p:nvCxnSpPr>
          <p:cNvPr id="59" name="直接箭头连接符 58"/>
          <p:cNvCxnSpPr>
            <a:cxnSpLocks/>
          </p:cNvCxnSpPr>
          <p:nvPr/>
        </p:nvCxnSpPr>
        <p:spPr>
          <a:xfrm>
            <a:off x="2018995" y="5751299"/>
            <a:ext cx="72167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61" name="图片 60"/>
          <p:cNvPicPr>
            <a:picLocks noChangeAspect="1"/>
          </p:cNvPicPr>
          <p:nvPr/>
        </p:nvPicPr>
        <p:blipFill>
          <a:blip r:embed="rId4"/>
          <a:stretch>
            <a:fillRect/>
          </a:stretch>
        </p:blipFill>
        <p:spPr>
          <a:xfrm>
            <a:off x="1495722" y="5321562"/>
            <a:ext cx="460955" cy="690476"/>
          </a:xfrm>
          <a:prstGeom prst="rect">
            <a:avLst/>
          </a:prstGeom>
        </p:spPr>
      </p:pic>
      <p:sp>
        <p:nvSpPr>
          <p:cNvPr id="63" name="文本框 62"/>
          <p:cNvSpPr txBox="1"/>
          <p:nvPr/>
        </p:nvSpPr>
        <p:spPr>
          <a:xfrm>
            <a:off x="7987980" y="5551244"/>
            <a:ext cx="688009" cy="400110"/>
          </a:xfrm>
          <a:prstGeom prst="rect">
            <a:avLst/>
          </a:prstGeom>
          <a:noFill/>
        </p:spPr>
        <p:txBody>
          <a:bodyPr wrap="none" rtlCol="0">
            <a:spAutoFit/>
          </a:bodyPr>
          <a:lstStyle/>
          <a:p>
            <a:pPr>
              <a:spcBef>
                <a:spcPts val="1000"/>
              </a:spcBef>
              <a:buClr>
                <a:schemeClr val="accent1"/>
              </a:buClr>
              <a:buSzPct val="88000"/>
            </a:pP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输出</a:t>
            </a:r>
            <a:endParaRPr 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64" name="文本框 63"/>
          <p:cNvSpPr txBox="1"/>
          <p:nvPr/>
        </p:nvSpPr>
        <p:spPr>
          <a:xfrm>
            <a:off x="3285713" y="4607048"/>
            <a:ext cx="688009" cy="400110"/>
          </a:xfrm>
          <a:prstGeom prst="rect">
            <a:avLst/>
          </a:prstGeom>
          <a:noFill/>
        </p:spPr>
        <p:txBody>
          <a:bodyPr wrap="none" rtlCol="0">
            <a:spAutoFit/>
          </a:bodyPr>
          <a:lstStyle/>
          <a:p>
            <a:pPr>
              <a:spcBef>
                <a:spcPts val="1000"/>
              </a:spcBef>
              <a:buClr>
                <a:schemeClr val="accent1"/>
              </a:buClr>
              <a:buSzPct val="88000"/>
            </a:pP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数据</a:t>
            </a:r>
            <a:endParaRPr 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27" name="文本框 26">
            <a:extLst>
              <a:ext uri="{FF2B5EF4-FFF2-40B4-BE49-F238E27FC236}">
                <a16:creationId xmlns:a16="http://schemas.microsoft.com/office/drawing/2014/main" id="{A3EE4A44-6382-1E60-36D6-5FDCC3E91B08}"/>
              </a:ext>
            </a:extLst>
          </p:cNvPr>
          <p:cNvSpPr txBox="1"/>
          <p:nvPr/>
        </p:nvSpPr>
        <p:spPr>
          <a:xfrm>
            <a:off x="4175509" y="2667659"/>
            <a:ext cx="1005403" cy="338554"/>
          </a:xfrm>
          <a:prstGeom prst="rect">
            <a:avLst/>
          </a:prstGeom>
          <a:noFill/>
        </p:spPr>
        <p:txBody>
          <a:bodyPr wrap="none" rtlCol="0">
            <a:spAutoFit/>
          </a:bodyPr>
          <a:lstStyle/>
          <a:p>
            <a:pPr>
              <a:spcBef>
                <a:spcPts val="1000"/>
              </a:spcBef>
              <a:buClr>
                <a:schemeClr val="accent1"/>
              </a:buClr>
              <a:buSzPct val="88000"/>
            </a:pPr>
            <a:r>
              <a:rPr lang="zh-CN" alt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显式编程</a:t>
            </a:r>
            <a:endParaRPr 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29" name="文本框 28">
            <a:extLst>
              <a:ext uri="{FF2B5EF4-FFF2-40B4-BE49-F238E27FC236}">
                <a16:creationId xmlns:a16="http://schemas.microsoft.com/office/drawing/2014/main" id="{9D24095F-AA94-7764-9400-E04E8CF3FEA7}"/>
              </a:ext>
            </a:extLst>
          </p:cNvPr>
          <p:cNvSpPr txBox="1"/>
          <p:nvPr/>
        </p:nvSpPr>
        <p:spPr>
          <a:xfrm>
            <a:off x="4463988" y="5376710"/>
            <a:ext cx="595035" cy="338554"/>
          </a:xfrm>
          <a:prstGeom prst="rect">
            <a:avLst/>
          </a:prstGeom>
          <a:noFill/>
        </p:spPr>
        <p:txBody>
          <a:bodyPr wrap="none" rtlCol="0">
            <a:spAutoFit/>
          </a:bodyPr>
          <a:lstStyle/>
          <a:p>
            <a:pPr>
              <a:spcBef>
                <a:spcPts val="1000"/>
              </a:spcBef>
              <a:buClr>
                <a:schemeClr val="accent1"/>
              </a:buClr>
              <a:buSzPct val="88000"/>
            </a:pPr>
            <a:r>
              <a:rPr lang="zh-CN" alt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训练</a:t>
            </a:r>
            <a:endParaRPr 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30" name="文本框 29">
            <a:extLst>
              <a:ext uri="{FF2B5EF4-FFF2-40B4-BE49-F238E27FC236}">
                <a16:creationId xmlns:a16="http://schemas.microsoft.com/office/drawing/2014/main" id="{564CD7BA-2B24-DCC6-D888-66A024BA3FB5}"/>
              </a:ext>
            </a:extLst>
          </p:cNvPr>
          <p:cNvSpPr txBox="1"/>
          <p:nvPr/>
        </p:nvSpPr>
        <p:spPr>
          <a:xfrm>
            <a:off x="553526" y="5520190"/>
            <a:ext cx="939681" cy="400110"/>
          </a:xfrm>
          <a:prstGeom prst="rect">
            <a:avLst/>
          </a:prstGeom>
          <a:noFill/>
        </p:spPr>
        <p:txBody>
          <a:bodyPr wrap="none" rtlCol="0">
            <a:spAutoFit/>
          </a:bodyPr>
          <a:lstStyle/>
          <a:p>
            <a:pPr>
              <a:spcBef>
                <a:spcPts val="1000"/>
              </a:spcBef>
              <a:buClr>
                <a:schemeClr val="accent1"/>
              </a:buClr>
              <a:buSzPct val="88000"/>
            </a:pP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程序员</a:t>
            </a:r>
            <a:endParaRPr 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3" name="矩形 2">
            <a:extLst>
              <a:ext uri="{FF2B5EF4-FFF2-40B4-BE49-F238E27FC236}">
                <a16:creationId xmlns:a16="http://schemas.microsoft.com/office/drawing/2014/main" id="{1FE9FFC5-1CAC-A40C-BDD6-8DE5E59E135A}"/>
              </a:ext>
            </a:extLst>
          </p:cNvPr>
          <p:cNvSpPr/>
          <p:nvPr/>
        </p:nvSpPr>
        <p:spPr>
          <a:xfrm>
            <a:off x="2136038" y="4562803"/>
            <a:ext cx="2913041" cy="1932855"/>
          </a:xfrm>
          <a:prstGeom prst="rect">
            <a:avLst/>
          </a:prstGeom>
          <a:noFill/>
          <a:ln w="285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文本框 36">
            <a:extLst>
              <a:ext uri="{FF2B5EF4-FFF2-40B4-BE49-F238E27FC236}">
                <a16:creationId xmlns:a16="http://schemas.microsoft.com/office/drawing/2014/main" id="{7DCC3355-D16F-8A30-A415-832D3D8968F3}"/>
              </a:ext>
            </a:extLst>
          </p:cNvPr>
          <p:cNvSpPr txBox="1"/>
          <p:nvPr/>
        </p:nvSpPr>
        <p:spPr>
          <a:xfrm>
            <a:off x="5889104" y="4614066"/>
            <a:ext cx="688009" cy="400110"/>
          </a:xfrm>
          <a:prstGeom prst="rect">
            <a:avLst/>
          </a:prstGeom>
          <a:noFill/>
        </p:spPr>
        <p:txBody>
          <a:bodyPr wrap="none" rtlCol="0">
            <a:spAutoFit/>
          </a:bodyPr>
          <a:lstStyle/>
          <a:p>
            <a:pPr>
              <a:spcBef>
                <a:spcPts val="1000"/>
              </a:spcBef>
              <a:buClr>
                <a:schemeClr val="accent1"/>
              </a:buClr>
              <a:buSzPct val="88000"/>
            </a:pP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输入</a:t>
            </a:r>
            <a:endParaRPr 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cxnSp>
        <p:nvCxnSpPr>
          <p:cNvPr id="41" name="直接箭头连接符 33">
            <a:extLst>
              <a:ext uri="{FF2B5EF4-FFF2-40B4-BE49-F238E27FC236}">
                <a16:creationId xmlns:a16="http://schemas.microsoft.com/office/drawing/2014/main" id="{B2ED76C6-4E7D-1C1C-B870-A6A7461237C7}"/>
              </a:ext>
            </a:extLst>
          </p:cNvPr>
          <p:cNvCxnSpPr>
            <a:cxnSpLocks/>
          </p:cNvCxnSpPr>
          <p:nvPr/>
        </p:nvCxnSpPr>
        <p:spPr>
          <a:xfrm>
            <a:off x="3607299" y="5014176"/>
            <a:ext cx="0" cy="2497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D180005D-034F-5E20-69E4-BC6C845C2232}"/>
              </a:ext>
            </a:extLst>
          </p:cNvPr>
          <p:cNvSpPr/>
          <p:nvPr/>
        </p:nvSpPr>
        <p:spPr>
          <a:xfrm>
            <a:off x="2928400" y="6306407"/>
            <a:ext cx="1402634" cy="3785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rPr>
              <a:t>非显式编程</a:t>
            </a:r>
            <a:endParaRPr lang="en-US" altLang="zh-CN" sz="1800" dirty="0">
              <a:solidFill>
                <a:schemeClr val="tx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cxnSp>
        <p:nvCxnSpPr>
          <p:cNvPr id="44" name="直接箭头连接符 33">
            <a:extLst>
              <a:ext uri="{FF2B5EF4-FFF2-40B4-BE49-F238E27FC236}">
                <a16:creationId xmlns:a16="http://schemas.microsoft.com/office/drawing/2014/main" id="{DAC62D67-D4D0-D641-92A2-01ECB97AFE06}"/>
              </a:ext>
            </a:extLst>
          </p:cNvPr>
          <p:cNvCxnSpPr>
            <a:cxnSpLocks/>
          </p:cNvCxnSpPr>
          <p:nvPr/>
        </p:nvCxnSpPr>
        <p:spPr>
          <a:xfrm>
            <a:off x="6226700" y="5014176"/>
            <a:ext cx="0" cy="2497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B8B435F4-3555-5A0E-0FF8-D9462C995D12}"/>
              </a:ext>
            </a:extLst>
          </p:cNvPr>
          <p:cNvSpPr txBox="1"/>
          <p:nvPr/>
        </p:nvSpPr>
        <p:spPr>
          <a:xfrm>
            <a:off x="2136038" y="5376710"/>
            <a:ext cx="595035" cy="338554"/>
          </a:xfrm>
          <a:prstGeom prst="rect">
            <a:avLst/>
          </a:prstGeom>
          <a:noFill/>
        </p:spPr>
        <p:txBody>
          <a:bodyPr wrap="none" rtlCol="0">
            <a:spAutoFit/>
          </a:bodyPr>
          <a:lstStyle/>
          <a:p>
            <a:pPr>
              <a:spcBef>
                <a:spcPts val="1000"/>
              </a:spcBef>
              <a:buClr>
                <a:schemeClr val="accent1"/>
              </a:buClr>
              <a:buSzPct val="88000"/>
            </a:pPr>
            <a:r>
              <a:rPr lang="zh-CN" alt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编程</a:t>
            </a:r>
            <a:endParaRPr 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46" name="文本框 45">
            <a:extLst>
              <a:ext uri="{FF2B5EF4-FFF2-40B4-BE49-F238E27FC236}">
                <a16:creationId xmlns:a16="http://schemas.microsoft.com/office/drawing/2014/main" id="{CAF97B11-4D9B-F8F0-6EA2-A38B60FA1185}"/>
              </a:ext>
            </a:extLst>
          </p:cNvPr>
          <p:cNvSpPr txBox="1"/>
          <p:nvPr/>
        </p:nvSpPr>
        <p:spPr>
          <a:xfrm>
            <a:off x="5593851" y="5920300"/>
            <a:ext cx="1210588" cy="276999"/>
          </a:xfrm>
          <a:prstGeom prst="rect">
            <a:avLst/>
          </a:prstGeom>
          <a:noFill/>
        </p:spPr>
        <p:txBody>
          <a:bodyPr wrap="none" rtlCol="0">
            <a:spAutoFit/>
          </a:bodyPr>
          <a:lstStyle/>
          <a:p>
            <a:pPr algn="ctr">
              <a:spcBef>
                <a:spcPts val="1000"/>
              </a:spcBef>
              <a:buClr>
                <a:schemeClr val="accent1"/>
              </a:buClr>
              <a:buSzPct val="88000"/>
            </a:pPr>
            <a:r>
              <a:rPr lang="en-US" altLang="zh-CN" sz="12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r>
              <a:rPr lang="zh-CN" altLang="en-US" sz="12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机器学习模型</a:t>
            </a:r>
            <a:r>
              <a:rPr lang="en-US" altLang="zh-CN" sz="12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endParaRPr lang="en-US" sz="12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Tree>
    <p:custDataLst>
      <p:tags r:id="rId1"/>
    </p:custDataLst>
    <p:extLst>
      <p:ext uri="{BB962C8B-B14F-4D97-AF65-F5344CB8AC3E}">
        <p14:creationId xmlns:p14="http://schemas.microsoft.com/office/powerpoint/2010/main" val="1658399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10" presetClass="entr" presetSubtype="0" fill="hold" nodeType="withEffect">
                                  <p:stCondLst>
                                    <p:cond delay="0"/>
                                  </p:stCondLst>
                                  <p:childTnLst>
                                    <p:set>
                                      <p:cBhvr>
                                        <p:cTn id="12" dur="1" fill="hold">
                                          <p:stCondLst>
                                            <p:cond delay="0"/>
                                          </p:stCondLst>
                                        </p:cTn>
                                        <p:tgtEl>
                                          <p:spTgt spid="54"/>
                                        </p:tgtEl>
                                        <p:attrNameLst>
                                          <p:attrName>style.visibility</p:attrName>
                                        </p:attrNameLst>
                                      </p:cBhvr>
                                      <p:to>
                                        <p:strVal val="visible"/>
                                      </p:to>
                                    </p:set>
                                    <p:animEffect transition="in" filter="fade">
                                      <p:cBhvr>
                                        <p:cTn id="13" dur="500"/>
                                        <p:tgtEl>
                                          <p:spTgt spid="54"/>
                                        </p:tgtEl>
                                      </p:cBhvr>
                                    </p:animEffect>
                                  </p:childTnLst>
                                </p:cTn>
                              </p:par>
                              <p:par>
                                <p:cTn id="14" presetID="10" presetClass="entr" presetSubtype="0" fill="hold" nodeType="withEffect">
                                  <p:stCondLst>
                                    <p:cond delay="0"/>
                                  </p:stCondLst>
                                  <p:childTnLst>
                                    <p:set>
                                      <p:cBhvr>
                                        <p:cTn id="15" dur="1" fill="hold">
                                          <p:stCondLst>
                                            <p:cond delay="0"/>
                                          </p:stCondLst>
                                        </p:cTn>
                                        <p:tgtEl>
                                          <p:spTgt spid="55"/>
                                        </p:tgtEl>
                                        <p:attrNameLst>
                                          <p:attrName>style.visibility</p:attrName>
                                        </p:attrNameLst>
                                      </p:cBhvr>
                                      <p:to>
                                        <p:strVal val="visible"/>
                                      </p:to>
                                    </p:set>
                                    <p:animEffect transition="in" filter="fade">
                                      <p:cBhvr>
                                        <p:cTn id="16" dur="500"/>
                                        <p:tgtEl>
                                          <p:spTgt spid="5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par>
                                <p:cTn id="20" presetID="10" presetClass="entr" presetSubtype="0" fill="hold" nodeType="with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fade">
                                      <p:cBhvr>
                                        <p:cTn id="22" dur="500"/>
                                        <p:tgtEl>
                                          <p:spTgt spid="59"/>
                                        </p:tgtEl>
                                      </p:cBhvr>
                                    </p:animEffect>
                                  </p:childTnLst>
                                </p:cTn>
                              </p:par>
                              <p:par>
                                <p:cTn id="23" presetID="10" presetClass="entr" presetSubtype="0" fill="hold" nodeType="withEffect">
                                  <p:stCondLst>
                                    <p:cond delay="0"/>
                                  </p:stCondLst>
                                  <p:childTnLst>
                                    <p:set>
                                      <p:cBhvr>
                                        <p:cTn id="24" dur="1" fill="hold">
                                          <p:stCondLst>
                                            <p:cond delay="0"/>
                                          </p:stCondLst>
                                        </p:cTn>
                                        <p:tgtEl>
                                          <p:spTgt spid="61"/>
                                        </p:tgtEl>
                                        <p:attrNameLst>
                                          <p:attrName>style.visibility</p:attrName>
                                        </p:attrNameLst>
                                      </p:cBhvr>
                                      <p:to>
                                        <p:strVal val="visible"/>
                                      </p:to>
                                    </p:set>
                                    <p:animEffect transition="in" filter="fade">
                                      <p:cBhvr>
                                        <p:cTn id="25" dur="500"/>
                                        <p:tgtEl>
                                          <p:spTgt spid="6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3"/>
                                        </p:tgtEl>
                                        <p:attrNameLst>
                                          <p:attrName>style.visibility</p:attrName>
                                        </p:attrNameLst>
                                      </p:cBhvr>
                                      <p:to>
                                        <p:strVal val="visible"/>
                                      </p:to>
                                    </p:set>
                                    <p:animEffect transition="in" filter="fade">
                                      <p:cBhvr>
                                        <p:cTn id="28" dur="500"/>
                                        <p:tgtEl>
                                          <p:spTgt spid="6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4"/>
                                        </p:tgtEl>
                                        <p:attrNameLst>
                                          <p:attrName>style.visibility</p:attrName>
                                        </p:attrNameLst>
                                      </p:cBhvr>
                                      <p:to>
                                        <p:strVal val="visible"/>
                                      </p:to>
                                    </p:set>
                                    <p:animEffect transition="in" filter="fade">
                                      <p:cBhvr>
                                        <p:cTn id="31" dur="500"/>
                                        <p:tgtEl>
                                          <p:spTgt spid="6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fade">
                                      <p:cBhvr>
                                        <p:cTn id="40" dur="500"/>
                                        <p:tgtEl>
                                          <p:spTgt spid="4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51" grpId="0" animBg="1"/>
      <p:bldP spid="57" grpId="0" animBg="1"/>
      <p:bldP spid="63" grpId="0"/>
      <p:bldP spid="64" grpId="0"/>
      <p:bldP spid="27" grpId="0"/>
      <p:bldP spid="29" grpId="0"/>
      <p:bldP spid="45" grpId="0"/>
      <p:bldP spid="4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1738" y="1"/>
            <a:ext cx="8137922" cy="1028699"/>
          </a:xfrm>
        </p:spPr>
        <p:txBody>
          <a:bodyPr/>
          <a:lstStyle/>
          <a:p>
            <a:r>
              <a:rPr lang="zh-CN" altLang="en-US" dirty="0"/>
              <a:t>机器学习的历史</a:t>
            </a:r>
            <a:endParaRPr lang="zh-CN" altLang="en-US"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4" name="灯片编号占位符 3"/>
          <p:cNvSpPr>
            <a:spLocks noGrp="1"/>
          </p:cNvSpPr>
          <p:nvPr>
            <p:ph type="sldNum" sz="quarter" idx="12"/>
          </p:nvPr>
        </p:nvSpPr>
        <p:spPr>
          <a:xfrm>
            <a:off x="6457949" y="6240464"/>
            <a:ext cx="2182416" cy="206381"/>
          </a:xfrm>
        </p:spPr>
        <p:txBody>
          <a:bodyPr/>
          <a:lstStyle/>
          <a:p>
            <a:fld id="{5DD3DB80-B894-403A-B48E-6FDC1A72010E}" type="slidenum">
              <a:rPr lang="zh-CN" altLang="en-US" smtClean="0"/>
              <a:t>6</a:t>
            </a:fld>
            <a:endParaRPr lang="zh-CN" altLang="en-US" dirty="0"/>
          </a:p>
        </p:txBody>
      </p:sp>
      <p:sp>
        <p:nvSpPr>
          <p:cNvPr id="5" name="AutoShape 2" descr="https://cdn.nlark.com/yuque/__latex/b9ece18c950afbfa6b0fdbfa4ff731d3.svg"/>
          <p:cNvSpPr>
            <a:spLocks noChangeAspect="1" noChangeArrowheads="1"/>
          </p:cNvSpPr>
          <p:nvPr/>
        </p:nvSpPr>
        <p:spPr bwMode="auto">
          <a:xfrm>
            <a:off x="38798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内容占位符 2"/>
          <p:cNvSpPr txBox="1"/>
          <p:nvPr/>
        </p:nvSpPr>
        <p:spPr>
          <a:xfrm>
            <a:off x="379796" y="1167757"/>
            <a:ext cx="7346527" cy="52790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00000"/>
              </a:lnSpc>
              <a:buClr>
                <a:schemeClr val="accent1"/>
              </a:buClr>
              <a:buSzPct val="88000"/>
              <a:buFont typeface="Wingdings" panose="05000000000000000000" pitchFamily="2" charset="2"/>
              <a:buChar char="p"/>
            </a:pPr>
            <a:r>
              <a:rPr lang="en-US" altLang="zh-CN"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1950</a:t>
            </a: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年代：</a:t>
            </a:r>
          </a:p>
          <a:p>
            <a:pPr lvl="1">
              <a:lnSpc>
                <a:spcPct val="100000"/>
              </a:lnSpc>
              <a:buClr>
                <a:schemeClr val="accent1"/>
              </a:buClr>
              <a:buSzPct val="88000"/>
            </a:pP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Samuel </a:t>
            </a: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的跳棋程序</a:t>
            </a:r>
            <a:endPar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创建机器学习术语</a:t>
            </a:r>
          </a:p>
          <a:p>
            <a:pPr marL="285750" indent="-285750">
              <a:lnSpc>
                <a:spcPct val="100000"/>
              </a:lnSpc>
              <a:buClr>
                <a:schemeClr val="accent1"/>
              </a:buClr>
              <a:buSzPct val="88000"/>
              <a:buFont typeface="Wingdings" panose="05000000000000000000" pitchFamily="2" charset="2"/>
              <a:buChar char="p"/>
            </a:pPr>
            <a:r>
              <a:rPr lang="en-US" altLang="zh-CN"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1960</a:t>
            </a: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年代：</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神经网络，感知机</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模式识别</a:t>
            </a:r>
          </a:p>
          <a:p>
            <a:pPr lvl="1">
              <a:lnSpc>
                <a:spcPct val="100000"/>
              </a:lnSpc>
              <a:buClr>
                <a:schemeClr val="accent1"/>
              </a:buClr>
              <a:buSzPct val="88000"/>
            </a:pP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Minsky</a:t>
            </a: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和</a:t>
            </a:r>
            <a:r>
              <a:rPr lang="en-US" altLang="zh-CN" sz="1800" dirty="0" err="1">
                <a:latin typeface="阿里巴巴普惠体 R" panose="00020600040101010101" pitchFamily="18" charset="-122"/>
                <a:ea typeface="阿里巴巴普惠体 R" panose="00020600040101010101" pitchFamily="18" charset="-122"/>
                <a:cs typeface="阿里巴巴普惠体 R" panose="00020600040101010101" pitchFamily="18" charset="-122"/>
              </a:rPr>
              <a:t>Papert</a:t>
            </a: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证明感知机的局限性</a:t>
            </a:r>
          </a:p>
          <a:p>
            <a:pPr marL="285750" indent="-285750">
              <a:lnSpc>
                <a:spcPct val="100000"/>
              </a:lnSpc>
              <a:buClr>
                <a:schemeClr val="accent1"/>
              </a:buClr>
              <a:buSzPct val="88000"/>
              <a:buFont typeface="Wingdings" panose="05000000000000000000" pitchFamily="2" charset="2"/>
              <a:buChar char="p"/>
            </a:pPr>
            <a:r>
              <a:rPr lang="en-US" altLang="zh-CN"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1970</a:t>
            </a: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年代：</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符号概念归纳</a:t>
            </a:r>
          </a:p>
          <a:p>
            <a:pPr lvl="1">
              <a:lnSpc>
                <a:spcPct val="100000"/>
              </a:lnSpc>
              <a:buClr>
                <a:schemeClr val="accent1"/>
              </a:buClr>
              <a:buSzPct val="88000"/>
            </a:pP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Winston</a:t>
            </a: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的结构学习系统</a:t>
            </a:r>
            <a:endPar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专家系统和知识获取瓶颈</a:t>
            </a:r>
          </a:p>
          <a:p>
            <a:pPr lvl="1">
              <a:lnSpc>
                <a:spcPct val="100000"/>
              </a:lnSpc>
              <a:buClr>
                <a:schemeClr val="accent1"/>
              </a:buClr>
              <a:buSzPct val="88000"/>
            </a:pP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Quinlan</a:t>
            </a: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的</a:t>
            </a: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ID3</a:t>
            </a: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算法</a:t>
            </a:r>
            <a:endPar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使用 </a:t>
            </a: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AM </a:t>
            </a: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的数学发现</a:t>
            </a:r>
          </a:p>
        </p:txBody>
      </p:sp>
      <p:sp>
        <p:nvSpPr>
          <p:cNvPr id="7" name="页脚占位符 2"/>
          <p:cNvSpPr>
            <a:spLocks noGrp="1"/>
          </p:cNvSpPr>
          <p:nvPr>
            <p:ph type="ftr" sz="quarter" idx="11"/>
          </p:nvPr>
        </p:nvSpPr>
        <p:spPr>
          <a:xfrm>
            <a:off x="304801" y="6403303"/>
            <a:ext cx="8137922" cy="489028"/>
          </a:xfrm>
        </p:spPr>
        <p:txBody>
          <a:bodyPr/>
          <a:lstStyle/>
          <a:p>
            <a:r>
              <a:rPr lang="en-US" altLang="zh-CN" dirty="0"/>
              <a:t>Slide credit: Ray Mooney</a:t>
            </a:r>
          </a:p>
        </p:txBody>
      </p:sp>
      <p:pic>
        <p:nvPicPr>
          <p:cNvPr id="9" name="Picture 2" descr="This is the photo of Arthur Samuel.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0218" y="1167756"/>
            <a:ext cx="1126935" cy="1565187"/>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p:cNvSpPr/>
          <p:nvPr/>
        </p:nvSpPr>
        <p:spPr>
          <a:xfrm>
            <a:off x="3231649" y="2788519"/>
            <a:ext cx="1424075" cy="600164"/>
          </a:xfrm>
          <a:prstGeom prst="rect">
            <a:avLst/>
          </a:prstGeom>
        </p:spPr>
        <p:txBody>
          <a:bodyPr wrap="square">
            <a:spAutoFit/>
          </a:bodyPr>
          <a:lstStyle/>
          <a:p>
            <a:r>
              <a:rPr lang="en-US" sz="1100" dirty="0">
                <a:solidFill>
                  <a:srgbClr val="00000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rPr>
              <a:t>Arthur Samuel</a:t>
            </a:r>
            <a:r>
              <a:rPr lang="zh-CN" altLang="en-US" sz="1100" dirty="0">
                <a:solidFill>
                  <a:srgbClr val="00000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rPr>
              <a:t>在</a:t>
            </a:r>
            <a:r>
              <a:rPr lang="en-US" sz="1100" dirty="0">
                <a:solidFill>
                  <a:srgbClr val="00000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rPr>
              <a:t> 1959年</a:t>
            </a:r>
            <a:r>
              <a:rPr lang="zh-CN" altLang="en-US" sz="1100" dirty="0">
                <a:solidFill>
                  <a:srgbClr val="00000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rPr>
              <a:t>创造了</a:t>
            </a:r>
            <a:r>
              <a:rPr lang="en-US" sz="1100" dirty="0">
                <a:solidFill>
                  <a:srgbClr val="00000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rPr>
              <a:t>"机器学习"这个词</a:t>
            </a:r>
            <a:endParaRPr lang="en-US" sz="1100" b="0" i="0" dirty="0">
              <a:solidFill>
                <a:srgbClr val="000000"/>
              </a:solidFill>
              <a:effectLst/>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10" name="内容占位符 2">
            <a:extLst>
              <a:ext uri="{FF2B5EF4-FFF2-40B4-BE49-F238E27FC236}">
                <a16:creationId xmlns:a16="http://schemas.microsoft.com/office/drawing/2014/main" id="{19602B48-5876-AF11-BB04-809544B49389}"/>
              </a:ext>
            </a:extLst>
          </p:cNvPr>
          <p:cNvSpPr txBox="1"/>
          <p:nvPr/>
        </p:nvSpPr>
        <p:spPr>
          <a:xfrm>
            <a:off x="5034430" y="1095035"/>
            <a:ext cx="3605936" cy="48424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Clr>
                <a:schemeClr val="accent1"/>
              </a:buClr>
              <a:buSzPct val="88000"/>
              <a:buFont typeface="Wingdings" panose="05000000000000000000" pitchFamily="2" charset="2"/>
              <a:buChar char="p"/>
            </a:pPr>
            <a:r>
              <a:rPr lang="en-US" altLang="zh-CN"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1980</a:t>
            </a: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年代</a:t>
            </a:r>
            <a:r>
              <a:rPr lang="en-US" altLang="zh-CN"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高级决策树和规则学习</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基于解释的学习 </a:t>
            </a: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(EBL)</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学习、规划、解决问题</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三间小屋问题</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类比</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认知架构</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神经网络复苏 </a:t>
            </a: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反向传播</a:t>
            </a: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p>
          <a:p>
            <a:pPr lvl="1">
              <a:lnSpc>
                <a:spcPct val="150000"/>
              </a:lnSpc>
              <a:buClr>
                <a:schemeClr val="accent1"/>
              </a:buClr>
              <a:buSzPct val="88000"/>
            </a:pP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Valiant</a:t>
            </a: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的</a:t>
            </a: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PAC</a:t>
            </a: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学习理论</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注重实验方法</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1738" y="1"/>
            <a:ext cx="8137922" cy="1028699"/>
          </a:xfrm>
        </p:spPr>
        <p:txBody>
          <a:bodyPr/>
          <a:lstStyle/>
          <a:p>
            <a:r>
              <a:rPr lang="zh-CN" altLang="en-US" dirty="0"/>
              <a:t>机器学习的历史</a:t>
            </a:r>
            <a:endParaRPr lang="zh-CN" altLang="en-US"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4" name="灯片编号占位符 3"/>
          <p:cNvSpPr>
            <a:spLocks noGrp="1"/>
          </p:cNvSpPr>
          <p:nvPr>
            <p:ph type="sldNum" sz="quarter" idx="12"/>
          </p:nvPr>
        </p:nvSpPr>
        <p:spPr>
          <a:xfrm>
            <a:off x="6457949" y="6240464"/>
            <a:ext cx="2182416" cy="206381"/>
          </a:xfrm>
        </p:spPr>
        <p:txBody>
          <a:bodyPr/>
          <a:lstStyle/>
          <a:p>
            <a:fld id="{5DD3DB80-B894-403A-B48E-6FDC1A72010E}" type="slidenum">
              <a:rPr lang="zh-CN" altLang="en-US" smtClean="0"/>
              <a:t>7</a:t>
            </a:fld>
            <a:endParaRPr lang="zh-CN" altLang="en-US" dirty="0"/>
          </a:p>
        </p:txBody>
      </p:sp>
      <p:sp>
        <p:nvSpPr>
          <p:cNvPr id="5" name="AutoShape 2" descr="https://cdn.nlark.com/yuque/__latex/b9ece18c950afbfa6b0fdbfa4ff731d3.svg"/>
          <p:cNvSpPr>
            <a:spLocks noChangeAspect="1" noChangeArrowheads="1"/>
          </p:cNvSpPr>
          <p:nvPr/>
        </p:nvSpPr>
        <p:spPr bwMode="auto">
          <a:xfrm>
            <a:off x="38798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内容占位符 2"/>
          <p:cNvSpPr txBox="1"/>
          <p:nvPr/>
        </p:nvSpPr>
        <p:spPr>
          <a:xfrm>
            <a:off x="681737" y="1167757"/>
            <a:ext cx="7346527" cy="50727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Clr>
                <a:schemeClr val="accent1"/>
              </a:buClr>
              <a:buSzPct val="88000"/>
              <a:buFont typeface="Wingdings" panose="05000000000000000000" pitchFamily="2" charset="2"/>
              <a:buChar char="p"/>
            </a:pPr>
            <a:r>
              <a:rPr lang="en-US" altLang="zh-CN"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1990</a:t>
            </a: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年代</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数据挖掘</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自适应软件代理和网络应用程序</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文本学习</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强化学习 </a:t>
            </a: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(RL)</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归纳逻辑编程 </a:t>
            </a: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(ILP)</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组合</a:t>
            </a: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 </a:t>
            </a: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装袋、提升和堆叠</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贝叶斯网络学习</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支持向量机</a:t>
            </a:r>
          </a:p>
          <a:p>
            <a:pPr lvl="1">
              <a:lnSpc>
                <a:spcPct val="15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核方法</a:t>
            </a:r>
          </a:p>
        </p:txBody>
      </p:sp>
      <p:sp>
        <p:nvSpPr>
          <p:cNvPr id="7" name="页脚占位符 2"/>
          <p:cNvSpPr>
            <a:spLocks noGrp="1"/>
          </p:cNvSpPr>
          <p:nvPr>
            <p:ph type="ftr" sz="quarter" idx="11"/>
          </p:nvPr>
        </p:nvSpPr>
        <p:spPr>
          <a:xfrm>
            <a:off x="304801" y="6403303"/>
            <a:ext cx="8137922" cy="489028"/>
          </a:xfrm>
        </p:spPr>
        <p:txBody>
          <a:bodyPr/>
          <a:lstStyle/>
          <a:p>
            <a:r>
              <a:rPr lang="en-US" altLang="zh-CN" dirty="0"/>
              <a:t>Slide credit: Ray Mooney</a:t>
            </a:r>
          </a:p>
        </p:txBody>
      </p:sp>
      <p:sp>
        <p:nvSpPr>
          <p:cNvPr id="8" name="内容占位符 2">
            <a:extLst>
              <a:ext uri="{FF2B5EF4-FFF2-40B4-BE49-F238E27FC236}">
                <a16:creationId xmlns:a16="http://schemas.microsoft.com/office/drawing/2014/main" id="{DF20EAE1-C24A-E676-6480-E42ACA0E98C6}"/>
              </a:ext>
            </a:extLst>
          </p:cNvPr>
          <p:cNvSpPr txBox="1"/>
          <p:nvPr/>
        </p:nvSpPr>
        <p:spPr>
          <a:xfrm>
            <a:off x="4572001" y="1261062"/>
            <a:ext cx="4247660" cy="52355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00000"/>
              </a:lnSpc>
              <a:buClr>
                <a:schemeClr val="accent1"/>
              </a:buClr>
              <a:buSzPct val="88000"/>
              <a:buFont typeface="Wingdings" panose="05000000000000000000" pitchFamily="2" charset="2"/>
              <a:buChar char="p"/>
            </a:pPr>
            <a:r>
              <a:rPr lang="en-US" altLang="zh-CN"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2000</a:t>
            </a: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年代</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图模型</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变分推理</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统计关系学习</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迁移学习</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序列标记</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集体分类和结构化输出</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计算机系统应用</a:t>
            </a:r>
          </a:p>
          <a:p>
            <a:pPr lvl="2">
              <a:lnSpc>
                <a:spcPct val="100000"/>
              </a:lnSpc>
              <a:buClr>
                <a:schemeClr val="accent1"/>
              </a:buClr>
              <a:buSzPct val="88000"/>
            </a:pPr>
            <a:r>
              <a:rPr lang="zh-CN" alt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编译器</a:t>
            </a:r>
          </a:p>
          <a:p>
            <a:pPr lvl="2">
              <a:lnSpc>
                <a:spcPct val="100000"/>
              </a:lnSpc>
              <a:buClr>
                <a:schemeClr val="accent1"/>
              </a:buClr>
              <a:buSzPct val="88000"/>
            </a:pPr>
            <a:r>
              <a:rPr lang="zh-CN" alt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调试</a:t>
            </a:r>
          </a:p>
          <a:p>
            <a:pPr lvl="2">
              <a:lnSpc>
                <a:spcPct val="100000"/>
              </a:lnSpc>
              <a:buClr>
                <a:schemeClr val="accent1"/>
              </a:buClr>
              <a:buSzPct val="88000"/>
            </a:pPr>
            <a:r>
              <a:rPr lang="zh-CN" alt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图形</a:t>
            </a:r>
          </a:p>
          <a:p>
            <a:pPr lvl="2">
              <a:lnSpc>
                <a:spcPct val="100000"/>
              </a:lnSpc>
              <a:buClr>
                <a:schemeClr val="accent1"/>
              </a:buClr>
              <a:buSzPct val="88000"/>
            </a:pPr>
            <a:r>
              <a:rPr lang="zh-CN" alt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安全性 </a:t>
            </a:r>
            <a:r>
              <a:rPr lang="en-US" altLang="zh-CN"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r>
              <a:rPr lang="zh-CN" alt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入侵、病毒和蠕虫检测</a:t>
            </a:r>
            <a:r>
              <a:rPr lang="en-US" altLang="zh-CN"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电子邮件管理</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学习的个性化助手</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机器人和视觉的学习</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1738" y="1"/>
            <a:ext cx="8137922" cy="1028699"/>
          </a:xfrm>
        </p:spPr>
        <p:txBody>
          <a:bodyPr/>
          <a:lstStyle/>
          <a:p>
            <a:r>
              <a:rPr lang="zh-CN" altLang="en-US" dirty="0"/>
              <a:t>机器学习的历史</a:t>
            </a:r>
            <a:endParaRPr lang="zh-CN" altLang="en-US"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4" name="灯片编号占位符 3"/>
          <p:cNvSpPr>
            <a:spLocks noGrp="1"/>
          </p:cNvSpPr>
          <p:nvPr>
            <p:ph type="sldNum" sz="quarter" idx="12"/>
          </p:nvPr>
        </p:nvSpPr>
        <p:spPr>
          <a:xfrm>
            <a:off x="6457949" y="6240464"/>
            <a:ext cx="2182416" cy="206381"/>
          </a:xfrm>
        </p:spPr>
        <p:txBody>
          <a:bodyPr/>
          <a:lstStyle/>
          <a:p>
            <a:fld id="{5DD3DB80-B894-403A-B48E-6FDC1A72010E}" type="slidenum">
              <a:rPr lang="zh-CN" altLang="en-US" smtClean="0"/>
              <a:t>8</a:t>
            </a:fld>
            <a:endParaRPr lang="zh-CN" altLang="en-US" dirty="0"/>
          </a:p>
        </p:txBody>
      </p:sp>
      <p:sp>
        <p:nvSpPr>
          <p:cNvPr id="5" name="AutoShape 2" descr="https://cdn.nlark.com/yuque/__latex/b9ece18c950afbfa6b0fdbfa4ff731d3.svg"/>
          <p:cNvSpPr>
            <a:spLocks noChangeAspect="1" noChangeArrowheads="1"/>
          </p:cNvSpPr>
          <p:nvPr/>
        </p:nvSpPr>
        <p:spPr bwMode="auto">
          <a:xfrm>
            <a:off x="38798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内容占位符 2"/>
          <p:cNvSpPr txBox="1"/>
          <p:nvPr/>
        </p:nvSpPr>
        <p:spPr>
          <a:xfrm>
            <a:off x="681737" y="1167756"/>
            <a:ext cx="7346527" cy="536367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00000"/>
              </a:lnSpc>
              <a:buClr>
                <a:schemeClr val="accent1"/>
              </a:buClr>
              <a:buSzPct val="88000"/>
              <a:buFont typeface="Wingdings" panose="05000000000000000000" pitchFamily="2" charset="2"/>
              <a:buChar char="p"/>
            </a:pPr>
            <a:r>
              <a:rPr lang="en-US" altLang="zh-CN"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2010</a:t>
            </a: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年代</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深度学习</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从大数据中学习</a:t>
            </a:r>
            <a:endPar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结合知识图谱的机器学习</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使用 </a:t>
            </a: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GPU </a:t>
            </a: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或 </a:t>
            </a: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HPC </a:t>
            </a: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学习</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多任务 </a:t>
            </a: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 </a:t>
            </a: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终身学习</a:t>
            </a: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深度强化学习，</a:t>
            </a: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AlphaGo</a:t>
            </a:r>
            <a:endPar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lvl="1">
              <a:lnSpc>
                <a:spcPct val="100000"/>
              </a:lnSpc>
              <a:buClr>
                <a:schemeClr val="accent1"/>
              </a:buClr>
              <a:buSzPct val="88000"/>
            </a:pPr>
            <a:r>
              <a:rPr lang="zh-CN" altLang="en-US"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视觉、语音、文本、网络、行为等的庞大应用</a:t>
            </a:r>
          </a:p>
          <a:p>
            <a:pPr lvl="1">
              <a:lnSpc>
                <a:spcPct val="100000"/>
              </a:lnSpc>
              <a:buClr>
                <a:schemeClr val="accent1"/>
              </a:buClr>
              <a:buSzPct val="88000"/>
            </a:pPr>
            <a:r>
              <a:rPr lang="en-US" altLang="zh-CN" sz="18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p>
          <a:p>
            <a:pPr marL="285750" indent="-285750">
              <a:lnSpc>
                <a:spcPct val="100000"/>
              </a:lnSpc>
              <a:buClr>
                <a:schemeClr val="accent1"/>
              </a:buClr>
              <a:buSzPct val="88000"/>
              <a:buFont typeface="Wingdings" panose="05000000000000000000" pitchFamily="2" charset="2"/>
              <a:buChar char="p"/>
            </a:pPr>
            <a:r>
              <a:rPr lang="en-US" altLang="zh-CN" sz="2000" dirty="0">
                <a:ea typeface="阿里巴巴普惠体 R" panose="00020600040101010101" pitchFamily="18" charset="-122"/>
              </a:rPr>
              <a:t>2020</a:t>
            </a:r>
            <a:r>
              <a:rPr lang="zh-CN" altLang="en-US" sz="2000" dirty="0">
                <a:ea typeface="阿里巴巴普惠体 R" panose="00020600040101010101" pitchFamily="18" charset="-122"/>
              </a:rPr>
              <a:t>年代</a:t>
            </a:r>
            <a:endParaRPr lang="en-US" altLang="zh-CN" sz="2000" dirty="0">
              <a:ea typeface="阿里巴巴普惠体 R" panose="00020600040101010101" pitchFamily="18" charset="-122"/>
            </a:endParaRPr>
          </a:p>
          <a:p>
            <a:pPr lvl="1">
              <a:lnSpc>
                <a:spcPct val="100000"/>
              </a:lnSpc>
              <a:buClr>
                <a:schemeClr val="accent1"/>
              </a:buClr>
              <a:buSzPct val="88000"/>
            </a:pPr>
            <a:r>
              <a:rPr lang="zh-CN" altLang="en-US" sz="1800" dirty="0">
                <a:ea typeface="阿里巴巴普惠体 R" panose="00020600040101010101" pitchFamily="18" charset="-122"/>
              </a:rPr>
              <a:t>结合逻辑推理的深度学习</a:t>
            </a:r>
            <a:endParaRPr lang="en-US" altLang="zh-CN" sz="1800" dirty="0">
              <a:ea typeface="阿里巴巴普惠体 R" panose="00020600040101010101" pitchFamily="18" charset="-122"/>
            </a:endParaRPr>
          </a:p>
          <a:p>
            <a:pPr lvl="1">
              <a:lnSpc>
                <a:spcPct val="100000"/>
              </a:lnSpc>
              <a:buClr>
                <a:schemeClr val="accent1"/>
              </a:buClr>
              <a:buSzPct val="88000"/>
            </a:pPr>
            <a:r>
              <a:rPr lang="zh-CN" altLang="en-US" sz="1800" dirty="0">
                <a:ea typeface="阿里巴巴普惠体 R" panose="00020600040101010101" pitchFamily="18" charset="-122"/>
              </a:rPr>
              <a:t>超大规模预训练模型（</a:t>
            </a:r>
            <a:r>
              <a:rPr lang="en-US" altLang="zh-CN" sz="1800" dirty="0">
                <a:ea typeface="阿里巴巴普惠体 R" panose="00020600040101010101" pitchFamily="18" charset="-122"/>
              </a:rPr>
              <a:t>GPT-3</a:t>
            </a:r>
            <a:r>
              <a:rPr lang="zh-CN" altLang="en-US" sz="1800" dirty="0">
                <a:ea typeface="阿里巴巴普惠体 R" panose="00020600040101010101" pitchFamily="18" charset="-122"/>
              </a:rPr>
              <a:t>等）</a:t>
            </a:r>
            <a:endParaRPr lang="en-US" altLang="zh-CN" sz="1800" dirty="0">
              <a:ea typeface="阿里巴巴普惠体 R" panose="00020600040101010101" pitchFamily="18" charset="-122"/>
            </a:endParaRPr>
          </a:p>
          <a:p>
            <a:pPr lvl="1">
              <a:lnSpc>
                <a:spcPct val="100000"/>
              </a:lnSpc>
              <a:buClr>
                <a:schemeClr val="accent1"/>
              </a:buClr>
              <a:buSzPct val="88000"/>
            </a:pPr>
            <a:r>
              <a:rPr lang="zh-CN" altLang="en-US" sz="1800" dirty="0">
                <a:ea typeface="阿里巴巴普惠体 R" panose="00020600040101010101" pitchFamily="18" charset="-122"/>
              </a:rPr>
              <a:t>无人驾驶</a:t>
            </a:r>
            <a:endParaRPr lang="en-US" altLang="zh-CN" sz="1800" dirty="0">
              <a:ea typeface="阿里巴巴普惠体 R" panose="00020600040101010101" pitchFamily="18" charset="-122"/>
            </a:endParaRPr>
          </a:p>
          <a:p>
            <a:pPr lvl="1">
              <a:lnSpc>
                <a:spcPct val="100000"/>
              </a:lnSpc>
              <a:buClr>
                <a:schemeClr val="accent1"/>
              </a:buClr>
              <a:buSzPct val="88000"/>
            </a:pPr>
            <a:r>
              <a:rPr lang="en-US" altLang="zh-CN" sz="1800" dirty="0">
                <a:ea typeface="阿里巴巴普惠体 R" panose="00020600040101010101" pitchFamily="18" charset="-122"/>
              </a:rPr>
              <a:t>AI</a:t>
            </a:r>
            <a:r>
              <a:rPr lang="zh-CN" altLang="en-US" sz="1800" dirty="0">
                <a:ea typeface="阿里巴巴普惠体 R" panose="00020600040101010101" pitchFamily="18" charset="-122"/>
              </a:rPr>
              <a:t>生物制药技术</a:t>
            </a:r>
            <a:endParaRPr lang="en-US" altLang="zh-CN" sz="1800" dirty="0">
              <a:ea typeface="阿里巴巴普惠体 R" panose="00020600040101010101" pitchFamily="18" charset="-122"/>
            </a:endParaRPr>
          </a:p>
          <a:p>
            <a:pPr lvl="1">
              <a:lnSpc>
                <a:spcPct val="100000"/>
              </a:lnSpc>
              <a:buClr>
                <a:schemeClr val="accent1"/>
              </a:buClr>
              <a:buSzPct val="88000"/>
            </a:pPr>
            <a:r>
              <a:rPr lang="zh-CN" altLang="en-US" sz="1800" dirty="0">
                <a:ea typeface="阿里巴巴普惠体 R" panose="00020600040101010101" pitchFamily="18" charset="-122"/>
              </a:rPr>
              <a:t>生成式模型的爆发（</a:t>
            </a:r>
            <a:r>
              <a:rPr lang="en-US" altLang="zh-CN" sz="1800" dirty="0" err="1">
                <a:ea typeface="阿里巴巴普惠体 R" panose="00020600040101010101" pitchFamily="18" charset="-122"/>
              </a:rPr>
              <a:t>ChatGPT</a:t>
            </a:r>
            <a:r>
              <a:rPr lang="zh-CN" altLang="en-US" sz="1800" dirty="0">
                <a:ea typeface="阿里巴巴普惠体 R" panose="00020600040101010101" pitchFamily="18" charset="-122"/>
              </a:rPr>
              <a:t>、</a:t>
            </a:r>
            <a:r>
              <a:rPr lang="en-US" altLang="zh-CN" sz="1800" dirty="0">
                <a:ea typeface="阿里巴巴普惠体 R" panose="00020600040101010101" pitchFamily="18" charset="-122"/>
              </a:rPr>
              <a:t>DALL-E</a:t>
            </a:r>
            <a:r>
              <a:rPr lang="zh-CN" altLang="en-US" sz="1800" dirty="0">
                <a:ea typeface="阿里巴巴普惠体 R" panose="00020600040101010101" pitchFamily="18" charset="-122"/>
              </a:rPr>
              <a:t>、</a:t>
            </a:r>
            <a:r>
              <a:rPr lang="en-US" altLang="zh-CN" sz="1800" dirty="0">
                <a:ea typeface="阿里巴巴普惠体 R" panose="00020600040101010101" pitchFamily="18" charset="-122"/>
              </a:rPr>
              <a:t>Diffusion</a:t>
            </a:r>
            <a:r>
              <a:rPr lang="zh-CN" altLang="en-US" sz="1800" dirty="0">
                <a:ea typeface="阿里巴巴普惠体 R" panose="00020600040101010101" pitchFamily="18" charset="-122"/>
              </a:rPr>
              <a:t>）</a:t>
            </a:r>
            <a:endParaRPr lang="en-US" altLang="zh-CN" sz="1800" dirty="0">
              <a:ea typeface="阿里巴巴普惠体 R" panose="00020600040101010101" pitchFamily="18" charset="-122"/>
            </a:endParaRPr>
          </a:p>
          <a:p>
            <a:pPr lvl="1">
              <a:lnSpc>
                <a:spcPct val="100000"/>
              </a:lnSpc>
              <a:buClr>
                <a:schemeClr val="accent1"/>
              </a:buClr>
              <a:buSzPct val="88000"/>
            </a:pPr>
            <a:r>
              <a:rPr lang="en-US" altLang="zh-CN" sz="1800" dirty="0">
                <a:ea typeface="阿里巴巴普惠体 R" panose="00020600040101010101" pitchFamily="18" charset="-122"/>
              </a:rPr>
              <a:t>…</a:t>
            </a:r>
            <a:endParaRPr lang="zh-CN" altLang="en-US" sz="1800" dirty="0">
              <a:ea typeface="阿里巴巴普惠体 R" panose="00020600040101010101" pitchFamily="18" charset="-122"/>
            </a:endParaRPr>
          </a:p>
          <a:p>
            <a:pPr marL="742950" lvl="1" indent="-285750">
              <a:lnSpc>
                <a:spcPct val="100000"/>
              </a:lnSpc>
              <a:buClr>
                <a:schemeClr val="accent1"/>
              </a:buClr>
              <a:buSzPct val="88000"/>
              <a:buFont typeface="Wingdings" panose="05000000000000000000" pitchFamily="2" charset="2"/>
              <a:buChar char="p"/>
            </a:pPr>
            <a:endParaRPr lang="zh-CN" altLang="en-US" sz="1600" dirty="0">
              <a:ea typeface="阿里巴巴普惠体 R" panose="00020600040101010101" pitchFamily="18" charset="-122"/>
            </a:endParaRPr>
          </a:p>
          <a:p>
            <a:pPr>
              <a:lnSpc>
                <a:spcPct val="100000"/>
              </a:lnSpc>
              <a:buClr>
                <a:schemeClr val="accent1"/>
              </a:buClr>
              <a:buSzPct val="88000"/>
            </a:pPr>
            <a:endParaRPr lang="en-US" altLang="zh-CN" sz="2200"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1738" y="1"/>
            <a:ext cx="8137922" cy="1028699"/>
          </a:xfrm>
        </p:spPr>
        <p:txBody>
          <a:bodyPr/>
          <a:lstStyle/>
          <a:p>
            <a:r>
              <a:rPr lang="zh-CN" altLang="en-US" dirty="0"/>
              <a:t>机器学习在什么情况下具有优势</a:t>
            </a:r>
            <a:endParaRPr lang="zh-CN" altLang="en-US"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4" name="灯片编号占位符 3"/>
          <p:cNvSpPr>
            <a:spLocks noGrp="1"/>
          </p:cNvSpPr>
          <p:nvPr>
            <p:ph type="sldNum" sz="quarter" idx="12"/>
          </p:nvPr>
        </p:nvSpPr>
        <p:spPr>
          <a:xfrm>
            <a:off x="6457949" y="6240464"/>
            <a:ext cx="2182416" cy="206381"/>
          </a:xfrm>
        </p:spPr>
        <p:txBody>
          <a:bodyPr/>
          <a:lstStyle/>
          <a:p>
            <a:fld id="{5DD3DB80-B894-403A-B48E-6FDC1A72010E}" type="slidenum">
              <a:rPr lang="zh-CN" altLang="en-US" smtClean="0"/>
              <a:t>9</a:t>
            </a:fld>
            <a:endParaRPr lang="zh-CN" altLang="en-US" dirty="0"/>
          </a:p>
        </p:txBody>
      </p:sp>
      <p:sp>
        <p:nvSpPr>
          <p:cNvPr id="13" name="内容占位符 2"/>
          <p:cNvSpPr txBox="1"/>
          <p:nvPr/>
        </p:nvSpPr>
        <p:spPr>
          <a:xfrm>
            <a:off x="502444" y="1474185"/>
            <a:ext cx="7981157" cy="3683867"/>
          </a:xfrm>
          <a:prstGeom prst="rect">
            <a:avLst/>
          </a:prstGeom>
        </p:spPr>
        <p:txBody>
          <a:bodyPr vert="horz" lIns="91440" tIns="45720" rIns="91440" bIns="45720" rtlCol="0">
            <a:normAutofit/>
          </a:bodyPr>
          <a:lstStyle>
            <a:lvl1pPr marL="285750" indent="-285750" algn="l" defTabSz="914400" rtl="0" eaLnBrk="1" latinLnBrk="0" hangingPunct="1">
              <a:lnSpc>
                <a:spcPct val="100000"/>
              </a:lnSpc>
              <a:spcBef>
                <a:spcPts val="1000"/>
              </a:spcBef>
              <a:buClr>
                <a:schemeClr val="accent1"/>
              </a:buClr>
              <a:buSzPct val="88000"/>
              <a:buFont typeface="Wingdings" panose="05000000000000000000" pitchFamily="2" charset="2"/>
              <a:buChar char="p"/>
              <a:defRPr sz="20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500"/>
              </a:spcBef>
              <a:buClr>
                <a:schemeClr val="accent1"/>
              </a:buClr>
              <a:buSzPct val="100000"/>
              <a:buFont typeface="Arial" panose="020B0604020202020204" pitchFamily="34" charset="0"/>
              <a:buChar char="•"/>
              <a:defRPr sz="1800" b="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500"/>
              </a:spcBef>
              <a:buClr>
                <a:schemeClr val="accent1"/>
              </a:buClr>
              <a:buSzPct val="100000"/>
              <a:buFont typeface="Arial" panose="020B0604020202020204" pitchFamily="34" charset="0"/>
              <a:buChar char="•"/>
              <a:defRPr sz="1600" b="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应用情形：</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模型基于大量数据</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lvl="1"/>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例子：</a:t>
            </a:r>
            <a:r>
              <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Google </a:t>
            </a: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网络搜索，</a:t>
            </a:r>
            <a:r>
              <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Facebook </a:t>
            </a: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新闻提要</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输出必须是个性化的</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lvl="1"/>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例子：新闻</a:t>
            </a:r>
            <a:r>
              <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物品</a:t>
            </a:r>
            <a:r>
              <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广告推荐</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人类不能解释专业知识</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lvl="1"/>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例子：语音</a:t>
            </a:r>
            <a:r>
              <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人脸识别，围棋游戏</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人类的专业知识不存在</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lvl="1"/>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例子：在火星上导航</a:t>
            </a:r>
            <a:endPar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0" indent="0">
              <a:lnSpc>
                <a:spcPct val="150000"/>
              </a:lnSpc>
              <a:buNone/>
            </a:pPr>
            <a:endParaRPr lang="en-US" altLang="zh-CN" dirty="0">
              <a:solidFill>
                <a:schemeClr val="accent2"/>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sp>
        <p:nvSpPr>
          <p:cNvPr id="5" name="AutoShape 2" descr="https://cdn.nlark.com/yuque/__latex/b9ece18c950afbfa6b0fdbfa4ff731d3.svg"/>
          <p:cNvSpPr>
            <a:spLocks noChangeAspect="1" noChangeArrowheads="1"/>
          </p:cNvSpPr>
          <p:nvPr/>
        </p:nvSpPr>
        <p:spPr bwMode="auto">
          <a:xfrm>
            <a:off x="38798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3"/>
          <p:cNvSpPr>
            <a:spLocks noGrp="1" noRot="1" noChangeArrowheads="1"/>
          </p:cNvSpPr>
          <p:nvPr>
            <p:ph type="body" idx="1"/>
          </p:nvPr>
        </p:nvSpPr>
        <p:spPr>
          <a:xfrm>
            <a:off x="581692" y="407115"/>
            <a:ext cx="7747026" cy="5797550"/>
          </a:xfrm>
        </p:spPr>
        <p:txBody>
          <a:bodyPr/>
          <a:lstStyle/>
          <a:p>
            <a:pPr>
              <a:lnSpc>
                <a:spcPct val="150000"/>
              </a:lnSpc>
              <a:buNone/>
            </a:pPr>
            <a:r>
              <a:rPr lang="en-US" altLang="zh-CN" sz="2400" dirty="0">
                <a:solidFill>
                  <a:srgbClr val="0070C0"/>
                </a:solidFill>
                <a:latin typeface="黑体" pitchFamily="49" charset="-122"/>
                <a:ea typeface="黑体" pitchFamily="49" charset="-122"/>
              </a:rPr>
              <a:t>   9.1.2 </a:t>
            </a:r>
            <a:r>
              <a:rPr lang="zh-CN" altLang="en-US" sz="2400" dirty="0">
                <a:solidFill>
                  <a:srgbClr val="0070C0"/>
                </a:solidFill>
                <a:latin typeface="黑体" pitchFamily="49" charset="-122"/>
                <a:ea typeface="黑体" pitchFamily="49" charset="-122"/>
              </a:rPr>
              <a:t>机器学习的原理</a:t>
            </a:r>
            <a:endParaRPr lang="zh-CN" altLang="en-US" sz="2400" dirty="0">
              <a:solidFill>
                <a:srgbClr val="0070C0"/>
              </a:solidFill>
            </a:endParaRPr>
          </a:p>
          <a:p>
            <a:pPr>
              <a:buFont typeface="Wingdings" pitchFamily="2" charset="2"/>
              <a:buNone/>
            </a:pPr>
            <a:r>
              <a:rPr lang="en-US" altLang="zh-CN" sz="2400" dirty="0">
                <a:solidFill>
                  <a:srgbClr val="0070C0"/>
                </a:solidFill>
                <a:latin typeface="仿宋_GB2312" pitchFamily="49" charset="-122"/>
                <a:ea typeface="仿宋_GB2312" pitchFamily="49" charset="-122"/>
              </a:rPr>
              <a:t>   </a:t>
            </a:r>
            <a:r>
              <a:rPr lang="zh-CN" altLang="en-US" sz="2400" dirty="0">
                <a:solidFill>
                  <a:srgbClr val="0070C0"/>
                </a:solidFill>
                <a:latin typeface="华文新魏" pitchFamily="2" charset="-122"/>
                <a:ea typeface="华文新魏" pitchFamily="2" charset="-122"/>
              </a:rPr>
              <a:t>研究发现：</a:t>
            </a:r>
          </a:p>
          <a:p>
            <a:pPr>
              <a:lnSpc>
                <a:spcPct val="150000"/>
              </a:lnSpc>
              <a:buFont typeface="Wingdings" pitchFamily="2" charset="2"/>
              <a:buNone/>
            </a:pPr>
            <a:r>
              <a:rPr lang="zh-CN" altLang="en-US" sz="2400" dirty="0">
                <a:solidFill>
                  <a:srgbClr val="0070C0"/>
                </a:solidFill>
                <a:latin typeface="华文新魏" pitchFamily="2" charset="-122"/>
                <a:ea typeface="华文新魏" pitchFamily="2" charset="-122"/>
              </a:rPr>
              <a:t>      ① 学习与经验有关；</a:t>
            </a:r>
          </a:p>
          <a:p>
            <a:pPr>
              <a:lnSpc>
                <a:spcPct val="150000"/>
              </a:lnSpc>
              <a:buFont typeface="Wingdings" pitchFamily="2" charset="2"/>
              <a:buNone/>
            </a:pPr>
            <a:r>
              <a:rPr lang="zh-CN" altLang="en-US" sz="2400" dirty="0">
                <a:solidFill>
                  <a:srgbClr val="0070C0"/>
                </a:solidFill>
                <a:latin typeface="华文新魏" pitchFamily="2" charset="-122"/>
                <a:ea typeface="华文新魏" pitchFamily="2" charset="-122"/>
              </a:rPr>
              <a:t>      ② 学习可以改善系统性能；</a:t>
            </a:r>
          </a:p>
          <a:p>
            <a:pPr algn="just">
              <a:lnSpc>
                <a:spcPct val="150000"/>
              </a:lnSpc>
              <a:buFont typeface="Wingdings" pitchFamily="2" charset="2"/>
              <a:buNone/>
            </a:pPr>
            <a:r>
              <a:rPr lang="zh-CN" altLang="en-US" sz="2400" dirty="0">
                <a:solidFill>
                  <a:srgbClr val="0070C0"/>
                </a:solidFill>
                <a:latin typeface="华文新魏" pitchFamily="2" charset="-122"/>
                <a:ea typeface="华文新魏" pitchFamily="2" charset="-122"/>
              </a:rPr>
              <a:t>      ③ 学习是一个有反馈的信息处理与控制过程。因为经验是在系统与环境的交互过程中产生的，而经验中应该包含系统输入、响应和效果等信息。因此经验的积累、性能的完善正是通过重复这一过程而实现的。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67">
                                            <p:txEl>
                                              <p:pRg st="1" end="1"/>
                                            </p:txEl>
                                          </p:spTgt>
                                        </p:tgtEl>
                                        <p:attrNameLst>
                                          <p:attrName>style.visibility</p:attrName>
                                        </p:attrNameLst>
                                      </p:cBhvr>
                                      <p:to>
                                        <p:strVal val="visible"/>
                                      </p:to>
                                    </p:set>
                                    <p:animEffect transition="in" filter="blinds(horizontal)">
                                      <p:cBhvr>
                                        <p:cTn id="7" dur="500"/>
                                        <p:tgtEl>
                                          <p:spTgt spid="1126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1267">
                                            <p:txEl>
                                              <p:pRg st="2" end="2"/>
                                            </p:txEl>
                                          </p:spTgt>
                                        </p:tgtEl>
                                        <p:attrNameLst>
                                          <p:attrName>style.visibility</p:attrName>
                                        </p:attrNameLst>
                                      </p:cBhvr>
                                      <p:to>
                                        <p:strVal val="visible"/>
                                      </p:to>
                                    </p:set>
                                    <p:animEffect transition="in" filter="blinds(horizontal)">
                                      <p:cBhvr>
                                        <p:cTn id="10" dur="500"/>
                                        <p:tgtEl>
                                          <p:spTgt spid="1126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1267">
                                            <p:txEl>
                                              <p:pRg st="3" end="3"/>
                                            </p:txEl>
                                          </p:spTgt>
                                        </p:tgtEl>
                                        <p:attrNameLst>
                                          <p:attrName>style.visibility</p:attrName>
                                        </p:attrNameLst>
                                      </p:cBhvr>
                                      <p:to>
                                        <p:strVal val="visible"/>
                                      </p:to>
                                    </p:set>
                                    <p:animEffect transition="in" filter="blinds(horizontal)">
                                      <p:cBhvr>
                                        <p:cTn id="13" dur="500"/>
                                        <p:tgtEl>
                                          <p:spTgt spid="11267">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1267">
                                            <p:txEl>
                                              <p:pRg st="4" end="4"/>
                                            </p:txEl>
                                          </p:spTgt>
                                        </p:tgtEl>
                                        <p:attrNameLst>
                                          <p:attrName>style.visibility</p:attrName>
                                        </p:attrNameLst>
                                      </p:cBhvr>
                                      <p:to>
                                        <p:strVal val="visible"/>
                                      </p:to>
                                    </p:set>
                                    <p:animEffect transition="in" filter="blinds(horizontal)">
                                      <p:cBhvr>
                                        <p:cTn id="16" dur="500"/>
                                        <p:tgtEl>
                                          <p:spTgt spid="112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3"/>
          <p:cNvSpPr>
            <a:spLocks noGrp="1" noRot="1" noChangeArrowheads="1"/>
          </p:cNvSpPr>
          <p:nvPr>
            <p:ph type="body" idx="1"/>
          </p:nvPr>
        </p:nvSpPr>
        <p:spPr>
          <a:xfrm>
            <a:off x="300469" y="418461"/>
            <a:ext cx="8143931" cy="5939498"/>
          </a:xfrm>
        </p:spPr>
        <p:txBody>
          <a:bodyPr/>
          <a:lstStyle/>
          <a:p>
            <a:pPr>
              <a:buFont typeface="Wingdings" pitchFamily="2" charset="2"/>
              <a:buNone/>
            </a:pPr>
            <a:r>
              <a:rPr lang="en-US" altLang="zh-CN" sz="2400" dirty="0">
                <a:solidFill>
                  <a:srgbClr val="0070C0"/>
                </a:solidFill>
                <a:latin typeface="黑体" pitchFamily="49" charset="-122"/>
                <a:ea typeface="黑体" pitchFamily="49" charset="-122"/>
              </a:rPr>
              <a:t>  9.1.3 </a:t>
            </a:r>
            <a:r>
              <a:rPr lang="zh-CN" altLang="en-US" sz="2400" dirty="0">
                <a:solidFill>
                  <a:srgbClr val="0070C0"/>
                </a:solidFill>
                <a:latin typeface="黑体" pitchFamily="49" charset="-122"/>
                <a:ea typeface="黑体" pitchFamily="49" charset="-122"/>
              </a:rPr>
              <a:t>机器学习的分类</a:t>
            </a:r>
          </a:p>
          <a:p>
            <a:pPr>
              <a:lnSpc>
                <a:spcPct val="150000"/>
              </a:lnSpc>
              <a:spcBef>
                <a:spcPts val="0"/>
              </a:spcBef>
              <a:buNone/>
            </a:pPr>
            <a:r>
              <a:rPr lang="zh-CN" altLang="en-US" sz="2800" dirty="0">
                <a:solidFill>
                  <a:srgbClr val="0070C0"/>
                </a:solidFill>
                <a:latin typeface="仿宋_GB2312" charset="-122"/>
                <a:ea typeface="仿宋_GB2312" charset="-122"/>
              </a:rPr>
              <a:t>      </a:t>
            </a:r>
            <a:r>
              <a:rPr lang="en-US" sz="2400" dirty="0">
                <a:solidFill>
                  <a:srgbClr val="0070C0"/>
                </a:solidFill>
                <a:latin typeface="楷体" pitchFamily="49" charset="-122"/>
                <a:ea typeface="楷体" pitchFamily="49" charset="-122"/>
              </a:rPr>
              <a:t>1. </a:t>
            </a:r>
            <a:r>
              <a:rPr lang="zh-CN" altLang="en-US" sz="2400" b="1" dirty="0">
                <a:solidFill>
                  <a:srgbClr val="0070C0"/>
                </a:solidFill>
                <a:latin typeface="楷体" pitchFamily="49" charset="-122"/>
                <a:ea typeface="楷体" pitchFamily="49" charset="-122"/>
              </a:rPr>
              <a:t>基于学习途径的分类</a:t>
            </a:r>
            <a:endParaRPr lang="zh-CN" altLang="en-US" sz="2400" dirty="0">
              <a:solidFill>
                <a:srgbClr val="0070C0"/>
              </a:solidFill>
              <a:latin typeface="楷体" pitchFamily="49" charset="-122"/>
              <a:ea typeface="楷体" pitchFamily="49" charset="-122"/>
            </a:endParaRPr>
          </a:p>
          <a:p>
            <a:pPr algn="just">
              <a:lnSpc>
                <a:spcPts val="3500"/>
              </a:lnSpc>
              <a:spcBef>
                <a:spcPts val="0"/>
              </a:spcBef>
              <a:buNone/>
            </a:pPr>
            <a:r>
              <a:rPr lang="en-US" sz="2400" dirty="0">
                <a:solidFill>
                  <a:srgbClr val="0070C0"/>
                </a:solidFill>
                <a:latin typeface="楷体" pitchFamily="49" charset="-122"/>
                <a:ea typeface="楷体" pitchFamily="49" charset="-122"/>
              </a:rPr>
              <a:t>  (</a:t>
            </a:r>
            <a:r>
              <a:rPr lang="en-US" sz="2300" dirty="0">
                <a:solidFill>
                  <a:srgbClr val="0070C0"/>
                </a:solidFill>
                <a:latin typeface="楷体" pitchFamily="49" charset="-122"/>
                <a:ea typeface="楷体" pitchFamily="49" charset="-122"/>
              </a:rPr>
              <a:t>1) </a:t>
            </a:r>
            <a:r>
              <a:rPr lang="zh-CN" altLang="en-US" sz="2300" dirty="0">
                <a:solidFill>
                  <a:srgbClr val="0070C0"/>
                </a:solidFill>
                <a:latin typeface="方正姚体" pitchFamily="2" charset="-122"/>
                <a:ea typeface="方正姚体" pitchFamily="2" charset="-122"/>
              </a:rPr>
              <a:t>符号学习</a:t>
            </a:r>
            <a:r>
              <a:rPr lang="en-US" sz="2300" dirty="0">
                <a:solidFill>
                  <a:srgbClr val="0070C0"/>
                </a:solidFill>
                <a:latin typeface="方正姚体" pitchFamily="2" charset="-122"/>
                <a:ea typeface="方正姚体" pitchFamily="2" charset="-122"/>
              </a:rPr>
              <a:t> </a:t>
            </a:r>
            <a:r>
              <a:rPr lang="en-US" sz="2300" dirty="0">
                <a:solidFill>
                  <a:srgbClr val="0070C0"/>
                </a:solidFill>
                <a:latin typeface="楷体" pitchFamily="49" charset="-122"/>
                <a:ea typeface="楷体" pitchFamily="49" charset="-122"/>
              </a:rPr>
              <a:t> </a:t>
            </a:r>
            <a:r>
              <a:rPr lang="zh-CN" altLang="en-US" sz="2300" dirty="0">
                <a:solidFill>
                  <a:srgbClr val="0070C0"/>
                </a:solidFill>
                <a:latin typeface="楷体" pitchFamily="49" charset="-122"/>
                <a:ea typeface="楷体" pitchFamily="49" charset="-122"/>
              </a:rPr>
              <a:t>模拟人脑宏观心理级学习过程，以认知心理学原理为基础，以符号数据为输入，以符号运算为方法，用推理过程在图或状态空间中搜索，学习的目标为概念或规则等。符号学习的典型方法有：记忆学习、示例学习、演绎学习、类比学习、规则学习、解释学习等。</a:t>
            </a:r>
          </a:p>
          <a:p>
            <a:pPr algn="just">
              <a:lnSpc>
                <a:spcPts val="3500"/>
              </a:lnSpc>
              <a:spcBef>
                <a:spcPts val="600"/>
              </a:spcBef>
              <a:buNone/>
            </a:pPr>
            <a:r>
              <a:rPr lang="en-US" sz="2300" dirty="0">
                <a:solidFill>
                  <a:srgbClr val="0070C0"/>
                </a:solidFill>
                <a:latin typeface="楷体" pitchFamily="49" charset="-122"/>
                <a:ea typeface="楷体" pitchFamily="49" charset="-122"/>
              </a:rPr>
              <a:t>  (2) </a:t>
            </a:r>
            <a:r>
              <a:rPr lang="zh-CN" altLang="en-US" sz="2300" dirty="0">
                <a:solidFill>
                  <a:srgbClr val="0070C0"/>
                </a:solidFill>
                <a:latin typeface="方正姚体" pitchFamily="2" charset="-122"/>
                <a:ea typeface="方正姚体" pitchFamily="2" charset="-122"/>
              </a:rPr>
              <a:t>神经网络学习（或连接学习） </a:t>
            </a:r>
            <a:r>
              <a:rPr lang="zh-CN" altLang="en-US" sz="2300" dirty="0">
                <a:solidFill>
                  <a:srgbClr val="0070C0"/>
                </a:solidFill>
                <a:latin typeface="楷体" pitchFamily="49" charset="-122"/>
                <a:ea typeface="楷体" pitchFamily="49" charset="-122"/>
              </a:rPr>
              <a:t>模拟人脑的微观生理级学习过程，以脑和神经科学原理为基础，以人工神经网络为拓扑结构模型，以数值数据为输入，以数值运算为方法，用迭代过程在权向量空间中搜索，学习的目标为函数或类别。典型的连接学习有权值修正学习、拓扑结构学习。</a:t>
            </a:r>
            <a:endParaRPr lang="en-US" altLang="zh-CN" sz="2300" dirty="0">
              <a:solidFill>
                <a:srgbClr val="0070C0"/>
              </a:solidFill>
              <a:latin typeface="楷体" pitchFamily="49" charset="-122"/>
              <a:ea typeface="楷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anim calcmode="lin" valueType="num">
                                      <p:cBhvr additive="base">
                                        <p:cTn id="7"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3" dur="500"/>
                                        <p:tgtEl>
                                          <p:spTgt spid="1741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18" dur="500"/>
                                        <p:tgtEl>
                                          <p:spTgt spid="174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Rectangle 3"/>
          <p:cNvSpPr>
            <a:spLocks noGrp="1" noRot="1" noChangeArrowheads="1"/>
          </p:cNvSpPr>
          <p:nvPr>
            <p:ph type="body" idx="1"/>
          </p:nvPr>
        </p:nvSpPr>
        <p:spPr>
          <a:xfrm>
            <a:off x="398208" y="714356"/>
            <a:ext cx="8043890" cy="5715040"/>
          </a:xfrm>
        </p:spPr>
        <p:txBody>
          <a:bodyPr/>
          <a:lstStyle/>
          <a:p>
            <a:pPr algn="just">
              <a:lnSpc>
                <a:spcPct val="150000"/>
              </a:lnSpc>
              <a:buNone/>
            </a:pPr>
            <a:r>
              <a:rPr lang="en-US" sz="2400" dirty="0">
                <a:solidFill>
                  <a:srgbClr val="0070C0"/>
                </a:solidFill>
                <a:latin typeface="楷体" pitchFamily="49" charset="-122"/>
                <a:ea typeface="楷体" pitchFamily="49" charset="-122"/>
              </a:rPr>
              <a:t>  (3) </a:t>
            </a:r>
            <a:r>
              <a:rPr lang="zh-CN" altLang="en-US" sz="2400" dirty="0">
                <a:solidFill>
                  <a:srgbClr val="0070C0"/>
                </a:solidFill>
                <a:latin typeface="方正姚体" pitchFamily="2" charset="-122"/>
                <a:ea typeface="方正姚体" pitchFamily="2" charset="-122"/>
              </a:rPr>
              <a:t>统计学习（</a:t>
            </a:r>
            <a:r>
              <a:rPr lang="en-US" altLang="zh-CN" sz="2400" dirty="0">
                <a:solidFill>
                  <a:srgbClr val="0070C0"/>
                </a:solidFill>
                <a:latin typeface="方正姚体" pitchFamily="2" charset="-122"/>
                <a:ea typeface="方正姚体" pitchFamily="2" charset="-122"/>
              </a:rPr>
              <a:t>VAE</a:t>
            </a:r>
            <a:r>
              <a:rPr lang="zh-CN" altLang="en-US" sz="2400" dirty="0">
                <a:solidFill>
                  <a:srgbClr val="0070C0"/>
                </a:solidFill>
                <a:latin typeface="方正姚体" pitchFamily="2" charset="-122"/>
                <a:ea typeface="方正姚体" pitchFamily="2" charset="-122"/>
              </a:rPr>
              <a:t>） </a:t>
            </a:r>
            <a:r>
              <a:rPr lang="zh-CN" altLang="en-US" sz="2400" dirty="0">
                <a:solidFill>
                  <a:srgbClr val="0070C0"/>
                </a:solidFill>
                <a:latin typeface="楷体" pitchFamily="49" charset="-122"/>
                <a:ea typeface="楷体" pitchFamily="49" charset="-122"/>
              </a:rPr>
              <a:t>运用统计、概率及其他数学理论和方法对样本数据进行处理，从中发现相关模式和规律的一种机器学习方法。</a:t>
            </a:r>
          </a:p>
          <a:p>
            <a:pPr algn="just">
              <a:lnSpc>
                <a:spcPct val="150000"/>
              </a:lnSpc>
              <a:buNone/>
            </a:pPr>
            <a:r>
              <a:rPr lang="en-US" sz="2400" dirty="0">
                <a:solidFill>
                  <a:srgbClr val="0070C0"/>
                </a:solidFill>
                <a:latin typeface="楷体" pitchFamily="49" charset="-122"/>
                <a:ea typeface="楷体" pitchFamily="49" charset="-122"/>
              </a:rPr>
              <a:t>  (4) </a:t>
            </a:r>
            <a:r>
              <a:rPr lang="zh-CN" altLang="en-US" sz="2400" dirty="0">
                <a:solidFill>
                  <a:srgbClr val="0070C0"/>
                </a:solidFill>
                <a:latin typeface="方正姚体" pitchFamily="2" charset="-122"/>
                <a:ea typeface="方正姚体" pitchFamily="2" charset="-122"/>
              </a:rPr>
              <a:t>交互学习</a:t>
            </a:r>
            <a:r>
              <a:rPr lang="en-US" altLang="zh-CN" sz="2400" dirty="0">
                <a:solidFill>
                  <a:srgbClr val="0070C0"/>
                </a:solidFill>
                <a:latin typeface="方正姚体" pitchFamily="2" charset="-122"/>
                <a:ea typeface="方正姚体" pitchFamily="2" charset="-122"/>
              </a:rPr>
              <a:t>(</a:t>
            </a:r>
            <a:r>
              <a:rPr lang="zh-CN" altLang="en-US" sz="2400" dirty="0">
                <a:solidFill>
                  <a:srgbClr val="0070C0"/>
                </a:solidFill>
                <a:latin typeface="方正姚体" pitchFamily="2" charset="-122"/>
                <a:ea typeface="方正姚体" pitchFamily="2" charset="-122"/>
              </a:rPr>
              <a:t>强化学习</a:t>
            </a:r>
            <a:r>
              <a:rPr lang="en-US" altLang="zh-CN" sz="2400" dirty="0">
                <a:solidFill>
                  <a:srgbClr val="0070C0"/>
                </a:solidFill>
                <a:latin typeface="方正姚体" pitchFamily="2" charset="-122"/>
                <a:ea typeface="方正姚体" pitchFamily="2" charset="-122"/>
              </a:rPr>
              <a:t>)</a:t>
            </a:r>
            <a:r>
              <a:rPr lang="zh-CN" altLang="en-US" sz="2400" dirty="0">
                <a:solidFill>
                  <a:srgbClr val="0070C0"/>
                </a:solidFill>
                <a:latin typeface="方正姚体" pitchFamily="2" charset="-122"/>
                <a:ea typeface="方正姚体" pitchFamily="2" charset="-122"/>
              </a:rPr>
              <a:t> </a:t>
            </a:r>
            <a:r>
              <a:rPr lang="zh-CN" altLang="en-US" sz="2400" dirty="0">
                <a:solidFill>
                  <a:srgbClr val="0070C0"/>
                </a:solidFill>
                <a:latin typeface="楷体" pitchFamily="49" charset="-122"/>
                <a:ea typeface="楷体" pitchFamily="49" charset="-122"/>
              </a:rPr>
              <a:t>智能体通过与环境的交互而获得相关知识和机能的一种机器学习方法。交互学习的典型方法就是强化学习（增强学习）。强化学习以环境反馈（奖</a:t>
            </a:r>
            <a:r>
              <a:rPr lang="en-US" sz="2400" dirty="0">
                <a:solidFill>
                  <a:srgbClr val="0070C0"/>
                </a:solidFill>
                <a:latin typeface="楷体" pitchFamily="49" charset="-122"/>
                <a:ea typeface="楷体" pitchFamily="49" charset="-122"/>
              </a:rPr>
              <a:t>/</a:t>
            </a:r>
            <a:r>
              <a:rPr lang="zh-CN" altLang="en-US" sz="2400" dirty="0">
                <a:solidFill>
                  <a:srgbClr val="0070C0"/>
                </a:solidFill>
                <a:latin typeface="楷体" pitchFamily="49" charset="-122"/>
                <a:ea typeface="楷体" pitchFamily="49" charset="-122"/>
              </a:rPr>
              <a:t>惩信号）作为输入，以统计和动态规划技术为指导，学习目标为最优行动策略。</a:t>
            </a:r>
          </a:p>
          <a:p>
            <a:pPr>
              <a:buFont typeface="Wingdings" pitchFamily="2" charset="2"/>
              <a:buNone/>
            </a:pPr>
            <a:endParaRPr lang="zh-CN" altLang="en-US" sz="2400" dirty="0">
              <a:latin typeface="仿宋_GB2312" charset="-122"/>
              <a:ea typeface="仿宋_GB231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linds(horizontal)">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blinds(horizontal)">
                                      <p:cBhvr>
                                        <p:cTn id="12" dur="500"/>
                                        <p:tgtEl>
                                          <p:spTgt spid="184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3" name="Rectangle 3"/>
          <p:cNvSpPr>
            <a:spLocks noGrp="1" noRot="1" noChangeArrowheads="1"/>
          </p:cNvSpPr>
          <p:nvPr>
            <p:ph type="body" idx="1"/>
          </p:nvPr>
        </p:nvSpPr>
        <p:spPr>
          <a:xfrm>
            <a:off x="368712" y="500042"/>
            <a:ext cx="8115328" cy="5630883"/>
          </a:xfrm>
        </p:spPr>
        <p:txBody>
          <a:bodyPr/>
          <a:lstStyle/>
          <a:p>
            <a:pPr>
              <a:lnSpc>
                <a:spcPct val="150000"/>
              </a:lnSpc>
              <a:buNone/>
            </a:pPr>
            <a:r>
              <a:rPr lang="en-US" sz="2400" dirty="0">
                <a:solidFill>
                  <a:srgbClr val="0070C0"/>
                </a:solidFill>
                <a:latin typeface="楷体" pitchFamily="49" charset="-122"/>
                <a:ea typeface="楷体" pitchFamily="49" charset="-122"/>
              </a:rPr>
              <a:t>  2.</a:t>
            </a:r>
            <a:r>
              <a:rPr lang="en-US" sz="2400" b="1" dirty="0">
                <a:solidFill>
                  <a:srgbClr val="0070C0"/>
                </a:solidFill>
                <a:latin typeface="楷体" pitchFamily="49" charset="-122"/>
                <a:ea typeface="楷体" pitchFamily="49" charset="-122"/>
              </a:rPr>
              <a:t> </a:t>
            </a:r>
            <a:r>
              <a:rPr lang="zh-CN" altLang="en-US" sz="2400" b="1" dirty="0">
                <a:solidFill>
                  <a:srgbClr val="0070C0"/>
                </a:solidFill>
                <a:latin typeface="楷体" pitchFamily="49" charset="-122"/>
                <a:ea typeface="楷体" pitchFamily="49" charset="-122"/>
              </a:rPr>
              <a:t>基于样本数据特点的分类</a:t>
            </a:r>
            <a:endParaRPr lang="zh-CN" altLang="en-US" sz="2400" dirty="0">
              <a:solidFill>
                <a:srgbClr val="0070C0"/>
              </a:solidFill>
              <a:latin typeface="楷体" pitchFamily="49" charset="-122"/>
              <a:ea typeface="楷体" pitchFamily="49" charset="-122"/>
            </a:endParaRPr>
          </a:p>
          <a:p>
            <a:pPr algn="just">
              <a:lnSpc>
                <a:spcPct val="130000"/>
              </a:lnSpc>
              <a:buNone/>
            </a:pPr>
            <a:r>
              <a:rPr lang="en-US" sz="2400" dirty="0">
                <a:solidFill>
                  <a:srgbClr val="0070C0"/>
                </a:solidFill>
                <a:latin typeface="楷体" pitchFamily="49" charset="-122"/>
                <a:ea typeface="楷体" pitchFamily="49" charset="-122"/>
              </a:rPr>
              <a:t>  </a:t>
            </a:r>
            <a:r>
              <a:rPr lang="en-US" sz="2300" dirty="0">
                <a:solidFill>
                  <a:srgbClr val="0070C0"/>
                </a:solidFill>
                <a:latin typeface="楷体" pitchFamily="49" charset="-122"/>
                <a:ea typeface="楷体" pitchFamily="49" charset="-122"/>
              </a:rPr>
              <a:t>(1) </a:t>
            </a:r>
            <a:r>
              <a:rPr lang="zh-CN" altLang="en-US" sz="2300" dirty="0">
                <a:solidFill>
                  <a:srgbClr val="0070C0"/>
                </a:solidFill>
                <a:latin typeface="方正姚体" pitchFamily="2" charset="-122"/>
                <a:ea typeface="方正姚体" pitchFamily="2" charset="-122"/>
              </a:rPr>
              <a:t>有监督学习</a:t>
            </a:r>
            <a:r>
              <a:rPr lang="zh-CN" altLang="en-US" sz="2300" dirty="0">
                <a:solidFill>
                  <a:srgbClr val="0070C0"/>
                </a:solidFill>
                <a:latin typeface="Times New Roman" pitchFamily="18" charset="0"/>
                <a:ea typeface="楷体" pitchFamily="49" charset="-122"/>
                <a:cs typeface="Times New Roman" pitchFamily="18" charset="0"/>
              </a:rPr>
              <a:t>（</a:t>
            </a:r>
            <a:r>
              <a:rPr lang="en-US" sz="2300" dirty="0">
                <a:solidFill>
                  <a:srgbClr val="0070C0"/>
                </a:solidFill>
                <a:latin typeface="Times New Roman" pitchFamily="18" charset="0"/>
                <a:ea typeface="楷体" pitchFamily="49" charset="-122"/>
                <a:cs typeface="Times New Roman" pitchFamily="18" charset="0"/>
              </a:rPr>
              <a:t>supervised learning</a:t>
            </a:r>
            <a:r>
              <a:rPr lang="zh-CN" altLang="en-US" sz="2300" dirty="0">
                <a:solidFill>
                  <a:srgbClr val="0070C0"/>
                </a:solidFill>
                <a:latin typeface="Times New Roman" pitchFamily="18" charset="0"/>
                <a:ea typeface="楷体" pitchFamily="49" charset="-122"/>
                <a:cs typeface="Times New Roman" pitchFamily="18" charset="0"/>
              </a:rPr>
              <a:t>，亦称有导师学习）</a:t>
            </a:r>
            <a:endParaRPr lang="en-US" altLang="zh-CN" sz="2300" dirty="0">
              <a:solidFill>
                <a:srgbClr val="0070C0"/>
              </a:solidFill>
              <a:latin typeface="Times New Roman" pitchFamily="18" charset="0"/>
              <a:ea typeface="楷体" pitchFamily="49" charset="-122"/>
              <a:cs typeface="Times New Roman" pitchFamily="18" charset="0"/>
            </a:endParaRPr>
          </a:p>
          <a:p>
            <a:pPr algn="just">
              <a:lnSpc>
                <a:spcPct val="130000"/>
              </a:lnSpc>
              <a:buNone/>
            </a:pPr>
            <a:r>
              <a:rPr lang="zh-CN" altLang="en-US" sz="2300" dirty="0">
                <a:solidFill>
                  <a:srgbClr val="0070C0"/>
                </a:solidFill>
                <a:latin typeface="Times New Roman" pitchFamily="18" charset="0"/>
                <a:ea typeface="楷体" pitchFamily="49" charset="-122"/>
                <a:cs typeface="Times New Roman" pitchFamily="18" charset="0"/>
              </a:rPr>
              <a:t>             样本数据为一些由向量</a:t>
            </a:r>
            <a:r>
              <a:rPr lang="en-US" sz="2300" dirty="0">
                <a:solidFill>
                  <a:srgbClr val="0070C0"/>
                </a:solidFill>
                <a:latin typeface="Times New Roman" pitchFamily="18" charset="0"/>
                <a:ea typeface="楷体" pitchFamily="49" charset="-122"/>
                <a:cs typeface="Times New Roman" pitchFamily="18" charset="0"/>
              </a:rPr>
              <a:t>(</a:t>
            </a:r>
            <a:r>
              <a:rPr lang="en-US" sz="2300" i="1" dirty="0">
                <a:solidFill>
                  <a:srgbClr val="0070C0"/>
                </a:solidFill>
                <a:latin typeface="Times New Roman" pitchFamily="18" charset="0"/>
                <a:ea typeface="楷体" pitchFamily="49" charset="-122"/>
                <a:cs typeface="Times New Roman" pitchFamily="18" charset="0"/>
              </a:rPr>
              <a:t>x</a:t>
            </a:r>
            <a:r>
              <a:rPr lang="en-US" sz="2300" baseline="-25000" dirty="0">
                <a:solidFill>
                  <a:srgbClr val="0070C0"/>
                </a:solidFill>
                <a:latin typeface="Times New Roman" pitchFamily="18" charset="0"/>
                <a:ea typeface="楷体" pitchFamily="49" charset="-122"/>
                <a:cs typeface="Times New Roman" pitchFamily="18" charset="0"/>
              </a:rPr>
              <a:t>1</a:t>
            </a:r>
            <a:r>
              <a:rPr lang="en-US" sz="2300" dirty="0">
                <a:solidFill>
                  <a:srgbClr val="0070C0"/>
                </a:solidFill>
                <a:latin typeface="Times New Roman" pitchFamily="18" charset="0"/>
                <a:ea typeface="楷体" pitchFamily="49" charset="-122"/>
                <a:cs typeface="Times New Roman" pitchFamily="18" charset="0"/>
              </a:rPr>
              <a:t>, </a:t>
            </a:r>
            <a:r>
              <a:rPr lang="en-US" sz="2300" i="1" dirty="0">
                <a:solidFill>
                  <a:srgbClr val="0070C0"/>
                </a:solidFill>
                <a:latin typeface="Times New Roman" pitchFamily="18" charset="0"/>
                <a:ea typeface="楷体" pitchFamily="49" charset="-122"/>
                <a:cs typeface="Times New Roman" pitchFamily="18" charset="0"/>
              </a:rPr>
              <a:t>x</a:t>
            </a:r>
            <a:r>
              <a:rPr lang="en-US" sz="2300" baseline="-25000" dirty="0">
                <a:solidFill>
                  <a:srgbClr val="0070C0"/>
                </a:solidFill>
                <a:latin typeface="Times New Roman" pitchFamily="18" charset="0"/>
                <a:ea typeface="楷体" pitchFamily="49" charset="-122"/>
                <a:cs typeface="Times New Roman" pitchFamily="18" charset="0"/>
              </a:rPr>
              <a:t>2</a:t>
            </a:r>
            <a:r>
              <a:rPr lang="en-US" sz="2300" dirty="0">
                <a:solidFill>
                  <a:srgbClr val="0070C0"/>
                </a:solidFill>
                <a:latin typeface="Times New Roman" pitchFamily="18" charset="0"/>
                <a:ea typeface="楷体" pitchFamily="49" charset="-122"/>
                <a:cs typeface="Times New Roman" pitchFamily="18" charset="0"/>
              </a:rPr>
              <a:t>,..., </a:t>
            </a:r>
            <a:r>
              <a:rPr lang="en-US" sz="2300" i="1" dirty="0" err="1">
                <a:solidFill>
                  <a:srgbClr val="0070C0"/>
                </a:solidFill>
                <a:latin typeface="Times New Roman" pitchFamily="18" charset="0"/>
                <a:ea typeface="楷体" pitchFamily="49" charset="-122"/>
                <a:cs typeface="Times New Roman" pitchFamily="18" charset="0"/>
              </a:rPr>
              <a:t>x</a:t>
            </a:r>
            <a:r>
              <a:rPr lang="en-US" sz="2300" i="1" baseline="-25000" dirty="0" err="1">
                <a:solidFill>
                  <a:srgbClr val="0070C0"/>
                </a:solidFill>
                <a:latin typeface="Times New Roman" pitchFamily="18" charset="0"/>
                <a:ea typeface="楷体" pitchFamily="49" charset="-122"/>
                <a:cs typeface="Times New Roman" pitchFamily="18" charset="0"/>
              </a:rPr>
              <a:t>n</a:t>
            </a:r>
            <a:r>
              <a:rPr lang="en-US" sz="2300" dirty="0">
                <a:solidFill>
                  <a:srgbClr val="0070C0"/>
                </a:solidFill>
                <a:latin typeface="Times New Roman" pitchFamily="18" charset="0"/>
                <a:ea typeface="楷体" pitchFamily="49" charset="-122"/>
                <a:cs typeface="Times New Roman" pitchFamily="18" charset="0"/>
              </a:rPr>
              <a:t>)</a:t>
            </a:r>
            <a:r>
              <a:rPr lang="zh-CN" altLang="en-US" sz="2300" dirty="0">
                <a:solidFill>
                  <a:srgbClr val="0070C0"/>
                </a:solidFill>
                <a:latin typeface="Times New Roman" pitchFamily="18" charset="0"/>
                <a:ea typeface="楷体" pitchFamily="49" charset="-122"/>
                <a:cs typeface="Times New Roman" pitchFamily="18" charset="0"/>
              </a:rPr>
              <a:t>和一个对应值</a:t>
            </a:r>
            <a:r>
              <a:rPr lang="en-US" sz="2300" i="1" dirty="0">
                <a:solidFill>
                  <a:srgbClr val="0070C0"/>
                </a:solidFill>
                <a:latin typeface="Times New Roman" pitchFamily="18" charset="0"/>
                <a:ea typeface="楷体" pitchFamily="49" charset="-122"/>
                <a:cs typeface="Times New Roman" pitchFamily="18" charset="0"/>
              </a:rPr>
              <a:t>y</a:t>
            </a:r>
            <a:r>
              <a:rPr lang="zh-CN" altLang="en-US" sz="2300" dirty="0">
                <a:solidFill>
                  <a:srgbClr val="0070C0"/>
                </a:solidFill>
                <a:latin typeface="Times New Roman" pitchFamily="18" charset="0"/>
                <a:ea typeface="楷体" pitchFamily="49" charset="-122"/>
                <a:cs typeface="Times New Roman" pitchFamily="18" charset="0"/>
              </a:rPr>
              <a:t>组成的序对。监督学习就是用当前由</a:t>
            </a:r>
            <a:r>
              <a:rPr lang="en-US" sz="2300" dirty="0">
                <a:solidFill>
                  <a:srgbClr val="0070C0"/>
                </a:solidFill>
                <a:latin typeface="Times New Roman" pitchFamily="18" charset="0"/>
                <a:ea typeface="楷体" pitchFamily="49" charset="-122"/>
                <a:cs typeface="Times New Roman" pitchFamily="18" charset="0"/>
              </a:rPr>
              <a:t>(</a:t>
            </a:r>
            <a:r>
              <a:rPr lang="en-US" sz="2300" i="1" dirty="0">
                <a:solidFill>
                  <a:srgbClr val="0070C0"/>
                </a:solidFill>
                <a:latin typeface="Times New Roman" pitchFamily="18" charset="0"/>
                <a:ea typeface="楷体" pitchFamily="49" charset="-122"/>
                <a:cs typeface="Times New Roman" pitchFamily="18" charset="0"/>
              </a:rPr>
              <a:t>x</a:t>
            </a:r>
            <a:r>
              <a:rPr lang="en-US" sz="2300" baseline="-25000" dirty="0">
                <a:solidFill>
                  <a:srgbClr val="0070C0"/>
                </a:solidFill>
                <a:latin typeface="Times New Roman" pitchFamily="18" charset="0"/>
                <a:ea typeface="楷体" pitchFamily="49" charset="-122"/>
                <a:cs typeface="Times New Roman" pitchFamily="18" charset="0"/>
              </a:rPr>
              <a:t>1</a:t>
            </a:r>
            <a:r>
              <a:rPr lang="en-US" sz="2300" dirty="0">
                <a:solidFill>
                  <a:srgbClr val="0070C0"/>
                </a:solidFill>
                <a:latin typeface="Times New Roman" pitchFamily="18" charset="0"/>
                <a:ea typeface="楷体" pitchFamily="49" charset="-122"/>
                <a:cs typeface="Times New Roman" pitchFamily="18" charset="0"/>
              </a:rPr>
              <a:t>, </a:t>
            </a:r>
            <a:r>
              <a:rPr lang="en-US" sz="2300" i="1" dirty="0">
                <a:solidFill>
                  <a:srgbClr val="0070C0"/>
                </a:solidFill>
                <a:latin typeface="Times New Roman" pitchFamily="18" charset="0"/>
                <a:ea typeface="楷体" pitchFamily="49" charset="-122"/>
                <a:cs typeface="Times New Roman" pitchFamily="18" charset="0"/>
              </a:rPr>
              <a:t>x</a:t>
            </a:r>
            <a:r>
              <a:rPr lang="en-US" sz="2300" baseline="-25000" dirty="0">
                <a:solidFill>
                  <a:srgbClr val="0070C0"/>
                </a:solidFill>
                <a:latin typeface="Times New Roman" pitchFamily="18" charset="0"/>
                <a:ea typeface="楷体" pitchFamily="49" charset="-122"/>
                <a:cs typeface="Times New Roman" pitchFamily="18" charset="0"/>
              </a:rPr>
              <a:t>2</a:t>
            </a:r>
            <a:r>
              <a:rPr lang="en-US" sz="2300" dirty="0">
                <a:solidFill>
                  <a:srgbClr val="0070C0"/>
                </a:solidFill>
                <a:latin typeface="Times New Roman" pitchFamily="18" charset="0"/>
                <a:ea typeface="楷体" pitchFamily="49" charset="-122"/>
                <a:cs typeface="Times New Roman" pitchFamily="18" charset="0"/>
              </a:rPr>
              <a:t>,..., </a:t>
            </a:r>
            <a:r>
              <a:rPr lang="en-US" sz="2300" i="1" dirty="0" err="1">
                <a:solidFill>
                  <a:srgbClr val="0070C0"/>
                </a:solidFill>
                <a:latin typeface="Times New Roman" pitchFamily="18" charset="0"/>
                <a:ea typeface="楷体" pitchFamily="49" charset="-122"/>
                <a:cs typeface="Times New Roman" pitchFamily="18" charset="0"/>
              </a:rPr>
              <a:t>x</a:t>
            </a:r>
            <a:r>
              <a:rPr lang="en-US" sz="2300" i="1" baseline="-25000" dirty="0" err="1">
                <a:solidFill>
                  <a:srgbClr val="0070C0"/>
                </a:solidFill>
                <a:latin typeface="Times New Roman" pitchFamily="18" charset="0"/>
                <a:ea typeface="楷体" pitchFamily="49" charset="-122"/>
                <a:cs typeface="Times New Roman" pitchFamily="18" charset="0"/>
              </a:rPr>
              <a:t>n</a:t>
            </a:r>
            <a:r>
              <a:rPr lang="en-US" sz="2300" dirty="0">
                <a:solidFill>
                  <a:srgbClr val="0070C0"/>
                </a:solidFill>
                <a:latin typeface="Times New Roman" pitchFamily="18" charset="0"/>
                <a:ea typeface="楷体" pitchFamily="49" charset="-122"/>
                <a:cs typeface="Times New Roman" pitchFamily="18" charset="0"/>
              </a:rPr>
              <a:t>)</a:t>
            </a:r>
            <a:r>
              <a:rPr lang="zh-CN" altLang="en-US" sz="2300" dirty="0">
                <a:solidFill>
                  <a:srgbClr val="0070C0"/>
                </a:solidFill>
                <a:latin typeface="Times New Roman" pitchFamily="18" charset="0"/>
                <a:ea typeface="楷体" pitchFamily="49" charset="-122"/>
                <a:cs typeface="Times New Roman" pitchFamily="18" charset="0"/>
              </a:rPr>
              <a:t>所求得函数值</a:t>
            </a:r>
            <a:r>
              <a:rPr lang="en-US" sz="2300" i="1" dirty="0">
                <a:solidFill>
                  <a:srgbClr val="0070C0"/>
                </a:solidFill>
                <a:latin typeface="Times New Roman" pitchFamily="18" charset="0"/>
                <a:ea typeface="楷体" pitchFamily="49" charset="-122"/>
                <a:cs typeface="Times New Roman" pitchFamily="18" charset="0"/>
              </a:rPr>
              <a:t>y’</a:t>
            </a:r>
            <a:r>
              <a:rPr lang="zh-CN" altLang="en-US" sz="2300" dirty="0">
                <a:solidFill>
                  <a:srgbClr val="0070C0"/>
                </a:solidFill>
                <a:latin typeface="Times New Roman" pitchFamily="18" charset="0"/>
                <a:ea typeface="楷体" pitchFamily="49" charset="-122"/>
                <a:cs typeface="Times New Roman" pitchFamily="18" charset="0"/>
              </a:rPr>
              <a:t>与原对应值</a:t>
            </a:r>
            <a:r>
              <a:rPr lang="en-US" sz="2300" i="1" dirty="0">
                <a:solidFill>
                  <a:srgbClr val="0070C0"/>
                </a:solidFill>
                <a:latin typeface="Times New Roman" pitchFamily="18" charset="0"/>
                <a:ea typeface="楷体" pitchFamily="49" charset="-122"/>
                <a:cs typeface="Times New Roman" pitchFamily="18" charset="0"/>
              </a:rPr>
              <a:t>y</a:t>
            </a:r>
            <a:r>
              <a:rPr lang="zh-CN" altLang="en-US" sz="2300" dirty="0">
                <a:solidFill>
                  <a:srgbClr val="0070C0"/>
                </a:solidFill>
                <a:latin typeface="楷体" pitchFamily="49" charset="-122"/>
                <a:ea typeface="楷体" pitchFamily="49" charset="-122"/>
              </a:rPr>
              <a:t>做比较，然后根据误差决定是否对所选用的函数模型的参数进行修正。监督学习以概率函数、代数函数或者人工神经网络为基本函数模型，采用迭代计算的方法，来拟合相应的数据集，学习结果为函数（即隐藏于样本数据中的规律）。监督学习被用于分类问题和回归问题，以对未知进行预测。</a:t>
            </a:r>
          </a:p>
          <a:p>
            <a:pPr>
              <a:buNone/>
            </a:pPr>
            <a:endParaRPr lang="zh-CN" altLang="en-US" sz="2800" dirty="0">
              <a:latin typeface="仿宋_GB2312" charset="-122"/>
              <a:ea typeface="仿宋_GB231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checkerboard(across)">
                                      <p:cBhvr>
                                        <p:cTn id="7" dur="5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checkerboard(across)">
                                      <p:cBhvr>
                                        <p:cTn id="12" dur="500"/>
                                        <p:tgtEl>
                                          <p:spTgt spid="20483">
                                            <p:txEl>
                                              <p:pRg st="1" end="1"/>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Effect transition="in" filter="checkerboard(across)">
                                      <p:cBhvr>
                                        <p:cTn id="15" dur="500"/>
                                        <p:tgtEl>
                                          <p:spTgt spid="204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Rectangle 3"/>
          <p:cNvSpPr>
            <a:spLocks noGrp="1" noRot="1" noChangeArrowheads="1"/>
          </p:cNvSpPr>
          <p:nvPr>
            <p:ph type="body" idx="1"/>
          </p:nvPr>
        </p:nvSpPr>
        <p:spPr>
          <a:xfrm>
            <a:off x="285721" y="549275"/>
            <a:ext cx="8501122" cy="6022997"/>
          </a:xfrm>
        </p:spPr>
        <p:txBody>
          <a:bodyPr/>
          <a:lstStyle/>
          <a:p>
            <a:pPr>
              <a:buFont typeface="Wingdings" pitchFamily="2" charset="2"/>
              <a:buNone/>
            </a:pPr>
            <a:r>
              <a:rPr lang="en-US" altLang="zh-CN" sz="2800" dirty="0">
                <a:latin typeface="楷体_GB2312" pitchFamily="49" charset="-122"/>
                <a:ea typeface="楷体_GB2312" pitchFamily="49" charset="-122"/>
              </a:rPr>
              <a:t>  </a:t>
            </a:r>
            <a:endParaRPr lang="zh-CN" altLang="en-US" sz="2400" dirty="0">
              <a:latin typeface="仿宋_GB2312" charset="-122"/>
              <a:ea typeface="仿宋_GB2312" charset="-122"/>
            </a:endParaRPr>
          </a:p>
        </p:txBody>
      </p:sp>
      <p:sp>
        <p:nvSpPr>
          <p:cNvPr id="21508" name="AutoShape 4">
            <a:hlinkClick r:id="" action="ppaction://hlinkshowjump?jump=firstslide" highlightClick="1"/>
          </p:cNvPr>
          <p:cNvSpPr>
            <a:spLocks noChangeArrowheads="1"/>
          </p:cNvSpPr>
          <p:nvPr/>
        </p:nvSpPr>
        <p:spPr bwMode="auto">
          <a:xfrm>
            <a:off x="8101013" y="6524625"/>
            <a:ext cx="719137" cy="73025"/>
          </a:xfrm>
          <a:prstGeom prst="actionButtonBackPrevious">
            <a:avLst/>
          </a:prstGeom>
          <a:solidFill>
            <a:schemeClr val="accent1"/>
          </a:solidFill>
          <a:ln w="9525">
            <a:noFill/>
            <a:miter lim="800000"/>
            <a:headEnd/>
            <a:tailEnd/>
          </a:ln>
          <a:effectLst/>
        </p:spPr>
        <p:txBody>
          <a:bodyPr wrap="none" anchor="ctr"/>
          <a:lstStyle/>
          <a:p>
            <a:endParaRPr lang="zh-CN" altLang="en-US"/>
          </a:p>
        </p:txBody>
      </p:sp>
      <p:sp>
        <p:nvSpPr>
          <p:cNvPr id="4" name="矩形 3"/>
          <p:cNvSpPr/>
          <p:nvPr/>
        </p:nvSpPr>
        <p:spPr>
          <a:xfrm>
            <a:off x="726794" y="642918"/>
            <a:ext cx="7929618" cy="4524315"/>
          </a:xfrm>
          <a:prstGeom prst="rect">
            <a:avLst/>
          </a:prstGeom>
        </p:spPr>
        <p:txBody>
          <a:bodyPr wrap="square">
            <a:spAutoFit/>
          </a:bodyPr>
          <a:lstStyle/>
          <a:p>
            <a:pPr>
              <a:lnSpc>
                <a:spcPct val="150000"/>
              </a:lnSpc>
            </a:pPr>
            <a:r>
              <a:rPr lang="en-US" sz="2400" dirty="0">
                <a:solidFill>
                  <a:srgbClr val="0070C0"/>
                </a:solidFill>
                <a:latin typeface="楷体" pitchFamily="49" charset="-122"/>
                <a:ea typeface="楷体" pitchFamily="49" charset="-122"/>
              </a:rPr>
              <a:t>(2)</a:t>
            </a:r>
            <a:r>
              <a:rPr lang="en-US" sz="2400" dirty="0">
                <a:solidFill>
                  <a:srgbClr val="0070C0"/>
                </a:solidFill>
              </a:rPr>
              <a:t> </a:t>
            </a:r>
            <a:r>
              <a:rPr lang="zh-CN" altLang="en-US" sz="2400" dirty="0">
                <a:solidFill>
                  <a:srgbClr val="0070C0"/>
                </a:solidFill>
                <a:latin typeface="方正姚体" pitchFamily="2" charset="-122"/>
                <a:ea typeface="方正姚体" pitchFamily="2" charset="-122"/>
                <a:cs typeface="Times New Roman" pitchFamily="18" charset="0"/>
              </a:rPr>
              <a:t>无监督学习</a:t>
            </a:r>
            <a:r>
              <a:rPr lang="zh-CN" altLang="en-US" sz="2400" dirty="0">
                <a:solidFill>
                  <a:srgbClr val="0070C0"/>
                </a:solidFill>
                <a:latin typeface="Times New Roman" pitchFamily="18" charset="0"/>
                <a:cs typeface="Times New Roman" pitchFamily="18" charset="0"/>
              </a:rPr>
              <a:t>（</a:t>
            </a:r>
            <a:r>
              <a:rPr lang="en-US" sz="2400" dirty="0">
                <a:solidFill>
                  <a:srgbClr val="0070C0"/>
                </a:solidFill>
                <a:latin typeface="Times New Roman" pitchFamily="18" charset="0"/>
                <a:cs typeface="Times New Roman" pitchFamily="18" charset="0"/>
              </a:rPr>
              <a:t>unsupervised learning</a:t>
            </a:r>
            <a:r>
              <a:rPr lang="zh-CN" altLang="en-US" sz="2400" dirty="0">
                <a:solidFill>
                  <a:srgbClr val="0070C0"/>
                </a:solidFill>
                <a:latin typeface="Times New Roman" pitchFamily="18" charset="0"/>
                <a:cs typeface="Times New Roman" pitchFamily="18" charset="0"/>
              </a:rPr>
              <a:t>，</a:t>
            </a:r>
            <a:r>
              <a:rPr lang="zh-CN" altLang="en-US" sz="2400" dirty="0">
                <a:solidFill>
                  <a:srgbClr val="0070C0"/>
                </a:solidFill>
                <a:latin typeface="楷体" pitchFamily="49" charset="-122"/>
                <a:ea typeface="楷体" pitchFamily="49" charset="-122"/>
                <a:cs typeface="Times New Roman" pitchFamily="18" charset="0"/>
              </a:rPr>
              <a:t>亦称无导师学习</a:t>
            </a:r>
            <a:r>
              <a:rPr lang="zh-CN" altLang="en-US" sz="2400" dirty="0">
                <a:solidFill>
                  <a:srgbClr val="0070C0"/>
                </a:solidFill>
                <a:latin typeface="Times New Roman" pitchFamily="18" charset="0"/>
                <a:cs typeface="Times New Roman" pitchFamily="18" charset="0"/>
              </a:rPr>
              <a:t>）</a:t>
            </a:r>
          </a:p>
          <a:p>
            <a:pPr>
              <a:lnSpc>
                <a:spcPct val="150000"/>
              </a:lnSpc>
            </a:pPr>
            <a:r>
              <a:rPr lang="zh-CN" altLang="en-US" sz="2400" dirty="0">
                <a:solidFill>
                  <a:srgbClr val="0070C0"/>
                </a:solidFill>
                <a:latin typeface="Times New Roman" pitchFamily="18" charset="0"/>
                <a:cs typeface="Times New Roman" pitchFamily="18" charset="0"/>
              </a:rPr>
              <a:t>        </a:t>
            </a:r>
            <a:r>
              <a:rPr lang="zh-CN" altLang="en-US" sz="2400" dirty="0">
                <a:solidFill>
                  <a:srgbClr val="0070C0"/>
                </a:solidFill>
                <a:latin typeface="Times New Roman" pitchFamily="18" charset="0"/>
                <a:ea typeface="楷体" pitchFamily="49" charset="-122"/>
                <a:cs typeface="Times New Roman" pitchFamily="18" charset="0"/>
              </a:rPr>
              <a:t>无监督学习的样本数据仅为一些向量</a:t>
            </a:r>
            <a:r>
              <a:rPr lang="en-US" sz="2400" dirty="0">
                <a:solidFill>
                  <a:srgbClr val="0070C0"/>
                </a:solidFill>
                <a:latin typeface="Times New Roman" pitchFamily="18" charset="0"/>
                <a:ea typeface="楷体" pitchFamily="49" charset="-122"/>
                <a:cs typeface="Times New Roman" pitchFamily="18" charset="0"/>
              </a:rPr>
              <a:t>(</a:t>
            </a:r>
            <a:r>
              <a:rPr lang="en-US" sz="2400" i="1" dirty="0">
                <a:solidFill>
                  <a:srgbClr val="0070C0"/>
                </a:solidFill>
                <a:latin typeface="Times New Roman" pitchFamily="18" charset="0"/>
                <a:ea typeface="楷体" pitchFamily="49" charset="-122"/>
                <a:cs typeface="Times New Roman" pitchFamily="18" charset="0"/>
              </a:rPr>
              <a:t>x</a:t>
            </a:r>
            <a:r>
              <a:rPr lang="en-US" sz="2400" baseline="-25000" dirty="0">
                <a:solidFill>
                  <a:srgbClr val="0070C0"/>
                </a:solidFill>
                <a:latin typeface="Times New Roman" pitchFamily="18" charset="0"/>
                <a:ea typeface="楷体" pitchFamily="49" charset="-122"/>
                <a:cs typeface="Times New Roman" pitchFamily="18" charset="0"/>
              </a:rPr>
              <a:t>1</a:t>
            </a:r>
            <a:r>
              <a:rPr lang="en-US" sz="2400" dirty="0">
                <a:solidFill>
                  <a:srgbClr val="0070C0"/>
                </a:solidFill>
                <a:latin typeface="Times New Roman" pitchFamily="18" charset="0"/>
                <a:ea typeface="楷体" pitchFamily="49" charset="-122"/>
                <a:cs typeface="Times New Roman" pitchFamily="18" charset="0"/>
              </a:rPr>
              <a:t>, </a:t>
            </a:r>
            <a:r>
              <a:rPr lang="en-US" sz="2400" i="1" dirty="0">
                <a:solidFill>
                  <a:srgbClr val="0070C0"/>
                </a:solidFill>
                <a:latin typeface="Times New Roman" pitchFamily="18" charset="0"/>
                <a:ea typeface="楷体" pitchFamily="49" charset="-122"/>
                <a:cs typeface="Times New Roman" pitchFamily="18" charset="0"/>
              </a:rPr>
              <a:t>x</a:t>
            </a:r>
            <a:r>
              <a:rPr lang="en-US" sz="2400" baseline="-25000" dirty="0">
                <a:solidFill>
                  <a:srgbClr val="0070C0"/>
                </a:solidFill>
                <a:latin typeface="Times New Roman" pitchFamily="18" charset="0"/>
                <a:ea typeface="楷体" pitchFamily="49" charset="-122"/>
                <a:cs typeface="Times New Roman" pitchFamily="18" charset="0"/>
              </a:rPr>
              <a:t>2</a:t>
            </a:r>
            <a:r>
              <a:rPr lang="en-US" sz="2400" dirty="0">
                <a:solidFill>
                  <a:srgbClr val="0070C0"/>
                </a:solidFill>
                <a:latin typeface="Times New Roman" pitchFamily="18" charset="0"/>
                <a:ea typeface="楷体" pitchFamily="49" charset="-122"/>
                <a:cs typeface="Times New Roman" pitchFamily="18" charset="0"/>
              </a:rPr>
              <a:t>,..., </a:t>
            </a:r>
            <a:r>
              <a:rPr lang="en-US" sz="2400" i="1" dirty="0" err="1">
                <a:solidFill>
                  <a:srgbClr val="0070C0"/>
                </a:solidFill>
                <a:latin typeface="Times New Roman" pitchFamily="18" charset="0"/>
                <a:ea typeface="楷体" pitchFamily="49" charset="-122"/>
                <a:cs typeface="Times New Roman" pitchFamily="18" charset="0"/>
              </a:rPr>
              <a:t>x</a:t>
            </a:r>
            <a:r>
              <a:rPr lang="en-US" sz="2400" i="1" baseline="-25000" dirty="0" err="1">
                <a:solidFill>
                  <a:srgbClr val="0070C0"/>
                </a:solidFill>
                <a:latin typeface="Times New Roman" pitchFamily="18" charset="0"/>
                <a:ea typeface="楷体" pitchFamily="49" charset="-122"/>
                <a:cs typeface="Times New Roman" pitchFamily="18" charset="0"/>
              </a:rPr>
              <a:t>n</a:t>
            </a:r>
            <a:r>
              <a:rPr lang="en-US" sz="2400" dirty="0">
                <a:solidFill>
                  <a:srgbClr val="0070C0"/>
                </a:solidFill>
                <a:latin typeface="Times New Roman" pitchFamily="18" charset="0"/>
                <a:ea typeface="楷体" pitchFamily="49" charset="-122"/>
                <a:cs typeface="Times New Roman" pitchFamily="18" charset="0"/>
              </a:rPr>
              <a:t>) </a:t>
            </a:r>
            <a:r>
              <a:rPr lang="zh-CN" altLang="en-US" sz="2400" dirty="0">
                <a:solidFill>
                  <a:srgbClr val="0070C0"/>
                </a:solidFill>
                <a:latin typeface="Times New Roman" pitchFamily="18" charset="0"/>
                <a:ea typeface="楷体" pitchFamily="49" charset="-122"/>
                <a:cs typeface="Times New Roman" pitchFamily="18" charset="0"/>
              </a:rPr>
              <a:t>（而无对应值</a:t>
            </a:r>
            <a:r>
              <a:rPr lang="en-US" sz="2400" i="1" dirty="0">
                <a:solidFill>
                  <a:srgbClr val="0070C0"/>
                </a:solidFill>
                <a:latin typeface="Times New Roman" pitchFamily="18" charset="0"/>
                <a:ea typeface="楷体" pitchFamily="49" charset="-122"/>
                <a:cs typeface="Times New Roman" pitchFamily="18" charset="0"/>
              </a:rPr>
              <a:t>y</a:t>
            </a:r>
            <a:r>
              <a:rPr lang="zh-CN" altLang="en-US" sz="2400" dirty="0">
                <a:solidFill>
                  <a:srgbClr val="0070C0"/>
                </a:solidFill>
                <a:latin typeface="Times New Roman" pitchFamily="18" charset="0"/>
                <a:ea typeface="楷体" pitchFamily="49" charset="-122"/>
                <a:cs typeface="Times New Roman" pitchFamily="18" charset="0"/>
              </a:rPr>
              <a:t>），其学习方法就是聚类，即把相似的对象做为一类，学习结果为数据类别（即隐藏于样本数据中的模式（类）或结构）。无监督学习被用于聚类问题，也可用于数据降维（</a:t>
            </a:r>
            <a:r>
              <a:rPr lang="en-US" sz="2400" dirty="0">
                <a:solidFill>
                  <a:srgbClr val="0070C0"/>
                </a:solidFill>
                <a:latin typeface="Times New Roman" pitchFamily="18" charset="0"/>
                <a:ea typeface="楷体" pitchFamily="49" charset="-122"/>
                <a:cs typeface="Times New Roman" pitchFamily="18" charset="0"/>
              </a:rPr>
              <a:t>dimensionality reduction</a:t>
            </a:r>
            <a:r>
              <a:rPr lang="zh-CN" altLang="en-US" sz="2400" dirty="0">
                <a:solidFill>
                  <a:srgbClr val="0070C0"/>
                </a:solidFill>
                <a:latin typeface="Times New Roman" pitchFamily="18" charset="0"/>
                <a:ea typeface="楷体" pitchFamily="49" charset="-122"/>
                <a:cs typeface="Times New Roman" pitchFamily="18" charset="0"/>
              </a:rPr>
              <a:t>）和图像压缩（</a:t>
            </a:r>
            <a:r>
              <a:rPr lang="en-US" sz="2400" dirty="0">
                <a:solidFill>
                  <a:srgbClr val="0070C0"/>
                </a:solidFill>
                <a:latin typeface="Times New Roman" pitchFamily="18" charset="0"/>
                <a:ea typeface="楷体" pitchFamily="49" charset="-122"/>
                <a:cs typeface="Times New Roman" pitchFamily="18" charset="0"/>
              </a:rPr>
              <a:t>image compression</a:t>
            </a:r>
            <a:r>
              <a:rPr lang="zh-CN" altLang="en-US" sz="2400" dirty="0">
                <a:solidFill>
                  <a:srgbClr val="0070C0"/>
                </a:solidFill>
                <a:latin typeface="Times New Roman" pitchFamily="18" charset="0"/>
                <a:ea typeface="楷体" pitchFamily="49" charset="-122"/>
                <a:cs typeface="Times New Roman" pitchFamily="18" charset="0"/>
              </a:rPr>
              <a:t>）等。聚类学习和竞争学习都是典型的无监督学习。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checkerboard(across)">
                                      <p:cBhvr>
                                        <p:cTn id="10"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3"/>
          <p:cNvSpPr>
            <a:spLocks noGrp="1" noRot="1" noChangeArrowheads="1"/>
          </p:cNvSpPr>
          <p:nvPr>
            <p:ph type="body" idx="1"/>
          </p:nvPr>
        </p:nvSpPr>
        <p:spPr>
          <a:xfrm>
            <a:off x="714348" y="333375"/>
            <a:ext cx="7972452" cy="5797550"/>
          </a:xfrm>
        </p:spPr>
        <p:txBody>
          <a:bodyPr/>
          <a:lstStyle/>
          <a:p>
            <a:pPr>
              <a:lnSpc>
                <a:spcPct val="150000"/>
              </a:lnSpc>
              <a:buNone/>
            </a:pPr>
            <a:r>
              <a:rPr lang="en-US" sz="2400" dirty="0">
                <a:solidFill>
                  <a:srgbClr val="0070C0"/>
                </a:solidFill>
                <a:latin typeface="楷体" pitchFamily="49" charset="-122"/>
                <a:ea typeface="楷体" pitchFamily="49" charset="-122"/>
              </a:rPr>
              <a:t> 3.</a:t>
            </a:r>
            <a:r>
              <a:rPr lang="en-US" sz="2400" b="1" dirty="0">
                <a:solidFill>
                  <a:srgbClr val="0070C0"/>
                </a:solidFill>
                <a:latin typeface="楷体" pitchFamily="49" charset="-122"/>
                <a:ea typeface="楷体" pitchFamily="49" charset="-122"/>
              </a:rPr>
              <a:t> </a:t>
            </a:r>
            <a:r>
              <a:rPr lang="zh-CN" altLang="en-US" sz="2400" b="1" dirty="0">
                <a:solidFill>
                  <a:srgbClr val="0070C0"/>
                </a:solidFill>
                <a:latin typeface="楷体" pitchFamily="49" charset="-122"/>
                <a:ea typeface="楷体" pitchFamily="49" charset="-122"/>
              </a:rPr>
              <a:t>基于数据形式的分类</a:t>
            </a:r>
            <a:endParaRPr lang="zh-CN" altLang="en-US" sz="2400" dirty="0">
              <a:solidFill>
                <a:srgbClr val="0070C0"/>
              </a:solidFill>
              <a:latin typeface="楷体" pitchFamily="49" charset="-122"/>
              <a:ea typeface="楷体" pitchFamily="49" charset="-122"/>
            </a:endParaRPr>
          </a:p>
          <a:p>
            <a:pPr>
              <a:lnSpc>
                <a:spcPct val="150000"/>
              </a:lnSpc>
              <a:buNone/>
            </a:pPr>
            <a:r>
              <a:rPr lang="en-US" sz="2400" dirty="0">
                <a:solidFill>
                  <a:srgbClr val="0070C0"/>
                </a:solidFill>
                <a:latin typeface="楷体" pitchFamily="49" charset="-122"/>
                <a:ea typeface="楷体" pitchFamily="49" charset="-122"/>
              </a:rPr>
              <a:t> (1) </a:t>
            </a:r>
            <a:r>
              <a:rPr lang="zh-CN" altLang="en-US" sz="2300" dirty="0">
                <a:solidFill>
                  <a:srgbClr val="0070C0"/>
                </a:solidFill>
                <a:latin typeface="方正姚体" pitchFamily="2" charset="-122"/>
                <a:ea typeface="方正姚体" pitchFamily="2" charset="-122"/>
              </a:rPr>
              <a:t>结构化学习 </a:t>
            </a:r>
            <a:r>
              <a:rPr lang="zh-CN" altLang="en-US" sz="2400" dirty="0">
                <a:solidFill>
                  <a:srgbClr val="0070C0"/>
                </a:solidFill>
                <a:latin typeface="楷体" pitchFamily="49" charset="-122"/>
                <a:ea typeface="楷体" pitchFamily="49" charset="-122"/>
              </a:rPr>
              <a:t>以结构化数据为输入，以数值计算或符号推演为方法。典型的结构化学习有神经网络学习、统计学习、决策树学习、规则学习。</a:t>
            </a:r>
          </a:p>
          <a:p>
            <a:pPr>
              <a:lnSpc>
                <a:spcPct val="150000"/>
              </a:lnSpc>
              <a:spcBef>
                <a:spcPts val="1200"/>
              </a:spcBef>
              <a:buNone/>
            </a:pPr>
            <a:r>
              <a:rPr lang="en-US" sz="2400" dirty="0">
                <a:solidFill>
                  <a:srgbClr val="0070C0"/>
                </a:solidFill>
                <a:latin typeface="楷体" pitchFamily="49" charset="-122"/>
                <a:ea typeface="楷体" pitchFamily="49" charset="-122"/>
              </a:rPr>
              <a:t> (2) </a:t>
            </a:r>
            <a:r>
              <a:rPr lang="zh-CN" altLang="en-US" sz="2300" dirty="0">
                <a:solidFill>
                  <a:srgbClr val="0070C0"/>
                </a:solidFill>
                <a:latin typeface="方正姚体" pitchFamily="2" charset="-122"/>
                <a:ea typeface="方正姚体" pitchFamily="2" charset="-122"/>
              </a:rPr>
              <a:t>非结构化学</a:t>
            </a:r>
            <a:r>
              <a:rPr lang="zh-CN" altLang="en-US" sz="2300" dirty="0">
                <a:solidFill>
                  <a:srgbClr val="0070C0"/>
                </a:solidFill>
                <a:latin typeface="黑体" pitchFamily="49" charset="-122"/>
                <a:ea typeface="黑体" pitchFamily="49" charset="-122"/>
              </a:rPr>
              <a:t>习 </a:t>
            </a:r>
            <a:r>
              <a:rPr lang="zh-CN" altLang="en-US" sz="2400" dirty="0">
                <a:solidFill>
                  <a:srgbClr val="0070C0"/>
                </a:solidFill>
                <a:latin typeface="楷体" pitchFamily="49" charset="-122"/>
                <a:ea typeface="楷体" pitchFamily="49" charset="-122"/>
              </a:rPr>
              <a:t>以非结构化数据为输入，典型的非结构化学习有类比学习、案例学习、解释学习、以及用于文本挖掘、图像挖掘、</a:t>
            </a:r>
            <a:r>
              <a:rPr lang="en-US" sz="2400" dirty="0">
                <a:solidFill>
                  <a:srgbClr val="0070C0"/>
                </a:solidFill>
                <a:latin typeface="楷体" pitchFamily="49" charset="-122"/>
                <a:ea typeface="楷体" pitchFamily="49" charset="-122"/>
              </a:rPr>
              <a:t>Web</a:t>
            </a:r>
            <a:r>
              <a:rPr lang="zh-CN" altLang="en-US" sz="2400" dirty="0">
                <a:solidFill>
                  <a:srgbClr val="0070C0"/>
                </a:solidFill>
                <a:latin typeface="楷体" pitchFamily="49" charset="-122"/>
                <a:ea typeface="楷体" pitchFamily="49" charset="-122"/>
              </a:rPr>
              <a:t>挖掘等的学习。</a:t>
            </a:r>
          </a:p>
          <a:p>
            <a:pPr>
              <a:buFont typeface="Wingdings" pitchFamily="2" charset="2"/>
              <a:buNone/>
            </a:pPr>
            <a:endParaRPr lang="zh-CN" altLang="en-US" sz="2800" dirty="0">
              <a:latin typeface="仿宋_GB2312" charset="-122"/>
              <a:ea typeface="仿宋_GB231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checkerboard(across)">
                                      <p:cBhvr>
                                        <p:cTn id="7" dur="5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531">
                                            <p:txEl>
                                              <p:pRg st="1" end="1"/>
                                            </p:txEl>
                                          </p:spTgt>
                                        </p:tgtEl>
                                        <p:attrNameLst>
                                          <p:attrName>style.visibility</p:attrName>
                                        </p:attrNameLst>
                                      </p:cBhvr>
                                      <p:to>
                                        <p:strVal val="visible"/>
                                      </p:to>
                                    </p:set>
                                    <p:animEffect transition="in" filter="checkerboard(across)">
                                      <p:cBhvr>
                                        <p:cTn id="12" dur="500"/>
                                        <p:tgtEl>
                                          <p:spTgt spid="22531">
                                            <p:txEl>
                                              <p:pRg st="1" end="1"/>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22531">
                                            <p:txEl>
                                              <p:pRg st="2" end="2"/>
                                            </p:txEl>
                                          </p:spTgt>
                                        </p:tgtEl>
                                        <p:attrNameLst>
                                          <p:attrName>style.visibility</p:attrName>
                                        </p:attrNameLst>
                                      </p:cBhvr>
                                      <p:to>
                                        <p:strVal val="visible"/>
                                      </p:to>
                                    </p:set>
                                    <p:animEffect transition="in" filter="checkerboard(across)">
                                      <p:cBhvr>
                                        <p:cTn id="15" dur="500"/>
                                        <p:tgtEl>
                                          <p:spTgt spid="225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3"/>
          <p:cNvSpPr>
            <a:spLocks noGrp="1" noRot="1" noChangeArrowheads="1"/>
          </p:cNvSpPr>
          <p:nvPr>
            <p:ph type="body" idx="1"/>
          </p:nvPr>
        </p:nvSpPr>
        <p:spPr>
          <a:xfrm>
            <a:off x="457200" y="333374"/>
            <a:ext cx="8115328" cy="5953145"/>
          </a:xfrm>
        </p:spPr>
        <p:txBody>
          <a:bodyPr/>
          <a:lstStyle/>
          <a:p>
            <a:pPr>
              <a:buNone/>
            </a:pPr>
            <a:r>
              <a:rPr lang="en-US" altLang="zh-CN" dirty="0">
                <a:latin typeface="黑体" pitchFamily="49" charset="-122"/>
                <a:ea typeface="黑体" pitchFamily="49" charset="-122"/>
              </a:rPr>
              <a:t>        </a:t>
            </a:r>
            <a:r>
              <a:rPr lang="en-US" sz="2800" dirty="0">
                <a:solidFill>
                  <a:srgbClr val="0070C0"/>
                </a:solidFill>
                <a:latin typeface="黑体" pitchFamily="49" charset="-122"/>
                <a:ea typeface="黑体" pitchFamily="49" charset="-122"/>
              </a:rPr>
              <a:t>9.2 </a:t>
            </a:r>
            <a:r>
              <a:rPr lang="zh-CN" sz="2800" dirty="0">
                <a:solidFill>
                  <a:srgbClr val="0070C0"/>
                </a:solidFill>
                <a:latin typeface="黑体" pitchFamily="49" charset="-122"/>
                <a:ea typeface="黑体" pitchFamily="49" charset="-122"/>
              </a:rPr>
              <a:t>几种典型的（符号）学习方法</a:t>
            </a:r>
          </a:p>
          <a:p>
            <a:pPr>
              <a:lnSpc>
                <a:spcPct val="150000"/>
              </a:lnSpc>
              <a:buFont typeface="Wingdings" pitchFamily="2" charset="2"/>
              <a:buNone/>
            </a:pPr>
            <a:r>
              <a:rPr lang="en-US" altLang="zh-CN" sz="2400" dirty="0">
                <a:solidFill>
                  <a:srgbClr val="0070C0"/>
                </a:solidFill>
                <a:latin typeface="黑体" pitchFamily="49" charset="-122"/>
                <a:ea typeface="黑体" pitchFamily="49" charset="-122"/>
              </a:rPr>
              <a:t>   9.2.1 </a:t>
            </a:r>
            <a:r>
              <a:rPr lang="zh-CN" altLang="en-US" sz="2400" dirty="0">
                <a:solidFill>
                  <a:srgbClr val="0070C0"/>
                </a:solidFill>
                <a:latin typeface="黑体" pitchFamily="49" charset="-122"/>
                <a:ea typeface="黑体" pitchFamily="49" charset="-122"/>
              </a:rPr>
              <a:t>记忆学习（</a:t>
            </a:r>
            <a:r>
              <a:rPr lang="en-US" altLang="zh-CN" sz="2400" dirty="0">
                <a:solidFill>
                  <a:srgbClr val="FF0000"/>
                </a:solidFill>
                <a:latin typeface="黑体" pitchFamily="49" charset="-122"/>
                <a:ea typeface="黑体" pitchFamily="49" charset="-122"/>
              </a:rPr>
              <a:t>weight is knowledge</a:t>
            </a:r>
            <a:r>
              <a:rPr lang="zh-CN" altLang="en-US" sz="2400" dirty="0">
                <a:solidFill>
                  <a:srgbClr val="0070C0"/>
                </a:solidFill>
                <a:latin typeface="黑体" pitchFamily="49" charset="-122"/>
                <a:ea typeface="黑体" pitchFamily="49" charset="-122"/>
              </a:rPr>
              <a:t>）</a:t>
            </a:r>
          </a:p>
          <a:p>
            <a:pPr>
              <a:lnSpc>
                <a:spcPct val="140000"/>
              </a:lnSpc>
              <a:spcBef>
                <a:spcPts val="0"/>
              </a:spcBef>
              <a:buNone/>
            </a:pPr>
            <a:r>
              <a:rPr lang="en-US" altLang="zh-CN" sz="2400" dirty="0">
                <a:solidFill>
                  <a:srgbClr val="0070C0"/>
                </a:solidFill>
                <a:latin typeface="+mn-lt"/>
                <a:ea typeface="+mn-ea"/>
                <a:cs typeface="+mn-cs"/>
              </a:rPr>
              <a:t>            </a:t>
            </a:r>
            <a:r>
              <a:rPr lang="zh-CN" sz="2400" dirty="0">
                <a:solidFill>
                  <a:srgbClr val="0070C0"/>
                </a:solidFill>
                <a:latin typeface="楷体" pitchFamily="49" charset="-122"/>
                <a:ea typeface="楷体" pitchFamily="49" charset="-122"/>
              </a:rPr>
              <a:t>记忆学习也称死记硬背学习或机械学习。这种学习方法不要求系统具有对复杂问题求解的能力，也就是没有推理技能，系统的学习方法就是直接记录问题有关的信息，然后检索并利用这些存储的信息来解决问题。</a:t>
            </a:r>
            <a:endParaRPr lang="en-US" altLang="zh-CN" sz="2400" dirty="0">
              <a:solidFill>
                <a:srgbClr val="0070C0"/>
              </a:solidFill>
              <a:latin typeface="楷体" pitchFamily="49" charset="-122"/>
              <a:ea typeface="楷体" pitchFamily="49" charset="-122"/>
            </a:endParaRPr>
          </a:p>
          <a:p>
            <a:pPr>
              <a:lnSpc>
                <a:spcPct val="150000"/>
              </a:lnSpc>
              <a:spcBef>
                <a:spcPts val="0"/>
              </a:spcBef>
              <a:buFont typeface="Wingdings" pitchFamily="2" charset="2"/>
              <a:buNone/>
            </a:pPr>
            <a:r>
              <a:rPr lang="en-US" altLang="zh-CN" sz="2400" dirty="0">
                <a:solidFill>
                  <a:srgbClr val="0070C0"/>
                </a:solidFill>
                <a:latin typeface="楷体" pitchFamily="49" charset="-122"/>
                <a:ea typeface="楷体" pitchFamily="49" charset="-122"/>
              </a:rPr>
              <a:t>       </a:t>
            </a:r>
            <a:r>
              <a:rPr lang="zh-CN" altLang="en-US" sz="2400" dirty="0">
                <a:solidFill>
                  <a:srgbClr val="0070C0"/>
                </a:solidFill>
                <a:latin typeface="楷体" pitchFamily="49" charset="-122"/>
                <a:ea typeface="楷体" pitchFamily="49" charset="-122"/>
              </a:rPr>
              <a:t>记忆学习方法简单</a:t>
            </a:r>
            <a:r>
              <a:rPr lang="en-US" altLang="zh-CN" sz="2400" dirty="0">
                <a:solidFill>
                  <a:srgbClr val="0070C0"/>
                </a:solidFill>
                <a:latin typeface="楷体" pitchFamily="49" charset="-122"/>
                <a:ea typeface="楷体" pitchFamily="49" charset="-122"/>
              </a:rPr>
              <a:t>, </a:t>
            </a:r>
            <a:r>
              <a:rPr lang="zh-CN" altLang="en-US" sz="2400" dirty="0">
                <a:solidFill>
                  <a:srgbClr val="0070C0"/>
                </a:solidFill>
                <a:latin typeface="楷体" pitchFamily="49" charset="-122"/>
                <a:ea typeface="楷体" pitchFamily="49" charset="-122"/>
              </a:rPr>
              <a:t>但学习系统需要几种能力： </a:t>
            </a:r>
          </a:p>
          <a:p>
            <a:pPr>
              <a:lnSpc>
                <a:spcPct val="150000"/>
              </a:lnSpc>
              <a:spcBef>
                <a:spcPts val="0"/>
              </a:spcBef>
              <a:buFont typeface="Wingdings" pitchFamily="2" charset="2"/>
              <a:buNone/>
            </a:pPr>
            <a:r>
              <a:rPr lang="zh-CN" altLang="en-US" sz="2400" dirty="0">
                <a:solidFill>
                  <a:srgbClr val="0070C0"/>
                </a:solidFill>
                <a:latin typeface="方正姚体" pitchFamily="2" charset="-122"/>
                <a:ea typeface="方正姚体" pitchFamily="2" charset="-122"/>
              </a:rPr>
              <a:t>         </a:t>
            </a:r>
            <a:r>
              <a:rPr lang="en-US" altLang="zh-CN" sz="2400" dirty="0">
                <a:solidFill>
                  <a:srgbClr val="0070C0"/>
                </a:solidFill>
                <a:latin typeface="方正姚体" pitchFamily="2" charset="-122"/>
                <a:ea typeface="方正姚体" pitchFamily="2" charset="-122"/>
              </a:rPr>
              <a:t>(1) </a:t>
            </a:r>
            <a:r>
              <a:rPr lang="zh-CN" altLang="en-US" sz="2400" dirty="0">
                <a:solidFill>
                  <a:srgbClr val="0070C0"/>
                </a:solidFill>
                <a:latin typeface="方正姚体" pitchFamily="2" charset="-122"/>
                <a:ea typeface="方正姚体" pitchFamily="2" charset="-122"/>
              </a:rPr>
              <a:t>能实现有组织的存储信息。</a:t>
            </a:r>
          </a:p>
          <a:p>
            <a:pPr>
              <a:lnSpc>
                <a:spcPct val="150000"/>
              </a:lnSpc>
              <a:spcBef>
                <a:spcPts val="0"/>
              </a:spcBef>
              <a:buFont typeface="Wingdings" pitchFamily="2" charset="2"/>
              <a:buNone/>
            </a:pPr>
            <a:r>
              <a:rPr lang="zh-CN" altLang="en-US" sz="2400" dirty="0">
                <a:solidFill>
                  <a:srgbClr val="0070C0"/>
                </a:solidFill>
                <a:latin typeface="方正姚体" pitchFamily="2" charset="-122"/>
                <a:ea typeface="方正姚体" pitchFamily="2" charset="-122"/>
              </a:rPr>
              <a:t>         </a:t>
            </a:r>
            <a:r>
              <a:rPr lang="en-US" altLang="zh-CN" sz="2400" dirty="0">
                <a:solidFill>
                  <a:srgbClr val="0070C0"/>
                </a:solidFill>
                <a:latin typeface="方正姚体" pitchFamily="2" charset="-122"/>
                <a:ea typeface="方正姚体" pitchFamily="2" charset="-122"/>
              </a:rPr>
              <a:t>(2) </a:t>
            </a:r>
            <a:r>
              <a:rPr lang="zh-CN" altLang="en-US" sz="2400" dirty="0">
                <a:solidFill>
                  <a:srgbClr val="0070C0"/>
                </a:solidFill>
                <a:latin typeface="方正姚体" pitchFamily="2" charset="-122"/>
                <a:ea typeface="方正姚体" pitchFamily="2" charset="-122"/>
              </a:rPr>
              <a:t>能进行信息综合。</a:t>
            </a:r>
          </a:p>
          <a:p>
            <a:pPr>
              <a:lnSpc>
                <a:spcPct val="150000"/>
              </a:lnSpc>
              <a:spcBef>
                <a:spcPts val="0"/>
              </a:spcBef>
              <a:buFont typeface="Wingdings" pitchFamily="2" charset="2"/>
              <a:buNone/>
            </a:pPr>
            <a:r>
              <a:rPr lang="zh-CN" altLang="en-US" sz="2400" dirty="0">
                <a:solidFill>
                  <a:srgbClr val="0070C0"/>
                </a:solidFill>
                <a:latin typeface="方正姚体" pitchFamily="2" charset="-122"/>
                <a:ea typeface="方正姚体" pitchFamily="2" charset="-122"/>
              </a:rPr>
              <a:t>         </a:t>
            </a:r>
            <a:r>
              <a:rPr lang="en-US" altLang="zh-CN" sz="2400" dirty="0">
                <a:solidFill>
                  <a:srgbClr val="0070C0"/>
                </a:solidFill>
                <a:latin typeface="方正姚体" pitchFamily="2" charset="-122"/>
                <a:ea typeface="方正姚体" pitchFamily="2" charset="-122"/>
              </a:rPr>
              <a:t>(3) </a:t>
            </a:r>
            <a:r>
              <a:rPr lang="zh-CN" altLang="en-US" sz="2400" dirty="0">
                <a:solidFill>
                  <a:srgbClr val="0070C0"/>
                </a:solidFill>
                <a:latin typeface="方正姚体" pitchFamily="2" charset="-122"/>
                <a:ea typeface="方正姚体" pitchFamily="2" charset="-122"/>
              </a:rPr>
              <a:t>能控制检索方向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box(in)">
                                      <p:cBhvr>
                                        <p:cTn id="7" dur="500"/>
                                        <p:tgtEl>
                                          <p:spTgt spid="22531">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2531">
                                            <p:txEl>
                                              <p:pRg st="2" end="2"/>
                                            </p:txEl>
                                          </p:spTgt>
                                        </p:tgtEl>
                                        <p:attrNameLst>
                                          <p:attrName>style.visibility</p:attrName>
                                        </p:attrNameLst>
                                      </p:cBhvr>
                                      <p:to>
                                        <p:strVal val="visible"/>
                                      </p:to>
                                    </p:set>
                                    <p:animEffect transition="in" filter="box(in)">
                                      <p:cBhvr>
                                        <p:cTn id="10" dur="500"/>
                                        <p:tgtEl>
                                          <p:spTgt spid="2253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22531">
                                            <p:txEl>
                                              <p:pRg st="3" end="3"/>
                                            </p:txEl>
                                          </p:spTgt>
                                        </p:tgtEl>
                                        <p:attrNameLst>
                                          <p:attrName>style.visibility</p:attrName>
                                        </p:attrNameLst>
                                      </p:cBhvr>
                                      <p:to>
                                        <p:strVal val="visible"/>
                                      </p:to>
                                    </p:set>
                                    <p:animEffect transition="in" filter="box(in)">
                                      <p:cBhvr>
                                        <p:cTn id="15" dur="500"/>
                                        <p:tgtEl>
                                          <p:spTgt spid="22531">
                                            <p:txEl>
                                              <p:pRg st="3" end="3"/>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22531">
                                            <p:txEl>
                                              <p:pRg st="4" end="4"/>
                                            </p:txEl>
                                          </p:spTgt>
                                        </p:tgtEl>
                                        <p:attrNameLst>
                                          <p:attrName>style.visibility</p:attrName>
                                        </p:attrNameLst>
                                      </p:cBhvr>
                                      <p:to>
                                        <p:strVal val="visible"/>
                                      </p:to>
                                    </p:set>
                                    <p:animEffect transition="in" filter="box(in)">
                                      <p:cBhvr>
                                        <p:cTn id="18" dur="500"/>
                                        <p:tgtEl>
                                          <p:spTgt spid="22531">
                                            <p:txEl>
                                              <p:pRg st="4" end="4"/>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22531">
                                            <p:txEl>
                                              <p:pRg st="5" end="5"/>
                                            </p:txEl>
                                          </p:spTgt>
                                        </p:tgtEl>
                                        <p:attrNameLst>
                                          <p:attrName>style.visibility</p:attrName>
                                        </p:attrNameLst>
                                      </p:cBhvr>
                                      <p:to>
                                        <p:strVal val="visible"/>
                                      </p:to>
                                    </p:set>
                                    <p:animEffect transition="in" filter="box(in)">
                                      <p:cBhvr>
                                        <p:cTn id="21" dur="500"/>
                                        <p:tgtEl>
                                          <p:spTgt spid="22531">
                                            <p:txEl>
                                              <p:pRg st="5" end="5"/>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22531">
                                            <p:txEl>
                                              <p:pRg st="6" end="6"/>
                                            </p:txEl>
                                          </p:spTgt>
                                        </p:tgtEl>
                                        <p:attrNameLst>
                                          <p:attrName>style.visibility</p:attrName>
                                        </p:attrNameLst>
                                      </p:cBhvr>
                                      <p:to>
                                        <p:strVal val="visible"/>
                                      </p:to>
                                    </p:set>
                                    <p:animEffect transition="in" filter="box(in)">
                                      <p:cBhvr>
                                        <p:cTn id="24" dur="500"/>
                                        <p:tgtEl>
                                          <p:spTgt spid="225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Rot="1" noChangeArrowheads="1"/>
          </p:cNvSpPr>
          <p:nvPr>
            <p:ph type="body" idx="1"/>
          </p:nvPr>
        </p:nvSpPr>
        <p:spPr>
          <a:xfrm>
            <a:off x="457201" y="333375"/>
            <a:ext cx="8043889" cy="1871663"/>
          </a:xfrm>
        </p:spPr>
        <p:txBody>
          <a:bodyPr/>
          <a:lstStyle/>
          <a:p>
            <a:pPr>
              <a:buFont typeface="Wingdings" pitchFamily="2" charset="2"/>
              <a:buNone/>
            </a:pPr>
            <a:r>
              <a:rPr lang="en-US" altLang="zh-CN" sz="2800" dirty="0">
                <a:solidFill>
                  <a:srgbClr val="0070C0"/>
                </a:solidFill>
                <a:latin typeface="黑体" pitchFamily="49" charset="-122"/>
                <a:ea typeface="黑体" pitchFamily="49" charset="-122"/>
              </a:rPr>
              <a:t>  </a:t>
            </a:r>
            <a:r>
              <a:rPr lang="en-US" altLang="zh-CN" sz="2400" dirty="0">
                <a:solidFill>
                  <a:srgbClr val="0070C0"/>
                </a:solidFill>
                <a:latin typeface="黑体" pitchFamily="49" charset="-122"/>
                <a:ea typeface="黑体" pitchFamily="49" charset="-122"/>
              </a:rPr>
              <a:t>9.2.2 </a:t>
            </a:r>
            <a:r>
              <a:rPr lang="zh-CN" altLang="en-US" sz="2400" dirty="0">
                <a:solidFill>
                  <a:srgbClr val="0070C0"/>
                </a:solidFill>
                <a:latin typeface="黑体" pitchFamily="49" charset="-122"/>
                <a:ea typeface="黑体" pitchFamily="49" charset="-122"/>
              </a:rPr>
              <a:t>示例学习</a:t>
            </a:r>
            <a:r>
              <a:rPr lang="en-US" altLang="zh-CN" sz="2400" dirty="0">
                <a:solidFill>
                  <a:srgbClr val="0070C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in-context learning</a:t>
            </a:r>
            <a:r>
              <a:rPr lang="en-US" altLang="zh-CN" sz="2400" dirty="0">
                <a:solidFill>
                  <a:srgbClr val="0070C0"/>
                </a:solidFill>
                <a:latin typeface="黑体" pitchFamily="49" charset="-122"/>
                <a:ea typeface="黑体" pitchFamily="49" charset="-122"/>
              </a:rPr>
              <a:t>)</a:t>
            </a:r>
            <a:endParaRPr kumimoji="1" lang="zh-CN" altLang="en-US" sz="2400" dirty="0">
              <a:solidFill>
                <a:srgbClr val="0070C0"/>
              </a:solidFill>
            </a:endParaRPr>
          </a:p>
          <a:p>
            <a:pPr algn="just">
              <a:lnSpc>
                <a:spcPct val="120000"/>
              </a:lnSpc>
              <a:buFont typeface="Wingdings" pitchFamily="2" charset="2"/>
              <a:buNone/>
            </a:pPr>
            <a:r>
              <a:rPr lang="zh-CN" altLang="en-US" sz="2300" dirty="0">
                <a:solidFill>
                  <a:srgbClr val="0070C0"/>
                </a:solidFill>
                <a:latin typeface="仿宋_GB2312" pitchFamily="49" charset="-122"/>
                <a:ea typeface="仿宋_GB2312" pitchFamily="49" charset="-122"/>
              </a:rPr>
              <a:t>      </a:t>
            </a:r>
            <a:r>
              <a:rPr lang="zh-CN" altLang="en-US" sz="2300" dirty="0">
                <a:solidFill>
                  <a:srgbClr val="0070C0"/>
                </a:solidFill>
                <a:latin typeface="楷体" pitchFamily="49" charset="-122"/>
                <a:ea typeface="楷体" pitchFamily="49" charset="-122"/>
              </a:rPr>
              <a:t>示例学习也称实例学习</a:t>
            </a:r>
            <a:r>
              <a:rPr lang="en-US" altLang="zh-CN" sz="2300" dirty="0">
                <a:solidFill>
                  <a:srgbClr val="0070C0"/>
                </a:solidFill>
                <a:latin typeface="楷体" pitchFamily="49" charset="-122"/>
                <a:ea typeface="楷体" pitchFamily="49" charset="-122"/>
              </a:rPr>
              <a:t>, </a:t>
            </a:r>
            <a:r>
              <a:rPr lang="zh-CN" altLang="en-US" sz="2300" dirty="0">
                <a:solidFill>
                  <a:srgbClr val="0070C0"/>
                </a:solidFill>
                <a:latin typeface="楷体" pitchFamily="49" charset="-122"/>
                <a:ea typeface="楷体" pitchFamily="49" charset="-122"/>
              </a:rPr>
              <a:t>它是一种归纳学习。示例学习是从若干实例</a:t>
            </a:r>
            <a:r>
              <a:rPr lang="en-US" altLang="zh-CN" sz="2300" dirty="0">
                <a:solidFill>
                  <a:srgbClr val="0070C0"/>
                </a:solidFill>
                <a:latin typeface="楷体" pitchFamily="49" charset="-122"/>
                <a:ea typeface="楷体" pitchFamily="49" charset="-122"/>
              </a:rPr>
              <a:t>(</a:t>
            </a:r>
            <a:r>
              <a:rPr lang="zh-CN" altLang="en-US" sz="2300" dirty="0">
                <a:solidFill>
                  <a:srgbClr val="0070C0"/>
                </a:solidFill>
                <a:latin typeface="楷体" pitchFamily="49" charset="-122"/>
                <a:ea typeface="楷体" pitchFamily="49" charset="-122"/>
              </a:rPr>
              <a:t>包括正例和反例</a:t>
            </a:r>
            <a:r>
              <a:rPr lang="en-US" altLang="zh-CN" sz="2300" dirty="0">
                <a:solidFill>
                  <a:srgbClr val="0070C0"/>
                </a:solidFill>
                <a:latin typeface="楷体" pitchFamily="49" charset="-122"/>
                <a:ea typeface="楷体" pitchFamily="49" charset="-122"/>
              </a:rPr>
              <a:t>)</a:t>
            </a:r>
            <a:r>
              <a:rPr lang="zh-CN" altLang="en-US" sz="2300" dirty="0">
                <a:solidFill>
                  <a:srgbClr val="0070C0"/>
                </a:solidFill>
                <a:latin typeface="楷体" pitchFamily="49" charset="-122"/>
                <a:ea typeface="楷体" pitchFamily="49" charset="-122"/>
              </a:rPr>
              <a:t>中归纳出一般概念或规则的学习方法。 </a:t>
            </a:r>
          </a:p>
        </p:txBody>
      </p:sp>
      <p:sp>
        <p:nvSpPr>
          <p:cNvPr id="2" name="Rectangle 3">
            <a:extLst>
              <a:ext uri="{FF2B5EF4-FFF2-40B4-BE49-F238E27FC236}">
                <a16:creationId xmlns:a16="http://schemas.microsoft.com/office/drawing/2014/main" id="{FF748736-3740-2B45-4398-C1E68D358E9C}"/>
              </a:ext>
            </a:extLst>
          </p:cNvPr>
          <p:cNvSpPr txBox="1">
            <a:spLocks noRot="1" noChangeArrowheads="1"/>
          </p:cNvSpPr>
          <p:nvPr/>
        </p:nvSpPr>
        <p:spPr bwMode="auto">
          <a:xfrm>
            <a:off x="457200" y="1988840"/>
            <a:ext cx="8043889" cy="521219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SzPct val="85000"/>
              <a:buFont typeface="Wingdings" pitchFamily="2" charset="2"/>
              <a:buChar char="Ø"/>
              <a:defRPr sz="2800">
                <a:solidFill>
                  <a:schemeClr val="tx1"/>
                </a:solidFill>
                <a:latin typeface="+mn-lt"/>
                <a:ea typeface="+mn-ea"/>
              </a:defRPr>
            </a:lvl2pPr>
            <a:lvl3pPr marL="1143000" indent="-228600" algn="l" rtl="0" fontAlgn="base">
              <a:spcBef>
                <a:spcPct val="20000"/>
              </a:spcBef>
              <a:spcAft>
                <a:spcPct val="0"/>
              </a:spcAft>
              <a:buClr>
                <a:schemeClr val="hlink"/>
              </a:buClr>
              <a:buSzPct val="95000"/>
              <a:buFont typeface="Wingdings 2" pitchFamily="18" charset="2"/>
              <a:buChar char="¡"/>
              <a:defRPr sz="2400">
                <a:solidFill>
                  <a:schemeClr val="tx1"/>
                </a:solidFill>
                <a:latin typeface="+mn-lt"/>
                <a:ea typeface="+mn-ea"/>
              </a:defRPr>
            </a:lvl3pPr>
            <a:lvl4pPr marL="1600200" indent="-228600" algn="l" rtl="0" fontAlgn="base">
              <a:spcBef>
                <a:spcPct val="20000"/>
              </a:spcBef>
              <a:spcAft>
                <a:spcPct val="0"/>
              </a:spcAft>
              <a:buClr>
                <a:schemeClr val="tx2"/>
              </a:buClr>
              <a:buSzPct val="90000"/>
              <a:buFont typeface="Wingdings" pitchFamily="2" charset="2"/>
              <a:buChar char="Ø"/>
              <a:defRPr sz="2000">
                <a:solidFill>
                  <a:schemeClr val="tx1"/>
                </a:solidFill>
                <a:latin typeface="+mn-lt"/>
                <a:ea typeface="+mn-ea"/>
              </a:defRPr>
            </a:lvl4pPr>
            <a:lvl5pPr marL="20574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9pPr>
          </a:lstStyle>
          <a:p>
            <a:pPr>
              <a:lnSpc>
                <a:spcPct val="150000"/>
              </a:lnSpc>
              <a:buFont typeface="Wingdings" pitchFamily="2" charset="2"/>
              <a:buNone/>
            </a:pPr>
            <a:r>
              <a:rPr lang="en-US" altLang="zh-CN" sz="2400" kern="0" dirty="0">
                <a:latin typeface="黑体" pitchFamily="49" charset="-122"/>
                <a:ea typeface="黑体" pitchFamily="49" charset="-122"/>
              </a:rPr>
              <a:t>   </a:t>
            </a:r>
            <a:r>
              <a:rPr lang="zh-CN" altLang="en-US" sz="2400" kern="0" dirty="0">
                <a:solidFill>
                  <a:srgbClr val="0070C0"/>
                </a:solidFill>
                <a:latin typeface="楷体" pitchFamily="49" charset="-122"/>
                <a:ea typeface="楷体" pitchFamily="49" charset="-122"/>
                <a:cs typeface="Times New Roman" pitchFamily="18" charset="0"/>
              </a:rPr>
              <a:t>示例</a:t>
            </a:r>
            <a:r>
              <a:rPr lang="en-US" altLang="zh-CN" sz="2400" kern="0" dirty="0">
                <a:solidFill>
                  <a:srgbClr val="0070C0"/>
                </a:solidFill>
                <a:latin typeface="楷体" pitchFamily="49" charset="-122"/>
                <a:ea typeface="楷体" pitchFamily="49" charset="-122"/>
                <a:cs typeface="Times New Roman" pitchFamily="18" charset="0"/>
              </a:rPr>
              <a:t>1</a:t>
            </a:r>
            <a:r>
              <a:rPr lang="zh-CN" altLang="en-US" sz="2400" kern="0" dirty="0">
                <a:solidFill>
                  <a:srgbClr val="0070C0"/>
                </a:solidFill>
                <a:latin typeface="Times New Roman" pitchFamily="18" charset="0"/>
                <a:ea typeface="仿宋_GB2312" pitchFamily="49" charset="-122"/>
                <a:cs typeface="Times New Roman" pitchFamily="18" charset="0"/>
              </a:rPr>
              <a:t>：</a:t>
            </a:r>
          </a:p>
          <a:p>
            <a:pPr>
              <a:lnSpc>
                <a:spcPts val="3200"/>
              </a:lnSpc>
              <a:spcBef>
                <a:spcPts val="0"/>
              </a:spcBef>
              <a:buFont typeface="Wingdings" pitchFamily="2" charset="2"/>
              <a:buNone/>
            </a:pPr>
            <a:r>
              <a:rPr lang="zh-CN" altLang="en-US" sz="2400" kern="0" dirty="0">
                <a:solidFill>
                  <a:srgbClr val="0070C0"/>
                </a:solidFill>
                <a:latin typeface="Times New Roman" pitchFamily="18" charset="0"/>
                <a:ea typeface="仿宋_GB2312" pitchFamily="49" charset="-122"/>
                <a:cs typeface="Times New Roman" pitchFamily="18" charset="0"/>
              </a:rPr>
              <a:t>             </a:t>
            </a:r>
            <a:r>
              <a:rPr lang="zh-CN" altLang="en-US" sz="2100" kern="0" dirty="0">
                <a:solidFill>
                  <a:srgbClr val="0070C0"/>
                </a:solidFill>
                <a:latin typeface="Times New Roman" pitchFamily="18" charset="0"/>
                <a:ea typeface="楷体_GB2312" pitchFamily="49" charset="-122"/>
                <a:cs typeface="Times New Roman" pitchFamily="18" charset="0"/>
              </a:rPr>
              <a:t>花色</a:t>
            </a:r>
            <a:r>
              <a:rPr lang="en-US" altLang="zh-CN" sz="2100" kern="0" dirty="0">
                <a:solidFill>
                  <a:srgbClr val="0070C0"/>
                </a:solidFill>
                <a:latin typeface="Times New Roman" pitchFamily="18" charset="0"/>
                <a:ea typeface="楷体_GB2312" pitchFamily="49" charset="-122"/>
                <a:cs typeface="Times New Roman" pitchFamily="18" charset="0"/>
              </a:rPr>
              <a:t>(c1</a:t>
            </a:r>
            <a:r>
              <a:rPr lang="zh-CN" altLang="en-US"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楷体" pitchFamily="49" charset="-122"/>
                <a:ea typeface="楷体" pitchFamily="49" charset="-122"/>
                <a:cs typeface="Times New Roman" pitchFamily="18" charset="0"/>
              </a:rPr>
              <a:t>梅花</a:t>
            </a:r>
            <a:r>
              <a:rPr lang="en-US" altLang="zh-CN"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Times New Roman" pitchFamily="18" charset="0"/>
                <a:ea typeface="楷体_GB2312" pitchFamily="49" charset="-122"/>
                <a:cs typeface="Times New Roman" pitchFamily="18" charset="0"/>
              </a:rPr>
              <a:t>花色</a:t>
            </a:r>
            <a:r>
              <a:rPr lang="en-US" altLang="zh-CN" sz="2100" kern="0" dirty="0">
                <a:solidFill>
                  <a:srgbClr val="0070C0"/>
                </a:solidFill>
                <a:latin typeface="Times New Roman" pitchFamily="18" charset="0"/>
                <a:ea typeface="楷体_GB2312" pitchFamily="49" charset="-122"/>
                <a:cs typeface="Times New Roman" pitchFamily="18" charset="0"/>
              </a:rPr>
              <a:t>(c2</a:t>
            </a:r>
            <a:r>
              <a:rPr lang="zh-CN" altLang="en-US"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楷体" pitchFamily="49" charset="-122"/>
                <a:ea typeface="楷体" pitchFamily="49" charset="-122"/>
                <a:cs typeface="Times New Roman" pitchFamily="18" charset="0"/>
              </a:rPr>
              <a:t>梅花</a:t>
            </a:r>
            <a:r>
              <a:rPr lang="en-US" altLang="zh-CN"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Times New Roman" pitchFamily="18" charset="0"/>
                <a:ea typeface="楷体_GB2312" pitchFamily="49" charset="-122"/>
                <a:cs typeface="Times New Roman" pitchFamily="18" charset="0"/>
              </a:rPr>
              <a:t>花色</a:t>
            </a:r>
            <a:r>
              <a:rPr lang="en-US" altLang="zh-CN" sz="2100" kern="0" dirty="0">
                <a:solidFill>
                  <a:srgbClr val="0070C0"/>
                </a:solidFill>
                <a:latin typeface="Times New Roman" pitchFamily="18" charset="0"/>
                <a:ea typeface="楷体_GB2312" pitchFamily="49" charset="-122"/>
                <a:cs typeface="Times New Roman" pitchFamily="18" charset="0"/>
              </a:rPr>
              <a:t>(c3</a:t>
            </a:r>
            <a:r>
              <a:rPr lang="zh-CN" altLang="en-US"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楷体" pitchFamily="49" charset="-122"/>
                <a:ea typeface="楷体" pitchFamily="49" charset="-122"/>
                <a:cs typeface="Times New Roman" pitchFamily="18" charset="0"/>
              </a:rPr>
              <a:t>梅花</a:t>
            </a:r>
            <a:r>
              <a:rPr lang="en-US" altLang="zh-CN"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Times New Roman" pitchFamily="18" charset="0"/>
                <a:ea typeface="楷体_GB2312" pitchFamily="49" charset="-122"/>
                <a:cs typeface="Times New Roman" pitchFamily="18" charset="0"/>
              </a:rPr>
              <a:t>花色</a:t>
            </a:r>
            <a:r>
              <a:rPr lang="en-US" altLang="zh-CN" sz="2100" kern="0" dirty="0">
                <a:solidFill>
                  <a:srgbClr val="0070C0"/>
                </a:solidFill>
                <a:latin typeface="Times New Roman" pitchFamily="18" charset="0"/>
                <a:ea typeface="楷体_GB2312" pitchFamily="49" charset="-122"/>
                <a:cs typeface="Times New Roman" pitchFamily="18" charset="0"/>
              </a:rPr>
              <a:t>(c4</a:t>
            </a:r>
            <a:r>
              <a:rPr lang="zh-CN" altLang="en-US"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楷体" pitchFamily="49" charset="-122"/>
                <a:ea typeface="楷体" pitchFamily="49" charset="-122"/>
                <a:cs typeface="Times New Roman" pitchFamily="18" charset="0"/>
              </a:rPr>
              <a:t>梅花</a:t>
            </a:r>
            <a:r>
              <a:rPr lang="en-US" altLang="zh-CN"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Times New Roman" pitchFamily="18" charset="0"/>
                <a:ea typeface="楷体_GB2312" pitchFamily="49" charset="-122"/>
                <a:cs typeface="Times New Roman" pitchFamily="18" charset="0"/>
              </a:rPr>
              <a:t>同花</a:t>
            </a:r>
            <a:r>
              <a:rPr lang="en-US" altLang="zh-CN" sz="2100" kern="0" dirty="0">
                <a:solidFill>
                  <a:srgbClr val="0070C0"/>
                </a:solidFill>
                <a:latin typeface="Times New Roman" pitchFamily="18" charset="0"/>
                <a:ea typeface="楷体_GB2312" pitchFamily="49" charset="-122"/>
                <a:cs typeface="Times New Roman" pitchFamily="18" charset="0"/>
              </a:rPr>
              <a:t>(c1</a:t>
            </a:r>
            <a:r>
              <a:rPr lang="zh-CN" altLang="en-US" sz="2100" kern="0" dirty="0">
                <a:solidFill>
                  <a:srgbClr val="0070C0"/>
                </a:solidFill>
                <a:latin typeface="Times New Roman" pitchFamily="18" charset="0"/>
                <a:ea typeface="楷体_GB2312" pitchFamily="49" charset="-122"/>
                <a:cs typeface="Times New Roman" pitchFamily="18" charset="0"/>
              </a:rPr>
              <a:t>，</a:t>
            </a:r>
            <a:r>
              <a:rPr lang="en-US" altLang="zh-CN" sz="2100" kern="0" dirty="0">
                <a:solidFill>
                  <a:srgbClr val="0070C0"/>
                </a:solidFill>
                <a:latin typeface="Times New Roman" pitchFamily="18" charset="0"/>
                <a:ea typeface="楷体_GB2312" pitchFamily="49" charset="-122"/>
                <a:cs typeface="Times New Roman" pitchFamily="18" charset="0"/>
              </a:rPr>
              <a:t>c2</a:t>
            </a:r>
            <a:r>
              <a:rPr lang="zh-CN" altLang="en-US" sz="2100" kern="0" dirty="0">
                <a:solidFill>
                  <a:srgbClr val="0070C0"/>
                </a:solidFill>
                <a:latin typeface="Times New Roman" pitchFamily="18" charset="0"/>
                <a:ea typeface="楷体_GB2312" pitchFamily="49" charset="-122"/>
                <a:cs typeface="Times New Roman" pitchFamily="18" charset="0"/>
              </a:rPr>
              <a:t>，</a:t>
            </a:r>
            <a:r>
              <a:rPr lang="en-US" altLang="zh-CN" sz="2100" kern="0" dirty="0">
                <a:solidFill>
                  <a:srgbClr val="0070C0"/>
                </a:solidFill>
                <a:latin typeface="Times New Roman" pitchFamily="18" charset="0"/>
                <a:ea typeface="楷体_GB2312" pitchFamily="49" charset="-122"/>
                <a:cs typeface="Times New Roman" pitchFamily="18" charset="0"/>
              </a:rPr>
              <a:t>c3</a:t>
            </a:r>
            <a:r>
              <a:rPr lang="zh-CN" altLang="en-US" sz="2100" kern="0" dirty="0">
                <a:solidFill>
                  <a:srgbClr val="0070C0"/>
                </a:solidFill>
                <a:latin typeface="Times New Roman" pitchFamily="18" charset="0"/>
                <a:ea typeface="楷体_GB2312" pitchFamily="49" charset="-122"/>
                <a:cs typeface="Times New Roman" pitchFamily="18" charset="0"/>
              </a:rPr>
              <a:t>，</a:t>
            </a:r>
            <a:r>
              <a:rPr lang="en-US" altLang="zh-CN" sz="2100" kern="0" dirty="0">
                <a:solidFill>
                  <a:srgbClr val="0070C0"/>
                </a:solidFill>
                <a:latin typeface="Times New Roman" pitchFamily="18" charset="0"/>
                <a:ea typeface="楷体_GB2312" pitchFamily="49" charset="-122"/>
                <a:cs typeface="Times New Roman" pitchFamily="18" charset="0"/>
              </a:rPr>
              <a:t>c4)</a:t>
            </a:r>
            <a:r>
              <a:rPr lang="en-US" altLang="zh-CN" sz="2100" kern="0" dirty="0">
                <a:solidFill>
                  <a:srgbClr val="0070C0"/>
                </a:solidFill>
                <a:latin typeface="Times New Roman" pitchFamily="18" charset="0"/>
                <a:ea typeface="仿宋_GB2312" pitchFamily="49" charset="-122"/>
                <a:cs typeface="Times New Roman" pitchFamily="18" charset="0"/>
              </a:rPr>
              <a:t> </a:t>
            </a:r>
          </a:p>
          <a:p>
            <a:pPr>
              <a:lnSpc>
                <a:spcPct val="150000"/>
              </a:lnSpc>
              <a:buFont typeface="Wingdings" pitchFamily="2" charset="2"/>
              <a:buNone/>
            </a:pPr>
            <a:r>
              <a:rPr lang="en-US" altLang="zh-CN" sz="2400" kern="0" dirty="0">
                <a:solidFill>
                  <a:srgbClr val="0070C0"/>
                </a:solidFill>
                <a:latin typeface="Times New Roman" pitchFamily="18" charset="0"/>
                <a:ea typeface="仿宋_GB2312" pitchFamily="49" charset="-122"/>
                <a:cs typeface="Times New Roman" pitchFamily="18" charset="0"/>
              </a:rPr>
              <a:t>     </a:t>
            </a:r>
            <a:r>
              <a:rPr lang="zh-CN" altLang="en-US" sz="2400" kern="0" dirty="0">
                <a:solidFill>
                  <a:srgbClr val="0070C0"/>
                </a:solidFill>
                <a:latin typeface="楷体" pitchFamily="49" charset="-122"/>
                <a:ea typeface="楷体" pitchFamily="49" charset="-122"/>
                <a:cs typeface="Times New Roman" pitchFamily="18" charset="0"/>
              </a:rPr>
              <a:t>示例</a:t>
            </a:r>
            <a:r>
              <a:rPr lang="en-US" altLang="zh-CN" sz="2400" kern="0" dirty="0">
                <a:solidFill>
                  <a:srgbClr val="0070C0"/>
                </a:solidFill>
                <a:latin typeface="楷体" pitchFamily="49" charset="-122"/>
                <a:ea typeface="楷体" pitchFamily="49" charset="-122"/>
                <a:cs typeface="Times New Roman" pitchFamily="18" charset="0"/>
              </a:rPr>
              <a:t>2</a:t>
            </a:r>
            <a:r>
              <a:rPr lang="zh-CN" altLang="en-US" sz="2400" kern="0" dirty="0">
                <a:solidFill>
                  <a:srgbClr val="0070C0"/>
                </a:solidFill>
                <a:latin typeface="Times New Roman" pitchFamily="18" charset="0"/>
                <a:ea typeface="仿宋_GB2312" pitchFamily="49" charset="-122"/>
                <a:cs typeface="Times New Roman" pitchFamily="18" charset="0"/>
              </a:rPr>
              <a:t>：</a:t>
            </a:r>
          </a:p>
          <a:p>
            <a:pPr>
              <a:lnSpc>
                <a:spcPts val="3200"/>
              </a:lnSpc>
              <a:buFont typeface="Wingdings" pitchFamily="2" charset="2"/>
              <a:buNone/>
            </a:pPr>
            <a:r>
              <a:rPr lang="zh-CN" altLang="en-US" sz="2400" kern="0" dirty="0">
                <a:solidFill>
                  <a:srgbClr val="0070C0"/>
                </a:solidFill>
                <a:latin typeface="Times New Roman" pitchFamily="18" charset="0"/>
                <a:ea typeface="仿宋_GB2312" pitchFamily="49" charset="-122"/>
                <a:cs typeface="Times New Roman" pitchFamily="18" charset="0"/>
              </a:rPr>
              <a:t>             </a:t>
            </a:r>
            <a:r>
              <a:rPr lang="zh-CN" altLang="en-US" sz="2100" kern="0" dirty="0">
                <a:solidFill>
                  <a:srgbClr val="0070C0"/>
                </a:solidFill>
                <a:latin typeface="Times New Roman" pitchFamily="18" charset="0"/>
                <a:ea typeface="楷体_GB2312" pitchFamily="49" charset="-122"/>
                <a:cs typeface="Times New Roman" pitchFamily="18" charset="0"/>
              </a:rPr>
              <a:t>花色</a:t>
            </a:r>
            <a:r>
              <a:rPr lang="en-US" altLang="zh-CN" sz="2100" kern="0" dirty="0">
                <a:solidFill>
                  <a:srgbClr val="0070C0"/>
                </a:solidFill>
                <a:latin typeface="Times New Roman" pitchFamily="18" charset="0"/>
                <a:ea typeface="楷体_GB2312" pitchFamily="49" charset="-122"/>
                <a:cs typeface="Times New Roman" pitchFamily="18" charset="0"/>
              </a:rPr>
              <a:t>(c1</a:t>
            </a:r>
            <a:r>
              <a:rPr lang="zh-CN" altLang="en-US"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楷体" pitchFamily="49" charset="-122"/>
                <a:ea typeface="楷体" pitchFamily="49" charset="-122"/>
                <a:cs typeface="Times New Roman" pitchFamily="18" charset="0"/>
              </a:rPr>
              <a:t>红桃</a:t>
            </a:r>
            <a:r>
              <a:rPr lang="en-US" altLang="zh-CN"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Times New Roman" pitchFamily="18" charset="0"/>
                <a:ea typeface="楷体_GB2312" pitchFamily="49" charset="-122"/>
                <a:cs typeface="Times New Roman" pitchFamily="18" charset="0"/>
              </a:rPr>
              <a:t>花色</a:t>
            </a:r>
            <a:r>
              <a:rPr lang="en-US" altLang="zh-CN" sz="2100" kern="0" dirty="0">
                <a:solidFill>
                  <a:srgbClr val="0070C0"/>
                </a:solidFill>
                <a:latin typeface="Times New Roman" pitchFamily="18" charset="0"/>
                <a:ea typeface="楷体_GB2312" pitchFamily="49" charset="-122"/>
                <a:cs typeface="Times New Roman" pitchFamily="18" charset="0"/>
              </a:rPr>
              <a:t>(c2</a:t>
            </a:r>
            <a:r>
              <a:rPr lang="zh-CN" altLang="en-US"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楷体" pitchFamily="49" charset="-122"/>
                <a:ea typeface="楷体" pitchFamily="49" charset="-122"/>
                <a:cs typeface="Times New Roman" pitchFamily="18" charset="0"/>
              </a:rPr>
              <a:t>红桃</a:t>
            </a:r>
            <a:r>
              <a:rPr lang="en-US" altLang="zh-CN"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Times New Roman" pitchFamily="18" charset="0"/>
                <a:ea typeface="楷体_GB2312" pitchFamily="49" charset="-122"/>
                <a:cs typeface="Times New Roman" pitchFamily="18" charset="0"/>
              </a:rPr>
              <a:t>花色</a:t>
            </a:r>
            <a:r>
              <a:rPr lang="en-US" altLang="zh-CN" sz="2100" kern="0" dirty="0">
                <a:solidFill>
                  <a:srgbClr val="0070C0"/>
                </a:solidFill>
                <a:latin typeface="Times New Roman" pitchFamily="18" charset="0"/>
                <a:ea typeface="楷体_GB2312" pitchFamily="49" charset="-122"/>
                <a:cs typeface="Times New Roman" pitchFamily="18" charset="0"/>
              </a:rPr>
              <a:t>(c3</a:t>
            </a:r>
            <a:r>
              <a:rPr lang="zh-CN" altLang="en-US"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楷体" pitchFamily="49" charset="-122"/>
                <a:ea typeface="楷体" pitchFamily="49" charset="-122"/>
                <a:cs typeface="Times New Roman" pitchFamily="18" charset="0"/>
              </a:rPr>
              <a:t>红桃</a:t>
            </a:r>
            <a:r>
              <a:rPr lang="en-US" altLang="zh-CN"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Times New Roman" pitchFamily="18" charset="0"/>
                <a:ea typeface="楷体_GB2312" pitchFamily="49" charset="-122"/>
                <a:cs typeface="Times New Roman" pitchFamily="18" charset="0"/>
              </a:rPr>
              <a:t>花色</a:t>
            </a:r>
            <a:r>
              <a:rPr lang="en-US" altLang="zh-CN" sz="2100" kern="0" dirty="0">
                <a:solidFill>
                  <a:srgbClr val="0070C0"/>
                </a:solidFill>
                <a:latin typeface="Times New Roman" pitchFamily="18" charset="0"/>
                <a:ea typeface="楷体_GB2312" pitchFamily="49" charset="-122"/>
                <a:cs typeface="Times New Roman" pitchFamily="18" charset="0"/>
              </a:rPr>
              <a:t>(c4</a:t>
            </a:r>
            <a:r>
              <a:rPr lang="zh-CN" altLang="en-US"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楷体" pitchFamily="49" charset="-122"/>
                <a:ea typeface="楷体" pitchFamily="49" charset="-122"/>
                <a:cs typeface="Times New Roman" pitchFamily="18" charset="0"/>
              </a:rPr>
              <a:t>红桃</a:t>
            </a:r>
            <a:r>
              <a:rPr lang="en-US" altLang="zh-CN" sz="2100" kern="0" dirty="0">
                <a:solidFill>
                  <a:srgbClr val="0070C0"/>
                </a:solidFill>
                <a:latin typeface="Times New Roman" pitchFamily="18" charset="0"/>
                <a:ea typeface="楷体_GB2312" pitchFamily="49" charset="-122"/>
                <a:cs typeface="Times New Roman" pitchFamily="18" charset="0"/>
              </a:rPr>
              <a:t>)→</a:t>
            </a:r>
            <a:r>
              <a:rPr lang="zh-CN" altLang="en-US" sz="2100" kern="0" dirty="0">
                <a:solidFill>
                  <a:srgbClr val="0070C0"/>
                </a:solidFill>
                <a:latin typeface="Times New Roman" pitchFamily="18" charset="0"/>
                <a:ea typeface="楷体_GB2312" pitchFamily="49" charset="-122"/>
                <a:cs typeface="Times New Roman" pitchFamily="18" charset="0"/>
              </a:rPr>
              <a:t>同花</a:t>
            </a:r>
            <a:r>
              <a:rPr lang="en-US" altLang="zh-CN" sz="2100" kern="0" dirty="0">
                <a:solidFill>
                  <a:srgbClr val="0070C0"/>
                </a:solidFill>
                <a:latin typeface="Times New Roman" pitchFamily="18" charset="0"/>
                <a:ea typeface="楷体_GB2312" pitchFamily="49" charset="-122"/>
                <a:cs typeface="Times New Roman" pitchFamily="18" charset="0"/>
              </a:rPr>
              <a:t>(c1</a:t>
            </a:r>
            <a:r>
              <a:rPr lang="zh-CN" altLang="en-US" sz="2100" kern="0" dirty="0">
                <a:solidFill>
                  <a:srgbClr val="0070C0"/>
                </a:solidFill>
                <a:latin typeface="Times New Roman" pitchFamily="18" charset="0"/>
                <a:ea typeface="楷体_GB2312" pitchFamily="49" charset="-122"/>
                <a:cs typeface="Times New Roman" pitchFamily="18" charset="0"/>
              </a:rPr>
              <a:t>，</a:t>
            </a:r>
            <a:r>
              <a:rPr lang="en-US" altLang="zh-CN" sz="2100" kern="0" dirty="0">
                <a:solidFill>
                  <a:srgbClr val="0070C0"/>
                </a:solidFill>
                <a:latin typeface="Times New Roman" pitchFamily="18" charset="0"/>
                <a:ea typeface="楷体_GB2312" pitchFamily="49" charset="-122"/>
                <a:cs typeface="Times New Roman" pitchFamily="18" charset="0"/>
              </a:rPr>
              <a:t>c2</a:t>
            </a:r>
            <a:r>
              <a:rPr lang="zh-CN" altLang="en-US" sz="2100" kern="0" dirty="0">
                <a:solidFill>
                  <a:srgbClr val="0070C0"/>
                </a:solidFill>
                <a:latin typeface="Times New Roman" pitchFamily="18" charset="0"/>
                <a:ea typeface="楷体_GB2312" pitchFamily="49" charset="-122"/>
                <a:cs typeface="Times New Roman" pitchFamily="18" charset="0"/>
              </a:rPr>
              <a:t>，</a:t>
            </a:r>
            <a:r>
              <a:rPr lang="en-US" altLang="zh-CN" sz="2100" kern="0" dirty="0">
                <a:solidFill>
                  <a:srgbClr val="0070C0"/>
                </a:solidFill>
                <a:latin typeface="Times New Roman" pitchFamily="18" charset="0"/>
                <a:ea typeface="楷体_GB2312" pitchFamily="49" charset="-122"/>
                <a:cs typeface="Times New Roman" pitchFamily="18" charset="0"/>
              </a:rPr>
              <a:t>c3</a:t>
            </a:r>
            <a:r>
              <a:rPr lang="zh-CN" altLang="en-US" sz="2100" kern="0" dirty="0">
                <a:solidFill>
                  <a:srgbClr val="0070C0"/>
                </a:solidFill>
                <a:latin typeface="Times New Roman" pitchFamily="18" charset="0"/>
                <a:ea typeface="楷体_GB2312" pitchFamily="49" charset="-122"/>
                <a:cs typeface="Times New Roman" pitchFamily="18" charset="0"/>
              </a:rPr>
              <a:t>，</a:t>
            </a:r>
            <a:r>
              <a:rPr lang="en-US" altLang="zh-CN" sz="2100" kern="0" dirty="0">
                <a:solidFill>
                  <a:srgbClr val="0070C0"/>
                </a:solidFill>
                <a:latin typeface="Times New Roman" pitchFamily="18" charset="0"/>
                <a:ea typeface="楷体_GB2312" pitchFamily="49" charset="-122"/>
                <a:cs typeface="Times New Roman" pitchFamily="18" charset="0"/>
              </a:rPr>
              <a:t>c4) </a:t>
            </a:r>
          </a:p>
          <a:p>
            <a:pPr>
              <a:lnSpc>
                <a:spcPct val="150000"/>
              </a:lnSpc>
              <a:spcBef>
                <a:spcPct val="50000"/>
              </a:spcBef>
              <a:buFont typeface="Wingdings" pitchFamily="2" charset="2"/>
              <a:buNone/>
            </a:pPr>
            <a:r>
              <a:rPr lang="en-US" altLang="zh-CN" sz="2400" kern="0" dirty="0">
                <a:solidFill>
                  <a:srgbClr val="0070C0"/>
                </a:solidFill>
                <a:latin typeface="Times New Roman" pitchFamily="18" charset="0"/>
                <a:ea typeface="仿宋_GB2312" pitchFamily="49" charset="-122"/>
                <a:cs typeface="Times New Roman" pitchFamily="18" charset="0"/>
              </a:rPr>
              <a:t>     </a:t>
            </a:r>
            <a:r>
              <a:rPr lang="zh-CN" altLang="en-US" sz="2400" kern="0" dirty="0">
                <a:solidFill>
                  <a:srgbClr val="0070C0"/>
                </a:solidFill>
                <a:latin typeface="Times New Roman" pitchFamily="18" charset="0"/>
                <a:ea typeface="仿宋_GB2312" pitchFamily="49" charset="-122"/>
                <a:cs typeface="Times New Roman" pitchFamily="18" charset="0"/>
              </a:rPr>
              <a:t>学习得到的关于同花的一般性规则</a:t>
            </a:r>
            <a:r>
              <a:rPr lang="en-US" altLang="zh-CN" sz="2400" kern="0" dirty="0">
                <a:solidFill>
                  <a:srgbClr val="0070C0"/>
                </a:solidFill>
                <a:latin typeface="Times New Roman" pitchFamily="18" charset="0"/>
                <a:ea typeface="仿宋_GB2312" pitchFamily="49" charset="-122"/>
                <a:cs typeface="Times New Roman" pitchFamily="18" charset="0"/>
              </a:rPr>
              <a:t>: </a:t>
            </a:r>
          </a:p>
          <a:p>
            <a:pPr>
              <a:lnSpc>
                <a:spcPct val="150000"/>
              </a:lnSpc>
              <a:buFont typeface="Wingdings" pitchFamily="2" charset="2"/>
              <a:buNone/>
            </a:pPr>
            <a:r>
              <a:rPr lang="en-US" altLang="zh-CN" sz="2400" kern="0" dirty="0">
                <a:solidFill>
                  <a:srgbClr val="0070C0"/>
                </a:solidFill>
                <a:latin typeface="Times New Roman" pitchFamily="18" charset="0"/>
                <a:ea typeface="仿宋_GB2312" pitchFamily="49" charset="-122"/>
                <a:cs typeface="Times New Roman" pitchFamily="18" charset="0"/>
              </a:rPr>
              <a:t>              </a:t>
            </a:r>
            <a:r>
              <a:rPr lang="zh-CN" altLang="en-US" sz="2100" kern="0" dirty="0">
                <a:solidFill>
                  <a:srgbClr val="0070C0"/>
                </a:solidFill>
                <a:latin typeface="Times New Roman" pitchFamily="18" charset="0"/>
                <a:ea typeface="楷体_GB2312" pitchFamily="49" charset="-122"/>
                <a:cs typeface="Times New Roman" pitchFamily="18" charset="0"/>
              </a:rPr>
              <a:t>花色</a:t>
            </a:r>
            <a:r>
              <a:rPr lang="en-US" altLang="zh-CN" sz="2100" kern="0" dirty="0">
                <a:solidFill>
                  <a:srgbClr val="0070C0"/>
                </a:solidFill>
                <a:latin typeface="Times New Roman" pitchFamily="18" charset="0"/>
                <a:ea typeface="楷体_GB2312" pitchFamily="49" charset="-122"/>
                <a:cs typeface="Times New Roman" pitchFamily="18" charset="0"/>
              </a:rPr>
              <a:t>(c1</a:t>
            </a:r>
            <a:r>
              <a:rPr lang="zh-CN" altLang="en-US" sz="2100" kern="0" dirty="0">
                <a:solidFill>
                  <a:srgbClr val="0070C0"/>
                </a:solidFill>
                <a:latin typeface="Times New Roman" pitchFamily="18" charset="0"/>
                <a:ea typeface="楷体_GB2312" pitchFamily="49" charset="-122"/>
                <a:cs typeface="Times New Roman" pitchFamily="18" charset="0"/>
              </a:rPr>
              <a:t>，</a:t>
            </a:r>
            <a:r>
              <a:rPr lang="en-US" altLang="zh-CN" sz="2100" kern="0" dirty="0">
                <a:solidFill>
                  <a:srgbClr val="0070C0"/>
                </a:solidFill>
                <a:latin typeface="Times New Roman" pitchFamily="18" charset="0"/>
                <a:ea typeface="楷体_GB2312" pitchFamily="49" charset="-122"/>
                <a:cs typeface="Times New Roman" pitchFamily="18" charset="0"/>
              </a:rPr>
              <a:t>x)∧</a:t>
            </a:r>
            <a:r>
              <a:rPr lang="zh-CN" altLang="en-US" sz="2100" kern="0" dirty="0">
                <a:solidFill>
                  <a:srgbClr val="0070C0"/>
                </a:solidFill>
                <a:latin typeface="Times New Roman" pitchFamily="18" charset="0"/>
                <a:ea typeface="楷体_GB2312" pitchFamily="49" charset="-122"/>
                <a:cs typeface="Times New Roman" pitchFamily="18" charset="0"/>
              </a:rPr>
              <a:t>花色</a:t>
            </a:r>
            <a:r>
              <a:rPr lang="en-US" altLang="zh-CN" sz="2100" kern="0" dirty="0">
                <a:solidFill>
                  <a:srgbClr val="0070C0"/>
                </a:solidFill>
                <a:latin typeface="Times New Roman" pitchFamily="18" charset="0"/>
                <a:ea typeface="楷体_GB2312" pitchFamily="49" charset="-122"/>
                <a:cs typeface="Times New Roman" pitchFamily="18" charset="0"/>
              </a:rPr>
              <a:t>(c2</a:t>
            </a:r>
            <a:r>
              <a:rPr lang="zh-CN" altLang="en-US" sz="2100" kern="0" dirty="0">
                <a:solidFill>
                  <a:srgbClr val="0070C0"/>
                </a:solidFill>
                <a:latin typeface="Times New Roman" pitchFamily="18" charset="0"/>
                <a:ea typeface="楷体_GB2312" pitchFamily="49" charset="-122"/>
                <a:cs typeface="Times New Roman" pitchFamily="18" charset="0"/>
              </a:rPr>
              <a:t>，</a:t>
            </a:r>
            <a:r>
              <a:rPr lang="en-US" altLang="zh-CN" sz="2100" kern="0" dirty="0">
                <a:solidFill>
                  <a:srgbClr val="0070C0"/>
                </a:solidFill>
                <a:latin typeface="Times New Roman" pitchFamily="18" charset="0"/>
                <a:ea typeface="楷体_GB2312" pitchFamily="49" charset="-122"/>
                <a:cs typeface="Times New Roman" pitchFamily="18" charset="0"/>
              </a:rPr>
              <a:t>x)∧</a:t>
            </a:r>
            <a:r>
              <a:rPr lang="zh-CN" altLang="en-US" sz="2100" kern="0" dirty="0">
                <a:solidFill>
                  <a:srgbClr val="0070C0"/>
                </a:solidFill>
                <a:latin typeface="Times New Roman" pitchFamily="18" charset="0"/>
                <a:ea typeface="楷体_GB2312" pitchFamily="49" charset="-122"/>
                <a:cs typeface="Times New Roman" pitchFamily="18" charset="0"/>
              </a:rPr>
              <a:t>花色</a:t>
            </a:r>
            <a:r>
              <a:rPr lang="en-US" altLang="zh-CN" sz="2100" kern="0" dirty="0">
                <a:solidFill>
                  <a:srgbClr val="0070C0"/>
                </a:solidFill>
                <a:latin typeface="Times New Roman" pitchFamily="18" charset="0"/>
                <a:ea typeface="楷体_GB2312" pitchFamily="49" charset="-122"/>
                <a:cs typeface="Times New Roman" pitchFamily="18" charset="0"/>
              </a:rPr>
              <a:t>(c3</a:t>
            </a:r>
            <a:r>
              <a:rPr lang="zh-CN" altLang="en-US" sz="2100" kern="0" dirty="0">
                <a:solidFill>
                  <a:srgbClr val="0070C0"/>
                </a:solidFill>
                <a:latin typeface="Times New Roman" pitchFamily="18" charset="0"/>
                <a:ea typeface="楷体_GB2312" pitchFamily="49" charset="-122"/>
                <a:cs typeface="Times New Roman" pitchFamily="18" charset="0"/>
              </a:rPr>
              <a:t>，</a:t>
            </a:r>
            <a:r>
              <a:rPr lang="en-US" altLang="zh-CN" sz="2100" kern="0" dirty="0">
                <a:solidFill>
                  <a:srgbClr val="0070C0"/>
                </a:solidFill>
                <a:latin typeface="Times New Roman" pitchFamily="18" charset="0"/>
                <a:ea typeface="楷体_GB2312" pitchFamily="49" charset="-122"/>
                <a:cs typeface="Times New Roman" pitchFamily="18" charset="0"/>
              </a:rPr>
              <a:t>x)∧</a:t>
            </a:r>
            <a:r>
              <a:rPr lang="zh-CN" altLang="en-US" sz="2100" kern="0" dirty="0">
                <a:solidFill>
                  <a:srgbClr val="0070C0"/>
                </a:solidFill>
                <a:latin typeface="Times New Roman" pitchFamily="18" charset="0"/>
                <a:ea typeface="楷体_GB2312" pitchFamily="49" charset="-122"/>
                <a:cs typeface="Times New Roman" pitchFamily="18" charset="0"/>
              </a:rPr>
              <a:t>花色</a:t>
            </a:r>
            <a:r>
              <a:rPr lang="en-US" altLang="zh-CN" sz="2100" kern="0" dirty="0">
                <a:solidFill>
                  <a:srgbClr val="0070C0"/>
                </a:solidFill>
                <a:latin typeface="Times New Roman" pitchFamily="18" charset="0"/>
                <a:ea typeface="楷体_GB2312" pitchFamily="49" charset="-122"/>
                <a:cs typeface="Times New Roman" pitchFamily="18" charset="0"/>
              </a:rPr>
              <a:t>(c4</a:t>
            </a:r>
            <a:r>
              <a:rPr lang="zh-CN" altLang="en-US" sz="2100" kern="0" dirty="0">
                <a:solidFill>
                  <a:srgbClr val="0070C0"/>
                </a:solidFill>
                <a:latin typeface="Times New Roman" pitchFamily="18" charset="0"/>
                <a:ea typeface="楷体_GB2312" pitchFamily="49" charset="-122"/>
                <a:cs typeface="Times New Roman" pitchFamily="18" charset="0"/>
              </a:rPr>
              <a:t>，</a:t>
            </a:r>
            <a:r>
              <a:rPr lang="en-US" altLang="zh-CN" sz="2100" kern="0" dirty="0">
                <a:solidFill>
                  <a:srgbClr val="0070C0"/>
                </a:solidFill>
                <a:latin typeface="Times New Roman" pitchFamily="18" charset="0"/>
                <a:ea typeface="楷体_GB2312" pitchFamily="49" charset="-122"/>
                <a:cs typeface="Times New Roman" pitchFamily="18" charset="0"/>
              </a:rPr>
              <a:t>x)→</a:t>
            </a:r>
            <a:r>
              <a:rPr lang="zh-CN" altLang="en-US" sz="2100" kern="0" dirty="0">
                <a:solidFill>
                  <a:srgbClr val="0070C0"/>
                </a:solidFill>
                <a:latin typeface="Times New Roman" pitchFamily="18" charset="0"/>
                <a:ea typeface="楷体_GB2312" pitchFamily="49" charset="-122"/>
                <a:cs typeface="Times New Roman" pitchFamily="18" charset="0"/>
              </a:rPr>
              <a:t>同花</a:t>
            </a:r>
            <a:r>
              <a:rPr lang="en-US" altLang="zh-CN" sz="2100" kern="0" dirty="0">
                <a:solidFill>
                  <a:srgbClr val="0070C0"/>
                </a:solidFill>
                <a:latin typeface="Times New Roman" pitchFamily="18" charset="0"/>
                <a:ea typeface="楷体_GB2312" pitchFamily="49" charset="-122"/>
                <a:cs typeface="Times New Roman" pitchFamily="18" charset="0"/>
              </a:rPr>
              <a:t>(c1</a:t>
            </a:r>
            <a:r>
              <a:rPr lang="zh-CN" altLang="en-US" sz="2100" kern="0" dirty="0">
                <a:solidFill>
                  <a:srgbClr val="0070C0"/>
                </a:solidFill>
                <a:latin typeface="Times New Roman" pitchFamily="18" charset="0"/>
                <a:ea typeface="楷体_GB2312" pitchFamily="49" charset="-122"/>
                <a:cs typeface="Times New Roman" pitchFamily="18" charset="0"/>
              </a:rPr>
              <a:t>，</a:t>
            </a:r>
            <a:r>
              <a:rPr lang="en-US" altLang="zh-CN" sz="2100" kern="0" dirty="0">
                <a:solidFill>
                  <a:srgbClr val="0070C0"/>
                </a:solidFill>
                <a:latin typeface="Times New Roman" pitchFamily="18" charset="0"/>
                <a:ea typeface="楷体_GB2312" pitchFamily="49" charset="-122"/>
                <a:cs typeface="Times New Roman" pitchFamily="18" charset="0"/>
              </a:rPr>
              <a:t>c2</a:t>
            </a:r>
            <a:r>
              <a:rPr lang="zh-CN" altLang="en-US" sz="2100" kern="0" dirty="0">
                <a:solidFill>
                  <a:srgbClr val="0070C0"/>
                </a:solidFill>
                <a:latin typeface="Times New Roman" pitchFamily="18" charset="0"/>
                <a:ea typeface="楷体_GB2312" pitchFamily="49" charset="-122"/>
                <a:cs typeface="Times New Roman" pitchFamily="18" charset="0"/>
              </a:rPr>
              <a:t>，</a:t>
            </a:r>
            <a:r>
              <a:rPr lang="en-US" altLang="zh-CN" sz="2100" kern="0" dirty="0">
                <a:solidFill>
                  <a:srgbClr val="0070C0"/>
                </a:solidFill>
                <a:latin typeface="Times New Roman" pitchFamily="18" charset="0"/>
                <a:ea typeface="楷体_GB2312" pitchFamily="49" charset="-122"/>
                <a:cs typeface="Times New Roman" pitchFamily="18" charset="0"/>
              </a:rPr>
              <a:t>c3</a:t>
            </a:r>
            <a:r>
              <a:rPr lang="zh-CN" altLang="en-US" sz="2100" kern="0" dirty="0">
                <a:solidFill>
                  <a:srgbClr val="0070C0"/>
                </a:solidFill>
                <a:latin typeface="Times New Roman" pitchFamily="18" charset="0"/>
                <a:ea typeface="楷体_GB2312" pitchFamily="49" charset="-122"/>
                <a:cs typeface="Times New Roman" pitchFamily="18" charset="0"/>
              </a:rPr>
              <a:t>，</a:t>
            </a:r>
            <a:r>
              <a:rPr lang="en-US" altLang="zh-CN" sz="2100" kern="0" dirty="0">
                <a:solidFill>
                  <a:srgbClr val="0070C0"/>
                </a:solidFill>
                <a:latin typeface="Times New Roman" pitchFamily="18" charset="0"/>
                <a:ea typeface="楷体_GB2312" pitchFamily="49" charset="-122"/>
                <a:cs typeface="Times New Roman" pitchFamily="18" charset="0"/>
              </a:rPr>
              <a:t>c4)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ox(i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ox(in)">
                                      <p:cBhvr>
                                        <p:cTn id="12" dur="500"/>
                                        <p:tgtEl>
                                          <p:spTgt spid="2">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box(in)">
                                      <p:cBhvr>
                                        <p:cTn id="15" dur="500"/>
                                        <p:tgtEl>
                                          <p:spTgt spid="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
                                            <p:txEl>
                                              <p:pRg st="4" end="4"/>
                                            </p:txEl>
                                          </p:spTgt>
                                        </p:tgtEl>
                                        <p:attrNameLst>
                                          <p:attrName>style.visibility</p:attrName>
                                        </p:attrNameLst>
                                      </p:cBhvr>
                                      <p:to>
                                        <p:strVal val="visible"/>
                                      </p:to>
                                    </p:set>
                                    <p:anim calcmode="lin" valueType="num">
                                      <p:cBhvr additive="base">
                                        <p:cTn id="20"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 calcmode="lin" valueType="num">
                                      <p:cBhvr additive="base">
                                        <p:cTn id="24"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Text Box 4"/>
          <p:cNvSpPr txBox="1">
            <a:spLocks noChangeArrowheads="1"/>
          </p:cNvSpPr>
          <p:nvPr/>
        </p:nvSpPr>
        <p:spPr bwMode="auto">
          <a:xfrm>
            <a:off x="785786" y="571480"/>
            <a:ext cx="7643866" cy="5078313"/>
          </a:xfrm>
          <a:prstGeom prst="rect">
            <a:avLst/>
          </a:prstGeom>
          <a:noFill/>
          <a:ln w="9525">
            <a:noFill/>
            <a:miter lim="800000"/>
            <a:headEnd/>
            <a:tailEnd/>
          </a:ln>
          <a:effectLst/>
        </p:spPr>
        <p:txBody>
          <a:bodyPr wrap="square">
            <a:spAutoFit/>
          </a:bodyPr>
          <a:lstStyle/>
          <a:p>
            <a:pPr>
              <a:lnSpc>
                <a:spcPct val="150000"/>
              </a:lnSpc>
            </a:pPr>
            <a:r>
              <a:rPr lang="en-US" sz="2400" dirty="0">
                <a:solidFill>
                  <a:srgbClr val="0070C0"/>
                </a:solidFill>
                <a:latin typeface="黑体" pitchFamily="49" charset="-122"/>
                <a:ea typeface="黑体" pitchFamily="49" charset="-122"/>
              </a:rPr>
              <a:t>9.2.3 </a:t>
            </a:r>
            <a:r>
              <a:rPr lang="zh-CN" altLang="en-US" sz="2400" dirty="0">
                <a:solidFill>
                  <a:srgbClr val="0070C0"/>
                </a:solidFill>
                <a:latin typeface="黑体" pitchFamily="49" charset="-122"/>
                <a:ea typeface="黑体" pitchFamily="49" charset="-122"/>
              </a:rPr>
              <a:t>演绎学习</a:t>
            </a:r>
            <a:r>
              <a:rPr lang="en-US" altLang="zh-CN" sz="2400" dirty="0">
                <a:solidFill>
                  <a:srgbClr val="0070C0"/>
                </a:solidFill>
                <a:latin typeface="黑体" pitchFamily="49" charset="-122"/>
                <a:ea typeface="黑体" pitchFamily="49" charset="-122"/>
              </a:rPr>
              <a:t>(</a:t>
            </a:r>
            <a:r>
              <a:rPr lang="en-US" altLang="zh-CN" sz="2400" dirty="0" err="1">
                <a:solidFill>
                  <a:srgbClr val="FF0000"/>
                </a:solidFill>
                <a:latin typeface="黑体" pitchFamily="49" charset="-122"/>
                <a:ea typeface="黑体" pitchFamily="49" charset="-122"/>
              </a:rPr>
              <a:t>CoT</a:t>
            </a:r>
            <a:r>
              <a:rPr lang="en-US" altLang="zh-CN" sz="2400" dirty="0">
                <a:solidFill>
                  <a:srgbClr val="0070C0"/>
                </a:solidFill>
                <a:latin typeface="黑体" pitchFamily="49" charset="-122"/>
                <a:ea typeface="黑体" pitchFamily="49" charset="-122"/>
              </a:rPr>
              <a:t>)</a:t>
            </a:r>
            <a:endParaRPr lang="zh-CN" altLang="en-US" sz="2400" dirty="0">
              <a:solidFill>
                <a:srgbClr val="0070C0"/>
              </a:solidFill>
              <a:latin typeface="黑体" pitchFamily="49" charset="-122"/>
              <a:ea typeface="黑体" pitchFamily="49" charset="-122"/>
            </a:endParaRPr>
          </a:p>
          <a:p>
            <a:pPr algn="just">
              <a:lnSpc>
                <a:spcPct val="150000"/>
              </a:lnSpc>
            </a:pPr>
            <a:r>
              <a:rPr lang="en-US" sz="2400" dirty="0">
                <a:solidFill>
                  <a:srgbClr val="0070C0"/>
                </a:solidFill>
              </a:rPr>
              <a:t>       </a:t>
            </a:r>
            <a:r>
              <a:rPr lang="zh-CN" altLang="en-US" sz="2400" dirty="0">
                <a:solidFill>
                  <a:srgbClr val="0070C0"/>
                </a:solidFill>
              </a:rPr>
              <a:t>演绎学习是基于演绎推理的一种学习。演绎推理是一种保真变换，即若前提真则推出的结论也为真。在演绎学习中，学习系统由给定的知识进行演绎的保真推理，并存储有用的结论。例如，当系统能证明</a:t>
            </a:r>
            <a:r>
              <a:rPr lang="en-US" sz="2400" dirty="0">
                <a:solidFill>
                  <a:srgbClr val="0070C0"/>
                </a:solidFill>
              </a:rPr>
              <a:t></a:t>
            </a:r>
            <a:r>
              <a:rPr lang="en-US" sz="2400" i="1" dirty="0">
                <a:solidFill>
                  <a:srgbClr val="0070C0"/>
                </a:solidFill>
              </a:rPr>
              <a:t>A</a:t>
            </a:r>
            <a:r>
              <a:rPr lang="en-US" sz="2400" dirty="0">
                <a:solidFill>
                  <a:srgbClr val="0070C0"/>
                </a:solidFill>
              </a:rPr>
              <a:t>→</a:t>
            </a:r>
            <a:r>
              <a:rPr lang="en-US" sz="2400" i="1" dirty="0">
                <a:solidFill>
                  <a:srgbClr val="0070C0"/>
                </a:solidFill>
              </a:rPr>
              <a:t>B</a:t>
            </a:r>
            <a:r>
              <a:rPr lang="zh-CN" altLang="en-US" sz="2400" dirty="0">
                <a:solidFill>
                  <a:srgbClr val="0070C0"/>
                </a:solidFill>
              </a:rPr>
              <a:t>且</a:t>
            </a:r>
            <a:r>
              <a:rPr lang="en-US" sz="2400" i="1" dirty="0">
                <a:solidFill>
                  <a:srgbClr val="0070C0"/>
                </a:solidFill>
              </a:rPr>
              <a:t>B</a:t>
            </a:r>
            <a:r>
              <a:rPr lang="en-US" sz="2400" dirty="0">
                <a:solidFill>
                  <a:srgbClr val="0070C0"/>
                </a:solidFill>
              </a:rPr>
              <a:t>→</a:t>
            </a:r>
            <a:r>
              <a:rPr lang="en-US" sz="2400" i="1" dirty="0">
                <a:solidFill>
                  <a:srgbClr val="0070C0"/>
                </a:solidFill>
              </a:rPr>
              <a:t>C</a:t>
            </a:r>
            <a:r>
              <a:rPr lang="zh-CN" altLang="en-US" sz="2400" dirty="0">
                <a:solidFill>
                  <a:srgbClr val="0070C0"/>
                </a:solidFill>
              </a:rPr>
              <a:t>，则可得到规则</a:t>
            </a:r>
            <a:r>
              <a:rPr lang="en-US" sz="2400" i="1" dirty="0">
                <a:solidFill>
                  <a:srgbClr val="0070C0"/>
                </a:solidFill>
              </a:rPr>
              <a:t>A</a:t>
            </a:r>
            <a:r>
              <a:rPr lang="en-US" sz="2400" dirty="0">
                <a:solidFill>
                  <a:srgbClr val="0070C0"/>
                </a:solidFill>
              </a:rPr>
              <a:t>→</a:t>
            </a:r>
            <a:r>
              <a:rPr lang="en-US" sz="2400" i="1" dirty="0">
                <a:solidFill>
                  <a:srgbClr val="0070C0"/>
                </a:solidFill>
              </a:rPr>
              <a:t>C</a:t>
            </a:r>
            <a:r>
              <a:rPr lang="zh-CN" altLang="en-US" sz="2400" dirty="0">
                <a:solidFill>
                  <a:srgbClr val="0070C0"/>
                </a:solidFill>
              </a:rPr>
              <a:t>，那么以后再要求证</a:t>
            </a:r>
            <a:r>
              <a:rPr lang="en-US" sz="2400" i="1" dirty="0">
                <a:solidFill>
                  <a:srgbClr val="0070C0"/>
                </a:solidFill>
              </a:rPr>
              <a:t>C</a:t>
            </a:r>
            <a:r>
              <a:rPr lang="zh-CN" altLang="en-US" sz="2400" dirty="0">
                <a:solidFill>
                  <a:srgbClr val="0070C0"/>
                </a:solidFill>
              </a:rPr>
              <a:t>，就不必再通过规则</a:t>
            </a:r>
            <a:r>
              <a:rPr lang="en-US" sz="2400" i="1" dirty="0">
                <a:solidFill>
                  <a:srgbClr val="0070C0"/>
                </a:solidFill>
              </a:rPr>
              <a:t>A</a:t>
            </a:r>
            <a:r>
              <a:rPr lang="en-US" sz="2400" dirty="0">
                <a:solidFill>
                  <a:srgbClr val="0070C0"/>
                </a:solidFill>
              </a:rPr>
              <a:t>→</a:t>
            </a:r>
            <a:r>
              <a:rPr lang="en-US" sz="2400" i="1" dirty="0">
                <a:solidFill>
                  <a:srgbClr val="0070C0"/>
                </a:solidFill>
              </a:rPr>
              <a:t>B</a:t>
            </a:r>
            <a:r>
              <a:rPr lang="zh-CN" altLang="en-US" sz="2400" dirty="0">
                <a:solidFill>
                  <a:srgbClr val="0070C0"/>
                </a:solidFill>
              </a:rPr>
              <a:t>和</a:t>
            </a:r>
            <a:r>
              <a:rPr lang="en-US" sz="2400" i="1" dirty="0">
                <a:solidFill>
                  <a:srgbClr val="0070C0"/>
                </a:solidFill>
              </a:rPr>
              <a:t>B</a:t>
            </a:r>
            <a:r>
              <a:rPr lang="en-US" sz="2400" dirty="0">
                <a:solidFill>
                  <a:srgbClr val="0070C0"/>
                </a:solidFill>
              </a:rPr>
              <a:t>→</a:t>
            </a:r>
            <a:r>
              <a:rPr lang="en-US" sz="2400" i="1" dirty="0">
                <a:solidFill>
                  <a:srgbClr val="0070C0"/>
                </a:solidFill>
              </a:rPr>
              <a:t>C</a:t>
            </a:r>
            <a:r>
              <a:rPr lang="zh-CN" altLang="en-US" sz="2400" dirty="0">
                <a:solidFill>
                  <a:srgbClr val="0070C0"/>
                </a:solidFill>
              </a:rPr>
              <a:t>去证明，而直接应用规则</a:t>
            </a:r>
            <a:r>
              <a:rPr lang="en-US" sz="2400" i="1" dirty="0">
                <a:solidFill>
                  <a:srgbClr val="0070C0"/>
                </a:solidFill>
              </a:rPr>
              <a:t>A</a:t>
            </a:r>
            <a:r>
              <a:rPr lang="en-US" sz="2400" dirty="0">
                <a:solidFill>
                  <a:srgbClr val="0070C0"/>
                </a:solidFill>
              </a:rPr>
              <a:t>→</a:t>
            </a:r>
            <a:r>
              <a:rPr lang="en-US" sz="2400" i="1" dirty="0">
                <a:solidFill>
                  <a:srgbClr val="0070C0"/>
                </a:solidFill>
              </a:rPr>
              <a:t>C</a:t>
            </a:r>
            <a:r>
              <a:rPr lang="zh-CN" altLang="en-US" sz="2400" dirty="0">
                <a:solidFill>
                  <a:srgbClr val="0070C0"/>
                </a:solidFill>
              </a:rPr>
              <a:t>即可。演绎学习包括知识改造、知识编译、产生宏操作、保持等价的操作和其他保真变换。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6628"/>
                                        </p:tgtEl>
                                        <p:attrNameLst>
                                          <p:attrName>style.visibility</p:attrName>
                                        </p:attrNameLst>
                                      </p:cBhvr>
                                      <p:to>
                                        <p:strVal val="visible"/>
                                      </p:to>
                                    </p:set>
                                    <p:anim calcmode="lin" valueType="num">
                                      <p:cBhvr additive="base">
                                        <p:cTn id="7" dur="500" fill="hold"/>
                                        <p:tgtEl>
                                          <p:spTgt spid="26628"/>
                                        </p:tgtEl>
                                        <p:attrNameLst>
                                          <p:attrName>ppt_x</p:attrName>
                                        </p:attrNameLst>
                                      </p:cBhvr>
                                      <p:tavLst>
                                        <p:tav tm="0">
                                          <p:val>
                                            <p:strVal val="#ppt_x"/>
                                          </p:val>
                                        </p:tav>
                                        <p:tav tm="100000">
                                          <p:val>
                                            <p:strVal val="#ppt_x"/>
                                          </p:val>
                                        </p:tav>
                                      </p:tavLst>
                                    </p:anim>
                                    <p:anim calcmode="lin" valueType="num">
                                      <p:cBhvr additive="base">
                                        <p:cTn id="8" dur="500" fill="hold"/>
                                        <p:tgtEl>
                                          <p:spTgt spid="266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Text Box 4"/>
          <p:cNvSpPr txBox="1">
            <a:spLocks noChangeArrowheads="1"/>
          </p:cNvSpPr>
          <p:nvPr/>
        </p:nvSpPr>
        <p:spPr bwMode="auto">
          <a:xfrm>
            <a:off x="642910" y="571480"/>
            <a:ext cx="7858180" cy="5186035"/>
          </a:xfrm>
          <a:prstGeom prst="rect">
            <a:avLst/>
          </a:prstGeom>
          <a:noFill/>
          <a:ln w="9525">
            <a:noFill/>
            <a:miter lim="800000"/>
            <a:headEnd/>
            <a:tailEnd/>
          </a:ln>
          <a:effectLst/>
        </p:spPr>
        <p:txBody>
          <a:bodyPr wrap="square">
            <a:spAutoFit/>
          </a:bodyPr>
          <a:lstStyle/>
          <a:p>
            <a:pPr>
              <a:lnSpc>
                <a:spcPct val="150000"/>
              </a:lnSpc>
            </a:pPr>
            <a:r>
              <a:rPr lang="en-US" sz="2400" dirty="0">
                <a:solidFill>
                  <a:srgbClr val="0070C0"/>
                </a:solidFill>
                <a:latin typeface="黑体" pitchFamily="49" charset="-122"/>
                <a:ea typeface="黑体" pitchFamily="49" charset="-122"/>
              </a:rPr>
              <a:t>9.2.4 </a:t>
            </a:r>
            <a:r>
              <a:rPr lang="zh-CN" altLang="en-US" sz="2400" dirty="0">
                <a:solidFill>
                  <a:srgbClr val="0070C0"/>
                </a:solidFill>
                <a:latin typeface="黑体" pitchFamily="49" charset="-122"/>
                <a:ea typeface="黑体" pitchFamily="49" charset="-122"/>
              </a:rPr>
              <a:t>类比学习</a:t>
            </a:r>
            <a:r>
              <a:rPr lang="en-US" altLang="zh-CN" sz="2400" dirty="0">
                <a:solidFill>
                  <a:srgbClr val="0070C0"/>
                </a:solidFill>
                <a:latin typeface="黑体" pitchFamily="49" charset="-122"/>
                <a:ea typeface="黑体" pitchFamily="49" charset="-122"/>
              </a:rPr>
              <a:t>(</a:t>
            </a:r>
            <a:r>
              <a:rPr lang="en-US" altLang="zh-CN" sz="2400" dirty="0" err="1">
                <a:solidFill>
                  <a:srgbClr val="FF0000"/>
                </a:solidFill>
                <a:latin typeface="黑体" pitchFamily="49" charset="-122"/>
                <a:ea typeface="黑体" pitchFamily="49" charset="-122"/>
              </a:rPr>
              <a:t>CoT+In-context</a:t>
            </a:r>
            <a:r>
              <a:rPr lang="en-US" altLang="zh-CN" sz="2400" dirty="0">
                <a:solidFill>
                  <a:srgbClr val="FF0000"/>
                </a:solidFill>
                <a:latin typeface="黑体" pitchFamily="49" charset="-122"/>
                <a:ea typeface="黑体" pitchFamily="49" charset="-122"/>
              </a:rPr>
              <a:t> learning</a:t>
            </a:r>
            <a:r>
              <a:rPr lang="en-US" altLang="zh-CN" sz="2400" dirty="0">
                <a:solidFill>
                  <a:srgbClr val="0070C0"/>
                </a:solidFill>
                <a:latin typeface="黑体" pitchFamily="49" charset="-122"/>
                <a:ea typeface="黑体" pitchFamily="49" charset="-122"/>
              </a:rPr>
              <a:t>)</a:t>
            </a:r>
            <a:endParaRPr lang="zh-CN" altLang="en-US" sz="2400" dirty="0">
              <a:solidFill>
                <a:srgbClr val="0070C0"/>
              </a:solidFill>
              <a:latin typeface="黑体" pitchFamily="49" charset="-122"/>
              <a:ea typeface="黑体" pitchFamily="49" charset="-122"/>
            </a:endParaRPr>
          </a:p>
          <a:p>
            <a:pPr>
              <a:lnSpc>
                <a:spcPct val="150000"/>
              </a:lnSpc>
            </a:pPr>
            <a:r>
              <a:rPr lang="zh-CN" altLang="en-US" sz="2400" dirty="0">
                <a:solidFill>
                  <a:srgbClr val="0070C0"/>
                </a:solidFill>
              </a:rPr>
              <a:t>    类比学习的过程包括以下主要步骤：</a:t>
            </a:r>
          </a:p>
          <a:p>
            <a:pPr algn="just">
              <a:lnSpc>
                <a:spcPct val="140000"/>
              </a:lnSpc>
            </a:pPr>
            <a:r>
              <a:rPr lang="en-US" sz="2300" dirty="0">
                <a:solidFill>
                  <a:srgbClr val="0070C0"/>
                </a:solidFill>
              </a:rPr>
              <a:t>    (1) </a:t>
            </a:r>
            <a:r>
              <a:rPr lang="zh-CN" altLang="en-US" sz="2300" dirty="0">
                <a:solidFill>
                  <a:srgbClr val="0070C0"/>
                </a:solidFill>
                <a:latin typeface="方正姚体" pitchFamily="2" charset="-122"/>
                <a:ea typeface="方正姚体" pitchFamily="2" charset="-122"/>
              </a:rPr>
              <a:t>回忆与联想  </a:t>
            </a:r>
            <a:r>
              <a:rPr lang="zh-CN" altLang="en-US" sz="2300" dirty="0">
                <a:solidFill>
                  <a:srgbClr val="0070C0"/>
                </a:solidFill>
              </a:rPr>
              <a:t>即当遇到新情况或新问题时，先通过回忆与联想，找出与之相似的已经解决了的有关问题，以获得有关知识；</a:t>
            </a:r>
          </a:p>
          <a:p>
            <a:pPr algn="just">
              <a:lnSpc>
                <a:spcPct val="140000"/>
              </a:lnSpc>
            </a:pPr>
            <a:r>
              <a:rPr lang="en-US" sz="2300" dirty="0">
                <a:solidFill>
                  <a:srgbClr val="0070C0"/>
                </a:solidFill>
              </a:rPr>
              <a:t>    (2) </a:t>
            </a:r>
            <a:r>
              <a:rPr lang="zh-CN" altLang="en-US" sz="2300" dirty="0">
                <a:solidFill>
                  <a:srgbClr val="0070C0"/>
                </a:solidFill>
                <a:latin typeface="方正姚体" pitchFamily="2" charset="-122"/>
                <a:ea typeface="方正姚体" pitchFamily="2" charset="-122"/>
              </a:rPr>
              <a:t>建立对应关系  </a:t>
            </a:r>
            <a:r>
              <a:rPr lang="zh-CN" altLang="en-US" sz="2300" dirty="0">
                <a:solidFill>
                  <a:srgbClr val="0070C0"/>
                </a:solidFill>
              </a:rPr>
              <a:t>即建立相似问题知识和求解问题之间的对应关系，以获得求解问题的知识；</a:t>
            </a:r>
          </a:p>
          <a:p>
            <a:pPr algn="just">
              <a:lnSpc>
                <a:spcPct val="140000"/>
              </a:lnSpc>
            </a:pPr>
            <a:r>
              <a:rPr lang="en-US" sz="2300" dirty="0">
                <a:solidFill>
                  <a:srgbClr val="0070C0"/>
                </a:solidFill>
              </a:rPr>
              <a:t>    (3) </a:t>
            </a:r>
            <a:r>
              <a:rPr lang="zh-CN" altLang="en-US" sz="2300" dirty="0">
                <a:solidFill>
                  <a:srgbClr val="0070C0"/>
                </a:solidFill>
                <a:latin typeface="方正姚体" pitchFamily="2" charset="-122"/>
                <a:ea typeface="方正姚体" pitchFamily="2" charset="-122"/>
              </a:rPr>
              <a:t>验证与归纳  </a:t>
            </a:r>
            <a:r>
              <a:rPr lang="zh-CN" altLang="en-US" sz="2300" dirty="0">
                <a:solidFill>
                  <a:srgbClr val="0070C0"/>
                </a:solidFill>
              </a:rPr>
              <a:t>即检验所获知识的有效性，如发现有错，就重复上述步骤进行修正， 直到获得正确的知识。对于正确的知识，经过推广、归纳等过程取得一般性知识。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28">
                                            <p:txEl>
                                              <p:pRg st="1" end="1"/>
                                            </p:txEl>
                                          </p:spTgt>
                                        </p:tgtEl>
                                        <p:attrNameLst>
                                          <p:attrName>style.visibility</p:attrName>
                                        </p:attrNameLst>
                                      </p:cBhvr>
                                      <p:to>
                                        <p:strVal val="visible"/>
                                      </p:to>
                                    </p:set>
                                    <p:animEffect transition="in" filter="blinds(horizontal)">
                                      <p:cBhvr>
                                        <p:cTn id="7" dur="500"/>
                                        <p:tgtEl>
                                          <p:spTgt spid="2662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628">
                                            <p:txEl>
                                              <p:pRg st="2" end="2"/>
                                            </p:txEl>
                                          </p:spTgt>
                                        </p:tgtEl>
                                        <p:attrNameLst>
                                          <p:attrName>style.visibility</p:attrName>
                                        </p:attrNameLst>
                                      </p:cBhvr>
                                      <p:to>
                                        <p:strVal val="visible"/>
                                      </p:to>
                                    </p:set>
                                    <p:anim calcmode="lin" valueType="num">
                                      <p:cBhvr additive="base">
                                        <p:cTn id="12" dur="500" fill="hold"/>
                                        <p:tgtEl>
                                          <p:spTgt spid="26628">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662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6628">
                                            <p:txEl>
                                              <p:pRg st="3" end="3"/>
                                            </p:txEl>
                                          </p:spTgt>
                                        </p:tgtEl>
                                        <p:attrNameLst>
                                          <p:attrName>style.visibility</p:attrName>
                                        </p:attrNameLst>
                                      </p:cBhvr>
                                      <p:to>
                                        <p:strVal val="visible"/>
                                      </p:to>
                                    </p:set>
                                    <p:anim calcmode="lin" valueType="num">
                                      <p:cBhvr additive="base">
                                        <p:cTn id="18" dur="500" fill="hold"/>
                                        <p:tgtEl>
                                          <p:spTgt spid="26628">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662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6628">
                                            <p:txEl>
                                              <p:pRg st="4" end="4"/>
                                            </p:txEl>
                                          </p:spTgt>
                                        </p:tgtEl>
                                        <p:attrNameLst>
                                          <p:attrName>style.visibility</p:attrName>
                                        </p:attrNameLst>
                                      </p:cBhvr>
                                      <p:to>
                                        <p:strVal val="visible"/>
                                      </p:to>
                                    </p:set>
                                    <p:anim calcmode="lin" valueType="num">
                                      <p:cBhvr additive="base">
                                        <p:cTn id="24" dur="500" fill="hold"/>
                                        <p:tgtEl>
                                          <p:spTgt spid="26628">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662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Text Box 4"/>
          <p:cNvSpPr txBox="1">
            <a:spLocks noChangeArrowheads="1"/>
          </p:cNvSpPr>
          <p:nvPr/>
        </p:nvSpPr>
        <p:spPr bwMode="auto">
          <a:xfrm>
            <a:off x="857224" y="571480"/>
            <a:ext cx="7643866" cy="5386090"/>
          </a:xfrm>
          <a:prstGeom prst="rect">
            <a:avLst/>
          </a:prstGeom>
          <a:noFill/>
          <a:ln w="9525">
            <a:noFill/>
            <a:miter lim="800000"/>
            <a:headEnd/>
            <a:tailEnd/>
          </a:ln>
          <a:effectLst/>
        </p:spPr>
        <p:txBody>
          <a:bodyPr wrap="square">
            <a:spAutoFit/>
          </a:bodyPr>
          <a:lstStyle/>
          <a:p>
            <a:pPr>
              <a:lnSpc>
                <a:spcPct val="150000"/>
              </a:lnSpc>
            </a:pPr>
            <a:r>
              <a:rPr lang="zh-CN" altLang="en-US" sz="2400" dirty="0">
                <a:solidFill>
                  <a:srgbClr val="0070C0"/>
                </a:solidFill>
                <a:sym typeface="Symbol"/>
              </a:rPr>
              <a:t></a:t>
            </a:r>
            <a:r>
              <a:rPr lang="zh-CN" altLang="en-US" sz="2400" dirty="0">
                <a:solidFill>
                  <a:srgbClr val="0070C0"/>
                </a:solidFill>
              </a:rPr>
              <a:t>设对象的知识是用框架集来表示，则类比学习可描述为 把原框架中若干个槽的值传递给另一个目标框架的一些槽中去，</a:t>
            </a:r>
          </a:p>
          <a:p>
            <a:pPr algn="just">
              <a:lnSpc>
                <a:spcPct val="150000"/>
              </a:lnSpc>
              <a:spcBef>
                <a:spcPts val="1200"/>
              </a:spcBef>
            </a:pPr>
            <a:r>
              <a:rPr lang="zh-CN" altLang="en-US" sz="2400" dirty="0">
                <a:solidFill>
                  <a:srgbClr val="0070C0"/>
                </a:solidFill>
                <a:sym typeface="Symbol"/>
              </a:rPr>
              <a:t></a:t>
            </a:r>
            <a:r>
              <a:rPr lang="zh-CN" altLang="en-US" sz="2400" dirty="0">
                <a:solidFill>
                  <a:srgbClr val="0070C0"/>
                </a:solidFill>
              </a:rPr>
              <a:t>案例（范例）学习就是一种典型的类比学习。案例学习利用问题之间的某种相似关系，将已有成功案例的参数、模型、或者方法等用于解决类似的问题。这方面已有不少成功的案例。</a:t>
            </a:r>
          </a:p>
          <a:p>
            <a:pPr>
              <a:lnSpc>
                <a:spcPct val="150000"/>
              </a:lnSpc>
              <a:spcBef>
                <a:spcPts val="1200"/>
              </a:spcBef>
            </a:pPr>
            <a:r>
              <a:rPr lang="zh-CN" altLang="en-US" sz="2400" dirty="0">
                <a:solidFill>
                  <a:srgbClr val="0070C0"/>
                </a:solidFill>
                <a:sym typeface="Symbol"/>
              </a:rPr>
              <a:t></a:t>
            </a:r>
            <a:r>
              <a:rPr lang="zh-CN" altLang="en-US" sz="2400" dirty="0">
                <a:solidFill>
                  <a:srgbClr val="0070C0"/>
                </a:solidFill>
              </a:rPr>
              <a:t>近年来在神经网络学习中兴起的迁移学习（</a:t>
            </a:r>
            <a:r>
              <a:rPr lang="en-US" sz="2400" dirty="0">
                <a:solidFill>
                  <a:srgbClr val="0070C0"/>
                </a:solidFill>
              </a:rPr>
              <a:t>transfer learning</a:t>
            </a:r>
            <a:r>
              <a:rPr lang="zh-CN" altLang="en-US" sz="2400" dirty="0">
                <a:solidFill>
                  <a:srgbClr val="0070C0"/>
                </a:solidFill>
              </a:rPr>
              <a:t>）也是一种类比学习。</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Text Box 4"/>
          <p:cNvSpPr txBox="1">
            <a:spLocks noChangeArrowheads="1"/>
          </p:cNvSpPr>
          <p:nvPr/>
        </p:nvSpPr>
        <p:spPr bwMode="auto">
          <a:xfrm>
            <a:off x="672406" y="386662"/>
            <a:ext cx="7858180" cy="5496376"/>
          </a:xfrm>
          <a:prstGeom prst="rect">
            <a:avLst/>
          </a:prstGeom>
          <a:noFill/>
          <a:ln w="9525">
            <a:noFill/>
            <a:miter lim="800000"/>
            <a:headEnd/>
            <a:tailEnd/>
          </a:ln>
          <a:effectLst/>
        </p:spPr>
        <p:txBody>
          <a:bodyPr wrap="square">
            <a:spAutoFit/>
          </a:bodyPr>
          <a:lstStyle/>
          <a:p>
            <a:pPr>
              <a:lnSpc>
                <a:spcPct val="150000"/>
              </a:lnSpc>
            </a:pPr>
            <a:r>
              <a:rPr lang="en-US" sz="2400" dirty="0">
                <a:solidFill>
                  <a:srgbClr val="0070C0"/>
                </a:solidFill>
                <a:latin typeface="黑体" pitchFamily="49" charset="-122"/>
                <a:ea typeface="黑体" pitchFamily="49" charset="-122"/>
              </a:rPr>
              <a:t>9.2.5 </a:t>
            </a:r>
            <a:r>
              <a:rPr lang="zh-CN" altLang="en-US" sz="2400" dirty="0">
                <a:solidFill>
                  <a:srgbClr val="0070C0"/>
                </a:solidFill>
                <a:latin typeface="黑体" pitchFamily="49" charset="-122"/>
                <a:ea typeface="黑体" pitchFamily="49" charset="-122"/>
              </a:rPr>
              <a:t>解释（分析）学习</a:t>
            </a:r>
            <a:r>
              <a:rPr lang="en-US" altLang="zh-CN" sz="2400" dirty="0">
                <a:solidFill>
                  <a:srgbClr val="0070C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RAG</a:t>
            </a:r>
            <a:r>
              <a:rPr lang="en-US" altLang="zh-CN" sz="2400" dirty="0">
                <a:solidFill>
                  <a:srgbClr val="0070C0"/>
                </a:solidFill>
                <a:latin typeface="黑体" pitchFamily="49" charset="-122"/>
                <a:ea typeface="黑体" pitchFamily="49" charset="-122"/>
              </a:rPr>
              <a:t>)</a:t>
            </a:r>
            <a:endParaRPr lang="zh-CN" altLang="en-US" sz="2400" dirty="0">
              <a:solidFill>
                <a:srgbClr val="0070C0"/>
              </a:solidFill>
              <a:latin typeface="黑体" pitchFamily="49" charset="-122"/>
              <a:ea typeface="黑体" pitchFamily="49" charset="-122"/>
            </a:endParaRPr>
          </a:p>
          <a:p>
            <a:pPr>
              <a:lnSpc>
                <a:spcPts val="3500"/>
              </a:lnSpc>
              <a:spcBef>
                <a:spcPts val="600"/>
              </a:spcBef>
            </a:pPr>
            <a:r>
              <a:rPr lang="en-US" sz="2300" dirty="0">
                <a:solidFill>
                  <a:srgbClr val="0070C0"/>
                </a:solidFill>
              </a:rPr>
              <a:t>       </a:t>
            </a:r>
            <a:r>
              <a:rPr lang="zh-CN" altLang="en-US" sz="2300" dirty="0">
                <a:solidFill>
                  <a:srgbClr val="0070C0"/>
                </a:solidFill>
              </a:rPr>
              <a:t>解释学习（</a:t>
            </a:r>
            <a:r>
              <a:rPr lang="en-US" sz="2300" dirty="0">
                <a:solidFill>
                  <a:srgbClr val="0070C0"/>
                </a:solidFill>
              </a:rPr>
              <a:t>Explanation-Based Learning, EBL</a:t>
            </a:r>
            <a:r>
              <a:rPr lang="zh-CN" altLang="en-US" sz="2300" dirty="0">
                <a:solidFill>
                  <a:srgbClr val="0070C0"/>
                </a:solidFill>
              </a:rPr>
              <a:t>）就是只用一个实例，通过运用领域知识，对实例的详细分析来构造解释结构，然后对解释进行推广而得到一个关于实例的更一般性描述的学习方法。解释学习的一般框架是：</a:t>
            </a:r>
          </a:p>
          <a:p>
            <a:pPr>
              <a:lnSpc>
                <a:spcPct val="150000"/>
              </a:lnSpc>
            </a:pPr>
            <a:r>
              <a:rPr lang="en-US" sz="2300" dirty="0">
                <a:solidFill>
                  <a:srgbClr val="0070C0"/>
                </a:solidFill>
              </a:rPr>
              <a:t>    </a:t>
            </a:r>
            <a:r>
              <a:rPr lang="zh-CN" altLang="en-US" sz="2300" b="1" dirty="0">
                <a:solidFill>
                  <a:srgbClr val="0070C0"/>
                </a:solidFill>
              </a:rPr>
              <a:t>给定</a:t>
            </a:r>
            <a:r>
              <a:rPr lang="zh-CN" altLang="en-US" sz="2300" dirty="0">
                <a:solidFill>
                  <a:srgbClr val="0070C0"/>
                </a:solidFill>
              </a:rPr>
              <a:t>：</a:t>
            </a:r>
            <a:r>
              <a:rPr lang="zh-CN" altLang="en-US" sz="2300" dirty="0">
                <a:solidFill>
                  <a:srgbClr val="0070C0"/>
                </a:solidFill>
                <a:latin typeface="方正姚体" pitchFamily="2" charset="-122"/>
                <a:ea typeface="方正姚体" pitchFamily="2" charset="-122"/>
              </a:rPr>
              <a:t>领域知识、目标概念、训练实例和操作性准则</a:t>
            </a:r>
            <a:r>
              <a:rPr lang="zh-CN" altLang="en-US" sz="2300" dirty="0">
                <a:solidFill>
                  <a:srgbClr val="0070C0"/>
                </a:solidFill>
              </a:rPr>
              <a:t>。</a:t>
            </a:r>
          </a:p>
          <a:p>
            <a:pPr>
              <a:lnSpc>
                <a:spcPct val="150000"/>
              </a:lnSpc>
            </a:pPr>
            <a:r>
              <a:rPr lang="en-US" sz="2300" dirty="0">
                <a:solidFill>
                  <a:srgbClr val="0070C0"/>
                </a:solidFill>
              </a:rPr>
              <a:t>    </a:t>
            </a:r>
            <a:r>
              <a:rPr lang="zh-CN" altLang="en-US" sz="2300" b="1" dirty="0">
                <a:solidFill>
                  <a:srgbClr val="0070C0"/>
                </a:solidFill>
              </a:rPr>
              <a:t>找出</a:t>
            </a:r>
            <a:r>
              <a:rPr lang="zh-CN" altLang="en-US" sz="2300" dirty="0">
                <a:solidFill>
                  <a:srgbClr val="0070C0"/>
                </a:solidFill>
              </a:rPr>
              <a:t>：</a:t>
            </a:r>
            <a:r>
              <a:rPr lang="zh-CN" altLang="en-US" sz="2300" dirty="0">
                <a:solidFill>
                  <a:srgbClr val="0070C0"/>
                </a:solidFill>
                <a:latin typeface="方正姚体" pitchFamily="2" charset="-122"/>
                <a:ea typeface="方正姚体" pitchFamily="2" charset="-122"/>
              </a:rPr>
              <a:t>满足操作性准则的关于目标概念的充分条件</a:t>
            </a:r>
            <a:r>
              <a:rPr lang="zh-CN" altLang="en-US" sz="2300" dirty="0">
                <a:solidFill>
                  <a:srgbClr val="0070C0"/>
                </a:solidFill>
              </a:rPr>
              <a:t>。</a:t>
            </a:r>
            <a:endParaRPr lang="en-US" altLang="zh-CN" sz="2300" dirty="0">
              <a:solidFill>
                <a:srgbClr val="0070C0"/>
              </a:solidFill>
            </a:endParaRPr>
          </a:p>
          <a:p>
            <a:pPr algn="just">
              <a:lnSpc>
                <a:spcPts val="3500"/>
              </a:lnSpc>
              <a:spcBef>
                <a:spcPts val="1200"/>
              </a:spcBef>
            </a:pPr>
            <a:r>
              <a:rPr lang="zh-CN" altLang="en-US" sz="2300" dirty="0">
                <a:solidFill>
                  <a:srgbClr val="0070C0"/>
                </a:solidFill>
              </a:rPr>
              <a:t>        解释学习的学习过程是：首先运用领域知识找出训练实例为什么是目标概念的证明（即解释），然后按操作性准则对解释进行推广，从而得出关于目标概念的学习描述。</a:t>
            </a:r>
          </a:p>
          <a:p>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28">
                                            <p:txEl>
                                              <p:pRg st="1" end="1"/>
                                            </p:txEl>
                                          </p:spTgt>
                                        </p:tgtEl>
                                        <p:attrNameLst>
                                          <p:attrName>style.visibility</p:attrName>
                                        </p:attrNameLst>
                                      </p:cBhvr>
                                      <p:to>
                                        <p:strVal val="visible"/>
                                      </p:to>
                                    </p:set>
                                    <p:animEffect transition="in" filter="blinds(horizontal)">
                                      <p:cBhvr>
                                        <p:cTn id="7" dur="500"/>
                                        <p:tgtEl>
                                          <p:spTgt spid="26628">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6628">
                                            <p:txEl>
                                              <p:pRg st="2" end="2"/>
                                            </p:txEl>
                                          </p:spTgt>
                                        </p:tgtEl>
                                        <p:attrNameLst>
                                          <p:attrName>style.visibility</p:attrName>
                                        </p:attrNameLst>
                                      </p:cBhvr>
                                      <p:to>
                                        <p:strVal val="visible"/>
                                      </p:to>
                                    </p:set>
                                    <p:animEffect transition="in" filter="blinds(horizontal)">
                                      <p:cBhvr>
                                        <p:cTn id="10" dur="500"/>
                                        <p:tgtEl>
                                          <p:spTgt spid="26628">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6628">
                                            <p:txEl>
                                              <p:pRg st="3" end="3"/>
                                            </p:txEl>
                                          </p:spTgt>
                                        </p:tgtEl>
                                        <p:attrNameLst>
                                          <p:attrName>style.visibility</p:attrName>
                                        </p:attrNameLst>
                                      </p:cBhvr>
                                      <p:to>
                                        <p:strVal val="visible"/>
                                      </p:to>
                                    </p:set>
                                    <p:animEffect transition="in" filter="blinds(horizontal)">
                                      <p:cBhvr>
                                        <p:cTn id="13" dur="500"/>
                                        <p:tgtEl>
                                          <p:spTgt spid="26628">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6628">
                                            <p:txEl>
                                              <p:pRg st="4" end="4"/>
                                            </p:txEl>
                                          </p:spTgt>
                                        </p:tgtEl>
                                        <p:attrNameLst>
                                          <p:attrName>style.visibility</p:attrName>
                                        </p:attrNameLst>
                                      </p:cBhvr>
                                      <p:to>
                                        <p:strVal val="visible"/>
                                      </p:to>
                                    </p:set>
                                    <p:animEffect transition="in" filter="blinds(horizontal)">
                                      <p:cBhvr>
                                        <p:cTn id="18" dur="500"/>
                                        <p:tgtEl>
                                          <p:spTgt spid="266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Text Box 4"/>
          <p:cNvSpPr txBox="1">
            <a:spLocks noChangeArrowheads="1"/>
          </p:cNvSpPr>
          <p:nvPr/>
        </p:nvSpPr>
        <p:spPr bwMode="auto">
          <a:xfrm>
            <a:off x="857224" y="571480"/>
            <a:ext cx="7572428" cy="4893647"/>
          </a:xfrm>
          <a:prstGeom prst="rect">
            <a:avLst/>
          </a:prstGeom>
          <a:noFill/>
          <a:ln w="9525">
            <a:noFill/>
            <a:miter lim="800000"/>
            <a:headEnd/>
            <a:tailEnd/>
          </a:ln>
          <a:effectLst/>
        </p:spPr>
        <p:txBody>
          <a:bodyPr wrap="square">
            <a:spAutoFit/>
          </a:bodyPr>
          <a:lstStyle/>
          <a:p>
            <a:pPr>
              <a:lnSpc>
                <a:spcPct val="150000"/>
              </a:lnSpc>
            </a:pPr>
            <a:r>
              <a:rPr lang="zh-CN" altLang="en-US" sz="2400" dirty="0">
                <a:solidFill>
                  <a:srgbClr val="0070C0"/>
                </a:solidFill>
              </a:rPr>
              <a:t>假设要学习的目标概念是： </a:t>
            </a:r>
          </a:p>
          <a:p>
            <a:pPr>
              <a:lnSpc>
                <a:spcPct val="150000"/>
              </a:lnSpc>
            </a:pPr>
            <a:r>
              <a:rPr lang="zh-CN" altLang="en-US" sz="2400" dirty="0">
                <a:solidFill>
                  <a:srgbClr val="0070C0"/>
                </a:solidFill>
              </a:rPr>
              <a:t>               </a:t>
            </a:r>
            <a:r>
              <a:rPr lang="zh-CN" altLang="en-US" sz="2400" dirty="0">
                <a:solidFill>
                  <a:srgbClr val="0070C0"/>
                </a:solidFill>
                <a:latin typeface="楷体" pitchFamily="49" charset="-122"/>
                <a:ea typeface="楷体" pitchFamily="49" charset="-122"/>
              </a:rPr>
              <a:t>年青人总比年纪大的人更充满活力。</a:t>
            </a:r>
          </a:p>
          <a:p>
            <a:pPr>
              <a:lnSpc>
                <a:spcPct val="150000"/>
              </a:lnSpc>
            </a:pPr>
            <a:r>
              <a:rPr lang="zh-CN" altLang="en-US" sz="2400" dirty="0">
                <a:solidFill>
                  <a:srgbClr val="0070C0"/>
                </a:solidFill>
              </a:rPr>
              <a:t>并且已知如下事实：</a:t>
            </a:r>
          </a:p>
          <a:p>
            <a:pPr>
              <a:lnSpc>
                <a:spcPct val="150000"/>
              </a:lnSpc>
            </a:pPr>
            <a:r>
              <a:rPr lang="en-US" sz="2400" dirty="0">
                <a:solidFill>
                  <a:srgbClr val="0070C0"/>
                </a:solidFill>
              </a:rPr>
              <a:t>    (1) </a:t>
            </a:r>
            <a:r>
              <a:rPr lang="zh-CN" altLang="en-US" sz="2400" dirty="0">
                <a:solidFill>
                  <a:srgbClr val="0070C0"/>
                </a:solidFill>
              </a:rPr>
              <a:t>一个实例： </a:t>
            </a:r>
            <a:r>
              <a:rPr lang="zh-CN" altLang="en-US" sz="2400" dirty="0">
                <a:solidFill>
                  <a:srgbClr val="0070C0"/>
                </a:solidFill>
                <a:latin typeface="楷体" pitchFamily="49" charset="-122"/>
                <a:ea typeface="楷体" pitchFamily="49" charset="-122"/>
              </a:rPr>
              <a:t>张三比他的父亲更充满活力。</a:t>
            </a:r>
          </a:p>
          <a:p>
            <a:pPr>
              <a:lnSpc>
                <a:spcPct val="150000"/>
              </a:lnSpc>
            </a:pPr>
            <a:r>
              <a:rPr lang="en-US" sz="2400" dirty="0">
                <a:solidFill>
                  <a:srgbClr val="0070C0"/>
                </a:solidFill>
              </a:rPr>
              <a:t>    (2) </a:t>
            </a:r>
            <a:r>
              <a:rPr lang="zh-CN" altLang="en-US" sz="2400" dirty="0">
                <a:solidFill>
                  <a:srgbClr val="0070C0"/>
                </a:solidFill>
              </a:rPr>
              <a:t>一组领域知识：</a:t>
            </a:r>
            <a:r>
              <a:rPr lang="zh-CN" altLang="en-US" sz="2400" dirty="0">
                <a:solidFill>
                  <a:srgbClr val="0070C0"/>
                </a:solidFill>
                <a:latin typeface="楷体" pitchFamily="49" charset="-122"/>
                <a:ea typeface="楷体" pitchFamily="49" charset="-122"/>
              </a:rPr>
              <a:t>假设这一组领域知识能证明给出的实例就是目标概念的例子。</a:t>
            </a:r>
          </a:p>
          <a:p>
            <a:pPr>
              <a:lnSpc>
                <a:spcPct val="150000"/>
              </a:lnSpc>
            </a:pPr>
            <a:r>
              <a:rPr lang="zh-CN" altLang="en-US" sz="2400" dirty="0">
                <a:solidFill>
                  <a:srgbClr val="0070C0"/>
                </a:solidFill>
              </a:rPr>
              <a:t>    由解释学习，可得出结论：</a:t>
            </a:r>
          </a:p>
          <a:p>
            <a:pPr>
              <a:lnSpc>
                <a:spcPct val="150000"/>
              </a:lnSpc>
            </a:pPr>
            <a:r>
              <a:rPr lang="zh-CN" altLang="en-US" sz="2400" dirty="0">
                <a:solidFill>
                  <a:srgbClr val="0070C0"/>
                </a:solidFill>
              </a:rPr>
              <a:t>    </a:t>
            </a:r>
            <a:r>
              <a:rPr lang="zh-CN" altLang="en-US" sz="2400" dirty="0">
                <a:solidFill>
                  <a:srgbClr val="0070C0"/>
                </a:solidFill>
                <a:latin typeface="楷体" pitchFamily="49" charset="-122"/>
                <a:ea typeface="楷体" pitchFamily="49" charset="-122"/>
              </a:rPr>
              <a:t>任何一个儿子都比他的父亲更充满活力。</a:t>
            </a:r>
          </a:p>
          <a:p>
            <a:endParaRPr lang="zh-CN" alt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Text Box 4"/>
          <p:cNvSpPr txBox="1">
            <a:spLocks noChangeArrowheads="1"/>
          </p:cNvSpPr>
          <p:nvPr/>
        </p:nvSpPr>
        <p:spPr bwMode="auto">
          <a:xfrm>
            <a:off x="857224" y="512489"/>
            <a:ext cx="7643866" cy="4893647"/>
          </a:xfrm>
          <a:prstGeom prst="rect">
            <a:avLst/>
          </a:prstGeom>
          <a:noFill/>
          <a:ln w="9525">
            <a:noFill/>
            <a:miter lim="800000"/>
            <a:headEnd/>
            <a:tailEnd/>
          </a:ln>
          <a:effectLst/>
        </p:spPr>
        <p:txBody>
          <a:bodyPr wrap="square">
            <a:spAutoFit/>
          </a:bodyPr>
          <a:lstStyle/>
          <a:p>
            <a:pPr>
              <a:lnSpc>
                <a:spcPct val="150000"/>
              </a:lnSpc>
              <a:spcBef>
                <a:spcPts val="1200"/>
              </a:spcBef>
            </a:pPr>
            <a:r>
              <a:rPr lang="en-US" sz="2400" dirty="0">
                <a:solidFill>
                  <a:srgbClr val="0070C0"/>
                </a:solidFill>
                <a:latin typeface="黑体" pitchFamily="49" charset="-122"/>
                <a:ea typeface="黑体" pitchFamily="49" charset="-122"/>
              </a:rPr>
              <a:t>9.2.6 </a:t>
            </a:r>
            <a:r>
              <a:rPr lang="zh-CN" altLang="en-US" sz="2400" dirty="0">
                <a:solidFill>
                  <a:srgbClr val="0070C0"/>
                </a:solidFill>
                <a:latin typeface="黑体" pitchFamily="49" charset="-122"/>
                <a:ea typeface="黑体" pitchFamily="49" charset="-122"/>
              </a:rPr>
              <a:t>发现学习</a:t>
            </a:r>
            <a:r>
              <a:rPr lang="en-US" altLang="zh-CN" sz="2400" dirty="0">
                <a:solidFill>
                  <a:srgbClr val="0070C0"/>
                </a:solidFill>
                <a:latin typeface="黑体" pitchFamily="49" charset="-122"/>
                <a:ea typeface="黑体" pitchFamily="49" charset="-122"/>
              </a:rPr>
              <a:t>(</a:t>
            </a:r>
            <a:r>
              <a:rPr lang="en-US" altLang="zh-CN" sz="2400" dirty="0">
                <a:solidFill>
                  <a:srgbClr val="FF0000"/>
                </a:solidFill>
                <a:latin typeface="黑体" pitchFamily="49" charset="-122"/>
                <a:ea typeface="黑体" pitchFamily="49" charset="-122"/>
              </a:rPr>
              <a:t>AI for Science</a:t>
            </a:r>
            <a:r>
              <a:rPr lang="en-US" altLang="zh-CN" sz="2400" dirty="0">
                <a:solidFill>
                  <a:srgbClr val="0070C0"/>
                </a:solidFill>
                <a:latin typeface="黑体" pitchFamily="49" charset="-122"/>
                <a:ea typeface="黑体" pitchFamily="49" charset="-122"/>
              </a:rPr>
              <a:t>)</a:t>
            </a:r>
            <a:endParaRPr lang="zh-CN" altLang="en-US" sz="2400" dirty="0">
              <a:solidFill>
                <a:srgbClr val="0070C0"/>
              </a:solidFill>
              <a:latin typeface="黑体" pitchFamily="49" charset="-122"/>
              <a:ea typeface="黑体" pitchFamily="49" charset="-122"/>
            </a:endParaRPr>
          </a:p>
          <a:p>
            <a:pPr>
              <a:lnSpc>
                <a:spcPct val="150000"/>
              </a:lnSpc>
            </a:pPr>
            <a:r>
              <a:rPr lang="en-US" sz="2300" dirty="0">
                <a:solidFill>
                  <a:srgbClr val="0070C0"/>
                </a:solidFill>
              </a:rPr>
              <a:t>        </a:t>
            </a:r>
            <a:r>
              <a:rPr lang="zh-CN" altLang="en-US" sz="2300" dirty="0">
                <a:solidFill>
                  <a:srgbClr val="0070C0"/>
                </a:solidFill>
              </a:rPr>
              <a:t>发现学习则是系统直接从（数据）环境中归纳总结出规律性知识的一种学习。即发现学习是指机器获取知识无须外部拥有该知识的实体的帮助，甚至蕴含在客观现象中的这类知识至今尚未被人所知，因此发现学习也是一种归纳学习，而且是一种高级的学习过程（这与心理学中的发现学习概念是一致的）。它要求系统具有复杂的问题求解能力，包括概念聚类、结构分类、数据拟合、建立系统行为等。下面仅就这方面的研究作一点简要介绍。</a:t>
            </a:r>
            <a:endParaRPr lang="zh-CN" altLang="en-US" sz="2300" dirty="0"/>
          </a:p>
        </p:txBody>
      </p:sp>
      <p:sp>
        <p:nvSpPr>
          <p:cNvPr id="3" name="动作按钮: 后退或前一项 2">
            <a:hlinkClick r:id="rId2" action="ppaction://hlinksldjump" highlightClick="1"/>
          </p:cNvPr>
          <p:cNvSpPr/>
          <p:nvPr/>
        </p:nvSpPr>
        <p:spPr>
          <a:xfrm>
            <a:off x="7706494" y="6185586"/>
            <a:ext cx="720000" cy="14400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1" name="Rectangle 3"/>
          <p:cNvSpPr>
            <a:spLocks noGrp="1" noRot="1" noChangeArrowheads="1"/>
          </p:cNvSpPr>
          <p:nvPr>
            <p:ph type="body" idx="1"/>
          </p:nvPr>
        </p:nvSpPr>
        <p:spPr>
          <a:xfrm>
            <a:off x="384352" y="295872"/>
            <a:ext cx="8072494" cy="6167459"/>
          </a:xfrm>
        </p:spPr>
        <p:txBody>
          <a:bodyPr/>
          <a:lstStyle/>
          <a:p>
            <a:pPr algn="ctr">
              <a:lnSpc>
                <a:spcPct val="150000"/>
              </a:lnSpc>
              <a:buFont typeface="Wingdings" pitchFamily="2" charset="2"/>
              <a:buNone/>
            </a:pPr>
            <a:r>
              <a:rPr lang="en-US" altLang="zh-CN" sz="2800" dirty="0">
                <a:solidFill>
                  <a:srgbClr val="0070C0"/>
                </a:solidFill>
                <a:latin typeface="黑体" pitchFamily="49" charset="-122"/>
                <a:ea typeface="黑体" pitchFamily="49" charset="-122"/>
              </a:rPr>
              <a:t>9.3 </a:t>
            </a:r>
            <a:r>
              <a:rPr lang="zh-CN" altLang="en-US" sz="2800" dirty="0">
                <a:solidFill>
                  <a:srgbClr val="0070C0"/>
                </a:solidFill>
                <a:latin typeface="黑体" pitchFamily="49" charset="-122"/>
                <a:ea typeface="黑体" pitchFamily="49" charset="-122"/>
              </a:rPr>
              <a:t>决策树学习</a:t>
            </a:r>
          </a:p>
          <a:p>
            <a:pPr>
              <a:spcBef>
                <a:spcPts val="0"/>
              </a:spcBef>
              <a:buFont typeface="Wingdings" pitchFamily="2" charset="2"/>
              <a:buNone/>
            </a:pPr>
            <a:r>
              <a:rPr lang="zh-CN" altLang="en-US" sz="2800" dirty="0"/>
              <a:t>   </a:t>
            </a:r>
            <a:r>
              <a:rPr lang="en-US" altLang="zh-CN" sz="2400" b="1" dirty="0">
                <a:solidFill>
                  <a:srgbClr val="0070C0"/>
                </a:solidFill>
                <a:latin typeface="楷体_GB2312" pitchFamily="49" charset="-122"/>
                <a:ea typeface="楷体_GB2312" pitchFamily="49" charset="-122"/>
              </a:rPr>
              <a:t>1</a:t>
            </a:r>
            <a:r>
              <a:rPr lang="zh-CN" altLang="en-US" sz="2400" b="1" dirty="0">
                <a:solidFill>
                  <a:srgbClr val="0070C0"/>
                </a:solidFill>
                <a:latin typeface="楷体_GB2312" pitchFamily="49" charset="-122"/>
                <a:ea typeface="楷体_GB2312" pitchFamily="49" charset="-122"/>
              </a:rPr>
              <a:t>．</a:t>
            </a:r>
            <a:r>
              <a:rPr lang="zh-CN" altLang="en-US" sz="2400" b="1" dirty="0">
                <a:solidFill>
                  <a:srgbClr val="0070C0"/>
                </a:solidFill>
                <a:latin typeface="楷体" pitchFamily="49" charset="-122"/>
                <a:ea typeface="楷体" pitchFamily="49" charset="-122"/>
              </a:rPr>
              <a:t>什么是决策树</a:t>
            </a:r>
          </a:p>
          <a:p>
            <a:pPr algn="just">
              <a:lnSpc>
                <a:spcPct val="130000"/>
              </a:lnSpc>
              <a:buFont typeface="Wingdings" pitchFamily="2" charset="2"/>
              <a:buNone/>
            </a:pPr>
            <a:r>
              <a:rPr lang="zh-CN" altLang="en-US" sz="2400" dirty="0">
                <a:solidFill>
                  <a:srgbClr val="0070C0"/>
                </a:solidFill>
                <a:latin typeface="楷体" pitchFamily="49" charset="-122"/>
                <a:ea typeface="楷体" pitchFamily="49" charset="-122"/>
                <a:cs typeface="Times New Roman" pitchFamily="18" charset="0"/>
              </a:rPr>
              <a:t>      决策树</a:t>
            </a:r>
            <a:r>
              <a:rPr lang="en-US" altLang="zh-CN" sz="2400" dirty="0">
                <a:solidFill>
                  <a:srgbClr val="0070C0"/>
                </a:solidFill>
                <a:latin typeface="楷体" pitchFamily="49" charset="-122"/>
                <a:ea typeface="楷体" pitchFamily="49" charset="-122"/>
                <a:cs typeface="Times New Roman" pitchFamily="18" charset="0"/>
              </a:rPr>
              <a:t>(decision tree)</a:t>
            </a:r>
            <a:r>
              <a:rPr lang="zh-CN" altLang="en-US" sz="2400" dirty="0">
                <a:solidFill>
                  <a:srgbClr val="0070C0"/>
                </a:solidFill>
                <a:latin typeface="楷体" pitchFamily="49" charset="-122"/>
                <a:ea typeface="楷体" pitchFamily="49" charset="-122"/>
                <a:cs typeface="Times New Roman" pitchFamily="18" charset="0"/>
              </a:rPr>
              <a:t>也称判定树，它是由对象的若干属性、属性值和有关决策组成的一棵树。其中的节点为属性（一般为语言变量），分枝为相应的属性值（一般为语言值）。从同一节点出发的各个分枝之间是逻辑“或”关系；根节点为对象的某一个属性；从根节点到每一个叶子节点的所有节点和边，按顺序串连成一条分枝路径，位于同一条分枝路径上的各个“属性</a:t>
            </a:r>
            <a:r>
              <a:rPr lang="en-US" altLang="zh-CN" sz="2400" dirty="0">
                <a:solidFill>
                  <a:srgbClr val="0070C0"/>
                </a:solidFill>
                <a:latin typeface="楷体" pitchFamily="49" charset="-122"/>
                <a:ea typeface="楷体" pitchFamily="49" charset="-122"/>
                <a:cs typeface="Times New Roman" pitchFamily="18" charset="0"/>
              </a:rPr>
              <a:t>-</a:t>
            </a:r>
            <a:r>
              <a:rPr lang="zh-CN" altLang="en-US" sz="2400" dirty="0">
                <a:solidFill>
                  <a:srgbClr val="0070C0"/>
                </a:solidFill>
                <a:latin typeface="楷体" pitchFamily="49" charset="-122"/>
                <a:ea typeface="楷体" pitchFamily="49" charset="-122"/>
                <a:cs typeface="Times New Roman" pitchFamily="18" charset="0"/>
              </a:rPr>
              <a:t>值”对之间是逻辑“与”关系，叶子节点为这个与关系的对应结果，即决策。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1">
                                            <p:txEl>
                                              <p:pRg st="1" end="1"/>
                                            </p:txEl>
                                          </p:spTgt>
                                        </p:tgtEl>
                                        <p:attrNameLst>
                                          <p:attrName>style.visibility</p:attrName>
                                        </p:attrNameLst>
                                      </p:cBhvr>
                                      <p:to>
                                        <p:strVal val="visible"/>
                                      </p:to>
                                    </p:set>
                                    <p:anim calcmode="lin" valueType="num">
                                      <p:cBhvr additive="base">
                                        <p:cTn id="7"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7651">
                                            <p:txEl>
                                              <p:pRg st="2" end="2"/>
                                            </p:txEl>
                                          </p:spTgt>
                                        </p:tgtEl>
                                        <p:attrNameLst>
                                          <p:attrName>style.visibility</p:attrName>
                                        </p:attrNameLst>
                                      </p:cBhvr>
                                      <p:to>
                                        <p:strVal val="visible"/>
                                      </p:to>
                                    </p:set>
                                    <p:animEffect transition="in" filter="blinds(horizontal)">
                                      <p:cBhvr>
                                        <p:cTn id="13" dur="500"/>
                                        <p:tgtEl>
                                          <p:spTgt spid="276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1"/>
          <p:cNvPicPr>
            <a:picLocks noChangeAspect="1" noChangeArrowheads="1"/>
          </p:cNvPicPr>
          <p:nvPr/>
        </p:nvPicPr>
        <p:blipFill>
          <a:blip r:embed="rId2">
            <a:duotone>
              <a:prstClr val="black"/>
              <a:schemeClr val="accent1">
                <a:tint val="45000"/>
                <a:satMod val="400000"/>
              </a:schemeClr>
            </a:duotone>
          </a:blip>
          <a:srcRect/>
          <a:stretch>
            <a:fillRect/>
          </a:stretch>
        </p:blipFill>
        <p:spPr bwMode="auto">
          <a:xfrm>
            <a:off x="1285852" y="857232"/>
            <a:ext cx="6660000" cy="5214974"/>
          </a:xfrm>
          <a:prstGeom prst="rect">
            <a:avLst/>
          </a:prstGeom>
          <a:noFill/>
          <a:ln w="9525">
            <a:noFill/>
            <a:miter lim="800000"/>
            <a:headEnd/>
            <a:tailEnd/>
          </a:ln>
          <a:effectLst/>
        </p:spPr>
      </p:pic>
      <p:sp>
        <p:nvSpPr>
          <p:cNvPr id="2" name="文本框 1">
            <a:extLst>
              <a:ext uri="{FF2B5EF4-FFF2-40B4-BE49-F238E27FC236}">
                <a16:creationId xmlns:a16="http://schemas.microsoft.com/office/drawing/2014/main" id="{9002E1B3-74FE-EB02-BC6A-88AF1732BF65}"/>
              </a:ext>
            </a:extLst>
          </p:cNvPr>
          <p:cNvSpPr txBox="1"/>
          <p:nvPr/>
        </p:nvSpPr>
        <p:spPr>
          <a:xfrm>
            <a:off x="3887924" y="692696"/>
            <a:ext cx="1368152" cy="369332"/>
          </a:xfrm>
          <a:prstGeom prst="rect">
            <a:avLst/>
          </a:prstGeom>
          <a:noFill/>
        </p:spPr>
        <p:txBody>
          <a:bodyPr wrap="square" rtlCol="0">
            <a:spAutoFit/>
          </a:bodyPr>
          <a:lstStyle/>
          <a:p>
            <a:r>
              <a:rPr lang="zh-CN" altLang="en-US" dirty="0"/>
              <a:t>属性</a:t>
            </a:r>
          </a:p>
        </p:txBody>
      </p:sp>
      <p:sp>
        <p:nvSpPr>
          <p:cNvPr id="3" name="文本框 2">
            <a:extLst>
              <a:ext uri="{FF2B5EF4-FFF2-40B4-BE49-F238E27FC236}">
                <a16:creationId xmlns:a16="http://schemas.microsoft.com/office/drawing/2014/main" id="{7560A94A-D7B5-463E-82E4-B3B53AFCFA60}"/>
              </a:ext>
            </a:extLst>
          </p:cNvPr>
          <p:cNvSpPr txBox="1"/>
          <p:nvPr/>
        </p:nvSpPr>
        <p:spPr>
          <a:xfrm>
            <a:off x="5508104" y="1556792"/>
            <a:ext cx="1368152" cy="369332"/>
          </a:xfrm>
          <a:prstGeom prst="rect">
            <a:avLst/>
          </a:prstGeom>
          <a:noFill/>
        </p:spPr>
        <p:txBody>
          <a:bodyPr wrap="square" rtlCol="0">
            <a:spAutoFit/>
          </a:bodyPr>
          <a:lstStyle/>
          <a:p>
            <a:r>
              <a:rPr lang="zh-CN" altLang="en-US" dirty="0"/>
              <a:t>取值</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639749" y="571480"/>
            <a:ext cx="8504251" cy="461665"/>
          </a:xfrm>
          <a:prstGeom prst="rect">
            <a:avLst/>
          </a:prstGeom>
          <a:noFill/>
          <a:ln w="9525">
            <a:noFill/>
            <a:miter lim="800000"/>
            <a:headEnd/>
            <a:tailEnd/>
          </a:ln>
          <a:effectLst/>
        </p:spPr>
        <p:txBody>
          <a:bodyPr wrap="square">
            <a:spAutoFit/>
          </a:bodyPr>
          <a:lstStyle/>
          <a:p>
            <a:r>
              <a:rPr kumimoji="1" lang="zh-CN" altLang="en-US" sz="2400" dirty="0">
                <a:solidFill>
                  <a:srgbClr val="0070C0"/>
                </a:solidFill>
                <a:latin typeface="黑体" pitchFamily="49" charset="-122"/>
                <a:ea typeface="黑体" pitchFamily="49" charset="-122"/>
              </a:rPr>
              <a:t>例</a:t>
            </a:r>
            <a:r>
              <a:rPr kumimoji="1" lang="en-US" altLang="zh-CN" sz="2400" b="1" dirty="0">
                <a:solidFill>
                  <a:srgbClr val="0070C0"/>
                </a:solidFill>
                <a:latin typeface="Times New Roman" pitchFamily="18" charset="0"/>
                <a:cs typeface="Times New Roman" pitchFamily="18" charset="0"/>
              </a:rPr>
              <a:t>9-2</a:t>
            </a:r>
            <a:r>
              <a:rPr kumimoji="1" lang="en-US" altLang="zh-CN" sz="2400" b="1" dirty="0">
                <a:solidFill>
                  <a:srgbClr val="0070C0"/>
                </a:solidFill>
                <a:latin typeface="Times New Roman" pitchFamily="18" charset="0"/>
              </a:rPr>
              <a:t> </a:t>
            </a:r>
            <a:r>
              <a:rPr kumimoji="1" lang="zh-CN" altLang="en-US" sz="2400" b="1" dirty="0">
                <a:solidFill>
                  <a:srgbClr val="0070C0"/>
                </a:solidFill>
                <a:latin typeface="Times New Roman" pitchFamily="18" charset="0"/>
              </a:rPr>
              <a:t>　下</a:t>
            </a:r>
            <a:r>
              <a:rPr kumimoji="1" lang="zh-CN" altLang="en-US" sz="2400" dirty="0">
                <a:solidFill>
                  <a:srgbClr val="0070C0"/>
                </a:solidFill>
                <a:latin typeface="宋体" pitchFamily="2" charset="-122"/>
              </a:rPr>
              <a:t>图是机场指挥台关于飞机起飞的简单决策树。</a:t>
            </a:r>
            <a:endParaRPr kumimoji="1" lang="zh-CN" altLang="en-US" sz="2400" dirty="0">
              <a:solidFill>
                <a:srgbClr val="0070C0"/>
              </a:solidFill>
              <a:latin typeface="Times New Roman" pitchFamily="18" charset="0"/>
            </a:endParaRPr>
          </a:p>
        </p:txBody>
      </p:sp>
      <p:pic>
        <p:nvPicPr>
          <p:cNvPr id="57345" name="Picture 1"/>
          <p:cNvPicPr>
            <a:picLocks noChangeAspect="1" noChangeArrowheads="1"/>
          </p:cNvPicPr>
          <p:nvPr/>
        </p:nvPicPr>
        <p:blipFill>
          <a:blip r:embed="rId2">
            <a:duotone>
              <a:prstClr val="black"/>
              <a:schemeClr val="accent1">
                <a:tint val="45000"/>
                <a:satMod val="400000"/>
              </a:schemeClr>
            </a:duotone>
          </a:blip>
          <a:srcRect/>
          <a:stretch>
            <a:fillRect/>
          </a:stretch>
        </p:blipFill>
        <p:spPr bwMode="auto">
          <a:xfrm>
            <a:off x="1500166" y="1214422"/>
            <a:ext cx="6000792" cy="5309499"/>
          </a:xfrm>
          <a:prstGeom prst="rect">
            <a:avLst/>
          </a:prstGeom>
          <a:noFill/>
          <a:ln w="9525">
            <a:noFill/>
            <a:miter lim="800000"/>
            <a:headEnd/>
            <a:tailEnd/>
          </a:ln>
          <a:effec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5" name="Rectangle 3"/>
          <p:cNvSpPr>
            <a:spLocks noGrp="1" noRot="1" noChangeArrowheads="1"/>
          </p:cNvSpPr>
          <p:nvPr>
            <p:ph type="body" idx="1"/>
          </p:nvPr>
        </p:nvSpPr>
        <p:spPr>
          <a:xfrm>
            <a:off x="560436" y="260350"/>
            <a:ext cx="8073386" cy="6192838"/>
          </a:xfrm>
        </p:spPr>
        <p:txBody>
          <a:bodyPr/>
          <a:lstStyle/>
          <a:p>
            <a:pPr>
              <a:lnSpc>
                <a:spcPct val="150000"/>
              </a:lnSpc>
              <a:buFont typeface="Wingdings" pitchFamily="2" charset="2"/>
              <a:buNone/>
            </a:pPr>
            <a:r>
              <a:rPr lang="en-US" altLang="zh-CN" sz="2800" dirty="0">
                <a:solidFill>
                  <a:srgbClr val="0070C0"/>
                </a:solidFill>
                <a:latin typeface="楷体_GB2312" pitchFamily="49" charset="-122"/>
                <a:ea typeface="楷体_GB2312" pitchFamily="49" charset="-122"/>
              </a:rPr>
              <a:t>  </a:t>
            </a:r>
            <a:r>
              <a:rPr lang="en-US" altLang="zh-CN" sz="2400" dirty="0">
                <a:solidFill>
                  <a:srgbClr val="0070C0"/>
                </a:solidFill>
                <a:latin typeface="黑体" pitchFamily="49" charset="-122"/>
                <a:ea typeface="黑体" pitchFamily="49" charset="-122"/>
              </a:rPr>
              <a:t>9.3.2 </a:t>
            </a:r>
            <a:r>
              <a:rPr lang="zh-CN" altLang="en-US" sz="2400" dirty="0">
                <a:solidFill>
                  <a:srgbClr val="0070C0"/>
                </a:solidFill>
                <a:latin typeface="黑体" pitchFamily="49" charset="-122"/>
                <a:ea typeface="黑体" pitchFamily="49" charset="-122"/>
              </a:rPr>
              <a:t>怎样学习决策树</a:t>
            </a:r>
          </a:p>
          <a:p>
            <a:pPr>
              <a:lnSpc>
                <a:spcPct val="90000"/>
              </a:lnSpc>
              <a:buFont typeface="Wingdings" pitchFamily="2" charset="2"/>
              <a:buNone/>
            </a:pPr>
            <a:r>
              <a:rPr lang="zh-CN" altLang="en-US" sz="2800" dirty="0"/>
              <a:t>   </a:t>
            </a:r>
            <a:r>
              <a:rPr lang="zh-CN" altLang="en-US" sz="2400" spc="-150" dirty="0">
                <a:solidFill>
                  <a:srgbClr val="0070C0"/>
                </a:solidFill>
                <a:latin typeface="方正姚体" pitchFamily="2" charset="-122"/>
                <a:ea typeface="方正姚体" pitchFamily="2" charset="-122"/>
              </a:rPr>
              <a:t>决策树学习的基本方法和步骤</a:t>
            </a:r>
            <a:r>
              <a:rPr lang="zh-CN" altLang="en-US" sz="2400" dirty="0">
                <a:solidFill>
                  <a:srgbClr val="0070C0"/>
                </a:solidFill>
                <a:latin typeface="仿宋_GB2312" pitchFamily="49" charset="-122"/>
                <a:ea typeface="仿宋_GB2312" pitchFamily="49" charset="-122"/>
              </a:rPr>
              <a:t>：</a:t>
            </a:r>
          </a:p>
          <a:p>
            <a:pPr>
              <a:lnSpc>
                <a:spcPts val="3200"/>
              </a:lnSpc>
            </a:pPr>
            <a:r>
              <a:rPr lang="zh-CN" altLang="en-US" sz="2300" dirty="0">
                <a:solidFill>
                  <a:srgbClr val="0070C0"/>
                </a:solidFill>
                <a:latin typeface="仿宋_GB2312" pitchFamily="49" charset="-122"/>
                <a:ea typeface="仿宋_GB2312" pitchFamily="49" charset="-122"/>
              </a:rPr>
              <a:t>首先，选取一个属性，按这个属性的不同取值对实例集进行分类；并以该属性作为根节点，以这个属性的诸取值作为根节点的分枝，进行画树。</a:t>
            </a:r>
          </a:p>
          <a:p>
            <a:pPr>
              <a:lnSpc>
                <a:spcPts val="3200"/>
              </a:lnSpc>
              <a:spcBef>
                <a:spcPct val="50000"/>
              </a:spcBef>
            </a:pPr>
            <a:r>
              <a:rPr lang="zh-CN" altLang="en-US" sz="2300" dirty="0">
                <a:solidFill>
                  <a:srgbClr val="0070C0"/>
                </a:solidFill>
                <a:latin typeface="仿宋_GB2312" pitchFamily="49" charset="-122"/>
                <a:ea typeface="仿宋_GB2312" pitchFamily="49" charset="-122"/>
              </a:rPr>
              <a:t>然后，考察所得的每一个子类，看其中的实例的结论是否完全相同。如果完全相同，则以这个相同的结论作为相应分枝路径末端的叶子节点；否则，选取一个非父节点的属性，按这个属性的不同取值对该子集进行分类，并以该属性作为节点，以这个属性的诸取值作为节点的分枝，继续进行画树。</a:t>
            </a:r>
          </a:p>
          <a:p>
            <a:pPr>
              <a:lnSpc>
                <a:spcPts val="3200"/>
              </a:lnSpc>
              <a:spcBef>
                <a:spcPct val="50000"/>
              </a:spcBef>
            </a:pPr>
            <a:r>
              <a:rPr lang="zh-CN" altLang="en-US" sz="2300" dirty="0">
                <a:solidFill>
                  <a:srgbClr val="0070C0"/>
                </a:solidFill>
                <a:latin typeface="仿宋_GB2312" pitchFamily="49" charset="-122"/>
                <a:ea typeface="仿宋_GB2312" pitchFamily="49" charset="-122"/>
              </a:rPr>
              <a:t>如此继续，直到所分的子集全都满足：实例结论完全相同，而得到所有的叶子节点为止。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fade">
                                      <p:cBhvr>
                                        <p:cTn id="7" dur="1000"/>
                                        <p:tgtEl>
                                          <p:spTgt spid="28675">
                                            <p:txEl>
                                              <p:pRg st="0" end="0"/>
                                            </p:txEl>
                                          </p:spTgt>
                                        </p:tgtEl>
                                      </p:cBhvr>
                                    </p:animEffect>
                                    <p:anim calcmode="lin" valueType="num">
                                      <p:cBhvr>
                                        <p:cTn id="8" dur="1000" fill="hold"/>
                                        <p:tgtEl>
                                          <p:spTgt spid="2867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867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8675">
                                            <p:txEl>
                                              <p:pRg st="1" end="1"/>
                                            </p:txEl>
                                          </p:spTgt>
                                        </p:tgtEl>
                                        <p:attrNameLst>
                                          <p:attrName>style.visibility</p:attrName>
                                        </p:attrNameLst>
                                      </p:cBhvr>
                                      <p:to>
                                        <p:strVal val="visible"/>
                                      </p:to>
                                    </p:set>
                                    <p:animEffect transition="in" filter="fade">
                                      <p:cBhvr>
                                        <p:cTn id="14" dur="1000"/>
                                        <p:tgtEl>
                                          <p:spTgt spid="28675">
                                            <p:txEl>
                                              <p:pRg st="1" end="1"/>
                                            </p:txEl>
                                          </p:spTgt>
                                        </p:tgtEl>
                                      </p:cBhvr>
                                    </p:animEffect>
                                    <p:anim calcmode="lin" valueType="num">
                                      <p:cBhvr>
                                        <p:cTn id="15" dur="10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867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8675">
                                            <p:txEl>
                                              <p:pRg st="2" end="2"/>
                                            </p:txEl>
                                          </p:spTgt>
                                        </p:tgtEl>
                                        <p:attrNameLst>
                                          <p:attrName>style.visibility</p:attrName>
                                        </p:attrNameLst>
                                      </p:cBhvr>
                                      <p:to>
                                        <p:strVal val="visible"/>
                                      </p:to>
                                    </p:set>
                                    <p:animEffect transition="in" filter="fade">
                                      <p:cBhvr>
                                        <p:cTn id="21" dur="1000"/>
                                        <p:tgtEl>
                                          <p:spTgt spid="28675">
                                            <p:txEl>
                                              <p:pRg st="2" end="2"/>
                                            </p:txEl>
                                          </p:spTgt>
                                        </p:tgtEl>
                                      </p:cBhvr>
                                    </p:animEffect>
                                    <p:anim calcmode="lin" valueType="num">
                                      <p:cBhvr>
                                        <p:cTn id="22" dur="1000" fill="hold"/>
                                        <p:tgtEl>
                                          <p:spTgt spid="2867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867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8675">
                                            <p:txEl>
                                              <p:pRg st="3" end="3"/>
                                            </p:txEl>
                                          </p:spTgt>
                                        </p:tgtEl>
                                        <p:attrNameLst>
                                          <p:attrName>style.visibility</p:attrName>
                                        </p:attrNameLst>
                                      </p:cBhvr>
                                      <p:to>
                                        <p:strVal val="visible"/>
                                      </p:to>
                                    </p:set>
                                    <p:animEffect transition="in" filter="fade">
                                      <p:cBhvr>
                                        <p:cTn id="28" dur="1000"/>
                                        <p:tgtEl>
                                          <p:spTgt spid="28675">
                                            <p:txEl>
                                              <p:pRg st="3" end="3"/>
                                            </p:txEl>
                                          </p:spTgt>
                                        </p:tgtEl>
                                      </p:cBhvr>
                                    </p:animEffect>
                                    <p:anim calcmode="lin" valueType="num">
                                      <p:cBhvr>
                                        <p:cTn id="29" dur="1000" fill="hold"/>
                                        <p:tgtEl>
                                          <p:spTgt spid="2867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867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8675">
                                            <p:txEl>
                                              <p:pRg st="4" end="4"/>
                                            </p:txEl>
                                          </p:spTgt>
                                        </p:tgtEl>
                                        <p:attrNameLst>
                                          <p:attrName>style.visibility</p:attrName>
                                        </p:attrNameLst>
                                      </p:cBhvr>
                                      <p:to>
                                        <p:strVal val="visible"/>
                                      </p:to>
                                    </p:set>
                                    <p:animEffect transition="in" filter="fade">
                                      <p:cBhvr>
                                        <p:cTn id="35" dur="1000"/>
                                        <p:tgtEl>
                                          <p:spTgt spid="28675">
                                            <p:txEl>
                                              <p:pRg st="4" end="4"/>
                                            </p:txEl>
                                          </p:spTgt>
                                        </p:tgtEl>
                                      </p:cBhvr>
                                    </p:animEffect>
                                    <p:anim calcmode="lin" valueType="num">
                                      <p:cBhvr>
                                        <p:cTn id="36" dur="1000" fill="hold"/>
                                        <p:tgtEl>
                                          <p:spTgt spid="28675">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867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Rectangle 3"/>
          <p:cNvSpPr>
            <a:spLocks noGrp="1" noRot="1" noChangeArrowheads="1"/>
          </p:cNvSpPr>
          <p:nvPr>
            <p:ph type="body" idx="1"/>
          </p:nvPr>
        </p:nvSpPr>
        <p:spPr>
          <a:xfrm>
            <a:off x="571472" y="692150"/>
            <a:ext cx="7786742" cy="4951428"/>
          </a:xfrm>
        </p:spPr>
        <p:txBody>
          <a:bodyPr/>
          <a:lstStyle/>
          <a:p>
            <a:pPr>
              <a:lnSpc>
                <a:spcPct val="150000"/>
              </a:lnSpc>
              <a:buFont typeface="Wingdings" pitchFamily="2" charset="2"/>
              <a:buNone/>
            </a:pPr>
            <a:r>
              <a:rPr lang="en-US" altLang="zh-CN" dirty="0"/>
              <a:t>  </a:t>
            </a:r>
            <a:r>
              <a:rPr lang="en-US" altLang="zh-CN" sz="1400" dirty="0">
                <a:solidFill>
                  <a:srgbClr val="FF6600"/>
                </a:solidFill>
              </a:rPr>
              <a:t>● </a:t>
            </a:r>
            <a:r>
              <a:rPr lang="zh-CN" altLang="en-US" sz="2400" b="1" dirty="0">
                <a:solidFill>
                  <a:srgbClr val="0070C0"/>
                </a:solidFill>
                <a:latin typeface="楷体_GB2312" pitchFamily="49" charset="-122"/>
                <a:ea typeface="楷体_GB2312" pitchFamily="49" charset="-122"/>
              </a:rPr>
              <a:t>决策树学习举例</a:t>
            </a:r>
          </a:p>
          <a:p>
            <a:pPr algn="just">
              <a:lnSpc>
                <a:spcPct val="150000"/>
              </a:lnSpc>
              <a:buFont typeface="Wingdings" pitchFamily="2" charset="2"/>
              <a:buNone/>
            </a:pPr>
            <a:r>
              <a:rPr lang="zh-CN" altLang="en-US" sz="2400" dirty="0">
                <a:solidFill>
                  <a:srgbClr val="0070C0"/>
                </a:solidFill>
                <a:latin typeface="仿宋_GB2312" pitchFamily="49" charset="-122"/>
                <a:ea typeface="仿宋_GB2312" pitchFamily="49" charset="-122"/>
              </a:rPr>
              <a:t>      设表</a:t>
            </a:r>
            <a:r>
              <a:rPr lang="en-US" altLang="zh-CN" sz="2400" dirty="0">
                <a:solidFill>
                  <a:srgbClr val="0070C0"/>
                </a:solidFill>
                <a:latin typeface="Times New Roman" pitchFamily="18" charset="0"/>
                <a:ea typeface="仿宋_GB2312" pitchFamily="49" charset="-122"/>
                <a:cs typeface="Times New Roman" pitchFamily="18" charset="0"/>
              </a:rPr>
              <a:t>9-1 </a:t>
            </a:r>
            <a:r>
              <a:rPr lang="zh-CN" altLang="en-US" sz="2400" dirty="0">
                <a:solidFill>
                  <a:srgbClr val="0070C0"/>
                </a:solidFill>
                <a:latin typeface="仿宋_GB2312" pitchFamily="49" charset="-122"/>
                <a:ea typeface="仿宋_GB2312" pitchFamily="49" charset="-122"/>
              </a:rPr>
              <a:t>所示的是某保险公司的汽车驾驶保险类别划分的部分事例。我们将这张表作为一个实例集，用决策树学习来归纳该保险公司的汽车驾驶保险类别划分规则。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dissolve">
                                      <p:cBhvr>
                                        <p:cTn id="7" dur="500"/>
                                        <p:tgtEl>
                                          <p:spTgt spid="32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dissolve">
                                      <p:cBhvr>
                                        <p:cTn id="12" dur="500"/>
                                        <p:tgtEl>
                                          <p:spTgt spid="327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3249" name="Picture 1"/>
          <p:cNvPicPr>
            <a:picLocks noChangeAspect="1" noChangeArrowheads="1"/>
          </p:cNvPicPr>
          <p:nvPr/>
        </p:nvPicPr>
        <p:blipFill>
          <a:blip r:embed="rId2"/>
          <a:srcRect/>
          <a:stretch>
            <a:fillRect/>
          </a:stretch>
        </p:blipFill>
        <p:spPr bwMode="auto">
          <a:xfrm>
            <a:off x="571472" y="500034"/>
            <a:ext cx="8143932" cy="6143676"/>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9" name="Rectangle 3"/>
          <p:cNvSpPr>
            <a:spLocks noGrp="1" noRot="1" noChangeArrowheads="1"/>
          </p:cNvSpPr>
          <p:nvPr>
            <p:ph type="body" idx="1"/>
          </p:nvPr>
        </p:nvSpPr>
        <p:spPr>
          <a:xfrm>
            <a:off x="534431" y="765175"/>
            <a:ext cx="7959754" cy="5832475"/>
          </a:xfrm>
        </p:spPr>
        <p:txBody>
          <a:bodyPr/>
          <a:lstStyle/>
          <a:p>
            <a:pPr>
              <a:lnSpc>
                <a:spcPct val="120000"/>
              </a:lnSpc>
              <a:buFont typeface="Wingdings" pitchFamily="2" charset="2"/>
              <a:buNone/>
            </a:pPr>
            <a:r>
              <a:rPr lang="en-US" altLang="zh-CN" sz="2800" dirty="0">
                <a:latin typeface="仿宋_GB2312" charset="-122"/>
                <a:ea typeface="仿宋_GB2312" charset="-122"/>
              </a:rPr>
              <a:t>   </a:t>
            </a:r>
            <a:r>
              <a:rPr lang="zh-CN" altLang="en-US" sz="2400" dirty="0">
                <a:solidFill>
                  <a:srgbClr val="0070C0"/>
                </a:solidFill>
                <a:latin typeface="+mn-ea"/>
              </a:rPr>
              <a:t>将实例集简记为</a:t>
            </a:r>
          </a:p>
          <a:p>
            <a:pPr>
              <a:lnSpc>
                <a:spcPct val="150000"/>
              </a:lnSpc>
              <a:buFont typeface="Wingdings" pitchFamily="2" charset="2"/>
              <a:buNone/>
            </a:pPr>
            <a:r>
              <a:rPr lang="en-US" altLang="zh-CN" sz="2400" dirty="0">
                <a:solidFill>
                  <a:srgbClr val="0070C0"/>
                </a:solidFill>
                <a:latin typeface="+mn-ea"/>
              </a:rPr>
              <a:t>  S </a:t>
            </a:r>
            <a:r>
              <a:rPr lang="en-US" altLang="zh-CN" sz="2400" dirty="0">
                <a:solidFill>
                  <a:srgbClr val="0070C0"/>
                </a:solidFill>
                <a:latin typeface="Times New Roman" pitchFamily="18" charset="0"/>
                <a:cs typeface="Times New Roman" pitchFamily="18" charset="0"/>
              </a:rPr>
              <a:t>= {(1,C),  (2,C),  (3,C),  (4,B),  (5,A),  (6,A),  (7,C),  (8,B), (9,A), (10,A), (11,B), (12,B)}</a:t>
            </a:r>
          </a:p>
          <a:p>
            <a:pPr>
              <a:lnSpc>
                <a:spcPct val="150000"/>
              </a:lnSpc>
              <a:buFont typeface="Wingdings" pitchFamily="2" charset="2"/>
              <a:buNone/>
            </a:pPr>
            <a:r>
              <a:rPr lang="en-US" altLang="zh-CN" sz="2400" dirty="0">
                <a:solidFill>
                  <a:srgbClr val="0070C0"/>
                </a:solidFill>
                <a:latin typeface="+mn-ea"/>
              </a:rPr>
              <a:t>  </a:t>
            </a:r>
            <a:r>
              <a:rPr lang="zh-CN" altLang="en-US" sz="2400" dirty="0">
                <a:solidFill>
                  <a:srgbClr val="0070C0"/>
                </a:solidFill>
                <a:latin typeface="+mn-ea"/>
              </a:rPr>
              <a:t>其中每个元组表示一个实例，前面的数字为实例序号，后面的字母为实例的决策项保险类别。</a:t>
            </a:r>
            <a:r>
              <a:rPr lang="zh-CN" altLang="en-US" sz="2400" dirty="0">
                <a:solidFill>
                  <a:schemeClr val="tx2"/>
                </a:solidFill>
                <a:latin typeface="+mn-ea"/>
              </a:rPr>
              <a:t>同时进行如下定义：</a:t>
            </a:r>
          </a:p>
          <a:p>
            <a:pPr>
              <a:lnSpc>
                <a:spcPct val="120000"/>
              </a:lnSpc>
              <a:buFont typeface="Wingdings" pitchFamily="2" charset="2"/>
              <a:buNone/>
            </a:pPr>
            <a:r>
              <a:rPr lang="zh-CN" altLang="en-US" sz="2400" dirty="0">
                <a:solidFill>
                  <a:srgbClr val="0070C0"/>
                </a:solidFill>
                <a:latin typeface="+mn-ea"/>
              </a:rPr>
              <a:t>      用 “小”“中”“大” 分别代表</a:t>
            </a:r>
          </a:p>
          <a:p>
            <a:pPr>
              <a:lnSpc>
                <a:spcPct val="120000"/>
              </a:lnSpc>
              <a:buFont typeface="Wingdings" pitchFamily="2" charset="2"/>
              <a:buNone/>
            </a:pPr>
            <a:r>
              <a:rPr lang="zh-CN" altLang="en-US" sz="2400" dirty="0">
                <a:solidFill>
                  <a:srgbClr val="0070C0"/>
                </a:solidFill>
                <a:latin typeface="+mn-ea"/>
              </a:rPr>
              <a:t>           “＜</a:t>
            </a:r>
            <a:r>
              <a:rPr lang="en-US" altLang="zh-CN" sz="2400" dirty="0">
                <a:solidFill>
                  <a:srgbClr val="0070C0"/>
                </a:solidFill>
                <a:latin typeface="+mn-ea"/>
              </a:rPr>
              <a:t>21”</a:t>
            </a:r>
            <a:r>
              <a:rPr lang="zh-CN" altLang="en-US" sz="2400" dirty="0">
                <a:solidFill>
                  <a:srgbClr val="0070C0"/>
                </a:solidFill>
                <a:latin typeface="+mn-ea"/>
              </a:rPr>
              <a:t>“≥</a:t>
            </a:r>
            <a:r>
              <a:rPr lang="en-US" altLang="zh-CN" sz="2400" dirty="0">
                <a:solidFill>
                  <a:srgbClr val="0070C0"/>
                </a:solidFill>
                <a:latin typeface="+mn-ea"/>
              </a:rPr>
              <a:t>21</a:t>
            </a:r>
            <a:r>
              <a:rPr lang="zh-CN" altLang="en-US" sz="2400" dirty="0">
                <a:solidFill>
                  <a:srgbClr val="0070C0"/>
                </a:solidFill>
                <a:latin typeface="+mn-ea"/>
              </a:rPr>
              <a:t>且≤</a:t>
            </a:r>
            <a:r>
              <a:rPr lang="en-US" altLang="zh-CN" sz="2400" dirty="0">
                <a:solidFill>
                  <a:srgbClr val="0070C0"/>
                </a:solidFill>
                <a:latin typeface="+mn-ea"/>
              </a:rPr>
              <a:t>25”</a:t>
            </a:r>
            <a:r>
              <a:rPr lang="zh-CN" altLang="en-US" sz="2400" dirty="0">
                <a:solidFill>
                  <a:srgbClr val="0070C0"/>
                </a:solidFill>
                <a:latin typeface="+mn-ea"/>
              </a:rPr>
              <a:t>“＞</a:t>
            </a:r>
            <a:r>
              <a:rPr lang="en-US" altLang="zh-CN" sz="2400" dirty="0">
                <a:solidFill>
                  <a:srgbClr val="0070C0"/>
                </a:solidFill>
                <a:latin typeface="+mn-ea"/>
              </a:rPr>
              <a:t>25”</a:t>
            </a:r>
          </a:p>
          <a:p>
            <a:pPr>
              <a:lnSpc>
                <a:spcPct val="120000"/>
              </a:lnSpc>
              <a:buFont typeface="Wingdings" pitchFamily="2" charset="2"/>
              <a:buNone/>
            </a:pPr>
            <a:r>
              <a:rPr lang="en-US" altLang="zh-CN" sz="2400" dirty="0">
                <a:solidFill>
                  <a:srgbClr val="0070C0"/>
                </a:solidFill>
                <a:latin typeface="+mn-ea"/>
              </a:rPr>
              <a:t>  </a:t>
            </a:r>
            <a:r>
              <a:rPr lang="zh-CN" altLang="en-US" sz="2400" dirty="0">
                <a:solidFill>
                  <a:srgbClr val="0070C0"/>
                </a:solidFill>
                <a:latin typeface="+mn-ea"/>
              </a:rPr>
              <a:t>这三个年龄段。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dissolve">
                                      <p:cBhvr>
                                        <p:cTn id="7" dur="5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dissolve">
                                      <p:cBhvr>
                                        <p:cTn id="12" dur="5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dissolve">
                                      <p:cBhvr>
                                        <p:cTn id="17" dur="500"/>
                                        <p:tgtEl>
                                          <p:spTgt spid="34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blinds(horizontal)">
                                      <p:cBhvr>
                                        <p:cTn id="22" dur="500"/>
                                        <p:tgtEl>
                                          <p:spTgt spid="34819">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4819">
                                            <p:txEl>
                                              <p:pRg st="4" end="4"/>
                                            </p:txEl>
                                          </p:spTgt>
                                        </p:tgtEl>
                                        <p:attrNameLst>
                                          <p:attrName>style.visibility</p:attrName>
                                        </p:attrNameLst>
                                      </p:cBhvr>
                                      <p:to>
                                        <p:strVal val="visible"/>
                                      </p:to>
                                    </p:set>
                                    <p:animEffect transition="in" filter="blinds(horizontal)">
                                      <p:cBhvr>
                                        <p:cTn id="25" dur="500"/>
                                        <p:tgtEl>
                                          <p:spTgt spid="34819">
                                            <p:txEl>
                                              <p:pRg st="4" end="4"/>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34819">
                                            <p:txEl>
                                              <p:pRg st="5" end="5"/>
                                            </p:txEl>
                                          </p:spTgt>
                                        </p:tgtEl>
                                        <p:attrNameLst>
                                          <p:attrName>style.visibility</p:attrName>
                                        </p:attrNameLst>
                                      </p:cBhvr>
                                      <p:to>
                                        <p:strVal val="visible"/>
                                      </p:to>
                                    </p:set>
                                    <p:animEffect transition="in" filter="blinds(horizontal)">
                                      <p:cBhvr>
                                        <p:cTn id="28" dur="500"/>
                                        <p:tgtEl>
                                          <p:spTgt spid="348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3" name="Rectangle 3"/>
          <p:cNvSpPr>
            <a:spLocks noGrp="1" noRot="1" noChangeArrowheads="1"/>
          </p:cNvSpPr>
          <p:nvPr>
            <p:ph type="body" idx="1"/>
          </p:nvPr>
        </p:nvSpPr>
        <p:spPr>
          <a:xfrm>
            <a:off x="714348" y="857232"/>
            <a:ext cx="7745440" cy="5345131"/>
          </a:xfrm>
        </p:spPr>
        <p:txBody>
          <a:bodyPr/>
          <a:lstStyle/>
          <a:p>
            <a:pPr algn="just">
              <a:lnSpc>
                <a:spcPct val="150000"/>
              </a:lnSpc>
              <a:buFont typeface="Wingdings" pitchFamily="2" charset="2"/>
              <a:buNone/>
            </a:pPr>
            <a:r>
              <a:rPr lang="en-US" altLang="zh-CN" sz="2800" dirty="0">
                <a:latin typeface="仿宋_GB2312" charset="-122"/>
                <a:ea typeface="仿宋_GB2312" charset="-122"/>
              </a:rPr>
              <a:t>    </a:t>
            </a:r>
            <a:r>
              <a:rPr lang="zh-CN" altLang="en-US" sz="2400" dirty="0">
                <a:solidFill>
                  <a:srgbClr val="0070C0"/>
                </a:solidFill>
                <a:latin typeface="+mn-ea"/>
              </a:rPr>
              <a:t>对于</a:t>
            </a:r>
            <a:r>
              <a:rPr lang="en-US" altLang="zh-CN" sz="2400" dirty="0">
                <a:solidFill>
                  <a:srgbClr val="0070C0"/>
                </a:solidFill>
                <a:latin typeface="+mn-ea"/>
              </a:rPr>
              <a:t>S</a:t>
            </a:r>
            <a:r>
              <a:rPr lang="zh-CN" altLang="en-US" sz="2400" dirty="0">
                <a:solidFill>
                  <a:srgbClr val="0070C0"/>
                </a:solidFill>
                <a:latin typeface="+mn-ea"/>
              </a:rPr>
              <a:t>，我们按属性“性别”的不同取值将其分类。    由表</a:t>
            </a:r>
            <a:r>
              <a:rPr lang="en-US" altLang="zh-CN" sz="2400" dirty="0">
                <a:solidFill>
                  <a:srgbClr val="0070C0"/>
                </a:solidFill>
                <a:latin typeface="+mn-ea"/>
              </a:rPr>
              <a:t>9.1 </a:t>
            </a:r>
            <a:r>
              <a:rPr lang="zh-CN" altLang="en-US" sz="2400" dirty="0">
                <a:solidFill>
                  <a:srgbClr val="0070C0"/>
                </a:solidFill>
                <a:latin typeface="+mn-ea"/>
              </a:rPr>
              <a:t>可见，这时</a:t>
            </a:r>
            <a:r>
              <a:rPr lang="en-US" altLang="zh-CN" sz="2400" dirty="0">
                <a:solidFill>
                  <a:srgbClr val="0070C0"/>
                </a:solidFill>
                <a:latin typeface="+mn-ea"/>
              </a:rPr>
              <a:t>S</a:t>
            </a:r>
            <a:r>
              <a:rPr lang="zh-CN" altLang="en-US" sz="2400" dirty="0">
                <a:solidFill>
                  <a:srgbClr val="0070C0"/>
                </a:solidFill>
                <a:latin typeface="+mn-ea"/>
              </a:rPr>
              <a:t>应被分类为两个子集：</a:t>
            </a:r>
          </a:p>
          <a:p>
            <a:pPr>
              <a:lnSpc>
                <a:spcPct val="120000"/>
              </a:lnSpc>
              <a:buFont typeface="Wingdings" pitchFamily="2" charset="2"/>
              <a:buNone/>
            </a:pPr>
            <a:r>
              <a:rPr lang="en-US" altLang="zh-CN" sz="2400" dirty="0">
                <a:solidFill>
                  <a:srgbClr val="0070C0"/>
                </a:solidFill>
                <a:latin typeface="Times New Roman" pitchFamily="18" charset="0"/>
                <a:cs typeface="Times New Roman" pitchFamily="18" charset="0"/>
              </a:rPr>
              <a:t>         S1= { (3,C),  (4,B),  (7,C),  (8,B),  (11,B),  (12,B) }</a:t>
            </a:r>
            <a:r>
              <a:rPr lang="zh-CN" altLang="en-US" sz="2400" dirty="0">
                <a:solidFill>
                  <a:srgbClr val="0070C0"/>
                </a:solidFill>
                <a:latin typeface="Times New Roman" pitchFamily="18" charset="0"/>
                <a:cs typeface="Times New Roman" pitchFamily="18" charset="0"/>
              </a:rPr>
              <a:t>（男性）</a:t>
            </a:r>
            <a:endParaRPr lang="en-US" altLang="zh-CN" sz="2400" dirty="0">
              <a:solidFill>
                <a:srgbClr val="0070C0"/>
              </a:solidFill>
              <a:latin typeface="Times New Roman" pitchFamily="18" charset="0"/>
              <a:cs typeface="Times New Roman" pitchFamily="18" charset="0"/>
            </a:endParaRPr>
          </a:p>
          <a:p>
            <a:pPr>
              <a:lnSpc>
                <a:spcPct val="120000"/>
              </a:lnSpc>
              <a:buFont typeface="Wingdings" pitchFamily="2" charset="2"/>
              <a:buNone/>
            </a:pPr>
            <a:r>
              <a:rPr lang="en-US" altLang="zh-CN" sz="2400" dirty="0">
                <a:solidFill>
                  <a:srgbClr val="0070C0"/>
                </a:solidFill>
                <a:latin typeface="Times New Roman" pitchFamily="18" charset="0"/>
                <a:cs typeface="Times New Roman" pitchFamily="18" charset="0"/>
              </a:rPr>
              <a:t>         S2= { (1,C),  (2,C),  (5,A),  (6,A),  (9,A),  (10,A) }</a:t>
            </a:r>
          </a:p>
          <a:p>
            <a:pPr>
              <a:lnSpc>
                <a:spcPct val="120000"/>
              </a:lnSpc>
              <a:buFont typeface="Wingdings" pitchFamily="2" charset="2"/>
              <a:buNone/>
            </a:pPr>
            <a:r>
              <a:rPr lang="en-US" altLang="zh-CN" sz="2400" dirty="0">
                <a:solidFill>
                  <a:srgbClr val="0070C0"/>
                </a:solidFill>
                <a:latin typeface="Times New Roman" pitchFamily="18" charset="0"/>
                <a:cs typeface="Times New Roman" pitchFamily="18" charset="0"/>
              </a:rPr>
              <a:t>     </a:t>
            </a:r>
            <a:r>
              <a:rPr lang="zh-CN" altLang="en-US" sz="2400" dirty="0">
                <a:solidFill>
                  <a:srgbClr val="0070C0"/>
                </a:solidFill>
                <a:latin typeface="Times New Roman" pitchFamily="18" charset="0"/>
                <a:cs typeface="Times New Roman" pitchFamily="18" charset="0"/>
              </a:rPr>
              <a:t>（女性）</a:t>
            </a:r>
            <a:endParaRPr lang="en-US" altLang="zh-CN" sz="2400" dirty="0">
              <a:solidFill>
                <a:srgbClr val="0070C0"/>
              </a:solidFill>
              <a:latin typeface="Times New Roman" pitchFamily="18" charset="0"/>
              <a:cs typeface="Times New Roman" pitchFamily="18" charset="0"/>
            </a:endParaRPr>
          </a:p>
          <a:p>
            <a:pPr>
              <a:lnSpc>
                <a:spcPct val="150000"/>
              </a:lnSpc>
              <a:buFont typeface="Wingdings" pitchFamily="2" charset="2"/>
              <a:buNone/>
            </a:pPr>
            <a:r>
              <a:rPr lang="en-US" altLang="zh-CN" sz="2400" dirty="0">
                <a:solidFill>
                  <a:srgbClr val="0070C0"/>
                </a:solidFill>
                <a:latin typeface="+mn-ea"/>
              </a:rPr>
              <a:t>  </a:t>
            </a:r>
            <a:r>
              <a:rPr lang="zh-CN" altLang="en-US" sz="2400" dirty="0">
                <a:solidFill>
                  <a:srgbClr val="0070C0"/>
                </a:solidFill>
                <a:latin typeface="+mn-ea"/>
              </a:rPr>
              <a:t>于是，我们得到以性别作为根节点的部分决策树（见下图）。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blinds(horizontal)">
                                      <p:cBhvr>
                                        <p:cTn id="7" dur="500"/>
                                        <p:tgtEl>
                                          <p:spTgt spid="3584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5843">
                                            <p:txEl>
                                              <p:pRg st="1" end="1"/>
                                            </p:txEl>
                                          </p:spTgt>
                                        </p:tgtEl>
                                        <p:attrNameLst>
                                          <p:attrName>style.visibility</p:attrName>
                                        </p:attrNameLst>
                                      </p:cBhvr>
                                      <p:to>
                                        <p:strVal val="visible"/>
                                      </p:to>
                                    </p:set>
                                    <p:animEffect transition="in" filter="blinds(horizontal)">
                                      <p:cBhvr>
                                        <p:cTn id="10" dur="500"/>
                                        <p:tgtEl>
                                          <p:spTgt spid="3584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5843">
                                            <p:txEl>
                                              <p:pRg st="2" end="2"/>
                                            </p:txEl>
                                          </p:spTgt>
                                        </p:tgtEl>
                                        <p:attrNameLst>
                                          <p:attrName>style.visibility</p:attrName>
                                        </p:attrNameLst>
                                      </p:cBhvr>
                                      <p:to>
                                        <p:strVal val="visible"/>
                                      </p:to>
                                    </p:set>
                                    <p:animEffect transition="in" filter="blinds(horizontal)">
                                      <p:cBhvr>
                                        <p:cTn id="13" dur="500"/>
                                        <p:tgtEl>
                                          <p:spTgt spid="3584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5843">
                                            <p:txEl>
                                              <p:pRg st="3" end="3"/>
                                            </p:txEl>
                                          </p:spTgt>
                                        </p:tgtEl>
                                        <p:attrNameLst>
                                          <p:attrName>style.visibility</p:attrName>
                                        </p:attrNameLst>
                                      </p:cBhvr>
                                      <p:to>
                                        <p:strVal val="visible"/>
                                      </p:to>
                                    </p:set>
                                    <p:animEffect transition="in" filter="blinds(horizontal)">
                                      <p:cBhvr>
                                        <p:cTn id="16" dur="500"/>
                                        <p:tgtEl>
                                          <p:spTgt spid="35843">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5843">
                                            <p:txEl>
                                              <p:pRg st="4" end="4"/>
                                            </p:txEl>
                                          </p:spTgt>
                                        </p:tgtEl>
                                        <p:attrNameLst>
                                          <p:attrName>style.visibility</p:attrName>
                                        </p:attrNameLst>
                                      </p:cBhvr>
                                      <p:to>
                                        <p:strVal val="visible"/>
                                      </p:to>
                                    </p:set>
                                    <p:animEffect transition="in" filter="blinds(horizontal)">
                                      <p:cBhvr>
                                        <p:cTn id="19" dur="500"/>
                                        <p:tgtEl>
                                          <p:spTgt spid="358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857224" y="642918"/>
            <a:ext cx="2470150" cy="457200"/>
          </a:xfrm>
          <a:prstGeom prst="rect">
            <a:avLst/>
          </a:prstGeom>
          <a:noFill/>
          <a:ln w="9525">
            <a:noFill/>
            <a:miter lim="800000"/>
            <a:headEnd/>
            <a:tailEnd/>
          </a:ln>
          <a:effectLst/>
        </p:spPr>
        <p:txBody>
          <a:bodyPr wrap="none">
            <a:spAutoFit/>
          </a:bodyPr>
          <a:lstStyle/>
          <a:p>
            <a:r>
              <a:rPr kumimoji="1" lang="en-US" altLang="zh-CN" sz="2400" dirty="0">
                <a:latin typeface="方正姚体" pitchFamily="2" charset="-122"/>
                <a:ea typeface="方正姚体" pitchFamily="2" charset="-122"/>
              </a:rPr>
              <a:t> </a:t>
            </a:r>
            <a:r>
              <a:rPr kumimoji="1" lang="zh-CN" altLang="en-US" sz="2400" dirty="0">
                <a:solidFill>
                  <a:srgbClr val="0070C0"/>
                </a:solidFill>
                <a:latin typeface="方正姚体" pitchFamily="2" charset="-122"/>
                <a:ea typeface="方正姚体" pitchFamily="2" charset="-122"/>
              </a:rPr>
              <a:t>决策树生成过程 </a:t>
            </a:r>
          </a:p>
        </p:txBody>
      </p:sp>
      <p:pic>
        <p:nvPicPr>
          <p:cNvPr id="102401" name="Picture 1" descr="E:\人工智能导论\085054-01 人工智能导论(图)\tu\RG8-11a.tif"/>
          <p:cNvPicPr>
            <a:picLocks noChangeAspect="1" noChangeArrowheads="1"/>
          </p:cNvPicPr>
          <p:nvPr/>
        </p:nvPicPr>
        <p:blipFill>
          <a:blip r:embed="rId2"/>
          <a:srcRect/>
          <a:stretch>
            <a:fillRect/>
          </a:stretch>
        </p:blipFill>
        <p:spPr bwMode="auto">
          <a:xfrm>
            <a:off x="1000100" y="1500174"/>
            <a:ext cx="7215238" cy="3786214"/>
          </a:xfrm>
          <a:prstGeom prst="rect">
            <a:avLst/>
          </a:prstGeom>
          <a:noFill/>
        </p:spPr>
      </p:pic>
      <p:sp>
        <p:nvSpPr>
          <p:cNvPr id="2" name="文本框 1">
            <a:extLst>
              <a:ext uri="{FF2B5EF4-FFF2-40B4-BE49-F238E27FC236}">
                <a16:creationId xmlns:a16="http://schemas.microsoft.com/office/drawing/2014/main" id="{0639D540-E5F4-7931-4794-24E657D2AA7C}"/>
              </a:ext>
            </a:extLst>
          </p:cNvPr>
          <p:cNvSpPr txBox="1"/>
          <p:nvPr/>
        </p:nvSpPr>
        <p:spPr>
          <a:xfrm>
            <a:off x="5796136" y="2435671"/>
            <a:ext cx="1080120" cy="923330"/>
          </a:xfrm>
          <a:prstGeom prst="rect">
            <a:avLst/>
          </a:prstGeom>
          <a:noFill/>
        </p:spPr>
        <p:txBody>
          <a:bodyPr wrap="square" rtlCol="0">
            <a:spAutoFit/>
          </a:bodyPr>
          <a:lstStyle/>
          <a:p>
            <a:r>
              <a:rPr lang="zh-CN" altLang="en-US" b="1" dirty="0">
                <a:solidFill>
                  <a:srgbClr val="FF0000"/>
                </a:solidFill>
              </a:rPr>
              <a:t>按性别分成两个子集</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743844" y="556732"/>
            <a:ext cx="2470150" cy="457200"/>
          </a:xfrm>
          <a:prstGeom prst="rect">
            <a:avLst/>
          </a:prstGeom>
          <a:noFill/>
          <a:ln w="9525">
            <a:noFill/>
            <a:miter lim="800000"/>
            <a:headEnd/>
            <a:tailEnd/>
          </a:ln>
          <a:effectLst/>
        </p:spPr>
        <p:txBody>
          <a:bodyPr wrap="none">
            <a:spAutoFit/>
          </a:bodyPr>
          <a:lstStyle/>
          <a:p>
            <a:r>
              <a:rPr kumimoji="1" lang="en-US" altLang="zh-CN" sz="2400" dirty="0">
                <a:latin typeface="Times New Roman" pitchFamily="18" charset="0"/>
              </a:rPr>
              <a:t> </a:t>
            </a:r>
            <a:r>
              <a:rPr kumimoji="1" lang="zh-CN" altLang="en-US" sz="2400" dirty="0">
                <a:solidFill>
                  <a:srgbClr val="0070C0"/>
                </a:solidFill>
                <a:latin typeface="方正姚体" pitchFamily="2" charset="-122"/>
                <a:ea typeface="方正姚体" pitchFamily="2" charset="-122"/>
              </a:rPr>
              <a:t>决策树生成过程 </a:t>
            </a:r>
          </a:p>
        </p:txBody>
      </p:sp>
      <p:pic>
        <p:nvPicPr>
          <p:cNvPr id="102402" name="Picture 2" descr="E:\人工智能导论\085054-01 人工智能导论(图)\tu\RG8-11b.tif"/>
          <p:cNvPicPr>
            <a:picLocks noChangeAspect="1" noChangeArrowheads="1"/>
          </p:cNvPicPr>
          <p:nvPr/>
        </p:nvPicPr>
        <p:blipFill>
          <a:blip r:embed="rId2"/>
          <a:srcRect/>
          <a:stretch>
            <a:fillRect/>
          </a:stretch>
        </p:blipFill>
        <p:spPr bwMode="auto">
          <a:xfrm>
            <a:off x="1000100" y="1285860"/>
            <a:ext cx="7215238" cy="4929222"/>
          </a:xfrm>
          <a:prstGeom prst="rect">
            <a:avLst/>
          </a:prstGeom>
          <a:noFill/>
        </p:spPr>
      </p:pic>
      <p:sp>
        <p:nvSpPr>
          <p:cNvPr id="2" name="文本框 1">
            <a:extLst>
              <a:ext uri="{FF2B5EF4-FFF2-40B4-BE49-F238E27FC236}">
                <a16:creationId xmlns:a16="http://schemas.microsoft.com/office/drawing/2014/main" id="{05A20135-52EC-24B7-3BA6-F95476BF4BA2}"/>
              </a:ext>
            </a:extLst>
          </p:cNvPr>
          <p:cNvSpPr txBox="1"/>
          <p:nvPr/>
        </p:nvSpPr>
        <p:spPr>
          <a:xfrm>
            <a:off x="1331640" y="3356992"/>
            <a:ext cx="1080120" cy="923330"/>
          </a:xfrm>
          <a:prstGeom prst="rect">
            <a:avLst/>
          </a:prstGeom>
          <a:noFill/>
        </p:spPr>
        <p:txBody>
          <a:bodyPr wrap="square" rtlCol="0">
            <a:spAutoFit/>
          </a:bodyPr>
          <a:lstStyle/>
          <a:p>
            <a:r>
              <a:rPr lang="zh-CN" altLang="en-US" b="1" dirty="0">
                <a:solidFill>
                  <a:srgbClr val="FF0000"/>
                </a:solidFill>
              </a:rPr>
              <a:t>按年龄分成两个子集</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3"/>
          <p:cNvSpPr txBox="1">
            <a:spLocks noChangeArrowheads="1"/>
          </p:cNvSpPr>
          <p:nvPr/>
        </p:nvSpPr>
        <p:spPr bwMode="auto">
          <a:xfrm>
            <a:off x="743844" y="529538"/>
            <a:ext cx="2470150" cy="457200"/>
          </a:xfrm>
          <a:prstGeom prst="rect">
            <a:avLst/>
          </a:prstGeom>
          <a:noFill/>
          <a:ln w="9525">
            <a:noFill/>
            <a:miter lim="800000"/>
            <a:headEnd/>
            <a:tailEnd/>
          </a:ln>
          <a:effectLst/>
        </p:spPr>
        <p:txBody>
          <a:bodyPr wrap="none">
            <a:spAutoFit/>
          </a:bodyPr>
          <a:lstStyle/>
          <a:p>
            <a:r>
              <a:rPr kumimoji="1" lang="en-US" altLang="zh-CN" sz="2400" dirty="0">
                <a:latin typeface="方正姚体" pitchFamily="2" charset="-122"/>
                <a:ea typeface="方正姚体" pitchFamily="2" charset="-122"/>
              </a:rPr>
              <a:t> </a:t>
            </a:r>
            <a:r>
              <a:rPr kumimoji="1" lang="zh-CN" altLang="en-US" sz="2400" dirty="0">
                <a:solidFill>
                  <a:srgbClr val="0070C0"/>
                </a:solidFill>
                <a:latin typeface="方正姚体" pitchFamily="2" charset="-122"/>
                <a:ea typeface="方正姚体" pitchFamily="2" charset="-122"/>
              </a:rPr>
              <a:t>决策树生成过程 </a:t>
            </a:r>
          </a:p>
        </p:txBody>
      </p:sp>
      <p:pic>
        <p:nvPicPr>
          <p:cNvPr id="101377" name="Picture 1" descr="E:\人工智能导论\085054-01 人工智能导论(图)\tu\RG8-11c.tif"/>
          <p:cNvPicPr>
            <a:picLocks noChangeAspect="1" noChangeArrowheads="1"/>
          </p:cNvPicPr>
          <p:nvPr/>
        </p:nvPicPr>
        <p:blipFill>
          <a:blip r:embed="rId2"/>
          <a:srcRect/>
          <a:stretch>
            <a:fillRect/>
          </a:stretch>
        </p:blipFill>
        <p:spPr bwMode="auto">
          <a:xfrm>
            <a:off x="1000100" y="1214422"/>
            <a:ext cx="7286676" cy="5000660"/>
          </a:xfrm>
          <a:prstGeom prst="rect">
            <a:avLst/>
          </a:prstGeom>
          <a:noFill/>
        </p:spPr>
      </p:pic>
      <p:sp>
        <p:nvSpPr>
          <p:cNvPr id="2" name="文本框 1">
            <a:extLst>
              <a:ext uri="{FF2B5EF4-FFF2-40B4-BE49-F238E27FC236}">
                <a16:creationId xmlns:a16="http://schemas.microsoft.com/office/drawing/2014/main" id="{1A7FF2A2-14A7-D597-E66D-B79F90EE3082}"/>
              </a:ext>
            </a:extLst>
          </p:cNvPr>
          <p:cNvSpPr txBox="1"/>
          <p:nvPr/>
        </p:nvSpPr>
        <p:spPr>
          <a:xfrm>
            <a:off x="1907704" y="5649416"/>
            <a:ext cx="1800200" cy="646331"/>
          </a:xfrm>
          <a:prstGeom prst="rect">
            <a:avLst/>
          </a:prstGeom>
          <a:noFill/>
        </p:spPr>
        <p:txBody>
          <a:bodyPr wrap="square" rtlCol="0">
            <a:spAutoFit/>
          </a:bodyPr>
          <a:lstStyle/>
          <a:p>
            <a:r>
              <a:rPr lang="zh-CN" altLang="en-US" b="1" dirty="0">
                <a:solidFill>
                  <a:srgbClr val="FF0000"/>
                </a:solidFill>
              </a:rPr>
              <a:t>类别相同的合并，不相同继续划分</a:t>
            </a:r>
          </a:p>
        </p:txBody>
      </p:sp>
      <p:sp>
        <p:nvSpPr>
          <p:cNvPr id="3" name="箭头: 右 2">
            <a:extLst>
              <a:ext uri="{FF2B5EF4-FFF2-40B4-BE49-F238E27FC236}">
                <a16:creationId xmlns:a16="http://schemas.microsoft.com/office/drawing/2014/main" id="{A3C34C9B-9800-AABC-CCD1-73B999A5B32F}"/>
              </a:ext>
            </a:extLst>
          </p:cNvPr>
          <p:cNvSpPr/>
          <p:nvPr/>
        </p:nvSpPr>
        <p:spPr>
          <a:xfrm rot="16200000">
            <a:off x="2591780" y="5219244"/>
            <a:ext cx="432048" cy="3600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Text Box 3"/>
          <p:cNvSpPr txBox="1">
            <a:spLocks noChangeArrowheads="1"/>
          </p:cNvSpPr>
          <p:nvPr/>
        </p:nvSpPr>
        <p:spPr bwMode="auto">
          <a:xfrm>
            <a:off x="743844" y="544286"/>
            <a:ext cx="2470150" cy="457200"/>
          </a:xfrm>
          <a:prstGeom prst="rect">
            <a:avLst/>
          </a:prstGeom>
          <a:noFill/>
          <a:ln w="9525">
            <a:noFill/>
            <a:miter lim="800000"/>
            <a:headEnd/>
            <a:tailEnd/>
          </a:ln>
          <a:effectLst/>
        </p:spPr>
        <p:txBody>
          <a:bodyPr wrap="none">
            <a:spAutoFit/>
          </a:bodyPr>
          <a:lstStyle/>
          <a:p>
            <a:r>
              <a:rPr kumimoji="1" lang="en-US" altLang="zh-CN" sz="2400" dirty="0">
                <a:latin typeface="Times New Roman" pitchFamily="18" charset="0"/>
              </a:rPr>
              <a:t> </a:t>
            </a:r>
            <a:r>
              <a:rPr kumimoji="1" lang="zh-CN" altLang="en-US" sz="2400" dirty="0">
                <a:solidFill>
                  <a:srgbClr val="0070C0"/>
                </a:solidFill>
                <a:latin typeface="方正姚体" pitchFamily="2" charset="-122"/>
                <a:ea typeface="方正姚体" pitchFamily="2" charset="-122"/>
              </a:rPr>
              <a:t>决策树生成过程 </a:t>
            </a:r>
          </a:p>
        </p:txBody>
      </p:sp>
      <p:pic>
        <p:nvPicPr>
          <p:cNvPr id="48129" name="Picture 1" descr="E:\人工智能导论\085054-01 人工智能导论(图)\tu\RG8-11d.tif"/>
          <p:cNvPicPr>
            <a:picLocks noChangeAspect="1" noChangeArrowheads="1"/>
          </p:cNvPicPr>
          <p:nvPr/>
        </p:nvPicPr>
        <p:blipFill>
          <a:blip r:embed="rId2"/>
          <a:srcRect/>
          <a:stretch>
            <a:fillRect/>
          </a:stretch>
        </p:blipFill>
        <p:spPr bwMode="auto">
          <a:xfrm>
            <a:off x="857224" y="1142984"/>
            <a:ext cx="7643866" cy="5143536"/>
          </a:xfrm>
          <a:prstGeom prst="rect">
            <a:avLst/>
          </a:prstGeom>
          <a:noFill/>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857224" y="714356"/>
            <a:ext cx="2774950" cy="457200"/>
          </a:xfrm>
          <a:prstGeom prst="rect">
            <a:avLst/>
          </a:prstGeom>
          <a:noFill/>
          <a:ln w="9525">
            <a:noFill/>
            <a:miter lim="800000"/>
            <a:headEnd/>
            <a:tailEnd/>
          </a:ln>
          <a:effectLst/>
        </p:spPr>
        <p:txBody>
          <a:bodyPr wrap="none">
            <a:spAutoFit/>
          </a:bodyPr>
          <a:lstStyle/>
          <a:p>
            <a:r>
              <a:rPr kumimoji="1" lang="zh-CN" altLang="en-US" sz="2400" dirty="0">
                <a:solidFill>
                  <a:srgbClr val="0070C0"/>
                </a:solidFill>
                <a:latin typeface="方正姚体" pitchFamily="2" charset="-122"/>
                <a:ea typeface="方正姚体" pitchFamily="2" charset="-122"/>
              </a:rPr>
              <a:t>最后生成的 决策树 </a:t>
            </a:r>
          </a:p>
        </p:txBody>
      </p:sp>
      <p:pic>
        <p:nvPicPr>
          <p:cNvPr id="47105" name="Picture 1" descr="E:\人工智能导论\085054-01 人工智能导论(图)\tu\RG8-11e.tif"/>
          <p:cNvPicPr>
            <a:picLocks noChangeAspect="1" noChangeArrowheads="1"/>
          </p:cNvPicPr>
          <p:nvPr/>
        </p:nvPicPr>
        <p:blipFill>
          <a:blip r:embed="rId2"/>
          <a:srcRect/>
          <a:stretch>
            <a:fillRect/>
          </a:stretch>
        </p:blipFill>
        <p:spPr bwMode="auto">
          <a:xfrm>
            <a:off x="1000100" y="1428736"/>
            <a:ext cx="7215238" cy="4429156"/>
          </a:xfrm>
          <a:prstGeom prst="rect">
            <a:avLst/>
          </a:prstGeom>
          <a:noFill/>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Rectangle 3"/>
          <p:cNvSpPr>
            <a:spLocks noGrp="1" noRot="1" noChangeArrowheads="1"/>
          </p:cNvSpPr>
          <p:nvPr>
            <p:ph type="body" idx="1"/>
          </p:nvPr>
        </p:nvSpPr>
        <p:spPr>
          <a:xfrm>
            <a:off x="642910" y="495438"/>
            <a:ext cx="8208962" cy="5329237"/>
          </a:xfrm>
        </p:spPr>
        <p:txBody>
          <a:bodyPr/>
          <a:lstStyle/>
          <a:p>
            <a:pPr>
              <a:lnSpc>
                <a:spcPct val="150000"/>
              </a:lnSpc>
              <a:buFont typeface="Wingdings" pitchFamily="2" charset="2"/>
              <a:buNone/>
            </a:pPr>
            <a:r>
              <a:rPr lang="en-US" altLang="zh-CN" dirty="0">
                <a:latin typeface="仿宋_GB2312" pitchFamily="49" charset="-122"/>
                <a:ea typeface="仿宋_GB2312" pitchFamily="49" charset="-122"/>
              </a:rPr>
              <a:t>   </a:t>
            </a:r>
            <a:r>
              <a:rPr lang="zh-CN" altLang="en-US" sz="2400" dirty="0">
                <a:solidFill>
                  <a:srgbClr val="0070C0"/>
                </a:solidFill>
                <a:latin typeface="+mn-ea"/>
              </a:rPr>
              <a:t>由决策树所得的规则集：</a:t>
            </a:r>
          </a:p>
          <a:p>
            <a:pPr>
              <a:lnSpc>
                <a:spcPct val="120000"/>
              </a:lnSpc>
              <a:buFont typeface="Wingdings" pitchFamily="2" charset="2"/>
              <a:buNone/>
            </a:pPr>
            <a:r>
              <a:rPr lang="zh-CN" altLang="en-US" sz="2400" dirty="0">
                <a:solidFill>
                  <a:srgbClr val="0070C0"/>
                </a:solidFill>
                <a:latin typeface="方正姚体" pitchFamily="2" charset="-122"/>
                <a:ea typeface="方正姚体" pitchFamily="2" charset="-122"/>
              </a:rPr>
              <a:t>① 女性且年龄在</a:t>
            </a:r>
            <a:r>
              <a:rPr lang="en-US" altLang="zh-CN" sz="2400" dirty="0">
                <a:solidFill>
                  <a:srgbClr val="0070C0"/>
                </a:solidFill>
                <a:latin typeface="方正姚体" pitchFamily="2" charset="-122"/>
                <a:ea typeface="方正姚体" pitchFamily="2" charset="-122"/>
              </a:rPr>
              <a:t>25</a:t>
            </a:r>
            <a:r>
              <a:rPr lang="zh-CN" altLang="en-US" sz="2400" dirty="0">
                <a:solidFill>
                  <a:srgbClr val="0070C0"/>
                </a:solidFill>
                <a:latin typeface="方正姚体" pitchFamily="2" charset="-122"/>
                <a:ea typeface="方正姚体" pitchFamily="2" charset="-122"/>
              </a:rPr>
              <a:t>岁以上，则给予</a:t>
            </a:r>
            <a:r>
              <a:rPr lang="en-US" altLang="zh-CN" sz="2400" dirty="0">
                <a:solidFill>
                  <a:srgbClr val="0070C0"/>
                </a:solidFill>
                <a:latin typeface="方正姚体" pitchFamily="2" charset="-122"/>
                <a:ea typeface="方正姚体" pitchFamily="2" charset="-122"/>
              </a:rPr>
              <a:t>A</a:t>
            </a:r>
            <a:r>
              <a:rPr lang="zh-CN" altLang="en-US" sz="2400" dirty="0">
                <a:solidFill>
                  <a:srgbClr val="0070C0"/>
                </a:solidFill>
                <a:latin typeface="方正姚体" pitchFamily="2" charset="-122"/>
                <a:ea typeface="方正姚体" pitchFamily="2" charset="-122"/>
              </a:rPr>
              <a:t>类保险；</a:t>
            </a:r>
          </a:p>
          <a:p>
            <a:pPr>
              <a:lnSpc>
                <a:spcPct val="120000"/>
              </a:lnSpc>
              <a:buFont typeface="Wingdings" pitchFamily="2" charset="2"/>
              <a:buNone/>
            </a:pPr>
            <a:r>
              <a:rPr lang="zh-CN" altLang="en-US" sz="2400" dirty="0">
                <a:solidFill>
                  <a:srgbClr val="0070C0"/>
                </a:solidFill>
                <a:latin typeface="方正姚体" pitchFamily="2" charset="-122"/>
                <a:ea typeface="方正姚体" pitchFamily="2" charset="-122"/>
              </a:rPr>
              <a:t>② 女性且年龄在</a:t>
            </a:r>
            <a:r>
              <a:rPr lang="en-US" altLang="zh-CN" sz="2400" dirty="0">
                <a:solidFill>
                  <a:srgbClr val="0070C0"/>
                </a:solidFill>
                <a:latin typeface="方正姚体" pitchFamily="2" charset="-122"/>
                <a:ea typeface="方正姚体" pitchFamily="2" charset="-122"/>
              </a:rPr>
              <a:t>21</a:t>
            </a:r>
            <a:r>
              <a:rPr lang="zh-CN" altLang="en-US" sz="2400" dirty="0">
                <a:solidFill>
                  <a:srgbClr val="0070C0"/>
                </a:solidFill>
                <a:latin typeface="方正姚体" pitchFamily="2" charset="-122"/>
                <a:ea typeface="方正姚体" pitchFamily="2" charset="-122"/>
              </a:rPr>
              <a:t>岁到</a:t>
            </a:r>
            <a:r>
              <a:rPr lang="en-US" altLang="zh-CN" sz="2400" dirty="0">
                <a:solidFill>
                  <a:srgbClr val="0070C0"/>
                </a:solidFill>
                <a:latin typeface="方正姚体" pitchFamily="2" charset="-122"/>
                <a:ea typeface="方正姚体" pitchFamily="2" charset="-122"/>
              </a:rPr>
              <a:t>25</a:t>
            </a:r>
            <a:r>
              <a:rPr lang="zh-CN" altLang="en-US" sz="2400" dirty="0">
                <a:solidFill>
                  <a:srgbClr val="0070C0"/>
                </a:solidFill>
                <a:latin typeface="方正姚体" pitchFamily="2" charset="-122"/>
                <a:ea typeface="方正姚体" pitchFamily="2" charset="-122"/>
              </a:rPr>
              <a:t>岁之间，则给予</a:t>
            </a:r>
            <a:r>
              <a:rPr lang="en-US" altLang="zh-CN" sz="2400" dirty="0">
                <a:solidFill>
                  <a:srgbClr val="0070C0"/>
                </a:solidFill>
                <a:latin typeface="方正姚体" pitchFamily="2" charset="-122"/>
                <a:ea typeface="方正姚体" pitchFamily="2" charset="-122"/>
              </a:rPr>
              <a:t>A</a:t>
            </a:r>
            <a:r>
              <a:rPr lang="zh-CN" altLang="en-US" sz="2400" dirty="0">
                <a:solidFill>
                  <a:srgbClr val="0070C0"/>
                </a:solidFill>
                <a:latin typeface="方正姚体" pitchFamily="2" charset="-122"/>
                <a:ea typeface="方正姚体" pitchFamily="2" charset="-122"/>
              </a:rPr>
              <a:t>类保险；</a:t>
            </a:r>
          </a:p>
          <a:p>
            <a:pPr>
              <a:lnSpc>
                <a:spcPct val="120000"/>
              </a:lnSpc>
              <a:buFont typeface="Wingdings" pitchFamily="2" charset="2"/>
              <a:buNone/>
            </a:pPr>
            <a:r>
              <a:rPr lang="zh-CN" altLang="en-US" sz="2400" dirty="0">
                <a:solidFill>
                  <a:srgbClr val="0070C0"/>
                </a:solidFill>
                <a:latin typeface="方正姚体" pitchFamily="2" charset="-122"/>
                <a:ea typeface="方正姚体" pitchFamily="2" charset="-122"/>
              </a:rPr>
              <a:t>③ 女性且年龄在</a:t>
            </a:r>
            <a:r>
              <a:rPr lang="en-US" altLang="zh-CN" sz="2400" dirty="0">
                <a:solidFill>
                  <a:srgbClr val="0070C0"/>
                </a:solidFill>
                <a:latin typeface="方正姚体" pitchFamily="2" charset="-122"/>
                <a:ea typeface="方正姚体" pitchFamily="2" charset="-122"/>
              </a:rPr>
              <a:t>21</a:t>
            </a:r>
            <a:r>
              <a:rPr lang="zh-CN" altLang="en-US" sz="2400" dirty="0">
                <a:solidFill>
                  <a:srgbClr val="0070C0"/>
                </a:solidFill>
                <a:latin typeface="方正姚体" pitchFamily="2" charset="-122"/>
                <a:ea typeface="方正姚体" pitchFamily="2" charset="-122"/>
              </a:rPr>
              <a:t>岁以下，则给予</a:t>
            </a:r>
            <a:r>
              <a:rPr lang="en-US" altLang="zh-CN" sz="2400" dirty="0">
                <a:solidFill>
                  <a:srgbClr val="0070C0"/>
                </a:solidFill>
                <a:latin typeface="方正姚体" pitchFamily="2" charset="-122"/>
                <a:ea typeface="方正姚体" pitchFamily="2" charset="-122"/>
              </a:rPr>
              <a:t>C</a:t>
            </a:r>
            <a:r>
              <a:rPr lang="zh-CN" altLang="en-US" sz="2400" dirty="0">
                <a:solidFill>
                  <a:srgbClr val="0070C0"/>
                </a:solidFill>
                <a:latin typeface="方正姚体" pitchFamily="2" charset="-122"/>
                <a:ea typeface="方正姚体" pitchFamily="2" charset="-122"/>
              </a:rPr>
              <a:t>类保险；</a:t>
            </a:r>
          </a:p>
          <a:p>
            <a:pPr>
              <a:lnSpc>
                <a:spcPct val="120000"/>
              </a:lnSpc>
              <a:buFont typeface="Wingdings" pitchFamily="2" charset="2"/>
              <a:buNone/>
            </a:pPr>
            <a:r>
              <a:rPr lang="zh-CN" altLang="en-US" sz="2400" dirty="0">
                <a:solidFill>
                  <a:srgbClr val="0070C0"/>
                </a:solidFill>
                <a:latin typeface="方正姚体" pitchFamily="2" charset="-122"/>
                <a:ea typeface="方正姚体" pitchFamily="2" charset="-122"/>
              </a:rPr>
              <a:t>④ 男性且年龄在</a:t>
            </a:r>
            <a:r>
              <a:rPr lang="en-US" altLang="zh-CN" sz="2400" dirty="0">
                <a:solidFill>
                  <a:srgbClr val="0070C0"/>
                </a:solidFill>
                <a:latin typeface="方正姚体" pitchFamily="2" charset="-122"/>
                <a:ea typeface="方正姚体" pitchFamily="2" charset="-122"/>
              </a:rPr>
              <a:t>25</a:t>
            </a:r>
            <a:r>
              <a:rPr lang="zh-CN" altLang="en-US" sz="2400" dirty="0">
                <a:solidFill>
                  <a:srgbClr val="0070C0"/>
                </a:solidFill>
                <a:latin typeface="方正姚体" pitchFamily="2" charset="-122"/>
                <a:ea typeface="方正姚体" pitchFamily="2" charset="-122"/>
              </a:rPr>
              <a:t>岁以上，则给予</a:t>
            </a:r>
            <a:r>
              <a:rPr lang="en-US" altLang="zh-CN" sz="2400" dirty="0">
                <a:solidFill>
                  <a:srgbClr val="0070C0"/>
                </a:solidFill>
                <a:latin typeface="方正姚体" pitchFamily="2" charset="-122"/>
                <a:ea typeface="方正姚体" pitchFamily="2" charset="-122"/>
              </a:rPr>
              <a:t>B</a:t>
            </a:r>
            <a:r>
              <a:rPr lang="zh-CN" altLang="en-US" sz="2400" dirty="0">
                <a:solidFill>
                  <a:srgbClr val="0070C0"/>
                </a:solidFill>
                <a:latin typeface="方正姚体" pitchFamily="2" charset="-122"/>
                <a:ea typeface="方正姚体" pitchFamily="2" charset="-122"/>
              </a:rPr>
              <a:t>类保险；</a:t>
            </a:r>
          </a:p>
          <a:p>
            <a:pPr>
              <a:lnSpc>
                <a:spcPct val="120000"/>
              </a:lnSpc>
              <a:buFont typeface="Wingdings" pitchFamily="2" charset="2"/>
              <a:buNone/>
            </a:pPr>
            <a:r>
              <a:rPr lang="zh-CN" altLang="en-US" sz="2400" dirty="0">
                <a:solidFill>
                  <a:srgbClr val="0070C0"/>
                </a:solidFill>
                <a:latin typeface="方正姚体" pitchFamily="2" charset="-122"/>
                <a:ea typeface="方正姚体" pitchFamily="2" charset="-122"/>
              </a:rPr>
              <a:t>⑤ 男性且年龄在</a:t>
            </a:r>
            <a:r>
              <a:rPr lang="en-US" altLang="zh-CN" sz="2400" dirty="0">
                <a:solidFill>
                  <a:srgbClr val="0070C0"/>
                </a:solidFill>
                <a:latin typeface="方正姚体" pitchFamily="2" charset="-122"/>
                <a:ea typeface="方正姚体" pitchFamily="2" charset="-122"/>
              </a:rPr>
              <a:t>21</a:t>
            </a:r>
            <a:r>
              <a:rPr lang="zh-CN" altLang="en-US" sz="2400" dirty="0">
                <a:solidFill>
                  <a:srgbClr val="0070C0"/>
                </a:solidFill>
                <a:latin typeface="方正姚体" pitchFamily="2" charset="-122"/>
                <a:ea typeface="方正姚体" pitchFamily="2" charset="-122"/>
              </a:rPr>
              <a:t>岁到</a:t>
            </a:r>
            <a:r>
              <a:rPr lang="en-US" altLang="zh-CN" sz="2400" dirty="0">
                <a:solidFill>
                  <a:srgbClr val="0070C0"/>
                </a:solidFill>
                <a:latin typeface="方正姚体" pitchFamily="2" charset="-122"/>
                <a:ea typeface="方正姚体" pitchFamily="2" charset="-122"/>
              </a:rPr>
              <a:t>25</a:t>
            </a:r>
            <a:r>
              <a:rPr lang="zh-CN" altLang="en-US" sz="2400" dirty="0">
                <a:solidFill>
                  <a:srgbClr val="0070C0"/>
                </a:solidFill>
                <a:latin typeface="方正姚体" pitchFamily="2" charset="-122"/>
                <a:ea typeface="方正姚体" pitchFamily="2" charset="-122"/>
              </a:rPr>
              <a:t>岁之间且未婚，则给予</a:t>
            </a:r>
            <a:r>
              <a:rPr lang="en-US" altLang="zh-CN" sz="2400" dirty="0">
                <a:solidFill>
                  <a:srgbClr val="0070C0"/>
                </a:solidFill>
                <a:latin typeface="方正姚体" pitchFamily="2" charset="-122"/>
                <a:ea typeface="方正姚体" pitchFamily="2" charset="-122"/>
              </a:rPr>
              <a:t>C</a:t>
            </a:r>
            <a:r>
              <a:rPr lang="zh-CN" altLang="en-US" sz="2400" dirty="0">
                <a:solidFill>
                  <a:srgbClr val="0070C0"/>
                </a:solidFill>
                <a:latin typeface="方正姚体" pitchFamily="2" charset="-122"/>
                <a:ea typeface="方正姚体" pitchFamily="2" charset="-122"/>
              </a:rPr>
              <a:t>类保险；</a:t>
            </a:r>
          </a:p>
          <a:p>
            <a:pPr>
              <a:lnSpc>
                <a:spcPct val="120000"/>
              </a:lnSpc>
              <a:buFont typeface="Wingdings" pitchFamily="2" charset="2"/>
              <a:buNone/>
            </a:pPr>
            <a:r>
              <a:rPr lang="zh-CN" altLang="en-US" sz="2400" dirty="0">
                <a:solidFill>
                  <a:srgbClr val="0070C0"/>
                </a:solidFill>
                <a:latin typeface="方正姚体" pitchFamily="2" charset="-122"/>
                <a:ea typeface="方正姚体" pitchFamily="2" charset="-122"/>
              </a:rPr>
              <a:t>⑥ 男性且年龄在</a:t>
            </a:r>
            <a:r>
              <a:rPr lang="en-US" altLang="zh-CN" sz="2400" dirty="0">
                <a:solidFill>
                  <a:srgbClr val="0070C0"/>
                </a:solidFill>
                <a:latin typeface="方正姚体" pitchFamily="2" charset="-122"/>
                <a:ea typeface="方正姚体" pitchFamily="2" charset="-122"/>
              </a:rPr>
              <a:t>21</a:t>
            </a:r>
            <a:r>
              <a:rPr lang="zh-CN" altLang="en-US" sz="2400" dirty="0">
                <a:solidFill>
                  <a:srgbClr val="0070C0"/>
                </a:solidFill>
                <a:latin typeface="方正姚体" pitchFamily="2" charset="-122"/>
                <a:ea typeface="方正姚体" pitchFamily="2" charset="-122"/>
              </a:rPr>
              <a:t>岁到</a:t>
            </a:r>
            <a:r>
              <a:rPr lang="en-US" altLang="zh-CN" sz="2400" dirty="0">
                <a:solidFill>
                  <a:srgbClr val="0070C0"/>
                </a:solidFill>
                <a:latin typeface="方正姚体" pitchFamily="2" charset="-122"/>
                <a:ea typeface="方正姚体" pitchFamily="2" charset="-122"/>
              </a:rPr>
              <a:t>25</a:t>
            </a:r>
            <a:r>
              <a:rPr lang="zh-CN" altLang="en-US" sz="2400" dirty="0">
                <a:solidFill>
                  <a:srgbClr val="0070C0"/>
                </a:solidFill>
                <a:latin typeface="方正姚体" pitchFamily="2" charset="-122"/>
                <a:ea typeface="方正姚体" pitchFamily="2" charset="-122"/>
              </a:rPr>
              <a:t>岁之间且已婚，则给予</a:t>
            </a:r>
            <a:r>
              <a:rPr lang="en-US" altLang="zh-CN" sz="2400" dirty="0">
                <a:solidFill>
                  <a:srgbClr val="0070C0"/>
                </a:solidFill>
                <a:latin typeface="方正姚体" pitchFamily="2" charset="-122"/>
                <a:ea typeface="方正姚体" pitchFamily="2" charset="-122"/>
              </a:rPr>
              <a:t>B</a:t>
            </a:r>
            <a:r>
              <a:rPr lang="zh-CN" altLang="en-US" sz="2400" dirty="0">
                <a:solidFill>
                  <a:srgbClr val="0070C0"/>
                </a:solidFill>
                <a:latin typeface="方正姚体" pitchFamily="2" charset="-122"/>
                <a:ea typeface="方正姚体" pitchFamily="2" charset="-122"/>
              </a:rPr>
              <a:t>类保险；</a:t>
            </a:r>
          </a:p>
          <a:p>
            <a:pPr>
              <a:lnSpc>
                <a:spcPct val="120000"/>
              </a:lnSpc>
              <a:buFont typeface="Wingdings" pitchFamily="2" charset="2"/>
              <a:buNone/>
            </a:pPr>
            <a:r>
              <a:rPr lang="zh-CN" altLang="en-US" sz="2400" dirty="0">
                <a:solidFill>
                  <a:srgbClr val="0070C0"/>
                </a:solidFill>
                <a:latin typeface="方正姚体" pitchFamily="2" charset="-122"/>
                <a:ea typeface="方正姚体" pitchFamily="2" charset="-122"/>
              </a:rPr>
              <a:t>⑦ 男性且年龄在</a:t>
            </a:r>
            <a:r>
              <a:rPr lang="en-US" altLang="zh-CN" sz="2400" dirty="0">
                <a:solidFill>
                  <a:srgbClr val="0070C0"/>
                </a:solidFill>
                <a:latin typeface="方正姚体" pitchFamily="2" charset="-122"/>
                <a:ea typeface="方正姚体" pitchFamily="2" charset="-122"/>
              </a:rPr>
              <a:t>21</a:t>
            </a:r>
            <a:r>
              <a:rPr lang="zh-CN" altLang="en-US" sz="2400" dirty="0">
                <a:solidFill>
                  <a:srgbClr val="0070C0"/>
                </a:solidFill>
                <a:latin typeface="方正姚体" pitchFamily="2" charset="-122"/>
                <a:ea typeface="方正姚体" pitchFamily="2" charset="-122"/>
              </a:rPr>
              <a:t>岁以下且未婚，则给予</a:t>
            </a:r>
            <a:r>
              <a:rPr lang="en-US" altLang="zh-CN" sz="2400" dirty="0">
                <a:solidFill>
                  <a:srgbClr val="0070C0"/>
                </a:solidFill>
                <a:latin typeface="方正姚体" pitchFamily="2" charset="-122"/>
                <a:ea typeface="方正姚体" pitchFamily="2" charset="-122"/>
              </a:rPr>
              <a:t>C</a:t>
            </a:r>
            <a:r>
              <a:rPr lang="zh-CN" altLang="en-US" sz="2400" dirty="0">
                <a:solidFill>
                  <a:srgbClr val="0070C0"/>
                </a:solidFill>
                <a:latin typeface="方正姚体" pitchFamily="2" charset="-122"/>
                <a:ea typeface="方正姚体" pitchFamily="2" charset="-122"/>
              </a:rPr>
              <a:t>类保险；</a:t>
            </a:r>
          </a:p>
          <a:p>
            <a:pPr>
              <a:lnSpc>
                <a:spcPct val="120000"/>
              </a:lnSpc>
              <a:buFont typeface="Wingdings" pitchFamily="2" charset="2"/>
              <a:buNone/>
            </a:pPr>
            <a:r>
              <a:rPr lang="zh-CN" altLang="en-US" sz="2400" dirty="0">
                <a:solidFill>
                  <a:srgbClr val="0070C0"/>
                </a:solidFill>
                <a:latin typeface="方正姚体" pitchFamily="2" charset="-122"/>
                <a:ea typeface="方正姚体" pitchFamily="2" charset="-122"/>
              </a:rPr>
              <a:t>⑧ 男性且年龄在</a:t>
            </a:r>
            <a:r>
              <a:rPr lang="en-US" altLang="zh-CN" sz="2400" dirty="0">
                <a:solidFill>
                  <a:srgbClr val="0070C0"/>
                </a:solidFill>
                <a:latin typeface="方正姚体" pitchFamily="2" charset="-122"/>
                <a:ea typeface="方正姚体" pitchFamily="2" charset="-122"/>
              </a:rPr>
              <a:t>21</a:t>
            </a:r>
            <a:r>
              <a:rPr lang="zh-CN" altLang="en-US" sz="2400" dirty="0">
                <a:solidFill>
                  <a:srgbClr val="0070C0"/>
                </a:solidFill>
                <a:latin typeface="方正姚体" pitchFamily="2" charset="-122"/>
                <a:ea typeface="方正姚体" pitchFamily="2" charset="-122"/>
              </a:rPr>
              <a:t>岁以下且已婚，则给予</a:t>
            </a:r>
            <a:r>
              <a:rPr lang="en-US" altLang="zh-CN" sz="2400" dirty="0">
                <a:solidFill>
                  <a:srgbClr val="0070C0"/>
                </a:solidFill>
                <a:latin typeface="方正姚体" pitchFamily="2" charset="-122"/>
                <a:ea typeface="方正姚体" pitchFamily="2" charset="-122"/>
              </a:rPr>
              <a:t>B</a:t>
            </a:r>
            <a:r>
              <a:rPr lang="zh-CN" altLang="en-US" sz="2400" dirty="0">
                <a:solidFill>
                  <a:srgbClr val="0070C0"/>
                </a:solidFill>
                <a:latin typeface="方正姚体" pitchFamily="2" charset="-122"/>
                <a:ea typeface="方正姚体" pitchFamily="2" charset="-122"/>
              </a:rPr>
              <a:t>类保险。</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Rot="1" noChangeArrowheads="1"/>
          </p:cNvSpPr>
          <p:nvPr>
            <p:ph type="body" idx="1"/>
          </p:nvPr>
        </p:nvSpPr>
        <p:spPr>
          <a:xfrm>
            <a:off x="457200" y="692150"/>
            <a:ext cx="7972452" cy="5438775"/>
          </a:xfrm>
        </p:spPr>
        <p:txBody>
          <a:bodyPr/>
          <a:lstStyle/>
          <a:p>
            <a:pPr>
              <a:buFont typeface="Wingdings" pitchFamily="2" charset="2"/>
              <a:buNone/>
            </a:pPr>
            <a:r>
              <a:rPr lang="en-US" altLang="zh-CN" dirty="0"/>
              <a:t>   </a:t>
            </a:r>
            <a:r>
              <a:rPr lang="en-US" altLang="zh-CN" sz="2400" dirty="0">
                <a:solidFill>
                  <a:srgbClr val="0070C0"/>
                </a:solidFill>
                <a:latin typeface="黑体" pitchFamily="49" charset="-122"/>
                <a:ea typeface="黑体" pitchFamily="49" charset="-122"/>
              </a:rPr>
              <a:t>9.3.3</a:t>
            </a:r>
            <a:r>
              <a:rPr lang="en-US" altLang="zh-CN" sz="2400" b="1" dirty="0">
                <a:solidFill>
                  <a:srgbClr val="0070C0"/>
                </a:solidFill>
                <a:latin typeface="黑体" pitchFamily="49" charset="-122"/>
                <a:ea typeface="黑体" pitchFamily="49" charset="-122"/>
              </a:rPr>
              <a:t> </a:t>
            </a:r>
            <a:r>
              <a:rPr lang="en-US" altLang="zh-CN" sz="2400" dirty="0">
                <a:solidFill>
                  <a:srgbClr val="0070C0"/>
                </a:solidFill>
                <a:latin typeface="+mj-lt"/>
                <a:ea typeface="黑体" pitchFamily="49" charset="-122"/>
                <a:cs typeface="Times New Roman" pitchFamily="18" charset="0"/>
              </a:rPr>
              <a:t>ID3</a:t>
            </a:r>
            <a:r>
              <a:rPr lang="zh-CN" altLang="en-US" sz="2400" b="1" dirty="0">
                <a:solidFill>
                  <a:srgbClr val="0070C0"/>
                </a:solidFill>
                <a:latin typeface="Times New Roman" pitchFamily="18" charset="0"/>
                <a:ea typeface="黑体" pitchFamily="49" charset="-122"/>
                <a:cs typeface="Times New Roman" pitchFamily="18" charset="0"/>
              </a:rPr>
              <a:t>算法</a:t>
            </a:r>
            <a:endParaRPr lang="zh-CN" altLang="en-US" sz="2400" dirty="0">
              <a:solidFill>
                <a:srgbClr val="0070C0"/>
              </a:solidFill>
              <a:latin typeface="Times New Roman" pitchFamily="18" charset="0"/>
              <a:ea typeface="黑体" pitchFamily="49" charset="-122"/>
              <a:cs typeface="Times New Roman" pitchFamily="18" charset="0"/>
            </a:endParaRPr>
          </a:p>
          <a:p>
            <a:pPr algn="just">
              <a:lnSpc>
                <a:spcPct val="150000"/>
              </a:lnSpc>
              <a:buFont typeface="Wingdings" pitchFamily="2" charset="2"/>
              <a:buNone/>
            </a:pPr>
            <a:r>
              <a:rPr lang="zh-CN" altLang="en-US" dirty="0">
                <a:latin typeface="Times New Roman" pitchFamily="18" charset="0"/>
                <a:cs typeface="Times New Roman" pitchFamily="18" charset="0"/>
              </a:rPr>
              <a:t>        </a:t>
            </a:r>
            <a:r>
              <a:rPr lang="en-US" altLang="zh-CN" sz="2400" dirty="0">
                <a:solidFill>
                  <a:srgbClr val="0070C0"/>
                </a:solidFill>
                <a:latin typeface="Times New Roman" pitchFamily="18" charset="0"/>
                <a:ea typeface="仿宋_GB2312" pitchFamily="49" charset="-122"/>
                <a:cs typeface="Times New Roman" pitchFamily="18" charset="0"/>
              </a:rPr>
              <a:t>ID3</a:t>
            </a:r>
            <a:r>
              <a:rPr lang="zh-CN" altLang="en-US" sz="2400" dirty="0">
                <a:solidFill>
                  <a:srgbClr val="0070C0"/>
                </a:solidFill>
                <a:latin typeface="Times New Roman" pitchFamily="18" charset="0"/>
                <a:ea typeface="仿宋_GB2312" pitchFamily="49" charset="-122"/>
                <a:cs typeface="Times New Roman" pitchFamily="18" charset="0"/>
              </a:rPr>
              <a:t>算法是一个经典的决策树学习算法，由</a:t>
            </a:r>
            <a:r>
              <a:rPr lang="en-US" altLang="zh-CN" sz="2400" dirty="0">
                <a:solidFill>
                  <a:srgbClr val="0070C0"/>
                </a:solidFill>
                <a:latin typeface="Times New Roman" pitchFamily="18" charset="0"/>
                <a:ea typeface="仿宋_GB2312" pitchFamily="49" charset="-122"/>
                <a:cs typeface="Times New Roman" pitchFamily="18" charset="0"/>
              </a:rPr>
              <a:t>Quinlan</a:t>
            </a:r>
            <a:r>
              <a:rPr lang="zh-CN" altLang="en-US" sz="2400" dirty="0">
                <a:solidFill>
                  <a:srgbClr val="0070C0"/>
                </a:solidFill>
                <a:latin typeface="Times New Roman" pitchFamily="18" charset="0"/>
                <a:ea typeface="仿宋_GB2312" pitchFamily="49" charset="-122"/>
                <a:cs typeface="Times New Roman" pitchFamily="18" charset="0"/>
              </a:rPr>
              <a:t>于</a:t>
            </a:r>
            <a:r>
              <a:rPr lang="en-US" altLang="zh-CN" sz="2400" dirty="0">
                <a:solidFill>
                  <a:srgbClr val="0070C0"/>
                </a:solidFill>
                <a:latin typeface="Times New Roman" pitchFamily="18" charset="0"/>
                <a:ea typeface="仿宋_GB2312" pitchFamily="49" charset="-122"/>
                <a:cs typeface="Times New Roman" pitchFamily="18" charset="0"/>
              </a:rPr>
              <a:t>1979</a:t>
            </a:r>
            <a:r>
              <a:rPr lang="zh-CN" altLang="en-US" sz="2400" dirty="0">
                <a:solidFill>
                  <a:srgbClr val="0070C0"/>
                </a:solidFill>
                <a:latin typeface="Times New Roman" pitchFamily="18" charset="0"/>
                <a:ea typeface="仿宋_GB2312" pitchFamily="49" charset="-122"/>
                <a:cs typeface="Times New Roman" pitchFamily="18" charset="0"/>
              </a:rPr>
              <a:t>年提出。</a:t>
            </a:r>
            <a:r>
              <a:rPr lang="en-US" altLang="zh-CN" sz="2400" dirty="0">
                <a:solidFill>
                  <a:srgbClr val="0070C0"/>
                </a:solidFill>
                <a:latin typeface="Times New Roman" pitchFamily="18" charset="0"/>
                <a:ea typeface="仿宋_GB2312" pitchFamily="49" charset="-122"/>
                <a:cs typeface="Times New Roman" pitchFamily="18" charset="0"/>
              </a:rPr>
              <a:t>ID3</a:t>
            </a:r>
            <a:r>
              <a:rPr lang="zh-CN" altLang="en-US" sz="2400" dirty="0">
                <a:solidFill>
                  <a:srgbClr val="0070C0"/>
                </a:solidFill>
                <a:latin typeface="Times New Roman" pitchFamily="18" charset="0"/>
                <a:ea typeface="仿宋_GB2312" pitchFamily="49" charset="-122"/>
                <a:cs typeface="Times New Roman" pitchFamily="18" charset="0"/>
              </a:rPr>
              <a:t>算法的基本思想是，以信息熵为度量，用于决策树节点的属性选择，每次优先选取信息量最多的属性，亦即能使熵值变成最小的属性，以构造一棵熵值下降最快的决策树，到叶子节点处的熵值为</a:t>
            </a:r>
            <a:r>
              <a:rPr lang="en-US" altLang="zh-CN" sz="2400" dirty="0">
                <a:solidFill>
                  <a:srgbClr val="0070C0"/>
                </a:solidFill>
                <a:latin typeface="Times New Roman" pitchFamily="18" charset="0"/>
                <a:ea typeface="仿宋_GB2312" pitchFamily="49" charset="-122"/>
                <a:cs typeface="Times New Roman" pitchFamily="18" charset="0"/>
              </a:rPr>
              <a:t>0</a:t>
            </a:r>
            <a:r>
              <a:rPr lang="zh-CN" altLang="en-US" sz="2400" dirty="0">
                <a:solidFill>
                  <a:srgbClr val="0070C0"/>
                </a:solidFill>
                <a:latin typeface="Times New Roman" pitchFamily="18" charset="0"/>
                <a:ea typeface="仿宋_GB2312" pitchFamily="49" charset="-122"/>
                <a:cs typeface="Times New Roman" pitchFamily="18" charset="0"/>
              </a:rPr>
              <a:t>。此时，每个叶子节点对应的实例集中的实例属于同一类。</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5" name="Rectangle 3"/>
          <p:cNvSpPr>
            <a:spLocks noGrp="1" noRot="1" noChangeArrowheads="1"/>
          </p:cNvSpPr>
          <p:nvPr>
            <p:ph type="body" sz="half" idx="1"/>
          </p:nvPr>
        </p:nvSpPr>
        <p:spPr>
          <a:xfrm>
            <a:off x="428596" y="348838"/>
            <a:ext cx="8072494" cy="6337300"/>
          </a:xfrm>
        </p:spPr>
        <p:txBody>
          <a:bodyPr/>
          <a:lstStyle/>
          <a:p>
            <a:pPr>
              <a:spcBef>
                <a:spcPts val="0"/>
              </a:spcBef>
              <a:buFont typeface="Wingdings" pitchFamily="2" charset="2"/>
              <a:buNone/>
            </a:pPr>
            <a:r>
              <a:rPr lang="en-US" altLang="zh-CN" sz="2800" dirty="0">
                <a:latin typeface="楷体_GB2312" pitchFamily="49" charset="-122"/>
                <a:ea typeface="楷体_GB2312" pitchFamily="49" charset="-122"/>
              </a:rPr>
              <a:t>  </a:t>
            </a:r>
            <a:r>
              <a:rPr lang="en-US" altLang="zh-CN" sz="2400" dirty="0">
                <a:solidFill>
                  <a:srgbClr val="0070C0"/>
                </a:solidFill>
                <a:latin typeface="楷体_GB2312" pitchFamily="49" charset="-122"/>
                <a:ea typeface="楷体_GB2312" pitchFamily="49" charset="-122"/>
              </a:rPr>
              <a:t>1.</a:t>
            </a:r>
            <a:r>
              <a:rPr lang="zh-CN" altLang="en-US" sz="2400" b="1" dirty="0">
                <a:solidFill>
                  <a:srgbClr val="0070C0"/>
                </a:solidFill>
                <a:latin typeface="楷体" pitchFamily="49" charset="-122"/>
                <a:ea typeface="楷体" pitchFamily="49" charset="-122"/>
              </a:rPr>
              <a:t>信息熵和条件熵</a:t>
            </a:r>
          </a:p>
          <a:p>
            <a:pPr algn="just">
              <a:lnSpc>
                <a:spcPct val="140000"/>
              </a:lnSpc>
              <a:spcBef>
                <a:spcPts val="600"/>
              </a:spcBef>
              <a:buFont typeface="Wingdings" pitchFamily="2" charset="2"/>
              <a:buNone/>
            </a:pPr>
            <a:r>
              <a:rPr kumimoji="1" lang="zh-CN" altLang="en-US" sz="2300" dirty="0">
                <a:latin typeface="仿宋_GB2312" pitchFamily="49" charset="-122"/>
                <a:ea typeface="仿宋_GB2312" pitchFamily="49" charset="-122"/>
              </a:rPr>
              <a:t>     </a:t>
            </a:r>
            <a:r>
              <a:rPr kumimoji="1" lang="zh-CN" altLang="en-US" sz="2300" dirty="0">
                <a:solidFill>
                  <a:srgbClr val="0070C0"/>
                </a:solidFill>
                <a:latin typeface="Times New Roman" pitchFamily="18" charset="0"/>
                <a:ea typeface="仿宋_GB2312" pitchFamily="49" charset="-122"/>
              </a:rPr>
              <a:t>设</a:t>
            </a:r>
            <a:r>
              <a:rPr kumimoji="1" lang="en-US" altLang="zh-CN" sz="2300" i="1" dirty="0">
                <a:solidFill>
                  <a:srgbClr val="0070C0"/>
                </a:solidFill>
                <a:latin typeface="Times New Roman" pitchFamily="18" charset="0"/>
                <a:ea typeface="仿宋_GB2312" pitchFamily="49" charset="-122"/>
              </a:rPr>
              <a:t>S</a:t>
            </a:r>
            <a:r>
              <a:rPr kumimoji="1" lang="zh-CN" altLang="en-US" sz="2300" dirty="0">
                <a:solidFill>
                  <a:srgbClr val="0070C0"/>
                </a:solidFill>
                <a:latin typeface="Times New Roman" pitchFamily="18" charset="0"/>
                <a:ea typeface="仿宋_GB2312" pitchFamily="49" charset="-122"/>
              </a:rPr>
              <a:t>是一个实例集</a:t>
            </a:r>
            <a:r>
              <a:rPr kumimoji="1" lang="en-US" altLang="zh-CN" sz="2300" dirty="0">
                <a:solidFill>
                  <a:srgbClr val="0070C0"/>
                </a:solidFill>
                <a:latin typeface="Times New Roman" pitchFamily="18" charset="0"/>
                <a:ea typeface="仿宋_GB2312" pitchFamily="49" charset="-122"/>
              </a:rPr>
              <a:t>(</a:t>
            </a:r>
            <a:r>
              <a:rPr kumimoji="1" lang="en-US" altLang="zh-CN" sz="2300" i="1" dirty="0">
                <a:solidFill>
                  <a:srgbClr val="0070C0"/>
                </a:solidFill>
                <a:latin typeface="Times New Roman" pitchFamily="18" charset="0"/>
                <a:ea typeface="仿宋_GB2312" pitchFamily="49" charset="-122"/>
              </a:rPr>
              <a:t>S</a:t>
            </a:r>
            <a:r>
              <a:rPr kumimoji="1" lang="zh-CN" altLang="en-US" sz="2300" dirty="0">
                <a:solidFill>
                  <a:srgbClr val="0070C0"/>
                </a:solidFill>
                <a:latin typeface="Times New Roman" pitchFamily="18" charset="0"/>
                <a:ea typeface="仿宋_GB2312" pitchFamily="49" charset="-122"/>
              </a:rPr>
              <a:t>也可以是子实例集</a:t>
            </a:r>
            <a:r>
              <a:rPr kumimoji="1" lang="en-US" altLang="zh-CN" sz="2300" dirty="0">
                <a:solidFill>
                  <a:srgbClr val="0070C0"/>
                </a:solidFill>
                <a:latin typeface="Times New Roman" pitchFamily="18" charset="0"/>
                <a:ea typeface="仿宋_GB2312" pitchFamily="49" charset="-122"/>
              </a:rPr>
              <a:t>),</a:t>
            </a:r>
            <a:r>
              <a:rPr kumimoji="1" lang="en-US" altLang="zh-CN" sz="2300" i="1" dirty="0">
                <a:solidFill>
                  <a:srgbClr val="0070C0"/>
                </a:solidFill>
                <a:latin typeface="Times New Roman" pitchFamily="18" charset="0"/>
                <a:ea typeface="仿宋_GB2312" pitchFamily="49" charset="-122"/>
              </a:rPr>
              <a:t>A</a:t>
            </a:r>
            <a:r>
              <a:rPr kumimoji="1" lang="zh-CN" altLang="en-US" sz="2300" dirty="0">
                <a:solidFill>
                  <a:srgbClr val="0070C0"/>
                </a:solidFill>
                <a:latin typeface="Times New Roman" pitchFamily="18" charset="0"/>
                <a:ea typeface="仿宋_GB2312" pitchFamily="49" charset="-122"/>
              </a:rPr>
              <a:t>为</a:t>
            </a:r>
            <a:r>
              <a:rPr kumimoji="1" lang="en-US" altLang="zh-CN" sz="2300" i="1" dirty="0">
                <a:solidFill>
                  <a:srgbClr val="0070C0"/>
                </a:solidFill>
                <a:latin typeface="Times New Roman" pitchFamily="18" charset="0"/>
                <a:ea typeface="仿宋_GB2312" pitchFamily="49" charset="-122"/>
              </a:rPr>
              <a:t>S</a:t>
            </a:r>
            <a:r>
              <a:rPr kumimoji="1" lang="zh-CN" altLang="en-US" sz="2300" dirty="0">
                <a:solidFill>
                  <a:srgbClr val="0070C0"/>
                </a:solidFill>
                <a:latin typeface="Times New Roman" pitchFamily="18" charset="0"/>
                <a:ea typeface="仿宋_GB2312" pitchFamily="49" charset="-122"/>
              </a:rPr>
              <a:t>中实例的一个属性。</a:t>
            </a:r>
            <a:r>
              <a:rPr kumimoji="1" lang="en-US" altLang="zh-CN" sz="2300" i="1" dirty="0">
                <a:solidFill>
                  <a:srgbClr val="0070C0"/>
                </a:solidFill>
                <a:latin typeface="Times New Roman" pitchFamily="18" charset="0"/>
                <a:ea typeface="仿宋_GB2312" pitchFamily="49" charset="-122"/>
              </a:rPr>
              <a:t>H</a:t>
            </a:r>
            <a:r>
              <a:rPr kumimoji="1" lang="en-US" altLang="zh-CN" sz="2300" dirty="0">
                <a:solidFill>
                  <a:srgbClr val="0070C0"/>
                </a:solidFill>
                <a:latin typeface="Times New Roman" pitchFamily="18" charset="0"/>
                <a:ea typeface="仿宋_GB2312" pitchFamily="49" charset="-122"/>
              </a:rPr>
              <a:t>(</a:t>
            </a:r>
            <a:r>
              <a:rPr kumimoji="1" lang="en-US" altLang="zh-CN" sz="2300" i="1" dirty="0">
                <a:solidFill>
                  <a:srgbClr val="0070C0"/>
                </a:solidFill>
                <a:latin typeface="Times New Roman" pitchFamily="18" charset="0"/>
                <a:ea typeface="仿宋_GB2312" pitchFamily="49" charset="-122"/>
              </a:rPr>
              <a:t>S</a:t>
            </a:r>
            <a:r>
              <a:rPr kumimoji="1" lang="en-US" altLang="zh-CN" sz="2300" dirty="0">
                <a:solidFill>
                  <a:srgbClr val="0070C0"/>
                </a:solidFill>
                <a:latin typeface="Times New Roman" pitchFamily="18" charset="0"/>
                <a:ea typeface="仿宋_GB2312" pitchFamily="49" charset="-122"/>
              </a:rPr>
              <a:t>)</a:t>
            </a:r>
            <a:r>
              <a:rPr kumimoji="1" lang="zh-CN" altLang="en-US" sz="2300" dirty="0">
                <a:solidFill>
                  <a:srgbClr val="0070C0"/>
                </a:solidFill>
                <a:latin typeface="Times New Roman" pitchFamily="18" charset="0"/>
                <a:ea typeface="仿宋_GB2312" pitchFamily="49" charset="-122"/>
              </a:rPr>
              <a:t>和</a:t>
            </a:r>
            <a:r>
              <a:rPr kumimoji="1" lang="en-US" altLang="zh-CN" sz="2300" i="1" dirty="0">
                <a:solidFill>
                  <a:srgbClr val="0070C0"/>
                </a:solidFill>
                <a:latin typeface="Times New Roman" pitchFamily="18" charset="0"/>
                <a:ea typeface="仿宋_GB2312" pitchFamily="49" charset="-122"/>
              </a:rPr>
              <a:t>H</a:t>
            </a:r>
            <a:r>
              <a:rPr kumimoji="1" lang="en-US" altLang="zh-CN" sz="2300" dirty="0">
                <a:solidFill>
                  <a:srgbClr val="0070C0"/>
                </a:solidFill>
                <a:latin typeface="Times New Roman" pitchFamily="18" charset="0"/>
                <a:ea typeface="仿宋_GB2312" pitchFamily="49" charset="-122"/>
              </a:rPr>
              <a:t>(</a:t>
            </a:r>
            <a:r>
              <a:rPr kumimoji="1" lang="en-US" altLang="zh-CN" sz="2300" i="1" dirty="0">
                <a:solidFill>
                  <a:srgbClr val="0070C0"/>
                </a:solidFill>
                <a:latin typeface="Times New Roman" pitchFamily="18" charset="0"/>
                <a:ea typeface="仿宋_GB2312" pitchFamily="49" charset="-122"/>
              </a:rPr>
              <a:t>S</a:t>
            </a:r>
            <a:r>
              <a:rPr kumimoji="1" lang="en-US" altLang="zh-CN" sz="2300" dirty="0">
                <a:solidFill>
                  <a:srgbClr val="0070C0"/>
                </a:solidFill>
                <a:latin typeface="Times New Roman" pitchFamily="18" charset="0"/>
                <a:ea typeface="仿宋_GB2312" pitchFamily="49" charset="-122"/>
              </a:rPr>
              <a:t>|</a:t>
            </a:r>
            <a:r>
              <a:rPr kumimoji="1" lang="en-US" altLang="zh-CN" sz="2300" i="1" dirty="0">
                <a:solidFill>
                  <a:srgbClr val="0070C0"/>
                </a:solidFill>
                <a:latin typeface="Times New Roman" pitchFamily="18" charset="0"/>
                <a:ea typeface="仿宋_GB2312" pitchFamily="49" charset="-122"/>
              </a:rPr>
              <a:t>A</a:t>
            </a:r>
            <a:r>
              <a:rPr kumimoji="1" lang="en-US" altLang="zh-CN" sz="2300" dirty="0">
                <a:solidFill>
                  <a:srgbClr val="0070C0"/>
                </a:solidFill>
                <a:latin typeface="Times New Roman" pitchFamily="18" charset="0"/>
                <a:ea typeface="仿宋_GB2312" pitchFamily="49" charset="-122"/>
              </a:rPr>
              <a:t>)</a:t>
            </a:r>
            <a:r>
              <a:rPr kumimoji="1" lang="zh-CN" altLang="en-US" sz="2300" dirty="0">
                <a:solidFill>
                  <a:srgbClr val="0070C0"/>
                </a:solidFill>
                <a:latin typeface="Times New Roman" pitchFamily="18" charset="0"/>
                <a:ea typeface="仿宋_GB2312" pitchFamily="49" charset="-122"/>
              </a:rPr>
              <a:t>分别称为实例集</a:t>
            </a:r>
            <a:r>
              <a:rPr kumimoji="1" lang="en-US" altLang="zh-CN" sz="2300" i="1" dirty="0">
                <a:solidFill>
                  <a:srgbClr val="0070C0"/>
                </a:solidFill>
                <a:latin typeface="Times New Roman" pitchFamily="18" charset="0"/>
                <a:ea typeface="仿宋_GB2312" pitchFamily="49" charset="-122"/>
              </a:rPr>
              <a:t>S</a:t>
            </a:r>
            <a:r>
              <a:rPr kumimoji="1" lang="zh-CN" altLang="en-US" sz="2300" dirty="0">
                <a:solidFill>
                  <a:srgbClr val="0070C0"/>
                </a:solidFill>
                <a:latin typeface="Times New Roman" pitchFamily="18" charset="0"/>
                <a:ea typeface="仿宋_GB2312" pitchFamily="49" charset="-122"/>
              </a:rPr>
              <a:t>的信息熵和条件熵</a:t>
            </a:r>
            <a:r>
              <a:rPr kumimoji="1" lang="en-US" altLang="zh-CN" sz="2300" dirty="0">
                <a:solidFill>
                  <a:srgbClr val="0070C0"/>
                </a:solidFill>
                <a:latin typeface="Times New Roman" pitchFamily="18" charset="0"/>
                <a:ea typeface="仿宋_GB2312" pitchFamily="49" charset="-122"/>
              </a:rPr>
              <a:t>, </a:t>
            </a:r>
            <a:r>
              <a:rPr kumimoji="1" lang="zh-CN" altLang="en-US" sz="2300" dirty="0">
                <a:solidFill>
                  <a:srgbClr val="0070C0"/>
                </a:solidFill>
                <a:latin typeface="Times New Roman" pitchFamily="18" charset="0"/>
                <a:ea typeface="仿宋_GB2312" pitchFamily="49" charset="-122"/>
              </a:rPr>
              <a:t>其计算公式如下</a:t>
            </a:r>
            <a:r>
              <a:rPr kumimoji="1" lang="en-US" altLang="zh-CN" sz="2300" dirty="0">
                <a:solidFill>
                  <a:srgbClr val="0070C0"/>
                </a:solidFill>
                <a:latin typeface="仿宋_GB2312" pitchFamily="49" charset="-122"/>
                <a:ea typeface="仿宋_GB2312" pitchFamily="49" charset="-122"/>
              </a:rPr>
              <a:t>:</a:t>
            </a:r>
          </a:p>
          <a:p>
            <a:pPr>
              <a:buFont typeface="Wingdings" pitchFamily="2" charset="2"/>
              <a:buNone/>
            </a:pPr>
            <a:endParaRPr kumimoji="1" lang="en-US" altLang="zh-CN" sz="2400" dirty="0">
              <a:latin typeface="仿宋_GB2312" pitchFamily="49" charset="-122"/>
              <a:ea typeface="仿宋_GB2312" pitchFamily="49" charset="-122"/>
            </a:endParaRPr>
          </a:p>
          <a:p>
            <a:pPr>
              <a:buFont typeface="Wingdings" pitchFamily="2" charset="2"/>
              <a:buNone/>
            </a:pPr>
            <a:endParaRPr kumimoji="1" lang="en-US" altLang="zh-CN" sz="2400" dirty="0">
              <a:latin typeface="仿宋_GB2312" pitchFamily="49" charset="-122"/>
              <a:ea typeface="仿宋_GB2312" pitchFamily="49" charset="-122"/>
            </a:endParaRPr>
          </a:p>
          <a:p>
            <a:pPr algn="just">
              <a:spcBef>
                <a:spcPts val="0"/>
              </a:spcBef>
              <a:buFont typeface="Wingdings" pitchFamily="2" charset="2"/>
              <a:buNone/>
            </a:pPr>
            <a:r>
              <a:rPr kumimoji="1" lang="en-US" altLang="zh-CN" sz="2800" dirty="0">
                <a:latin typeface="仿宋_GB2312" pitchFamily="49" charset="-122"/>
                <a:ea typeface="仿宋_GB2312" pitchFamily="49" charset="-122"/>
              </a:rPr>
              <a:t>  </a:t>
            </a:r>
            <a:r>
              <a:rPr kumimoji="1" lang="zh-CN" altLang="en-US" sz="2300" dirty="0">
                <a:solidFill>
                  <a:srgbClr val="0070C0"/>
                </a:solidFill>
                <a:latin typeface="Times New Roman" pitchFamily="18" charset="0"/>
                <a:ea typeface="仿宋_GB2312" pitchFamily="49" charset="-122"/>
              </a:rPr>
              <a:t>其中</a:t>
            </a:r>
            <a:r>
              <a:rPr kumimoji="1" lang="en-US" altLang="zh-CN" sz="2300" dirty="0">
                <a:solidFill>
                  <a:srgbClr val="0070C0"/>
                </a:solidFill>
                <a:latin typeface="Times New Roman" pitchFamily="18" charset="0"/>
                <a:ea typeface="仿宋_GB2312" pitchFamily="49" charset="-122"/>
              </a:rPr>
              <a:t>,</a:t>
            </a:r>
            <a:r>
              <a:rPr kumimoji="1" lang="en-US" altLang="zh-CN" sz="2300" i="1" dirty="0" err="1">
                <a:solidFill>
                  <a:srgbClr val="0070C0"/>
                </a:solidFill>
                <a:latin typeface="Times New Roman" pitchFamily="18" charset="0"/>
                <a:ea typeface="仿宋_GB2312" pitchFamily="49" charset="-122"/>
              </a:rPr>
              <a:t>μ</a:t>
            </a:r>
            <a:r>
              <a:rPr kumimoji="1" lang="en-US" altLang="zh-CN" sz="2300" i="1" baseline="-25000" dirty="0" err="1">
                <a:solidFill>
                  <a:srgbClr val="0070C0"/>
                </a:solidFill>
                <a:latin typeface="Times New Roman" pitchFamily="18" charset="0"/>
                <a:ea typeface="仿宋_GB2312" pitchFamily="49" charset="-122"/>
              </a:rPr>
              <a:t>i</a:t>
            </a:r>
            <a:r>
              <a:rPr kumimoji="1" lang="en-US" altLang="zh-CN" sz="2300" dirty="0">
                <a:solidFill>
                  <a:srgbClr val="0070C0"/>
                </a:solidFill>
                <a:latin typeface="Times New Roman" pitchFamily="18" charset="0"/>
                <a:ea typeface="仿宋_GB2312" pitchFamily="49" charset="-122"/>
              </a:rPr>
              <a:t>(</a:t>
            </a:r>
            <a:r>
              <a:rPr kumimoji="1" lang="en-US" altLang="zh-CN" sz="2300" i="1" dirty="0" err="1">
                <a:solidFill>
                  <a:srgbClr val="0070C0"/>
                </a:solidFill>
                <a:latin typeface="Times New Roman" pitchFamily="18" charset="0"/>
                <a:ea typeface="仿宋_GB2312" pitchFamily="49" charset="-122"/>
              </a:rPr>
              <a:t>i</a:t>
            </a:r>
            <a:r>
              <a:rPr kumimoji="1" lang="en-US" altLang="zh-CN" sz="2300" dirty="0">
                <a:solidFill>
                  <a:srgbClr val="0070C0"/>
                </a:solidFill>
                <a:latin typeface="Times New Roman" pitchFamily="18" charset="0"/>
                <a:ea typeface="仿宋_GB2312" pitchFamily="49" charset="-122"/>
              </a:rPr>
              <a:t>=1,2,…, </a:t>
            </a:r>
            <a:r>
              <a:rPr kumimoji="1" lang="en-US" altLang="zh-CN" sz="2300" i="1" dirty="0">
                <a:solidFill>
                  <a:srgbClr val="0070C0"/>
                </a:solidFill>
                <a:latin typeface="Times New Roman" pitchFamily="18" charset="0"/>
                <a:ea typeface="仿宋_GB2312" pitchFamily="49" charset="-122"/>
              </a:rPr>
              <a:t>n</a:t>
            </a:r>
            <a:r>
              <a:rPr kumimoji="1" lang="en-US" altLang="zh-CN" sz="2300" dirty="0">
                <a:solidFill>
                  <a:srgbClr val="0070C0"/>
                </a:solidFill>
                <a:latin typeface="Times New Roman" pitchFamily="18" charset="0"/>
                <a:ea typeface="仿宋_GB2312" pitchFamily="49" charset="-122"/>
              </a:rPr>
              <a:t>)</a:t>
            </a:r>
            <a:r>
              <a:rPr kumimoji="1" lang="zh-CN" altLang="en-US" sz="2300" dirty="0">
                <a:solidFill>
                  <a:srgbClr val="0070C0"/>
                </a:solidFill>
                <a:latin typeface="Times New Roman" pitchFamily="18" charset="0"/>
                <a:ea typeface="仿宋_GB2312" pitchFamily="49" charset="-122"/>
              </a:rPr>
              <a:t>为</a:t>
            </a:r>
            <a:r>
              <a:rPr kumimoji="1" lang="en-US" altLang="zh-CN" sz="2300" dirty="0">
                <a:solidFill>
                  <a:srgbClr val="0070C0"/>
                </a:solidFill>
                <a:latin typeface="Times New Roman" pitchFamily="18" charset="0"/>
                <a:ea typeface="仿宋_GB2312" pitchFamily="49" charset="-122"/>
              </a:rPr>
              <a:t>S</a:t>
            </a:r>
            <a:r>
              <a:rPr kumimoji="1" lang="zh-CN" altLang="en-US" sz="2300" dirty="0">
                <a:solidFill>
                  <a:srgbClr val="0070C0"/>
                </a:solidFill>
                <a:latin typeface="Times New Roman" pitchFamily="18" charset="0"/>
                <a:ea typeface="仿宋_GB2312" pitchFamily="49" charset="-122"/>
              </a:rPr>
              <a:t>中各实例所有可能的结论；</a:t>
            </a:r>
            <a:r>
              <a:rPr kumimoji="1" lang="en-US" altLang="zh-CN" sz="2300" dirty="0">
                <a:solidFill>
                  <a:srgbClr val="0070C0"/>
                </a:solidFill>
                <a:latin typeface="Times New Roman" pitchFamily="18" charset="0"/>
                <a:ea typeface="仿宋_GB2312" pitchFamily="49" charset="-122"/>
              </a:rPr>
              <a:t>1b</a:t>
            </a:r>
            <a:r>
              <a:rPr kumimoji="1" lang="zh-CN" altLang="en-US" sz="2300" dirty="0">
                <a:solidFill>
                  <a:srgbClr val="0070C0"/>
                </a:solidFill>
                <a:latin typeface="Times New Roman" pitchFamily="18" charset="0"/>
                <a:ea typeface="仿宋_GB2312" pitchFamily="49" charset="-122"/>
              </a:rPr>
              <a:t>即</a:t>
            </a:r>
            <a:r>
              <a:rPr kumimoji="1" lang="en-US" altLang="zh-CN" sz="2300" dirty="0">
                <a:solidFill>
                  <a:srgbClr val="0070C0"/>
                </a:solidFill>
                <a:latin typeface="Times New Roman" pitchFamily="18" charset="0"/>
                <a:ea typeface="仿宋_GB2312" pitchFamily="49" charset="-122"/>
              </a:rPr>
              <a:t>log2</a:t>
            </a:r>
            <a:r>
              <a:rPr kumimoji="1" lang="zh-CN" altLang="en-US" sz="2300" dirty="0">
                <a:solidFill>
                  <a:srgbClr val="0070C0"/>
                </a:solidFill>
                <a:latin typeface="Times New Roman" pitchFamily="18" charset="0"/>
                <a:ea typeface="仿宋_GB2312" pitchFamily="49" charset="-122"/>
              </a:rPr>
              <a:t>。</a:t>
            </a:r>
          </a:p>
          <a:p>
            <a:pPr algn="just">
              <a:buFont typeface="Wingdings" pitchFamily="2" charset="2"/>
              <a:buNone/>
            </a:pPr>
            <a:endParaRPr kumimoji="1" lang="zh-CN" altLang="en-US" sz="2800" dirty="0">
              <a:latin typeface="Times New Roman" pitchFamily="18" charset="0"/>
              <a:ea typeface="仿宋_GB2312" pitchFamily="49" charset="-122"/>
            </a:endParaRPr>
          </a:p>
          <a:p>
            <a:pPr algn="just">
              <a:buFont typeface="Wingdings" pitchFamily="2" charset="2"/>
              <a:buNone/>
            </a:pPr>
            <a:endParaRPr kumimoji="1" lang="zh-CN" altLang="en-US" sz="2800" dirty="0">
              <a:latin typeface="仿宋_GB2312" pitchFamily="49" charset="-122"/>
              <a:ea typeface="仿宋_GB2312" pitchFamily="49" charset="-122"/>
            </a:endParaRPr>
          </a:p>
          <a:p>
            <a:pPr algn="just">
              <a:lnSpc>
                <a:spcPct val="150000"/>
              </a:lnSpc>
              <a:spcBef>
                <a:spcPts val="0"/>
              </a:spcBef>
              <a:buNone/>
            </a:pPr>
            <a:r>
              <a:rPr kumimoji="1" lang="zh-CN" altLang="en-US" sz="2800" dirty="0">
                <a:latin typeface="仿宋_GB2312" pitchFamily="49" charset="-122"/>
                <a:ea typeface="仿宋_GB2312" pitchFamily="49" charset="-122"/>
              </a:rPr>
              <a:t>  </a:t>
            </a:r>
            <a:r>
              <a:rPr kumimoji="1" lang="zh-CN" altLang="en-US" sz="2300" dirty="0">
                <a:solidFill>
                  <a:srgbClr val="0070C0"/>
                </a:solidFill>
                <a:latin typeface="Times New Roman" pitchFamily="18" charset="0"/>
                <a:ea typeface="仿宋_GB2312" pitchFamily="49" charset="-122"/>
              </a:rPr>
              <a:t>其中</a:t>
            </a:r>
            <a:r>
              <a:rPr kumimoji="1" lang="en-US" altLang="zh-CN" sz="2300" dirty="0">
                <a:solidFill>
                  <a:srgbClr val="0070C0"/>
                </a:solidFill>
                <a:latin typeface="Times New Roman" pitchFamily="18" charset="0"/>
                <a:ea typeface="仿宋_GB2312" pitchFamily="49" charset="-122"/>
              </a:rPr>
              <a:t>,</a:t>
            </a:r>
            <a:r>
              <a:rPr kumimoji="1" lang="en-US" altLang="zh-CN" sz="2300" i="1" dirty="0" err="1">
                <a:solidFill>
                  <a:srgbClr val="0070C0"/>
                </a:solidFill>
                <a:latin typeface="Times New Roman" pitchFamily="18" charset="0"/>
                <a:ea typeface="仿宋_GB2312" pitchFamily="49" charset="-122"/>
              </a:rPr>
              <a:t>a</a:t>
            </a:r>
            <a:r>
              <a:rPr kumimoji="1" lang="en-US" altLang="zh-CN" sz="2300" i="1" baseline="-25000" dirty="0" err="1">
                <a:solidFill>
                  <a:srgbClr val="0070C0"/>
                </a:solidFill>
                <a:latin typeface="Times New Roman" pitchFamily="18" charset="0"/>
                <a:ea typeface="仿宋_GB2312" pitchFamily="49" charset="-122"/>
              </a:rPr>
              <a:t>k</a:t>
            </a:r>
            <a:r>
              <a:rPr kumimoji="1" lang="en-US" altLang="zh-CN" sz="2300" dirty="0">
                <a:solidFill>
                  <a:srgbClr val="0070C0"/>
                </a:solidFill>
                <a:latin typeface="Times New Roman" pitchFamily="18" charset="0"/>
                <a:ea typeface="仿宋_GB2312" pitchFamily="49" charset="-122"/>
              </a:rPr>
              <a:t>(</a:t>
            </a:r>
            <a:r>
              <a:rPr kumimoji="1" lang="en-US" altLang="zh-CN" sz="2300" i="1" dirty="0">
                <a:solidFill>
                  <a:srgbClr val="0070C0"/>
                </a:solidFill>
                <a:latin typeface="Times New Roman" pitchFamily="18" charset="0"/>
                <a:ea typeface="仿宋_GB2312" pitchFamily="49" charset="-122"/>
              </a:rPr>
              <a:t>k</a:t>
            </a:r>
            <a:r>
              <a:rPr kumimoji="1" lang="en-US" altLang="zh-CN" sz="2300" dirty="0">
                <a:solidFill>
                  <a:srgbClr val="0070C0"/>
                </a:solidFill>
                <a:latin typeface="Times New Roman" pitchFamily="18" charset="0"/>
                <a:ea typeface="仿宋_GB2312" pitchFamily="49" charset="-122"/>
              </a:rPr>
              <a:t>=1, 2, …, </a:t>
            </a:r>
            <a:r>
              <a:rPr kumimoji="1" lang="en-US" altLang="zh-CN" sz="2300" i="1" dirty="0">
                <a:solidFill>
                  <a:srgbClr val="0070C0"/>
                </a:solidFill>
                <a:latin typeface="Times New Roman" pitchFamily="18" charset="0"/>
                <a:ea typeface="仿宋_GB2312" pitchFamily="49" charset="-122"/>
              </a:rPr>
              <a:t>m</a:t>
            </a:r>
            <a:r>
              <a:rPr kumimoji="1" lang="en-US" altLang="zh-CN" sz="2300" dirty="0">
                <a:solidFill>
                  <a:srgbClr val="0070C0"/>
                </a:solidFill>
                <a:latin typeface="Times New Roman" pitchFamily="18" charset="0"/>
                <a:ea typeface="仿宋_GB2312" pitchFamily="49" charset="-122"/>
              </a:rPr>
              <a:t>)</a:t>
            </a:r>
            <a:r>
              <a:rPr kumimoji="1" lang="zh-CN" altLang="en-US" sz="2300" dirty="0">
                <a:solidFill>
                  <a:srgbClr val="0070C0"/>
                </a:solidFill>
                <a:latin typeface="Times New Roman" pitchFamily="18" charset="0"/>
                <a:ea typeface="仿宋_GB2312" pitchFamily="49" charset="-122"/>
              </a:rPr>
              <a:t>为属性</a:t>
            </a:r>
            <a:r>
              <a:rPr kumimoji="1" lang="en-US" altLang="zh-CN" sz="2300" i="1" dirty="0">
                <a:solidFill>
                  <a:srgbClr val="0070C0"/>
                </a:solidFill>
                <a:latin typeface="Times New Roman" pitchFamily="18" charset="0"/>
                <a:ea typeface="仿宋_GB2312" pitchFamily="49" charset="-122"/>
              </a:rPr>
              <a:t>A</a:t>
            </a:r>
            <a:r>
              <a:rPr kumimoji="1" lang="zh-CN" altLang="en-US" sz="2300" dirty="0">
                <a:solidFill>
                  <a:srgbClr val="0070C0"/>
                </a:solidFill>
                <a:latin typeface="Times New Roman" pitchFamily="18" charset="0"/>
                <a:ea typeface="仿宋_GB2312" pitchFamily="49" charset="-122"/>
              </a:rPr>
              <a:t>的取值</a:t>
            </a:r>
            <a:r>
              <a:rPr kumimoji="1" lang="en-US" altLang="zh-CN" sz="2300" dirty="0">
                <a:solidFill>
                  <a:srgbClr val="0070C0"/>
                </a:solidFill>
                <a:latin typeface="Times New Roman" pitchFamily="18" charset="0"/>
                <a:ea typeface="仿宋_GB2312" pitchFamily="49" charset="-122"/>
              </a:rPr>
              <a:t>, </a:t>
            </a:r>
            <a:r>
              <a:rPr kumimoji="1" lang="en-US" altLang="zh-CN" sz="2300" i="1" dirty="0" err="1">
                <a:solidFill>
                  <a:srgbClr val="0070C0"/>
                </a:solidFill>
                <a:latin typeface="Times New Roman" pitchFamily="18" charset="0"/>
                <a:ea typeface="仿宋_GB2312" pitchFamily="49" charset="-122"/>
              </a:rPr>
              <a:t>S</a:t>
            </a:r>
            <a:r>
              <a:rPr kumimoji="1" lang="en-US" altLang="zh-CN" sz="2300" i="1" baseline="-25000" dirty="0" err="1">
                <a:solidFill>
                  <a:srgbClr val="0070C0"/>
                </a:solidFill>
                <a:latin typeface="Times New Roman" pitchFamily="18" charset="0"/>
                <a:ea typeface="仿宋_GB2312" pitchFamily="49" charset="-122"/>
              </a:rPr>
              <a:t>ak</a:t>
            </a:r>
            <a:r>
              <a:rPr kumimoji="1" lang="zh-CN" altLang="en-US" sz="2300" dirty="0">
                <a:solidFill>
                  <a:srgbClr val="0070C0"/>
                </a:solidFill>
                <a:latin typeface="Times New Roman" pitchFamily="18" charset="0"/>
                <a:ea typeface="仿宋_GB2312" pitchFamily="49" charset="-122"/>
              </a:rPr>
              <a:t>为按属性</a:t>
            </a:r>
            <a:r>
              <a:rPr kumimoji="1" lang="en-US" altLang="zh-CN" sz="2300" i="1" dirty="0">
                <a:solidFill>
                  <a:srgbClr val="0070C0"/>
                </a:solidFill>
                <a:latin typeface="Times New Roman" pitchFamily="18" charset="0"/>
                <a:ea typeface="仿宋_GB2312" pitchFamily="49" charset="-122"/>
              </a:rPr>
              <a:t>A</a:t>
            </a:r>
            <a:r>
              <a:rPr kumimoji="1" lang="zh-CN" altLang="en-US" sz="2300" dirty="0">
                <a:solidFill>
                  <a:srgbClr val="0070C0"/>
                </a:solidFill>
                <a:latin typeface="Times New Roman" pitchFamily="18" charset="0"/>
                <a:ea typeface="仿宋_GB2312" pitchFamily="49" charset="-122"/>
              </a:rPr>
              <a:t>对实例集</a:t>
            </a:r>
            <a:r>
              <a:rPr kumimoji="1" lang="en-US" altLang="zh-CN" sz="2300" i="1" dirty="0">
                <a:solidFill>
                  <a:srgbClr val="0070C0"/>
                </a:solidFill>
                <a:latin typeface="Times New Roman" pitchFamily="18" charset="0"/>
                <a:ea typeface="仿宋_GB2312" pitchFamily="49" charset="-122"/>
              </a:rPr>
              <a:t>S</a:t>
            </a:r>
            <a:r>
              <a:rPr kumimoji="1" lang="zh-CN" altLang="en-US" sz="2300" dirty="0">
                <a:solidFill>
                  <a:srgbClr val="0070C0"/>
                </a:solidFill>
                <a:latin typeface="Times New Roman" pitchFamily="18" charset="0"/>
                <a:ea typeface="仿宋_GB2312" pitchFamily="49" charset="-122"/>
              </a:rPr>
              <a:t>进行分类时所得诸子类中与属性值</a:t>
            </a:r>
            <a:r>
              <a:rPr kumimoji="1" lang="en-US" altLang="zh-CN" sz="2300" i="1" dirty="0" err="1">
                <a:solidFill>
                  <a:srgbClr val="0070C0"/>
                </a:solidFill>
                <a:latin typeface="Times New Roman" pitchFamily="18" charset="0"/>
                <a:ea typeface="仿宋_GB2312" pitchFamily="49" charset="-122"/>
              </a:rPr>
              <a:t>a</a:t>
            </a:r>
            <a:r>
              <a:rPr kumimoji="1" lang="en-US" altLang="zh-CN" sz="2300" i="1" baseline="-25000" dirty="0" err="1">
                <a:solidFill>
                  <a:srgbClr val="0070C0"/>
                </a:solidFill>
                <a:latin typeface="Times New Roman" pitchFamily="18" charset="0"/>
                <a:ea typeface="仿宋_GB2312" pitchFamily="49" charset="-122"/>
              </a:rPr>
              <a:t>k</a:t>
            </a:r>
            <a:r>
              <a:rPr kumimoji="1" lang="zh-CN" altLang="en-US" sz="2300" dirty="0">
                <a:solidFill>
                  <a:srgbClr val="0070C0"/>
                </a:solidFill>
                <a:latin typeface="Times New Roman" pitchFamily="18" charset="0"/>
                <a:ea typeface="仿宋_GB2312" pitchFamily="49" charset="-122"/>
              </a:rPr>
              <a:t>对应的那个子类。</a:t>
            </a:r>
          </a:p>
        </p:txBody>
      </p:sp>
      <p:graphicFrame>
        <p:nvGraphicFramePr>
          <p:cNvPr id="44036" name="Object 4"/>
          <p:cNvGraphicFramePr>
            <a:graphicFrameLocks noGrp="1" noChangeAspect="1"/>
          </p:cNvGraphicFramePr>
          <p:nvPr>
            <p:ph sz="quarter" idx="2"/>
          </p:nvPr>
        </p:nvGraphicFramePr>
        <p:xfrm>
          <a:off x="3428992" y="2285992"/>
          <a:ext cx="2638425" cy="714375"/>
        </p:xfrm>
        <a:graphic>
          <a:graphicData uri="http://schemas.openxmlformats.org/presentationml/2006/ole">
            <mc:AlternateContent xmlns:mc="http://schemas.openxmlformats.org/markup-compatibility/2006">
              <mc:Choice xmlns:v="urn:schemas-microsoft-com:vml" Requires="v">
                <p:oleObj name="Equation" r:id="rId3" imgW="1612800" imgH="431640" progId="Equation.3">
                  <p:embed/>
                </p:oleObj>
              </mc:Choice>
              <mc:Fallback>
                <p:oleObj name="Equation" r:id="rId3" imgW="1612800" imgH="43164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8992" y="2285992"/>
                        <a:ext cx="2638425" cy="714375"/>
                      </a:xfrm>
                      <a:prstGeom prst="rect">
                        <a:avLst/>
                      </a:prstGeom>
                      <a:solidFill>
                        <a:srgbClr val="FF6600"/>
                      </a:solidFill>
                    </p:spPr>
                  </p:pic>
                </p:oleObj>
              </mc:Fallback>
            </mc:AlternateContent>
          </a:graphicData>
        </a:graphic>
      </p:graphicFrame>
      <p:sp>
        <p:nvSpPr>
          <p:cNvPr id="44040" name="Rectangle 8"/>
          <p:cNvSpPr>
            <a:spLocks noChangeArrowheads="1"/>
          </p:cNvSpPr>
          <p:nvPr/>
        </p:nvSpPr>
        <p:spPr bwMode="auto">
          <a:xfrm>
            <a:off x="0" y="3214688"/>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44042" name="Rectangle 10"/>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44046" name="Object 14"/>
          <p:cNvGraphicFramePr>
            <a:graphicFrameLocks noGrp="1" noChangeAspect="1"/>
          </p:cNvGraphicFramePr>
          <p:nvPr>
            <p:ph sz="quarter" idx="3"/>
          </p:nvPr>
        </p:nvGraphicFramePr>
        <p:xfrm>
          <a:off x="3500430" y="3813384"/>
          <a:ext cx="2568575" cy="858837"/>
        </p:xfrm>
        <a:graphic>
          <a:graphicData uri="http://schemas.openxmlformats.org/presentationml/2006/ole">
            <mc:AlternateContent xmlns:mc="http://schemas.openxmlformats.org/markup-compatibility/2006">
              <mc:Choice xmlns:v="urn:schemas-microsoft-com:vml" Requires="v">
                <p:oleObj name="Equation" r:id="rId5" imgW="1625400" imgH="520560" progId="Equation.3">
                  <p:embed/>
                </p:oleObj>
              </mc:Choice>
              <mc:Fallback>
                <p:oleObj name="Equation" r:id="rId5" imgW="1625400" imgH="520560" progId="Equation.3">
                  <p:embed/>
                  <p:pic>
                    <p:nvPicPr>
                      <p:cNvPr id="0"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0430" y="3813384"/>
                        <a:ext cx="2568575" cy="858837"/>
                      </a:xfrm>
                      <a:prstGeom prst="rect">
                        <a:avLst/>
                      </a:prstGeom>
                      <a:solidFill>
                        <a:srgbClr val="CCFFCC"/>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035">
                                            <p:txEl>
                                              <p:pRg st="1" end="1"/>
                                            </p:txEl>
                                          </p:spTgt>
                                        </p:tgtEl>
                                        <p:attrNameLst>
                                          <p:attrName>style.visibility</p:attrName>
                                        </p:attrNameLst>
                                      </p:cBhvr>
                                      <p:to>
                                        <p:strVal val="visible"/>
                                      </p:to>
                                    </p:set>
                                    <p:animEffect transition="in" filter="blinds(horizontal)">
                                      <p:cBhvr>
                                        <p:cTn id="7" dur="500"/>
                                        <p:tgtEl>
                                          <p:spTgt spid="4403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4036"/>
                                        </p:tgtEl>
                                        <p:attrNameLst>
                                          <p:attrName>style.visibility</p:attrName>
                                        </p:attrNameLst>
                                      </p:cBhvr>
                                      <p:to>
                                        <p:strVal val="visible"/>
                                      </p:to>
                                    </p:set>
                                    <p:animEffect transition="in" filter="blinds(horizontal)">
                                      <p:cBhvr>
                                        <p:cTn id="12" dur="500"/>
                                        <p:tgtEl>
                                          <p:spTgt spid="4403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4035">
                                            <p:txEl>
                                              <p:pRg st="4" end="4"/>
                                            </p:txEl>
                                          </p:spTgt>
                                        </p:tgtEl>
                                        <p:attrNameLst>
                                          <p:attrName>style.visibility</p:attrName>
                                        </p:attrNameLst>
                                      </p:cBhvr>
                                      <p:to>
                                        <p:strVal val="visible"/>
                                      </p:to>
                                    </p:set>
                                    <p:animEffect transition="in" filter="blinds(horizontal)">
                                      <p:cBhvr>
                                        <p:cTn id="17" dur="500"/>
                                        <p:tgtEl>
                                          <p:spTgt spid="4403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4046"/>
                                        </p:tgtEl>
                                        <p:attrNameLst>
                                          <p:attrName>style.visibility</p:attrName>
                                        </p:attrNameLst>
                                      </p:cBhvr>
                                      <p:to>
                                        <p:strVal val="visible"/>
                                      </p:to>
                                    </p:set>
                                    <p:animEffect transition="in" filter="blinds(horizontal)">
                                      <p:cBhvr>
                                        <p:cTn id="22" dur="500"/>
                                        <p:tgtEl>
                                          <p:spTgt spid="4404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4035">
                                            <p:txEl>
                                              <p:pRg st="7" end="7"/>
                                            </p:txEl>
                                          </p:spTgt>
                                        </p:tgtEl>
                                        <p:attrNameLst>
                                          <p:attrName>style.visibility</p:attrName>
                                        </p:attrNameLst>
                                      </p:cBhvr>
                                      <p:to>
                                        <p:strVal val="visible"/>
                                      </p:to>
                                    </p:set>
                                    <p:animEffect transition="in" filter="blinds(horizontal)">
                                      <p:cBhvr>
                                        <p:cTn id="27" dur="500"/>
                                        <p:tgtEl>
                                          <p:spTgt spid="440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Rot="1" noChangeArrowheads="1"/>
          </p:cNvSpPr>
          <p:nvPr>
            <p:ph type="body" idx="1"/>
          </p:nvPr>
        </p:nvSpPr>
        <p:spPr>
          <a:xfrm>
            <a:off x="527305" y="277401"/>
            <a:ext cx="7818463" cy="5981925"/>
          </a:xfrm>
        </p:spPr>
        <p:txBody>
          <a:bodyPr/>
          <a:lstStyle/>
          <a:p>
            <a:pPr>
              <a:lnSpc>
                <a:spcPct val="150000"/>
              </a:lnSpc>
              <a:buFont typeface="Wingdings" pitchFamily="2" charset="2"/>
              <a:buNone/>
            </a:pPr>
            <a:r>
              <a:rPr lang="en-US" altLang="zh-CN" dirty="0"/>
              <a:t>  </a:t>
            </a:r>
            <a:r>
              <a:rPr lang="en-US" altLang="zh-CN" sz="2400" dirty="0">
                <a:solidFill>
                  <a:srgbClr val="0070C0"/>
                </a:solidFill>
                <a:latin typeface="楷体" pitchFamily="49" charset="-122"/>
                <a:ea typeface="楷体" pitchFamily="49" charset="-122"/>
              </a:rPr>
              <a:t>2.</a:t>
            </a:r>
            <a:r>
              <a:rPr lang="zh-CN" altLang="en-US" sz="2400" b="1" dirty="0">
                <a:solidFill>
                  <a:srgbClr val="0070C0"/>
                </a:solidFill>
                <a:latin typeface="楷体" pitchFamily="49" charset="-122"/>
                <a:ea typeface="楷体" pitchFamily="49" charset="-122"/>
              </a:rPr>
              <a:t>基于条件熵的属性选择</a:t>
            </a:r>
          </a:p>
          <a:p>
            <a:pPr algn="just">
              <a:lnSpc>
                <a:spcPct val="150000"/>
              </a:lnSpc>
            </a:pPr>
            <a:r>
              <a:rPr lang="zh-CN" altLang="en-US" sz="2400" dirty="0">
                <a:solidFill>
                  <a:srgbClr val="0070C0"/>
                </a:solidFill>
                <a:latin typeface="Times New Roman" pitchFamily="18" charset="0"/>
                <a:cs typeface="Times New Roman" pitchFamily="18" charset="0"/>
              </a:rPr>
              <a:t>对于一个待分类的实例集</a:t>
            </a:r>
            <a:r>
              <a:rPr lang="en-US" sz="2400" i="1" dirty="0">
                <a:solidFill>
                  <a:srgbClr val="0070C0"/>
                </a:solidFill>
                <a:latin typeface="Times New Roman" pitchFamily="18" charset="0"/>
                <a:cs typeface="Times New Roman" pitchFamily="18" charset="0"/>
              </a:rPr>
              <a:t>S</a:t>
            </a:r>
            <a:r>
              <a:rPr lang="zh-CN" altLang="en-US" sz="2400" dirty="0">
                <a:solidFill>
                  <a:srgbClr val="0070C0"/>
                </a:solidFill>
                <a:latin typeface="Times New Roman" pitchFamily="18" charset="0"/>
                <a:cs typeface="Times New Roman" pitchFamily="18" charset="0"/>
              </a:rPr>
              <a:t>，先分别计算各可取属性</a:t>
            </a:r>
            <a:r>
              <a:rPr lang="en-US" sz="2400" i="1" dirty="0" err="1">
                <a:solidFill>
                  <a:srgbClr val="0070C0"/>
                </a:solidFill>
                <a:latin typeface="Times New Roman" pitchFamily="18" charset="0"/>
                <a:cs typeface="Times New Roman" pitchFamily="18" charset="0"/>
              </a:rPr>
              <a:t>A</a:t>
            </a:r>
            <a:r>
              <a:rPr lang="en-US" sz="2400" i="1" baseline="-25000" dirty="0" err="1">
                <a:solidFill>
                  <a:srgbClr val="0070C0"/>
                </a:solidFill>
                <a:latin typeface="Times New Roman" pitchFamily="18" charset="0"/>
                <a:cs typeface="Times New Roman" pitchFamily="18" charset="0"/>
              </a:rPr>
              <a:t>j</a:t>
            </a:r>
            <a:r>
              <a:rPr lang="en-US" sz="2400" i="1" baseline="-25000" dirty="0">
                <a:solidFill>
                  <a:srgbClr val="0070C0"/>
                </a:solidFill>
                <a:latin typeface="Times New Roman" pitchFamily="18" charset="0"/>
                <a:cs typeface="Times New Roman" pitchFamily="18" charset="0"/>
              </a:rPr>
              <a:t> </a:t>
            </a:r>
            <a:r>
              <a:rPr lang="en-US" sz="2400" dirty="0">
                <a:solidFill>
                  <a:srgbClr val="0070C0"/>
                </a:solidFill>
                <a:latin typeface="Times New Roman" pitchFamily="18" charset="0"/>
                <a:cs typeface="Times New Roman" pitchFamily="18" charset="0"/>
              </a:rPr>
              <a:t>(</a:t>
            </a:r>
            <a:r>
              <a:rPr lang="en-US" sz="2400" i="1" dirty="0">
                <a:solidFill>
                  <a:srgbClr val="0070C0"/>
                </a:solidFill>
                <a:latin typeface="Times New Roman" pitchFamily="18" charset="0"/>
                <a:cs typeface="Times New Roman" pitchFamily="18" charset="0"/>
              </a:rPr>
              <a:t>j</a:t>
            </a:r>
            <a:r>
              <a:rPr lang="en-US" sz="2400" dirty="0">
                <a:solidFill>
                  <a:srgbClr val="0070C0"/>
                </a:solidFill>
                <a:latin typeface="Times New Roman" pitchFamily="18" charset="0"/>
                <a:cs typeface="Times New Roman" pitchFamily="18" charset="0"/>
              </a:rPr>
              <a:t>=1,2,…,</a:t>
            </a:r>
            <a:r>
              <a:rPr lang="en-US" sz="2400" i="1" dirty="0">
                <a:solidFill>
                  <a:srgbClr val="0070C0"/>
                </a:solidFill>
                <a:latin typeface="Times New Roman" pitchFamily="18" charset="0"/>
                <a:cs typeface="Times New Roman" pitchFamily="18" charset="0"/>
              </a:rPr>
              <a:t>l </a:t>
            </a:r>
            <a:r>
              <a:rPr lang="en-US" sz="2400" dirty="0">
                <a:solidFill>
                  <a:srgbClr val="0070C0"/>
                </a:solidFill>
                <a:latin typeface="Times New Roman" pitchFamily="18" charset="0"/>
                <a:cs typeface="Times New Roman" pitchFamily="18" charset="0"/>
              </a:rPr>
              <a:t>)</a:t>
            </a:r>
            <a:r>
              <a:rPr lang="zh-CN" altLang="en-US" sz="2400" dirty="0">
                <a:solidFill>
                  <a:srgbClr val="0070C0"/>
                </a:solidFill>
                <a:latin typeface="Times New Roman" pitchFamily="18" charset="0"/>
                <a:cs typeface="Times New Roman" pitchFamily="18" charset="0"/>
              </a:rPr>
              <a:t>的条件熵</a:t>
            </a:r>
            <a:r>
              <a:rPr lang="en-US" sz="2400" i="1" dirty="0">
                <a:solidFill>
                  <a:srgbClr val="0070C0"/>
                </a:solidFill>
                <a:latin typeface="Times New Roman" pitchFamily="18" charset="0"/>
                <a:cs typeface="Times New Roman" pitchFamily="18" charset="0"/>
              </a:rPr>
              <a:t>H</a:t>
            </a:r>
            <a:r>
              <a:rPr lang="en-US" sz="2400" dirty="0">
                <a:solidFill>
                  <a:srgbClr val="0070C0"/>
                </a:solidFill>
                <a:latin typeface="Times New Roman" pitchFamily="18" charset="0"/>
                <a:cs typeface="Times New Roman" pitchFamily="18" charset="0"/>
              </a:rPr>
              <a:t>(</a:t>
            </a:r>
            <a:r>
              <a:rPr lang="en-US" sz="2400" i="1" dirty="0">
                <a:solidFill>
                  <a:srgbClr val="0070C0"/>
                </a:solidFill>
                <a:latin typeface="Times New Roman" pitchFamily="18" charset="0"/>
                <a:cs typeface="Times New Roman" pitchFamily="18" charset="0"/>
              </a:rPr>
              <a:t>S</a:t>
            </a:r>
            <a:r>
              <a:rPr lang="en-US" sz="2400" dirty="0">
                <a:solidFill>
                  <a:srgbClr val="0070C0"/>
                </a:solidFill>
                <a:latin typeface="Times New Roman" pitchFamily="18" charset="0"/>
                <a:cs typeface="Times New Roman" pitchFamily="18" charset="0"/>
              </a:rPr>
              <a:t>|</a:t>
            </a:r>
            <a:r>
              <a:rPr lang="en-US" sz="2400" i="1" dirty="0">
                <a:solidFill>
                  <a:srgbClr val="0070C0"/>
                </a:solidFill>
                <a:latin typeface="Times New Roman" pitchFamily="18" charset="0"/>
                <a:cs typeface="Times New Roman" pitchFamily="18" charset="0"/>
              </a:rPr>
              <a:t> </a:t>
            </a:r>
            <a:r>
              <a:rPr lang="en-US" sz="2400" i="1" dirty="0" err="1">
                <a:solidFill>
                  <a:srgbClr val="0070C0"/>
                </a:solidFill>
                <a:latin typeface="Times New Roman" pitchFamily="18" charset="0"/>
                <a:cs typeface="Times New Roman" pitchFamily="18" charset="0"/>
              </a:rPr>
              <a:t>A</a:t>
            </a:r>
            <a:r>
              <a:rPr lang="en-US" sz="2400" baseline="-25000" dirty="0" err="1">
                <a:solidFill>
                  <a:srgbClr val="0070C0"/>
                </a:solidFill>
                <a:latin typeface="Times New Roman" pitchFamily="18" charset="0"/>
                <a:cs typeface="Times New Roman" pitchFamily="18" charset="0"/>
              </a:rPr>
              <a:t>j</a:t>
            </a:r>
            <a:r>
              <a:rPr lang="en-US" sz="2400" dirty="0">
                <a:solidFill>
                  <a:srgbClr val="0070C0"/>
                </a:solidFill>
                <a:latin typeface="Times New Roman" pitchFamily="18" charset="0"/>
                <a:cs typeface="Times New Roman" pitchFamily="18" charset="0"/>
              </a:rPr>
              <a:t>)</a:t>
            </a:r>
            <a:r>
              <a:rPr lang="zh-CN" altLang="en-US" sz="2400" dirty="0">
                <a:solidFill>
                  <a:srgbClr val="0070C0"/>
                </a:solidFill>
                <a:latin typeface="Times New Roman" pitchFamily="18" charset="0"/>
                <a:cs typeface="Times New Roman" pitchFamily="18" charset="0"/>
              </a:rPr>
              <a:t>，然后取其中条件熵最小的属性</a:t>
            </a:r>
            <a:r>
              <a:rPr lang="en-US" sz="2400" i="1" dirty="0">
                <a:solidFill>
                  <a:srgbClr val="0070C0"/>
                </a:solidFill>
                <a:latin typeface="Times New Roman" pitchFamily="18" charset="0"/>
                <a:cs typeface="Times New Roman" pitchFamily="18" charset="0"/>
              </a:rPr>
              <a:t>A</a:t>
            </a:r>
            <a:r>
              <a:rPr lang="en-US" sz="2400" i="1" baseline="-25000" dirty="0">
                <a:solidFill>
                  <a:srgbClr val="0070C0"/>
                </a:solidFill>
                <a:latin typeface="Times New Roman" pitchFamily="18" charset="0"/>
                <a:cs typeface="Times New Roman" pitchFamily="18" charset="0"/>
              </a:rPr>
              <a:t>s</a:t>
            </a:r>
            <a:r>
              <a:rPr lang="zh-CN" altLang="en-US" sz="2400" dirty="0">
                <a:solidFill>
                  <a:srgbClr val="0070C0"/>
                </a:solidFill>
                <a:latin typeface="Times New Roman" pitchFamily="18" charset="0"/>
                <a:cs typeface="Times New Roman" pitchFamily="18" charset="0"/>
              </a:rPr>
              <a:t>作为当前节点。</a:t>
            </a:r>
            <a:r>
              <a:rPr lang="en-US" altLang="zh-CN" sz="2400" dirty="0">
                <a:solidFill>
                  <a:srgbClr val="FF0000"/>
                </a:solidFill>
                <a:latin typeface="Times New Roman" pitchFamily="18" charset="0"/>
                <a:cs typeface="Times New Roman" pitchFamily="18" charset="0"/>
              </a:rPr>
              <a:t>(</a:t>
            </a:r>
            <a:r>
              <a:rPr lang="zh-CN" altLang="en-US" sz="2400" dirty="0">
                <a:solidFill>
                  <a:srgbClr val="FF0000"/>
                </a:solidFill>
                <a:latin typeface="Times New Roman" pitchFamily="18" charset="0"/>
                <a:cs typeface="Times New Roman" pitchFamily="18" charset="0"/>
              </a:rPr>
              <a:t>熵值越小，确定性越高，</a:t>
            </a:r>
            <a:r>
              <a:rPr lang="en-US" altLang="zh-CN" sz="2400" dirty="0">
                <a:solidFill>
                  <a:srgbClr val="FF0000"/>
                </a:solidFill>
                <a:latin typeface="Times New Roman" pitchFamily="18" charset="0"/>
                <a:cs typeface="Times New Roman" pitchFamily="18" charset="0"/>
              </a:rPr>
              <a:t>S</a:t>
            </a:r>
            <a:r>
              <a:rPr lang="zh-CN" altLang="en-US" sz="2400" dirty="0">
                <a:solidFill>
                  <a:srgbClr val="FF0000"/>
                </a:solidFill>
                <a:latin typeface="Times New Roman" pitchFamily="18" charset="0"/>
                <a:cs typeface="Times New Roman" pitchFamily="18" charset="0"/>
              </a:rPr>
              <a:t>被</a:t>
            </a:r>
            <a:r>
              <a:rPr lang="en-US" altLang="zh-CN" sz="2400" dirty="0">
                <a:solidFill>
                  <a:srgbClr val="FF0000"/>
                </a:solidFill>
                <a:latin typeface="Times New Roman" pitchFamily="18" charset="0"/>
                <a:cs typeface="Times New Roman" pitchFamily="18" charset="0"/>
              </a:rPr>
              <a:t>A</a:t>
            </a:r>
            <a:r>
              <a:rPr lang="zh-CN" altLang="en-US" sz="2400" dirty="0">
                <a:solidFill>
                  <a:srgbClr val="FF0000"/>
                </a:solidFill>
                <a:latin typeface="Times New Roman" pitchFamily="18" charset="0"/>
                <a:cs typeface="Times New Roman" pitchFamily="18" charset="0"/>
              </a:rPr>
              <a:t>解释的更彻底</a:t>
            </a:r>
            <a:r>
              <a:rPr lang="en-US" altLang="zh-CN" sz="2400" dirty="0">
                <a:solidFill>
                  <a:srgbClr val="0070C0"/>
                </a:solidFill>
                <a:latin typeface="Times New Roman" pitchFamily="18" charset="0"/>
                <a:cs typeface="Times New Roman" pitchFamily="18" charset="0"/>
              </a:rPr>
              <a:t>)</a:t>
            </a:r>
            <a:endParaRPr lang="zh-CN" altLang="en-US" sz="2400" dirty="0">
              <a:solidFill>
                <a:srgbClr val="0070C0"/>
              </a:solidFill>
              <a:latin typeface="Times New Roman" pitchFamily="18" charset="0"/>
              <a:cs typeface="Times New Roman" pitchFamily="18" charset="0"/>
            </a:endParaRPr>
          </a:p>
          <a:p>
            <a:pPr algn="just">
              <a:lnSpc>
                <a:spcPct val="150000"/>
              </a:lnSpc>
            </a:pPr>
            <a:r>
              <a:rPr lang="zh-CN" altLang="en-US" sz="2400" dirty="0">
                <a:solidFill>
                  <a:srgbClr val="0070C0"/>
                </a:solidFill>
                <a:latin typeface="Times New Roman" pitchFamily="18" charset="0"/>
                <a:cs typeface="Times New Roman" pitchFamily="18" charset="0"/>
              </a:rPr>
              <a:t>例如对于上例，当第一次对实例集</a:t>
            </a:r>
            <a:r>
              <a:rPr lang="en-US" sz="2400" i="1" dirty="0">
                <a:solidFill>
                  <a:srgbClr val="0070C0"/>
                </a:solidFill>
                <a:latin typeface="Times New Roman" pitchFamily="18" charset="0"/>
                <a:cs typeface="Times New Roman" pitchFamily="18" charset="0"/>
              </a:rPr>
              <a:t>S</a:t>
            </a:r>
            <a:r>
              <a:rPr lang="zh-CN" altLang="en-US" sz="2400" dirty="0">
                <a:solidFill>
                  <a:srgbClr val="0070C0"/>
                </a:solidFill>
                <a:latin typeface="Times New Roman" pitchFamily="18" charset="0"/>
                <a:cs typeface="Times New Roman" pitchFamily="18" charset="0"/>
              </a:rPr>
              <a:t>进行分类时，可选取的属性有：性别、年龄段和婚状。先分别计算</a:t>
            </a:r>
            <a:r>
              <a:rPr lang="en-US" sz="2400" i="1" dirty="0">
                <a:solidFill>
                  <a:srgbClr val="0070C0"/>
                </a:solidFill>
                <a:latin typeface="Times New Roman" pitchFamily="18" charset="0"/>
                <a:cs typeface="Times New Roman" pitchFamily="18" charset="0"/>
              </a:rPr>
              <a:t>S</a:t>
            </a:r>
            <a:r>
              <a:rPr lang="zh-CN" altLang="en-US" sz="2400" dirty="0">
                <a:solidFill>
                  <a:srgbClr val="0070C0"/>
                </a:solidFill>
                <a:latin typeface="Times New Roman" pitchFamily="18" charset="0"/>
                <a:cs typeface="Times New Roman" pitchFamily="18" charset="0"/>
              </a:rPr>
              <a:t>的条件熵。</a:t>
            </a:r>
          </a:p>
          <a:p>
            <a:pPr>
              <a:buFont typeface="Wingdings" pitchFamily="2" charset="2"/>
              <a:buNone/>
            </a:pPr>
            <a:endParaRPr lang="en-US" altLang="zh-CN" sz="2800"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131">
                                            <p:txEl>
                                              <p:pRg st="1" end="1"/>
                                            </p:txEl>
                                          </p:spTgt>
                                        </p:tgtEl>
                                        <p:attrNameLst>
                                          <p:attrName>style.visibility</p:attrName>
                                        </p:attrNameLst>
                                      </p:cBhvr>
                                      <p:to>
                                        <p:strVal val="visible"/>
                                      </p:to>
                                    </p:set>
                                    <p:animEffect transition="in" filter="blinds(horizontal)">
                                      <p:cBhvr>
                                        <p:cTn id="7" dur="500"/>
                                        <p:tgtEl>
                                          <p:spTgt spid="4813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8131">
                                            <p:txEl>
                                              <p:pRg st="2" end="2"/>
                                            </p:txEl>
                                          </p:spTgt>
                                        </p:tgtEl>
                                        <p:attrNameLst>
                                          <p:attrName>style.visibility</p:attrName>
                                        </p:attrNameLst>
                                      </p:cBhvr>
                                      <p:to>
                                        <p:strVal val="visible"/>
                                      </p:to>
                                    </p:set>
                                    <p:animEffect transition="in" filter="blinds(horizontal)">
                                      <p:cBhvr>
                                        <p:cTn id="10" dur="500"/>
                                        <p:tgtEl>
                                          <p:spTgt spid="481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1085850" y="609600"/>
            <a:ext cx="5221288" cy="457200"/>
          </a:xfrm>
          <a:prstGeom prst="rect">
            <a:avLst/>
          </a:prstGeom>
          <a:noFill/>
          <a:ln w="9525">
            <a:noFill/>
            <a:miter lim="800000"/>
            <a:headEnd/>
            <a:tailEnd/>
          </a:ln>
          <a:effectLst/>
        </p:spPr>
        <p:txBody>
          <a:bodyPr wrap="none">
            <a:spAutoFit/>
          </a:bodyPr>
          <a:lstStyle/>
          <a:p>
            <a:r>
              <a:rPr kumimoji="1" lang="zh-CN" altLang="en-US" sz="2400" dirty="0">
                <a:solidFill>
                  <a:srgbClr val="0070C0"/>
                </a:solidFill>
                <a:latin typeface="宋体" pitchFamily="2" charset="-122"/>
              </a:rPr>
              <a:t>按性别划分</a:t>
            </a:r>
            <a:r>
              <a:rPr kumimoji="1" lang="en-US" altLang="zh-CN" sz="2400" dirty="0">
                <a:solidFill>
                  <a:srgbClr val="0070C0"/>
                </a:solidFill>
                <a:latin typeface="Times New Roman" pitchFamily="18" charset="0"/>
              </a:rPr>
              <a:t>, </a:t>
            </a:r>
            <a:r>
              <a:rPr kumimoji="1" lang="zh-CN" altLang="en-US" sz="2400" dirty="0">
                <a:solidFill>
                  <a:srgbClr val="0070C0"/>
                </a:solidFill>
                <a:latin typeface="宋体" pitchFamily="2" charset="-122"/>
              </a:rPr>
              <a:t>实例集</a:t>
            </a:r>
            <a:r>
              <a:rPr kumimoji="1" lang="en-US" altLang="zh-CN" sz="2400" i="1" dirty="0">
                <a:solidFill>
                  <a:srgbClr val="0070C0"/>
                </a:solidFill>
                <a:latin typeface="Times New Roman" pitchFamily="18" charset="0"/>
              </a:rPr>
              <a:t>S</a:t>
            </a:r>
            <a:r>
              <a:rPr kumimoji="1" lang="zh-CN" altLang="en-US" sz="2400" dirty="0">
                <a:solidFill>
                  <a:srgbClr val="0070C0"/>
                </a:solidFill>
                <a:latin typeface="宋体" pitchFamily="2" charset="-122"/>
              </a:rPr>
              <a:t>被分为两个子类</a:t>
            </a:r>
            <a:r>
              <a:rPr kumimoji="1" lang="en-US" altLang="zh-CN" sz="2400" dirty="0">
                <a:solidFill>
                  <a:srgbClr val="0070C0"/>
                </a:solidFill>
                <a:latin typeface="Times New Roman" pitchFamily="18" charset="0"/>
              </a:rPr>
              <a:t>: </a:t>
            </a:r>
          </a:p>
        </p:txBody>
      </p:sp>
      <p:sp>
        <p:nvSpPr>
          <p:cNvPr id="49155" name="Text Box 3"/>
          <p:cNvSpPr txBox="1">
            <a:spLocks noChangeArrowheads="1"/>
          </p:cNvSpPr>
          <p:nvPr/>
        </p:nvSpPr>
        <p:spPr bwMode="auto">
          <a:xfrm>
            <a:off x="1543050" y="1189038"/>
            <a:ext cx="6288901" cy="1130246"/>
          </a:xfrm>
          <a:prstGeom prst="rect">
            <a:avLst/>
          </a:prstGeom>
          <a:noFill/>
          <a:ln w="9525">
            <a:noFill/>
            <a:miter lim="800000"/>
            <a:headEnd/>
            <a:tailEnd/>
          </a:ln>
          <a:effectLst/>
        </p:spPr>
        <p:txBody>
          <a:bodyPr wrap="none">
            <a:spAutoFit/>
          </a:bodyPr>
          <a:lstStyle/>
          <a:p>
            <a:pPr>
              <a:lnSpc>
                <a:spcPct val="150000"/>
              </a:lnSpc>
            </a:pPr>
            <a:r>
              <a:rPr kumimoji="1" lang="en-US" altLang="zh-CN" sz="2400" i="1" dirty="0">
                <a:solidFill>
                  <a:srgbClr val="0070C0"/>
                </a:solidFill>
                <a:latin typeface="Times New Roman" pitchFamily="18" charset="0"/>
              </a:rPr>
              <a:t>    S</a:t>
            </a:r>
            <a:r>
              <a:rPr kumimoji="1" lang="zh-CN" altLang="en-US" sz="2400" baseline="-30000" dirty="0">
                <a:solidFill>
                  <a:srgbClr val="0070C0"/>
                </a:solidFill>
                <a:latin typeface="Times New Roman" pitchFamily="18" charset="0"/>
              </a:rPr>
              <a:t>男 </a:t>
            </a:r>
            <a:r>
              <a:rPr kumimoji="1" lang="en-US" altLang="zh-CN" sz="2400" dirty="0">
                <a:solidFill>
                  <a:srgbClr val="0070C0"/>
                </a:solidFill>
                <a:latin typeface="Times New Roman" pitchFamily="18" charset="0"/>
              </a:rPr>
              <a:t>={(3,C), (4,B), (7,C), (8,B), (11,B), (12,B)}</a:t>
            </a:r>
          </a:p>
          <a:p>
            <a:pPr>
              <a:lnSpc>
                <a:spcPct val="150000"/>
              </a:lnSpc>
            </a:pPr>
            <a:r>
              <a:rPr kumimoji="1" lang="zh-CN" altLang="en-US" sz="2400" i="1" dirty="0">
                <a:solidFill>
                  <a:srgbClr val="0070C0"/>
                </a:solidFill>
                <a:latin typeface="Times New Roman" pitchFamily="18" charset="0"/>
              </a:rPr>
              <a:t>　</a:t>
            </a:r>
            <a:r>
              <a:rPr kumimoji="1" lang="en-US" altLang="zh-CN" sz="2400" i="1" dirty="0">
                <a:solidFill>
                  <a:srgbClr val="0070C0"/>
                </a:solidFill>
                <a:latin typeface="Times New Roman" pitchFamily="18" charset="0"/>
              </a:rPr>
              <a:t>S</a:t>
            </a:r>
            <a:r>
              <a:rPr kumimoji="1" lang="zh-CN" altLang="en-US" sz="2400" baseline="-30000" dirty="0">
                <a:solidFill>
                  <a:srgbClr val="0070C0"/>
                </a:solidFill>
                <a:latin typeface="宋体" pitchFamily="2" charset="-122"/>
              </a:rPr>
              <a:t>女</a:t>
            </a:r>
            <a:r>
              <a:rPr kumimoji="1" lang="zh-CN" altLang="en-US" sz="2400" baseline="-30000" dirty="0">
                <a:solidFill>
                  <a:srgbClr val="0070C0"/>
                </a:solidFill>
                <a:latin typeface="Times New Roman" pitchFamily="18" charset="0"/>
              </a:rPr>
              <a:t> </a:t>
            </a:r>
            <a:r>
              <a:rPr kumimoji="1" lang="en-US" altLang="zh-CN" sz="2400" dirty="0">
                <a:solidFill>
                  <a:srgbClr val="0070C0"/>
                </a:solidFill>
                <a:latin typeface="Times New Roman" pitchFamily="18" charset="0"/>
              </a:rPr>
              <a:t>={(1,C), (2,C), (5,A), (6,A), (9,A), (10,A)} </a:t>
            </a:r>
          </a:p>
        </p:txBody>
      </p:sp>
      <p:sp>
        <p:nvSpPr>
          <p:cNvPr id="49156" name="Text Box 4"/>
          <p:cNvSpPr txBox="1">
            <a:spLocks noChangeArrowheads="1"/>
          </p:cNvSpPr>
          <p:nvPr/>
        </p:nvSpPr>
        <p:spPr bwMode="auto">
          <a:xfrm>
            <a:off x="630589" y="2555875"/>
            <a:ext cx="2978150" cy="457200"/>
          </a:xfrm>
          <a:prstGeom prst="rect">
            <a:avLst/>
          </a:prstGeom>
          <a:noFill/>
          <a:ln w="9525">
            <a:noFill/>
            <a:miter lim="800000"/>
            <a:headEnd/>
            <a:tailEnd/>
          </a:ln>
          <a:effectLst/>
        </p:spPr>
        <p:txBody>
          <a:bodyPr>
            <a:spAutoFit/>
          </a:bodyPr>
          <a:lstStyle/>
          <a:p>
            <a:r>
              <a:rPr kumimoji="1" lang="zh-CN" altLang="en-US" sz="2400" dirty="0">
                <a:solidFill>
                  <a:srgbClr val="0070C0"/>
                </a:solidFill>
                <a:latin typeface="Times New Roman" pitchFamily="18" charset="0"/>
              </a:rPr>
              <a:t>从而</a:t>
            </a:r>
            <a:r>
              <a:rPr kumimoji="1" lang="en-US" altLang="zh-CN" sz="2400" dirty="0">
                <a:solidFill>
                  <a:srgbClr val="0070C0"/>
                </a:solidFill>
                <a:latin typeface="Times New Roman" pitchFamily="18" charset="0"/>
              </a:rPr>
              <a:t>, </a:t>
            </a:r>
            <a:r>
              <a:rPr kumimoji="1" lang="zh-CN" altLang="en-US" sz="2400" dirty="0">
                <a:solidFill>
                  <a:srgbClr val="0070C0"/>
                </a:solidFill>
                <a:latin typeface="Times New Roman" pitchFamily="18" charset="0"/>
              </a:rPr>
              <a:t>对子集</a:t>
            </a:r>
            <a:r>
              <a:rPr kumimoji="1" lang="en-US" altLang="zh-CN" sz="2400" i="1" dirty="0">
                <a:solidFill>
                  <a:srgbClr val="0070C0"/>
                </a:solidFill>
                <a:latin typeface="Times New Roman" pitchFamily="18" charset="0"/>
              </a:rPr>
              <a:t>S</a:t>
            </a:r>
            <a:r>
              <a:rPr kumimoji="1" lang="zh-CN" altLang="en-US" sz="2400" baseline="-25000" dirty="0">
                <a:solidFill>
                  <a:srgbClr val="0070C0"/>
                </a:solidFill>
                <a:latin typeface="Times New Roman" pitchFamily="18" charset="0"/>
              </a:rPr>
              <a:t>男</a:t>
            </a:r>
            <a:r>
              <a:rPr kumimoji="1" lang="zh-CN" altLang="en-US" sz="2400" dirty="0">
                <a:solidFill>
                  <a:srgbClr val="0070C0"/>
                </a:solidFill>
                <a:latin typeface="Times New Roman" pitchFamily="18" charset="0"/>
              </a:rPr>
              <a:t>而言</a:t>
            </a:r>
            <a:r>
              <a:rPr kumimoji="1" lang="en-US" altLang="zh-CN" sz="2400" dirty="0">
                <a:solidFill>
                  <a:srgbClr val="0070C0"/>
                </a:solidFill>
                <a:latin typeface="Times New Roman" pitchFamily="18" charset="0"/>
              </a:rPr>
              <a:t>, </a:t>
            </a:r>
          </a:p>
        </p:txBody>
      </p:sp>
      <p:graphicFrame>
        <p:nvGraphicFramePr>
          <p:cNvPr id="49157" name="Object 5"/>
          <p:cNvGraphicFramePr>
            <a:graphicFrameLocks noChangeAspect="1"/>
          </p:cNvGraphicFramePr>
          <p:nvPr/>
        </p:nvGraphicFramePr>
        <p:xfrm>
          <a:off x="2428860" y="3214687"/>
          <a:ext cx="4648200" cy="785818"/>
        </p:xfrm>
        <a:graphic>
          <a:graphicData uri="http://schemas.openxmlformats.org/presentationml/2006/ole">
            <mc:AlternateContent xmlns:mc="http://schemas.openxmlformats.org/markup-compatibility/2006">
              <mc:Choice xmlns:v="urn:schemas-microsoft-com:vml" Requires="v">
                <p:oleObj name="Equation" r:id="rId2" imgW="2095200" imgH="393480" progId="Equation.3">
                  <p:embed/>
                </p:oleObj>
              </mc:Choice>
              <mc:Fallback>
                <p:oleObj name="Equation" r:id="rId2" imgW="2095200" imgH="393480" progId="Equation.3">
                  <p:embed/>
                  <p:pic>
                    <p:nvPicPr>
                      <p:cNvPr id="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8860" y="3214687"/>
                        <a:ext cx="4648200" cy="785818"/>
                      </a:xfrm>
                      <a:prstGeom prst="rect">
                        <a:avLst/>
                      </a:prstGeom>
                      <a:solidFill>
                        <a:srgbClr val="FFFF00"/>
                      </a:solidFill>
                    </p:spPr>
                  </p:pic>
                </p:oleObj>
              </mc:Fallback>
            </mc:AlternateContent>
          </a:graphicData>
        </a:graphic>
      </p:graphicFrame>
      <p:sp>
        <p:nvSpPr>
          <p:cNvPr id="49158" name="Text Box 6"/>
          <p:cNvSpPr txBox="1">
            <a:spLocks noChangeArrowheads="1"/>
          </p:cNvSpPr>
          <p:nvPr/>
        </p:nvSpPr>
        <p:spPr bwMode="auto">
          <a:xfrm>
            <a:off x="734952" y="4141836"/>
            <a:ext cx="2216150" cy="457200"/>
          </a:xfrm>
          <a:prstGeom prst="rect">
            <a:avLst/>
          </a:prstGeom>
          <a:noFill/>
          <a:ln w="9525">
            <a:noFill/>
            <a:miter lim="800000"/>
            <a:headEnd/>
            <a:tailEnd/>
          </a:ln>
          <a:effectLst/>
        </p:spPr>
        <p:txBody>
          <a:bodyPr>
            <a:spAutoFit/>
          </a:bodyPr>
          <a:lstStyle/>
          <a:p>
            <a:r>
              <a:rPr kumimoji="1" lang="zh-CN" altLang="en-US" sz="2400" dirty="0">
                <a:solidFill>
                  <a:srgbClr val="0070C0"/>
                </a:solidFill>
                <a:latin typeface="宋体" pitchFamily="2" charset="-122"/>
              </a:rPr>
              <a:t>对子集</a:t>
            </a:r>
            <a:r>
              <a:rPr kumimoji="1" lang="en-US" altLang="zh-CN" sz="2400" i="1" dirty="0">
                <a:solidFill>
                  <a:srgbClr val="0070C0"/>
                </a:solidFill>
                <a:latin typeface="Times New Roman" pitchFamily="18" charset="0"/>
              </a:rPr>
              <a:t>S</a:t>
            </a:r>
            <a:r>
              <a:rPr kumimoji="1" lang="zh-CN" altLang="en-US" sz="2400" baseline="-25000" dirty="0">
                <a:solidFill>
                  <a:srgbClr val="0070C0"/>
                </a:solidFill>
                <a:latin typeface="宋体" pitchFamily="2" charset="-122"/>
              </a:rPr>
              <a:t>女</a:t>
            </a:r>
            <a:r>
              <a:rPr kumimoji="1" lang="zh-CN" altLang="en-US" sz="2400" dirty="0">
                <a:solidFill>
                  <a:srgbClr val="0070C0"/>
                </a:solidFill>
                <a:latin typeface="宋体" pitchFamily="2" charset="-122"/>
              </a:rPr>
              <a:t>而言</a:t>
            </a:r>
            <a:r>
              <a:rPr kumimoji="1" lang="en-US" altLang="zh-CN" sz="2400" dirty="0">
                <a:solidFill>
                  <a:srgbClr val="0070C0"/>
                </a:solidFill>
                <a:latin typeface="Times New Roman" pitchFamily="18" charset="0"/>
              </a:rPr>
              <a:t>, </a:t>
            </a:r>
          </a:p>
        </p:txBody>
      </p:sp>
      <p:graphicFrame>
        <p:nvGraphicFramePr>
          <p:cNvPr id="49159" name="Object 7"/>
          <p:cNvGraphicFramePr>
            <a:graphicFrameLocks noChangeAspect="1"/>
          </p:cNvGraphicFramePr>
          <p:nvPr/>
        </p:nvGraphicFramePr>
        <p:xfrm>
          <a:off x="2428860" y="4800600"/>
          <a:ext cx="4625784" cy="771540"/>
        </p:xfrm>
        <a:graphic>
          <a:graphicData uri="http://schemas.openxmlformats.org/presentationml/2006/ole">
            <mc:AlternateContent xmlns:mc="http://schemas.openxmlformats.org/markup-compatibility/2006">
              <mc:Choice xmlns:v="urn:schemas-microsoft-com:vml" Requires="v">
                <p:oleObj name="Equation" r:id="rId4" imgW="2095200" imgH="393480" progId="Equation.3">
                  <p:embed/>
                </p:oleObj>
              </mc:Choice>
              <mc:Fallback>
                <p:oleObj name="Equation" r:id="rId4" imgW="2095200" imgH="393480" progId="Equation.3">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8860" y="4800600"/>
                        <a:ext cx="4625784" cy="771540"/>
                      </a:xfrm>
                      <a:prstGeom prst="rect">
                        <a:avLst/>
                      </a:prstGeom>
                      <a:solidFill>
                        <a:srgbClr val="FFFF99"/>
                      </a:solidFill>
                    </p:spPr>
                  </p:pic>
                </p:oleObj>
              </mc:Fallback>
            </mc:AlternateContent>
          </a:graphicData>
        </a:graphic>
      </p:graphicFrame>
      <p:graphicFrame>
        <p:nvGraphicFramePr>
          <p:cNvPr id="3" name="Object 4">
            <a:extLst>
              <a:ext uri="{FF2B5EF4-FFF2-40B4-BE49-F238E27FC236}">
                <a16:creationId xmlns:a16="http://schemas.microsoft.com/office/drawing/2014/main" id="{31A65F62-36F8-3641-5B15-6B5EBCBCFC49}"/>
              </a:ext>
            </a:extLst>
          </p:cNvPr>
          <p:cNvGraphicFramePr>
            <a:graphicFrameLocks noChangeAspect="1"/>
          </p:cNvGraphicFramePr>
          <p:nvPr>
            <p:extLst>
              <p:ext uri="{D42A27DB-BD31-4B8C-83A1-F6EECF244321}">
                <p14:modId xmlns:p14="http://schemas.microsoft.com/office/powerpoint/2010/main" val="2769371582"/>
              </p:ext>
            </p:extLst>
          </p:nvPr>
        </p:nvGraphicFramePr>
        <p:xfrm>
          <a:off x="3563888" y="2441522"/>
          <a:ext cx="2638425" cy="714375"/>
        </p:xfrm>
        <a:graphic>
          <a:graphicData uri="http://schemas.openxmlformats.org/presentationml/2006/ole">
            <mc:AlternateContent xmlns:mc="http://schemas.openxmlformats.org/markup-compatibility/2006">
              <mc:Choice xmlns:v="urn:schemas-microsoft-com:vml" Requires="v">
                <p:oleObj name="Equation" r:id="rId6" imgW="1612800" imgH="431640" progId="Equation.3">
                  <p:embed/>
                </p:oleObj>
              </mc:Choice>
              <mc:Fallback>
                <p:oleObj name="Equation" r:id="rId6" imgW="1612800" imgH="431640" progId="Equation.3">
                  <p:embed/>
                  <p:pic>
                    <p:nvPicPr>
                      <p:cNvPr id="4403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3888" y="2441522"/>
                        <a:ext cx="2638425" cy="714375"/>
                      </a:xfrm>
                      <a:prstGeom prst="rect">
                        <a:avLst/>
                      </a:prstGeom>
                      <a:solidFill>
                        <a:srgbClr val="FF6600"/>
                      </a:solidFill>
                    </p:spPr>
                  </p:pic>
                </p:oleObj>
              </mc:Fallback>
            </mc:AlternateContent>
          </a:graphicData>
        </a:graphic>
      </p:graphicFrame>
      <p:grpSp>
        <p:nvGrpSpPr>
          <p:cNvPr id="2" name="组合 1">
            <a:extLst>
              <a:ext uri="{FF2B5EF4-FFF2-40B4-BE49-F238E27FC236}">
                <a16:creationId xmlns:a16="http://schemas.microsoft.com/office/drawing/2014/main" id="{0A563610-05A3-81A1-BE46-A3C774DDAA10}"/>
              </a:ext>
            </a:extLst>
          </p:cNvPr>
          <p:cNvGrpSpPr/>
          <p:nvPr/>
        </p:nvGrpSpPr>
        <p:grpSpPr>
          <a:xfrm>
            <a:off x="6444208" y="385091"/>
            <a:ext cx="2568575" cy="882527"/>
            <a:chOff x="6444208" y="385091"/>
            <a:chExt cx="2568575" cy="882527"/>
          </a:xfrm>
        </p:grpSpPr>
        <p:graphicFrame>
          <p:nvGraphicFramePr>
            <p:cNvPr id="4" name="Object 14">
              <a:extLst>
                <a:ext uri="{FF2B5EF4-FFF2-40B4-BE49-F238E27FC236}">
                  <a16:creationId xmlns:a16="http://schemas.microsoft.com/office/drawing/2014/main" id="{D7F320F4-448D-2B83-1145-FF2E7FFEC1EA}"/>
                </a:ext>
              </a:extLst>
            </p:cNvPr>
            <p:cNvGraphicFramePr>
              <a:graphicFrameLocks noChangeAspect="1"/>
            </p:cNvGraphicFramePr>
            <p:nvPr>
              <p:extLst>
                <p:ext uri="{D42A27DB-BD31-4B8C-83A1-F6EECF244321}">
                  <p14:modId xmlns:p14="http://schemas.microsoft.com/office/powerpoint/2010/main" val="1370202503"/>
                </p:ext>
              </p:extLst>
            </p:nvPr>
          </p:nvGraphicFramePr>
          <p:xfrm>
            <a:off x="6444208" y="408781"/>
            <a:ext cx="2568575" cy="858837"/>
          </p:xfrm>
          <a:graphic>
            <a:graphicData uri="http://schemas.openxmlformats.org/presentationml/2006/ole">
              <mc:AlternateContent xmlns:mc="http://schemas.openxmlformats.org/markup-compatibility/2006">
                <mc:Choice xmlns:v="urn:schemas-microsoft-com:vml" Requires="v">
                  <p:oleObj name="Equation" r:id="rId8" imgW="1625400" imgH="520560" progId="Equation.3">
                    <p:embed/>
                  </p:oleObj>
                </mc:Choice>
                <mc:Fallback>
                  <p:oleObj name="Equation" r:id="rId8" imgW="1625400" imgH="520560" progId="Equation.3">
                    <p:embed/>
                    <p:pic>
                      <p:nvPicPr>
                        <p:cNvPr id="2" name="Object 14">
                          <a:extLst>
                            <a:ext uri="{FF2B5EF4-FFF2-40B4-BE49-F238E27FC236}">
                              <a16:creationId xmlns:a16="http://schemas.microsoft.com/office/drawing/2014/main" id="{8876347C-95A0-E2B7-8F7F-9FF5C5285C3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44208" y="408781"/>
                          <a:ext cx="2568575" cy="858837"/>
                        </a:xfrm>
                        <a:prstGeom prst="rect">
                          <a:avLst/>
                        </a:prstGeom>
                        <a:solidFill>
                          <a:srgbClr val="CCFFCC"/>
                        </a:solidFill>
                      </p:spPr>
                    </p:pic>
                  </p:oleObj>
                </mc:Fallback>
              </mc:AlternateContent>
            </a:graphicData>
          </a:graphic>
        </p:graphicFrame>
        <p:sp>
          <p:nvSpPr>
            <p:cNvPr id="5" name="矩形 4">
              <a:extLst>
                <a:ext uri="{FF2B5EF4-FFF2-40B4-BE49-F238E27FC236}">
                  <a16:creationId xmlns:a16="http://schemas.microsoft.com/office/drawing/2014/main" id="{4295B40E-14AF-2238-E6C7-31BE5BECD343}"/>
                </a:ext>
              </a:extLst>
            </p:cNvPr>
            <p:cNvSpPr/>
            <p:nvPr/>
          </p:nvSpPr>
          <p:spPr>
            <a:xfrm>
              <a:off x="7054644" y="385091"/>
              <a:ext cx="196433" cy="8588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4FF24814-2236-9FBB-CD49-F74DBC319C69}"/>
                </a:ext>
              </a:extLst>
            </p:cNvPr>
            <p:cNvSpPr txBox="1"/>
            <p:nvPr/>
          </p:nvSpPr>
          <p:spPr>
            <a:xfrm>
              <a:off x="6956427" y="519017"/>
              <a:ext cx="196433" cy="646331"/>
            </a:xfrm>
            <a:prstGeom prst="rect">
              <a:avLst/>
            </a:prstGeom>
            <a:noFill/>
          </p:spPr>
          <p:txBody>
            <a:bodyPr wrap="square" rtlCol="0">
              <a:spAutoFit/>
            </a:bodyPr>
            <a:lstStyle/>
            <a:p>
              <a:r>
                <a:rPr lang="zh-CN" altLang="en-US" dirty="0"/>
                <a:t>性别</a:t>
              </a:r>
            </a:p>
          </p:txBody>
        </p:sp>
      </p:grpSp>
      <p:pic>
        <p:nvPicPr>
          <p:cNvPr id="8" name="图片 7">
            <a:extLst>
              <a:ext uri="{FF2B5EF4-FFF2-40B4-BE49-F238E27FC236}">
                <a16:creationId xmlns:a16="http://schemas.microsoft.com/office/drawing/2014/main" id="{B650B7C4-A6BB-FD4C-A8FF-A7BB366758F4}"/>
              </a:ext>
            </a:extLst>
          </p:cNvPr>
          <p:cNvPicPr>
            <a:picLocks noChangeAspect="1"/>
          </p:cNvPicPr>
          <p:nvPr/>
        </p:nvPicPr>
        <p:blipFill>
          <a:blip r:embed="rId10"/>
          <a:stretch>
            <a:fillRect/>
          </a:stretch>
        </p:blipFill>
        <p:spPr>
          <a:xfrm>
            <a:off x="6741245" y="2620416"/>
            <a:ext cx="823230" cy="376584"/>
          </a:xfrm>
          <a:prstGeom prst="rect">
            <a:avLst/>
          </a:prstGeom>
        </p:spPr>
      </p:pic>
      <p:cxnSp>
        <p:nvCxnSpPr>
          <p:cNvPr id="10" name="直接箭头连接符 9">
            <a:extLst>
              <a:ext uri="{FF2B5EF4-FFF2-40B4-BE49-F238E27FC236}">
                <a16:creationId xmlns:a16="http://schemas.microsoft.com/office/drawing/2014/main" id="{5983ECC5-5813-6D47-32D2-FAFDDD1455A5}"/>
              </a:ext>
            </a:extLst>
          </p:cNvPr>
          <p:cNvCxnSpPr/>
          <p:nvPr/>
        </p:nvCxnSpPr>
        <p:spPr>
          <a:xfrm>
            <a:off x="6202313" y="2798709"/>
            <a:ext cx="5040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A2A61709-28D2-A975-3F71-4FE765EA3856}"/>
              </a:ext>
            </a:extLst>
          </p:cNvPr>
          <p:cNvSpPr txBox="1"/>
          <p:nvPr/>
        </p:nvSpPr>
        <p:spPr>
          <a:xfrm>
            <a:off x="7866827" y="2319284"/>
            <a:ext cx="1251244" cy="923330"/>
          </a:xfrm>
          <a:prstGeom prst="rect">
            <a:avLst/>
          </a:prstGeom>
          <a:noFill/>
        </p:spPr>
        <p:txBody>
          <a:bodyPr wrap="square" rtlCol="0">
            <a:spAutoFit/>
          </a:bodyPr>
          <a:lstStyle/>
          <a:p>
            <a:r>
              <a:rPr lang="zh-CN" altLang="en-US" b="1" dirty="0">
                <a:solidFill>
                  <a:srgbClr val="FF0000"/>
                </a:solidFill>
              </a:rPr>
              <a:t>需要知道每一种结论的概率</a:t>
            </a:r>
          </a:p>
        </p:txBody>
      </p:sp>
      <p:cxnSp>
        <p:nvCxnSpPr>
          <p:cNvPr id="12" name="直接箭头连接符 11">
            <a:extLst>
              <a:ext uri="{FF2B5EF4-FFF2-40B4-BE49-F238E27FC236}">
                <a16:creationId xmlns:a16="http://schemas.microsoft.com/office/drawing/2014/main" id="{BCF484B9-6E6A-92B4-8534-7A1046A66F44}"/>
              </a:ext>
            </a:extLst>
          </p:cNvPr>
          <p:cNvCxnSpPr>
            <a:cxnSpLocks/>
          </p:cNvCxnSpPr>
          <p:nvPr/>
        </p:nvCxnSpPr>
        <p:spPr>
          <a:xfrm>
            <a:off x="7668344" y="2780928"/>
            <a:ext cx="2478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3FF1E605-C83E-89A3-791B-D5572B2CE0A3}"/>
              </a:ext>
            </a:extLst>
          </p:cNvPr>
          <p:cNvPicPr>
            <a:picLocks noChangeAspect="1"/>
          </p:cNvPicPr>
          <p:nvPr/>
        </p:nvPicPr>
        <p:blipFill>
          <a:blip r:embed="rId11"/>
          <a:stretch>
            <a:fillRect/>
          </a:stretch>
        </p:blipFill>
        <p:spPr>
          <a:xfrm>
            <a:off x="5097116" y="2961391"/>
            <a:ext cx="150982" cy="176146"/>
          </a:xfrm>
          <a:prstGeom prst="rect">
            <a:avLst/>
          </a:prstGeom>
        </p:spPr>
      </p:pic>
      <p:cxnSp>
        <p:nvCxnSpPr>
          <p:cNvPr id="17" name="直接箭头连接符 16">
            <a:extLst>
              <a:ext uri="{FF2B5EF4-FFF2-40B4-BE49-F238E27FC236}">
                <a16:creationId xmlns:a16="http://schemas.microsoft.com/office/drawing/2014/main" id="{49AE0BA3-A5F7-85A9-CD0D-FB689F856C36}"/>
              </a:ext>
            </a:extLst>
          </p:cNvPr>
          <p:cNvCxnSpPr/>
          <p:nvPr/>
        </p:nvCxnSpPr>
        <p:spPr>
          <a:xfrm>
            <a:off x="5292080" y="3049464"/>
            <a:ext cx="1440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698245D1-1C4D-9BCD-8EBA-82CA0B870252}"/>
              </a:ext>
            </a:extLst>
          </p:cNvPr>
          <p:cNvSpPr txBox="1"/>
          <p:nvPr/>
        </p:nvSpPr>
        <p:spPr>
          <a:xfrm>
            <a:off x="5364088" y="2845355"/>
            <a:ext cx="753650" cy="369332"/>
          </a:xfrm>
          <a:prstGeom prst="rect">
            <a:avLst/>
          </a:prstGeom>
          <a:noFill/>
        </p:spPr>
        <p:txBody>
          <a:bodyPr wrap="square">
            <a:spAutoFit/>
          </a:bodyPr>
          <a:lstStyle/>
          <a:p>
            <a:r>
              <a:rPr lang="zh-CN" altLang="en-US" b="1" dirty="0">
                <a:solidFill>
                  <a:schemeClr val="bg1"/>
                </a:solidFill>
              </a:rPr>
              <a:t>结论</a:t>
            </a:r>
            <a:endParaRPr lang="zh-CN" altLang="en-US" dirty="0">
              <a:solidFill>
                <a:schemeClr val="bg1"/>
              </a:solidFill>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5C39B87-BACF-F627-16B5-5269D2F582D8}"/>
                  </a:ext>
                </a:extLst>
              </p:cNvPr>
              <p:cNvSpPr txBox="1"/>
              <p:nvPr/>
            </p:nvSpPr>
            <p:spPr>
              <a:xfrm>
                <a:off x="7659109" y="1216146"/>
                <a:ext cx="147130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r>
                        <a:rPr lang="zh-CN" altLang="en-US" i="1">
                          <a:latin typeface="Cambria Math" panose="02040503050406030204" pitchFamily="18" charset="0"/>
                        </a:rPr>
                        <m:t>男</m:t>
                      </m:r>
                      <m:r>
                        <a:rPr lang="zh-CN" altLang="en-US" i="1" smtClean="0">
                          <a:latin typeface="Cambria Math" panose="02040503050406030204" pitchFamily="18" charset="0"/>
                        </a:rPr>
                        <m:t>，</m:t>
                      </m:r>
                      <m:r>
                        <a:rPr lang="zh-CN" altLang="en-US" i="1">
                          <a:latin typeface="Cambria Math" panose="02040503050406030204" pitchFamily="18" charset="0"/>
                        </a:rPr>
                        <m:t>女</m:t>
                      </m:r>
                      <m:r>
                        <a:rPr lang="en-US" altLang="zh-CN" b="0" i="1" smtClean="0">
                          <a:latin typeface="Cambria Math" panose="02040503050406030204" pitchFamily="18" charset="0"/>
                        </a:rPr>
                        <m:t>}</m:t>
                      </m:r>
                    </m:oMath>
                  </m:oMathPara>
                </a14:m>
                <a:endParaRPr lang="zh-CN" altLang="en-US" dirty="0"/>
              </a:p>
            </p:txBody>
          </p:sp>
        </mc:Choice>
        <mc:Fallback xmlns="">
          <p:sp>
            <p:nvSpPr>
              <p:cNvPr id="7" name="文本框 6">
                <a:extLst>
                  <a:ext uri="{FF2B5EF4-FFF2-40B4-BE49-F238E27FC236}">
                    <a16:creationId xmlns:a16="http://schemas.microsoft.com/office/drawing/2014/main" id="{C5C39B87-BACF-F627-16B5-5269D2F582D8}"/>
                  </a:ext>
                </a:extLst>
              </p:cNvPr>
              <p:cNvSpPr txBox="1">
                <a:spLocks noRot="1" noChangeAspect="1" noMove="1" noResize="1" noEditPoints="1" noAdjustHandles="1" noChangeArrowheads="1" noChangeShapeType="1" noTextEdit="1"/>
              </p:cNvSpPr>
              <p:nvPr/>
            </p:nvSpPr>
            <p:spPr>
              <a:xfrm>
                <a:off x="7659109" y="1216146"/>
                <a:ext cx="1471300" cy="276999"/>
              </a:xfrm>
              <a:prstGeom prst="rect">
                <a:avLst/>
              </a:prstGeom>
              <a:blipFill>
                <a:blip r:embed="rId12"/>
                <a:stretch>
                  <a:fillRect l="-1653" t="-8696" r="-5372" b="-39130"/>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155"/>
                                        </p:tgtEl>
                                        <p:attrNameLst>
                                          <p:attrName>style.visibility</p:attrName>
                                        </p:attrNameLst>
                                      </p:cBhvr>
                                      <p:to>
                                        <p:strVal val="visible"/>
                                      </p:to>
                                    </p:set>
                                    <p:animEffect transition="in" filter="blinds(horizontal)">
                                      <p:cBhvr>
                                        <p:cTn id="7" dur="500"/>
                                        <p:tgtEl>
                                          <p:spTgt spid="4915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9156"/>
                                        </p:tgtEl>
                                        <p:attrNameLst>
                                          <p:attrName>style.visibility</p:attrName>
                                        </p:attrNameLst>
                                      </p:cBhvr>
                                      <p:to>
                                        <p:strVal val="visible"/>
                                      </p:to>
                                    </p:set>
                                    <p:anim calcmode="lin" valueType="num">
                                      <p:cBhvr additive="base">
                                        <p:cTn id="12" dur="500" fill="hold"/>
                                        <p:tgtEl>
                                          <p:spTgt spid="49156"/>
                                        </p:tgtEl>
                                        <p:attrNameLst>
                                          <p:attrName>ppt_x</p:attrName>
                                        </p:attrNameLst>
                                      </p:cBhvr>
                                      <p:tavLst>
                                        <p:tav tm="0">
                                          <p:val>
                                            <p:strVal val="#ppt_x"/>
                                          </p:val>
                                        </p:tav>
                                        <p:tav tm="100000">
                                          <p:val>
                                            <p:strVal val="#ppt_x"/>
                                          </p:val>
                                        </p:tav>
                                      </p:tavLst>
                                    </p:anim>
                                    <p:anim calcmode="lin" valueType="num">
                                      <p:cBhvr additive="base">
                                        <p:cTn id="13" dur="500" fill="hold"/>
                                        <p:tgtEl>
                                          <p:spTgt spid="4915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9157"/>
                                        </p:tgtEl>
                                        <p:attrNameLst>
                                          <p:attrName>style.visibility</p:attrName>
                                        </p:attrNameLst>
                                      </p:cBhvr>
                                      <p:to>
                                        <p:strVal val="visible"/>
                                      </p:to>
                                    </p:set>
                                    <p:animEffect transition="in" filter="blinds(horizontal)">
                                      <p:cBhvr>
                                        <p:cTn id="18" dur="500"/>
                                        <p:tgtEl>
                                          <p:spTgt spid="4915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9158"/>
                                        </p:tgtEl>
                                        <p:attrNameLst>
                                          <p:attrName>style.visibility</p:attrName>
                                        </p:attrNameLst>
                                      </p:cBhvr>
                                      <p:to>
                                        <p:strVal val="visible"/>
                                      </p:to>
                                    </p:set>
                                    <p:anim calcmode="lin" valueType="num">
                                      <p:cBhvr additive="base">
                                        <p:cTn id="23" dur="500" fill="hold"/>
                                        <p:tgtEl>
                                          <p:spTgt spid="49158"/>
                                        </p:tgtEl>
                                        <p:attrNameLst>
                                          <p:attrName>ppt_x</p:attrName>
                                        </p:attrNameLst>
                                      </p:cBhvr>
                                      <p:tavLst>
                                        <p:tav tm="0">
                                          <p:val>
                                            <p:strVal val="#ppt_x"/>
                                          </p:val>
                                        </p:tav>
                                        <p:tav tm="100000">
                                          <p:val>
                                            <p:strVal val="#ppt_x"/>
                                          </p:val>
                                        </p:tav>
                                      </p:tavLst>
                                    </p:anim>
                                    <p:anim calcmode="lin" valueType="num">
                                      <p:cBhvr additive="base">
                                        <p:cTn id="24" dur="500" fill="hold"/>
                                        <p:tgtEl>
                                          <p:spTgt spid="4915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49159"/>
                                        </p:tgtEl>
                                        <p:attrNameLst>
                                          <p:attrName>style.visibility</p:attrName>
                                        </p:attrNameLst>
                                      </p:cBhvr>
                                      <p:to>
                                        <p:strVal val="visible"/>
                                      </p:to>
                                    </p:set>
                                    <p:animEffect transition="in" filter="blinds(horizontal)">
                                      <p:cBhvr>
                                        <p:cTn id="29" dur="500"/>
                                        <p:tgtEl>
                                          <p:spTgt spid="49159"/>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blinds(horizontal)">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p:bldP spid="49156" grpId="0"/>
      <p:bldP spid="4915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593725" y="668592"/>
            <a:ext cx="2962671" cy="461665"/>
          </a:xfrm>
          <a:prstGeom prst="rect">
            <a:avLst/>
          </a:prstGeom>
          <a:noFill/>
          <a:ln w="9525">
            <a:noFill/>
            <a:miter lim="800000"/>
            <a:headEnd/>
            <a:tailEnd/>
          </a:ln>
          <a:effectLst/>
        </p:spPr>
        <p:txBody>
          <a:bodyPr wrap="none">
            <a:spAutoFit/>
          </a:bodyPr>
          <a:lstStyle/>
          <a:p>
            <a:r>
              <a:rPr kumimoji="1" lang="zh-CN" altLang="en-US" sz="2400" dirty="0">
                <a:solidFill>
                  <a:srgbClr val="0070C0"/>
                </a:solidFill>
                <a:latin typeface="宋体" pitchFamily="2" charset="-122"/>
              </a:rPr>
              <a:t>于是</a:t>
            </a:r>
            <a:r>
              <a:rPr kumimoji="1" lang="en-US" altLang="zh-CN" sz="2400" dirty="0">
                <a:solidFill>
                  <a:srgbClr val="0070C0"/>
                </a:solidFill>
                <a:latin typeface="Times New Roman" pitchFamily="18" charset="0"/>
              </a:rPr>
              <a:t>, </a:t>
            </a:r>
            <a:r>
              <a:rPr kumimoji="1" lang="zh-CN" altLang="en-US" sz="2400" dirty="0">
                <a:solidFill>
                  <a:srgbClr val="0070C0"/>
                </a:solidFill>
                <a:latin typeface="宋体" pitchFamily="2" charset="-122"/>
              </a:rPr>
              <a:t>由公式</a:t>
            </a:r>
            <a:r>
              <a:rPr kumimoji="1" lang="en-US" altLang="zh-CN" sz="2400" dirty="0">
                <a:solidFill>
                  <a:srgbClr val="0070C0"/>
                </a:solidFill>
                <a:latin typeface="Times New Roman" pitchFamily="18" charset="0"/>
              </a:rPr>
              <a:t>(9-1)</a:t>
            </a:r>
            <a:r>
              <a:rPr kumimoji="1" lang="zh-CN" altLang="en-US" sz="2400" dirty="0">
                <a:solidFill>
                  <a:srgbClr val="0070C0"/>
                </a:solidFill>
                <a:latin typeface="宋体" pitchFamily="2" charset="-122"/>
              </a:rPr>
              <a:t>有</a:t>
            </a:r>
            <a:r>
              <a:rPr kumimoji="1" lang="en-US" altLang="zh-CN" sz="2400" dirty="0">
                <a:solidFill>
                  <a:srgbClr val="0070C0"/>
                </a:solidFill>
                <a:latin typeface="Times New Roman" pitchFamily="18" charset="0"/>
              </a:rPr>
              <a:t>: </a:t>
            </a:r>
          </a:p>
        </p:txBody>
      </p:sp>
      <p:graphicFrame>
        <p:nvGraphicFramePr>
          <p:cNvPr id="50179" name="Object 3"/>
          <p:cNvGraphicFramePr>
            <a:graphicFrameLocks noChangeAspect="1"/>
          </p:cNvGraphicFramePr>
          <p:nvPr/>
        </p:nvGraphicFramePr>
        <p:xfrm>
          <a:off x="1214414" y="1444625"/>
          <a:ext cx="7000924" cy="3198821"/>
        </p:xfrm>
        <a:graphic>
          <a:graphicData uri="http://schemas.openxmlformats.org/presentationml/2006/ole">
            <mc:AlternateContent xmlns:mc="http://schemas.openxmlformats.org/markup-compatibility/2006">
              <mc:Choice xmlns:v="urn:schemas-microsoft-com:vml" Requires="v">
                <p:oleObj name="Equation" r:id="rId2" imgW="3352680" imgH="1587240" progId="Equation.3">
                  <p:embed/>
                </p:oleObj>
              </mc:Choice>
              <mc:Fallback>
                <p:oleObj name="Equation" r:id="rId2" imgW="3352680" imgH="1587240" progId="Equation.3">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414" y="1444625"/>
                        <a:ext cx="7000924" cy="3198821"/>
                      </a:xfrm>
                      <a:prstGeom prst="rect">
                        <a:avLst/>
                      </a:prstGeom>
                      <a:solidFill>
                        <a:schemeClr val="accent1"/>
                      </a:solidFill>
                    </p:spPr>
                  </p:pic>
                </p:oleObj>
              </mc:Fallback>
            </mc:AlternateContent>
          </a:graphicData>
        </a:graphic>
      </p:graphicFrame>
      <p:grpSp>
        <p:nvGrpSpPr>
          <p:cNvPr id="2" name="组合 1">
            <a:extLst>
              <a:ext uri="{FF2B5EF4-FFF2-40B4-BE49-F238E27FC236}">
                <a16:creationId xmlns:a16="http://schemas.microsoft.com/office/drawing/2014/main" id="{62BB15C3-4932-8AB9-FA1D-BE456824C651}"/>
              </a:ext>
            </a:extLst>
          </p:cNvPr>
          <p:cNvGrpSpPr/>
          <p:nvPr/>
        </p:nvGrpSpPr>
        <p:grpSpPr>
          <a:xfrm>
            <a:off x="6444208" y="385091"/>
            <a:ext cx="2568575" cy="882527"/>
            <a:chOff x="6444208" y="385091"/>
            <a:chExt cx="2568575" cy="882527"/>
          </a:xfrm>
        </p:grpSpPr>
        <p:graphicFrame>
          <p:nvGraphicFramePr>
            <p:cNvPr id="3" name="Object 14">
              <a:extLst>
                <a:ext uri="{FF2B5EF4-FFF2-40B4-BE49-F238E27FC236}">
                  <a16:creationId xmlns:a16="http://schemas.microsoft.com/office/drawing/2014/main" id="{968DEECC-CB63-F1B4-29AE-F63AF81F099C}"/>
                </a:ext>
              </a:extLst>
            </p:cNvPr>
            <p:cNvGraphicFramePr>
              <a:graphicFrameLocks noChangeAspect="1"/>
            </p:cNvGraphicFramePr>
            <p:nvPr>
              <p:extLst>
                <p:ext uri="{D42A27DB-BD31-4B8C-83A1-F6EECF244321}">
                  <p14:modId xmlns:p14="http://schemas.microsoft.com/office/powerpoint/2010/main" val="1848019453"/>
                </p:ext>
              </p:extLst>
            </p:nvPr>
          </p:nvGraphicFramePr>
          <p:xfrm>
            <a:off x="6444208" y="408781"/>
            <a:ext cx="2568575" cy="858837"/>
          </p:xfrm>
          <a:graphic>
            <a:graphicData uri="http://schemas.openxmlformats.org/presentationml/2006/ole">
              <mc:AlternateContent xmlns:mc="http://schemas.openxmlformats.org/markup-compatibility/2006">
                <mc:Choice xmlns:v="urn:schemas-microsoft-com:vml" Requires="v">
                  <p:oleObj name="Equation" r:id="rId4" imgW="1625400" imgH="520560" progId="Equation.3">
                    <p:embed/>
                  </p:oleObj>
                </mc:Choice>
                <mc:Fallback>
                  <p:oleObj name="Equation" r:id="rId4" imgW="1625400" imgH="520560" progId="Equation.3">
                    <p:embed/>
                    <p:pic>
                      <p:nvPicPr>
                        <p:cNvPr id="4" name="Object 14">
                          <a:extLst>
                            <a:ext uri="{FF2B5EF4-FFF2-40B4-BE49-F238E27FC236}">
                              <a16:creationId xmlns:a16="http://schemas.microsoft.com/office/drawing/2014/main" id="{D7F320F4-448D-2B83-1145-FF2E7FFEC1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4208" y="408781"/>
                          <a:ext cx="2568575" cy="858837"/>
                        </a:xfrm>
                        <a:prstGeom prst="rect">
                          <a:avLst/>
                        </a:prstGeom>
                        <a:solidFill>
                          <a:srgbClr val="CCFFCC"/>
                        </a:solidFill>
                      </p:spPr>
                    </p:pic>
                  </p:oleObj>
                </mc:Fallback>
              </mc:AlternateContent>
            </a:graphicData>
          </a:graphic>
        </p:graphicFrame>
        <p:sp>
          <p:nvSpPr>
            <p:cNvPr id="4" name="矩形 3">
              <a:extLst>
                <a:ext uri="{FF2B5EF4-FFF2-40B4-BE49-F238E27FC236}">
                  <a16:creationId xmlns:a16="http://schemas.microsoft.com/office/drawing/2014/main" id="{B786908B-6335-2300-02F5-F07100AED1E4}"/>
                </a:ext>
              </a:extLst>
            </p:cNvPr>
            <p:cNvSpPr/>
            <p:nvPr/>
          </p:nvSpPr>
          <p:spPr>
            <a:xfrm>
              <a:off x="7054644" y="385091"/>
              <a:ext cx="196433" cy="8588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DCD159F-8A10-1BC0-2993-187EA1AAF21F}"/>
                </a:ext>
              </a:extLst>
            </p:cNvPr>
            <p:cNvSpPr txBox="1"/>
            <p:nvPr/>
          </p:nvSpPr>
          <p:spPr>
            <a:xfrm>
              <a:off x="6956427" y="519017"/>
              <a:ext cx="196433" cy="646331"/>
            </a:xfrm>
            <a:prstGeom prst="rect">
              <a:avLst/>
            </a:prstGeom>
            <a:noFill/>
          </p:spPr>
          <p:txBody>
            <a:bodyPr wrap="square" rtlCol="0">
              <a:spAutoFit/>
            </a:bodyPr>
            <a:lstStyle/>
            <a:p>
              <a:r>
                <a:rPr lang="zh-CN" altLang="en-US" dirty="0"/>
                <a:t>性别</a:t>
              </a:r>
            </a:p>
          </p:txBody>
        </p:sp>
      </p:grpSp>
      <p:sp>
        <p:nvSpPr>
          <p:cNvPr id="6" name="文本框 5">
            <a:extLst>
              <a:ext uri="{FF2B5EF4-FFF2-40B4-BE49-F238E27FC236}">
                <a16:creationId xmlns:a16="http://schemas.microsoft.com/office/drawing/2014/main" id="{7C69BF1E-4C38-930F-D998-D29B5936C343}"/>
              </a:ext>
            </a:extLst>
          </p:cNvPr>
          <p:cNvSpPr txBox="1"/>
          <p:nvPr/>
        </p:nvSpPr>
        <p:spPr>
          <a:xfrm>
            <a:off x="5486070" y="714758"/>
            <a:ext cx="1296144" cy="369332"/>
          </a:xfrm>
          <a:prstGeom prst="rect">
            <a:avLst/>
          </a:prstGeom>
          <a:noFill/>
        </p:spPr>
        <p:txBody>
          <a:bodyPr wrap="square" rtlCol="0">
            <a:spAutoFit/>
          </a:bodyPr>
          <a:lstStyle/>
          <a:p>
            <a:r>
              <a:rPr lang="zh-CN" altLang="en-US" b="1" dirty="0">
                <a:solidFill>
                  <a:srgbClr val="FF0000"/>
                </a:solidFill>
              </a:rPr>
              <a:t>条件熵</a:t>
            </a:r>
            <a:r>
              <a:rPr lang="zh-CN" altLang="en-US"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0179"/>
                                        </p:tgtEl>
                                        <p:attrNameLst>
                                          <p:attrName>style.visibility</p:attrName>
                                        </p:attrNameLst>
                                      </p:cBhvr>
                                      <p:to>
                                        <p:strVal val="visible"/>
                                      </p:to>
                                    </p:set>
                                    <p:animEffect transition="in" filter="blinds(horizontal)">
                                      <p:cBhvr>
                                        <p:cTn id="7" dur="500"/>
                                        <p:tgtEl>
                                          <p:spTgt spid="50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02" name="Object 2"/>
          <p:cNvGraphicFramePr>
            <a:graphicFrameLocks noChangeAspect="1"/>
          </p:cNvGraphicFramePr>
          <p:nvPr/>
        </p:nvGraphicFramePr>
        <p:xfrm>
          <a:off x="1142976" y="785794"/>
          <a:ext cx="7215237" cy="3143272"/>
        </p:xfrm>
        <a:graphic>
          <a:graphicData uri="http://schemas.openxmlformats.org/presentationml/2006/ole">
            <mc:AlternateContent xmlns:mc="http://schemas.openxmlformats.org/markup-compatibility/2006">
              <mc:Choice xmlns:v="urn:schemas-microsoft-com:vml" Requires="v">
                <p:oleObj name="Equation" r:id="rId2" imgW="3365280" imgH="1587240" progId="Equation.3">
                  <p:embed/>
                </p:oleObj>
              </mc:Choice>
              <mc:Fallback>
                <p:oleObj name="Equation" r:id="rId2" imgW="3365280" imgH="15872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976" y="785794"/>
                        <a:ext cx="7215237" cy="3143272"/>
                      </a:xfrm>
                      <a:prstGeom prst="rect">
                        <a:avLst/>
                      </a:prstGeom>
                      <a:solidFill>
                        <a:srgbClr val="CCFFFF"/>
                      </a:solidFill>
                    </p:spPr>
                  </p:pic>
                </p:oleObj>
              </mc:Fallback>
            </mc:AlternateContent>
          </a:graphicData>
        </a:graphic>
      </p:graphicFrame>
      <p:sp>
        <p:nvSpPr>
          <p:cNvPr id="51203" name="Text Box 3"/>
          <p:cNvSpPr txBox="1">
            <a:spLocks noChangeArrowheads="1"/>
          </p:cNvSpPr>
          <p:nvPr/>
        </p:nvSpPr>
        <p:spPr bwMode="auto">
          <a:xfrm>
            <a:off x="441325" y="4495800"/>
            <a:ext cx="569387" cy="461665"/>
          </a:xfrm>
          <a:prstGeom prst="rect">
            <a:avLst/>
          </a:prstGeom>
          <a:noFill/>
          <a:ln w="9525">
            <a:noFill/>
            <a:miter lim="800000"/>
            <a:headEnd/>
            <a:tailEnd/>
          </a:ln>
          <a:effectLst/>
        </p:spPr>
        <p:txBody>
          <a:bodyPr wrap="none">
            <a:spAutoFit/>
          </a:bodyPr>
          <a:lstStyle/>
          <a:p>
            <a:r>
              <a:rPr kumimoji="1" lang="zh-CN" altLang="en-US" sz="2400" dirty="0">
                <a:latin typeface="宋体" pitchFamily="2" charset="-122"/>
              </a:rPr>
              <a:t>又</a:t>
            </a:r>
            <a:r>
              <a:rPr kumimoji="1" lang="zh-CN" altLang="en-US" sz="2400" dirty="0">
                <a:latin typeface="Times New Roman" pitchFamily="18" charset="0"/>
              </a:rPr>
              <a:t> </a:t>
            </a:r>
          </a:p>
        </p:txBody>
      </p:sp>
      <p:graphicFrame>
        <p:nvGraphicFramePr>
          <p:cNvPr id="51204" name="Object 4"/>
          <p:cNvGraphicFramePr>
            <a:graphicFrameLocks noChangeAspect="1"/>
          </p:cNvGraphicFramePr>
          <p:nvPr/>
        </p:nvGraphicFramePr>
        <p:xfrm>
          <a:off x="3505200" y="4572000"/>
          <a:ext cx="2514600" cy="1000140"/>
        </p:xfrm>
        <a:graphic>
          <a:graphicData uri="http://schemas.openxmlformats.org/presentationml/2006/ole">
            <mc:AlternateContent xmlns:mc="http://schemas.openxmlformats.org/markup-compatibility/2006">
              <mc:Choice xmlns:v="urn:schemas-microsoft-com:vml" Requires="v">
                <p:oleObj name="Equation" r:id="rId4" imgW="1015920" imgH="469800" progId="Equation.3">
                  <p:embed/>
                </p:oleObj>
              </mc:Choice>
              <mc:Fallback>
                <p:oleObj name="Equation" r:id="rId4" imgW="1015920" imgH="46980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4572000"/>
                        <a:ext cx="2514600" cy="1000140"/>
                      </a:xfrm>
                      <a:prstGeom prst="rect">
                        <a:avLst/>
                      </a:prstGeom>
                      <a:solidFill>
                        <a:srgbClr val="00FFFF"/>
                      </a:solidFill>
                    </p:spPr>
                  </p:pic>
                </p:oleObj>
              </mc:Fallback>
            </mc:AlternateContent>
          </a:graphicData>
        </a:graphic>
      </p:graphicFrame>
      <p:grpSp>
        <p:nvGrpSpPr>
          <p:cNvPr id="2" name="组合 1">
            <a:extLst>
              <a:ext uri="{FF2B5EF4-FFF2-40B4-BE49-F238E27FC236}">
                <a16:creationId xmlns:a16="http://schemas.microsoft.com/office/drawing/2014/main" id="{E39DE64B-D75B-54FA-DE09-8EBE908785B9}"/>
              </a:ext>
            </a:extLst>
          </p:cNvPr>
          <p:cNvGrpSpPr/>
          <p:nvPr/>
        </p:nvGrpSpPr>
        <p:grpSpPr>
          <a:xfrm>
            <a:off x="6300192" y="-22944"/>
            <a:ext cx="2568575" cy="882527"/>
            <a:chOff x="6444208" y="385091"/>
            <a:chExt cx="2568575" cy="882527"/>
          </a:xfrm>
        </p:grpSpPr>
        <p:graphicFrame>
          <p:nvGraphicFramePr>
            <p:cNvPr id="3" name="Object 14">
              <a:extLst>
                <a:ext uri="{FF2B5EF4-FFF2-40B4-BE49-F238E27FC236}">
                  <a16:creationId xmlns:a16="http://schemas.microsoft.com/office/drawing/2014/main" id="{FBD5B84D-6087-4E0B-6832-12B5691DAEED}"/>
                </a:ext>
              </a:extLst>
            </p:cNvPr>
            <p:cNvGraphicFramePr>
              <a:graphicFrameLocks noChangeAspect="1"/>
            </p:cNvGraphicFramePr>
            <p:nvPr>
              <p:extLst>
                <p:ext uri="{D42A27DB-BD31-4B8C-83A1-F6EECF244321}">
                  <p14:modId xmlns:p14="http://schemas.microsoft.com/office/powerpoint/2010/main" val="3181911666"/>
                </p:ext>
              </p:extLst>
            </p:nvPr>
          </p:nvGraphicFramePr>
          <p:xfrm>
            <a:off x="6444208" y="408781"/>
            <a:ext cx="2568575" cy="858837"/>
          </p:xfrm>
          <a:graphic>
            <a:graphicData uri="http://schemas.openxmlformats.org/presentationml/2006/ole">
              <mc:AlternateContent xmlns:mc="http://schemas.openxmlformats.org/markup-compatibility/2006">
                <mc:Choice xmlns:v="urn:schemas-microsoft-com:vml" Requires="v">
                  <p:oleObj name="Equation" r:id="rId6" imgW="1625400" imgH="520560" progId="Equation.3">
                    <p:embed/>
                  </p:oleObj>
                </mc:Choice>
                <mc:Fallback>
                  <p:oleObj name="Equation" r:id="rId6" imgW="1625400" imgH="520560" progId="Equation.3">
                    <p:embed/>
                    <p:pic>
                      <p:nvPicPr>
                        <p:cNvPr id="3" name="Object 14">
                          <a:extLst>
                            <a:ext uri="{FF2B5EF4-FFF2-40B4-BE49-F238E27FC236}">
                              <a16:creationId xmlns:a16="http://schemas.microsoft.com/office/drawing/2014/main" id="{968DEECC-CB63-F1B4-29AE-F63AF81F09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44208" y="408781"/>
                          <a:ext cx="2568575" cy="858837"/>
                        </a:xfrm>
                        <a:prstGeom prst="rect">
                          <a:avLst/>
                        </a:prstGeom>
                        <a:solidFill>
                          <a:srgbClr val="CCFFCC"/>
                        </a:solidFill>
                      </p:spPr>
                    </p:pic>
                  </p:oleObj>
                </mc:Fallback>
              </mc:AlternateContent>
            </a:graphicData>
          </a:graphic>
        </p:graphicFrame>
        <p:sp>
          <p:nvSpPr>
            <p:cNvPr id="4" name="矩形 3">
              <a:extLst>
                <a:ext uri="{FF2B5EF4-FFF2-40B4-BE49-F238E27FC236}">
                  <a16:creationId xmlns:a16="http://schemas.microsoft.com/office/drawing/2014/main" id="{6B930A68-0B99-88FD-DC25-66E41806A1EF}"/>
                </a:ext>
              </a:extLst>
            </p:cNvPr>
            <p:cNvSpPr/>
            <p:nvPr/>
          </p:nvSpPr>
          <p:spPr>
            <a:xfrm>
              <a:off x="7054644" y="385091"/>
              <a:ext cx="196433" cy="8588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18E4CB3D-5BDC-21D3-F0DB-AA7DDC3AD348}"/>
                </a:ext>
              </a:extLst>
            </p:cNvPr>
            <p:cNvSpPr txBox="1"/>
            <p:nvPr/>
          </p:nvSpPr>
          <p:spPr>
            <a:xfrm>
              <a:off x="6956427" y="519017"/>
              <a:ext cx="196433" cy="646331"/>
            </a:xfrm>
            <a:prstGeom prst="rect">
              <a:avLst/>
            </a:prstGeom>
            <a:noFill/>
          </p:spPr>
          <p:txBody>
            <a:bodyPr wrap="square" rtlCol="0">
              <a:spAutoFit/>
            </a:bodyPr>
            <a:lstStyle/>
            <a:p>
              <a:r>
                <a:rPr lang="zh-CN" altLang="en-US" dirty="0"/>
                <a:t>性别</a:t>
              </a:r>
            </a:p>
          </p:txBody>
        </p:sp>
      </p:grpSp>
      <p:sp>
        <p:nvSpPr>
          <p:cNvPr id="6" name="文本框 5">
            <a:extLst>
              <a:ext uri="{FF2B5EF4-FFF2-40B4-BE49-F238E27FC236}">
                <a16:creationId xmlns:a16="http://schemas.microsoft.com/office/drawing/2014/main" id="{DB708746-2DB0-F3AE-C704-541870888340}"/>
              </a:ext>
            </a:extLst>
          </p:cNvPr>
          <p:cNvSpPr txBox="1"/>
          <p:nvPr/>
        </p:nvSpPr>
        <p:spPr>
          <a:xfrm>
            <a:off x="5342054" y="306723"/>
            <a:ext cx="1296144" cy="369332"/>
          </a:xfrm>
          <a:prstGeom prst="rect">
            <a:avLst/>
          </a:prstGeom>
          <a:noFill/>
        </p:spPr>
        <p:txBody>
          <a:bodyPr wrap="square" rtlCol="0">
            <a:spAutoFit/>
          </a:bodyPr>
          <a:lstStyle/>
          <a:p>
            <a:r>
              <a:rPr lang="zh-CN" altLang="en-US" b="1" dirty="0">
                <a:solidFill>
                  <a:srgbClr val="FF0000"/>
                </a:solidFill>
              </a:rPr>
              <a:t>条件熵</a:t>
            </a:r>
            <a:r>
              <a:rPr lang="zh-CN" altLang="en-US"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03"/>
                                        </p:tgtEl>
                                        <p:attrNameLst>
                                          <p:attrName>style.visibility</p:attrName>
                                        </p:attrNameLst>
                                      </p:cBhvr>
                                      <p:to>
                                        <p:strVal val="visible"/>
                                      </p:to>
                                    </p:set>
                                    <p:anim calcmode="lin" valueType="num">
                                      <p:cBhvr additive="base">
                                        <p:cTn id="7" dur="500" fill="hold"/>
                                        <p:tgtEl>
                                          <p:spTgt spid="51203"/>
                                        </p:tgtEl>
                                        <p:attrNameLst>
                                          <p:attrName>ppt_x</p:attrName>
                                        </p:attrNameLst>
                                      </p:cBhvr>
                                      <p:tavLst>
                                        <p:tav tm="0">
                                          <p:val>
                                            <p:strVal val="#ppt_x"/>
                                          </p:val>
                                        </p:tav>
                                        <p:tav tm="100000">
                                          <p:val>
                                            <p:strVal val="#ppt_x"/>
                                          </p:val>
                                        </p:tav>
                                      </p:tavLst>
                                    </p:anim>
                                    <p:anim calcmode="lin" valueType="num">
                                      <p:cBhvr additive="base">
                                        <p:cTn id="8" dur="500" fill="hold"/>
                                        <p:tgtEl>
                                          <p:spTgt spid="5120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1204"/>
                                        </p:tgtEl>
                                        <p:attrNameLst>
                                          <p:attrName>style.visibility</p:attrName>
                                        </p:attrNameLst>
                                      </p:cBhvr>
                                      <p:to>
                                        <p:strVal val="visible"/>
                                      </p:to>
                                    </p:set>
                                    <p:animEffect transition="in" filter="blinds(horizontal)">
                                      <p:cBhvr>
                                        <p:cTn id="13" dur="500"/>
                                        <p:tgtEl>
                                          <p:spTgt spid="5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648924" y="457200"/>
            <a:ext cx="3849688" cy="457200"/>
          </a:xfrm>
          <a:prstGeom prst="rect">
            <a:avLst/>
          </a:prstGeom>
          <a:noFill/>
          <a:ln w="9525">
            <a:noFill/>
            <a:miter lim="800000"/>
            <a:headEnd/>
            <a:tailEnd/>
          </a:ln>
          <a:effectLst/>
        </p:spPr>
        <p:txBody>
          <a:bodyPr wrap="none">
            <a:spAutoFit/>
          </a:bodyPr>
          <a:lstStyle/>
          <a:p>
            <a:r>
              <a:rPr kumimoji="1" lang="zh-CN" altLang="en-US" sz="2400" dirty="0">
                <a:solidFill>
                  <a:srgbClr val="0070C0"/>
                </a:solidFill>
                <a:latin typeface="宋体" pitchFamily="2" charset="-122"/>
              </a:rPr>
              <a:t>将以上</a:t>
            </a:r>
            <a:r>
              <a:rPr kumimoji="1" lang="en-US" altLang="zh-CN" sz="2400" dirty="0">
                <a:solidFill>
                  <a:srgbClr val="0070C0"/>
                </a:solidFill>
                <a:latin typeface="Times New Roman" pitchFamily="18" charset="0"/>
              </a:rPr>
              <a:t>3</a:t>
            </a:r>
            <a:r>
              <a:rPr kumimoji="1" lang="zh-CN" altLang="en-US" sz="2400" dirty="0">
                <a:solidFill>
                  <a:srgbClr val="0070C0"/>
                </a:solidFill>
                <a:latin typeface="宋体" pitchFamily="2" charset="-122"/>
              </a:rPr>
              <a:t>式代入公式</a:t>
            </a:r>
            <a:r>
              <a:rPr kumimoji="1" lang="en-US" altLang="zh-CN" sz="2400" dirty="0">
                <a:solidFill>
                  <a:srgbClr val="0070C0"/>
                </a:solidFill>
                <a:latin typeface="Times New Roman" pitchFamily="18" charset="0"/>
              </a:rPr>
              <a:t>(9-2)</a:t>
            </a:r>
            <a:r>
              <a:rPr kumimoji="1" lang="zh-CN" altLang="en-US" sz="2400" dirty="0">
                <a:solidFill>
                  <a:srgbClr val="0070C0"/>
                </a:solidFill>
                <a:latin typeface="宋体" pitchFamily="2" charset="-122"/>
              </a:rPr>
              <a:t>得</a:t>
            </a:r>
            <a:r>
              <a:rPr kumimoji="1" lang="en-US" altLang="zh-CN" sz="2400" dirty="0">
                <a:solidFill>
                  <a:srgbClr val="0070C0"/>
                </a:solidFill>
                <a:latin typeface="Times New Roman" pitchFamily="18" charset="0"/>
              </a:rPr>
              <a:t>: </a:t>
            </a:r>
          </a:p>
        </p:txBody>
      </p:sp>
      <p:graphicFrame>
        <p:nvGraphicFramePr>
          <p:cNvPr id="52227" name="Object 3"/>
          <p:cNvGraphicFramePr>
            <a:graphicFrameLocks noChangeAspect="1"/>
          </p:cNvGraphicFramePr>
          <p:nvPr/>
        </p:nvGraphicFramePr>
        <p:xfrm>
          <a:off x="2214546" y="990601"/>
          <a:ext cx="5329254" cy="1509705"/>
        </p:xfrm>
        <a:graphic>
          <a:graphicData uri="http://schemas.openxmlformats.org/presentationml/2006/ole">
            <mc:AlternateContent xmlns:mc="http://schemas.openxmlformats.org/markup-compatibility/2006">
              <mc:Choice xmlns:v="urn:schemas-microsoft-com:vml" Requires="v">
                <p:oleObj name="Equation" r:id="rId2" imgW="2527200" imgH="812520" progId="Equation.3">
                  <p:embed/>
                </p:oleObj>
              </mc:Choice>
              <mc:Fallback>
                <p:oleObj name="Equation" r:id="rId2" imgW="2527200" imgH="812520" progId="Equation.3">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4546" y="990601"/>
                        <a:ext cx="5329254" cy="1509705"/>
                      </a:xfrm>
                      <a:prstGeom prst="rect">
                        <a:avLst/>
                      </a:prstGeom>
                      <a:solidFill>
                        <a:schemeClr val="accent1"/>
                      </a:solidFill>
                    </p:spPr>
                  </p:pic>
                </p:oleObj>
              </mc:Fallback>
            </mc:AlternateContent>
          </a:graphicData>
        </a:graphic>
      </p:graphicFrame>
      <p:sp>
        <p:nvSpPr>
          <p:cNvPr id="52228" name="Text Box 4"/>
          <p:cNvSpPr txBox="1">
            <a:spLocks noChangeArrowheads="1"/>
          </p:cNvSpPr>
          <p:nvPr/>
        </p:nvSpPr>
        <p:spPr bwMode="auto">
          <a:xfrm>
            <a:off x="663672" y="2723229"/>
            <a:ext cx="3087688" cy="457200"/>
          </a:xfrm>
          <a:prstGeom prst="rect">
            <a:avLst/>
          </a:prstGeom>
          <a:noFill/>
          <a:ln w="9525">
            <a:noFill/>
            <a:miter lim="800000"/>
            <a:headEnd/>
            <a:tailEnd/>
          </a:ln>
          <a:effectLst/>
        </p:spPr>
        <p:txBody>
          <a:bodyPr wrap="none">
            <a:spAutoFit/>
          </a:bodyPr>
          <a:lstStyle/>
          <a:p>
            <a:r>
              <a:rPr kumimoji="1" lang="zh-CN" altLang="en-US" sz="2400" dirty="0">
                <a:solidFill>
                  <a:srgbClr val="0070C0"/>
                </a:solidFill>
                <a:latin typeface="宋体" pitchFamily="2" charset="-122"/>
              </a:rPr>
              <a:t>用同样的方法可求得</a:t>
            </a:r>
            <a:r>
              <a:rPr kumimoji="1" lang="en-US" altLang="zh-CN" sz="2400" dirty="0">
                <a:solidFill>
                  <a:srgbClr val="0070C0"/>
                </a:solidFill>
                <a:latin typeface="Times New Roman" pitchFamily="18" charset="0"/>
              </a:rPr>
              <a:t>: </a:t>
            </a:r>
          </a:p>
        </p:txBody>
      </p:sp>
      <p:graphicFrame>
        <p:nvGraphicFramePr>
          <p:cNvPr id="52229" name="Object 5"/>
          <p:cNvGraphicFramePr>
            <a:graphicFrameLocks noChangeAspect="1"/>
          </p:cNvGraphicFramePr>
          <p:nvPr/>
        </p:nvGraphicFramePr>
        <p:xfrm>
          <a:off x="1214414" y="3286124"/>
          <a:ext cx="6929486" cy="1571636"/>
        </p:xfrm>
        <a:graphic>
          <a:graphicData uri="http://schemas.openxmlformats.org/presentationml/2006/ole">
            <mc:AlternateContent xmlns:mc="http://schemas.openxmlformats.org/markup-compatibility/2006">
              <mc:Choice xmlns:v="urn:schemas-microsoft-com:vml" Requires="v">
                <p:oleObj name="Equation" r:id="rId4" imgW="3835080" imgH="812520" progId="Equation.3">
                  <p:embed/>
                </p:oleObj>
              </mc:Choice>
              <mc:Fallback>
                <p:oleObj name="Equation" r:id="rId4" imgW="3835080" imgH="812520"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4414" y="3286124"/>
                        <a:ext cx="6929486" cy="1571636"/>
                      </a:xfrm>
                      <a:prstGeom prst="rect">
                        <a:avLst/>
                      </a:prstGeom>
                      <a:solidFill>
                        <a:schemeClr val="accent2"/>
                      </a:solidFill>
                    </p:spPr>
                  </p:pic>
                </p:oleObj>
              </mc:Fallback>
            </mc:AlternateContent>
          </a:graphicData>
        </a:graphic>
      </p:graphicFrame>
      <p:sp>
        <p:nvSpPr>
          <p:cNvPr id="52230" name="Text Box 6"/>
          <p:cNvSpPr txBox="1">
            <a:spLocks noChangeArrowheads="1"/>
          </p:cNvSpPr>
          <p:nvPr/>
        </p:nvSpPr>
        <p:spPr bwMode="auto">
          <a:xfrm>
            <a:off x="714348" y="5099268"/>
            <a:ext cx="7858180" cy="1052596"/>
          </a:xfrm>
          <a:prstGeom prst="rect">
            <a:avLst/>
          </a:prstGeom>
          <a:noFill/>
          <a:ln w="9525">
            <a:noFill/>
            <a:miter lim="800000"/>
            <a:headEnd/>
            <a:tailEnd/>
          </a:ln>
          <a:effectLst/>
        </p:spPr>
        <p:txBody>
          <a:bodyPr wrap="square">
            <a:spAutoFit/>
          </a:bodyPr>
          <a:lstStyle/>
          <a:p>
            <a:pPr algn="just">
              <a:lnSpc>
                <a:spcPct val="130000"/>
              </a:lnSpc>
              <a:spcBef>
                <a:spcPct val="50000"/>
              </a:spcBef>
            </a:pPr>
            <a:r>
              <a:rPr kumimoji="1" lang="zh-CN" altLang="en-US" sz="2300" dirty="0">
                <a:solidFill>
                  <a:srgbClr val="0070C0"/>
                </a:solidFill>
                <a:latin typeface="宋体" pitchFamily="2" charset="-122"/>
              </a:rPr>
              <a:t>可见</a:t>
            </a:r>
            <a:r>
              <a:rPr kumimoji="1" lang="en-US" altLang="zh-CN" sz="2300" dirty="0">
                <a:solidFill>
                  <a:srgbClr val="0070C0"/>
                </a:solidFill>
                <a:latin typeface="宋体" pitchFamily="2" charset="-122"/>
              </a:rPr>
              <a:t>, </a:t>
            </a:r>
            <a:r>
              <a:rPr kumimoji="1" lang="zh-CN" altLang="en-US" sz="2300" dirty="0">
                <a:solidFill>
                  <a:srgbClr val="0070C0"/>
                </a:solidFill>
                <a:latin typeface="宋体" pitchFamily="2" charset="-122"/>
              </a:rPr>
              <a:t>条件熵</a:t>
            </a:r>
            <a:r>
              <a:rPr kumimoji="1" lang="en-US" altLang="zh-CN" sz="2300" i="1" dirty="0">
                <a:solidFill>
                  <a:srgbClr val="0070C0"/>
                </a:solidFill>
                <a:latin typeface="宋体" pitchFamily="2" charset="-122"/>
              </a:rPr>
              <a:t>H</a:t>
            </a:r>
            <a:r>
              <a:rPr kumimoji="1" lang="en-US" altLang="zh-CN" sz="2300" dirty="0">
                <a:solidFill>
                  <a:srgbClr val="0070C0"/>
                </a:solidFill>
                <a:latin typeface="宋体" pitchFamily="2" charset="-122"/>
              </a:rPr>
              <a:t>(</a:t>
            </a:r>
            <a:r>
              <a:rPr kumimoji="1" lang="en-US" altLang="zh-CN" sz="2300" i="1" dirty="0">
                <a:solidFill>
                  <a:srgbClr val="0070C0"/>
                </a:solidFill>
                <a:latin typeface="宋体" pitchFamily="2" charset="-122"/>
              </a:rPr>
              <a:t>S</a:t>
            </a:r>
            <a:r>
              <a:rPr kumimoji="1" lang="en-US" altLang="zh-CN" sz="2300" dirty="0">
                <a:solidFill>
                  <a:srgbClr val="0070C0"/>
                </a:solidFill>
                <a:latin typeface="宋体" pitchFamily="2" charset="-122"/>
              </a:rPr>
              <a:t>|</a:t>
            </a:r>
            <a:r>
              <a:rPr kumimoji="1" lang="zh-CN" altLang="en-US" sz="2300" dirty="0">
                <a:solidFill>
                  <a:srgbClr val="0070C0"/>
                </a:solidFill>
                <a:latin typeface="宋体" pitchFamily="2" charset="-122"/>
              </a:rPr>
              <a:t>性别</a:t>
            </a:r>
            <a:r>
              <a:rPr kumimoji="1" lang="en-US" altLang="zh-CN" sz="2300" dirty="0">
                <a:solidFill>
                  <a:srgbClr val="0070C0"/>
                </a:solidFill>
                <a:latin typeface="宋体" pitchFamily="2" charset="-122"/>
              </a:rPr>
              <a:t>)</a:t>
            </a:r>
            <a:r>
              <a:rPr kumimoji="1" lang="zh-CN" altLang="en-US" sz="2300" dirty="0">
                <a:solidFill>
                  <a:srgbClr val="0070C0"/>
                </a:solidFill>
                <a:latin typeface="宋体" pitchFamily="2" charset="-122"/>
              </a:rPr>
              <a:t>为最小</a:t>
            </a:r>
            <a:r>
              <a:rPr kumimoji="1" lang="en-US" altLang="zh-CN" sz="2300" dirty="0">
                <a:solidFill>
                  <a:srgbClr val="0070C0"/>
                </a:solidFill>
                <a:latin typeface="宋体" pitchFamily="2" charset="-122"/>
              </a:rPr>
              <a:t>,</a:t>
            </a:r>
            <a:r>
              <a:rPr kumimoji="1" lang="zh-CN" altLang="en-US" sz="2300" dirty="0">
                <a:solidFill>
                  <a:srgbClr val="0070C0"/>
                </a:solidFill>
                <a:latin typeface="宋体" pitchFamily="2" charset="-122"/>
              </a:rPr>
              <a:t>所以</a:t>
            </a:r>
            <a:r>
              <a:rPr kumimoji="1" lang="en-US" altLang="zh-CN" sz="2300" dirty="0">
                <a:solidFill>
                  <a:srgbClr val="0070C0"/>
                </a:solidFill>
                <a:latin typeface="宋体" pitchFamily="2" charset="-122"/>
              </a:rPr>
              <a:t>,</a:t>
            </a:r>
            <a:r>
              <a:rPr kumimoji="1" lang="zh-CN" altLang="en-US" sz="2300" dirty="0">
                <a:solidFill>
                  <a:srgbClr val="0070C0"/>
                </a:solidFill>
                <a:latin typeface="宋体" pitchFamily="2" charset="-122"/>
              </a:rPr>
              <a:t>应取</a:t>
            </a:r>
            <a:r>
              <a:rPr kumimoji="1" lang="zh-CN" altLang="en-US" sz="2300" dirty="0">
                <a:solidFill>
                  <a:srgbClr val="0070C0"/>
                </a:solidFill>
                <a:latin typeface="Courier New"/>
              </a:rPr>
              <a:t>“</a:t>
            </a:r>
            <a:r>
              <a:rPr kumimoji="1" lang="zh-CN" altLang="en-US" sz="2300" dirty="0">
                <a:solidFill>
                  <a:srgbClr val="0070C0"/>
                </a:solidFill>
                <a:latin typeface="宋体" pitchFamily="2" charset="-122"/>
              </a:rPr>
              <a:t>性别</a:t>
            </a:r>
            <a:r>
              <a:rPr kumimoji="1" lang="zh-CN" altLang="en-US" sz="2300" dirty="0">
                <a:solidFill>
                  <a:srgbClr val="0070C0"/>
                </a:solidFill>
                <a:latin typeface="Courier New"/>
              </a:rPr>
              <a:t>”</a:t>
            </a:r>
            <a:r>
              <a:rPr kumimoji="1" lang="zh-CN" altLang="en-US" sz="2300" dirty="0">
                <a:solidFill>
                  <a:srgbClr val="0070C0"/>
                </a:solidFill>
                <a:latin typeface="宋体" pitchFamily="2" charset="-122"/>
              </a:rPr>
              <a:t>这一属性对实例集进行分类</a:t>
            </a:r>
            <a:r>
              <a:rPr kumimoji="1" lang="en-US" altLang="zh-CN" sz="2300" dirty="0">
                <a:solidFill>
                  <a:srgbClr val="0070C0"/>
                </a:solidFill>
                <a:latin typeface="宋体" pitchFamily="2" charset="-122"/>
              </a:rPr>
              <a:t>, </a:t>
            </a:r>
            <a:r>
              <a:rPr kumimoji="1" lang="zh-CN" altLang="en-US" sz="2300" dirty="0">
                <a:solidFill>
                  <a:srgbClr val="0070C0"/>
                </a:solidFill>
                <a:latin typeface="宋体" pitchFamily="2" charset="-122"/>
              </a:rPr>
              <a:t>即以</a:t>
            </a:r>
            <a:r>
              <a:rPr kumimoji="1" lang="zh-CN" altLang="en-US" sz="2300" dirty="0">
                <a:solidFill>
                  <a:srgbClr val="0070C0"/>
                </a:solidFill>
                <a:latin typeface="Courier New"/>
              </a:rPr>
              <a:t>“</a:t>
            </a:r>
            <a:r>
              <a:rPr kumimoji="1" lang="zh-CN" altLang="en-US" sz="2300" dirty="0">
                <a:solidFill>
                  <a:srgbClr val="0070C0"/>
                </a:solidFill>
                <a:latin typeface="宋体" pitchFamily="2" charset="-122"/>
              </a:rPr>
              <a:t>性别</a:t>
            </a:r>
            <a:r>
              <a:rPr kumimoji="1" lang="zh-CN" altLang="en-US" sz="2300" dirty="0">
                <a:solidFill>
                  <a:srgbClr val="0070C0"/>
                </a:solidFill>
                <a:latin typeface="Times New Roman"/>
              </a:rPr>
              <a:t>”</a:t>
            </a:r>
            <a:r>
              <a:rPr kumimoji="1" lang="zh-CN" altLang="en-US" sz="2300" dirty="0">
                <a:solidFill>
                  <a:srgbClr val="0070C0"/>
                </a:solidFill>
                <a:latin typeface="宋体" pitchFamily="2" charset="-122"/>
              </a:rPr>
              <a:t>作为决策树的根节点。</a:t>
            </a:r>
            <a:r>
              <a:rPr kumimoji="1" lang="zh-CN" altLang="en-US" sz="2300" dirty="0">
                <a:solidFill>
                  <a:srgbClr val="0070C0"/>
                </a:solidFill>
                <a:latin typeface="Times New Roman" pitchFamily="18" charset="0"/>
              </a:rPr>
              <a:t> </a:t>
            </a:r>
          </a:p>
        </p:txBody>
      </p:sp>
      <p:grpSp>
        <p:nvGrpSpPr>
          <p:cNvPr id="2" name="组合 1">
            <a:extLst>
              <a:ext uri="{FF2B5EF4-FFF2-40B4-BE49-F238E27FC236}">
                <a16:creationId xmlns:a16="http://schemas.microsoft.com/office/drawing/2014/main" id="{DC729802-C4AC-EEA5-F76E-289796A76059}"/>
              </a:ext>
            </a:extLst>
          </p:cNvPr>
          <p:cNvGrpSpPr/>
          <p:nvPr/>
        </p:nvGrpSpPr>
        <p:grpSpPr>
          <a:xfrm>
            <a:off x="6444208" y="44624"/>
            <a:ext cx="2568575" cy="882527"/>
            <a:chOff x="6444208" y="385091"/>
            <a:chExt cx="2568575" cy="882527"/>
          </a:xfrm>
        </p:grpSpPr>
        <p:graphicFrame>
          <p:nvGraphicFramePr>
            <p:cNvPr id="3" name="Object 14">
              <a:extLst>
                <a:ext uri="{FF2B5EF4-FFF2-40B4-BE49-F238E27FC236}">
                  <a16:creationId xmlns:a16="http://schemas.microsoft.com/office/drawing/2014/main" id="{83CAFFF2-9098-3A67-0155-3DE1CC714D44}"/>
                </a:ext>
              </a:extLst>
            </p:cNvPr>
            <p:cNvGraphicFramePr>
              <a:graphicFrameLocks noChangeAspect="1"/>
            </p:cNvGraphicFramePr>
            <p:nvPr>
              <p:extLst>
                <p:ext uri="{D42A27DB-BD31-4B8C-83A1-F6EECF244321}">
                  <p14:modId xmlns:p14="http://schemas.microsoft.com/office/powerpoint/2010/main" val="3181911666"/>
                </p:ext>
              </p:extLst>
            </p:nvPr>
          </p:nvGraphicFramePr>
          <p:xfrm>
            <a:off x="6444208" y="408781"/>
            <a:ext cx="2568575" cy="858837"/>
          </p:xfrm>
          <a:graphic>
            <a:graphicData uri="http://schemas.openxmlformats.org/presentationml/2006/ole">
              <mc:AlternateContent xmlns:mc="http://schemas.openxmlformats.org/markup-compatibility/2006">
                <mc:Choice xmlns:v="urn:schemas-microsoft-com:vml" Requires="v">
                  <p:oleObj name="Equation" r:id="rId6" imgW="1625400" imgH="520560" progId="Equation.3">
                    <p:embed/>
                  </p:oleObj>
                </mc:Choice>
                <mc:Fallback>
                  <p:oleObj name="Equation" r:id="rId6" imgW="1625400" imgH="520560" progId="Equation.3">
                    <p:embed/>
                    <p:pic>
                      <p:nvPicPr>
                        <p:cNvPr id="3" name="Object 14">
                          <a:extLst>
                            <a:ext uri="{FF2B5EF4-FFF2-40B4-BE49-F238E27FC236}">
                              <a16:creationId xmlns:a16="http://schemas.microsoft.com/office/drawing/2014/main" id="{968DEECC-CB63-F1B4-29AE-F63AF81F09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44208" y="408781"/>
                          <a:ext cx="2568575" cy="858837"/>
                        </a:xfrm>
                        <a:prstGeom prst="rect">
                          <a:avLst/>
                        </a:prstGeom>
                        <a:solidFill>
                          <a:srgbClr val="CCFFCC"/>
                        </a:solidFill>
                      </p:spPr>
                    </p:pic>
                  </p:oleObj>
                </mc:Fallback>
              </mc:AlternateContent>
            </a:graphicData>
          </a:graphic>
        </p:graphicFrame>
        <p:sp>
          <p:nvSpPr>
            <p:cNvPr id="4" name="矩形 3">
              <a:extLst>
                <a:ext uri="{FF2B5EF4-FFF2-40B4-BE49-F238E27FC236}">
                  <a16:creationId xmlns:a16="http://schemas.microsoft.com/office/drawing/2014/main" id="{F0D382DE-845C-EEED-A309-24DF44827691}"/>
                </a:ext>
              </a:extLst>
            </p:cNvPr>
            <p:cNvSpPr/>
            <p:nvPr/>
          </p:nvSpPr>
          <p:spPr>
            <a:xfrm>
              <a:off x="7054644" y="385091"/>
              <a:ext cx="196433" cy="8588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D9A447CE-4696-8E37-1B1E-7A5B3E7A83F2}"/>
                </a:ext>
              </a:extLst>
            </p:cNvPr>
            <p:cNvSpPr txBox="1"/>
            <p:nvPr/>
          </p:nvSpPr>
          <p:spPr>
            <a:xfrm>
              <a:off x="6956427" y="519017"/>
              <a:ext cx="196433" cy="646331"/>
            </a:xfrm>
            <a:prstGeom prst="rect">
              <a:avLst/>
            </a:prstGeom>
            <a:noFill/>
          </p:spPr>
          <p:txBody>
            <a:bodyPr wrap="square" rtlCol="0">
              <a:spAutoFit/>
            </a:bodyPr>
            <a:lstStyle/>
            <a:p>
              <a:r>
                <a:rPr lang="zh-CN" altLang="en-US" dirty="0"/>
                <a:t>性别</a:t>
              </a:r>
            </a:p>
          </p:txBody>
        </p:sp>
      </p:grpSp>
      <p:sp>
        <p:nvSpPr>
          <p:cNvPr id="6" name="文本框 5">
            <a:extLst>
              <a:ext uri="{FF2B5EF4-FFF2-40B4-BE49-F238E27FC236}">
                <a16:creationId xmlns:a16="http://schemas.microsoft.com/office/drawing/2014/main" id="{889AA38E-F68A-2C32-F1D9-258434D21D4D}"/>
              </a:ext>
            </a:extLst>
          </p:cNvPr>
          <p:cNvSpPr txBox="1"/>
          <p:nvPr/>
        </p:nvSpPr>
        <p:spPr>
          <a:xfrm>
            <a:off x="5486070" y="374291"/>
            <a:ext cx="1296144" cy="369332"/>
          </a:xfrm>
          <a:prstGeom prst="rect">
            <a:avLst/>
          </a:prstGeom>
          <a:noFill/>
        </p:spPr>
        <p:txBody>
          <a:bodyPr wrap="square" rtlCol="0">
            <a:spAutoFit/>
          </a:bodyPr>
          <a:lstStyle/>
          <a:p>
            <a:r>
              <a:rPr lang="zh-CN" altLang="en-US" b="1" dirty="0">
                <a:solidFill>
                  <a:srgbClr val="FF0000"/>
                </a:solidFill>
              </a:rPr>
              <a:t>条件熵</a:t>
            </a:r>
            <a:r>
              <a:rPr lang="zh-CN" altLang="en-US"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227"/>
                                        </p:tgtEl>
                                        <p:attrNameLst>
                                          <p:attrName>style.visibility</p:attrName>
                                        </p:attrNameLst>
                                      </p:cBhvr>
                                      <p:to>
                                        <p:strVal val="visible"/>
                                      </p:to>
                                    </p:set>
                                    <p:animEffect transition="in" filter="blinds(horizontal)">
                                      <p:cBhvr>
                                        <p:cTn id="7" dur="500"/>
                                        <p:tgtEl>
                                          <p:spTgt spid="522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2228"/>
                                        </p:tgtEl>
                                        <p:attrNameLst>
                                          <p:attrName>style.visibility</p:attrName>
                                        </p:attrNameLst>
                                      </p:cBhvr>
                                      <p:to>
                                        <p:strVal val="visible"/>
                                      </p:to>
                                    </p:set>
                                    <p:anim calcmode="lin" valueType="num">
                                      <p:cBhvr additive="base">
                                        <p:cTn id="12" dur="500" fill="hold"/>
                                        <p:tgtEl>
                                          <p:spTgt spid="52228"/>
                                        </p:tgtEl>
                                        <p:attrNameLst>
                                          <p:attrName>ppt_x</p:attrName>
                                        </p:attrNameLst>
                                      </p:cBhvr>
                                      <p:tavLst>
                                        <p:tav tm="0">
                                          <p:val>
                                            <p:strVal val="#ppt_x"/>
                                          </p:val>
                                        </p:tav>
                                        <p:tav tm="100000">
                                          <p:val>
                                            <p:strVal val="#ppt_x"/>
                                          </p:val>
                                        </p:tav>
                                      </p:tavLst>
                                    </p:anim>
                                    <p:anim calcmode="lin" valueType="num">
                                      <p:cBhvr additive="base">
                                        <p:cTn id="13" dur="500" fill="hold"/>
                                        <p:tgtEl>
                                          <p:spTgt spid="5222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2229"/>
                                        </p:tgtEl>
                                        <p:attrNameLst>
                                          <p:attrName>style.visibility</p:attrName>
                                        </p:attrNameLst>
                                      </p:cBhvr>
                                      <p:to>
                                        <p:strVal val="visible"/>
                                      </p:to>
                                    </p:set>
                                    <p:animEffect transition="in" filter="blinds(horizontal)">
                                      <p:cBhvr>
                                        <p:cTn id="18" dur="500"/>
                                        <p:tgtEl>
                                          <p:spTgt spid="52229"/>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52230"/>
                                        </p:tgtEl>
                                        <p:attrNameLst>
                                          <p:attrName>style.visibility</p:attrName>
                                        </p:attrNameLst>
                                      </p:cBhvr>
                                      <p:to>
                                        <p:strVal val="visible"/>
                                      </p:to>
                                    </p:set>
                                    <p:animEffect transition="in" filter="checkerboard(across)">
                                      <p:cBhvr>
                                        <p:cTn id="23" dur="500"/>
                                        <p:tgtEl>
                                          <p:spTgt spid="52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p:bldP spid="5223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Rot="1" noChangeArrowheads="1"/>
          </p:cNvSpPr>
          <p:nvPr>
            <p:ph type="body" idx="1"/>
          </p:nvPr>
        </p:nvSpPr>
        <p:spPr>
          <a:xfrm>
            <a:off x="457200" y="404813"/>
            <a:ext cx="8115328" cy="5810270"/>
          </a:xfrm>
        </p:spPr>
        <p:txBody>
          <a:bodyPr/>
          <a:lstStyle/>
          <a:p>
            <a:pPr>
              <a:buNone/>
            </a:pPr>
            <a:r>
              <a:rPr lang="en-US" altLang="zh-CN" dirty="0">
                <a:latin typeface="黑体" pitchFamily="49" charset="-122"/>
                <a:ea typeface="黑体" pitchFamily="49" charset="-122"/>
              </a:rPr>
              <a:t>  </a:t>
            </a:r>
            <a:r>
              <a:rPr lang="en-US" sz="2400" dirty="0">
                <a:solidFill>
                  <a:srgbClr val="0070C0"/>
                </a:solidFill>
                <a:latin typeface="黑体" pitchFamily="49" charset="-122"/>
                <a:ea typeface="黑体" pitchFamily="49" charset="-122"/>
              </a:rPr>
              <a:t>9.3.4 </a:t>
            </a:r>
            <a:r>
              <a:rPr lang="zh-CN" sz="2400" dirty="0">
                <a:solidFill>
                  <a:srgbClr val="0070C0"/>
                </a:solidFill>
                <a:latin typeface="黑体" pitchFamily="49" charset="-122"/>
                <a:ea typeface="黑体" pitchFamily="49" charset="-122"/>
              </a:rPr>
              <a:t>决策树学习的发展</a:t>
            </a:r>
            <a:endParaRPr lang="en-US" altLang="zh-CN" sz="2400" dirty="0">
              <a:solidFill>
                <a:srgbClr val="0070C0"/>
              </a:solidFill>
              <a:latin typeface="黑体" pitchFamily="49" charset="-122"/>
              <a:ea typeface="黑体" pitchFamily="49" charset="-122"/>
            </a:endParaRPr>
          </a:p>
          <a:p>
            <a:pPr algn="just">
              <a:lnSpc>
                <a:spcPts val="3000"/>
              </a:lnSpc>
            </a:pPr>
            <a:r>
              <a:rPr lang="zh-CN" altLang="en-US" sz="2200" dirty="0">
                <a:solidFill>
                  <a:srgbClr val="0070C0"/>
                </a:solidFill>
              </a:rPr>
              <a:t>决策树学习是一种很早就出现的归纳学习方法，至今仍然在不断发展着。据文献记载，</a:t>
            </a:r>
            <a:r>
              <a:rPr lang="en-US" sz="2200" dirty="0">
                <a:solidFill>
                  <a:srgbClr val="0070C0"/>
                </a:solidFill>
              </a:rPr>
              <a:t>20</a:t>
            </a:r>
            <a:r>
              <a:rPr lang="zh-CN" altLang="en-US" sz="2200" dirty="0">
                <a:solidFill>
                  <a:srgbClr val="0070C0"/>
                </a:solidFill>
              </a:rPr>
              <a:t>世纪</a:t>
            </a:r>
            <a:r>
              <a:rPr lang="en-US" sz="2200" dirty="0">
                <a:solidFill>
                  <a:srgbClr val="0070C0"/>
                </a:solidFill>
              </a:rPr>
              <a:t>60</a:t>
            </a:r>
            <a:r>
              <a:rPr lang="zh-CN" altLang="en-US" sz="2200" dirty="0">
                <a:solidFill>
                  <a:srgbClr val="0070C0"/>
                </a:solidFill>
              </a:rPr>
              <a:t>年代初的“基本的感知器”（</a:t>
            </a:r>
            <a:r>
              <a:rPr lang="en-US" sz="2200" dirty="0">
                <a:solidFill>
                  <a:srgbClr val="0070C0"/>
                </a:solidFill>
              </a:rPr>
              <a:t>Elementary Perceiver and Memorizer, EPAM</a:t>
            </a:r>
            <a:r>
              <a:rPr lang="zh-CN" altLang="en-US" sz="2200" dirty="0">
                <a:solidFill>
                  <a:srgbClr val="0070C0"/>
                </a:solidFill>
              </a:rPr>
              <a:t>）中就使用了决策树学习。稍后的概念学习系统</a:t>
            </a:r>
            <a:r>
              <a:rPr lang="en-US" sz="2200" dirty="0">
                <a:solidFill>
                  <a:srgbClr val="0070C0"/>
                </a:solidFill>
              </a:rPr>
              <a:t>CLS</a:t>
            </a:r>
            <a:r>
              <a:rPr lang="zh-CN" altLang="en-US" sz="2200" dirty="0">
                <a:solidFill>
                  <a:srgbClr val="0070C0"/>
                </a:solidFill>
              </a:rPr>
              <a:t>则使用启发式的前瞻方法来构造决策树。继</a:t>
            </a:r>
            <a:r>
              <a:rPr lang="en-US" sz="2200" dirty="0">
                <a:solidFill>
                  <a:srgbClr val="0070C0"/>
                </a:solidFill>
              </a:rPr>
              <a:t>1979</a:t>
            </a:r>
            <a:r>
              <a:rPr lang="zh-CN" altLang="en-US" sz="2200" dirty="0">
                <a:solidFill>
                  <a:srgbClr val="0070C0"/>
                </a:solidFill>
              </a:rPr>
              <a:t>年的</a:t>
            </a:r>
            <a:r>
              <a:rPr lang="en-US" sz="2200" dirty="0">
                <a:solidFill>
                  <a:srgbClr val="0070C0"/>
                </a:solidFill>
              </a:rPr>
              <a:t>ID3</a:t>
            </a:r>
            <a:r>
              <a:rPr lang="zh-CN" altLang="en-US" sz="2200" dirty="0">
                <a:solidFill>
                  <a:srgbClr val="0070C0"/>
                </a:solidFill>
              </a:rPr>
              <a:t>算法之后，人们又于</a:t>
            </a:r>
            <a:r>
              <a:rPr lang="en-US" sz="2200" dirty="0">
                <a:solidFill>
                  <a:srgbClr val="0070C0"/>
                </a:solidFill>
              </a:rPr>
              <a:t>1986</a:t>
            </a:r>
            <a:r>
              <a:rPr lang="zh-CN" altLang="en-US" sz="2200" dirty="0">
                <a:solidFill>
                  <a:srgbClr val="0070C0"/>
                </a:solidFill>
              </a:rPr>
              <a:t>、</a:t>
            </a:r>
            <a:r>
              <a:rPr lang="en-US" sz="2200" dirty="0">
                <a:solidFill>
                  <a:srgbClr val="0070C0"/>
                </a:solidFill>
              </a:rPr>
              <a:t>1988</a:t>
            </a:r>
            <a:r>
              <a:rPr lang="zh-CN" altLang="en-US" sz="2200" dirty="0">
                <a:solidFill>
                  <a:srgbClr val="0070C0"/>
                </a:solidFill>
              </a:rPr>
              <a:t>年相继提出了</a:t>
            </a:r>
            <a:r>
              <a:rPr lang="en-US" sz="2200" dirty="0">
                <a:solidFill>
                  <a:srgbClr val="0070C0"/>
                </a:solidFill>
              </a:rPr>
              <a:t>ID4</a:t>
            </a:r>
            <a:r>
              <a:rPr lang="zh-CN" altLang="en-US" sz="2200" dirty="0">
                <a:solidFill>
                  <a:srgbClr val="0070C0"/>
                </a:solidFill>
              </a:rPr>
              <a:t>和</a:t>
            </a:r>
            <a:r>
              <a:rPr lang="en-US" sz="2200" dirty="0">
                <a:solidFill>
                  <a:srgbClr val="0070C0"/>
                </a:solidFill>
              </a:rPr>
              <a:t>ID5</a:t>
            </a:r>
            <a:r>
              <a:rPr lang="zh-CN" altLang="en-US" sz="2200" dirty="0">
                <a:solidFill>
                  <a:srgbClr val="0070C0"/>
                </a:solidFill>
              </a:rPr>
              <a:t>算法。</a:t>
            </a:r>
            <a:r>
              <a:rPr lang="en-US" sz="2200" dirty="0">
                <a:solidFill>
                  <a:srgbClr val="0070C0"/>
                </a:solidFill>
              </a:rPr>
              <a:t>1993</a:t>
            </a:r>
            <a:r>
              <a:rPr lang="zh-CN" altLang="en-US" sz="2200" dirty="0">
                <a:solidFill>
                  <a:srgbClr val="0070C0"/>
                </a:solidFill>
              </a:rPr>
              <a:t>年</a:t>
            </a:r>
            <a:r>
              <a:rPr lang="en-US" sz="2200" dirty="0">
                <a:solidFill>
                  <a:srgbClr val="0070C0"/>
                </a:solidFill>
              </a:rPr>
              <a:t>J. R. Quinlan </a:t>
            </a:r>
            <a:r>
              <a:rPr lang="zh-CN" altLang="en-US" sz="2200" dirty="0">
                <a:solidFill>
                  <a:srgbClr val="0070C0"/>
                </a:solidFill>
              </a:rPr>
              <a:t>则进一步将</a:t>
            </a:r>
            <a:r>
              <a:rPr lang="en-US" sz="2200" dirty="0">
                <a:solidFill>
                  <a:srgbClr val="0070C0"/>
                </a:solidFill>
              </a:rPr>
              <a:t>ID3</a:t>
            </a:r>
            <a:r>
              <a:rPr lang="zh-CN" altLang="en-US" sz="2200" dirty="0">
                <a:solidFill>
                  <a:srgbClr val="0070C0"/>
                </a:solidFill>
              </a:rPr>
              <a:t>发展成</a:t>
            </a:r>
            <a:r>
              <a:rPr lang="en-US" sz="2200" dirty="0">
                <a:solidFill>
                  <a:srgbClr val="0070C0"/>
                </a:solidFill>
              </a:rPr>
              <a:t>C4.5</a:t>
            </a:r>
            <a:r>
              <a:rPr lang="zh-CN" altLang="en-US" sz="2200" dirty="0">
                <a:solidFill>
                  <a:srgbClr val="0070C0"/>
                </a:solidFill>
              </a:rPr>
              <a:t>算法。另一类著名的决策树学习算法称为</a:t>
            </a:r>
            <a:r>
              <a:rPr lang="en-US" sz="2200" dirty="0">
                <a:solidFill>
                  <a:srgbClr val="0070C0"/>
                </a:solidFill>
              </a:rPr>
              <a:t>CART</a:t>
            </a:r>
            <a:r>
              <a:rPr lang="zh-CN" altLang="en-US" sz="2200" dirty="0">
                <a:solidFill>
                  <a:srgbClr val="0070C0"/>
                </a:solidFill>
              </a:rPr>
              <a:t>（</a:t>
            </a:r>
            <a:r>
              <a:rPr lang="en-US" sz="2200" dirty="0">
                <a:solidFill>
                  <a:srgbClr val="0070C0"/>
                </a:solidFill>
              </a:rPr>
              <a:t>Classification and Regression Trees</a:t>
            </a:r>
            <a:r>
              <a:rPr lang="zh-CN" altLang="en-US" sz="2200" dirty="0">
                <a:solidFill>
                  <a:srgbClr val="0070C0"/>
                </a:solidFill>
              </a:rPr>
              <a:t>）。</a:t>
            </a:r>
          </a:p>
          <a:p>
            <a:pPr algn="just">
              <a:lnSpc>
                <a:spcPts val="3000"/>
              </a:lnSpc>
            </a:pPr>
            <a:r>
              <a:rPr lang="zh-CN" altLang="en-US" sz="2200" dirty="0">
                <a:solidFill>
                  <a:srgbClr val="0070C0"/>
                </a:solidFill>
              </a:rPr>
              <a:t>随着决策树算法的广泛应用，包括</a:t>
            </a:r>
            <a:r>
              <a:rPr lang="en-US" sz="2200" dirty="0">
                <a:solidFill>
                  <a:srgbClr val="0070C0"/>
                </a:solidFill>
              </a:rPr>
              <a:t>C4.5</a:t>
            </a:r>
            <a:r>
              <a:rPr lang="zh-CN" altLang="en-US" sz="2200" dirty="0">
                <a:solidFill>
                  <a:srgbClr val="0070C0"/>
                </a:solidFill>
              </a:rPr>
              <a:t>和</a:t>
            </a:r>
            <a:r>
              <a:rPr lang="en-US" sz="2200" dirty="0">
                <a:solidFill>
                  <a:srgbClr val="0070C0"/>
                </a:solidFill>
              </a:rPr>
              <a:t>CART</a:t>
            </a:r>
            <a:r>
              <a:rPr lang="zh-CN" altLang="en-US" sz="2200" dirty="0">
                <a:solidFill>
                  <a:srgbClr val="0070C0"/>
                </a:solidFill>
              </a:rPr>
              <a:t>的各种算法得到进一步改进。例如：多变量决策树算法、将遗传算法、神经网络和</a:t>
            </a:r>
            <a:r>
              <a:rPr lang="en-US" sz="2200" dirty="0">
                <a:solidFill>
                  <a:srgbClr val="0070C0"/>
                </a:solidFill>
              </a:rPr>
              <a:t>C4.5</a:t>
            </a:r>
            <a:r>
              <a:rPr lang="zh-CN" altLang="en-US" sz="2200" dirty="0">
                <a:solidFill>
                  <a:srgbClr val="0070C0"/>
                </a:solidFill>
              </a:rPr>
              <a:t>相结合的</a:t>
            </a:r>
            <a:r>
              <a:rPr lang="en-US" sz="2200" dirty="0">
                <a:solidFill>
                  <a:srgbClr val="0070C0"/>
                </a:solidFill>
              </a:rPr>
              <a:t>GA-NN-C4.5</a:t>
            </a:r>
            <a:r>
              <a:rPr lang="zh-CN" altLang="en-US" sz="2200" dirty="0">
                <a:solidFill>
                  <a:srgbClr val="0070C0"/>
                </a:solidFill>
              </a:rPr>
              <a:t>算法和</a:t>
            </a:r>
            <a:r>
              <a:rPr lang="en-US" sz="2200" dirty="0">
                <a:solidFill>
                  <a:srgbClr val="0070C0"/>
                </a:solidFill>
              </a:rPr>
              <a:t>SVM</a:t>
            </a:r>
            <a:r>
              <a:rPr lang="zh-CN" altLang="en-US" sz="2200" dirty="0">
                <a:solidFill>
                  <a:srgbClr val="0070C0"/>
                </a:solidFill>
              </a:rPr>
              <a:t>决策树算法等。这些改进算法结合各种方案的优势，以获得更合理的分类效果和更通用的决策规则。</a:t>
            </a:r>
            <a:endParaRPr lang="zh-CN" sz="2200" dirty="0">
              <a:solidFill>
                <a:srgbClr val="0070C0"/>
              </a:solidFill>
              <a:latin typeface="黑体" pitchFamily="49" charset="-122"/>
              <a:ea typeface="黑体" pitchFamily="49" charset="-122"/>
            </a:endParaRPr>
          </a:p>
        </p:txBody>
      </p:sp>
      <p:sp>
        <p:nvSpPr>
          <p:cNvPr id="3" name="动作按钮: 后退或前一项 2">
            <a:hlinkClick r:id="rId2" action="ppaction://hlinksldjump" highlightClick="1"/>
          </p:cNvPr>
          <p:cNvSpPr/>
          <p:nvPr/>
        </p:nvSpPr>
        <p:spPr>
          <a:xfrm>
            <a:off x="7691746" y="6244578"/>
            <a:ext cx="720000" cy="14400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3251">
                                            <p:txEl>
                                              <p:pRg st="1" end="1"/>
                                            </p:txEl>
                                          </p:spTgt>
                                        </p:tgtEl>
                                        <p:attrNameLst>
                                          <p:attrName>style.visibility</p:attrName>
                                        </p:attrNameLst>
                                      </p:cBhvr>
                                      <p:to>
                                        <p:strVal val="visible"/>
                                      </p:to>
                                    </p:set>
                                    <p:animEffect transition="in" filter="blinds(horizontal)">
                                      <p:cBhvr>
                                        <p:cTn id="7" dur="500"/>
                                        <p:tgtEl>
                                          <p:spTgt spid="5325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3251">
                                            <p:txEl>
                                              <p:pRg st="2" end="2"/>
                                            </p:txEl>
                                          </p:spTgt>
                                        </p:tgtEl>
                                        <p:attrNameLst>
                                          <p:attrName>style.visibility</p:attrName>
                                        </p:attrNameLst>
                                      </p:cBhvr>
                                      <p:to>
                                        <p:strVal val="visible"/>
                                      </p:to>
                                    </p:set>
                                    <p:animEffect transition="in" filter="blinds(horizontal)">
                                      <p:cBhvr>
                                        <p:cTn id="12" dur="500"/>
                                        <p:tgtEl>
                                          <p:spTgt spid="5325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42.4"/>
</p:tagLst>
</file>

<file path=ppt/tags/tag2.xml><?xml version="1.0" encoding="utf-8"?>
<p:tagLst xmlns:a="http://schemas.openxmlformats.org/drawingml/2006/main" xmlns:r="http://schemas.openxmlformats.org/officeDocument/2006/relationships" xmlns:p="http://schemas.openxmlformats.org/presentationml/2006/main">
  <p:tag name="KSO_WM_SLIDE_MODEL_TYPE" val="timeline"/>
  <p:tag name="TIMING" val="|11.8|5|36.8"/>
</p:tagLst>
</file>

<file path=ppt/theme/theme1.xml><?xml version="1.0" encoding="utf-8"?>
<a:theme xmlns:a="http://schemas.openxmlformats.org/drawingml/2006/main" name="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CDESIGNN</Template>
  <TotalTime>7013</TotalTime>
  <Words>3897</Words>
  <Application>Microsoft Office PowerPoint</Application>
  <PresentationFormat>全屏显示(4:3)</PresentationFormat>
  <Paragraphs>280</Paragraphs>
  <Slides>45</Slides>
  <Notes>9</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65" baseType="lpstr">
      <vt:lpstr>阿里巴巴普惠体 B</vt:lpstr>
      <vt:lpstr>阿里巴巴普惠体 R</vt:lpstr>
      <vt:lpstr>等线</vt:lpstr>
      <vt:lpstr>方正姚体</vt:lpstr>
      <vt:lpstr>仿宋_GB2312</vt:lpstr>
      <vt:lpstr>黑体</vt:lpstr>
      <vt:lpstr>华文新魏</vt:lpstr>
      <vt:lpstr>楷体</vt:lpstr>
      <vt:lpstr>楷体_GB2312</vt:lpstr>
      <vt:lpstr>隶书</vt:lpstr>
      <vt:lpstr>宋体</vt:lpstr>
      <vt:lpstr>Arial</vt:lpstr>
      <vt:lpstr>Cambria Math</vt:lpstr>
      <vt:lpstr>Courier New</vt:lpstr>
      <vt:lpstr>Symbol</vt:lpstr>
      <vt:lpstr>Times New Roman</vt:lpstr>
      <vt:lpstr>Wingdings</vt:lpstr>
      <vt:lpstr>Wingdings 2</vt:lpstr>
      <vt:lpstr>吉祥如意</vt:lpstr>
      <vt:lpstr>Equation</vt:lpstr>
      <vt:lpstr>PowerPoint 演示文稿</vt:lpstr>
      <vt:lpstr>PowerPoint 演示文稿</vt:lpstr>
      <vt:lpstr>什么是学习</vt:lpstr>
      <vt:lpstr>什么是机器学习</vt:lpstr>
      <vt:lpstr>编程 vs. 机器学习</vt:lpstr>
      <vt:lpstr>机器学习的历史</vt:lpstr>
      <vt:lpstr>机器学习的历史</vt:lpstr>
      <vt:lpstr>机器学习的历史</vt:lpstr>
      <vt:lpstr>机器学习在什么情况下具有优势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WEI SUO</cp:lastModifiedBy>
  <cp:revision>207</cp:revision>
  <dcterms:created xsi:type="dcterms:W3CDTF">2007-08-07T01:47:04Z</dcterms:created>
  <dcterms:modified xsi:type="dcterms:W3CDTF">2026-05-17T08:13:23Z</dcterms:modified>
</cp:coreProperties>
</file>