
<file path=[Content_Types].xml><?xml version="1.0" encoding="utf-8"?>
<Types xmlns="http://schemas.openxmlformats.org/package/2006/content-types">
  <Default Extension="bin" ContentType="application/vnd.openxmlformats-officedocument.oleObject"/>
  <Default Extension="emf" ContentType="image/x-emf"/>
  <Default Extension="gif" ContentType="image/gif"/>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9" r:id="rId1"/>
  </p:sldMasterIdLst>
  <p:notesMasterIdLst>
    <p:notesMasterId r:id="rId46"/>
  </p:notesMasterIdLst>
  <p:sldIdLst>
    <p:sldId id="409" r:id="rId2"/>
    <p:sldId id="434" r:id="rId3"/>
    <p:sldId id="516" r:id="rId4"/>
    <p:sldId id="406" r:id="rId5"/>
    <p:sldId id="272" r:id="rId6"/>
    <p:sldId id="410" r:id="rId7"/>
    <p:sldId id="411" r:id="rId8"/>
    <p:sldId id="561" r:id="rId9"/>
    <p:sldId id="517" r:id="rId10"/>
    <p:sldId id="357" r:id="rId11"/>
    <p:sldId id="358" r:id="rId12"/>
    <p:sldId id="518" r:id="rId13"/>
    <p:sldId id="519" r:id="rId14"/>
    <p:sldId id="562" r:id="rId15"/>
    <p:sldId id="563" r:id="rId16"/>
    <p:sldId id="669" r:id="rId17"/>
    <p:sldId id="564" r:id="rId18"/>
    <p:sldId id="560" r:id="rId19"/>
    <p:sldId id="413" r:id="rId20"/>
    <p:sldId id="367" r:id="rId21"/>
    <p:sldId id="370" r:id="rId22"/>
    <p:sldId id="371" r:id="rId23"/>
    <p:sldId id="380" r:id="rId24"/>
    <p:sldId id="381" r:id="rId25"/>
    <p:sldId id="414" r:id="rId26"/>
    <p:sldId id="415" r:id="rId27"/>
    <p:sldId id="419" r:id="rId28"/>
    <p:sldId id="417" r:id="rId29"/>
    <p:sldId id="422" r:id="rId30"/>
    <p:sldId id="420" r:id="rId31"/>
    <p:sldId id="424" r:id="rId32"/>
    <p:sldId id="421" r:id="rId33"/>
    <p:sldId id="565" r:id="rId34"/>
    <p:sldId id="566" r:id="rId35"/>
    <p:sldId id="635" r:id="rId36"/>
    <p:sldId id="666" r:id="rId37"/>
    <p:sldId id="668" r:id="rId38"/>
    <p:sldId id="636" r:id="rId39"/>
    <p:sldId id="637" r:id="rId40"/>
    <p:sldId id="659" r:id="rId41"/>
    <p:sldId id="660" r:id="rId42"/>
    <p:sldId id="549" r:id="rId43"/>
    <p:sldId id="548" r:id="rId44"/>
    <p:sldId id="547" r:id="rId45"/>
  </p:sldIdLst>
  <p:sldSz cx="9144000" cy="6858000" type="screen4x3"/>
  <p:notesSz cx="6858000" cy="9144000"/>
  <p:defaultTextStyle>
    <a:defPPr>
      <a:defRPr lang="zh-CN"/>
    </a:defPPr>
    <a:lvl1pPr algn="l" rtl="0" fontAlgn="base">
      <a:spcBef>
        <a:spcPct val="0"/>
      </a:spcBef>
      <a:spcAft>
        <a:spcPct val="0"/>
      </a:spcAft>
      <a:defRPr kern="1200">
        <a:solidFill>
          <a:schemeClr val="tx1"/>
        </a:solidFill>
        <a:latin typeface="Arial" pitchFamily="34" charset="0"/>
        <a:ea typeface="宋体" pitchFamily="2" charset="-122"/>
        <a:cs typeface="+mn-cs"/>
      </a:defRPr>
    </a:lvl1pPr>
    <a:lvl2pPr marL="457200" algn="l" rtl="0" fontAlgn="base">
      <a:spcBef>
        <a:spcPct val="0"/>
      </a:spcBef>
      <a:spcAft>
        <a:spcPct val="0"/>
      </a:spcAft>
      <a:defRPr kern="1200">
        <a:solidFill>
          <a:schemeClr val="tx1"/>
        </a:solidFill>
        <a:latin typeface="Arial" pitchFamily="34" charset="0"/>
        <a:ea typeface="宋体" pitchFamily="2" charset="-122"/>
        <a:cs typeface="+mn-cs"/>
      </a:defRPr>
    </a:lvl2pPr>
    <a:lvl3pPr marL="914400" algn="l" rtl="0" fontAlgn="base">
      <a:spcBef>
        <a:spcPct val="0"/>
      </a:spcBef>
      <a:spcAft>
        <a:spcPct val="0"/>
      </a:spcAft>
      <a:defRPr kern="1200">
        <a:solidFill>
          <a:schemeClr val="tx1"/>
        </a:solidFill>
        <a:latin typeface="Arial" pitchFamily="34" charset="0"/>
        <a:ea typeface="宋体" pitchFamily="2" charset="-122"/>
        <a:cs typeface="+mn-cs"/>
      </a:defRPr>
    </a:lvl3pPr>
    <a:lvl4pPr marL="1371600" algn="l" rtl="0" fontAlgn="base">
      <a:spcBef>
        <a:spcPct val="0"/>
      </a:spcBef>
      <a:spcAft>
        <a:spcPct val="0"/>
      </a:spcAft>
      <a:defRPr kern="1200">
        <a:solidFill>
          <a:schemeClr val="tx1"/>
        </a:solidFill>
        <a:latin typeface="Arial" pitchFamily="34" charset="0"/>
        <a:ea typeface="宋体" pitchFamily="2" charset="-122"/>
        <a:cs typeface="+mn-cs"/>
      </a:defRPr>
    </a:lvl4pPr>
    <a:lvl5pPr marL="1828800" algn="l" rtl="0" fontAlgn="base">
      <a:spcBef>
        <a:spcPct val="0"/>
      </a:spcBef>
      <a:spcAft>
        <a:spcPct val="0"/>
      </a:spcAft>
      <a:defRPr kern="1200">
        <a:solidFill>
          <a:schemeClr val="tx1"/>
        </a:solidFill>
        <a:latin typeface="Arial" pitchFamily="34" charset="0"/>
        <a:ea typeface="宋体" pitchFamily="2" charset="-122"/>
        <a:cs typeface="+mn-cs"/>
      </a:defRPr>
    </a:lvl5pPr>
    <a:lvl6pPr marL="2286000" algn="l" defTabSz="914400" rtl="0" eaLnBrk="1" latinLnBrk="0" hangingPunct="1">
      <a:defRPr kern="1200">
        <a:solidFill>
          <a:schemeClr val="tx1"/>
        </a:solidFill>
        <a:latin typeface="Arial" pitchFamily="34" charset="0"/>
        <a:ea typeface="宋体" pitchFamily="2" charset="-122"/>
        <a:cs typeface="+mn-cs"/>
      </a:defRPr>
    </a:lvl6pPr>
    <a:lvl7pPr marL="2743200" algn="l" defTabSz="914400" rtl="0" eaLnBrk="1" latinLnBrk="0" hangingPunct="1">
      <a:defRPr kern="1200">
        <a:solidFill>
          <a:schemeClr val="tx1"/>
        </a:solidFill>
        <a:latin typeface="Arial" pitchFamily="34" charset="0"/>
        <a:ea typeface="宋体" pitchFamily="2" charset="-122"/>
        <a:cs typeface="+mn-cs"/>
      </a:defRPr>
    </a:lvl7pPr>
    <a:lvl8pPr marL="3200400" algn="l" defTabSz="914400" rtl="0" eaLnBrk="1" latinLnBrk="0" hangingPunct="1">
      <a:defRPr kern="1200">
        <a:solidFill>
          <a:schemeClr val="tx1"/>
        </a:solidFill>
        <a:latin typeface="Arial" pitchFamily="34" charset="0"/>
        <a:ea typeface="宋体" pitchFamily="2" charset="-122"/>
        <a:cs typeface="+mn-cs"/>
      </a:defRPr>
    </a:lvl8pPr>
    <a:lvl9pPr marL="3657600" algn="l" defTabSz="914400" rtl="0" eaLnBrk="1" latinLnBrk="0" hangingPunct="1">
      <a:defRPr kern="1200">
        <a:solidFill>
          <a:schemeClr val="tx1"/>
        </a:solidFill>
        <a:latin typeface="Arial" pitchFamily="34" charset="0"/>
        <a:ea typeface="宋体" pitchFamily="2" charset="-122"/>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0000"/>
    <a:srgbClr val="FF993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9137" autoAdjust="0"/>
    <p:restoredTop sz="84978" autoAdjust="0"/>
  </p:normalViewPr>
  <p:slideViewPr>
    <p:cSldViewPr>
      <p:cViewPr varScale="1">
        <p:scale>
          <a:sx n="89" d="100"/>
          <a:sy n="89" d="100"/>
        </p:scale>
        <p:origin x="1200" y="62"/>
      </p:cViewPr>
      <p:guideLst/>
    </p:cSldViewPr>
  </p:slideViewPr>
  <p:outlineViewPr>
    <p:cViewPr>
      <p:scale>
        <a:sx n="33" d="100"/>
        <a:sy n="33" d="100"/>
      </p:scale>
      <p:origin x="0" y="0"/>
    </p:cViewPr>
    <p:sldLst>
      <p:sld r:id="rId1" collapse="1"/>
      <p:sld r:id="rId2" collapse="1"/>
      <p:sld r:id="rId3" collapse="1"/>
      <p:sld r:id="rId4" collapse="1"/>
      <p:sld r:id="rId5" collapse="1"/>
      <p:sld r:id="rId6" collapse="1"/>
      <p:sld r:id="rId7" collapse="1"/>
      <p:sld r:id="rId8" collapse="1"/>
      <p:sld r:id="rId9" collapse="1"/>
      <p:sld r:id="rId10" collapse="1"/>
      <p:sld r:id="rId11" collapse="1"/>
      <p:sld r:id="rId12" collapse="1"/>
      <p:sld r:id="rId13" collapse="1"/>
      <p:sld r:id="rId14" collapse="1"/>
      <p:sld r:id="rId15" collapse="1"/>
      <p:sld r:id="rId16" collapse="1"/>
      <p:sld r:id="rId17" collapse="1"/>
      <p:sld r:id="rId18" collapse="1"/>
    </p:sldLst>
  </p:outlineViewPr>
  <p:notesTextViewPr>
    <p:cViewPr>
      <p:scale>
        <a:sx n="100" d="100"/>
        <a:sy n="100" d="100"/>
      </p:scale>
      <p:origin x="0" y="0"/>
    </p:cViewPr>
  </p:notesTextViewPr>
  <p:sorterViewPr>
    <p:cViewPr>
      <p:scale>
        <a:sx n="66" d="100"/>
        <a:sy n="66"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presProps" Target="presProps.xml"/><Relationship Id="rId50"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notesMaster" Target="notesMasters/notesMaster1.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_rels/viewProps.xml.rels><?xml version="1.0" encoding="UTF-8" standalone="yes"?>
<Relationships xmlns="http://schemas.openxmlformats.org/package/2006/relationships"><Relationship Id="rId8" Type="http://schemas.openxmlformats.org/officeDocument/2006/relationships/slide" Target="slides/slide16.xml"/><Relationship Id="rId13" Type="http://schemas.openxmlformats.org/officeDocument/2006/relationships/slide" Target="slides/slide22.xml"/><Relationship Id="rId18" Type="http://schemas.openxmlformats.org/officeDocument/2006/relationships/slide" Target="slides/slide44.xml"/><Relationship Id="rId3" Type="http://schemas.openxmlformats.org/officeDocument/2006/relationships/slide" Target="slides/slide11.xml"/><Relationship Id="rId7" Type="http://schemas.openxmlformats.org/officeDocument/2006/relationships/slide" Target="slides/slide15.xml"/><Relationship Id="rId12" Type="http://schemas.openxmlformats.org/officeDocument/2006/relationships/slide" Target="slides/slide21.xml"/><Relationship Id="rId17" Type="http://schemas.openxmlformats.org/officeDocument/2006/relationships/slide" Target="slides/slide43.xml"/><Relationship Id="rId2" Type="http://schemas.openxmlformats.org/officeDocument/2006/relationships/slide" Target="slides/slide10.xml"/><Relationship Id="rId16" Type="http://schemas.openxmlformats.org/officeDocument/2006/relationships/slide" Target="slides/slide42.xml"/><Relationship Id="rId1" Type="http://schemas.openxmlformats.org/officeDocument/2006/relationships/slide" Target="slides/slide5.xml"/><Relationship Id="rId6" Type="http://schemas.openxmlformats.org/officeDocument/2006/relationships/slide" Target="slides/slide14.xml"/><Relationship Id="rId11" Type="http://schemas.openxmlformats.org/officeDocument/2006/relationships/slide" Target="slides/slide20.xml"/><Relationship Id="rId5" Type="http://schemas.openxmlformats.org/officeDocument/2006/relationships/slide" Target="slides/slide13.xml"/><Relationship Id="rId15" Type="http://schemas.openxmlformats.org/officeDocument/2006/relationships/slide" Target="slides/slide24.xml"/><Relationship Id="rId10" Type="http://schemas.openxmlformats.org/officeDocument/2006/relationships/slide" Target="slides/slide18.xml"/><Relationship Id="rId4" Type="http://schemas.openxmlformats.org/officeDocument/2006/relationships/slide" Target="slides/slide12.xml"/><Relationship Id="rId9" Type="http://schemas.openxmlformats.org/officeDocument/2006/relationships/slide" Target="slides/slide17.xml"/><Relationship Id="rId14" Type="http://schemas.openxmlformats.org/officeDocument/2006/relationships/slide" Target="slides/slide2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EC4F50BF-C289-4AAE-BB6E-FF45D6FD71B5}" type="datetimeFigureOut">
              <a:rPr lang="zh-CN" altLang="en-US" smtClean="0"/>
              <a:pPr/>
              <a:t>2026/5/11</a:t>
            </a:fld>
            <a:endParaRPr lang="zh-CN" altLang="en-US"/>
          </a:p>
        </p:txBody>
      </p:sp>
      <p:sp>
        <p:nvSpPr>
          <p:cNvPr id="4" name="幻灯片图像占位符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2FB13F6B-553E-454F-8624-A22641F006FD}" type="slidenum">
              <a:rPr lang="zh-CN" altLang="en-US" smtClean="0"/>
              <a:pPr/>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2FB13F6B-553E-454F-8624-A22641F006FD}" type="slidenum">
              <a:rPr lang="zh-CN" altLang="en-US" smtClean="0"/>
              <a:pPr/>
              <a:t>5</a:t>
            </a:fld>
            <a:endParaRPr lang="zh-CN" altLang="en-US"/>
          </a:p>
        </p:txBody>
      </p:sp>
    </p:spTree>
    <p:extLst>
      <p:ext uri="{BB962C8B-B14F-4D97-AF65-F5344CB8AC3E}">
        <p14:creationId xmlns:p14="http://schemas.microsoft.com/office/powerpoint/2010/main" val="47008582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2FB13F6B-553E-454F-8624-A22641F006FD}" type="slidenum">
              <a:rPr lang="zh-CN" altLang="en-US" smtClean="0"/>
              <a:pPr/>
              <a:t>6</a:t>
            </a:fld>
            <a:endParaRPr lang="zh-CN" altLang="en-US"/>
          </a:p>
        </p:txBody>
      </p:sp>
    </p:spTree>
    <p:extLst>
      <p:ext uri="{BB962C8B-B14F-4D97-AF65-F5344CB8AC3E}">
        <p14:creationId xmlns:p14="http://schemas.microsoft.com/office/powerpoint/2010/main" val="219196988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334FA5-D8C9-4BBD-971E-61AA2D900C25}"/>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201A21F0-C627-A387-757F-86EC2D739738}"/>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3CFA37A6-A856-2EAB-686B-BC796C07781C}"/>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6C563F2D-5519-0FBF-7F48-7545CBE94A09}"/>
              </a:ext>
            </a:extLst>
          </p:cNvPr>
          <p:cNvSpPr>
            <a:spLocks noGrp="1"/>
          </p:cNvSpPr>
          <p:nvPr>
            <p:ph type="sldNum" sz="quarter" idx="5"/>
          </p:nvPr>
        </p:nvSpPr>
        <p:spPr/>
        <p:txBody>
          <a:bodyPr/>
          <a:lstStyle/>
          <a:p>
            <a:fld id="{2FB13F6B-553E-454F-8624-A22641F006FD}" type="slidenum">
              <a:rPr lang="zh-CN" altLang="en-US" smtClean="0"/>
              <a:pPr/>
              <a:t>8</a:t>
            </a:fld>
            <a:endParaRPr lang="zh-CN" altLang="en-US"/>
          </a:p>
        </p:txBody>
      </p:sp>
    </p:spTree>
    <p:extLst>
      <p:ext uri="{BB962C8B-B14F-4D97-AF65-F5344CB8AC3E}">
        <p14:creationId xmlns:p14="http://schemas.microsoft.com/office/powerpoint/2010/main" val="380960158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2FB13F6B-553E-454F-8624-A22641F006FD}" type="slidenum">
              <a:rPr lang="zh-CN" altLang="en-US" smtClean="0"/>
              <a:pPr/>
              <a:t>9</a:t>
            </a:fld>
            <a:endParaRPr lang="zh-CN" altLang="en-US"/>
          </a:p>
        </p:txBody>
      </p:sp>
    </p:spTree>
    <p:extLst>
      <p:ext uri="{BB962C8B-B14F-4D97-AF65-F5344CB8AC3E}">
        <p14:creationId xmlns:p14="http://schemas.microsoft.com/office/powerpoint/2010/main" val="136472562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fld id="{2FB13F6B-553E-454F-8624-A22641F006FD}" type="slidenum">
              <a:rPr lang="zh-CN" altLang="en-US" smtClean="0"/>
              <a:pPr/>
              <a:t>10</a:t>
            </a:fld>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2FB13F6B-553E-454F-8624-A22641F006FD}" type="slidenum">
              <a:rPr lang="zh-CN" altLang="en-US" smtClean="0"/>
              <a:pPr/>
              <a:t>34</a:t>
            </a:fld>
            <a:endParaRPr lang="zh-CN" altLang="en-US"/>
          </a:p>
        </p:txBody>
      </p:sp>
    </p:spTree>
    <p:extLst>
      <p:ext uri="{BB962C8B-B14F-4D97-AF65-F5344CB8AC3E}">
        <p14:creationId xmlns:p14="http://schemas.microsoft.com/office/powerpoint/2010/main" val="4252388965"/>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jpeg"/><Relationship Id="rId1" Type="http://schemas.openxmlformats.org/officeDocument/2006/relationships/slideMaster" Target="../slideMasters/slideMaster1.xml"/><Relationship Id="rId5" Type="http://schemas.openxmlformats.org/officeDocument/2006/relationships/image" Target="../media/image5.gif"/><Relationship Id="rId4" Type="http://schemas.openxmlformats.org/officeDocument/2006/relationships/image" Target="../media/image4.gif"/></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sp>
        <p:nvSpPr>
          <p:cNvPr id="269314" name="Rectangle 2"/>
          <p:cNvSpPr>
            <a:spLocks noGrp="1" noRot="1" noChangeArrowheads="1"/>
          </p:cNvSpPr>
          <p:nvPr>
            <p:ph type="ctrTitle"/>
          </p:nvPr>
        </p:nvSpPr>
        <p:spPr>
          <a:xfrm>
            <a:off x="3962400" y="1066800"/>
            <a:ext cx="4648200" cy="1981200"/>
          </a:xfrm>
        </p:spPr>
        <p:txBody>
          <a:bodyPr/>
          <a:lstStyle>
            <a:lvl1pPr>
              <a:defRPr/>
            </a:lvl1pPr>
          </a:lstStyle>
          <a:p>
            <a:r>
              <a:rPr lang="zh-CN" altLang="en-US"/>
              <a:t>单击此处编辑母版标题样式</a:t>
            </a:r>
          </a:p>
        </p:txBody>
      </p:sp>
      <p:sp>
        <p:nvSpPr>
          <p:cNvPr id="269315" name="Rectangle 3"/>
          <p:cNvSpPr>
            <a:spLocks noGrp="1" noRot="1" noChangeArrowheads="1"/>
          </p:cNvSpPr>
          <p:nvPr>
            <p:ph type="subTitle" idx="1"/>
          </p:nvPr>
        </p:nvSpPr>
        <p:spPr>
          <a:xfrm>
            <a:off x="3962400" y="3657600"/>
            <a:ext cx="4572000" cy="1676400"/>
          </a:xfrm>
        </p:spPr>
        <p:txBody>
          <a:bodyPr/>
          <a:lstStyle>
            <a:lvl1pPr marL="0" indent="0" algn="ctr">
              <a:buFont typeface="Wingdings" pitchFamily="2" charset="2"/>
              <a:buNone/>
              <a:defRPr/>
            </a:lvl1pPr>
          </a:lstStyle>
          <a:p>
            <a:r>
              <a:rPr lang="zh-CN" altLang="en-US"/>
              <a:t>单击此处编辑母版副标题样式</a:t>
            </a:r>
          </a:p>
        </p:txBody>
      </p:sp>
      <p:sp>
        <p:nvSpPr>
          <p:cNvPr id="269316" name="Rectangle 4"/>
          <p:cNvSpPr>
            <a:spLocks noGrp="1" noChangeArrowheads="1"/>
          </p:cNvSpPr>
          <p:nvPr>
            <p:ph type="dt" sz="half" idx="2"/>
          </p:nvPr>
        </p:nvSpPr>
        <p:spPr>
          <a:xfrm>
            <a:off x="301625" y="6076950"/>
            <a:ext cx="2289175" cy="476250"/>
          </a:xfrm>
        </p:spPr>
        <p:txBody>
          <a:bodyPr/>
          <a:lstStyle>
            <a:lvl1pPr>
              <a:defRPr/>
            </a:lvl1pPr>
          </a:lstStyle>
          <a:p>
            <a:endParaRPr lang="en-US" altLang="zh-CN"/>
          </a:p>
        </p:txBody>
      </p:sp>
      <p:sp>
        <p:nvSpPr>
          <p:cNvPr id="269317" name="Rectangle 5"/>
          <p:cNvSpPr>
            <a:spLocks noGrp="1" noChangeArrowheads="1"/>
          </p:cNvSpPr>
          <p:nvPr>
            <p:ph type="ftr" sz="quarter" idx="3"/>
          </p:nvPr>
        </p:nvSpPr>
        <p:spPr>
          <a:xfrm>
            <a:off x="3124200" y="6076950"/>
            <a:ext cx="2895600" cy="476250"/>
          </a:xfrm>
        </p:spPr>
        <p:txBody>
          <a:bodyPr/>
          <a:lstStyle>
            <a:lvl1pPr>
              <a:defRPr/>
            </a:lvl1pPr>
          </a:lstStyle>
          <a:p>
            <a:endParaRPr lang="en-US" altLang="zh-CN"/>
          </a:p>
        </p:txBody>
      </p:sp>
      <p:sp>
        <p:nvSpPr>
          <p:cNvPr id="269318" name="Rectangle 6"/>
          <p:cNvSpPr>
            <a:spLocks noGrp="1" noChangeArrowheads="1"/>
          </p:cNvSpPr>
          <p:nvPr>
            <p:ph type="sldNum" sz="quarter" idx="4"/>
          </p:nvPr>
        </p:nvSpPr>
        <p:spPr>
          <a:xfrm>
            <a:off x="6553200" y="6076950"/>
            <a:ext cx="2289175" cy="476250"/>
          </a:xfrm>
        </p:spPr>
        <p:txBody>
          <a:bodyPr/>
          <a:lstStyle>
            <a:lvl1pPr>
              <a:defRPr/>
            </a:lvl1pPr>
          </a:lstStyle>
          <a:p>
            <a:fld id="{B048AE63-2135-40B1-9DFA-292326B49DE7}" type="slidenum">
              <a:rPr lang="en-US" altLang="zh-CN"/>
              <a:pPr/>
              <a:t>‹#›</a:t>
            </a:fld>
            <a:endParaRPr lang="en-US" altLang="zh-CN"/>
          </a:p>
        </p:txBody>
      </p:sp>
      <p:pic>
        <p:nvPicPr>
          <p:cNvPr id="269319" name="Picture 7" descr="BJ2048"/>
          <p:cNvPicPr>
            <a:picLocks noChangeAspect="1" noChangeArrowheads="1"/>
          </p:cNvPicPr>
          <p:nvPr userDrawn="1"/>
        </p:nvPicPr>
        <p:blipFill>
          <a:blip r:embed="rId2"/>
          <a:srcRect/>
          <a:stretch>
            <a:fillRect/>
          </a:stretch>
        </p:blipFill>
        <p:spPr bwMode="auto">
          <a:xfrm>
            <a:off x="0" y="5867400"/>
            <a:ext cx="9144000" cy="990600"/>
          </a:xfrm>
          <a:prstGeom prst="rect">
            <a:avLst/>
          </a:prstGeom>
          <a:noFill/>
        </p:spPr>
      </p:pic>
      <p:pic>
        <p:nvPicPr>
          <p:cNvPr id="269320" name="Picture 8" descr="BJ2095"/>
          <p:cNvPicPr>
            <a:picLocks noChangeAspect="1" noChangeArrowheads="1"/>
          </p:cNvPicPr>
          <p:nvPr userDrawn="1"/>
        </p:nvPicPr>
        <p:blipFill>
          <a:blip r:embed="rId3" cstate="print"/>
          <a:srcRect/>
          <a:stretch>
            <a:fillRect/>
          </a:stretch>
        </p:blipFill>
        <p:spPr bwMode="auto">
          <a:xfrm>
            <a:off x="8229600" y="0"/>
            <a:ext cx="914400" cy="685800"/>
          </a:xfrm>
          <a:prstGeom prst="rect">
            <a:avLst/>
          </a:prstGeom>
          <a:noFill/>
        </p:spPr>
      </p:pic>
      <p:pic>
        <p:nvPicPr>
          <p:cNvPr id="269321" name="Picture 9" descr="GIF-396"/>
          <p:cNvPicPr>
            <a:picLocks noChangeAspect="1" noChangeArrowheads="1" noCrop="1"/>
          </p:cNvPicPr>
          <p:nvPr userDrawn="1"/>
        </p:nvPicPr>
        <p:blipFill>
          <a:blip r:embed="rId4"/>
          <a:srcRect/>
          <a:stretch>
            <a:fillRect/>
          </a:stretch>
        </p:blipFill>
        <p:spPr bwMode="auto">
          <a:xfrm>
            <a:off x="381000" y="433388"/>
            <a:ext cx="4800600" cy="100012"/>
          </a:xfrm>
          <a:prstGeom prst="rect">
            <a:avLst/>
          </a:prstGeom>
          <a:noFill/>
        </p:spPr>
      </p:pic>
      <p:pic>
        <p:nvPicPr>
          <p:cNvPr id="269322" name="Picture 10" descr="GIF-450"/>
          <p:cNvPicPr>
            <a:picLocks noChangeAspect="1" noChangeArrowheads="1" noCrop="1"/>
          </p:cNvPicPr>
          <p:nvPr userDrawn="1"/>
        </p:nvPicPr>
        <p:blipFill>
          <a:blip r:embed="rId5"/>
          <a:srcRect/>
          <a:stretch>
            <a:fillRect/>
          </a:stretch>
        </p:blipFill>
        <p:spPr bwMode="auto">
          <a:xfrm>
            <a:off x="0" y="0"/>
            <a:ext cx="609600" cy="454025"/>
          </a:xfrm>
          <a:prstGeom prst="rect">
            <a:avLst/>
          </a:prstGeom>
          <a:noFill/>
        </p:spPr>
      </p:pic>
      <p:sp>
        <p:nvSpPr>
          <p:cNvPr id="269323" name="Text Box 11"/>
          <p:cNvSpPr txBox="1">
            <a:spLocks noChangeArrowheads="1"/>
          </p:cNvSpPr>
          <p:nvPr userDrawn="1"/>
        </p:nvSpPr>
        <p:spPr bwMode="auto">
          <a:xfrm>
            <a:off x="419100" y="19050"/>
            <a:ext cx="4953000" cy="457200"/>
          </a:xfrm>
          <a:prstGeom prst="rect">
            <a:avLst/>
          </a:prstGeom>
          <a:noFill/>
          <a:ln w="9525">
            <a:noFill/>
            <a:miter lim="800000"/>
            <a:headEnd/>
            <a:tailEnd/>
          </a:ln>
          <a:effectLst/>
        </p:spPr>
        <p:txBody>
          <a:bodyPr wrap="none">
            <a:spAutoFit/>
          </a:bodyPr>
          <a:lstStyle/>
          <a:p>
            <a:r>
              <a:rPr kumimoji="1" lang="zh-CN" altLang="en-US" sz="2400">
                <a:effectLst>
                  <a:outerShdw blurRad="38100" dist="38100" dir="2700000" algn="tl">
                    <a:srgbClr val="C0C0C0"/>
                  </a:outerShdw>
                </a:effectLst>
                <a:latin typeface="华文行楷" pitchFamily="2" charset="-122"/>
                <a:ea typeface="华文行楷" pitchFamily="2" charset="-122"/>
              </a:rPr>
              <a:t>第 </a:t>
            </a:r>
            <a:r>
              <a:rPr kumimoji="1" lang="en-US" altLang="zh-CN" sz="2400">
                <a:effectLst>
                  <a:outerShdw blurRad="38100" dist="38100" dir="2700000" algn="tl">
                    <a:srgbClr val="C0C0C0"/>
                  </a:outerShdw>
                </a:effectLst>
                <a:latin typeface="华文行楷" pitchFamily="2" charset="-122"/>
                <a:ea typeface="华文行楷" pitchFamily="2" charset="-122"/>
              </a:rPr>
              <a:t>6 </a:t>
            </a:r>
            <a:r>
              <a:rPr kumimoji="1" lang="zh-CN" altLang="en-US" sz="2400">
                <a:effectLst>
                  <a:outerShdw blurRad="38100" dist="38100" dir="2700000" algn="tl">
                    <a:srgbClr val="C0C0C0"/>
                  </a:outerShdw>
                </a:effectLst>
                <a:latin typeface="华文行楷" pitchFamily="2" charset="-122"/>
                <a:ea typeface="华文行楷" pitchFamily="2" charset="-122"/>
              </a:rPr>
              <a:t>章 基于产生式规则的机器推理 </a:t>
            </a:r>
            <a:r>
              <a:rPr kumimoji="1" lang="zh-CN" altLang="en-US" sz="2400">
                <a:effectLst>
                  <a:outerShdw blurRad="38100" dist="38100" dir="2700000" algn="tl">
                    <a:srgbClr val="C0C0C0"/>
                  </a:outerShdw>
                </a:effectLst>
                <a:latin typeface="Times New Roman"/>
                <a:ea typeface="华文行楷" pitchFamily="2" charset="-122"/>
              </a:rPr>
              <a:t> </a:t>
            </a:r>
            <a:endParaRPr kumimoji="1" lang="zh-CN" altLang="en-US" sz="2400">
              <a:effectLst>
                <a:outerShdw blurRad="38100" dist="38100" dir="2700000" algn="tl">
                  <a:srgbClr val="C0C0C0"/>
                </a:outerShdw>
              </a:effectLst>
              <a:latin typeface="华文行楷" pitchFamily="2" charset="-122"/>
              <a:ea typeface="华文行楷" pitchFamily="2" charset="-122"/>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lvl1pPr>
              <a:defRPr/>
            </a:lvl1pPr>
          </a:lstStyle>
          <a:p>
            <a:endParaRPr lang="en-US" altLang="zh-CN"/>
          </a:p>
        </p:txBody>
      </p:sp>
      <p:sp>
        <p:nvSpPr>
          <p:cNvPr id="5" name="页脚占位符 4"/>
          <p:cNvSpPr>
            <a:spLocks noGrp="1"/>
          </p:cNvSpPr>
          <p:nvPr>
            <p:ph type="ftr" sz="quarter" idx="11"/>
          </p:nvPr>
        </p:nvSpPr>
        <p:spPr/>
        <p:txBody>
          <a:bodyPr/>
          <a:lstStyle>
            <a:lvl1pPr>
              <a:defRPr/>
            </a:lvl1pPr>
          </a:lstStyle>
          <a:p>
            <a:endParaRPr lang="en-US" altLang="zh-CN"/>
          </a:p>
        </p:txBody>
      </p:sp>
      <p:sp>
        <p:nvSpPr>
          <p:cNvPr id="6" name="灯片编号占位符 5"/>
          <p:cNvSpPr>
            <a:spLocks noGrp="1"/>
          </p:cNvSpPr>
          <p:nvPr>
            <p:ph type="sldNum" sz="quarter" idx="12"/>
          </p:nvPr>
        </p:nvSpPr>
        <p:spPr/>
        <p:txBody>
          <a:bodyPr/>
          <a:lstStyle>
            <a:lvl1pPr>
              <a:defRPr/>
            </a:lvl1pPr>
          </a:lstStyle>
          <a:p>
            <a:fld id="{4DB5C5EC-3D07-474A-A936-0B8A1752EEFB}" type="slidenum">
              <a:rPr lang="en-US" altLang="zh-CN"/>
              <a:pPr/>
              <a:t>‹#›</a:t>
            </a:fld>
            <a:endParaRPr lang="en-US" altLang="zh-C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4" name="日期占位符 3"/>
          <p:cNvSpPr>
            <a:spLocks noGrp="1"/>
          </p:cNvSpPr>
          <p:nvPr>
            <p:ph type="dt" sz="half" idx="10"/>
          </p:nvPr>
        </p:nvSpPr>
        <p:spPr/>
        <p:txBody>
          <a:bodyPr/>
          <a:lstStyle>
            <a:lvl1pPr>
              <a:defRPr/>
            </a:lvl1pPr>
          </a:lstStyle>
          <a:p>
            <a:endParaRPr lang="en-US" altLang="zh-CN"/>
          </a:p>
        </p:txBody>
      </p:sp>
      <p:sp>
        <p:nvSpPr>
          <p:cNvPr id="5" name="页脚占位符 4"/>
          <p:cNvSpPr>
            <a:spLocks noGrp="1"/>
          </p:cNvSpPr>
          <p:nvPr>
            <p:ph type="ftr" sz="quarter" idx="11"/>
          </p:nvPr>
        </p:nvSpPr>
        <p:spPr/>
        <p:txBody>
          <a:bodyPr/>
          <a:lstStyle>
            <a:lvl1pPr>
              <a:defRPr/>
            </a:lvl1pPr>
          </a:lstStyle>
          <a:p>
            <a:endParaRPr lang="en-US" altLang="zh-CN"/>
          </a:p>
        </p:txBody>
      </p:sp>
      <p:sp>
        <p:nvSpPr>
          <p:cNvPr id="6" name="灯片编号占位符 5"/>
          <p:cNvSpPr>
            <a:spLocks noGrp="1"/>
          </p:cNvSpPr>
          <p:nvPr>
            <p:ph type="sldNum" sz="quarter" idx="12"/>
          </p:nvPr>
        </p:nvSpPr>
        <p:spPr/>
        <p:txBody>
          <a:bodyPr/>
          <a:lstStyle>
            <a:lvl1pPr>
              <a:defRPr/>
            </a:lvl1pPr>
          </a:lstStyle>
          <a:p>
            <a:fld id="{FABBD7E5-796B-47D2-B75E-934FDA5C1646}" type="slidenum">
              <a:rPr lang="en-US" altLang="zh-CN"/>
              <a:pPr/>
              <a:t>‹#›</a:t>
            </a:fld>
            <a:endParaRPr lang="en-US" altLang="zh-C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304800" y="1981200"/>
            <a:ext cx="4194175" cy="3886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51375" y="1981200"/>
            <a:ext cx="4194175" cy="3886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lvl1pPr>
              <a:defRPr/>
            </a:lvl1pPr>
          </a:lstStyle>
          <a:p>
            <a:endParaRPr lang="en-US" altLang="zh-CN"/>
          </a:p>
        </p:txBody>
      </p:sp>
      <p:sp>
        <p:nvSpPr>
          <p:cNvPr id="6" name="页脚占位符 5"/>
          <p:cNvSpPr>
            <a:spLocks noGrp="1"/>
          </p:cNvSpPr>
          <p:nvPr>
            <p:ph type="ftr" sz="quarter" idx="11"/>
          </p:nvPr>
        </p:nvSpPr>
        <p:spPr/>
        <p:txBody>
          <a:bodyPr/>
          <a:lstStyle>
            <a:lvl1pPr>
              <a:defRPr/>
            </a:lvl1pPr>
          </a:lstStyle>
          <a:p>
            <a:endParaRPr lang="en-US" altLang="zh-CN"/>
          </a:p>
        </p:txBody>
      </p:sp>
      <p:sp>
        <p:nvSpPr>
          <p:cNvPr id="7" name="灯片编号占位符 6"/>
          <p:cNvSpPr>
            <a:spLocks noGrp="1"/>
          </p:cNvSpPr>
          <p:nvPr>
            <p:ph type="sldNum" sz="quarter" idx="12"/>
          </p:nvPr>
        </p:nvSpPr>
        <p:spPr/>
        <p:txBody>
          <a:bodyPr/>
          <a:lstStyle>
            <a:lvl1pPr>
              <a:defRPr/>
            </a:lvl1pPr>
          </a:lstStyle>
          <a:p>
            <a:fld id="{8A382453-CCFE-4F42-8774-250A468ED210}" type="slidenum">
              <a:rPr lang="en-US" altLang="zh-CN"/>
              <a:pPr/>
              <a:t>‹#›</a:t>
            </a:fld>
            <a:endParaRPr lang="en-US" altLang="zh-C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lvl1pPr>
              <a:defRPr/>
            </a:lvl1pPr>
          </a:lstStyle>
          <a:p>
            <a:endParaRPr lang="en-US" altLang="zh-CN"/>
          </a:p>
        </p:txBody>
      </p:sp>
      <p:sp>
        <p:nvSpPr>
          <p:cNvPr id="8" name="页脚占位符 7"/>
          <p:cNvSpPr>
            <a:spLocks noGrp="1"/>
          </p:cNvSpPr>
          <p:nvPr>
            <p:ph type="ftr" sz="quarter" idx="11"/>
          </p:nvPr>
        </p:nvSpPr>
        <p:spPr/>
        <p:txBody>
          <a:bodyPr/>
          <a:lstStyle>
            <a:lvl1pPr>
              <a:defRPr/>
            </a:lvl1pPr>
          </a:lstStyle>
          <a:p>
            <a:endParaRPr lang="en-US" altLang="zh-CN"/>
          </a:p>
        </p:txBody>
      </p:sp>
      <p:sp>
        <p:nvSpPr>
          <p:cNvPr id="9" name="灯片编号占位符 8"/>
          <p:cNvSpPr>
            <a:spLocks noGrp="1"/>
          </p:cNvSpPr>
          <p:nvPr>
            <p:ph type="sldNum" sz="quarter" idx="12"/>
          </p:nvPr>
        </p:nvSpPr>
        <p:spPr/>
        <p:txBody>
          <a:bodyPr/>
          <a:lstStyle>
            <a:lvl1pPr>
              <a:defRPr/>
            </a:lvl1pPr>
          </a:lstStyle>
          <a:p>
            <a:fld id="{5A28AD1D-8A04-49D6-B27C-71019F673F27}" type="slidenum">
              <a:rPr lang="en-US" altLang="zh-CN"/>
              <a:pPr/>
              <a:t>‹#›</a:t>
            </a:fld>
            <a:endParaRPr lang="en-US" altLang="zh-C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lvl1pPr>
              <a:defRPr/>
            </a:lvl1pPr>
          </a:lstStyle>
          <a:p>
            <a:endParaRPr lang="en-US" altLang="zh-CN"/>
          </a:p>
        </p:txBody>
      </p:sp>
      <p:sp>
        <p:nvSpPr>
          <p:cNvPr id="4" name="页脚占位符 3"/>
          <p:cNvSpPr>
            <a:spLocks noGrp="1"/>
          </p:cNvSpPr>
          <p:nvPr>
            <p:ph type="ftr" sz="quarter" idx="11"/>
          </p:nvPr>
        </p:nvSpPr>
        <p:spPr/>
        <p:txBody>
          <a:bodyPr/>
          <a:lstStyle>
            <a:lvl1pPr>
              <a:defRPr/>
            </a:lvl1pPr>
          </a:lstStyle>
          <a:p>
            <a:endParaRPr lang="en-US" altLang="zh-CN"/>
          </a:p>
        </p:txBody>
      </p:sp>
      <p:sp>
        <p:nvSpPr>
          <p:cNvPr id="5" name="灯片编号占位符 4"/>
          <p:cNvSpPr>
            <a:spLocks noGrp="1"/>
          </p:cNvSpPr>
          <p:nvPr>
            <p:ph type="sldNum" sz="quarter" idx="12"/>
          </p:nvPr>
        </p:nvSpPr>
        <p:spPr/>
        <p:txBody>
          <a:bodyPr/>
          <a:lstStyle>
            <a:lvl1pPr>
              <a:defRPr/>
            </a:lvl1pPr>
          </a:lstStyle>
          <a:p>
            <a:fld id="{9164BEBE-6BB9-4364-8886-5C6828164B62}" type="slidenum">
              <a:rPr lang="en-US" altLang="zh-CN"/>
              <a:pPr/>
              <a:t>‹#›</a:t>
            </a:fld>
            <a:endParaRPr lang="en-US" altLang="zh-C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lvl1pPr>
              <a:defRPr/>
            </a:lvl1pPr>
          </a:lstStyle>
          <a:p>
            <a:endParaRPr lang="en-US" altLang="zh-CN"/>
          </a:p>
        </p:txBody>
      </p:sp>
      <p:sp>
        <p:nvSpPr>
          <p:cNvPr id="3" name="页脚占位符 2"/>
          <p:cNvSpPr>
            <a:spLocks noGrp="1"/>
          </p:cNvSpPr>
          <p:nvPr>
            <p:ph type="ftr" sz="quarter" idx="11"/>
          </p:nvPr>
        </p:nvSpPr>
        <p:spPr/>
        <p:txBody>
          <a:bodyPr/>
          <a:lstStyle>
            <a:lvl1pPr>
              <a:defRPr/>
            </a:lvl1pPr>
          </a:lstStyle>
          <a:p>
            <a:endParaRPr lang="en-US" altLang="zh-CN"/>
          </a:p>
        </p:txBody>
      </p:sp>
      <p:sp>
        <p:nvSpPr>
          <p:cNvPr id="4" name="灯片编号占位符 3"/>
          <p:cNvSpPr>
            <a:spLocks noGrp="1"/>
          </p:cNvSpPr>
          <p:nvPr>
            <p:ph type="sldNum" sz="quarter" idx="12"/>
          </p:nvPr>
        </p:nvSpPr>
        <p:spPr/>
        <p:txBody>
          <a:bodyPr/>
          <a:lstStyle>
            <a:lvl1pPr>
              <a:defRPr/>
            </a:lvl1pPr>
          </a:lstStyle>
          <a:p>
            <a:fld id="{91C8F26B-7814-492E-AFF9-789A2F09AF1E}" type="slidenum">
              <a:rPr lang="en-US" altLang="zh-CN"/>
              <a:pPr/>
              <a:t>‹#›</a:t>
            </a:fld>
            <a:endParaRPr lang="en-US" altLang="zh-C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4"/>
          <p:cNvSpPr>
            <a:spLocks noGrp="1"/>
          </p:cNvSpPr>
          <p:nvPr>
            <p:ph type="dt" sz="half" idx="10"/>
          </p:nvPr>
        </p:nvSpPr>
        <p:spPr/>
        <p:txBody>
          <a:bodyPr/>
          <a:lstStyle>
            <a:lvl1pPr>
              <a:defRPr/>
            </a:lvl1pPr>
          </a:lstStyle>
          <a:p>
            <a:endParaRPr lang="en-US" altLang="zh-CN"/>
          </a:p>
        </p:txBody>
      </p:sp>
      <p:sp>
        <p:nvSpPr>
          <p:cNvPr id="6" name="页脚占位符 5"/>
          <p:cNvSpPr>
            <a:spLocks noGrp="1"/>
          </p:cNvSpPr>
          <p:nvPr>
            <p:ph type="ftr" sz="quarter" idx="11"/>
          </p:nvPr>
        </p:nvSpPr>
        <p:spPr/>
        <p:txBody>
          <a:bodyPr/>
          <a:lstStyle>
            <a:lvl1pPr>
              <a:defRPr/>
            </a:lvl1pPr>
          </a:lstStyle>
          <a:p>
            <a:endParaRPr lang="en-US" altLang="zh-CN"/>
          </a:p>
        </p:txBody>
      </p:sp>
      <p:sp>
        <p:nvSpPr>
          <p:cNvPr id="7" name="灯片编号占位符 6"/>
          <p:cNvSpPr>
            <a:spLocks noGrp="1"/>
          </p:cNvSpPr>
          <p:nvPr>
            <p:ph type="sldNum" sz="quarter" idx="12"/>
          </p:nvPr>
        </p:nvSpPr>
        <p:spPr/>
        <p:txBody>
          <a:bodyPr/>
          <a:lstStyle>
            <a:lvl1pPr>
              <a:defRPr/>
            </a:lvl1pPr>
          </a:lstStyle>
          <a:p>
            <a:fld id="{D53E98E3-1C03-4B0E-9176-0AEE2C662DCE}" type="slidenum">
              <a:rPr lang="en-US" altLang="zh-CN"/>
              <a:pPr/>
              <a:t>‹#›</a:t>
            </a:fld>
            <a:endParaRPr lang="en-US" altLang="zh-C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4"/>
          <p:cNvSpPr>
            <a:spLocks noGrp="1"/>
          </p:cNvSpPr>
          <p:nvPr>
            <p:ph type="dt" sz="half" idx="10"/>
          </p:nvPr>
        </p:nvSpPr>
        <p:spPr/>
        <p:txBody>
          <a:bodyPr/>
          <a:lstStyle>
            <a:lvl1pPr>
              <a:defRPr/>
            </a:lvl1pPr>
          </a:lstStyle>
          <a:p>
            <a:endParaRPr lang="en-US" altLang="zh-CN"/>
          </a:p>
        </p:txBody>
      </p:sp>
      <p:sp>
        <p:nvSpPr>
          <p:cNvPr id="6" name="页脚占位符 5"/>
          <p:cNvSpPr>
            <a:spLocks noGrp="1"/>
          </p:cNvSpPr>
          <p:nvPr>
            <p:ph type="ftr" sz="quarter" idx="11"/>
          </p:nvPr>
        </p:nvSpPr>
        <p:spPr/>
        <p:txBody>
          <a:bodyPr/>
          <a:lstStyle>
            <a:lvl1pPr>
              <a:defRPr/>
            </a:lvl1pPr>
          </a:lstStyle>
          <a:p>
            <a:endParaRPr lang="en-US" altLang="zh-CN"/>
          </a:p>
        </p:txBody>
      </p:sp>
      <p:sp>
        <p:nvSpPr>
          <p:cNvPr id="7" name="灯片编号占位符 6"/>
          <p:cNvSpPr>
            <a:spLocks noGrp="1"/>
          </p:cNvSpPr>
          <p:nvPr>
            <p:ph type="sldNum" sz="quarter" idx="12"/>
          </p:nvPr>
        </p:nvSpPr>
        <p:spPr/>
        <p:txBody>
          <a:bodyPr/>
          <a:lstStyle>
            <a:lvl1pPr>
              <a:defRPr/>
            </a:lvl1pPr>
          </a:lstStyle>
          <a:p>
            <a:fld id="{03D26598-6EF1-44AB-B21D-50AC54940D93}" type="slidenum">
              <a:rPr lang="en-US" altLang="zh-CN"/>
              <a:pPr/>
              <a:t>‹#›</a:t>
            </a:fld>
            <a:endParaRPr lang="en-US" altLang="zh-C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lvl1pPr>
              <a:defRPr/>
            </a:lvl1pPr>
          </a:lstStyle>
          <a:p>
            <a:endParaRPr lang="en-US" altLang="zh-CN"/>
          </a:p>
        </p:txBody>
      </p:sp>
      <p:sp>
        <p:nvSpPr>
          <p:cNvPr id="5" name="页脚占位符 4"/>
          <p:cNvSpPr>
            <a:spLocks noGrp="1"/>
          </p:cNvSpPr>
          <p:nvPr>
            <p:ph type="ftr" sz="quarter" idx="11"/>
          </p:nvPr>
        </p:nvSpPr>
        <p:spPr/>
        <p:txBody>
          <a:bodyPr/>
          <a:lstStyle>
            <a:lvl1pPr>
              <a:defRPr/>
            </a:lvl1pPr>
          </a:lstStyle>
          <a:p>
            <a:endParaRPr lang="en-US" altLang="zh-CN"/>
          </a:p>
        </p:txBody>
      </p:sp>
      <p:sp>
        <p:nvSpPr>
          <p:cNvPr id="6" name="灯片编号占位符 5"/>
          <p:cNvSpPr>
            <a:spLocks noGrp="1"/>
          </p:cNvSpPr>
          <p:nvPr>
            <p:ph type="sldNum" sz="quarter" idx="12"/>
          </p:nvPr>
        </p:nvSpPr>
        <p:spPr/>
        <p:txBody>
          <a:bodyPr/>
          <a:lstStyle>
            <a:lvl1pPr>
              <a:defRPr/>
            </a:lvl1pPr>
          </a:lstStyle>
          <a:p>
            <a:fld id="{080CEFCF-DFD4-42C9-8CE9-3F65CFA5351D}" type="slidenum">
              <a:rPr lang="en-US" altLang="zh-CN"/>
              <a:pPr/>
              <a:t>‹#›</a:t>
            </a:fld>
            <a:endParaRPr lang="en-US" altLang="zh-C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710363" y="685800"/>
            <a:ext cx="2135187" cy="5181600"/>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301625" y="685800"/>
            <a:ext cx="6256338" cy="5181600"/>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lvl1pPr>
              <a:defRPr/>
            </a:lvl1pPr>
          </a:lstStyle>
          <a:p>
            <a:endParaRPr lang="en-US" altLang="zh-CN"/>
          </a:p>
        </p:txBody>
      </p:sp>
      <p:sp>
        <p:nvSpPr>
          <p:cNvPr id="5" name="页脚占位符 4"/>
          <p:cNvSpPr>
            <a:spLocks noGrp="1"/>
          </p:cNvSpPr>
          <p:nvPr>
            <p:ph type="ftr" sz="quarter" idx="11"/>
          </p:nvPr>
        </p:nvSpPr>
        <p:spPr/>
        <p:txBody>
          <a:bodyPr/>
          <a:lstStyle>
            <a:lvl1pPr>
              <a:defRPr/>
            </a:lvl1pPr>
          </a:lstStyle>
          <a:p>
            <a:endParaRPr lang="en-US" altLang="zh-CN"/>
          </a:p>
        </p:txBody>
      </p:sp>
      <p:sp>
        <p:nvSpPr>
          <p:cNvPr id="6" name="灯片编号占位符 5"/>
          <p:cNvSpPr>
            <a:spLocks noGrp="1"/>
          </p:cNvSpPr>
          <p:nvPr>
            <p:ph type="sldNum" sz="quarter" idx="12"/>
          </p:nvPr>
        </p:nvSpPr>
        <p:spPr/>
        <p:txBody>
          <a:bodyPr/>
          <a:lstStyle>
            <a:lvl1pPr>
              <a:defRPr/>
            </a:lvl1pPr>
          </a:lstStyle>
          <a:p>
            <a:fld id="{A2C32436-AAE4-42A3-95A6-4EBE04483BFC}" type="slidenum">
              <a:rPr lang="en-US" altLang="zh-CN"/>
              <a:pPr/>
              <a:t>‹#›</a:t>
            </a:fld>
            <a:endParaRPr lang="en-US" altLang="zh-CN"/>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TwoObj" preserve="1">
  <p:cSld name="标题，文本与两项内容">
    <p:spTree>
      <p:nvGrpSpPr>
        <p:cNvPr id="1" name=""/>
        <p:cNvGrpSpPr/>
        <p:nvPr/>
      </p:nvGrpSpPr>
      <p:grpSpPr>
        <a:xfrm>
          <a:off x="0" y="0"/>
          <a:ext cx="0" cy="0"/>
          <a:chOff x="0" y="0"/>
          <a:chExt cx="0" cy="0"/>
        </a:xfrm>
      </p:grpSpPr>
      <p:sp>
        <p:nvSpPr>
          <p:cNvPr id="2" name="标题 1"/>
          <p:cNvSpPr>
            <a:spLocks noGrp="1"/>
          </p:cNvSpPr>
          <p:nvPr>
            <p:ph type="title"/>
          </p:nvPr>
        </p:nvSpPr>
        <p:spPr>
          <a:xfrm>
            <a:off x="301625" y="685800"/>
            <a:ext cx="8540750" cy="1143000"/>
          </a:xfrm>
        </p:spPr>
        <p:txBody>
          <a:bodyPr/>
          <a:lstStyle/>
          <a:p>
            <a:r>
              <a:rPr lang="zh-CN" altLang="en-US"/>
              <a:t>单击此处编辑母版标题样式</a:t>
            </a:r>
          </a:p>
        </p:txBody>
      </p:sp>
      <p:sp>
        <p:nvSpPr>
          <p:cNvPr id="3" name="文本占位符 2"/>
          <p:cNvSpPr>
            <a:spLocks noGrp="1"/>
          </p:cNvSpPr>
          <p:nvPr>
            <p:ph type="body" sz="half" idx="1"/>
          </p:nvPr>
        </p:nvSpPr>
        <p:spPr>
          <a:xfrm>
            <a:off x="304800" y="1981200"/>
            <a:ext cx="4194175" cy="38862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quarter" idx="2"/>
          </p:nvPr>
        </p:nvSpPr>
        <p:spPr>
          <a:xfrm>
            <a:off x="4651375" y="1981200"/>
            <a:ext cx="4194175" cy="18669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内容占位符 4"/>
          <p:cNvSpPr>
            <a:spLocks noGrp="1"/>
          </p:cNvSpPr>
          <p:nvPr>
            <p:ph sz="quarter" idx="3"/>
          </p:nvPr>
        </p:nvSpPr>
        <p:spPr>
          <a:xfrm>
            <a:off x="4651375" y="4000500"/>
            <a:ext cx="4194175" cy="18669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日期占位符 5"/>
          <p:cNvSpPr>
            <a:spLocks noGrp="1"/>
          </p:cNvSpPr>
          <p:nvPr>
            <p:ph type="dt" sz="half" idx="10"/>
          </p:nvPr>
        </p:nvSpPr>
        <p:spPr>
          <a:xfrm>
            <a:off x="301625" y="6019800"/>
            <a:ext cx="2289175" cy="476250"/>
          </a:xfrm>
        </p:spPr>
        <p:txBody>
          <a:bodyPr/>
          <a:lstStyle>
            <a:lvl1pPr>
              <a:defRPr/>
            </a:lvl1pPr>
          </a:lstStyle>
          <a:p>
            <a:endParaRPr lang="en-US" altLang="zh-CN"/>
          </a:p>
        </p:txBody>
      </p:sp>
      <p:sp>
        <p:nvSpPr>
          <p:cNvPr id="7" name="页脚占位符 6"/>
          <p:cNvSpPr>
            <a:spLocks noGrp="1"/>
          </p:cNvSpPr>
          <p:nvPr>
            <p:ph type="ftr" sz="quarter" idx="11"/>
          </p:nvPr>
        </p:nvSpPr>
        <p:spPr>
          <a:xfrm>
            <a:off x="3124200" y="6019800"/>
            <a:ext cx="2895600" cy="476250"/>
          </a:xfrm>
        </p:spPr>
        <p:txBody>
          <a:bodyPr/>
          <a:lstStyle>
            <a:lvl1pPr>
              <a:defRPr/>
            </a:lvl1pPr>
          </a:lstStyle>
          <a:p>
            <a:endParaRPr lang="en-US" altLang="zh-CN"/>
          </a:p>
        </p:txBody>
      </p:sp>
      <p:sp>
        <p:nvSpPr>
          <p:cNvPr id="8" name="灯片编号占位符 7"/>
          <p:cNvSpPr>
            <a:spLocks noGrp="1"/>
          </p:cNvSpPr>
          <p:nvPr>
            <p:ph type="sldNum" sz="quarter" idx="12"/>
          </p:nvPr>
        </p:nvSpPr>
        <p:spPr>
          <a:xfrm>
            <a:off x="6553200" y="6019800"/>
            <a:ext cx="2289175" cy="476250"/>
          </a:xfrm>
        </p:spPr>
        <p:txBody>
          <a:bodyPr/>
          <a:lstStyle>
            <a:lvl1pPr>
              <a:defRPr/>
            </a:lvl1pPr>
          </a:lstStyle>
          <a:p>
            <a:fld id="{A923CD9F-889F-4B91-9D1D-282C0FEA2C2E}" type="slidenum">
              <a:rPr lang="en-US" altLang="zh-CN"/>
              <a:pPr/>
              <a:t>‹#›</a:t>
            </a:fld>
            <a:endParaRPr lang="en-US" altLang="zh-CN"/>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18" Type="http://schemas.openxmlformats.org/officeDocument/2006/relationships/image" Target="../media/image5.gif"/><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image" Target="../media/image4.gif"/><Relationship Id="rId2" Type="http://schemas.openxmlformats.org/officeDocument/2006/relationships/slideLayout" Target="../slideLayouts/slideLayout2.xml"/><Relationship Id="rId16" Type="http://schemas.openxmlformats.org/officeDocument/2006/relationships/image" Target="../media/image3.jpe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2.jpe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0">
          <a:blip r:embed="rId14"/>
          <a:srcRect/>
          <a:stretch>
            <a:fillRect/>
          </a:stretch>
        </a:blipFill>
        <a:effectLst/>
      </p:bgPr>
    </p:bg>
    <p:spTree>
      <p:nvGrpSpPr>
        <p:cNvPr id="1" name=""/>
        <p:cNvGrpSpPr/>
        <p:nvPr/>
      </p:nvGrpSpPr>
      <p:grpSpPr>
        <a:xfrm>
          <a:off x="0" y="0"/>
          <a:ext cx="0" cy="0"/>
          <a:chOff x="0" y="0"/>
          <a:chExt cx="0" cy="0"/>
        </a:xfrm>
      </p:grpSpPr>
      <p:sp>
        <p:nvSpPr>
          <p:cNvPr id="268290" name="Rectangle 2"/>
          <p:cNvSpPr>
            <a:spLocks noGrp="1" noRot="1" noChangeArrowheads="1"/>
          </p:cNvSpPr>
          <p:nvPr>
            <p:ph type="title"/>
          </p:nvPr>
        </p:nvSpPr>
        <p:spPr bwMode="auto">
          <a:xfrm>
            <a:off x="301625" y="685800"/>
            <a:ext cx="8540750" cy="1143000"/>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bodyPr>
          <a:lstStyle/>
          <a:p>
            <a:pPr lvl="0"/>
            <a:r>
              <a:rPr lang="zh-CN" altLang="en-US"/>
              <a:t>单击此处编辑母版标题样式</a:t>
            </a:r>
          </a:p>
        </p:txBody>
      </p:sp>
      <p:sp>
        <p:nvSpPr>
          <p:cNvPr id="268291" name="Rectangle 3"/>
          <p:cNvSpPr>
            <a:spLocks noGrp="1" noRot="1" noChangeArrowheads="1"/>
          </p:cNvSpPr>
          <p:nvPr>
            <p:ph type="body" idx="1"/>
          </p:nvPr>
        </p:nvSpPr>
        <p:spPr bwMode="auto">
          <a:xfrm>
            <a:off x="304800" y="1981200"/>
            <a:ext cx="8540750" cy="3886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268292" name="Rectangle 4"/>
          <p:cNvSpPr>
            <a:spLocks noGrp="1" noChangeArrowheads="1"/>
          </p:cNvSpPr>
          <p:nvPr>
            <p:ph type="dt" sz="half" idx="2"/>
          </p:nvPr>
        </p:nvSpPr>
        <p:spPr bwMode="auto">
          <a:xfrm>
            <a:off x="301625" y="6019800"/>
            <a:ext cx="2289175"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400"/>
            </a:lvl1pPr>
          </a:lstStyle>
          <a:p>
            <a:endParaRPr lang="en-US" altLang="zh-CN"/>
          </a:p>
        </p:txBody>
      </p:sp>
      <p:sp>
        <p:nvSpPr>
          <p:cNvPr id="268293" name="Rectangle 5"/>
          <p:cNvSpPr>
            <a:spLocks noGrp="1" noChangeArrowheads="1"/>
          </p:cNvSpPr>
          <p:nvPr>
            <p:ph type="ftr" sz="quarter" idx="3"/>
          </p:nvPr>
        </p:nvSpPr>
        <p:spPr bwMode="auto">
          <a:xfrm>
            <a:off x="3124200" y="6019800"/>
            <a:ext cx="2895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a:defRPr sz="1400"/>
            </a:lvl1pPr>
          </a:lstStyle>
          <a:p>
            <a:endParaRPr lang="en-US" altLang="zh-CN"/>
          </a:p>
        </p:txBody>
      </p:sp>
      <p:sp>
        <p:nvSpPr>
          <p:cNvPr id="268294" name="Rectangle 6"/>
          <p:cNvSpPr>
            <a:spLocks noGrp="1" noChangeArrowheads="1"/>
          </p:cNvSpPr>
          <p:nvPr>
            <p:ph type="sldNum" sz="quarter" idx="4"/>
          </p:nvPr>
        </p:nvSpPr>
        <p:spPr bwMode="auto">
          <a:xfrm>
            <a:off x="6553200" y="6019800"/>
            <a:ext cx="2289175"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400"/>
            </a:lvl1pPr>
          </a:lstStyle>
          <a:p>
            <a:fld id="{62F9A380-9740-44DC-8B83-C77AD3E2E0C0}" type="slidenum">
              <a:rPr lang="en-US" altLang="zh-CN"/>
              <a:pPr/>
              <a:t>‹#›</a:t>
            </a:fld>
            <a:endParaRPr lang="en-US" altLang="zh-CN"/>
          </a:p>
        </p:txBody>
      </p:sp>
      <p:pic>
        <p:nvPicPr>
          <p:cNvPr id="268295" name="Picture 7" descr="BJ2048"/>
          <p:cNvPicPr>
            <a:picLocks noChangeAspect="1" noChangeArrowheads="1"/>
          </p:cNvPicPr>
          <p:nvPr userDrawn="1"/>
        </p:nvPicPr>
        <p:blipFill>
          <a:blip r:embed="rId15"/>
          <a:srcRect/>
          <a:stretch>
            <a:fillRect/>
          </a:stretch>
        </p:blipFill>
        <p:spPr bwMode="auto">
          <a:xfrm>
            <a:off x="0" y="5867400"/>
            <a:ext cx="9144000" cy="990600"/>
          </a:xfrm>
          <a:prstGeom prst="rect">
            <a:avLst/>
          </a:prstGeom>
          <a:noFill/>
        </p:spPr>
      </p:pic>
      <p:pic>
        <p:nvPicPr>
          <p:cNvPr id="268296" name="Picture 8" descr="BJ2095"/>
          <p:cNvPicPr>
            <a:picLocks noChangeAspect="1" noChangeArrowheads="1"/>
          </p:cNvPicPr>
          <p:nvPr userDrawn="1"/>
        </p:nvPicPr>
        <p:blipFill>
          <a:blip r:embed="rId16" cstate="print"/>
          <a:srcRect/>
          <a:stretch>
            <a:fillRect/>
          </a:stretch>
        </p:blipFill>
        <p:spPr bwMode="auto">
          <a:xfrm>
            <a:off x="8229600" y="0"/>
            <a:ext cx="914400" cy="685800"/>
          </a:xfrm>
          <a:prstGeom prst="rect">
            <a:avLst/>
          </a:prstGeom>
          <a:noFill/>
        </p:spPr>
      </p:pic>
      <p:pic>
        <p:nvPicPr>
          <p:cNvPr id="268297" name="Picture 9" descr="GIF-396"/>
          <p:cNvPicPr>
            <a:picLocks noChangeAspect="1" noChangeArrowheads="1" noCrop="1"/>
          </p:cNvPicPr>
          <p:nvPr userDrawn="1"/>
        </p:nvPicPr>
        <p:blipFill>
          <a:blip r:embed="rId17"/>
          <a:srcRect/>
          <a:stretch>
            <a:fillRect/>
          </a:stretch>
        </p:blipFill>
        <p:spPr bwMode="auto">
          <a:xfrm>
            <a:off x="381000" y="433388"/>
            <a:ext cx="4800600" cy="100012"/>
          </a:xfrm>
          <a:prstGeom prst="rect">
            <a:avLst/>
          </a:prstGeom>
          <a:noFill/>
        </p:spPr>
      </p:pic>
      <p:pic>
        <p:nvPicPr>
          <p:cNvPr id="268298" name="Picture 10" descr="GIF-450"/>
          <p:cNvPicPr>
            <a:picLocks noChangeAspect="1" noChangeArrowheads="1" noCrop="1"/>
          </p:cNvPicPr>
          <p:nvPr userDrawn="1"/>
        </p:nvPicPr>
        <p:blipFill>
          <a:blip r:embed="rId18"/>
          <a:srcRect/>
          <a:stretch>
            <a:fillRect/>
          </a:stretch>
        </p:blipFill>
        <p:spPr bwMode="auto">
          <a:xfrm>
            <a:off x="0" y="0"/>
            <a:ext cx="609600" cy="454025"/>
          </a:xfrm>
          <a:prstGeom prst="rect">
            <a:avLst/>
          </a:prstGeom>
          <a:noFill/>
        </p:spPr>
      </p:pic>
      <p:sp>
        <p:nvSpPr>
          <p:cNvPr id="268299" name="Text Box 11"/>
          <p:cNvSpPr txBox="1">
            <a:spLocks noChangeArrowheads="1"/>
          </p:cNvSpPr>
          <p:nvPr userDrawn="1"/>
        </p:nvSpPr>
        <p:spPr bwMode="auto">
          <a:xfrm>
            <a:off x="419100" y="19050"/>
            <a:ext cx="4953000" cy="457200"/>
          </a:xfrm>
          <a:prstGeom prst="rect">
            <a:avLst/>
          </a:prstGeom>
          <a:noFill/>
          <a:ln w="9525">
            <a:noFill/>
            <a:miter lim="800000"/>
            <a:headEnd/>
            <a:tailEnd/>
          </a:ln>
          <a:effectLst/>
        </p:spPr>
        <p:txBody>
          <a:bodyPr wrap="none">
            <a:spAutoFit/>
          </a:bodyPr>
          <a:lstStyle/>
          <a:p>
            <a:r>
              <a:rPr kumimoji="1" lang="zh-CN" altLang="en-US" sz="2400">
                <a:effectLst>
                  <a:outerShdw blurRad="38100" dist="38100" dir="2700000" algn="tl">
                    <a:srgbClr val="C0C0C0"/>
                  </a:outerShdw>
                </a:effectLst>
                <a:latin typeface="华文行楷" pitchFamily="2" charset="-122"/>
                <a:ea typeface="华文行楷" pitchFamily="2" charset="-122"/>
              </a:rPr>
              <a:t>第 </a:t>
            </a:r>
            <a:r>
              <a:rPr kumimoji="1" lang="en-US" altLang="zh-CN" sz="2400">
                <a:effectLst>
                  <a:outerShdw blurRad="38100" dist="38100" dir="2700000" algn="tl">
                    <a:srgbClr val="C0C0C0"/>
                  </a:outerShdw>
                </a:effectLst>
                <a:latin typeface="华文行楷" pitchFamily="2" charset="-122"/>
                <a:ea typeface="华文行楷" pitchFamily="2" charset="-122"/>
              </a:rPr>
              <a:t>6 </a:t>
            </a:r>
            <a:r>
              <a:rPr kumimoji="1" lang="zh-CN" altLang="en-US" sz="2400">
                <a:effectLst>
                  <a:outerShdw blurRad="38100" dist="38100" dir="2700000" algn="tl">
                    <a:srgbClr val="C0C0C0"/>
                  </a:outerShdw>
                </a:effectLst>
                <a:latin typeface="华文行楷" pitchFamily="2" charset="-122"/>
                <a:ea typeface="华文行楷" pitchFamily="2" charset="-122"/>
              </a:rPr>
              <a:t>章 基于产生式规则的机器推理 </a:t>
            </a:r>
            <a:r>
              <a:rPr kumimoji="1" lang="zh-CN" altLang="en-US" sz="2400">
                <a:effectLst>
                  <a:outerShdw blurRad="38100" dist="38100" dir="2700000" algn="tl">
                    <a:srgbClr val="C0C0C0"/>
                  </a:outerShdw>
                </a:effectLst>
                <a:latin typeface="Times New Roman"/>
                <a:ea typeface="华文行楷" pitchFamily="2" charset="-122"/>
              </a:rPr>
              <a:t> </a:t>
            </a:r>
            <a:endParaRPr kumimoji="1" lang="zh-CN" altLang="en-US" sz="2400">
              <a:effectLst>
                <a:outerShdw blurRad="38100" dist="38100" dir="2700000" algn="tl">
                  <a:srgbClr val="C0C0C0"/>
                </a:outerShdw>
              </a:effectLst>
              <a:latin typeface="华文行楷" pitchFamily="2" charset="-122"/>
              <a:ea typeface="华文行楷" pitchFamily="2" charset="-122"/>
            </a:endParaRPr>
          </a:p>
        </p:txBody>
      </p:sp>
    </p:spTree>
  </p:cSld>
  <p:clrMap bg1="lt1" tx1="dk1" bg2="lt2" tx2="dk2" accent1="accent1" accent2="accent2" accent3="accent3" accent4="accent4" accent5="accent5" accent6="accent6" hlink="hlink" folHlink="folHlink"/>
  <p:sldLayoutIdLst>
    <p:sldLayoutId id="2147483680" r:id="rId1"/>
    <p:sldLayoutId id="2147483681" r:id="rId2"/>
    <p:sldLayoutId id="2147483682" r:id="rId3"/>
    <p:sldLayoutId id="2147483683" r:id="rId4"/>
    <p:sldLayoutId id="2147483684" r:id="rId5"/>
    <p:sldLayoutId id="2147483685" r:id="rId6"/>
    <p:sldLayoutId id="2147483686" r:id="rId7"/>
    <p:sldLayoutId id="2147483687" r:id="rId8"/>
    <p:sldLayoutId id="2147483688" r:id="rId9"/>
    <p:sldLayoutId id="2147483689" r:id="rId10"/>
    <p:sldLayoutId id="2147483690" r:id="rId11"/>
    <p:sldLayoutId id="2147483691" r:id="rId12"/>
  </p:sldLayoutIdLst>
  <p:txStyles>
    <p:titleStyle>
      <a:lvl1pPr algn="ctr" rtl="0" fontAlgn="base">
        <a:spcBef>
          <a:spcPct val="0"/>
        </a:spcBef>
        <a:spcAft>
          <a:spcPct val="0"/>
        </a:spcAft>
        <a:defRPr sz="4400">
          <a:solidFill>
            <a:schemeClr val="tx2"/>
          </a:solidFill>
          <a:latin typeface="+mj-lt"/>
          <a:ea typeface="+mj-ea"/>
          <a:cs typeface="+mj-cs"/>
        </a:defRPr>
      </a:lvl1pPr>
      <a:lvl2pPr algn="ctr" rtl="0" fontAlgn="base">
        <a:spcBef>
          <a:spcPct val="0"/>
        </a:spcBef>
        <a:spcAft>
          <a:spcPct val="0"/>
        </a:spcAft>
        <a:defRPr sz="4400">
          <a:solidFill>
            <a:schemeClr val="tx2"/>
          </a:solidFill>
          <a:latin typeface="Arial" pitchFamily="34" charset="0"/>
          <a:ea typeface="宋体" pitchFamily="2" charset="-122"/>
        </a:defRPr>
      </a:lvl2pPr>
      <a:lvl3pPr algn="ctr" rtl="0" fontAlgn="base">
        <a:spcBef>
          <a:spcPct val="0"/>
        </a:spcBef>
        <a:spcAft>
          <a:spcPct val="0"/>
        </a:spcAft>
        <a:defRPr sz="4400">
          <a:solidFill>
            <a:schemeClr val="tx2"/>
          </a:solidFill>
          <a:latin typeface="Arial" pitchFamily="34" charset="0"/>
          <a:ea typeface="宋体" pitchFamily="2" charset="-122"/>
        </a:defRPr>
      </a:lvl3pPr>
      <a:lvl4pPr algn="ctr" rtl="0" fontAlgn="base">
        <a:spcBef>
          <a:spcPct val="0"/>
        </a:spcBef>
        <a:spcAft>
          <a:spcPct val="0"/>
        </a:spcAft>
        <a:defRPr sz="4400">
          <a:solidFill>
            <a:schemeClr val="tx2"/>
          </a:solidFill>
          <a:latin typeface="Arial" pitchFamily="34" charset="0"/>
          <a:ea typeface="宋体" pitchFamily="2" charset="-122"/>
        </a:defRPr>
      </a:lvl4pPr>
      <a:lvl5pPr algn="ctr" rtl="0" fontAlgn="base">
        <a:spcBef>
          <a:spcPct val="0"/>
        </a:spcBef>
        <a:spcAft>
          <a:spcPct val="0"/>
        </a:spcAft>
        <a:defRPr sz="4400">
          <a:solidFill>
            <a:schemeClr val="tx2"/>
          </a:solidFill>
          <a:latin typeface="Arial" pitchFamily="34" charset="0"/>
          <a:ea typeface="宋体" pitchFamily="2" charset="-122"/>
        </a:defRPr>
      </a:lvl5pPr>
      <a:lvl6pPr marL="457200" algn="ctr" rtl="0" fontAlgn="base">
        <a:spcBef>
          <a:spcPct val="0"/>
        </a:spcBef>
        <a:spcAft>
          <a:spcPct val="0"/>
        </a:spcAft>
        <a:defRPr sz="4400">
          <a:solidFill>
            <a:schemeClr val="tx2"/>
          </a:solidFill>
          <a:latin typeface="Arial" pitchFamily="34" charset="0"/>
          <a:ea typeface="宋体" pitchFamily="2" charset="-122"/>
        </a:defRPr>
      </a:lvl6pPr>
      <a:lvl7pPr marL="914400" algn="ctr" rtl="0" fontAlgn="base">
        <a:spcBef>
          <a:spcPct val="0"/>
        </a:spcBef>
        <a:spcAft>
          <a:spcPct val="0"/>
        </a:spcAft>
        <a:defRPr sz="4400">
          <a:solidFill>
            <a:schemeClr val="tx2"/>
          </a:solidFill>
          <a:latin typeface="Arial" pitchFamily="34" charset="0"/>
          <a:ea typeface="宋体" pitchFamily="2" charset="-122"/>
        </a:defRPr>
      </a:lvl7pPr>
      <a:lvl8pPr marL="1371600" algn="ctr" rtl="0" fontAlgn="base">
        <a:spcBef>
          <a:spcPct val="0"/>
        </a:spcBef>
        <a:spcAft>
          <a:spcPct val="0"/>
        </a:spcAft>
        <a:defRPr sz="4400">
          <a:solidFill>
            <a:schemeClr val="tx2"/>
          </a:solidFill>
          <a:latin typeface="Arial" pitchFamily="34" charset="0"/>
          <a:ea typeface="宋体" pitchFamily="2" charset="-122"/>
        </a:defRPr>
      </a:lvl8pPr>
      <a:lvl9pPr marL="1828800" algn="ctr" rtl="0" fontAlgn="base">
        <a:spcBef>
          <a:spcPct val="0"/>
        </a:spcBef>
        <a:spcAft>
          <a:spcPct val="0"/>
        </a:spcAft>
        <a:defRPr sz="4400">
          <a:solidFill>
            <a:schemeClr val="tx2"/>
          </a:solidFill>
          <a:latin typeface="Arial" pitchFamily="34" charset="0"/>
          <a:ea typeface="宋体" pitchFamily="2" charset="-122"/>
        </a:defRPr>
      </a:lvl9pPr>
    </p:titleStyle>
    <p:bodyStyle>
      <a:lvl1pPr marL="342900" indent="-342900" algn="l" rtl="0" fontAlgn="base">
        <a:spcBef>
          <a:spcPct val="20000"/>
        </a:spcBef>
        <a:spcAft>
          <a:spcPct val="0"/>
        </a:spcAft>
        <a:buClr>
          <a:schemeClr val="hlink"/>
        </a:buClr>
        <a:buSzPct val="70000"/>
        <a:buFont typeface="Wingdings" pitchFamily="2" charset="2"/>
        <a:buChar char="v"/>
        <a:defRPr sz="3200">
          <a:solidFill>
            <a:schemeClr val="tx1"/>
          </a:solidFill>
          <a:latin typeface="+mn-lt"/>
          <a:ea typeface="+mn-ea"/>
          <a:cs typeface="+mn-cs"/>
        </a:defRPr>
      </a:lvl1pPr>
      <a:lvl2pPr marL="742950" indent="-285750" algn="l" rtl="0" fontAlgn="base">
        <a:spcBef>
          <a:spcPct val="20000"/>
        </a:spcBef>
        <a:spcAft>
          <a:spcPct val="0"/>
        </a:spcAft>
        <a:buClr>
          <a:schemeClr val="accent2"/>
        </a:buClr>
        <a:buSzPct val="85000"/>
        <a:buFont typeface="Wingdings" pitchFamily="2" charset="2"/>
        <a:buChar char=""/>
        <a:defRPr sz="2800">
          <a:solidFill>
            <a:schemeClr val="tx1"/>
          </a:solidFill>
          <a:latin typeface="+mn-lt"/>
          <a:ea typeface="+mn-ea"/>
        </a:defRPr>
      </a:lvl2pPr>
      <a:lvl3pPr marL="1143000" indent="-228600" algn="l" rtl="0" fontAlgn="base">
        <a:spcBef>
          <a:spcPct val="20000"/>
        </a:spcBef>
        <a:spcAft>
          <a:spcPct val="0"/>
        </a:spcAft>
        <a:buClr>
          <a:schemeClr val="hlink"/>
        </a:buClr>
        <a:buSzPct val="80000"/>
        <a:buFont typeface="Wingdings" pitchFamily="2" charset="2"/>
        <a:buChar char="v"/>
        <a:defRPr sz="2400">
          <a:solidFill>
            <a:schemeClr val="tx1"/>
          </a:solidFill>
          <a:latin typeface="+mn-lt"/>
          <a:ea typeface="+mn-ea"/>
        </a:defRPr>
      </a:lvl3pPr>
      <a:lvl4pPr marL="1600200" indent="-228600" algn="l" rtl="0" fontAlgn="base">
        <a:spcBef>
          <a:spcPct val="20000"/>
        </a:spcBef>
        <a:spcAft>
          <a:spcPct val="0"/>
        </a:spcAft>
        <a:buClr>
          <a:schemeClr val="accent2"/>
        </a:buClr>
        <a:buSzPct val="90000"/>
        <a:buFont typeface="Wingdings" pitchFamily="2" charset="2"/>
        <a:buChar char=""/>
        <a:defRPr sz="2000">
          <a:solidFill>
            <a:schemeClr val="tx1"/>
          </a:solidFill>
          <a:latin typeface="+mn-lt"/>
          <a:ea typeface="+mn-ea"/>
        </a:defRPr>
      </a:lvl4pPr>
      <a:lvl5pPr marL="2057400" indent="-228600" algn="l" rtl="0" fontAlgn="base">
        <a:spcBef>
          <a:spcPct val="20000"/>
        </a:spcBef>
        <a:spcAft>
          <a:spcPct val="0"/>
        </a:spcAft>
        <a:buClr>
          <a:schemeClr val="hlink"/>
        </a:buClr>
        <a:buSzPct val="85000"/>
        <a:buFont typeface="Wingdings" pitchFamily="2" charset="2"/>
        <a:buChar char="v"/>
        <a:defRPr sz="2000">
          <a:solidFill>
            <a:schemeClr val="tx1"/>
          </a:solidFill>
          <a:latin typeface="+mn-lt"/>
          <a:ea typeface="+mn-ea"/>
        </a:defRPr>
      </a:lvl5pPr>
      <a:lvl6pPr marL="2514600" indent="-228600" algn="l" rtl="0" fontAlgn="base">
        <a:spcBef>
          <a:spcPct val="20000"/>
        </a:spcBef>
        <a:spcAft>
          <a:spcPct val="0"/>
        </a:spcAft>
        <a:buClr>
          <a:schemeClr val="hlink"/>
        </a:buClr>
        <a:buSzPct val="85000"/>
        <a:buFont typeface="Wingdings" pitchFamily="2" charset="2"/>
        <a:buChar char="v"/>
        <a:defRPr sz="2000">
          <a:solidFill>
            <a:schemeClr val="tx1"/>
          </a:solidFill>
          <a:latin typeface="+mn-lt"/>
          <a:ea typeface="+mn-ea"/>
        </a:defRPr>
      </a:lvl6pPr>
      <a:lvl7pPr marL="2971800" indent="-228600" algn="l" rtl="0" fontAlgn="base">
        <a:spcBef>
          <a:spcPct val="20000"/>
        </a:spcBef>
        <a:spcAft>
          <a:spcPct val="0"/>
        </a:spcAft>
        <a:buClr>
          <a:schemeClr val="hlink"/>
        </a:buClr>
        <a:buSzPct val="85000"/>
        <a:buFont typeface="Wingdings" pitchFamily="2" charset="2"/>
        <a:buChar char="v"/>
        <a:defRPr sz="2000">
          <a:solidFill>
            <a:schemeClr val="tx1"/>
          </a:solidFill>
          <a:latin typeface="+mn-lt"/>
          <a:ea typeface="+mn-ea"/>
        </a:defRPr>
      </a:lvl7pPr>
      <a:lvl8pPr marL="3429000" indent="-228600" algn="l" rtl="0" fontAlgn="base">
        <a:spcBef>
          <a:spcPct val="20000"/>
        </a:spcBef>
        <a:spcAft>
          <a:spcPct val="0"/>
        </a:spcAft>
        <a:buClr>
          <a:schemeClr val="hlink"/>
        </a:buClr>
        <a:buSzPct val="85000"/>
        <a:buFont typeface="Wingdings" pitchFamily="2" charset="2"/>
        <a:buChar char="v"/>
        <a:defRPr sz="2000">
          <a:solidFill>
            <a:schemeClr val="tx1"/>
          </a:solidFill>
          <a:latin typeface="+mn-lt"/>
          <a:ea typeface="+mn-ea"/>
        </a:defRPr>
      </a:lvl8pPr>
      <a:lvl9pPr marL="3886200" indent="-228600" algn="l" rtl="0" fontAlgn="base">
        <a:spcBef>
          <a:spcPct val="20000"/>
        </a:spcBef>
        <a:spcAft>
          <a:spcPct val="0"/>
        </a:spcAft>
        <a:buClr>
          <a:schemeClr val="hlink"/>
        </a:buClr>
        <a:buSzPct val="85000"/>
        <a:buFont typeface="Wingdings" pitchFamily="2" charset="2"/>
        <a:buChar char="v"/>
        <a:defRPr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 Target="slide6.xml"/><Relationship Id="rId2" Type="http://schemas.openxmlformats.org/officeDocument/2006/relationships/slide" Target="slide2.xml"/><Relationship Id="rId1" Type="http://schemas.openxmlformats.org/officeDocument/2006/relationships/slideLayout" Target="../slideLayouts/slideLayout2.xml"/><Relationship Id="rId5" Type="http://schemas.openxmlformats.org/officeDocument/2006/relationships/slide" Target="slide23.xml"/><Relationship Id="rId4" Type="http://schemas.openxmlformats.org/officeDocument/2006/relationships/slide" Target="slide14.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7.wmf"/></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3.emf"/><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4.emf"/><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16.emf"/><Relationship Id="rId2" Type="http://schemas.openxmlformats.org/officeDocument/2006/relationships/image" Target="../media/image15.emf"/><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7.emf"/><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18.emf"/><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8" Type="http://schemas.openxmlformats.org/officeDocument/2006/relationships/image" Target="../media/image27.png"/><Relationship Id="rId13" Type="http://schemas.openxmlformats.org/officeDocument/2006/relationships/image" Target="../media/image30.png"/><Relationship Id="rId3" Type="http://schemas.openxmlformats.org/officeDocument/2006/relationships/image" Target="../media/image22.png"/><Relationship Id="rId7" Type="http://schemas.openxmlformats.org/officeDocument/2006/relationships/image" Target="../media/image26.png"/><Relationship Id="rId12" Type="http://schemas.openxmlformats.org/officeDocument/2006/relationships/image" Target="../media/image20.png"/><Relationship Id="rId2" Type="http://schemas.openxmlformats.org/officeDocument/2006/relationships/image" Target="../media/image21.png"/><Relationship Id="rId1" Type="http://schemas.openxmlformats.org/officeDocument/2006/relationships/slideLayout" Target="../slideLayouts/slideLayout2.xml"/><Relationship Id="rId6" Type="http://schemas.openxmlformats.org/officeDocument/2006/relationships/image" Target="../media/image25.png"/><Relationship Id="rId11" Type="http://schemas.openxmlformats.org/officeDocument/2006/relationships/image" Target="../media/image19.png"/><Relationship Id="rId5" Type="http://schemas.openxmlformats.org/officeDocument/2006/relationships/image" Target="../media/image24.png"/><Relationship Id="rId10" Type="http://schemas.openxmlformats.org/officeDocument/2006/relationships/image" Target="../media/image29.png"/><Relationship Id="rId4" Type="http://schemas.openxmlformats.org/officeDocument/2006/relationships/image" Target="../media/image23.png"/><Relationship Id="rId9" Type="http://schemas.openxmlformats.org/officeDocument/2006/relationships/image" Target="../media/image28.png"/></Relationships>
</file>

<file path=ppt/slides/_rels/slide34.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image" Target="../media/image20.png"/><Relationship Id="rId5" Type="http://schemas.openxmlformats.org/officeDocument/2006/relationships/image" Target="../media/image19.png"/><Relationship Id="rId4" Type="http://schemas.openxmlformats.org/officeDocument/2006/relationships/image" Target="../media/image31.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30.jpe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32.jpeg"/><Relationship Id="rId2" Type="http://schemas.openxmlformats.org/officeDocument/2006/relationships/image" Target="../media/image31.jpe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image" Target="../media/image35.emf"/><Relationship Id="rId1" Type="http://schemas.openxmlformats.org/officeDocument/2006/relationships/slideLayout" Target="../slideLayouts/slideLayout2.xml"/><Relationship Id="rId4" Type="http://schemas.openxmlformats.org/officeDocument/2006/relationships/image" Target="../media/image36.wmf"/></Relationships>
</file>

<file path=ppt/slides/_rels/slide43.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37.emf"/><Relationship Id="rId1" Type="http://schemas.openxmlformats.org/officeDocument/2006/relationships/slideLayout" Target="../slideLayouts/slideLayout2.xml"/><Relationship Id="rId6" Type="http://schemas.openxmlformats.org/officeDocument/2006/relationships/image" Target="../media/image41.png"/><Relationship Id="rId5" Type="http://schemas.openxmlformats.org/officeDocument/2006/relationships/image" Target="../media/image40.png"/><Relationship Id="rId4" Type="http://schemas.openxmlformats.org/officeDocument/2006/relationships/image" Target="../media/image39.png"/></Relationships>
</file>

<file path=ppt/slides/_rels/slide44.xml.rels><?xml version="1.0" encoding="UTF-8" standalone="yes"?>
<Relationships xmlns="http://schemas.openxmlformats.org/package/2006/relationships"><Relationship Id="rId3" Type="http://schemas.openxmlformats.org/officeDocument/2006/relationships/slide" Target="slide1.xml"/><Relationship Id="rId2" Type="http://schemas.openxmlformats.org/officeDocument/2006/relationships/image" Target="../media/image42.emf"/><Relationship Id="rId1" Type="http://schemas.openxmlformats.org/officeDocument/2006/relationships/slideLayout" Target="../slideLayouts/slideLayout2.xml"/><Relationship Id="rId4" Type="http://schemas.openxmlformats.org/officeDocument/2006/relationships/image" Target="../media/image43.png"/></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08899" name="Rectangle 3"/>
          <p:cNvSpPr>
            <a:spLocks noGrp="1" noRot="1" noChangeArrowheads="1"/>
          </p:cNvSpPr>
          <p:nvPr>
            <p:ph type="body" idx="1"/>
          </p:nvPr>
        </p:nvSpPr>
        <p:spPr>
          <a:xfrm>
            <a:off x="457200" y="642918"/>
            <a:ext cx="8147050" cy="5954732"/>
          </a:xfrm>
        </p:spPr>
        <p:txBody>
          <a:bodyPr/>
          <a:lstStyle/>
          <a:p>
            <a:pPr>
              <a:lnSpc>
                <a:spcPct val="150000"/>
              </a:lnSpc>
              <a:buFont typeface="Wingdings" pitchFamily="2" charset="2"/>
              <a:buNone/>
            </a:pPr>
            <a:r>
              <a:rPr kumimoji="1" lang="en-US" altLang="zh-CN" dirty="0"/>
              <a:t>  </a:t>
            </a:r>
            <a:r>
              <a:rPr kumimoji="1" lang="zh-CN" altLang="en-US" dirty="0">
                <a:effectLst>
                  <a:outerShdw blurRad="38100" dist="38100" dir="2700000" algn="tl">
                    <a:srgbClr val="000000">
                      <a:alpha val="43137"/>
                    </a:srgbClr>
                  </a:outerShdw>
                </a:effectLst>
                <a:latin typeface="黑体" pitchFamily="49" charset="-122"/>
                <a:ea typeface="黑体" pitchFamily="49" charset="-122"/>
              </a:rPr>
              <a:t>第</a:t>
            </a:r>
            <a:r>
              <a:rPr kumimoji="1" lang="en-US" altLang="zh-CN" dirty="0">
                <a:effectLst>
                  <a:outerShdw blurRad="38100" dist="38100" dir="2700000" algn="tl">
                    <a:srgbClr val="000000">
                      <a:alpha val="43137"/>
                    </a:srgbClr>
                  </a:outerShdw>
                </a:effectLst>
                <a:latin typeface="黑体" pitchFamily="49" charset="-122"/>
                <a:ea typeface="黑体" pitchFamily="49" charset="-122"/>
              </a:rPr>
              <a:t>8</a:t>
            </a:r>
            <a:r>
              <a:rPr kumimoji="1" lang="zh-CN" altLang="en-US" dirty="0">
                <a:effectLst>
                  <a:outerShdw blurRad="38100" dist="38100" dir="2700000" algn="tl">
                    <a:srgbClr val="000000">
                      <a:alpha val="43137"/>
                    </a:srgbClr>
                  </a:outerShdw>
                </a:effectLst>
                <a:latin typeface="黑体" pitchFamily="49" charset="-122"/>
                <a:ea typeface="黑体" pitchFamily="49" charset="-122"/>
              </a:rPr>
              <a:t>章 不确定和不确切性知识的表示与推理</a:t>
            </a:r>
          </a:p>
          <a:p>
            <a:pPr>
              <a:spcBef>
                <a:spcPts val="2400"/>
              </a:spcBef>
              <a:buFont typeface="Wingdings" pitchFamily="2" charset="2"/>
              <a:buNone/>
            </a:pPr>
            <a:r>
              <a:rPr kumimoji="1" lang="zh-CN" altLang="en-US" sz="2800" dirty="0">
                <a:latin typeface="黑体" pitchFamily="49" charset="-122"/>
                <a:ea typeface="黑体" pitchFamily="49" charset="-122"/>
              </a:rPr>
              <a:t>         </a:t>
            </a:r>
            <a:r>
              <a:rPr kumimoji="1" lang="en-US" altLang="zh-CN" sz="2800" dirty="0">
                <a:latin typeface="方正姚体" pitchFamily="2" charset="-122"/>
                <a:ea typeface="方正姚体" pitchFamily="2" charset="-122"/>
                <a:hlinkClick r:id="rId2" action="ppaction://hlinksldjump"/>
              </a:rPr>
              <a:t>8.1 </a:t>
            </a:r>
            <a:r>
              <a:rPr kumimoji="1" lang="zh-CN" altLang="en-US" sz="2800" dirty="0">
                <a:latin typeface="方正姚体" pitchFamily="2" charset="-122"/>
                <a:ea typeface="方正姚体" pitchFamily="2" charset="-122"/>
                <a:hlinkClick r:id="rId2" action="ppaction://hlinksldjump"/>
              </a:rPr>
              <a:t>概述</a:t>
            </a:r>
            <a:endParaRPr kumimoji="1" lang="zh-CN" altLang="en-US" sz="2800" dirty="0">
              <a:latin typeface="方正姚体" pitchFamily="2" charset="-122"/>
              <a:ea typeface="方正姚体" pitchFamily="2" charset="-122"/>
            </a:endParaRPr>
          </a:p>
          <a:p>
            <a:pPr>
              <a:buFont typeface="Wingdings" pitchFamily="2" charset="2"/>
              <a:buNone/>
            </a:pPr>
            <a:r>
              <a:rPr kumimoji="1" lang="zh-CN" altLang="en-US" sz="2800" dirty="0">
                <a:solidFill>
                  <a:schemeClr val="tx2"/>
                </a:solidFill>
                <a:latin typeface="方正姚体" pitchFamily="2" charset="-122"/>
                <a:ea typeface="方正姚体" pitchFamily="2" charset="-122"/>
              </a:rPr>
              <a:t>                  </a:t>
            </a:r>
            <a:r>
              <a:rPr kumimoji="1" lang="en-US" altLang="zh-CN" sz="2800" dirty="0">
                <a:solidFill>
                  <a:schemeClr val="tx2"/>
                </a:solidFill>
                <a:latin typeface="方正姚体" pitchFamily="2" charset="-122"/>
                <a:ea typeface="方正姚体" pitchFamily="2" charset="-122"/>
                <a:hlinkClick r:id="rId3" action="ppaction://hlinksldjump"/>
              </a:rPr>
              <a:t>8.2 </a:t>
            </a:r>
            <a:r>
              <a:rPr kumimoji="1" lang="zh-CN" altLang="en-US" sz="2800" dirty="0">
                <a:solidFill>
                  <a:schemeClr val="tx2"/>
                </a:solidFill>
                <a:latin typeface="方正姚体" pitchFamily="2" charset="-122"/>
                <a:ea typeface="方正姚体" pitchFamily="2" charset="-122"/>
                <a:hlinkClick r:id="rId3" action="ppaction://hlinksldjump"/>
              </a:rPr>
              <a:t>不确定性知识的表示及推理</a:t>
            </a:r>
            <a:endParaRPr kumimoji="1" lang="en-US" altLang="zh-CN" sz="2800" dirty="0">
              <a:solidFill>
                <a:schemeClr val="tx2"/>
              </a:solidFill>
              <a:latin typeface="方正姚体" pitchFamily="2" charset="-122"/>
              <a:ea typeface="方正姚体" pitchFamily="2" charset="-122"/>
            </a:endParaRPr>
          </a:p>
          <a:p>
            <a:pPr>
              <a:buNone/>
            </a:pPr>
            <a:r>
              <a:rPr kumimoji="1" lang="en-US" altLang="zh-CN" sz="2800" dirty="0">
                <a:solidFill>
                  <a:schemeClr val="tx2"/>
                </a:solidFill>
                <a:latin typeface="方正姚体" pitchFamily="2" charset="-122"/>
                <a:ea typeface="方正姚体" pitchFamily="2" charset="-122"/>
              </a:rPr>
              <a:t>                  </a:t>
            </a:r>
            <a:r>
              <a:rPr kumimoji="1" lang="en-US" altLang="zh-CN" sz="2800" dirty="0">
                <a:solidFill>
                  <a:schemeClr val="tx2"/>
                </a:solidFill>
                <a:latin typeface="方正姚体" pitchFamily="2" charset="-122"/>
                <a:ea typeface="方正姚体" pitchFamily="2" charset="-122"/>
                <a:hlinkClick r:id="rId4" action="ppaction://hlinksldjump"/>
              </a:rPr>
              <a:t>8.3 </a:t>
            </a:r>
            <a:r>
              <a:rPr kumimoji="1" lang="zh-CN" altLang="en-US" sz="2800" dirty="0">
                <a:solidFill>
                  <a:schemeClr val="tx2"/>
                </a:solidFill>
                <a:latin typeface="方正姚体" pitchFamily="2" charset="-122"/>
                <a:ea typeface="方正姚体" pitchFamily="2" charset="-122"/>
                <a:hlinkClick r:id="rId4" action="ppaction://hlinksldjump"/>
              </a:rPr>
              <a:t>不确切性知识的表示及推理</a:t>
            </a:r>
            <a:endParaRPr kumimoji="1" lang="zh-CN" altLang="en-US" sz="2800" dirty="0">
              <a:latin typeface="方正姚体" pitchFamily="2" charset="-122"/>
              <a:ea typeface="方正姚体" pitchFamily="2" charset="-122"/>
            </a:endParaRPr>
          </a:p>
          <a:p>
            <a:pPr>
              <a:buNone/>
            </a:pPr>
            <a:r>
              <a:rPr kumimoji="1" lang="en-US" altLang="zh-CN" sz="2800" dirty="0">
                <a:solidFill>
                  <a:schemeClr val="tx2"/>
                </a:solidFill>
                <a:latin typeface="方正姚体" pitchFamily="2" charset="-122"/>
                <a:ea typeface="方正姚体" pitchFamily="2" charset="-122"/>
              </a:rPr>
              <a:t>                  </a:t>
            </a:r>
            <a:r>
              <a:rPr lang="en-US" altLang="zh-CN" sz="2800" dirty="0">
                <a:latin typeface="方正姚体" pitchFamily="2" charset="-122"/>
                <a:ea typeface="方正姚体" pitchFamily="2" charset="-122"/>
                <a:hlinkClick r:id="rId5" action="ppaction://hlinksldjump"/>
              </a:rPr>
              <a:t>8.4 </a:t>
            </a:r>
            <a:r>
              <a:rPr lang="zh-CN" altLang="en-US" sz="2800" dirty="0">
                <a:latin typeface="方正姚体" pitchFamily="2" charset="-122"/>
                <a:ea typeface="方正姚体" pitchFamily="2" charset="-122"/>
                <a:hlinkClick r:id="rId5" action="ppaction://hlinksldjump"/>
              </a:rPr>
              <a:t>基于贝叶斯网络的概率推理</a:t>
            </a:r>
            <a:r>
              <a:rPr kumimoji="1" lang="zh-CN" altLang="en-US" sz="2800" dirty="0">
                <a:latin typeface="方正姚体" pitchFamily="2" charset="-122"/>
                <a:ea typeface="方正姚体" pitchFamily="2" charset="-122"/>
                <a:hlinkClick r:id="rId5" action="ppaction://hlinksldjump"/>
              </a:rPr>
              <a:t> </a:t>
            </a:r>
            <a:endParaRPr kumimoji="1" lang="en-US" altLang="zh-CN" sz="2800" dirty="0">
              <a:latin typeface="方正姚体" pitchFamily="2" charset="-122"/>
              <a:ea typeface="方正姚体" pitchFamily="2" charset="-122"/>
            </a:endParaRPr>
          </a:p>
          <a:p>
            <a:pPr>
              <a:buNone/>
            </a:pPr>
            <a:r>
              <a:rPr kumimoji="1" lang="en-US" altLang="zh-CN" sz="2800" dirty="0">
                <a:latin typeface="方正姚体" pitchFamily="2" charset="-122"/>
                <a:ea typeface="方正姚体" pitchFamily="2" charset="-122"/>
              </a:rPr>
              <a:t>                  </a:t>
            </a:r>
          </a:p>
          <a:p>
            <a:pPr>
              <a:buNone/>
            </a:pPr>
            <a:endParaRPr kumimoji="1" lang="zh-CN" altLang="en-US" sz="2800" dirty="0">
              <a:latin typeface="方正姚体" pitchFamily="2" charset="-122"/>
              <a:ea typeface="方正姚体" pitchFamily="2" charset="-122"/>
            </a:endParaRPr>
          </a:p>
          <a:p>
            <a:pPr>
              <a:buFont typeface="Wingdings" pitchFamily="2" charset="2"/>
              <a:buNone/>
            </a:pPr>
            <a:endParaRPr kumimoji="1" lang="en-US" altLang="zh-CN" sz="2800" dirty="0">
              <a:solidFill>
                <a:schemeClr val="tx2"/>
              </a:solidFill>
              <a:latin typeface="方正姚体" pitchFamily="2" charset="-122"/>
              <a:ea typeface="方正姚体" pitchFamily="2" charset="-122"/>
            </a:endParaRPr>
          </a:p>
        </p:txBody>
      </p:sp>
    </p:spTree>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248835" name="Rectangle 3"/>
          <p:cNvSpPr>
            <a:spLocks noGrp="1" noRot="1" noChangeArrowheads="1"/>
          </p:cNvSpPr>
          <p:nvPr>
            <p:ph type="body" idx="1"/>
          </p:nvPr>
        </p:nvSpPr>
        <p:spPr>
          <a:xfrm>
            <a:off x="457200" y="549275"/>
            <a:ext cx="8229600" cy="5576888"/>
          </a:xfrm>
        </p:spPr>
        <p:txBody>
          <a:bodyPr/>
          <a:lstStyle/>
          <a:p>
            <a:pPr>
              <a:lnSpc>
                <a:spcPct val="110000"/>
              </a:lnSpc>
              <a:buFont typeface="Wingdings" pitchFamily="2" charset="2"/>
              <a:buNone/>
            </a:pPr>
            <a:r>
              <a:rPr kumimoji="1" lang="en-US" altLang="zh-CN" sz="2800" dirty="0">
                <a:latin typeface="黑体" pitchFamily="49" charset="-122"/>
                <a:ea typeface="黑体" pitchFamily="49" charset="-122"/>
              </a:rPr>
              <a:t>               8.1 </a:t>
            </a:r>
            <a:r>
              <a:rPr kumimoji="1" lang="zh-CN" altLang="en-US" sz="2800" dirty="0">
                <a:latin typeface="黑体" pitchFamily="49" charset="-122"/>
                <a:ea typeface="黑体" pitchFamily="49" charset="-122"/>
              </a:rPr>
              <a:t>概述</a:t>
            </a:r>
          </a:p>
          <a:p>
            <a:pPr>
              <a:lnSpc>
                <a:spcPct val="150000"/>
              </a:lnSpc>
              <a:buNone/>
            </a:pPr>
            <a:r>
              <a:rPr kumimoji="1" lang="zh-CN" altLang="en-US" sz="2400" b="1" dirty="0"/>
              <a:t>   </a:t>
            </a:r>
            <a:r>
              <a:rPr lang="en-US" sz="2400" dirty="0">
                <a:solidFill>
                  <a:schemeClr val="tx1"/>
                </a:solidFill>
                <a:latin typeface="楷体" pitchFamily="49" charset="-122"/>
                <a:ea typeface="楷体" pitchFamily="49" charset="-122"/>
              </a:rPr>
              <a:t>1. </a:t>
            </a:r>
            <a:r>
              <a:rPr lang="zh-CN" sz="2400" b="1" dirty="0">
                <a:solidFill>
                  <a:schemeClr val="tx1"/>
                </a:solidFill>
                <a:latin typeface="楷体" pitchFamily="49" charset="-122"/>
                <a:ea typeface="楷体" pitchFamily="49" charset="-122"/>
              </a:rPr>
              <a:t>什么是不确定性信息？</a:t>
            </a:r>
            <a:endParaRPr lang="zh-CN" sz="2400" dirty="0">
              <a:solidFill>
                <a:schemeClr val="tx1"/>
              </a:solidFill>
              <a:latin typeface="楷体" pitchFamily="49" charset="-122"/>
              <a:ea typeface="楷体" pitchFamily="49" charset="-122"/>
            </a:endParaRPr>
          </a:p>
          <a:p>
            <a:pPr>
              <a:lnSpc>
                <a:spcPct val="150000"/>
              </a:lnSpc>
              <a:buNone/>
            </a:pPr>
            <a:r>
              <a:rPr lang="en-US" altLang="zh-CN" sz="2400" dirty="0">
                <a:solidFill>
                  <a:schemeClr val="tx1"/>
                </a:solidFill>
                <a:latin typeface="+mn-lt"/>
                <a:ea typeface="+mn-ea"/>
                <a:cs typeface="+mn-cs"/>
              </a:rPr>
              <a:t>            </a:t>
            </a:r>
            <a:r>
              <a:rPr lang="zh-CN" sz="2400" dirty="0">
                <a:solidFill>
                  <a:schemeClr val="tx1"/>
                </a:solidFill>
                <a:latin typeface="+mn-lt"/>
                <a:ea typeface="+mn-ea"/>
                <a:cs typeface="+mn-cs"/>
              </a:rPr>
              <a:t>这里的不确定性信息（</a:t>
            </a:r>
            <a:r>
              <a:rPr lang="en-US" sz="2400" dirty="0">
                <a:solidFill>
                  <a:schemeClr val="tx1"/>
                </a:solidFill>
                <a:latin typeface="+mn-lt"/>
                <a:ea typeface="+mn-ea"/>
                <a:cs typeface="+mn-cs"/>
              </a:rPr>
              <a:t>uncertain information</a:t>
            </a:r>
            <a:r>
              <a:rPr lang="zh-CN" sz="2400" dirty="0">
                <a:solidFill>
                  <a:schemeClr val="tx1"/>
                </a:solidFill>
                <a:latin typeface="+mn-lt"/>
                <a:ea typeface="+mn-ea"/>
                <a:cs typeface="+mn-cs"/>
              </a:rPr>
              <a:t>）是指那些不能确定真实性的信息。例如，命题：</a:t>
            </a:r>
          </a:p>
          <a:p>
            <a:pPr>
              <a:buNone/>
            </a:pPr>
            <a:r>
              <a:rPr lang="en-US" altLang="zh-CN" sz="2400" dirty="0">
                <a:solidFill>
                  <a:schemeClr val="tx1"/>
                </a:solidFill>
                <a:latin typeface="+mn-lt"/>
                <a:ea typeface="+mn-ea"/>
                <a:cs typeface="+mn-cs"/>
              </a:rPr>
              <a:t>                              </a:t>
            </a:r>
            <a:r>
              <a:rPr lang="zh-CN" sz="2400" dirty="0">
                <a:solidFill>
                  <a:schemeClr val="tx1"/>
                </a:solidFill>
                <a:latin typeface="楷体" pitchFamily="49" charset="-122"/>
                <a:ea typeface="楷体" pitchFamily="49" charset="-122"/>
              </a:rPr>
              <a:t>明天下雨。</a:t>
            </a:r>
          </a:p>
          <a:p>
            <a:pPr>
              <a:buNone/>
            </a:pPr>
            <a:r>
              <a:rPr lang="en-US" sz="2400" dirty="0">
                <a:solidFill>
                  <a:schemeClr val="tx1"/>
                </a:solidFill>
                <a:latin typeface="楷体" pitchFamily="49" charset="-122"/>
                <a:ea typeface="楷体" pitchFamily="49" charset="-122"/>
              </a:rPr>
              <a:t>            </a:t>
            </a:r>
            <a:r>
              <a:rPr lang="zh-CN" sz="2400" dirty="0">
                <a:solidFill>
                  <a:schemeClr val="tx1"/>
                </a:solidFill>
                <a:latin typeface="楷体" pitchFamily="49" charset="-122"/>
                <a:ea typeface="楷体" pitchFamily="49" charset="-122"/>
              </a:rPr>
              <a:t>如果头痛且发烧，则患了感冒。</a:t>
            </a:r>
          </a:p>
          <a:p>
            <a:pPr>
              <a:lnSpc>
                <a:spcPct val="150000"/>
              </a:lnSpc>
              <a:buNone/>
            </a:pPr>
            <a:r>
              <a:rPr lang="en-US" altLang="zh-CN" sz="2400" dirty="0">
                <a:solidFill>
                  <a:schemeClr val="tx1"/>
                </a:solidFill>
                <a:latin typeface="+mn-lt"/>
                <a:ea typeface="+mn-ea"/>
                <a:cs typeface="+mn-cs"/>
              </a:rPr>
              <a:t>    </a:t>
            </a:r>
            <a:r>
              <a:rPr lang="zh-CN" sz="2400" dirty="0">
                <a:solidFill>
                  <a:schemeClr val="tx1"/>
                </a:solidFill>
                <a:latin typeface="+mn-lt"/>
                <a:ea typeface="+mn-ea"/>
                <a:cs typeface="+mn-cs"/>
              </a:rPr>
              <a:t>所描述的信息和知识就是不确定性信息。</a:t>
            </a:r>
          </a:p>
          <a:p>
            <a:pPr>
              <a:lnSpc>
                <a:spcPct val="110000"/>
              </a:lnSpc>
              <a:buFont typeface="Wingdings" pitchFamily="2" charset="2"/>
              <a:buNone/>
            </a:pPr>
            <a:endParaRPr lang="en-US" altLang="zh-CN" sz="2400" dirty="0"/>
          </a:p>
        </p:txBody>
      </p:sp>
    </p:spTree>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58403" name="Rectangle 3"/>
          <p:cNvSpPr>
            <a:spLocks noGrp="1" noRot="1" noChangeArrowheads="1"/>
          </p:cNvSpPr>
          <p:nvPr>
            <p:ph type="body" idx="1"/>
          </p:nvPr>
        </p:nvSpPr>
        <p:spPr>
          <a:xfrm>
            <a:off x="625448" y="600056"/>
            <a:ext cx="7945437" cy="5715040"/>
          </a:xfrm>
        </p:spPr>
        <p:txBody>
          <a:bodyPr/>
          <a:lstStyle/>
          <a:p>
            <a:pPr>
              <a:lnSpc>
                <a:spcPct val="150000"/>
              </a:lnSpc>
              <a:buNone/>
            </a:pPr>
            <a:r>
              <a:rPr lang="en-US" sz="2400" dirty="0">
                <a:solidFill>
                  <a:schemeClr val="tx1"/>
                </a:solidFill>
                <a:latin typeface="楷体" pitchFamily="49" charset="-122"/>
                <a:ea typeface="楷体" pitchFamily="49" charset="-122"/>
              </a:rPr>
              <a:t>   2. </a:t>
            </a:r>
            <a:r>
              <a:rPr lang="zh-CN" sz="2400" b="1" dirty="0">
                <a:solidFill>
                  <a:schemeClr val="tx1"/>
                </a:solidFill>
                <a:latin typeface="楷体" pitchFamily="49" charset="-122"/>
                <a:ea typeface="楷体" pitchFamily="49" charset="-122"/>
              </a:rPr>
              <a:t>什么是不确切性信息</a:t>
            </a:r>
            <a:r>
              <a:rPr lang="zh-CN" altLang="en-US" sz="2400" b="1" dirty="0">
                <a:solidFill>
                  <a:schemeClr val="tx1"/>
                </a:solidFill>
                <a:latin typeface="楷体" pitchFamily="49" charset="-122"/>
                <a:ea typeface="楷体" pitchFamily="49" charset="-122"/>
              </a:rPr>
              <a:t>（模糊信息）</a:t>
            </a:r>
            <a:r>
              <a:rPr lang="zh-CN" sz="2400" b="1" dirty="0">
                <a:solidFill>
                  <a:schemeClr val="tx1"/>
                </a:solidFill>
                <a:latin typeface="楷体" pitchFamily="49" charset="-122"/>
                <a:ea typeface="楷体" pitchFamily="49" charset="-122"/>
              </a:rPr>
              <a:t>？</a:t>
            </a:r>
            <a:endParaRPr lang="zh-CN" sz="2400" dirty="0">
              <a:solidFill>
                <a:schemeClr val="tx1"/>
              </a:solidFill>
              <a:latin typeface="楷体" pitchFamily="49" charset="-122"/>
              <a:ea typeface="楷体" pitchFamily="49" charset="-122"/>
            </a:endParaRPr>
          </a:p>
          <a:p>
            <a:pPr>
              <a:lnSpc>
                <a:spcPct val="130000"/>
              </a:lnSpc>
              <a:spcBef>
                <a:spcPts val="0"/>
              </a:spcBef>
              <a:buNone/>
            </a:pPr>
            <a:r>
              <a:rPr lang="en-US" altLang="zh-CN" sz="2400" dirty="0">
                <a:solidFill>
                  <a:schemeClr val="tx1"/>
                </a:solidFill>
                <a:latin typeface="+mn-lt"/>
                <a:ea typeface="+mn-ea"/>
                <a:cs typeface="+mn-cs"/>
              </a:rPr>
              <a:t>    </a:t>
            </a:r>
            <a:r>
              <a:rPr lang="zh-CN" sz="2400" dirty="0">
                <a:solidFill>
                  <a:schemeClr val="tx1"/>
                </a:solidFill>
                <a:latin typeface="+mn-lt"/>
                <a:ea typeface="+mn-ea"/>
                <a:cs typeface="+mn-cs"/>
              </a:rPr>
              <a:t>这里的不确切性信息（</a:t>
            </a:r>
            <a:r>
              <a:rPr lang="en-US" sz="2400" dirty="0">
                <a:solidFill>
                  <a:schemeClr val="tx1"/>
                </a:solidFill>
                <a:latin typeface="+mn-lt"/>
                <a:ea typeface="+mn-ea"/>
                <a:cs typeface="+mn-cs"/>
              </a:rPr>
              <a:t>imprecise information</a:t>
            </a:r>
            <a:r>
              <a:rPr lang="zh-CN" sz="2400" dirty="0">
                <a:solidFill>
                  <a:schemeClr val="tx1"/>
                </a:solidFill>
                <a:latin typeface="+mn-lt"/>
                <a:ea typeface="+mn-ea"/>
                <a:cs typeface="+mn-cs"/>
              </a:rPr>
              <a:t>）是指那些意思不够明确、不够严格（有一定弹性）的信息。例如，</a:t>
            </a:r>
          </a:p>
          <a:p>
            <a:pPr>
              <a:lnSpc>
                <a:spcPct val="130000"/>
              </a:lnSpc>
              <a:spcBef>
                <a:spcPts val="0"/>
              </a:spcBef>
              <a:buNone/>
            </a:pPr>
            <a:r>
              <a:rPr lang="en-US" sz="2400" dirty="0">
                <a:solidFill>
                  <a:schemeClr val="tx1"/>
                </a:solidFill>
                <a:latin typeface="+mn-lt"/>
                <a:ea typeface="+mn-ea"/>
                <a:cs typeface="+mn-cs"/>
              </a:rPr>
              <a:t>                        </a:t>
            </a:r>
            <a:r>
              <a:rPr lang="zh-CN" sz="2400" dirty="0">
                <a:solidFill>
                  <a:schemeClr val="tx1"/>
                </a:solidFill>
                <a:latin typeface="楷体" pitchFamily="49" charset="-122"/>
                <a:ea typeface="楷体" pitchFamily="49" charset="-122"/>
              </a:rPr>
              <a:t>小王是个高个子。</a:t>
            </a:r>
          </a:p>
          <a:p>
            <a:pPr>
              <a:lnSpc>
                <a:spcPct val="130000"/>
              </a:lnSpc>
              <a:buNone/>
            </a:pPr>
            <a:r>
              <a:rPr lang="en-US" altLang="zh-CN" sz="2400" dirty="0">
                <a:solidFill>
                  <a:schemeClr val="tx1"/>
                </a:solidFill>
                <a:latin typeface="+mn-lt"/>
                <a:ea typeface="+mn-ea"/>
                <a:cs typeface="+mn-cs"/>
              </a:rPr>
              <a:t>    </a:t>
            </a:r>
            <a:r>
              <a:rPr lang="zh-CN" sz="2400" dirty="0">
                <a:solidFill>
                  <a:schemeClr val="tx1"/>
                </a:solidFill>
                <a:latin typeface="+mn-lt"/>
                <a:ea typeface="+mn-ea"/>
                <a:cs typeface="+mn-cs"/>
              </a:rPr>
              <a:t>这句话所表达的信息就是不确切性信息。因为多高的个子算是“高个子”，并没有一个明确的、严格的、刚性的标准。</a:t>
            </a:r>
            <a:endParaRPr lang="en-US" altLang="zh-CN" sz="2400" dirty="0">
              <a:solidFill>
                <a:schemeClr val="tx1"/>
              </a:solidFill>
              <a:latin typeface="+mn-lt"/>
              <a:ea typeface="+mn-ea"/>
              <a:cs typeface="+mn-cs"/>
            </a:endParaRPr>
          </a:p>
          <a:p>
            <a:pPr>
              <a:spcBef>
                <a:spcPts val="0"/>
              </a:spcBef>
              <a:buNone/>
            </a:pPr>
            <a:r>
              <a:rPr lang="en-US" altLang="zh-CN" sz="2400" dirty="0">
                <a:solidFill>
                  <a:schemeClr val="tx1"/>
                </a:solidFill>
                <a:latin typeface="楷体" pitchFamily="49" charset="-122"/>
                <a:ea typeface="楷体" pitchFamily="49" charset="-122"/>
              </a:rPr>
              <a:t>               </a:t>
            </a:r>
            <a:r>
              <a:rPr lang="zh-CN" sz="2400" dirty="0">
                <a:solidFill>
                  <a:schemeClr val="tx1"/>
                </a:solidFill>
                <a:latin typeface="楷体" pitchFamily="49" charset="-122"/>
                <a:ea typeface="楷体" pitchFamily="49" charset="-122"/>
              </a:rPr>
              <a:t>小明是个好学生。</a:t>
            </a:r>
          </a:p>
          <a:p>
            <a:pPr>
              <a:buNone/>
            </a:pPr>
            <a:r>
              <a:rPr lang="en-US" sz="2400" dirty="0">
                <a:solidFill>
                  <a:schemeClr val="tx1"/>
                </a:solidFill>
                <a:latin typeface="楷体" pitchFamily="49" charset="-122"/>
                <a:ea typeface="楷体" pitchFamily="49" charset="-122"/>
              </a:rPr>
              <a:t>             </a:t>
            </a:r>
            <a:r>
              <a:rPr lang="zh-CN" sz="2400" dirty="0">
                <a:solidFill>
                  <a:schemeClr val="tx1"/>
                </a:solidFill>
                <a:latin typeface="楷体" pitchFamily="49" charset="-122"/>
                <a:ea typeface="楷体" pitchFamily="49" charset="-122"/>
              </a:rPr>
              <a:t>张三和李四是好朋友。</a:t>
            </a:r>
          </a:p>
          <a:p>
            <a:pPr>
              <a:buNone/>
            </a:pPr>
            <a:r>
              <a:rPr lang="en-US" sz="2400" dirty="0">
                <a:solidFill>
                  <a:schemeClr val="tx1"/>
                </a:solidFill>
                <a:latin typeface="楷体" pitchFamily="49" charset="-122"/>
                <a:ea typeface="楷体" pitchFamily="49" charset="-122"/>
              </a:rPr>
              <a:t>          </a:t>
            </a:r>
            <a:r>
              <a:rPr lang="zh-CN" sz="2400" dirty="0">
                <a:solidFill>
                  <a:schemeClr val="tx1"/>
                </a:solidFill>
                <a:latin typeface="楷体" pitchFamily="49" charset="-122"/>
                <a:ea typeface="楷体" pitchFamily="49" charset="-122"/>
              </a:rPr>
              <a:t>如果向左转，则身体就向左稍倾。</a:t>
            </a:r>
          </a:p>
          <a:p>
            <a:endParaRPr lang="zh-CN" altLang="en-US" sz="2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200707" name="Rectangle 3"/>
          <p:cNvSpPr>
            <a:spLocks noGrp="1" noRot="1" noChangeArrowheads="1"/>
          </p:cNvSpPr>
          <p:nvPr>
            <p:ph type="body" idx="1"/>
          </p:nvPr>
        </p:nvSpPr>
        <p:spPr>
          <a:xfrm>
            <a:off x="571472" y="765175"/>
            <a:ext cx="8115328" cy="4608513"/>
          </a:xfrm>
        </p:spPr>
        <p:txBody>
          <a:bodyPr/>
          <a:lstStyle/>
          <a:p>
            <a:pPr>
              <a:lnSpc>
                <a:spcPct val="120000"/>
              </a:lnSpc>
              <a:buNone/>
            </a:pPr>
            <a:r>
              <a:rPr kumimoji="1" lang="en-US" altLang="zh-CN" sz="3600" dirty="0"/>
              <a:t>  </a:t>
            </a:r>
            <a:r>
              <a:rPr lang="en-US" sz="2400" dirty="0">
                <a:solidFill>
                  <a:schemeClr val="tx1"/>
                </a:solidFill>
                <a:latin typeface="楷体" pitchFamily="49" charset="-122"/>
                <a:ea typeface="楷体" pitchFamily="49" charset="-122"/>
              </a:rPr>
              <a:t>3. </a:t>
            </a:r>
            <a:r>
              <a:rPr lang="zh-CN" sz="2400" b="1" dirty="0">
                <a:solidFill>
                  <a:schemeClr val="tx1"/>
                </a:solidFill>
                <a:latin typeface="楷体" pitchFamily="49" charset="-122"/>
                <a:ea typeface="楷体" pitchFamily="49" charset="-122"/>
              </a:rPr>
              <a:t>不确定性与不确切性的区别与联系</a:t>
            </a:r>
            <a:endParaRPr lang="en-US" altLang="zh-CN" sz="2400" b="1" dirty="0">
              <a:solidFill>
                <a:schemeClr val="tx1"/>
              </a:solidFill>
              <a:latin typeface="楷体" pitchFamily="49" charset="-122"/>
              <a:ea typeface="楷体" pitchFamily="49" charset="-122"/>
            </a:endParaRPr>
          </a:p>
          <a:p>
            <a:pPr>
              <a:lnSpc>
                <a:spcPct val="120000"/>
              </a:lnSpc>
              <a:buNone/>
            </a:pPr>
            <a:r>
              <a:rPr lang="en-US" altLang="zh-CN" sz="2800" dirty="0">
                <a:sym typeface="Symbol"/>
              </a:rPr>
              <a:t> </a:t>
            </a:r>
            <a:r>
              <a:rPr lang="en-US" altLang="zh-CN" sz="2400" dirty="0">
                <a:solidFill>
                  <a:srgbClr val="FF0000"/>
                </a:solidFill>
                <a:latin typeface="+mn-lt"/>
                <a:ea typeface="+mn-ea"/>
                <a:cs typeface="+mn-cs"/>
                <a:sym typeface="Symbol"/>
              </a:rPr>
              <a:t></a:t>
            </a:r>
            <a:r>
              <a:rPr lang="zh-CN" sz="2400" dirty="0">
                <a:solidFill>
                  <a:schemeClr val="tx1"/>
                </a:solidFill>
                <a:latin typeface="+mn-lt"/>
                <a:ea typeface="+mn-ea"/>
                <a:cs typeface="+mn-cs"/>
              </a:rPr>
              <a:t>不确定性信息是指那些</a:t>
            </a:r>
            <a:r>
              <a:rPr lang="zh-CN" sz="2400" b="1" dirty="0">
                <a:solidFill>
                  <a:srgbClr val="FF0000"/>
                </a:solidFill>
                <a:latin typeface="+mn-lt"/>
                <a:ea typeface="+mn-ea"/>
                <a:cs typeface="+mn-cs"/>
              </a:rPr>
              <a:t>不能确定真伪的信息</a:t>
            </a:r>
            <a:r>
              <a:rPr lang="zh-CN" sz="2400" dirty="0">
                <a:solidFill>
                  <a:schemeClr val="tx1"/>
                </a:solidFill>
                <a:latin typeface="+mn-lt"/>
                <a:ea typeface="+mn-ea"/>
                <a:cs typeface="+mn-cs"/>
              </a:rPr>
              <a:t>，即其所表达的事件或者事物性状、关系或行为是不确定、不肯定的；</a:t>
            </a:r>
            <a:endParaRPr lang="en-US" altLang="zh-CN" sz="2400" dirty="0">
              <a:solidFill>
                <a:schemeClr val="tx1"/>
              </a:solidFill>
              <a:latin typeface="+mn-lt"/>
              <a:ea typeface="+mn-ea"/>
              <a:cs typeface="+mn-cs"/>
            </a:endParaRPr>
          </a:p>
          <a:p>
            <a:pPr>
              <a:lnSpc>
                <a:spcPct val="120000"/>
              </a:lnSpc>
              <a:buNone/>
            </a:pPr>
            <a:r>
              <a:rPr lang="en-US" altLang="zh-CN" sz="2400" dirty="0"/>
              <a:t> </a:t>
            </a:r>
            <a:r>
              <a:rPr lang="en-US" altLang="zh-CN" sz="2400" dirty="0">
                <a:solidFill>
                  <a:srgbClr val="FF0000"/>
                </a:solidFill>
                <a:latin typeface="+mn-lt"/>
                <a:ea typeface="+mn-ea"/>
                <a:cs typeface="+mn-cs"/>
                <a:sym typeface="Symbol"/>
              </a:rPr>
              <a:t></a:t>
            </a:r>
            <a:r>
              <a:rPr lang="zh-CN" sz="2400" dirty="0">
                <a:solidFill>
                  <a:schemeClr val="tx1"/>
                </a:solidFill>
                <a:latin typeface="+mn-lt"/>
                <a:ea typeface="+mn-ea"/>
                <a:cs typeface="+mn-cs"/>
              </a:rPr>
              <a:t>不确切性信息</a:t>
            </a:r>
            <a:r>
              <a:rPr lang="zh-CN" altLang="en-US" sz="2400" dirty="0">
                <a:solidFill>
                  <a:schemeClr val="tx1"/>
                </a:solidFill>
                <a:latin typeface="+mn-lt"/>
                <a:ea typeface="+mn-ea"/>
                <a:cs typeface="+mn-cs"/>
              </a:rPr>
              <a:t>（也称模糊信息）</a:t>
            </a:r>
            <a:r>
              <a:rPr lang="zh-CN" sz="2400" dirty="0">
                <a:solidFill>
                  <a:schemeClr val="tx1"/>
                </a:solidFill>
                <a:latin typeface="+mn-lt"/>
                <a:ea typeface="+mn-ea"/>
                <a:cs typeface="+mn-cs"/>
              </a:rPr>
              <a:t>则是对事物的性状、关系或行为</a:t>
            </a:r>
            <a:r>
              <a:rPr lang="zh-CN" sz="2400" b="1" dirty="0">
                <a:solidFill>
                  <a:srgbClr val="FF0000"/>
                </a:solidFill>
                <a:latin typeface="+mn-lt"/>
                <a:ea typeface="+mn-ea"/>
                <a:cs typeface="+mn-cs"/>
              </a:rPr>
              <a:t>描述得不够具体、不够严格、不够精确的信息</a:t>
            </a:r>
            <a:r>
              <a:rPr lang="zh-CN" sz="2400" dirty="0">
                <a:solidFill>
                  <a:schemeClr val="tx1"/>
                </a:solidFill>
                <a:latin typeface="+mn-lt"/>
                <a:ea typeface="+mn-ea"/>
                <a:cs typeface="+mn-cs"/>
              </a:rPr>
              <a:t>。</a:t>
            </a:r>
            <a:endParaRPr lang="en-US" altLang="zh-CN" sz="2400" dirty="0">
              <a:solidFill>
                <a:schemeClr val="tx1"/>
              </a:solidFill>
              <a:latin typeface="+mn-lt"/>
              <a:ea typeface="+mn-ea"/>
              <a:cs typeface="+mn-cs"/>
            </a:endParaRPr>
          </a:p>
          <a:p>
            <a:pPr>
              <a:lnSpc>
                <a:spcPct val="120000"/>
              </a:lnSpc>
              <a:buNone/>
            </a:pPr>
            <a:r>
              <a:rPr lang="en-US" altLang="zh-CN" sz="2400" dirty="0">
                <a:solidFill>
                  <a:schemeClr val="tx1"/>
                </a:solidFill>
                <a:latin typeface="+mn-lt"/>
                <a:ea typeface="+mn-ea"/>
                <a:cs typeface="+mn-cs"/>
              </a:rPr>
              <a:t> </a:t>
            </a:r>
            <a:r>
              <a:rPr lang="en-US" altLang="zh-CN" sz="2400" dirty="0">
                <a:solidFill>
                  <a:srgbClr val="FF0000"/>
                </a:solidFill>
                <a:latin typeface="+mn-lt"/>
                <a:ea typeface="+mn-ea"/>
                <a:cs typeface="+mn-cs"/>
                <a:sym typeface="Symbol"/>
              </a:rPr>
              <a:t></a:t>
            </a:r>
            <a:r>
              <a:rPr lang="zh-CN" sz="2400" dirty="0">
                <a:solidFill>
                  <a:schemeClr val="tx1"/>
                </a:solidFill>
                <a:latin typeface="+mn-lt"/>
                <a:ea typeface="+mn-ea"/>
                <a:cs typeface="+mn-cs"/>
              </a:rPr>
              <a:t>不确定性和不确切性（或者说确定性和确切性）是两个</a:t>
            </a:r>
            <a:r>
              <a:rPr lang="zh-CN" sz="2400" b="1" dirty="0">
                <a:solidFill>
                  <a:srgbClr val="FF0000"/>
                </a:solidFill>
                <a:latin typeface="+mn-lt"/>
                <a:ea typeface="+mn-ea"/>
                <a:cs typeface="+mn-cs"/>
              </a:rPr>
              <a:t>相互独立</a:t>
            </a:r>
            <a:r>
              <a:rPr lang="zh-CN" sz="2400" dirty="0">
                <a:latin typeface="+mn-lt"/>
                <a:ea typeface="+mn-ea"/>
                <a:cs typeface="+mn-cs"/>
              </a:rPr>
              <a:t>的</a:t>
            </a:r>
            <a:r>
              <a:rPr lang="zh-CN" sz="2400" dirty="0">
                <a:solidFill>
                  <a:schemeClr val="tx1"/>
                </a:solidFill>
                <a:latin typeface="+mn-lt"/>
                <a:ea typeface="+mn-ea"/>
                <a:cs typeface="+mn-cs"/>
              </a:rPr>
              <a:t>信息属性。</a:t>
            </a:r>
            <a:endParaRPr kumimoji="1" lang="zh-CN" altLang="en-US" sz="2400" dirty="0">
              <a:latin typeface="宋体" pitchFamily="2" charset="-122"/>
            </a:endParaRPr>
          </a:p>
        </p:txBody>
      </p:sp>
    </p:spTree>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8435" name="Rectangle 3"/>
          <p:cNvSpPr>
            <a:spLocks noGrp="1" noRot="1" noChangeArrowheads="1"/>
          </p:cNvSpPr>
          <p:nvPr>
            <p:ph type="body" idx="1"/>
          </p:nvPr>
        </p:nvSpPr>
        <p:spPr>
          <a:xfrm>
            <a:off x="467544" y="476672"/>
            <a:ext cx="8251280" cy="5540375"/>
          </a:xfrm>
        </p:spPr>
        <p:txBody>
          <a:bodyPr/>
          <a:lstStyle/>
          <a:p>
            <a:pPr algn="ctr">
              <a:lnSpc>
                <a:spcPct val="150000"/>
              </a:lnSpc>
              <a:spcBef>
                <a:spcPct val="0"/>
              </a:spcBef>
              <a:buClrTx/>
              <a:buSzTx/>
              <a:buFontTx/>
              <a:buNone/>
            </a:pPr>
            <a:r>
              <a:rPr kumimoji="1" lang="zh-CN" altLang="en-US" b="1" dirty="0">
                <a:solidFill>
                  <a:srgbClr val="FF9933"/>
                </a:solidFill>
                <a:effectLst>
                  <a:outerShdw blurRad="38100" dist="38100" dir="2700000" algn="tl">
                    <a:srgbClr val="000000">
                      <a:alpha val="43137"/>
                    </a:srgbClr>
                  </a:outerShdw>
                </a:effectLst>
                <a:latin typeface="隶书" pitchFamily="49" charset="-122"/>
                <a:ea typeface="隶书" pitchFamily="49" charset="-122"/>
              </a:rPr>
              <a:t>四种类型的信息</a:t>
            </a:r>
            <a:endParaRPr kumimoji="1" lang="en-US" altLang="zh-CN" b="1" dirty="0">
              <a:solidFill>
                <a:srgbClr val="FF9933"/>
              </a:solidFill>
              <a:effectLst>
                <a:outerShdw blurRad="38100" dist="38100" dir="2700000" algn="tl">
                  <a:srgbClr val="000000">
                    <a:alpha val="43137"/>
                  </a:srgbClr>
                </a:outerShdw>
              </a:effectLst>
              <a:latin typeface="隶书" pitchFamily="49" charset="-122"/>
              <a:ea typeface="隶书" pitchFamily="49" charset="-122"/>
            </a:endParaRPr>
          </a:p>
          <a:p>
            <a:pPr marL="457200" indent="-457200" algn="just">
              <a:lnSpc>
                <a:spcPct val="150000"/>
              </a:lnSpc>
              <a:spcBef>
                <a:spcPct val="0"/>
              </a:spcBef>
              <a:buClrTx/>
              <a:buSzTx/>
              <a:buFontTx/>
              <a:buAutoNum type="arabicPeriod"/>
            </a:pPr>
            <a:r>
              <a:rPr lang="zh-CN" sz="2400" dirty="0">
                <a:solidFill>
                  <a:schemeClr val="tx1"/>
                </a:solidFill>
                <a:latin typeface="方正姚体" pitchFamily="2" charset="-122"/>
                <a:ea typeface="方正姚体" pitchFamily="2" charset="-122"/>
              </a:rPr>
              <a:t>确定</a:t>
            </a:r>
            <a:r>
              <a:rPr lang="en-US" sz="2400" dirty="0">
                <a:solidFill>
                  <a:schemeClr val="tx1"/>
                </a:solidFill>
                <a:latin typeface="方正姚体" pitchFamily="2" charset="-122"/>
                <a:ea typeface="方正姚体" pitchFamily="2" charset="-122"/>
              </a:rPr>
              <a:t>-</a:t>
            </a:r>
            <a:r>
              <a:rPr lang="zh-CN" sz="2400" dirty="0">
                <a:solidFill>
                  <a:schemeClr val="tx1"/>
                </a:solidFill>
                <a:latin typeface="方正姚体" pitchFamily="2" charset="-122"/>
                <a:ea typeface="方正姚体" pitchFamily="2" charset="-122"/>
              </a:rPr>
              <a:t>确切性信息</a:t>
            </a:r>
            <a:r>
              <a:rPr lang="en-US" altLang="zh-CN" sz="2400" dirty="0">
                <a:solidFill>
                  <a:schemeClr val="tx1"/>
                </a:solidFill>
                <a:latin typeface="方正姚体" pitchFamily="2" charset="-122"/>
                <a:ea typeface="方正姚体" pitchFamily="2" charset="-122"/>
              </a:rPr>
              <a:t>   </a:t>
            </a:r>
          </a:p>
          <a:p>
            <a:pPr marL="0" indent="0" algn="just">
              <a:lnSpc>
                <a:spcPct val="150000"/>
              </a:lnSpc>
              <a:spcBef>
                <a:spcPct val="0"/>
              </a:spcBef>
              <a:buClrTx/>
              <a:buSzTx/>
              <a:buNone/>
            </a:pPr>
            <a:r>
              <a:rPr lang="zh-CN" altLang="en-US" sz="2000" dirty="0"/>
              <a:t>现在正在</a:t>
            </a:r>
            <a:r>
              <a:rPr lang="zh-CN" altLang="en-US" sz="2000" b="1" dirty="0"/>
              <a:t>下 </a:t>
            </a:r>
            <a:r>
              <a:rPr lang="en-US" altLang="zh-CN" sz="2000" b="1" dirty="0"/>
              <a:t>50 </a:t>
            </a:r>
            <a:r>
              <a:rPr lang="zh-CN" altLang="en-US" sz="2000" b="1" dirty="0"/>
              <a:t>毫米以上的雨（</a:t>
            </a:r>
            <a:r>
              <a:rPr lang="zh-CN" altLang="en-US" sz="2000" b="1" dirty="0">
                <a:solidFill>
                  <a:srgbClr val="FF0000"/>
                </a:solidFill>
              </a:rPr>
              <a:t>下雨一定的，且没有歧义</a:t>
            </a:r>
            <a:r>
              <a:rPr lang="zh-CN" altLang="en-US" sz="2000" b="1" dirty="0"/>
              <a:t>）</a:t>
            </a:r>
            <a:endParaRPr lang="en-US" altLang="zh-CN" sz="1600" dirty="0">
              <a:solidFill>
                <a:schemeClr val="tx1"/>
              </a:solidFill>
              <a:latin typeface="方正姚体" pitchFamily="2" charset="-122"/>
              <a:ea typeface="方正姚体" pitchFamily="2" charset="-122"/>
            </a:endParaRPr>
          </a:p>
          <a:p>
            <a:pPr algn="just">
              <a:lnSpc>
                <a:spcPct val="150000"/>
              </a:lnSpc>
              <a:spcBef>
                <a:spcPct val="0"/>
              </a:spcBef>
              <a:buClrTx/>
              <a:buSzTx/>
              <a:buFontTx/>
              <a:buNone/>
            </a:pPr>
            <a:r>
              <a:rPr lang="en-US" altLang="zh-CN" sz="2400" dirty="0">
                <a:solidFill>
                  <a:schemeClr val="tx1"/>
                </a:solidFill>
                <a:latin typeface="方正姚体" pitchFamily="2" charset="-122"/>
                <a:ea typeface="方正姚体" pitchFamily="2" charset="-122"/>
              </a:rPr>
              <a:t>2. </a:t>
            </a:r>
            <a:r>
              <a:rPr lang="zh-CN" sz="2400" dirty="0">
                <a:solidFill>
                  <a:schemeClr val="tx1"/>
                </a:solidFill>
                <a:latin typeface="方正姚体" pitchFamily="2" charset="-122"/>
                <a:ea typeface="方正姚体" pitchFamily="2" charset="-122"/>
              </a:rPr>
              <a:t>不确定</a:t>
            </a:r>
            <a:r>
              <a:rPr lang="en-US" sz="2400" dirty="0">
                <a:solidFill>
                  <a:schemeClr val="tx1"/>
                </a:solidFill>
                <a:latin typeface="方正姚体" pitchFamily="2" charset="-122"/>
                <a:ea typeface="方正姚体" pitchFamily="2" charset="-122"/>
              </a:rPr>
              <a:t>-</a:t>
            </a:r>
            <a:r>
              <a:rPr lang="zh-CN" sz="2400" dirty="0">
                <a:solidFill>
                  <a:schemeClr val="tx1"/>
                </a:solidFill>
                <a:latin typeface="方正姚体" pitchFamily="2" charset="-122"/>
                <a:ea typeface="方正姚体" pitchFamily="2" charset="-122"/>
              </a:rPr>
              <a:t>确切性信息</a:t>
            </a:r>
            <a:r>
              <a:rPr lang="en-US" altLang="zh-CN" sz="2400" dirty="0">
                <a:solidFill>
                  <a:schemeClr val="tx1"/>
                </a:solidFill>
                <a:latin typeface="方正姚体" pitchFamily="2" charset="-122"/>
                <a:ea typeface="方正姚体" pitchFamily="2" charset="-122"/>
              </a:rPr>
              <a:t> </a:t>
            </a:r>
          </a:p>
          <a:p>
            <a:pPr algn="just">
              <a:lnSpc>
                <a:spcPct val="150000"/>
              </a:lnSpc>
              <a:spcBef>
                <a:spcPct val="0"/>
              </a:spcBef>
              <a:buClrTx/>
              <a:buSzTx/>
              <a:buFontTx/>
              <a:buNone/>
            </a:pPr>
            <a:r>
              <a:rPr lang="zh-CN" altLang="en-US" sz="2000" dirty="0"/>
              <a:t>明天可能</a:t>
            </a:r>
            <a:r>
              <a:rPr lang="zh-CN" altLang="en-US" sz="2000" b="1" dirty="0"/>
              <a:t>下</a:t>
            </a:r>
            <a:r>
              <a:rPr lang="en-US" altLang="zh-CN" sz="2000" b="1" dirty="0"/>
              <a:t>50</a:t>
            </a:r>
            <a:r>
              <a:rPr lang="zh-CN" altLang="en-US" sz="2000" b="1" dirty="0"/>
              <a:t>毫米以上雨（</a:t>
            </a:r>
            <a:r>
              <a:rPr lang="zh-CN" altLang="en-US" sz="2000" b="1" dirty="0">
                <a:solidFill>
                  <a:srgbClr val="FF0000"/>
                </a:solidFill>
              </a:rPr>
              <a:t>是否下雨不一定，但描述没有歧义</a:t>
            </a:r>
            <a:r>
              <a:rPr lang="zh-CN" altLang="en-US" sz="2000" b="1" dirty="0"/>
              <a:t>）</a:t>
            </a:r>
            <a:endParaRPr lang="en-US" altLang="zh-CN" sz="1600" dirty="0">
              <a:solidFill>
                <a:schemeClr val="tx1"/>
              </a:solidFill>
              <a:latin typeface="方正姚体" pitchFamily="2" charset="-122"/>
              <a:ea typeface="方正姚体" pitchFamily="2" charset="-122"/>
            </a:endParaRPr>
          </a:p>
          <a:p>
            <a:pPr algn="just">
              <a:lnSpc>
                <a:spcPct val="150000"/>
              </a:lnSpc>
              <a:spcBef>
                <a:spcPct val="0"/>
              </a:spcBef>
              <a:buClrTx/>
              <a:buSzTx/>
              <a:buFontTx/>
              <a:buNone/>
            </a:pPr>
            <a:r>
              <a:rPr lang="en-US" altLang="zh-CN" sz="2400" dirty="0">
                <a:solidFill>
                  <a:schemeClr val="tx1"/>
                </a:solidFill>
                <a:latin typeface="方正姚体" pitchFamily="2" charset="-122"/>
                <a:ea typeface="方正姚体" pitchFamily="2" charset="-122"/>
              </a:rPr>
              <a:t>3. </a:t>
            </a:r>
            <a:r>
              <a:rPr lang="zh-CN" sz="2400" dirty="0">
                <a:solidFill>
                  <a:schemeClr val="tx1"/>
                </a:solidFill>
                <a:latin typeface="方正姚体" pitchFamily="2" charset="-122"/>
                <a:ea typeface="方正姚体" pitchFamily="2" charset="-122"/>
              </a:rPr>
              <a:t>确定</a:t>
            </a:r>
            <a:r>
              <a:rPr lang="en-US" sz="2400" dirty="0">
                <a:solidFill>
                  <a:schemeClr val="tx1"/>
                </a:solidFill>
                <a:latin typeface="方正姚体" pitchFamily="2" charset="-122"/>
                <a:ea typeface="方正姚体" pitchFamily="2" charset="-122"/>
              </a:rPr>
              <a:t>-</a:t>
            </a:r>
            <a:r>
              <a:rPr lang="zh-CN" sz="2400" dirty="0">
                <a:solidFill>
                  <a:schemeClr val="tx1"/>
                </a:solidFill>
                <a:latin typeface="方正姚体" pitchFamily="2" charset="-122"/>
                <a:ea typeface="方正姚体" pitchFamily="2" charset="-122"/>
              </a:rPr>
              <a:t>不确切性信息</a:t>
            </a:r>
            <a:endParaRPr lang="en-US" altLang="zh-CN" sz="2400" dirty="0">
              <a:solidFill>
                <a:schemeClr val="tx1"/>
              </a:solidFill>
              <a:latin typeface="方正姚体" pitchFamily="2" charset="-122"/>
              <a:ea typeface="方正姚体" pitchFamily="2" charset="-122"/>
            </a:endParaRPr>
          </a:p>
          <a:p>
            <a:pPr algn="just">
              <a:lnSpc>
                <a:spcPct val="150000"/>
              </a:lnSpc>
              <a:spcBef>
                <a:spcPct val="0"/>
              </a:spcBef>
              <a:buClrTx/>
              <a:buSzTx/>
              <a:buFontTx/>
              <a:buNone/>
            </a:pPr>
            <a:r>
              <a:rPr lang="zh-CN" altLang="en-US" sz="2000" dirty="0"/>
              <a:t>现在</a:t>
            </a:r>
            <a:r>
              <a:rPr lang="zh-CN" altLang="en-US" sz="2000" b="1" dirty="0"/>
              <a:t>在下大雨（</a:t>
            </a:r>
            <a:r>
              <a:rPr lang="zh-CN" altLang="en-US" sz="2000" b="1" dirty="0">
                <a:solidFill>
                  <a:srgbClr val="FF0000"/>
                </a:solidFill>
              </a:rPr>
              <a:t>下雨是一定的，但“大”是模糊的</a:t>
            </a:r>
            <a:r>
              <a:rPr lang="zh-CN" altLang="en-US" sz="2000" b="1" dirty="0"/>
              <a:t>）</a:t>
            </a:r>
            <a:endParaRPr lang="en-US" altLang="zh-CN" sz="1600" dirty="0">
              <a:solidFill>
                <a:schemeClr val="tx1"/>
              </a:solidFill>
              <a:latin typeface="方正姚体" pitchFamily="2" charset="-122"/>
              <a:ea typeface="方正姚体" pitchFamily="2" charset="-122"/>
            </a:endParaRPr>
          </a:p>
          <a:p>
            <a:pPr algn="just">
              <a:lnSpc>
                <a:spcPct val="150000"/>
              </a:lnSpc>
              <a:spcBef>
                <a:spcPct val="0"/>
              </a:spcBef>
              <a:buClrTx/>
              <a:buSzTx/>
              <a:buFontTx/>
              <a:buNone/>
            </a:pPr>
            <a:r>
              <a:rPr lang="en-US" altLang="zh-CN" sz="2400" dirty="0">
                <a:solidFill>
                  <a:schemeClr val="tx1"/>
                </a:solidFill>
                <a:latin typeface="方正姚体" pitchFamily="2" charset="-122"/>
                <a:ea typeface="方正姚体" pitchFamily="2" charset="-122"/>
              </a:rPr>
              <a:t>4. </a:t>
            </a:r>
            <a:r>
              <a:rPr lang="zh-CN" sz="2400" dirty="0">
                <a:solidFill>
                  <a:schemeClr val="tx1"/>
                </a:solidFill>
                <a:latin typeface="方正姚体" pitchFamily="2" charset="-122"/>
                <a:ea typeface="方正姚体" pitchFamily="2" charset="-122"/>
              </a:rPr>
              <a:t>不确定</a:t>
            </a:r>
            <a:r>
              <a:rPr lang="en-US" sz="2400" dirty="0">
                <a:solidFill>
                  <a:schemeClr val="tx1"/>
                </a:solidFill>
                <a:latin typeface="方正姚体" pitchFamily="2" charset="-122"/>
                <a:ea typeface="方正姚体" pitchFamily="2" charset="-122"/>
              </a:rPr>
              <a:t>-</a:t>
            </a:r>
            <a:r>
              <a:rPr lang="zh-CN" sz="2400" dirty="0">
                <a:solidFill>
                  <a:schemeClr val="tx1"/>
                </a:solidFill>
                <a:latin typeface="方正姚体" pitchFamily="2" charset="-122"/>
                <a:ea typeface="方正姚体" pitchFamily="2" charset="-122"/>
              </a:rPr>
              <a:t>不确切性信息</a:t>
            </a:r>
            <a:endParaRPr lang="en-US" altLang="zh-CN" sz="2400" dirty="0">
              <a:solidFill>
                <a:schemeClr val="tx1"/>
              </a:solidFill>
              <a:latin typeface="方正姚体" pitchFamily="2" charset="-122"/>
              <a:ea typeface="方正姚体" pitchFamily="2" charset="-122"/>
            </a:endParaRPr>
          </a:p>
          <a:p>
            <a:pPr algn="just">
              <a:lnSpc>
                <a:spcPct val="150000"/>
              </a:lnSpc>
              <a:spcBef>
                <a:spcPct val="0"/>
              </a:spcBef>
              <a:buClrTx/>
              <a:buSzTx/>
              <a:buFontTx/>
              <a:buNone/>
            </a:pPr>
            <a:r>
              <a:rPr lang="zh-CN" altLang="en-US" sz="2000" dirty="0"/>
              <a:t>明天</a:t>
            </a:r>
            <a:r>
              <a:rPr lang="zh-CN" altLang="en-US" sz="2000" b="1" dirty="0"/>
              <a:t>可能下大雨（</a:t>
            </a:r>
            <a:r>
              <a:rPr lang="zh-CN" altLang="en-US" sz="2000" b="1" dirty="0">
                <a:solidFill>
                  <a:srgbClr val="FF0000"/>
                </a:solidFill>
              </a:rPr>
              <a:t>是否下雨不一定，“大”是模糊的</a:t>
            </a:r>
            <a:r>
              <a:rPr lang="zh-CN" altLang="en-US" sz="2000" b="1" dirty="0"/>
              <a:t>）</a:t>
            </a:r>
            <a:endParaRPr lang="en-US" altLang="zh-CN" sz="1600" dirty="0">
              <a:solidFill>
                <a:schemeClr val="tx1"/>
              </a:solidFill>
              <a:latin typeface="方正姚体" pitchFamily="2" charset="-122"/>
              <a:ea typeface="方正姚体" pitchFamily="2" charset="-122"/>
            </a:endParaRPr>
          </a:p>
          <a:p>
            <a:pPr algn="just">
              <a:lnSpc>
                <a:spcPct val="150000"/>
              </a:lnSpc>
              <a:spcBef>
                <a:spcPct val="0"/>
              </a:spcBef>
              <a:buClrTx/>
              <a:buSzTx/>
              <a:buFontTx/>
              <a:buNone/>
            </a:pPr>
            <a:endParaRPr lang="en-US" altLang="zh-CN" sz="2400" dirty="0">
              <a:solidFill>
                <a:schemeClr val="tx1"/>
              </a:solidFill>
              <a:latin typeface="方正姚体" pitchFamily="2" charset="-122"/>
              <a:ea typeface="方正姚体" pitchFamily="2" charset="-122"/>
            </a:endParaRPr>
          </a:p>
        </p:txBody>
      </p:sp>
    </p:spTree>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09923" name="Rectangle 3"/>
          <p:cNvSpPr>
            <a:spLocks noGrp="1" noRot="1" noChangeArrowheads="1"/>
          </p:cNvSpPr>
          <p:nvPr>
            <p:ph type="body" idx="1"/>
          </p:nvPr>
        </p:nvSpPr>
        <p:spPr>
          <a:xfrm>
            <a:off x="457200" y="549275"/>
            <a:ext cx="8229600" cy="5576888"/>
          </a:xfrm>
        </p:spPr>
        <p:txBody>
          <a:bodyPr/>
          <a:lstStyle/>
          <a:p>
            <a:pPr>
              <a:lnSpc>
                <a:spcPct val="120000"/>
              </a:lnSpc>
              <a:spcBef>
                <a:spcPct val="50000"/>
              </a:spcBef>
              <a:buNone/>
            </a:pPr>
            <a:r>
              <a:rPr kumimoji="1" lang="en-US" altLang="zh-CN" sz="2800" dirty="0">
                <a:latin typeface="仿宋_GB2312" pitchFamily="49" charset="-122"/>
                <a:ea typeface="仿宋_GB2312" pitchFamily="49" charset="-122"/>
              </a:rPr>
              <a:t>          </a:t>
            </a:r>
            <a:r>
              <a:rPr lang="en-US" altLang="zh-CN" sz="2800" dirty="0">
                <a:latin typeface="黑体" pitchFamily="49" charset="-122"/>
                <a:ea typeface="黑体" pitchFamily="49" charset="-122"/>
              </a:rPr>
              <a:t>8.</a:t>
            </a:r>
            <a:r>
              <a:rPr lang="en-US" sz="2800" dirty="0">
                <a:solidFill>
                  <a:schemeClr val="tx1"/>
                </a:solidFill>
                <a:latin typeface="黑体" pitchFamily="49" charset="-122"/>
                <a:ea typeface="黑体" pitchFamily="49" charset="-122"/>
              </a:rPr>
              <a:t>2 </a:t>
            </a:r>
            <a:r>
              <a:rPr lang="zh-CN" sz="2800" dirty="0">
                <a:solidFill>
                  <a:schemeClr val="tx1"/>
                </a:solidFill>
                <a:latin typeface="黑体" pitchFamily="49" charset="-122"/>
                <a:ea typeface="黑体" pitchFamily="49" charset="-122"/>
              </a:rPr>
              <a:t>不确定性知识的表示及推理</a:t>
            </a:r>
          </a:p>
          <a:p>
            <a:pPr>
              <a:lnSpc>
                <a:spcPct val="120000"/>
              </a:lnSpc>
              <a:spcBef>
                <a:spcPts val="0"/>
              </a:spcBef>
              <a:buNone/>
            </a:pPr>
            <a:r>
              <a:rPr kumimoji="1" lang="en-US" altLang="zh-CN" sz="2800" dirty="0">
                <a:latin typeface="仿宋_GB2312" pitchFamily="49" charset="-122"/>
                <a:ea typeface="仿宋_GB2312" pitchFamily="49" charset="-122"/>
              </a:rPr>
              <a:t>  </a:t>
            </a:r>
            <a:r>
              <a:rPr lang="en-US" altLang="zh-CN" sz="2400" dirty="0">
                <a:latin typeface="黑体" pitchFamily="49" charset="-122"/>
                <a:ea typeface="黑体" pitchFamily="49" charset="-122"/>
              </a:rPr>
              <a:t>8.</a:t>
            </a:r>
            <a:r>
              <a:rPr lang="en-US" sz="2400" dirty="0">
                <a:solidFill>
                  <a:schemeClr val="tx1"/>
                </a:solidFill>
                <a:latin typeface="黑体" pitchFamily="49" charset="-122"/>
                <a:ea typeface="黑体" pitchFamily="49" charset="-122"/>
              </a:rPr>
              <a:t>2.1 </a:t>
            </a:r>
            <a:r>
              <a:rPr lang="zh-CN" sz="2400" dirty="0">
                <a:solidFill>
                  <a:schemeClr val="tx1"/>
                </a:solidFill>
                <a:latin typeface="黑体" pitchFamily="49" charset="-122"/>
                <a:ea typeface="黑体" pitchFamily="49" charset="-122"/>
              </a:rPr>
              <a:t>不确定性知识的表示</a:t>
            </a:r>
          </a:p>
          <a:p>
            <a:pPr>
              <a:lnSpc>
                <a:spcPct val="130000"/>
              </a:lnSpc>
              <a:spcBef>
                <a:spcPts val="0"/>
              </a:spcBef>
              <a:buNone/>
            </a:pPr>
            <a:r>
              <a:rPr lang="en-US" altLang="zh-CN" sz="2400" dirty="0">
                <a:solidFill>
                  <a:schemeClr val="tx1"/>
                </a:solidFill>
                <a:latin typeface="Times New Roman" pitchFamily="18" charset="0"/>
                <a:cs typeface="Times New Roman" pitchFamily="18" charset="0"/>
              </a:rPr>
              <a:t>         </a:t>
            </a:r>
            <a:r>
              <a:rPr lang="zh-CN" sz="2400" dirty="0">
                <a:solidFill>
                  <a:schemeClr val="tx1"/>
                </a:solidFill>
                <a:latin typeface="Times New Roman" pitchFamily="18" charset="0"/>
                <a:cs typeface="Times New Roman" pitchFamily="18" charset="0"/>
              </a:rPr>
              <a:t>设</a:t>
            </a:r>
            <a:r>
              <a:rPr lang="en-US" sz="2400" i="1" dirty="0">
                <a:solidFill>
                  <a:schemeClr val="tx1"/>
                </a:solidFill>
                <a:latin typeface="Times New Roman" pitchFamily="18" charset="0"/>
                <a:cs typeface="Times New Roman" pitchFamily="18" charset="0"/>
              </a:rPr>
              <a:t>c</a:t>
            </a:r>
            <a:r>
              <a:rPr lang="en-US" sz="2400" dirty="0">
                <a:solidFill>
                  <a:schemeClr val="tx1"/>
                </a:solidFill>
                <a:latin typeface="Times New Roman" pitchFamily="18" charset="0"/>
                <a:cs typeface="Times New Roman" pitchFamily="18" charset="0"/>
              </a:rPr>
              <a:t>(</a:t>
            </a:r>
            <a:r>
              <a:rPr lang="en-US" sz="2400" i="1" dirty="0">
                <a:solidFill>
                  <a:schemeClr val="tx1"/>
                </a:solidFill>
                <a:latin typeface="Times New Roman" pitchFamily="18" charset="0"/>
                <a:cs typeface="Times New Roman" pitchFamily="18" charset="0"/>
              </a:rPr>
              <a:t>S</a:t>
            </a:r>
            <a:r>
              <a:rPr lang="en-US" sz="2400" dirty="0">
                <a:solidFill>
                  <a:schemeClr val="tx1"/>
                </a:solidFill>
                <a:latin typeface="Times New Roman" pitchFamily="18" charset="0"/>
                <a:cs typeface="Times New Roman" pitchFamily="18" charset="0"/>
              </a:rPr>
              <a:t>)</a:t>
            </a:r>
            <a:r>
              <a:rPr lang="zh-CN" sz="2400" dirty="0">
                <a:solidFill>
                  <a:schemeClr val="tx1"/>
                </a:solidFill>
                <a:latin typeface="Times New Roman" pitchFamily="18" charset="0"/>
                <a:cs typeface="Times New Roman" pitchFamily="18" charset="0"/>
              </a:rPr>
              <a:t>为命题</a:t>
            </a:r>
            <a:r>
              <a:rPr lang="en-US" sz="2400" i="1" dirty="0">
                <a:solidFill>
                  <a:schemeClr val="tx1"/>
                </a:solidFill>
                <a:latin typeface="Times New Roman" pitchFamily="18" charset="0"/>
                <a:cs typeface="Times New Roman" pitchFamily="18" charset="0"/>
              </a:rPr>
              <a:t>S</a:t>
            </a:r>
            <a:r>
              <a:rPr lang="zh-CN" sz="2400" dirty="0">
                <a:solidFill>
                  <a:schemeClr val="tx1"/>
                </a:solidFill>
                <a:latin typeface="Times New Roman" pitchFamily="18" charset="0"/>
                <a:cs typeface="Times New Roman" pitchFamily="18" charset="0"/>
              </a:rPr>
              <a:t>的信度。二元组</a:t>
            </a:r>
            <a:r>
              <a:rPr lang="en-US" sz="2400" dirty="0">
                <a:solidFill>
                  <a:schemeClr val="tx1"/>
                </a:solidFill>
                <a:latin typeface="Times New Roman" pitchFamily="18" charset="0"/>
                <a:cs typeface="Times New Roman" pitchFamily="18" charset="0"/>
              </a:rPr>
              <a:t>(</a:t>
            </a:r>
            <a:r>
              <a:rPr lang="en-US" sz="2400" i="1" dirty="0">
                <a:solidFill>
                  <a:schemeClr val="tx1"/>
                </a:solidFill>
                <a:latin typeface="Times New Roman" pitchFamily="18" charset="0"/>
                <a:cs typeface="Times New Roman" pitchFamily="18" charset="0"/>
              </a:rPr>
              <a:t>S</a:t>
            </a:r>
            <a:r>
              <a:rPr lang="en-US" sz="2400" dirty="0">
                <a:solidFill>
                  <a:schemeClr val="tx1"/>
                </a:solidFill>
                <a:latin typeface="Times New Roman" pitchFamily="18" charset="0"/>
                <a:cs typeface="Times New Roman" pitchFamily="18" charset="0"/>
              </a:rPr>
              <a:t>, </a:t>
            </a:r>
            <a:r>
              <a:rPr lang="en-US" sz="2400" i="1" dirty="0">
                <a:solidFill>
                  <a:schemeClr val="tx1"/>
                </a:solidFill>
                <a:latin typeface="Times New Roman" pitchFamily="18" charset="0"/>
                <a:cs typeface="Times New Roman" pitchFamily="18" charset="0"/>
              </a:rPr>
              <a:t>c</a:t>
            </a:r>
            <a:r>
              <a:rPr lang="en-US" sz="2400" dirty="0">
                <a:solidFill>
                  <a:schemeClr val="tx1"/>
                </a:solidFill>
                <a:latin typeface="Times New Roman" pitchFamily="18" charset="0"/>
                <a:cs typeface="Times New Roman" pitchFamily="18" charset="0"/>
              </a:rPr>
              <a:t>(</a:t>
            </a:r>
            <a:r>
              <a:rPr lang="en-US" sz="2400" i="1" dirty="0">
                <a:solidFill>
                  <a:schemeClr val="tx1"/>
                </a:solidFill>
                <a:latin typeface="Times New Roman" pitchFamily="18" charset="0"/>
                <a:cs typeface="Times New Roman" pitchFamily="18" charset="0"/>
              </a:rPr>
              <a:t>S</a:t>
            </a:r>
            <a:r>
              <a:rPr lang="en-US" sz="2400" dirty="0">
                <a:solidFill>
                  <a:schemeClr val="tx1"/>
                </a:solidFill>
                <a:latin typeface="Times New Roman" pitchFamily="18" charset="0"/>
                <a:cs typeface="Times New Roman" pitchFamily="18" charset="0"/>
              </a:rPr>
              <a:t>))</a:t>
            </a:r>
            <a:r>
              <a:rPr lang="zh-CN" sz="2400" dirty="0">
                <a:solidFill>
                  <a:schemeClr val="tx1"/>
                </a:solidFill>
                <a:latin typeface="Times New Roman" pitchFamily="18" charset="0"/>
                <a:cs typeface="Times New Roman" pitchFamily="18" charset="0"/>
              </a:rPr>
              <a:t>就可作为不确定性命题的一种表示形式。进而</a:t>
            </a:r>
            <a:r>
              <a:rPr lang="en-US" altLang="zh-CN" sz="2400" dirty="0">
                <a:solidFill>
                  <a:schemeClr val="tx1"/>
                </a:solidFill>
                <a:latin typeface="Times New Roman" pitchFamily="18" charset="0"/>
                <a:cs typeface="Times New Roman" pitchFamily="18" charset="0"/>
              </a:rPr>
              <a:t> </a:t>
            </a:r>
            <a:r>
              <a:rPr lang="zh-CN" sz="2400" dirty="0">
                <a:solidFill>
                  <a:schemeClr val="tx1"/>
                </a:solidFill>
                <a:latin typeface="Times New Roman" pitchFamily="18" charset="0"/>
                <a:cs typeface="Times New Roman" pitchFamily="18" charset="0"/>
              </a:rPr>
              <a:t>将不确定性产生式规则</a:t>
            </a:r>
            <a:r>
              <a:rPr lang="en-US" sz="2400" i="1" dirty="0">
                <a:solidFill>
                  <a:schemeClr val="tx1"/>
                </a:solidFill>
                <a:latin typeface="Times New Roman" pitchFamily="18" charset="0"/>
                <a:cs typeface="Times New Roman" pitchFamily="18" charset="0"/>
              </a:rPr>
              <a:t>A</a:t>
            </a:r>
            <a:r>
              <a:rPr lang="en-US" sz="2400" dirty="0">
                <a:solidFill>
                  <a:schemeClr val="tx1"/>
                </a:solidFill>
                <a:latin typeface="Times New Roman" pitchFamily="18" charset="0"/>
                <a:cs typeface="Times New Roman" pitchFamily="18" charset="0"/>
              </a:rPr>
              <a:t>→</a:t>
            </a:r>
            <a:r>
              <a:rPr lang="en-US" sz="2400" i="1" dirty="0">
                <a:solidFill>
                  <a:schemeClr val="tx1"/>
                </a:solidFill>
                <a:latin typeface="Times New Roman" pitchFamily="18" charset="0"/>
                <a:cs typeface="Times New Roman" pitchFamily="18" charset="0"/>
              </a:rPr>
              <a:t>B</a:t>
            </a:r>
            <a:r>
              <a:rPr lang="zh-CN" sz="2400" dirty="0">
                <a:solidFill>
                  <a:schemeClr val="tx1"/>
                </a:solidFill>
                <a:latin typeface="Times New Roman" pitchFamily="18" charset="0"/>
                <a:cs typeface="Times New Roman" pitchFamily="18" charset="0"/>
              </a:rPr>
              <a:t>表示为</a:t>
            </a:r>
          </a:p>
          <a:p>
            <a:pPr>
              <a:spcBef>
                <a:spcPts val="0"/>
              </a:spcBef>
              <a:buNone/>
            </a:pPr>
            <a:r>
              <a:rPr lang="en-US" sz="2400" dirty="0">
                <a:solidFill>
                  <a:schemeClr val="tx1"/>
                </a:solidFill>
                <a:latin typeface="Times New Roman" pitchFamily="18" charset="0"/>
                <a:cs typeface="Times New Roman" pitchFamily="18" charset="0"/>
              </a:rPr>
              <a:t>                               (</a:t>
            </a:r>
            <a:r>
              <a:rPr lang="en-US" sz="2400" i="1" dirty="0">
                <a:solidFill>
                  <a:schemeClr val="tx1"/>
                </a:solidFill>
                <a:latin typeface="Times New Roman" pitchFamily="18" charset="0"/>
                <a:cs typeface="Times New Roman" pitchFamily="18" charset="0"/>
              </a:rPr>
              <a:t>A</a:t>
            </a:r>
            <a:r>
              <a:rPr lang="en-US" sz="2400" dirty="0">
                <a:solidFill>
                  <a:schemeClr val="tx1"/>
                </a:solidFill>
                <a:latin typeface="Times New Roman" pitchFamily="18" charset="0"/>
                <a:cs typeface="Times New Roman" pitchFamily="18" charset="0"/>
              </a:rPr>
              <a:t>→</a:t>
            </a:r>
            <a:r>
              <a:rPr lang="en-US" sz="2400" i="1" dirty="0">
                <a:solidFill>
                  <a:schemeClr val="tx1"/>
                </a:solidFill>
                <a:latin typeface="Times New Roman" pitchFamily="18" charset="0"/>
                <a:cs typeface="Times New Roman" pitchFamily="18" charset="0"/>
              </a:rPr>
              <a:t>B</a:t>
            </a:r>
            <a:r>
              <a:rPr lang="zh-CN" sz="2400" dirty="0">
                <a:solidFill>
                  <a:schemeClr val="tx1"/>
                </a:solidFill>
                <a:latin typeface="Times New Roman" pitchFamily="18" charset="0"/>
                <a:cs typeface="Times New Roman" pitchFamily="18" charset="0"/>
              </a:rPr>
              <a:t>，</a:t>
            </a:r>
            <a:r>
              <a:rPr lang="en-US" sz="2400" i="1" dirty="0">
                <a:solidFill>
                  <a:schemeClr val="tx1"/>
                </a:solidFill>
                <a:latin typeface="Times New Roman" pitchFamily="18" charset="0"/>
                <a:cs typeface="Times New Roman" pitchFamily="18" charset="0"/>
              </a:rPr>
              <a:t>c</a:t>
            </a:r>
            <a:r>
              <a:rPr lang="en-US" sz="2400" dirty="0">
                <a:solidFill>
                  <a:schemeClr val="tx1"/>
                </a:solidFill>
                <a:latin typeface="Times New Roman" pitchFamily="18" charset="0"/>
                <a:cs typeface="Times New Roman" pitchFamily="18" charset="0"/>
              </a:rPr>
              <a:t>(</a:t>
            </a:r>
            <a:r>
              <a:rPr lang="en-US" sz="2400" i="1" dirty="0">
                <a:solidFill>
                  <a:schemeClr val="tx1"/>
                </a:solidFill>
                <a:latin typeface="Times New Roman" pitchFamily="18" charset="0"/>
                <a:cs typeface="Times New Roman" pitchFamily="18" charset="0"/>
              </a:rPr>
              <a:t>A</a:t>
            </a:r>
            <a:r>
              <a:rPr lang="en-US" sz="2400" dirty="0">
                <a:solidFill>
                  <a:schemeClr val="tx1"/>
                </a:solidFill>
                <a:latin typeface="Times New Roman" pitchFamily="18" charset="0"/>
                <a:cs typeface="Times New Roman" pitchFamily="18" charset="0"/>
              </a:rPr>
              <a:t>→</a:t>
            </a:r>
            <a:r>
              <a:rPr lang="en-US" sz="2400" i="1" dirty="0">
                <a:solidFill>
                  <a:schemeClr val="tx1"/>
                </a:solidFill>
                <a:latin typeface="Times New Roman" pitchFamily="18" charset="0"/>
                <a:cs typeface="Times New Roman" pitchFamily="18" charset="0"/>
              </a:rPr>
              <a:t>B</a:t>
            </a:r>
            <a:r>
              <a:rPr lang="en-US" sz="2400" dirty="0">
                <a:solidFill>
                  <a:schemeClr val="tx1"/>
                </a:solidFill>
                <a:latin typeface="Times New Roman" pitchFamily="18" charset="0"/>
                <a:cs typeface="Times New Roman" pitchFamily="18" charset="0"/>
              </a:rPr>
              <a:t>))</a:t>
            </a:r>
            <a:endParaRPr lang="zh-CN" sz="2400" dirty="0">
              <a:solidFill>
                <a:schemeClr val="tx1"/>
              </a:solidFill>
              <a:latin typeface="Times New Roman" pitchFamily="18" charset="0"/>
              <a:cs typeface="Times New Roman" pitchFamily="18" charset="0"/>
            </a:endParaRPr>
          </a:p>
          <a:p>
            <a:pPr>
              <a:spcBef>
                <a:spcPts val="0"/>
              </a:spcBef>
              <a:buNone/>
            </a:pPr>
            <a:r>
              <a:rPr lang="en-US" altLang="zh-CN" sz="2400" dirty="0">
                <a:solidFill>
                  <a:schemeClr val="tx1"/>
                </a:solidFill>
                <a:latin typeface="Times New Roman" pitchFamily="18" charset="0"/>
                <a:cs typeface="Times New Roman" pitchFamily="18" charset="0"/>
              </a:rPr>
              <a:t>    </a:t>
            </a:r>
            <a:r>
              <a:rPr lang="zh-CN" sz="2400" dirty="0">
                <a:solidFill>
                  <a:schemeClr val="tx1"/>
                </a:solidFill>
                <a:latin typeface="Times New Roman" pitchFamily="18" charset="0"/>
                <a:cs typeface="Times New Roman" pitchFamily="18" charset="0"/>
              </a:rPr>
              <a:t>或</a:t>
            </a:r>
          </a:p>
          <a:p>
            <a:pPr>
              <a:spcBef>
                <a:spcPts val="0"/>
              </a:spcBef>
              <a:buNone/>
            </a:pPr>
            <a:r>
              <a:rPr lang="en-US" sz="2400" dirty="0">
                <a:solidFill>
                  <a:schemeClr val="tx1"/>
                </a:solidFill>
                <a:latin typeface="Times New Roman" pitchFamily="18" charset="0"/>
                <a:cs typeface="Times New Roman" pitchFamily="18" charset="0"/>
              </a:rPr>
              <a:t>                                </a:t>
            </a:r>
            <a:r>
              <a:rPr lang="en-US" sz="2400" i="1" dirty="0">
                <a:solidFill>
                  <a:schemeClr val="tx1"/>
                </a:solidFill>
                <a:latin typeface="Times New Roman" pitchFamily="18" charset="0"/>
                <a:cs typeface="Times New Roman" pitchFamily="18" charset="0"/>
              </a:rPr>
              <a:t>A</a:t>
            </a:r>
            <a:r>
              <a:rPr lang="en-US" sz="2400" dirty="0">
                <a:solidFill>
                  <a:schemeClr val="tx1"/>
                </a:solidFill>
                <a:latin typeface="Times New Roman" pitchFamily="18" charset="0"/>
                <a:cs typeface="Times New Roman" pitchFamily="18" charset="0"/>
              </a:rPr>
              <a:t>→(</a:t>
            </a:r>
            <a:r>
              <a:rPr lang="en-US" sz="2400" i="1" dirty="0">
                <a:solidFill>
                  <a:schemeClr val="tx1"/>
                </a:solidFill>
                <a:latin typeface="Times New Roman" pitchFamily="18" charset="0"/>
                <a:cs typeface="Times New Roman" pitchFamily="18" charset="0"/>
              </a:rPr>
              <a:t>B</a:t>
            </a:r>
            <a:r>
              <a:rPr lang="zh-CN" sz="2400" dirty="0">
                <a:solidFill>
                  <a:schemeClr val="tx1"/>
                </a:solidFill>
                <a:latin typeface="Times New Roman" pitchFamily="18" charset="0"/>
                <a:cs typeface="Times New Roman" pitchFamily="18" charset="0"/>
              </a:rPr>
              <a:t>，</a:t>
            </a:r>
            <a:r>
              <a:rPr lang="en-US" sz="2400" i="1" dirty="0">
                <a:solidFill>
                  <a:schemeClr val="tx1"/>
                </a:solidFill>
                <a:latin typeface="Times New Roman" pitchFamily="18" charset="0"/>
                <a:cs typeface="Times New Roman" pitchFamily="18" charset="0"/>
              </a:rPr>
              <a:t>c</a:t>
            </a:r>
            <a:r>
              <a:rPr lang="en-US" sz="2400" dirty="0">
                <a:solidFill>
                  <a:schemeClr val="tx1"/>
                </a:solidFill>
                <a:latin typeface="Times New Roman" pitchFamily="18" charset="0"/>
                <a:cs typeface="Times New Roman" pitchFamily="18" charset="0"/>
              </a:rPr>
              <a:t>(</a:t>
            </a:r>
            <a:r>
              <a:rPr lang="en-US" sz="2400" i="1" dirty="0">
                <a:solidFill>
                  <a:schemeClr val="tx1"/>
                </a:solidFill>
                <a:latin typeface="Times New Roman" pitchFamily="18" charset="0"/>
                <a:cs typeface="Times New Roman" pitchFamily="18" charset="0"/>
              </a:rPr>
              <a:t>B</a:t>
            </a:r>
            <a:r>
              <a:rPr lang="en-US" sz="2400" dirty="0">
                <a:solidFill>
                  <a:schemeClr val="tx1"/>
                </a:solidFill>
                <a:latin typeface="Times New Roman" pitchFamily="18" charset="0"/>
                <a:cs typeface="Times New Roman" pitchFamily="18" charset="0"/>
              </a:rPr>
              <a:t>|</a:t>
            </a:r>
            <a:r>
              <a:rPr lang="en-US" sz="2400" i="1" dirty="0">
                <a:solidFill>
                  <a:schemeClr val="tx1"/>
                </a:solidFill>
                <a:latin typeface="Times New Roman" pitchFamily="18" charset="0"/>
                <a:cs typeface="Times New Roman" pitchFamily="18" charset="0"/>
              </a:rPr>
              <a:t>A</a:t>
            </a:r>
            <a:r>
              <a:rPr lang="en-US" sz="2400" dirty="0">
                <a:solidFill>
                  <a:schemeClr val="tx1"/>
                </a:solidFill>
                <a:latin typeface="Times New Roman" pitchFamily="18" charset="0"/>
                <a:cs typeface="Times New Roman" pitchFamily="18" charset="0"/>
              </a:rPr>
              <a:t>))</a:t>
            </a:r>
            <a:endParaRPr lang="zh-CN" sz="2400" dirty="0">
              <a:solidFill>
                <a:schemeClr val="tx1"/>
              </a:solidFill>
              <a:latin typeface="Times New Roman" pitchFamily="18" charset="0"/>
              <a:cs typeface="Times New Roman" pitchFamily="18" charset="0"/>
            </a:endParaRPr>
          </a:p>
          <a:p>
            <a:pPr>
              <a:lnSpc>
                <a:spcPct val="130000"/>
              </a:lnSpc>
              <a:spcBef>
                <a:spcPts val="0"/>
              </a:spcBef>
              <a:buNone/>
            </a:pPr>
            <a:r>
              <a:rPr lang="en-US" altLang="zh-CN" sz="2400" dirty="0">
                <a:solidFill>
                  <a:schemeClr val="tx1"/>
                </a:solidFill>
                <a:latin typeface="Times New Roman" pitchFamily="18" charset="0"/>
                <a:cs typeface="Times New Roman" pitchFamily="18" charset="0"/>
              </a:rPr>
              <a:t>    </a:t>
            </a:r>
            <a:r>
              <a:rPr lang="zh-CN" sz="2400" dirty="0">
                <a:solidFill>
                  <a:schemeClr val="tx1"/>
                </a:solidFill>
                <a:latin typeface="Times New Roman" pitchFamily="18" charset="0"/>
                <a:cs typeface="Times New Roman" pitchFamily="18" charset="0"/>
              </a:rPr>
              <a:t>其中</a:t>
            </a:r>
            <a:r>
              <a:rPr lang="en-US" sz="2400" i="1" dirty="0">
                <a:solidFill>
                  <a:schemeClr val="tx1"/>
                </a:solidFill>
                <a:latin typeface="Times New Roman" pitchFamily="18" charset="0"/>
                <a:cs typeface="Times New Roman" pitchFamily="18" charset="0"/>
              </a:rPr>
              <a:t>c</a:t>
            </a:r>
            <a:r>
              <a:rPr lang="en-US" sz="2400" dirty="0">
                <a:solidFill>
                  <a:schemeClr val="tx1"/>
                </a:solidFill>
                <a:latin typeface="Times New Roman" pitchFamily="18" charset="0"/>
                <a:cs typeface="Times New Roman" pitchFamily="18" charset="0"/>
              </a:rPr>
              <a:t>(</a:t>
            </a:r>
            <a:r>
              <a:rPr lang="en-US" sz="2400" i="1" dirty="0">
                <a:solidFill>
                  <a:schemeClr val="tx1"/>
                </a:solidFill>
                <a:latin typeface="Times New Roman" pitchFamily="18" charset="0"/>
                <a:cs typeface="Times New Roman" pitchFamily="18" charset="0"/>
              </a:rPr>
              <a:t>B</a:t>
            </a:r>
            <a:r>
              <a:rPr lang="en-US" sz="2400" dirty="0">
                <a:solidFill>
                  <a:schemeClr val="tx1"/>
                </a:solidFill>
                <a:latin typeface="Times New Roman" pitchFamily="18" charset="0"/>
                <a:cs typeface="Times New Roman" pitchFamily="18" charset="0"/>
              </a:rPr>
              <a:t>|</a:t>
            </a:r>
            <a:r>
              <a:rPr lang="en-US" sz="2400" i="1" dirty="0">
                <a:solidFill>
                  <a:schemeClr val="tx1"/>
                </a:solidFill>
                <a:latin typeface="Times New Roman" pitchFamily="18" charset="0"/>
                <a:cs typeface="Times New Roman" pitchFamily="18" charset="0"/>
              </a:rPr>
              <a:t>A</a:t>
            </a:r>
            <a:r>
              <a:rPr lang="en-US" sz="2400" dirty="0">
                <a:solidFill>
                  <a:schemeClr val="tx1"/>
                </a:solidFill>
                <a:latin typeface="Times New Roman" pitchFamily="18" charset="0"/>
                <a:cs typeface="Times New Roman" pitchFamily="18" charset="0"/>
              </a:rPr>
              <a:t>)</a:t>
            </a:r>
            <a:r>
              <a:rPr lang="zh-CN" sz="2400" dirty="0">
                <a:solidFill>
                  <a:schemeClr val="tx1"/>
                </a:solidFill>
                <a:latin typeface="Times New Roman" pitchFamily="18" charset="0"/>
                <a:cs typeface="Times New Roman" pitchFamily="18" charset="0"/>
              </a:rPr>
              <a:t>表示规则的结论</a:t>
            </a:r>
            <a:r>
              <a:rPr lang="en-US" sz="2400" i="1" dirty="0">
                <a:solidFill>
                  <a:schemeClr val="tx1"/>
                </a:solidFill>
                <a:latin typeface="Times New Roman" pitchFamily="18" charset="0"/>
                <a:cs typeface="Times New Roman" pitchFamily="18" charset="0"/>
              </a:rPr>
              <a:t>B</a:t>
            </a:r>
            <a:r>
              <a:rPr lang="zh-CN" sz="2400" dirty="0">
                <a:solidFill>
                  <a:schemeClr val="tx1"/>
                </a:solidFill>
                <a:latin typeface="Times New Roman" pitchFamily="18" charset="0"/>
                <a:cs typeface="Times New Roman" pitchFamily="18" charset="0"/>
              </a:rPr>
              <a:t>在前提</a:t>
            </a:r>
            <a:r>
              <a:rPr lang="en-US" sz="2400" i="1" dirty="0">
                <a:solidFill>
                  <a:schemeClr val="tx1"/>
                </a:solidFill>
                <a:latin typeface="Times New Roman" pitchFamily="18" charset="0"/>
                <a:cs typeface="Times New Roman" pitchFamily="18" charset="0"/>
              </a:rPr>
              <a:t>A</a:t>
            </a:r>
            <a:r>
              <a:rPr lang="zh-CN" sz="2400" dirty="0">
                <a:solidFill>
                  <a:schemeClr val="tx1"/>
                </a:solidFill>
                <a:latin typeface="Times New Roman" pitchFamily="18" charset="0"/>
                <a:cs typeface="Times New Roman" pitchFamily="18" charset="0"/>
              </a:rPr>
              <a:t>为真的情况下为真的信度。例如，</a:t>
            </a:r>
          </a:p>
          <a:p>
            <a:pPr>
              <a:buNone/>
            </a:pPr>
            <a:r>
              <a:rPr lang="en-US" altLang="zh-CN" sz="2400" dirty="0">
                <a:solidFill>
                  <a:schemeClr val="tx1"/>
                </a:solidFill>
                <a:latin typeface="Times New Roman" pitchFamily="18" charset="0"/>
                <a:ea typeface="楷体" pitchFamily="49" charset="-122"/>
                <a:cs typeface="Times New Roman" pitchFamily="18" charset="0"/>
              </a:rPr>
              <a:t>                      </a:t>
            </a:r>
            <a:r>
              <a:rPr lang="zh-CN" sz="2400" dirty="0">
                <a:solidFill>
                  <a:schemeClr val="tx1"/>
                </a:solidFill>
                <a:latin typeface="Times New Roman" pitchFamily="18" charset="0"/>
                <a:ea typeface="楷体" pitchFamily="49" charset="-122"/>
                <a:cs typeface="Times New Roman" pitchFamily="18" charset="0"/>
              </a:rPr>
              <a:t>如果头痛且发烧，则患了感冒</a:t>
            </a:r>
            <a:r>
              <a:rPr lang="en-US" sz="2400" dirty="0">
                <a:solidFill>
                  <a:schemeClr val="tx1"/>
                </a:solidFill>
                <a:latin typeface="Times New Roman" pitchFamily="18" charset="0"/>
                <a:ea typeface="楷体" pitchFamily="49" charset="-122"/>
                <a:cs typeface="Times New Roman" pitchFamily="18" charset="0"/>
              </a:rPr>
              <a:t>(0.8)</a:t>
            </a:r>
            <a:r>
              <a:rPr lang="zh-CN" sz="2400" dirty="0">
                <a:solidFill>
                  <a:schemeClr val="tx1"/>
                </a:solidFill>
                <a:latin typeface="Times New Roman" pitchFamily="18" charset="0"/>
                <a:ea typeface="楷体" pitchFamily="49" charset="-122"/>
                <a:cs typeface="Times New Roman" pitchFamily="18" charset="0"/>
              </a:rPr>
              <a:t>。</a:t>
            </a:r>
            <a:endParaRPr kumimoji="1" lang="en-US" altLang="zh-CN" sz="2400" dirty="0">
              <a:latin typeface="Times New Roman" pitchFamily="18" charset="0"/>
              <a:ea typeface="楷体" pitchFamily="49" charset="-122"/>
              <a:cs typeface="Times New Roman" pitchFamily="18" charset="0"/>
            </a:endParaRPr>
          </a:p>
          <a:p>
            <a:pPr>
              <a:lnSpc>
                <a:spcPct val="120000"/>
              </a:lnSpc>
              <a:spcBef>
                <a:spcPct val="50000"/>
              </a:spcBef>
              <a:buNone/>
            </a:pPr>
            <a:r>
              <a:rPr kumimoji="1" lang="en-US" altLang="zh-CN" sz="2800" dirty="0">
                <a:latin typeface="仿宋_GB2312" pitchFamily="49" charset="-122"/>
                <a:ea typeface="仿宋_GB2312" pitchFamily="49" charset="-122"/>
              </a:rPr>
              <a:t>                     </a:t>
            </a:r>
            <a:r>
              <a:rPr lang="zh-CN" altLang="en-US" sz="2400" dirty="0">
                <a:latin typeface="Times New Roman" pitchFamily="18" charset="0"/>
                <a:ea typeface="楷体" pitchFamily="49" charset="-122"/>
                <a:cs typeface="Times New Roman" pitchFamily="18" charset="0"/>
              </a:rPr>
              <a:t>头痛且发烧</a:t>
            </a:r>
            <a:r>
              <a:rPr lang="en-US" altLang="zh-CN" sz="2400" dirty="0">
                <a:latin typeface="Times New Roman" pitchFamily="18" charset="0"/>
                <a:ea typeface="楷体" pitchFamily="49" charset="-122"/>
                <a:cs typeface="Times New Roman" pitchFamily="18" charset="0"/>
              </a:rPr>
              <a:t>→</a:t>
            </a:r>
            <a:r>
              <a:rPr lang="zh-CN" altLang="en-US" sz="2400" dirty="0">
                <a:latin typeface="Times New Roman" pitchFamily="18" charset="0"/>
                <a:ea typeface="楷体" pitchFamily="49" charset="-122"/>
                <a:cs typeface="Times New Roman" pitchFamily="18" charset="0"/>
              </a:rPr>
              <a:t>（感冒，</a:t>
            </a:r>
            <a:r>
              <a:rPr lang="en-US" altLang="zh-CN" sz="2400" dirty="0">
                <a:latin typeface="Times New Roman" pitchFamily="18" charset="0"/>
                <a:ea typeface="楷体" pitchFamily="49" charset="-122"/>
                <a:cs typeface="Times New Roman" pitchFamily="18" charset="0"/>
              </a:rPr>
              <a:t>0.8</a:t>
            </a:r>
            <a:r>
              <a:rPr lang="zh-CN" altLang="en-US" sz="2400" dirty="0">
                <a:latin typeface="Times New Roman" pitchFamily="18" charset="0"/>
                <a:ea typeface="楷体" pitchFamily="49" charset="-122"/>
                <a:cs typeface="Times New Roman" pitchFamily="18" charset="0"/>
              </a:rPr>
              <a:t>）</a:t>
            </a:r>
          </a:p>
        </p:txBody>
      </p:sp>
      <p:sp>
        <p:nvSpPr>
          <p:cNvPr id="4" name="箭头: 下 3">
            <a:extLst>
              <a:ext uri="{FF2B5EF4-FFF2-40B4-BE49-F238E27FC236}">
                <a16:creationId xmlns:a16="http://schemas.microsoft.com/office/drawing/2014/main" id="{F213C267-E614-22CC-9B84-F26DFB88A4AE}"/>
              </a:ext>
            </a:extLst>
          </p:cNvPr>
          <p:cNvSpPr/>
          <p:nvPr/>
        </p:nvSpPr>
        <p:spPr>
          <a:xfrm>
            <a:off x="4211960" y="5589240"/>
            <a:ext cx="504056" cy="216024"/>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10947" name="Rectangle 3"/>
          <p:cNvSpPr>
            <a:spLocks noGrp="1" noRot="1" noChangeArrowheads="1"/>
          </p:cNvSpPr>
          <p:nvPr>
            <p:ph type="body" idx="1"/>
          </p:nvPr>
        </p:nvSpPr>
        <p:spPr>
          <a:xfrm>
            <a:off x="611189" y="476250"/>
            <a:ext cx="7818464" cy="5832475"/>
          </a:xfrm>
        </p:spPr>
        <p:txBody>
          <a:bodyPr/>
          <a:lstStyle/>
          <a:p>
            <a:pPr>
              <a:lnSpc>
                <a:spcPct val="150000"/>
              </a:lnSpc>
              <a:buNone/>
            </a:pPr>
            <a:r>
              <a:rPr kumimoji="1" lang="en-US" altLang="zh-CN" dirty="0">
                <a:latin typeface="仿宋_GB2312" pitchFamily="49" charset="-122"/>
                <a:ea typeface="仿宋_GB2312" pitchFamily="49" charset="-122"/>
              </a:rPr>
              <a:t>  </a:t>
            </a:r>
            <a:r>
              <a:rPr lang="en-US" altLang="zh-CN" sz="2400" dirty="0">
                <a:latin typeface="黑体" pitchFamily="49" charset="-122"/>
                <a:ea typeface="黑体" pitchFamily="49" charset="-122"/>
              </a:rPr>
              <a:t>8.</a:t>
            </a:r>
            <a:r>
              <a:rPr lang="en-US" sz="2400" dirty="0">
                <a:solidFill>
                  <a:schemeClr val="tx1"/>
                </a:solidFill>
                <a:latin typeface="黑体" pitchFamily="49" charset="-122"/>
                <a:ea typeface="黑体" pitchFamily="49" charset="-122"/>
              </a:rPr>
              <a:t>2.2 </a:t>
            </a:r>
            <a:r>
              <a:rPr lang="zh-CN" sz="2400" dirty="0">
                <a:solidFill>
                  <a:schemeClr val="tx1"/>
                </a:solidFill>
                <a:latin typeface="黑体" pitchFamily="49" charset="-122"/>
                <a:ea typeface="黑体" pitchFamily="49" charset="-122"/>
              </a:rPr>
              <a:t>不确定性推理</a:t>
            </a:r>
          </a:p>
          <a:p>
            <a:pPr>
              <a:lnSpc>
                <a:spcPct val="150000"/>
              </a:lnSpc>
              <a:buNone/>
            </a:pPr>
            <a:r>
              <a:rPr lang="en-US" altLang="zh-CN" sz="2400" dirty="0">
                <a:solidFill>
                  <a:schemeClr val="tx1"/>
                </a:solidFill>
                <a:latin typeface="+mn-lt"/>
                <a:ea typeface="+mn-ea"/>
                <a:cs typeface="+mn-cs"/>
              </a:rPr>
              <a:t>           </a:t>
            </a:r>
            <a:r>
              <a:rPr lang="zh-CN" sz="2400" dirty="0">
                <a:solidFill>
                  <a:schemeClr val="tx1"/>
                </a:solidFill>
                <a:latin typeface="+mn-lt"/>
                <a:ea typeface="+mn-ea"/>
                <a:cs typeface="+mn-cs"/>
              </a:rPr>
              <a:t>不确定性推理的一般模式可简单地表示为：</a:t>
            </a:r>
          </a:p>
          <a:p>
            <a:pPr>
              <a:lnSpc>
                <a:spcPct val="150000"/>
              </a:lnSpc>
              <a:buNone/>
            </a:pPr>
            <a:r>
              <a:rPr lang="en-US" sz="2400" dirty="0">
                <a:solidFill>
                  <a:schemeClr val="tx1"/>
                </a:solidFill>
                <a:latin typeface="+mn-lt"/>
                <a:ea typeface="+mn-ea"/>
                <a:cs typeface="+mn-cs"/>
              </a:rPr>
              <a:t>                 </a:t>
            </a:r>
            <a:r>
              <a:rPr lang="zh-CN" sz="2400" dirty="0">
                <a:solidFill>
                  <a:schemeClr val="tx1"/>
                </a:solidFill>
                <a:latin typeface="黑体" pitchFamily="49" charset="-122"/>
                <a:ea typeface="黑体" pitchFamily="49" charset="-122"/>
              </a:rPr>
              <a:t>不确定性推理＝符号推演＋信度计算</a:t>
            </a:r>
          </a:p>
          <a:p>
            <a:pPr>
              <a:buNone/>
            </a:pPr>
            <a:r>
              <a:rPr lang="en-US" altLang="zh-CN" sz="2400" dirty="0">
                <a:solidFill>
                  <a:schemeClr val="tx1"/>
                </a:solidFill>
                <a:latin typeface="+mn-lt"/>
                <a:ea typeface="+mn-ea"/>
                <a:cs typeface="+mn-cs"/>
              </a:rPr>
              <a:t>    </a:t>
            </a:r>
          </a:p>
          <a:p>
            <a:pPr>
              <a:lnSpc>
                <a:spcPct val="150000"/>
              </a:lnSpc>
              <a:spcBef>
                <a:spcPts val="0"/>
              </a:spcBef>
              <a:buNone/>
            </a:pPr>
            <a:r>
              <a:rPr lang="en-US" altLang="zh-CN" sz="2400" dirty="0"/>
              <a:t>     </a:t>
            </a:r>
            <a:r>
              <a:rPr lang="zh-CN" sz="2400" dirty="0">
                <a:solidFill>
                  <a:schemeClr val="tx1"/>
                </a:solidFill>
                <a:latin typeface="+mn-lt"/>
                <a:ea typeface="+mn-ea"/>
                <a:cs typeface="+mn-cs"/>
              </a:rPr>
              <a:t>不确定性推理要涉及信度、阈值以及信度的各种计算和传播方法的定义和选取。所有这些就构成了所谓的</a:t>
            </a:r>
            <a:r>
              <a:rPr lang="zh-CN" sz="2400" dirty="0">
                <a:solidFill>
                  <a:schemeClr val="tx1"/>
                </a:solidFill>
                <a:latin typeface="黑体" pitchFamily="49" charset="-122"/>
                <a:ea typeface="黑体" pitchFamily="49" charset="-122"/>
              </a:rPr>
              <a:t>不确定性推理模型</a:t>
            </a:r>
            <a:r>
              <a:rPr lang="zh-CN" sz="2400" dirty="0">
                <a:solidFill>
                  <a:schemeClr val="tx1"/>
                </a:solidFill>
                <a:latin typeface="+mn-lt"/>
                <a:ea typeface="+mn-ea"/>
                <a:cs typeface="+mn-cs"/>
              </a:rPr>
              <a:t>。</a:t>
            </a:r>
            <a:endParaRPr lang="en-US" altLang="zh-CN" sz="2400" dirty="0">
              <a:latin typeface="Times New Roman" pitchFamily="18" charset="0"/>
              <a:ea typeface="仿宋_GB2312" pitchFamily="49" charset="-122"/>
            </a:endParaRPr>
          </a:p>
        </p:txBody>
      </p:sp>
    </p:spTree>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333A40EC-2045-617D-3D2E-592DEFC43066}"/>
            </a:ext>
          </a:extLst>
        </p:cNvPr>
        <p:cNvGrpSpPr/>
        <p:nvPr/>
      </p:nvGrpSpPr>
      <p:grpSpPr>
        <a:xfrm>
          <a:off x="0" y="0"/>
          <a:ext cx="0" cy="0"/>
          <a:chOff x="0" y="0"/>
          <a:chExt cx="0" cy="0"/>
        </a:xfrm>
      </p:grpSpPr>
      <p:sp>
        <p:nvSpPr>
          <p:cNvPr id="210947" name="Rectangle 3">
            <a:extLst>
              <a:ext uri="{FF2B5EF4-FFF2-40B4-BE49-F238E27FC236}">
                <a16:creationId xmlns:a16="http://schemas.microsoft.com/office/drawing/2014/main" id="{8BE0F0E4-3142-FC36-111D-17AA2E937B85}"/>
              </a:ext>
            </a:extLst>
          </p:cNvPr>
          <p:cNvSpPr>
            <a:spLocks noGrp="1" noRot="1" noChangeArrowheads="1"/>
          </p:cNvSpPr>
          <p:nvPr>
            <p:ph type="body" idx="1"/>
          </p:nvPr>
        </p:nvSpPr>
        <p:spPr>
          <a:xfrm>
            <a:off x="522288" y="476250"/>
            <a:ext cx="8137525" cy="6024584"/>
          </a:xfrm>
        </p:spPr>
        <p:txBody>
          <a:bodyPr/>
          <a:lstStyle/>
          <a:p>
            <a:pPr algn="just">
              <a:buNone/>
            </a:pPr>
            <a:r>
              <a:rPr lang="en-US" sz="2400" dirty="0">
                <a:latin typeface="黑体" pitchFamily="49" charset="-122"/>
                <a:ea typeface="黑体" pitchFamily="49" charset="-122"/>
              </a:rPr>
              <a:t>  8.2.3 </a:t>
            </a:r>
            <a:r>
              <a:rPr lang="zh-CN" altLang="en-US" sz="2400" dirty="0">
                <a:latin typeface="黑体" pitchFamily="49" charset="-122"/>
                <a:ea typeface="黑体" pitchFamily="49" charset="-122"/>
              </a:rPr>
              <a:t>确定性理论</a:t>
            </a:r>
            <a:endParaRPr lang="zh-CN" altLang="en-US" sz="2800" dirty="0"/>
          </a:p>
        </p:txBody>
      </p:sp>
      <p:sp>
        <p:nvSpPr>
          <p:cNvPr id="2" name="Rectangle 3">
            <a:extLst>
              <a:ext uri="{FF2B5EF4-FFF2-40B4-BE49-F238E27FC236}">
                <a16:creationId xmlns:a16="http://schemas.microsoft.com/office/drawing/2014/main" id="{0462E5DE-85E4-CFCD-2F1A-E13370B6A3D8}"/>
              </a:ext>
            </a:extLst>
          </p:cNvPr>
          <p:cNvSpPr txBox="1">
            <a:spLocks/>
          </p:cNvSpPr>
          <p:nvPr/>
        </p:nvSpPr>
        <p:spPr bwMode="auto">
          <a:xfrm>
            <a:off x="359568" y="1052736"/>
            <a:ext cx="8424863" cy="4322762"/>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marL="342900" indent="-342900" algn="l" rtl="0" fontAlgn="base">
              <a:spcBef>
                <a:spcPct val="20000"/>
              </a:spcBef>
              <a:spcAft>
                <a:spcPct val="0"/>
              </a:spcAft>
              <a:buClr>
                <a:schemeClr val="hlink"/>
              </a:buClr>
              <a:buSzPct val="70000"/>
              <a:buFont typeface="Wingdings" pitchFamily="2" charset="2"/>
              <a:buChar char="v"/>
              <a:defRPr sz="3200">
                <a:solidFill>
                  <a:schemeClr val="tx1"/>
                </a:solidFill>
                <a:latin typeface="+mn-lt"/>
                <a:ea typeface="+mn-ea"/>
                <a:cs typeface="+mn-cs"/>
              </a:defRPr>
            </a:lvl1pPr>
            <a:lvl2pPr marL="742950" indent="-285750" algn="l" rtl="0" fontAlgn="base">
              <a:spcBef>
                <a:spcPct val="20000"/>
              </a:spcBef>
              <a:spcAft>
                <a:spcPct val="0"/>
              </a:spcAft>
              <a:buClr>
                <a:schemeClr val="accent2"/>
              </a:buClr>
              <a:buSzPct val="85000"/>
              <a:buFont typeface="Wingdings" pitchFamily="2" charset="2"/>
              <a:buChar char=""/>
              <a:defRPr sz="2800">
                <a:solidFill>
                  <a:schemeClr val="tx1"/>
                </a:solidFill>
                <a:latin typeface="+mn-lt"/>
                <a:ea typeface="+mn-ea"/>
              </a:defRPr>
            </a:lvl2pPr>
            <a:lvl3pPr marL="1143000" indent="-228600" algn="l" rtl="0" fontAlgn="base">
              <a:spcBef>
                <a:spcPct val="20000"/>
              </a:spcBef>
              <a:spcAft>
                <a:spcPct val="0"/>
              </a:spcAft>
              <a:buClr>
                <a:schemeClr val="hlink"/>
              </a:buClr>
              <a:buSzPct val="80000"/>
              <a:buFont typeface="Wingdings" pitchFamily="2" charset="2"/>
              <a:buChar char="v"/>
              <a:defRPr sz="2400">
                <a:solidFill>
                  <a:schemeClr val="tx1"/>
                </a:solidFill>
                <a:latin typeface="+mn-lt"/>
                <a:ea typeface="+mn-ea"/>
              </a:defRPr>
            </a:lvl3pPr>
            <a:lvl4pPr marL="1600200" indent="-228600" algn="l" rtl="0" fontAlgn="base">
              <a:spcBef>
                <a:spcPct val="20000"/>
              </a:spcBef>
              <a:spcAft>
                <a:spcPct val="0"/>
              </a:spcAft>
              <a:buClr>
                <a:schemeClr val="accent2"/>
              </a:buClr>
              <a:buSzPct val="90000"/>
              <a:buFont typeface="Wingdings" pitchFamily="2" charset="2"/>
              <a:buChar char=""/>
              <a:defRPr sz="2000">
                <a:solidFill>
                  <a:schemeClr val="tx1"/>
                </a:solidFill>
                <a:latin typeface="+mn-lt"/>
                <a:ea typeface="+mn-ea"/>
              </a:defRPr>
            </a:lvl4pPr>
            <a:lvl5pPr marL="2057400" indent="-228600" algn="l" rtl="0" fontAlgn="base">
              <a:spcBef>
                <a:spcPct val="20000"/>
              </a:spcBef>
              <a:spcAft>
                <a:spcPct val="0"/>
              </a:spcAft>
              <a:buClr>
                <a:schemeClr val="hlink"/>
              </a:buClr>
              <a:buSzPct val="85000"/>
              <a:buFont typeface="Wingdings" pitchFamily="2" charset="2"/>
              <a:buChar char="v"/>
              <a:defRPr sz="2000">
                <a:solidFill>
                  <a:schemeClr val="tx1"/>
                </a:solidFill>
                <a:latin typeface="+mn-lt"/>
                <a:ea typeface="+mn-ea"/>
              </a:defRPr>
            </a:lvl5pPr>
            <a:lvl6pPr marL="2514600" indent="-228600" algn="l" rtl="0" fontAlgn="base">
              <a:spcBef>
                <a:spcPct val="20000"/>
              </a:spcBef>
              <a:spcAft>
                <a:spcPct val="0"/>
              </a:spcAft>
              <a:buClr>
                <a:schemeClr val="hlink"/>
              </a:buClr>
              <a:buSzPct val="85000"/>
              <a:buFont typeface="Wingdings" pitchFamily="2" charset="2"/>
              <a:buChar char="v"/>
              <a:defRPr sz="2000">
                <a:solidFill>
                  <a:schemeClr val="tx1"/>
                </a:solidFill>
                <a:latin typeface="+mn-lt"/>
                <a:ea typeface="+mn-ea"/>
              </a:defRPr>
            </a:lvl6pPr>
            <a:lvl7pPr marL="2971800" indent="-228600" algn="l" rtl="0" fontAlgn="base">
              <a:spcBef>
                <a:spcPct val="20000"/>
              </a:spcBef>
              <a:spcAft>
                <a:spcPct val="0"/>
              </a:spcAft>
              <a:buClr>
                <a:schemeClr val="hlink"/>
              </a:buClr>
              <a:buSzPct val="85000"/>
              <a:buFont typeface="Wingdings" pitchFamily="2" charset="2"/>
              <a:buChar char="v"/>
              <a:defRPr sz="2000">
                <a:solidFill>
                  <a:schemeClr val="tx1"/>
                </a:solidFill>
                <a:latin typeface="+mn-lt"/>
                <a:ea typeface="+mn-ea"/>
              </a:defRPr>
            </a:lvl7pPr>
            <a:lvl8pPr marL="3429000" indent="-228600" algn="l" rtl="0" fontAlgn="base">
              <a:spcBef>
                <a:spcPct val="20000"/>
              </a:spcBef>
              <a:spcAft>
                <a:spcPct val="0"/>
              </a:spcAft>
              <a:buClr>
                <a:schemeClr val="hlink"/>
              </a:buClr>
              <a:buSzPct val="85000"/>
              <a:buFont typeface="Wingdings" pitchFamily="2" charset="2"/>
              <a:buChar char="v"/>
              <a:defRPr sz="2000">
                <a:solidFill>
                  <a:schemeClr val="tx1"/>
                </a:solidFill>
                <a:latin typeface="+mn-lt"/>
                <a:ea typeface="+mn-ea"/>
              </a:defRPr>
            </a:lvl8pPr>
            <a:lvl9pPr marL="3886200" indent="-228600" algn="l" rtl="0" fontAlgn="base">
              <a:spcBef>
                <a:spcPct val="20000"/>
              </a:spcBef>
              <a:spcAft>
                <a:spcPct val="0"/>
              </a:spcAft>
              <a:buClr>
                <a:schemeClr val="hlink"/>
              </a:buClr>
              <a:buSzPct val="85000"/>
              <a:buFont typeface="Wingdings" pitchFamily="2" charset="2"/>
              <a:buChar char="v"/>
              <a:defRPr sz="2000">
                <a:solidFill>
                  <a:schemeClr val="tx1"/>
                </a:solidFill>
                <a:latin typeface="+mn-lt"/>
                <a:ea typeface="+mn-ea"/>
              </a:defRPr>
            </a:lvl9pPr>
          </a:lstStyle>
          <a:p>
            <a:pPr marL="0" indent="0" algn="just">
              <a:buNone/>
            </a:pPr>
            <a:r>
              <a:rPr lang="zh-CN" altLang="en-US" sz="2400" kern="0" dirty="0"/>
              <a:t>确定性理论是肖特里菲（</a:t>
            </a:r>
            <a:r>
              <a:rPr lang="zh-CN" altLang="zh-CN" sz="2400" kern="0" dirty="0"/>
              <a:t>E.H.Shortliffe</a:t>
            </a:r>
            <a:r>
              <a:rPr lang="zh-CN" altLang="en-US" sz="2400" kern="0" dirty="0"/>
              <a:t>）等于</a:t>
            </a:r>
            <a:r>
              <a:rPr lang="zh-CN" altLang="zh-CN" sz="2400" kern="0" dirty="0"/>
              <a:t>1975</a:t>
            </a:r>
            <a:r>
              <a:rPr lang="zh-CN" altLang="en-US" sz="2400" kern="0" dirty="0"/>
              <a:t>年提出的一种不精确推理模型，它在专家系统</a:t>
            </a:r>
            <a:r>
              <a:rPr lang="zh-CN" altLang="zh-CN" sz="2400" kern="0" dirty="0"/>
              <a:t>MYCIN</a:t>
            </a:r>
            <a:r>
              <a:rPr lang="zh-CN" altLang="en-US" sz="2400" kern="0" dirty="0"/>
              <a:t>中得到了应用（用于诊断细菌感染疾病）。</a:t>
            </a:r>
            <a:endParaRPr lang="en-US" altLang="zh-CN" sz="2400" kern="0" dirty="0"/>
          </a:p>
          <a:p>
            <a:pPr marL="0" indent="0" algn="just">
              <a:buNone/>
            </a:pPr>
            <a:endParaRPr lang="en-US" altLang="zh-CN" sz="2400" kern="0" dirty="0"/>
          </a:p>
          <a:p>
            <a:pPr marL="0" indent="0" algn="just">
              <a:buNone/>
            </a:pPr>
            <a:r>
              <a:rPr lang="zh-CN" altLang="en-US" sz="2400" b="1" kern="0" dirty="0">
                <a:solidFill>
                  <a:srgbClr val="FF0000"/>
                </a:solidFill>
              </a:rPr>
              <a:t>专家系统</a:t>
            </a:r>
            <a:r>
              <a:rPr lang="zh-CN" altLang="zh-CN" sz="2400" b="1" kern="0" dirty="0">
                <a:solidFill>
                  <a:srgbClr val="FF0000"/>
                </a:solidFill>
              </a:rPr>
              <a:t>MYCIN</a:t>
            </a:r>
            <a:r>
              <a:rPr lang="zh-CN" altLang="en-US" sz="2400" b="1" kern="0" dirty="0">
                <a:solidFill>
                  <a:srgbClr val="FF0000"/>
                </a:solidFill>
                <a:latin typeface="Courier New" panose="02070309020205020404" pitchFamily="49" charset="0"/>
              </a:rPr>
              <a:t>特点</a:t>
            </a:r>
            <a:r>
              <a:rPr lang="zh-CN" altLang="en-US" sz="2400" kern="0" dirty="0">
                <a:latin typeface="Courier New" panose="02070309020205020404" pitchFamily="49" charset="0"/>
              </a:rPr>
              <a:t>：</a:t>
            </a:r>
            <a:endParaRPr lang="en-US" altLang="zh-CN" sz="2400" kern="0" dirty="0">
              <a:latin typeface="Courier New" panose="02070309020205020404" pitchFamily="49" charset="0"/>
            </a:endParaRPr>
          </a:p>
          <a:p>
            <a:pPr marL="0" indent="0" algn="just">
              <a:buNone/>
            </a:pPr>
            <a:r>
              <a:rPr lang="en-US" altLang="zh-CN" sz="2400" dirty="0">
                <a:latin typeface="+mn-ea"/>
              </a:rPr>
              <a:t>1</a:t>
            </a:r>
            <a:r>
              <a:rPr lang="zh-CN" altLang="en-US" sz="2400" dirty="0">
                <a:latin typeface="+mn-ea"/>
              </a:rPr>
              <a:t>、</a:t>
            </a:r>
            <a:r>
              <a:rPr lang="en-US" altLang="zh-CN" sz="2400" dirty="0">
                <a:latin typeface="+mn-ea"/>
              </a:rPr>
              <a:t>MYCIN</a:t>
            </a:r>
            <a:r>
              <a:rPr lang="zh-CN" altLang="en-US" sz="2400" dirty="0">
                <a:latin typeface="+mn-ea"/>
              </a:rPr>
              <a:t>确立了专家系统的经典结构。它的</a:t>
            </a:r>
            <a:r>
              <a:rPr lang="en-US" altLang="zh-CN" sz="2400" dirty="0">
                <a:latin typeface="+mn-ea"/>
              </a:rPr>
              <a:t>“</a:t>
            </a:r>
            <a:r>
              <a:rPr lang="zh-CN" altLang="en-US" sz="2400" dirty="0">
                <a:latin typeface="+mn-ea"/>
              </a:rPr>
              <a:t>知识库</a:t>
            </a:r>
            <a:r>
              <a:rPr lang="en-US" altLang="zh-CN" sz="2400" dirty="0">
                <a:latin typeface="+mn-ea"/>
              </a:rPr>
              <a:t>”</a:t>
            </a:r>
            <a:r>
              <a:rPr lang="zh-CN" altLang="en-US" sz="2400" dirty="0">
                <a:latin typeface="+mn-ea"/>
              </a:rPr>
              <a:t>中存储着约</a:t>
            </a:r>
            <a:r>
              <a:rPr lang="en-US" altLang="zh-CN" sz="2400" b="1" dirty="0">
                <a:latin typeface="+mn-ea"/>
              </a:rPr>
              <a:t>500</a:t>
            </a:r>
            <a:r>
              <a:rPr lang="zh-CN" altLang="en-US" sz="2400" b="1" dirty="0">
                <a:latin typeface="+mn-ea"/>
              </a:rPr>
              <a:t>条</a:t>
            </a:r>
            <a:r>
              <a:rPr lang="zh-CN" altLang="en-US" sz="2400" dirty="0">
                <a:latin typeface="+mn-ea"/>
              </a:rPr>
              <a:t>从人类专家处获取的</a:t>
            </a:r>
            <a:r>
              <a:rPr lang="en-US" altLang="zh-CN" sz="2400" b="1" dirty="0">
                <a:solidFill>
                  <a:srgbClr val="FF0000"/>
                </a:solidFill>
                <a:latin typeface="+mn-ea"/>
              </a:rPr>
              <a:t>“</a:t>
            </a:r>
            <a:r>
              <a:rPr lang="zh-CN" altLang="en-US" sz="2400" b="1" dirty="0">
                <a:solidFill>
                  <a:srgbClr val="FF0000"/>
                </a:solidFill>
                <a:latin typeface="+mn-ea"/>
              </a:rPr>
              <a:t>如果</a:t>
            </a:r>
            <a:r>
              <a:rPr lang="en-US" altLang="zh-CN" sz="2400" b="1" dirty="0">
                <a:solidFill>
                  <a:srgbClr val="FF0000"/>
                </a:solidFill>
                <a:latin typeface="+mn-ea"/>
              </a:rPr>
              <a:t>-</a:t>
            </a:r>
            <a:r>
              <a:rPr lang="zh-CN" altLang="en-US" sz="2400" b="1" dirty="0">
                <a:solidFill>
                  <a:srgbClr val="FF0000"/>
                </a:solidFill>
                <a:latin typeface="+mn-ea"/>
              </a:rPr>
              <a:t>那么</a:t>
            </a:r>
            <a:r>
              <a:rPr lang="en-US" altLang="zh-CN" sz="2400" b="1" dirty="0">
                <a:solidFill>
                  <a:srgbClr val="FF0000"/>
                </a:solidFill>
                <a:latin typeface="+mn-ea"/>
              </a:rPr>
              <a:t>”</a:t>
            </a:r>
            <a:r>
              <a:rPr lang="zh-CN" altLang="en-US" sz="2400" b="1" dirty="0">
                <a:solidFill>
                  <a:srgbClr val="FF0000"/>
                </a:solidFill>
                <a:latin typeface="+mn-ea"/>
              </a:rPr>
              <a:t>形式（</a:t>
            </a:r>
            <a:r>
              <a:rPr lang="en-US" altLang="zh-CN" sz="2400" b="1" dirty="0">
                <a:solidFill>
                  <a:srgbClr val="FF0000"/>
                </a:solidFill>
                <a:latin typeface="+mn-ea"/>
              </a:rPr>
              <a:t>if-then</a:t>
            </a:r>
            <a:r>
              <a:rPr lang="zh-CN" altLang="en-US" sz="2400" b="1" dirty="0">
                <a:solidFill>
                  <a:srgbClr val="FF0000"/>
                </a:solidFill>
                <a:latin typeface="+mn-ea"/>
              </a:rPr>
              <a:t>）的诊疗规则</a:t>
            </a:r>
            <a:r>
              <a:rPr lang="zh-CN" altLang="en-US" sz="2400" dirty="0">
                <a:latin typeface="+mn-ea"/>
              </a:rPr>
              <a:t>（例如：如果细菌是革兰氏阴性，且形态是杆状，那么它有</a:t>
            </a:r>
            <a:r>
              <a:rPr lang="en-US" altLang="zh-CN" sz="2400" dirty="0">
                <a:latin typeface="+mn-ea"/>
              </a:rPr>
              <a:t>70%</a:t>
            </a:r>
            <a:r>
              <a:rPr lang="zh-CN" altLang="en-US" sz="2400" dirty="0">
                <a:latin typeface="+mn-ea"/>
              </a:rPr>
              <a:t>的概率是大肠杆菌）。    </a:t>
            </a:r>
            <a:r>
              <a:rPr lang="en-US" altLang="zh-CN" sz="2400" b="1" kern="0" dirty="0">
                <a:solidFill>
                  <a:srgbClr val="FF3300"/>
                </a:solidFill>
              </a:rPr>
              <a:t>IF  E then  H (0.7)</a:t>
            </a:r>
          </a:p>
          <a:p>
            <a:pPr marL="0" indent="0" algn="just">
              <a:buNone/>
            </a:pPr>
            <a:endParaRPr lang="en-US" altLang="zh-CN" sz="2400" dirty="0">
              <a:latin typeface="+mn-ea"/>
            </a:endParaRPr>
          </a:p>
          <a:p>
            <a:pPr marL="0" indent="0" algn="just">
              <a:buNone/>
            </a:pPr>
            <a:r>
              <a:rPr lang="en-US" altLang="zh-CN" sz="2400" kern="0" dirty="0">
                <a:latin typeface="+mn-ea"/>
              </a:rPr>
              <a:t>2</a:t>
            </a:r>
            <a:r>
              <a:rPr lang="zh-CN" altLang="en-US" sz="2400" kern="0" dirty="0">
                <a:latin typeface="+mn-ea"/>
              </a:rPr>
              <a:t>、</a:t>
            </a:r>
            <a:r>
              <a:rPr lang="zh-CN" altLang="en-US" sz="2400" dirty="0">
                <a:latin typeface="+mn-ea"/>
              </a:rPr>
              <a:t>同时，它引入了</a:t>
            </a:r>
            <a:r>
              <a:rPr lang="zh-CN" altLang="en-US" sz="2400" b="1" dirty="0">
                <a:solidFill>
                  <a:srgbClr val="FF0000"/>
                </a:solidFill>
                <a:latin typeface="+mn-ea"/>
              </a:rPr>
              <a:t>置信因子</a:t>
            </a:r>
            <a:r>
              <a:rPr lang="zh-CN" altLang="en-US" sz="2400" dirty="0">
                <a:latin typeface="+mn-ea"/>
              </a:rPr>
              <a:t>（</a:t>
            </a:r>
            <a:r>
              <a:rPr lang="en-US" altLang="zh-CN" sz="2400" dirty="0">
                <a:latin typeface="+mn-ea"/>
              </a:rPr>
              <a:t>Certainty Factor</a:t>
            </a:r>
            <a:r>
              <a:rPr lang="zh-CN" altLang="en-US" sz="2400" dirty="0">
                <a:latin typeface="+mn-ea"/>
              </a:rPr>
              <a:t>）的概念，让结论附带一个可信度（如</a:t>
            </a:r>
            <a:r>
              <a:rPr lang="en-US" altLang="zh-CN" sz="2400" dirty="0">
                <a:latin typeface="+mn-ea"/>
              </a:rPr>
              <a:t>70%</a:t>
            </a:r>
            <a:r>
              <a:rPr lang="zh-CN" altLang="en-US" sz="2400" dirty="0">
                <a:latin typeface="+mn-ea"/>
              </a:rPr>
              <a:t>），开创性地处理了医学诊断中的不确定性    </a:t>
            </a:r>
            <a:r>
              <a:rPr lang="en-US" altLang="zh-CN" sz="2400" b="1" kern="0" dirty="0">
                <a:solidFill>
                  <a:srgbClr val="FF3300"/>
                </a:solidFill>
              </a:rPr>
              <a:t>CF(H)</a:t>
            </a:r>
            <a:r>
              <a:rPr lang="zh-CN" altLang="zh-CN" sz="2400" b="1" kern="0" dirty="0">
                <a:solidFill>
                  <a:srgbClr val="FF3300"/>
                </a:solidFill>
              </a:rPr>
              <a:t>，</a:t>
            </a:r>
            <a:r>
              <a:rPr lang="zh-CN" altLang="en-US" sz="2400" kern="0" dirty="0"/>
              <a:t>即确定性因子（称为</a:t>
            </a:r>
            <a:r>
              <a:rPr lang="zh-CN" altLang="en-US" sz="2400" b="1" kern="0" dirty="0">
                <a:solidFill>
                  <a:srgbClr val="FF3300"/>
                </a:solidFill>
              </a:rPr>
              <a:t>可信度</a:t>
            </a:r>
            <a:r>
              <a:rPr lang="zh-CN" altLang="en-US" sz="2400" kern="0" dirty="0"/>
              <a:t>），取值范围为［</a:t>
            </a:r>
            <a:r>
              <a:rPr lang="zh-CN" altLang="zh-CN" sz="2400" kern="0" dirty="0"/>
              <a:t>-1</a:t>
            </a:r>
            <a:r>
              <a:rPr lang="zh-CN" altLang="en-US" sz="2400" kern="0" dirty="0"/>
              <a:t>，</a:t>
            </a:r>
            <a:r>
              <a:rPr lang="zh-CN" altLang="zh-CN" sz="2400" kern="0" dirty="0"/>
              <a:t>1</a:t>
            </a:r>
            <a:r>
              <a:rPr lang="zh-CN" altLang="en-US" sz="2400" kern="0" dirty="0"/>
              <a:t>］。</a:t>
            </a:r>
          </a:p>
          <a:p>
            <a:pPr marL="0" indent="0" algn="just">
              <a:buNone/>
            </a:pPr>
            <a:endParaRPr lang="en-US" altLang="zh-CN" sz="2400" kern="0" dirty="0">
              <a:latin typeface="+mn-ea"/>
            </a:endParaRPr>
          </a:p>
          <a:p>
            <a:pPr marL="0" indent="0" algn="just">
              <a:buNone/>
            </a:pPr>
            <a:endParaRPr lang="en-US" altLang="zh-CN" sz="2400" kern="0" dirty="0">
              <a:latin typeface="Courier New" panose="02070309020205020404" pitchFamily="49" charset="0"/>
            </a:endParaRPr>
          </a:p>
        </p:txBody>
      </p:sp>
      <p:sp>
        <p:nvSpPr>
          <p:cNvPr id="3" name="箭头: 右 2">
            <a:extLst>
              <a:ext uri="{FF2B5EF4-FFF2-40B4-BE49-F238E27FC236}">
                <a16:creationId xmlns:a16="http://schemas.microsoft.com/office/drawing/2014/main" id="{52B49CC1-F338-F22D-88C0-084EF73B6D0D}"/>
              </a:ext>
            </a:extLst>
          </p:cNvPr>
          <p:cNvSpPr/>
          <p:nvPr/>
        </p:nvSpPr>
        <p:spPr>
          <a:xfrm>
            <a:off x="5148064" y="4293096"/>
            <a:ext cx="432049" cy="216024"/>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箭头: 右 3">
            <a:extLst>
              <a:ext uri="{FF2B5EF4-FFF2-40B4-BE49-F238E27FC236}">
                <a16:creationId xmlns:a16="http://schemas.microsoft.com/office/drawing/2014/main" id="{32C8D178-3F7F-26CF-4F8A-F741E29502CE}"/>
              </a:ext>
            </a:extLst>
          </p:cNvPr>
          <p:cNvSpPr/>
          <p:nvPr/>
        </p:nvSpPr>
        <p:spPr>
          <a:xfrm>
            <a:off x="2411760" y="5951984"/>
            <a:ext cx="432049" cy="216024"/>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4200123618"/>
      </p:ext>
    </p:extLst>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10947" name="Rectangle 3"/>
          <p:cNvSpPr>
            <a:spLocks noGrp="1" noRot="1" noChangeArrowheads="1"/>
          </p:cNvSpPr>
          <p:nvPr>
            <p:ph type="body" idx="1"/>
          </p:nvPr>
        </p:nvSpPr>
        <p:spPr>
          <a:xfrm>
            <a:off x="522288" y="476250"/>
            <a:ext cx="8137525" cy="6024584"/>
          </a:xfrm>
        </p:spPr>
        <p:txBody>
          <a:bodyPr/>
          <a:lstStyle/>
          <a:p>
            <a:pPr algn="just">
              <a:buNone/>
            </a:pPr>
            <a:r>
              <a:rPr lang="en-US" sz="2400" dirty="0">
                <a:latin typeface="楷体" pitchFamily="49" charset="-122"/>
                <a:ea typeface="楷体" pitchFamily="49" charset="-122"/>
              </a:rPr>
              <a:t>1. </a:t>
            </a:r>
            <a:r>
              <a:rPr lang="zh-CN" altLang="en-US" sz="2400" b="1" dirty="0">
                <a:latin typeface="楷体" pitchFamily="49" charset="-122"/>
                <a:ea typeface="楷体" pitchFamily="49" charset="-122"/>
              </a:rPr>
              <a:t>不确定性度量</a:t>
            </a:r>
            <a:endParaRPr lang="zh-CN" altLang="en-US" sz="2400" dirty="0">
              <a:latin typeface="楷体" pitchFamily="49" charset="-122"/>
              <a:ea typeface="楷体" pitchFamily="49" charset="-122"/>
            </a:endParaRPr>
          </a:p>
          <a:p>
            <a:pPr>
              <a:lnSpc>
                <a:spcPct val="130000"/>
              </a:lnSpc>
              <a:spcBef>
                <a:spcPts val="0"/>
              </a:spcBef>
              <a:buNone/>
            </a:pPr>
            <a:r>
              <a:rPr lang="en-US" sz="2400" dirty="0"/>
              <a:t>           </a:t>
            </a:r>
            <a:r>
              <a:rPr lang="zh-CN" altLang="en-US" sz="2400" dirty="0"/>
              <a:t>采用</a:t>
            </a:r>
            <a:r>
              <a:rPr lang="en-US" sz="2400" i="1" dirty="0">
                <a:latin typeface="Times New Roman" pitchFamily="18" charset="0"/>
                <a:cs typeface="Times New Roman" pitchFamily="18" charset="0"/>
              </a:rPr>
              <a:t>CF</a:t>
            </a:r>
            <a:r>
              <a:rPr lang="zh-CN" altLang="en-US" sz="2400" dirty="0">
                <a:latin typeface="Times New Roman" pitchFamily="18" charset="0"/>
                <a:cs typeface="Times New Roman" pitchFamily="18" charset="0"/>
              </a:rPr>
              <a:t>（</a:t>
            </a:r>
            <a:r>
              <a:rPr lang="en-US" sz="2400" dirty="0">
                <a:latin typeface="Times New Roman" pitchFamily="18" charset="0"/>
                <a:cs typeface="Times New Roman" pitchFamily="18" charset="0"/>
              </a:rPr>
              <a:t>Certainty Factor</a:t>
            </a:r>
            <a:r>
              <a:rPr lang="zh-CN" altLang="en-US" sz="2400" dirty="0">
                <a:latin typeface="Times New Roman" pitchFamily="18" charset="0"/>
                <a:cs typeface="Times New Roman" pitchFamily="18" charset="0"/>
              </a:rPr>
              <a:t>），</a:t>
            </a:r>
            <a:r>
              <a:rPr lang="zh-CN" altLang="en-US" sz="2400" dirty="0"/>
              <a:t>即确定性因子（一般称为可信度）作为不确定性度量，对于规则</a:t>
            </a:r>
            <a:r>
              <a:rPr lang="en-US" altLang="zh-CN" sz="2400" i="1" dirty="0"/>
              <a:t>CF</a:t>
            </a:r>
            <a:r>
              <a:rPr lang="zh-CN" altLang="en-US" sz="2400" dirty="0"/>
              <a:t>（</a:t>
            </a:r>
            <a:r>
              <a:rPr lang="en-US" altLang="zh-CN" sz="2400" i="1" dirty="0"/>
              <a:t>H,E</a:t>
            </a:r>
            <a:r>
              <a:rPr lang="zh-CN" altLang="en-US" sz="2400" dirty="0"/>
              <a:t>）其不确定性定义为</a:t>
            </a:r>
            <a:endParaRPr lang="en-US" altLang="zh-CN" sz="2400" dirty="0"/>
          </a:p>
          <a:p>
            <a:pPr>
              <a:buNone/>
            </a:pPr>
            <a:endParaRPr lang="zh-CN" altLang="en-US" sz="2400" dirty="0"/>
          </a:p>
          <a:p>
            <a:pPr>
              <a:buNone/>
            </a:pPr>
            <a:endParaRPr lang="zh-CN" altLang="en-US" sz="2800" dirty="0"/>
          </a:p>
        </p:txBody>
      </p:sp>
      <p:sp>
        <p:nvSpPr>
          <p:cNvPr id="405507" name="Rectangle 3"/>
          <p:cNvSpPr>
            <a:spLocks noChangeArrowheads="1"/>
          </p:cNvSpPr>
          <p:nvPr/>
        </p:nvSpPr>
        <p:spPr bwMode="auto">
          <a:xfrm>
            <a:off x="824896" y="5497883"/>
            <a:ext cx="7786742" cy="1000980"/>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30000"/>
              </a:lnSpc>
              <a:spcBef>
                <a:spcPct val="0"/>
              </a:spcBef>
              <a:spcAft>
                <a:spcPct val="0"/>
              </a:spcAft>
              <a:buClrTx/>
              <a:buSzTx/>
              <a:buFontTx/>
              <a:buNone/>
              <a:tabLst/>
            </a:pPr>
            <a:r>
              <a:rPr kumimoji="0" lang="zh-CN" sz="24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其中，</a:t>
            </a:r>
            <a:r>
              <a:rPr kumimoji="0" lang="en-US" altLang="zh-CN" sz="2400" b="0" i="1"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E</a:t>
            </a:r>
            <a:r>
              <a:rPr kumimoji="0" lang="zh-CN" altLang="en-US" sz="24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表示规则的前提，</a:t>
            </a:r>
            <a:r>
              <a:rPr kumimoji="0" lang="en-US" altLang="zh-CN" sz="2400" b="0" i="1"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H</a:t>
            </a:r>
            <a:r>
              <a:rPr kumimoji="0" lang="zh-CN" altLang="en-US" sz="24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为规则的结论，</a:t>
            </a:r>
            <a:r>
              <a:rPr kumimoji="0" lang="en-US" altLang="zh-CN" sz="2400" b="0" i="1"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P</a:t>
            </a:r>
            <a:r>
              <a:rPr kumimoji="0" lang="en-US" altLang="zh-CN" sz="24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a:t>
            </a:r>
            <a:r>
              <a:rPr kumimoji="0" lang="en-US" altLang="zh-CN" sz="2400" b="0" i="1"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H</a:t>
            </a:r>
            <a:r>
              <a:rPr kumimoji="0" lang="en-US" altLang="zh-CN" sz="24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a:t>
            </a:r>
            <a:r>
              <a:rPr kumimoji="0" lang="zh-CN" altLang="en-US" sz="24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是</a:t>
            </a:r>
            <a:r>
              <a:rPr kumimoji="0" lang="en-US" altLang="zh-CN" sz="2400" b="0" i="1"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H</a:t>
            </a:r>
            <a:r>
              <a:rPr kumimoji="0" lang="zh-CN" altLang="en-US" sz="24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的先验概率，</a:t>
            </a:r>
            <a:r>
              <a:rPr kumimoji="0" lang="en-US" altLang="zh-CN" sz="2400" b="0" i="1"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P</a:t>
            </a:r>
            <a:r>
              <a:rPr kumimoji="0" lang="en-US" altLang="zh-CN" sz="24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a:t>
            </a:r>
            <a:r>
              <a:rPr kumimoji="0" lang="en-US" altLang="zh-CN" sz="2400" b="0" i="1"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H </a:t>
            </a:r>
            <a:r>
              <a:rPr kumimoji="0" lang="en-US" altLang="zh-CN" sz="24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 </a:t>
            </a:r>
            <a:r>
              <a:rPr kumimoji="0" lang="en-US" altLang="zh-CN" sz="2400" b="0" i="1"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E</a:t>
            </a:r>
            <a:r>
              <a:rPr kumimoji="0" lang="en-US" altLang="zh-CN" sz="24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a:t>
            </a:r>
            <a:r>
              <a:rPr kumimoji="0" lang="zh-CN" altLang="en-US" sz="24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为</a:t>
            </a:r>
            <a:r>
              <a:rPr kumimoji="0" lang="en-US" altLang="zh-CN" sz="2400" b="0" i="1"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E</a:t>
            </a:r>
            <a:r>
              <a:rPr kumimoji="0" lang="zh-CN" altLang="en-US" sz="24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为真时</a:t>
            </a:r>
            <a:r>
              <a:rPr kumimoji="0" lang="en-US" altLang="zh-CN" sz="2400" b="0" i="1"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H</a:t>
            </a:r>
            <a:r>
              <a:rPr kumimoji="0" lang="zh-CN" altLang="en-US" sz="24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为真的条件概率。</a:t>
            </a:r>
            <a:endParaRPr kumimoji="0" lang="en-US" altLang="zh-CN" sz="24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endParaRPr>
          </a:p>
        </p:txBody>
      </p:sp>
      <p:pic>
        <p:nvPicPr>
          <p:cNvPr id="107521" name="Picture 1"/>
          <p:cNvPicPr>
            <a:picLocks noChangeAspect="1" noChangeArrowheads="1"/>
          </p:cNvPicPr>
          <p:nvPr/>
        </p:nvPicPr>
        <p:blipFill>
          <a:blip r:embed="rId3"/>
          <a:srcRect/>
          <a:stretch>
            <a:fillRect/>
          </a:stretch>
        </p:blipFill>
        <p:spPr bwMode="auto">
          <a:xfrm>
            <a:off x="-7614" y="2708920"/>
            <a:ext cx="8460000" cy="2357498"/>
          </a:xfrm>
          <a:prstGeom prst="rect">
            <a:avLst/>
          </a:prstGeom>
          <a:noFill/>
          <a:ln w="9525">
            <a:noFill/>
            <a:miter lim="800000"/>
            <a:headEnd/>
            <a:tailEnd/>
          </a:ln>
          <a:effectLst/>
        </p:spPr>
      </p:pic>
    </p:spTree>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05475" name="Rectangle 3"/>
          <p:cNvSpPr>
            <a:spLocks noGrp="1" noRot="1" noChangeArrowheads="1"/>
          </p:cNvSpPr>
          <p:nvPr>
            <p:ph type="body" idx="1"/>
          </p:nvPr>
        </p:nvSpPr>
        <p:spPr>
          <a:xfrm>
            <a:off x="323850" y="451974"/>
            <a:ext cx="8462992" cy="5929354"/>
          </a:xfrm>
        </p:spPr>
        <p:txBody>
          <a:bodyPr/>
          <a:lstStyle/>
          <a:p>
            <a:pPr>
              <a:lnSpc>
                <a:spcPct val="150000"/>
              </a:lnSpc>
              <a:buNone/>
            </a:pPr>
            <a:r>
              <a:rPr kumimoji="1" lang="en-US" altLang="zh-CN" dirty="0">
                <a:latin typeface="仿宋_GB2312" pitchFamily="49" charset="-122"/>
                <a:ea typeface="仿宋_GB2312" pitchFamily="49" charset="-122"/>
              </a:rPr>
              <a:t>  </a:t>
            </a:r>
            <a:r>
              <a:rPr lang="en-US" sz="2400" dirty="0">
                <a:latin typeface="楷体" pitchFamily="49" charset="-122"/>
                <a:ea typeface="楷体" pitchFamily="49" charset="-122"/>
              </a:rPr>
              <a:t>2. </a:t>
            </a:r>
            <a:r>
              <a:rPr lang="zh-CN" altLang="en-US" sz="2400" b="1" dirty="0">
                <a:latin typeface="Times New Roman" pitchFamily="18" charset="0"/>
                <a:ea typeface="楷体" pitchFamily="49" charset="-122"/>
                <a:cs typeface="Times New Roman" pitchFamily="18" charset="0"/>
              </a:rPr>
              <a:t>前提证据事实总</a:t>
            </a:r>
            <a:r>
              <a:rPr lang="en-US" sz="2400" b="1" dirty="0">
                <a:latin typeface="Times New Roman" pitchFamily="18" charset="0"/>
                <a:ea typeface="楷体" pitchFamily="49" charset="-122"/>
                <a:cs typeface="Times New Roman" pitchFamily="18" charset="0"/>
              </a:rPr>
              <a:t>CF</a:t>
            </a:r>
            <a:r>
              <a:rPr lang="zh-CN" altLang="en-US" sz="2400" b="1" dirty="0">
                <a:latin typeface="Times New Roman" pitchFamily="18" charset="0"/>
                <a:ea typeface="楷体" pitchFamily="49" charset="-122"/>
                <a:cs typeface="Times New Roman" pitchFamily="18" charset="0"/>
              </a:rPr>
              <a:t>值计算</a:t>
            </a:r>
            <a:endParaRPr lang="zh-CN" altLang="en-US" sz="2400" dirty="0">
              <a:latin typeface="Times New Roman" pitchFamily="18" charset="0"/>
              <a:ea typeface="楷体" pitchFamily="49" charset="-122"/>
              <a:cs typeface="Times New Roman" pitchFamily="18" charset="0"/>
            </a:endParaRPr>
          </a:p>
          <a:p>
            <a:pPr>
              <a:lnSpc>
                <a:spcPct val="150000"/>
              </a:lnSpc>
              <a:spcBef>
                <a:spcPts val="0"/>
              </a:spcBef>
              <a:buNone/>
            </a:pPr>
            <a:r>
              <a:rPr lang="en-US" sz="2400" dirty="0">
                <a:latin typeface="Times New Roman" pitchFamily="18" charset="0"/>
                <a:cs typeface="Times New Roman" pitchFamily="18" charset="0"/>
              </a:rPr>
              <a:t>          </a:t>
            </a:r>
            <a:r>
              <a:rPr lang="en-US" sz="2400" i="1" dirty="0">
                <a:latin typeface="Times New Roman" pitchFamily="18" charset="0"/>
                <a:cs typeface="Times New Roman" pitchFamily="18" charset="0"/>
              </a:rPr>
              <a:t>CF</a:t>
            </a:r>
            <a:r>
              <a:rPr lang="en-US" sz="2400" dirty="0">
                <a:latin typeface="Times New Roman" pitchFamily="18" charset="0"/>
                <a:cs typeface="Times New Roman" pitchFamily="18" charset="0"/>
              </a:rPr>
              <a:t>(</a:t>
            </a:r>
            <a:r>
              <a:rPr lang="en-US" sz="2400" i="1" dirty="0">
                <a:latin typeface="Times New Roman" pitchFamily="18" charset="0"/>
                <a:cs typeface="Times New Roman" pitchFamily="18" charset="0"/>
              </a:rPr>
              <a:t>E</a:t>
            </a:r>
            <a:r>
              <a:rPr lang="en-US" sz="2400" baseline="-25000" dirty="0">
                <a:latin typeface="Times New Roman" pitchFamily="18" charset="0"/>
                <a:cs typeface="Times New Roman" pitchFamily="18" charset="0"/>
              </a:rPr>
              <a:t>1</a:t>
            </a:r>
            <a:r>
              <a:rPr lang="en-US" sz="2400" dirty="0">
                <a:latin typeface="Times New Roman" pitchFamily="18" charset="0"/>
                <a:cs typeface="Times New Roman" pitchFamily="18" charset="0"/>
              </a:rPr>
              <a:t>∧</a:t>
            </a:r>
            <a:r>
              <a:rPr lang="en-US" sz="2400" i="1" dirty="0">
                <a:latin typeface="Times New Roman" pitchFamily="18" charset="0"/>
                <a:cs typeface="Times New Roman" pitchFamily="18" charset="0"/>
              </a:rPr>
              <a:t>E</a:t>
            </a:r>
            <a:r>
              <a:rPr lang="en-US" sz="2400" baseline="-25000" dirty="0">
                <a:latin typeface="Times New Roman" pitchFamily="18" charset="0"/>
                <a:cs typeface="Times New Roman" pitchFamily="18" charset="0"/>
              </a:rPr>
              <a:t>2</a:t>
            </a:r>
            <a:r>
              <a:rPr lang="en-US" sz="2400" dirty="0">
                <a:latin typeface="Times New Roman" pitchFamily="18" charset="0"/>
                <a:cs typeface="Times New Roman" pitchFamily="18" charset="0"/>
              </a:rPr>
              <a:t>∧…∧</a:t>
            </a:r>
            <a:r>
              <a:rPr lang="en-US" sz="2400" i="1" dirty="0">
                <a:latin typeface="Times New Roman" pitchFamily="18" charset="0"/>
                <a:cs typeface="Times New Roman" pitchFamily="18" charset="0"/>
              </a:rPr>
              <a:t>E</a:t>
            </a:r>
            <a:r>
              <a:rPr lang="en-US" sz="2400" i="1" baseline="-25000" dirty="0">
                <a:latin typeface="Times New Roman" pitchFamily="18" charset="0"/>
                <a:cs typeface="Times New Roman" pitchFamily="18" charset="0"/>
              </a:rPr>
              <a:t>n</a:t>
            </a:r>
            <a:r>
              <a:rPr lang="en-US" sz="2400" dirty="0">
                <a:latin typeface="Times New Roman" pitchFamily="18" charset="0"/>
                <a:cs typeface="Times New Roman" pitchFamily="18" charset="0"/>
              </a:rPr>
              <a:t>)</a:t>
            </a:r>
            <a:r>
              <a:rPr lang="zh-CN" altLang="en-US" sz="2400" dirty="0">
                <a:latin typeface="Times New Roman" pitchFamily="18" charset="0"/>
                <a:cs typeface="Times New Roman" pitchFamily="18" charset="0"/>
              </a:rPr>
              <a:t>＝</a:t>
            </a:r>
            <a:r>
              <a:rPr lang="en-US" sz="2400" dirty="0">
                <a:latin typeface="Times New Roman" pitchFamily="18" charset="0"/>
                <a:cs typeface="Times New Roman" pitchFamily="18" charset="0"/>
              </a:rPr>
              <a:t>min{</a:t>
            </a:r>
            <a:r>
              <a:rPr lang="en-US" sz="2400" i="1" dirty="0">
                <a:latin typeface="Times New Roman" pitchFamily="18" charset="0"/>
                <a:cs typeface="Times New Roman" pitchFamily="18" charset="0"/>
              </a:rPr>
              <a:t>CF</a:t>
            </a:r>
            <a:r>
              <a:rPr lang="en-US" sz="2400" dirty="0">
                <a:latin typeface="Times New Roman" pitchFamily="18" charset="0"/>
                <a:cs typeface="Times New Roman" pitchFamily="18" charset="0"/>
              </a:rPr>
              <a:t>(</a:t>
            </a:r>
            <a:r>
              <a:rPr lang="en-US" sz="2400" i="1" dirty="0">
                <a:latin typeface="Times New Roman" pitchFamily="18" charset="0"/>
                <a:cs typeface="Times New Roman" pitchFamily="18" charset="0"/>
              </a:rPr>
              <a:t>E</a:t>
            </a:r>
            <a:r>
              <a:rPr lang="en-US" sz="2400" baseline="-25000" dirty="0">
                <a:latin typeface="Times New Roman" pitchFamily="18" charset="0"/>
                <a:cs typeface="Times New Roman" pitchFamily="18" charset="0"/>
              </a:rPr>
              <a:t>1</a:t>
            </a:r>
            <a:r>
              <a:rPr lang="en-US" sz="2400" dirty="0">
                <a:latin typeface="Times New Roman" pitchFamily="18" charset="0"/>
                <a:cs typeface="Times New Roman" pitchFamily="18" charset="0"/>
              </a:rPr>
              <a:t>), </a:t>
            </a:r>
            <a:r>
              <a:rPr lang="en-US" sz="2400" i="1" dirty="0">
                <a:latin typeface="Times New Roman" pitchFamily="18" charset="0"/>
                <a:cs typeface="Times New Roman" pitchFamily="18" charset="0"/>
              </a:rPr>
              <a:t>CF</a:t>
            </a:r>
            <a:r>
              <a:rPr lang="en-US" sz="2400" dirty="0">
                <a:latin typeface="Times New Roman" pitchFamily="18" charset="0"/>
                <a:cs typeface="Times New Roman" pitchFamily="18" charset="0"/>
              </a:rPr>
              <a:t>(</a:t>
            </a:r>
            <a:r>
              <a:rPr lang="en-US" sz="2400" i="1" dirty="0">
                <a:latin typeface="Times New Roman" pitchFamily="18" charset="0"/>
                <a:cs typeface="Times New Roman" pitchFamily="18" charset="0"/>
              </a:rPr>
              <a:t>E</a:t>
            </a:r>
            <a:r>
              <a:rPr lang="en-US" sz="2400" baseline="-25000" dirty="0">
                <a:latin typeface="Times New Roman" pitchFamily="18" charset="0"/>
                <a:cs typeface="Times New Roman" pitchFamily="18" charset="0"/>
              </a:rPr>
              <a:t>2</a:t>
            </a:r>
            <a:r>
              <a:rPr lang="en-US" sz="2400" dirty="0">
                <a:latin typeface="Times New Roman" pitchFamily="18" charset="0"/>
                <a:cs typeface="Times New Roman" pitchFamily="18" charset="0"/>
              </a:rPr>
              <a:t>), …, </a:t>
            </a:r>
            <a:r>
              <a:rPr lang="en-US" sz="2400" i="1" dirty="0">
                <a:latin typeface="Times New Roman" pitchFamily="18" charset="0"/>
                <a:cs typeface="Times New Roman" pitchFamily="18" charset="0"/>
              </a:rPr>
              <a:t>CF</a:t>
            </a:r>
            <a:r>
              <a:rPr lang="en-US" sz="2400" dirty="0">
                <a:latin typeface="Times New Roman" pitchFamily="18" charset="0"/>
                <a:cs typeface="Times New Roman" pitchFamily="18" charset="0"/>
              </a:rPr>
              <a:t>(</a:t>
            </a:r>
            <a:r>
              <a:rPr lang="en-US" sz="2400" i="1" dirty="0">
                <a:latin typeface="Times New Roman" pitchFamily="18" charset="0"/>
                <a:cs typeface="Times New Roman" pitchFamily="18" charset="0"/>
              </a:rPr>
              <a:t>E</a:t>
            </a:r>
            <a:r>
              <a:rPr lang="en-US" sz="2400" i="1" baseline="-25000" dirty="0">
                <a:latin typeface="Times New Roman" pitchFamily="18" charset="0"/>
                <a:cs typeface="Times New Roman" pitchFamily="18" charset="0"/>
              </a:rPr>
              <a:t>n</a:t>
            </a:r>
            <a:r>
              <a:rPr lang="en-US" sz="2400" dirty="0">
                <a:latin typeface="Times New Roman" pitchFamily="18" charset="0"/>
                <a:cs typeface="Times New Roman" pitchFamily="18" charset="0"/>
              </a:rPr>
              <a:t>)}  </a:t>
            </a:r>
            <a:endParaRPr lang="zh-CN" altLang="en-US" sz="2400" dirty="0">
              <a:latin typeface="Times New Roman" pitchFamily="18" charset="0"/>
              <a:cs typeface="Times New Roman" pitchFamily="18" charset="0"/>
            </a:endParaRPr>
          </a:p>
          <a:p>
            <a:pPr>
              <a:lnSpc>
                <a:spcPct val="150000"/>
              </a:lnSpc>
              <a:buNone/>
            </a:pPr>
            <a:r>
              <a:rPr lang="en-US" sz="2400" dirty="0">
                <a:latin typeface="Times New Roman" pitchFamily="18" charset="0"/>
                <a:cs typeface="Times New Roman" pitchFamily="18" charset="0"/>
              </a:rPr>
              <a:t>          </a:t>
            </a:r>
            <a:r>
              <a:rPr lang="en-US" sz="2400" i="1" dirty="0">
                <a:latin typeface="Times New Roman" pitchFamily="18" charset="0"/>
                <a:cs typeface="Times New Roman" pitchFamily="18" charset="0"/>
              </a:rPr>
              <a:t>CF</a:t>
            </a:r>
            <a:r>
              <a:rPr lang="en-US" sz="2400" dirty="0">
                <a:latin typeface="Times New Roman" pitchFamily="18" charset="0"/>
                <a:cs typeface="Times New Roman" pitchFamily="18" charset="0"/>
              </a:rPr>
              <a:t>(</a:t>
            </a:r>
            <a:r>
              <a:rPr lang="en-US" sz="2400" i="1" dirty="0">
                <a:latin typeface="Times New Roman" pitchFamily="18" charset="0"/>
                <a:cs typeface="Times New Roman" pitchFamily="18" charset="0"/>
              </a:rPr>
              <a:t>E</a:t>
            </a:r>
            <a:r>
              <a:rPr lang="en-US" sz="2400" baseline="-25000" dirty="0">
                <a:latin typeface="Times New Roman" pitchFamily="18" charset="0"/>
                <a:cs typeface="Times New Roman" pitchFamily="18" charset="0"/>
              </a:rPr>
              <a:t>1</a:t>
            </a:r>
            <a:r>
              <a:rPr lang="en-US" sz="2400" dirty="0">
                <a:latin typeface="Times New Roman" pitchFamily="18" charset="0"/>
                <a:cs typeface="Times New Roman" pitchFamily="18" charset="0"/>
              </a:rPr>
              <a:t>∨</a:t>
            </a:r>
            <a:r>
              <a:rPr lang="en-US" sz="2400" i="1" dirty="0">
                <a:latin typeface="Times New Roman" pitchFamily="18" charset="0"/>
                <a:cs typeface="Times New Roman" pitchFamily="18" charset="0"/>
              </a:rPr>
              <a:t>E</a:t>
            </a:r>
            <a:r>
              <a:rPr lang="en-US" sz="2400" baseline="-25000" dirty="0">
                <a:latin typeface="Times New Roman" pitchFamily="18" charset="0"/>
                <a:cs typeface="Times New Roman" pitchFamily="18" charset="0"/>
              </a:rPr>
              <a:t>2</a:t>
            </a:r>
            <a:r>
              <a:rPr lang="en-US" sz="2400" dirty="0">
                <a:latin typeface="Times New Roman" pitchFamily="18" charset="0"/>
                <a:cs typeface="Times New Roman" pitchFamily="18" charset="0"/>
              </a:rPr>
              <a:t>∨…∨</a:t>
            </a:r>
            <a:r>
              <a:rPr lang="en-US" sz="2400" i="1" dirty="0">
                <a:latin typeface="Times New Roman" pitchFamily="18" charset="0"/>
                <a:cs typeface="Times New Roman" pitchFamily="18" charset="0"/>
              </a:rPr>
              <a:t>E</a:t>
            </a:r>
            <a:r>
              <a:rPr lang="en-US" sz="2400" i="1" baseline="-25000" dirty="0">
                <a:latin typeface="Times New Roman" pitchFamily="18" charset="0"/>
                <a:cs typeface="Times New Roman" pitchFamily="18" charset="0"/>
              </a:rPr>
              <a:t>n</a:t>
            </a:r>
            <a:r>
              <a:rPr lang="en-US" sz="2400" dirty="0">
                <a:latin typeface="Times New Roman" pitchFamily="18" charset="0"/>
                <a:cs typeface="Times New Roman" pitchFamily="18" charset="0"/>
              </a:rPr>
              <a:t>)</a:t>
            </a:r>
            <a:r>
              <a:rPr lang="zh-CN" altLang="en-US" sz="2400" dirty="0">
                <a:latin typeface="Times New Roman" pitchFamily="18" charset="0"/>
                <a:cs typeface="Times New Roman" pitchFamily="18" charset="0"/>
              </a:rPr>
              <a:t>＝</a:t>
            </a:r>
            <a:r>
              <a:rPr lang="en-US" sz="2400" dirty="0">
                <a:latin typeface="Times New Roman" pitchFamily="18" charset="0"/>
                <a:cs typeface="Times New Roman" pitchFamily="18" charset="0"/>
              </a:rPr>
              <a:t>max{</a:t>
            </a:r>
            <a:r>
              <a:rPr lang="en-US" sz="2400" i="1" dirty="0">
                <a:latin typeface="Times New Roman" pitchFamily="18" charset="0"/>
                <a:cs typeface="Times New Roman" pitchFamily="18" charset="0"/>
              </a:rPr>
              <a:t>CF</a:t>
            </a:r>
            <a:r>
              <a:rPr lang="en-US" sz="2400" dirty="0">
                <a:latin typeface="Times New Roman" pitchFamily="18" charset="0"/>
                <a:cs typeface="Times New Roman" pitchFamily="18" charset="0"/>
              </a:rPr>
              <a:t>(</a:t>
            </a:r>
            <a:r>
              <a:rPr lang="en-US" sz="2400" i="1" dirty="0">
                <a:latin typeface="Times New Roman" pitchFamily="18" charset="0"/>
                <a:cs typeface="Times New Roman" pitchFamily="18" charset="0"/>
              </a:rPr>
              <a:t>E</a:t>
            </a:r>
            <a:r>
              <a:rPr lang="en-US" sz="2400" baseline="-25000" dirty="0">
                <a:latin typeface="Times New Roman" pitchFamily="18" charset="0"/>
                <a:cs typeface="Times New Roman" pitchFamily="18" charset="0"/>
              </a:rPr>
              <a:t>1</a:t>
            </a:r>
            <a:r>
              <a:rPr lang="en-US" sz="2400" dirty="0">
                <a:latin typeface="Times New Roman" pitchFamily="18" charset="0"/>
                <a:cs typeface="Times New Roman" pitchFamily="18" charset="0"/>
              </a:rPr>
              <a:t>), </a:t>
            </a:r>
            <a:r>
              <a:rPr lang="en-US" sz="2400" i="1" dirty="0">
                <a:latin typeface="Times New Roman" pitchFamily="18" charset="0"/>
                <a:cs typeface="Times New Roman" pitchFamily="18" charset="0"/>
              </a:rPr>
              <a:t>CF</a:t>
            </a:r>
            <a:r>
              <a:rPr lang="en-US" sz="2400" dirty="0">
                <a:latin typeface="Times New Roman" pitchFamily="18" charset="0"/>
                <a:cs typeface="Times New Roman" pitchFamily="18" charset="0"/>
              </a:rPr>
              <a:t>(</a:t>
            </a:r>
            <a:r>
              <a:rPr lang="en-US" sz="2400" i="1" dirty="0">
                <a:latin typeface="Times New Roman" pitchFamily="18" charset="0"/>
                <a:cs typeface="Times New Roman" pitchFamily="18" charset="0"/>
              </a:rPr>
              <a:t>E</a:t>
            </a:r>
            <a:r>
              <a:rPr lang="en-US" sz="2400" baseline="-25000" dirty="0">
                <a:latin typeface="Times New Roman" pitchFamily="18" charset="0"/>
                <a:cs typeface="Times New Roman" pitchFamily="18" charset="0"/>
              </a:rPr>
              <a:t>2</a:t>
            </a:r>
            <a:r>
              <a:rPr lang="en-US" sz="2400" dirty="0">
                <a:latin typeface="Times New Roman" pitchFamily="18" charset="0"/>
                <a:cs typeface="Times New Roman" pitchFamily="18" charset="0"/>
              </a:rPr>
              <a:t>), …, </a:t>
            </a:r>
            <a:r>
              <a:rPr lang="en-US" sz="2400" i="1" dirty="0">
                <a:latin typeface="Times New Roman" pitchFamily="18" charset="0"/>
                <a:cs typeface="Times New Roman" pitchFamily="18" charset="0"/>
              </a:rPr>
              <a:t>CF</a:t>
            </a:r>
            <a:r>
              <a:rPr lang="en-US" sz="2400" dirty="0">
                <a:latin typeface="Times New Roman" pitchFamily="18" charset="0"/>
                <a:cs typeface="Times New Roman" pitchFamily="18" charset="0"/>
              </a:rPr>
              <a:t>(</a:t>
            </a:r>
            <a:r>
              <a:rPr lang="en-US" sz="2400" i="1" dirty="0">
                <a:latin typeface="Times New Roman" pitchFamily="18" charset="0"/>
                <a:cs typeface="Times New Roman" pitchFamily="18" charset="0"/>
              </a:rPr>
              <a:t>E</a:t>
            </a:r>
            <a:r>
              <a:rPr lang="en-US" sz="2400" i="1" baseline="-25000" dirty="0">
                <a:latin typeface="Times New Roman" pitchFamily="18" charset="0"/>
                <a:cs typeface="Times New Roman" pitchFamily="18" charset="0"/>
              </a:rPr>
              <a:t>n</a:t>
            </a:r>
            <a:r>
              <a:rPr lang="en-US" sz="2400" dirty="0">
                <a:latin typeface="Times New Roman" pitchFamily="18" charset="0"/>
                <a:cs typeface="Times New Roman" pitchFamily="18" charset="0"/>
              </a:rPr>
              <a:t>)}  </a:t>
            </a:r>
            <a:endParaRPr lang="zh-CN" altLang="en-US" sz="2400" dirty="0">
              <a:latin typeface="Times New Roman" pitchFamily="18" charset="0"/>
              <a:cs typeface="Times New Roman" pitchFamily="18" charset="0"/>
            </a:endParaRPr>
          </a:p>
          <a:p>
            <a:pPr>
              <a:lnSpc>
                <a:spcPct val="150000"/>
              </a:lnSpc>
              <a:buNone/>
            </a:pPr>
            <a:r>
              <a:rPr lang="zh-CN" altLang="en-US" sz="2400" dirty="0">
                <a:latin typeface="Times New Roman" pitchFamily="18" charset="0"/>
                <a:cs typeface="Times New Roman" pitchFamily="18" charset="0"/>
              </a:rPr>
              <a:t>    其中</a:t>
            </a:r>
            <a:r>
              <a:rPr lang="en-US" sz="2400" i="1" dirty="0">
                <a:latin typeface="Times New Roman" pitchFamily="18" charset="0"/>
                <a:cs typeface="Times New Roman" pitchFamily="18" charset="0"/>
              </a:rPr>
              <a:t>E</a:t>
            </a:r>
            <a:r>
              <a:rPr lang="en-US" sz="2400" baseline="-25000" dirty="0">
                <a:latin typeface="Times New Roman" pitchFamily="18" charset="0"/>
                <a:cs typeface="Times New Roman" pitchFamily="18" charset="0"/>
              </a:rPr>
              <a:t>1</a:t>
            </a:r>
            <a:r>
              <a:rPr lang="en-US" sz="2400" dirty="0">
                <a:latin typeface="Times New Roman" pitchFamily="18" charset="0"/>
                <a:cs typeface="Times New Roman" pitchFamily="18" charset="0"/>
              </a:rPr>
              <a:t>, </a:t>
            </a:r>
            <a:r>
              <a:rPr lang="en-US" sz="2400" i="1" dirty="0">
                <a:latin typeface="Times New Roman" pitchFamily="18" charset="0"/>
                <a:cs typeface="Times New Roman" pitchFamily="18" charset="0"/>
              </a:rPr>
              <a:t>E</a:t>
            </a:r>
            <a:r>
              <a:rPr lang="en-US" sz="2400" baseline="-25000" dirty="0">
                <a:latin typeface="Times New Roman" pitchFamily="18" charset="0"/>
                <a:cs typeface="Times New Roman" pitchFamily="18" charset="0"/>
              </a:rPr>
              <a:t>2</a:t>
            </a:r>
            <a:r>
              <a:rPr lang="en-US" sz="2400" dirty="0">
                <a:latin typeface="Times New Roman" pitchFamily="18" charset="0"/>
                <a:cs typeface="Times New Roman" pitchFamily="18" charset="0"/>
              </a:rPr>
              <a:t>, …, </a:t>
            </a:r>
            <a:r>
              <a:rPr lang="en-US" sz="2400" i="1" dirty="0">
                <a:latin typeface="Times New Roman" pitchFamily="18" charset="0"/>
                <a:cs typeface="Times New Roman" pitchFamily="18" charset="0"/>
              </a:rPr>
              <a:t>E</a:t>
            </a:r>
            <a:r>
              <a:rPr lang="en-US" sz="2400" i="1" baseline="-25000" dirty="0">
                <a:latin typeface="Times New Roman" pitchFamily="18" charset="0"/>
                <a:cs typeface="Times New Roman" pitchFamily="18" charset="0"/>
              </a:rPr>
              <a:t>n</a:t>
            </a:r>
            <a:r>
              <a:rPr lang="zh-CN" altLang="en-US" sz="2400" dirty="0">
                <a:latin typeface="Times New Roman" pitchFamily="18" charset="0"/>
                <a:cs typeface="Times New Roman" pitchFamily="18" charset="0"/>
              </a:rPr>
              <a:t>是与规则前提各条件匹配的事实。</a:t>
            </a:r>
          </a:p>
          <a:p>
            <a:pPr>
              <a:lnSpc>
                <a:spcPct val="150000"/>
              </a:lnSpc>
              <a:buNone/>
            </a:pPr>
            <a:r>
              <a:rPr lang="en-US" sz="2400" dirty="0">
                <a:latin typeface="Times New Roman" pitchFamily="18" charset="0"/>
                <a:cs typeface="Times New Roman" pitchFamily="18" charset="0"/>
              </a:rPr>
              <a:t>     </a:t>
            </a:r>
            <a:r>
              <a:rPr lang="en-US" sz="2400" dirty="0">
                <a:latin typeface="Times New Roman" pitchFamily="18" charset="0"/>
                <a:ea typeface="楷体" pitchFamily="49" charset="-122"/>
                <a:cs typeface="Times New Roman" pitchFamily="18" charset="0"/>
              </a:rPr>
              <a:t>3. </a:t>
            </a:r>
            <a:r>
              <a:rPr lang="zh-CN" altLang="en-US" sz="2400" b="1" dirty="0">
                <a:latin typeface="Times New Roman" pitchFamily="18" charset="0"/>
                <a:ea typeface="楷体" pitchFamily="49" charset="-122"/>
                <a:cs typeface="Times New Roman" pitchFamily="18" charset="0"/>
              </a:rPr>
              <a:t>推理结论</a:t>
            </a:r>
            <a:r>
              <a:rPr lang="en-US" sz="2400" b="1" i="1" dirty="0">
                <a:latin typeface="Times New Roman" pitchFamily="18" charset="0"/>
                <a:ea typeface="楷体" pitchFamily="49" charset="-122"/>
                <a:cs typeface="Times New Roman" pitchFamily="18" charset="0"/>
              </a:rPr>
              <a:t>CF</a:t>
            </a:r>
            <a:r>
              <a:rPr lang="zh-CN" altLang="en-US" sz="2400" b="1" dirty="0">
                <a:latin typeface="Times New Roman" pitchFamily="18" charset="0"/>
                <a:ea typeface="楷体" pitchFamily="49" charset="-122"/>
                <a:cs typeface="Times New Roman" pitchFamily="18" charset="0"/>
              </a:rPr>
              <a:t>值计算</a:t>
            </a:r>
            <a:endParaRPr lang="zh-CN" altLang="en-US" sz="2400" dirty="0">
              <a:latin typeface="Times New Roman" pitchFamily="18" charset="0"/>
              <a:ea typeface="楷体" pitchFamily="49" charset="-122"/>
              <a:cs typeface="Times New Roman" pitchFamily="18" charset="0"/>
            </a:endParaRPr>
          </a:p>
          <a:p>
            <a:pPr>
              <a:lnSpc>
                <a:spcPct val="150000"/>
              </a:lnSpc>
              <a:buNone/>
            </a:pPr>
            <a:r>
              <a:rPr lang="en-US" sz="2400" dirty="0">
                <a:latin typeface="Times New Roman" pitchFamily="18" charset="0"/>
                <a:cs typeface="Times New Roman" pitchFamily="18" charset="0"/>
              </a:rPr>
              <a:t>                        </a:t>
            </a:r>
            <a:r>
              <a:rPr lang="en-US" sz="2400" i="1" dirty="0">
                <a:latin typeface="Times New Roman" pitchFamily="18" charset="0"/>
                <a:cs typeface="Times New Roman" pitchFamily="18" charset="0"/>
              </a:rPr>
              <a:t>CF</a:t>
            </a:r>
            <a:r>
              <a:rPr lang="en-US" sz="2400" dirty="0">
                <a:latin typeface="Times New Roman" pitchFamily="18" charset="0"/>
                <a:cs typeface="Times New Roman" pitchFamily="18" charset="0"/>
              </a:rPr>
              <a:t>(</a:t>
            </a:r>
            <a:r>
              <a:rPr lang="en-US" sz="2400" i="1" dirty="0">
                <a:latin typeface="Times New Roman" pitchFamily="18" charset="0"/>
                <a:cs typeface="Times New Roman" pitchFamily="18" charset="0"/>
              </a:rPr>
              <a:t>H</a:t>
            </a:r>
            <a:r>
              <a:rPr lang="en-US" sz="2400" dirty="0">
                <a:latin typeface="Times New Roman" pitchFamily="18" charset="0"/>
                <a:cs typeface="Times New Roman" pitchFamily="18" charset="0"/>
              </a:rPr>
              <a:t>)</a:t>
            </a:r>
            <a:r>
              <a:rPr lang="zh-CN" altLang="en-US" sz="2400" dirty="0">
                <a:latin typeface="Times New Roman" pitchFamily="18" charset="0"/>
                <a:cs typeface="Times New Roman" pitchFamily="18" charset="0"/>
              </a:rPr>
              <a:t>＝</a:t>
            </a:r>
            <a:r>
              <a:rPr lang="en-US" sz="2400" i="1" dirty="0">
                <a:latin typeface="Times New Roman" pitchFamily="18" charset="0"/>
                <a:cs typeface="Times New Roman" pitchFamily="18" charset="0"/>
              </a:rPr>
              <a:t>CF</a:t>
            </a:r>
            <a:r>
              <a:rPr lang="en-US" sz="2400" dirty="0">
                <a:latin typeface="Times New Roman" pitchFamily="18" charset="0"/>
                <a:cs typeface="Times New Roman" pitchFamily="18" charset="0"/>
              </a:rPr>
              <a:t>(</a:t>
            </a:r>
            <a:r>
              <a:rPr lang="en-US" sz="2400" i="1" dirty="0">
                <a:latin typeface="Times New Roman" pitchFamily="18" charset="0"/>
                <a:cs typeface="Times New Roman" pitchFamily="18" charset="0"/>
              </a:rPr>
              <a:t>H</a:t>
            </a:r>
            <a:r>
              <a:rPr lang="en-US" sz="2400" dirty="0">
                <a:latin typeface="Times New Roman" pitchFamily="18" charset="0"/>
                <a:cs typeface="Times New Roman" pitchFamily="18" charset="0"/>
              </a:rPr>
              <a:t>, </a:t>
            </a:r>
            <a:r>
              <a:rPr lang="en-US" sz="2400" i="1" dirty="0">
                <a:latin typeface="Times New Roman" pitchFamily="18" charset="0"/>
                <a:cs typeface="Times New Roman" pitchFamily="18" charset="0"/>
              </a:rPr>
              <a:t>E</a:t>
            </a:r>
            <a:r>
              <a:rPr lang="en-US" sz="2400" dirty="0">
                <a:latin typeface="Times New Roman" pitchFamily="18" charset="0"/>
                <a:cs typeface="Times New Roman" pitchFamily="18" charset="0"/>
              </a:rPr>
              <a:t>)</a:t>
            </a:r>
            <a:r>
              <a:rPr lang="en-US" sz="2400" dirty="0">
                <a:latin typeface="Times New Roman" pitchFamily="18" charset="0"/>
                <a:cs typeface="Times New Roman" pitchFamily="18" charset="0"/>
                <a:sym typeface="Symbol"/>
              </a:rPr>
              <a:t></a:t>
            </a:r>
            <a:r>
              <a:rPr lang="en-US" sz="2400" dirty="0">
                <a:latin typeface="Times New Roman" pitchFamily="18" charset="0"/>
                <a:cs typeface="Times New Roman" pitchFamily="18" charset="0"/>
              </a:rPr>
              <a:t>max{0, </a:t>
            </a:r>
            <a:r>
              <a:rPr lang="en-US" sz="2400" i="1" dirty="0">
                <a:latin typeface="Times New Roman" pitchFamily="18" charset="0"/>
                <a:cs typeface="Times New Roman" pitchFamily="18" charset="0"/>
              </a:rPr>
              <a:t>CF</a:t>
            </a:r>
            <a:r>
              <a:rPr lang="en-US" sz="2400" dirty="0">
                <a:latin typeface="Times New Roman" pitchFamily="18" charset="0"/>
                <a:cs typeface="Times New Roman" pitchFamily="18" charset="0"/>
              </a:rPr>
              <a:t>(</a:t>
            </a:r>
            <a:r>
              <a:rPr lang="en-US" sz="2400" i="1" dirty="0">
                <a:latin typeface="Times New Roman" pitchFamily="18" charset="0"/>
                <a:cs typeface="Times New Roman" pitchFamily="18" charset="0"/>
              </a:rPr>
              <a:t>E</a:t>
            </a:r>
            <a:r>
              <a:rPr lang="en-US" sz="2400" dirty="0">
                <a:latin typeface="Times New Roman" pitchFamily="18" charset="0"/>
                <a:cs typeface="Times New Roman" pitchFamily="18" charset="0"/>
              </a:rPr>
              <a:t>)}                (8-6)</a:t>
            </a:r>
            <a:endParaRPr lang="zh-CN" altLang="en-US" sz="2400" dirty="0">
              <a:latin typeface="Times New Roman" pitchFamily="18" charset="0"/>
              <a:cs typeface="Times New Roman" pitchFamily="18" charset="0"/>
            </a:endParaRPr>
          </a:p>
          <a:p>
            <a:pPr>
              <a:lnSpc>
                <a:spcPct val="150000"/>
              </a:lnSpc>
              <a:buNone/>
            </a:pPr>
            <a:r>
              <a:rPr lang="zh-CN" altLang="en-US" sz="2400" dirty="0">
                <a:latin typeface="Times New Roman" pitchFamily="18" charset="0"/>
                <a:cs typeface="Times New Roman" pitchFamily="18" charset="0"/>
              </a:rPr>
              <a:t>    其中</a:t>
            </a:r>
            <a:r>
              <a:rPr lang="en-US" sz="2400" i="1" dirty="0">
                <a:latin typeface="Times New Roman" pitchFamily="18" charset="0"/>
                <a:cs typeface="Times New Roman" pitchFamily="18" charset="0"/>
              </a:rPr>
              <a:t>E</a:t>
            </a:r>
            <a:r>
              <a:rPr lang="zh-CN" altLang="en-US" sz="2400" dirty="0">
                <a:latin typeface="Times New Roman" pitchFamily="18" charset="0"/>
                <a:cs typeface="Times New Roman" pitchFamily="18" charset="0"/>
              </a:rPr>
              <a:t>是与规则前提对应的事实，</a:t>
            </a:r>
            <a:r>
              <a:rPr lang="en-US" sz="2400" i="1" dirty="0">
                <a:latin typeface="Times New Roman" pitchFamily="18" charset="0"/>
                <a:cs typeface="Times New Roman" pitchFamily="18" charset="0"/>
              </a:rPr>
              <a:t>CF</a:t>
            </a:r>
            <a:r>
              <a:rPr lang="en-US" sz="2400" dirty="0">
                <a:latin typeface="Times New Roman" pitchFamily="18" charset="0"/>
                <a:cs typeface="Times New Roman" pitchFamily="18" charset="0"/>
              </a:rPr>
              <a:t>(</a:t>
            </a:r>
            <a:r>
              <a:rPr lang="en-US" sz="2400" i="1" dirty="0">
                <a:latin typeface="Times New Roman" pitchFamily="18" charset="0"/>
                <a:cs typeface="Times New Roman" pitchFamily="18" charset="0"/>
              </a:rPr>
              <a:t>H</a:t>
            </a:r>
            <a:r>
              <a:rPr lang="en-US" sz="2400" dirty="0">
                <a:latin typeface="Times New Roman" pitchFamily="18" charset="0"/>
                <a:cs typeface="Times New Roman" pitchFamily="18" charset="0"/>
              </a:rPr>
              <a:t>, </a:t>
            </a:r>
            <a:r>
              <a:rPr lang="en-US" sz="2400" i="1" dirty="0">
                <a:latin typeface="Times New Roman" pitchFamily="18" charset="0"/>
                <a:cs typeface="Times New Roman" pitchFamily="18" charset="0"/>
              </a:rPr>
              <a:t>E</a:t>
            </a:r>
            <a:r>
              <a:rPr lang="en-US" sz="2400" dirty="0">
                <a:latin typeface="Times New Roman" pitchFamily="18" charset="0"/>
                <a:cs typeface="Times New Roman" pitchFamily="18" charset="0"/>
              </a:rPr>
              <a:t>)</a:t>
            </a:r>
            <a:r>
              <a:rPr lang="zh-CN" altLang="en-US" sz="2400" dirty="0">
                <a:latin typeface="Times New Roman" pitchFamily="18" charset="0"/>
                <a:cs typeface="Times New Roman" pitchFamily="18" charset="0"/>
              </a:rPr>
              <a:t>是规则中结论的可信度，即规则强度。</a:t>
            </a:r>
            <a:endParaRPr lang="en-US" altLang="zh-CN" sz="2400" dirty="0">
              <a:latin typeface="Times New Roman" pitchFamily="18" charset="0"/>
              <a:cs typeface="Times New Roman" pitchFamily="18" charset="0"/>
            </a:endParaRPr>
          </a:p>
          <a:p>
            <a:pPr>
              <a:lnSpc>
                <a:spcPct val="150000"/>
              </a:lnSpc>
              <a:buNone/>
            </a:pPr>
            <a:r>
              <a:rPr lang="zh-CN" altLang="en-US" sz="2400" dirty="0"/>
              <a:t>    </a:t>
            </a:r>
            <a:r>
              <a:rPr lang="zh-CN" altLang="en-US" sz="2400" dirty="0">
                <a:solidFill>
                  <a:srgbClr val="FF0000"/>
                </a:solidFill>
              </a:rPr>
              <a:t>结论可信不可信，不仅取决于规则本身“靠不靠谱”，还取决于前提证据到底有多可信。</a:t>
            </a:r>
            <a:endParaRPr lang="en-US" altLang="zh-CN" sz="2400" dirty="0">
              <a:solidFill>
                <a:srgbClr val="FF0000"/>
              </a:solidFill>
              <a:latin typeface="Times New Roman" pitchFamily="18" charset="0"/>
              <a:cs typeface="Times New Roman" pitchFamily="18" charset="0"/>
            </a:endParaRPr>
          </a:p>
          <a:p>
            <a:endParaRPr lang="en-US" altLang="zh-CN" sz="2400" dirty="0"/>
          </a:p>
          <a:p>
            <a:endParaRPr lang="en-US" altLang="zh-CN" sz="2400" dirty="0">
              <a:solidFill>
                <a:schemeClr val="tx1"/>
              </a:solidFill>
              <a:latin typeface="+mn-lt"/>
              <a:ea typeface="+mn-ea"/>
              <a:cs typeface="+mn-cs"/>
            </a:endParaRPr>
          </a:p>
          <a:p>
            <a:endParaRPr lang="en-US" altLang="zh-CN" sz="2400" dirty="0"/>
          </a:p>
          <a:p>
            <a:pPr>
              <a:buNone/>
            </a:pPr>
            <a:r>
              <a:rPr kumimoji="1" lang="en-US" altLang="zh-CN" sz="2000" dirty="0">
                <a:latin typeface="黑体" pitchFamily="49" charset="-122"/>
                <a:ea typeface="黑体" pitchFamily="49" charset="-122"/>
              </a:rPr>
              <a:t> </a:t>
            </a:r>
            <a:endParaRPr lang="zh-CN" altLang="en-US" sz="2000" dirty="0">
              <a:latin typeface="仿宋_GB2312" pitchFamily="49" charset="-122"/>
              <a:ea typeface="仿宋_GB2312" pitchFamily="49" charset="-122"/>
            </a:endParaRPr>
          </a:p>
        </p:txBody>
      </p:sp>
      <p:sp>
        <p:nvSpPr>
          <p:cNvPr id="106506" name="Rectangle 10"/>
          <p:cNvSpPr>
            <a:spLocks noChangeArrowheads="1"/>
          </p:cNvSpPr>
          <p:nvPr/>
        </p:nvSpPr>
        <p:spPr bwMode="auto">
          <a:xfrm>
            <a:off x="0" y="0"/>
            <a:ext cx="9144000" cy="0"/>
          </a:xfrm>
          <a:prstGeom prst="rect">
            <a:avLst/>
          </a:prstGeom>
          <a:noFill/>
          <a:ln w="9525">
            <a:noFill/>
            <a:miter lim="800000"/>
            <a:headEnd/>
            <a:tailEnd/>
          </a:ln>
          <a:effectLst/>
        </p:spPr>
        <p:txBody>
          <a:bodyPr wrap="none" anchor="ctr">
            <a:spAutoFit/>
          </a:bodyPr>
          <a:lstStyle/>
          <a:p>
            <a:endParaRPr lang="zh-CN" altLang="en-US"/>
          </a:p>
        </p:txBody>
      </p:sp>
      <p:graphicFrame>
        <p:nvGraphicFramePr>
          <p:cNvPr id="106505" name="Object 9"/>
          <p:cNvGraphicFramePr>
            <a:graphicFrameLocks noChangeAspect="1"/>
          </p:cNvGraphicFramePr>
          <p:nvPr/>
        </p:nvGraphicFramePr>
        <p:xfrm>
          <a:off x="0" y="0"/>
          <a:ext cx="190500" cy="152400"/>
        </p:xfrm>
        <a:graphic>
          <a:graphicData uri="http://schemas.openxmlformats.org/presentationml/2006/ole">
            <mc:AlternateContent xmlns:mc="http://schemas.openxmlformats.org/markup-compatibility/2006">
              <mc:Choice xmlns:v="urn:schemas-microsoft-com:vml" Requires="v">
                <p:oleObj name="公式" r:id="rId3" imgW="190417" imgH="152334" progId="Equation.3">
                  <p:embed/>
                </p:oleObj>
              </mc:Choice>
              <mc:Fallback>
                <p:oleObj name="公式" r:id="rId3" imgW="190417" imgH="152334" progId="Equation.3">
                  <p:embed/>
                  <p:pic>
                    <p:nvPicPr>
                      <p:cNvPr id="0" name="Picture 9"/>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0"/>
                        <a:ext cx="190500" cy="1524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05475">
                                            <p:txEl>
                                              <p:pRg st="11" end="11"/>
                                            </p:txEl>
                                          </p:spTgt>
                                        </p:tgtEl>
                                        <p:attrNameLst>
                                          <p:attrName>style.visibility</p:attrName>
                                        </p:attrNameLst>
                                      </p:cBhvr>
                                      <p:to>
                                        <p:strVal val="visible"/>
                                      </p:to>
                                    </p:set>
                                    <p:anim calcmode="lin" valueType="num">
                                      <p:cBhvr additive="base">
                                        <p:cTn id="7" dur="500" fill="hold"/>
                                        <p:tgtEl>
                                          <p:spTgt spid="105475">
                                            <p:txEl>
                                              <p:pRg st="11" end="1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05475">
                                            <p:txEl>
                                              <p:pRg st="11" end="1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5475" grpId="0" uiExpand="1" build="p"/>
    </p:bldLst>
  </p:timing>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内容占位符 3"/>
          <p:cNvSpPr>
            <a:spLocks noGrp="1"/>
          </p:cNvSpPr>
          <p:nvPr>
            <p:ph idx="1"/>
          </p:nvPr>
        </p:nvSpPr>
        <p:spPr>
          <a:xfrm>
            <a:off x="339696" y="469880"/>
            <a:ext cx="8345516" cy="5786478"/>
          </a:xfrm>
        </p:spPr>
        <p:txBody>
          <a:bodyPr/>
          <a:lstStyle/>
          <a:p>
            <a:pPr>
              <a:lnSpc>
                <a:spcPct val="150000"/>
              </a:lnSpc>
              <a:buNone/>
            </a:pPr>
            <a:r>
              <a:rPr lang="en-US" dirty="0"/>
              <a:t>    </a:t>
            </a:r>
            <a:r>
              <a:rPr lang="en-US" sz="2400" dirty="0">
                <a:latin typeface="楷体" pitchFamily="49" charset="-122"/>
                <a:ea typeface="楷体" pitchFamily="49" charset="-122"/>
              </a:rPr>
              <a:t>4. </a:t>
            </a:r>
            <a:r>
              <a:rPr lang="zh-CN" altLang="en-US" sz="2400" b="1" dirty="0">
                <a:latin typeface="楷体" pitchFamily="49" charset="-122"/>
                <a:ea typeface="楷体" pitchFamily="49" charset="-122"/>
              </a:rPr>
              <a:t>重复结论的</a:t>
            </a:r>
            <a:r>
              <a:rPr lang="en-US" sz="2400" i="1" dirty="0">
                <a:latin typeface="Times New Roman" pitchFamily="18" charset="0"/>
                <a:ea typeface="楷体" pitchFamily="49" charset="-122"/>
                <a:cs typeface="Times New Roman" pitchFamily="18" charset="0"/>
              </a:rPr>
              <a:t>CF</a:t>
            </a:r>
            <a:r>
              <a:rPr lang="zh-CN" altLang="en-US" sz="2400" b="1" dirty="0">
                <a:latin typeface="Times New Roman" pitchFamily="18" charset="0"/>
                <a:ea typeface="楷体" pitchFamily="49" charset="-122"/>
                <a:cs typeface="Times New Roman" pitchFamily="18" charset="0"/>
              </a:rPr>
              <a:t>值</a:t>
            </a:r>
            <a:r>
              <a:rPr lang="zh-CN" altLang="en-US" sz="2400" b="1" dirty="0">
                <a:latin typeface="楷体" pitchFamily="49" charset="-122"/>
                <a:ea typeface="楷体" pitchFamily="49" charset="-122"/>
              </a:rPr>
              <a:t>计算</a:t>
            </a:r>
            <a:endParaRPr lang="zh-CN" altLang="en-US" sz="2400" dirty="0">
              <a:latin typeface="楷体" pitchFamily="49" charset="-122"/>
              <a:ea typeface="楷体" pitchFamily="49" charset="-122"/>
            </a:endParaRPr>
          </a:p>
          <a:p>
            <a:pPr>
              <a:lnSpc>
                <a:spcPct val="130000"/>
              </a:lnSpc>
              <a:buNone/>
            </a:pPr>
            <a:r>
              <a:rPr lang="en-US" sz="2400" dirty="0">
                <a:latin typeface="Times New Roman" pitchFamily="18" charset="0"/>
                <a:cs typeface="Times New Roman" pitchFamily="18" charset="0"/>
              </a:rPr>
              <a:t>           </a:t>
            </a:r>
            <a:r>
              <a:rPr lang="zh-CN" altLang="en-US" sz="2400" dirty="0">
                <a:latin typeface="Times New Roman" pitchFamily="18" charset="0"/>
                <a:cs typeface="Times New Roman" pitchFamily="18" charset="0"/>
              </a:rPr>
              <a:t>若同一结论</a:t>
            </a:r>
            <a:r>
              <a:rPr lang="en-US" sz="2400" i="1" dirty="0">
                <a:latin typeface="Times New Roman" pitchFamily="18" charset="0"/>
                <a:cs typeface="Times New Roman" pitchFamily="18" charset="0"/>
              </a:rPr>
              <a:t>H</a:t>
            </a:r>
            <a:r>
              <a:rPr lang="zh-CN" altLang="en-US" sz="2400" dirty="0">
                <a:latin typeface="Times New Roman" pitchFamily="18" charset="0"/>
                <a:cs typeface="Times New Roman" pitchFamily="18" charset="0"/>
              </a:rPr>
              <a:t>分别被不同的两条规则推出，而得到两个可信度</a:t>
            </a:r>
            <a:r>
              <a:rPr lang="en-US" sz="2400" i="1" dirty="0">
                <a:latin typeface="Times New Roman" pitchFamily="18" charset="0"/>
                <a:cs typeface="Times New Roman" pitchFamily="18" charset="0"/>
              </a:rPr>
              <a:t>CF</a:t>
            </a:r>
            <a:r>
              <a:rPr lang="en-US" sz="2400" dirty="0">
                <a:latin typeface="Times New Roman" pitchFamily="18" charset="0"/>
                <a:cs typeface="Times New Roman" pitchFamily="18" charset="0"/>
              </a:rPr>
              <a:t>(</a:t>
            </a:r>
            <a:r>
              <a:rPr lang="en-US" sz="2400" i="1" dirty="0">
                <a:latin typeface="Times New Roman" pitchFamily="18" charset="0"/>
                <a:cs typeface="Times New Roman" pitchFamily="18" charset="0"/>
              </a:rPr>
              <a:t>H</a:t>
            </a:r>
            <a:r>
              <a:rPr lang="en-US" sz="2400" dirty="0">
                <a:latin typeface="Times New Roman" pitchFamily="18" charset="0"/>
                <a:cs typeface="Times New Roman" pitchFamily="18" charset="0"/>
              </a:rPr>
              <a:t>)</a:t>
            </a:r>
            <a:r>
              <a:rPr lang="en-US" sz="2400" baseline="-25000" dirty="0">
                <a:latin typeface="Times New Roman" pitchFamily="18" charset="0"/>
                <a:cs typeface="Times New Roman" pitchFamily="18" charset="0"/>
              </a:rPr>
              <a:t>1</a:t>
            </a:r>
            <a:r>
              <a:rPr lang="zh-CN" altLang="en-US" sz="2400" dirty="0">
                <a:latin typeface="Times New Roman" pitchFamily="18" charset="0"/>
                <a:cs typeface="Times New Roman" pitchFamily="18" charset="0"/>
              </a:rPr>
              <a:t>和</a:t>
            </a:r>
            <a:r>
              <a:rPr lang="en-US" sz="2400" i="1" dirty="0">
                <a:latin typeface="Times New Roman" pitchFamily="18" charset="0"/>
                <a:cs typeface="Times New Roman" pitchFamily="18" charset="0"/>
              </a:rPr>
              <a:t>CF</a:t>
            </a:r>
            <a:r>
              <a:rPr lang="en-US" sz="2400" dirty="0">
                <a:latin typeface="Times New Roman" pitchFamily="18" charset="0"/>
                <a:cs typeface="Times New Roman" pitchFamily="18" charset="0"/>
              </a:rPr>
              <a:t>(</a:t>
            </a:r>
            <a:r>
              <a:rPr lang="en-US" sz="2400" i="1" dirty="0">
                <a:latin typeface="Times New Roman" pitchFamily="18" charset="0"/>
                <a:cs typeface="Times New Roman" pitchFamily="18" charset="0"/>
              </a:rPr>
              <a:t>H</a:t>
            </a:r>
            <a:r>
              <a:rPr lang="en-US" sz="2400" dirty="0">
                <a:latin typeface="Times New Roman" pitchFamily="18" charset="0"/>
                <a:cs typeface="Times New Roman" pitchFamily="18" charset="0"/>
              </a:rPr>
              <a:t>)</a:t>
            </a:r>
            <a:r>
              <a:rPr lang="en-US" sz="2400" baseline="-25000" dirty="0">
                <a:latin typeface="Times New Roman" pitchFamily="18" charset="0"/>
                <a:cs typeface="Times New Roman" pitchFamily="18" charset="0"/>
              </a:rPr>
              <a:t>2</a:t>
            </a:r>
            <a:r>
              <a:rPr lang="zh-CN" altLang="en-US" sz="2400" dirty="0">
                <a:latin typeface="Times New Roman" pitchFamily="18" charset="0"/>
                <a:cs typeface="Times New Roman" pitchFamily="18" charset="0"/>
              </a:rPr>
              <a:t>，则最终的</a:t>
            </a:r>
            <a:r>
              <a:rPr lang="en-US" sz="2400" i="1" dirty="0">
                <a:latin typeface="Times New Roman" pitchFamily="18" charset="0"/>
                <a:cs typeface="Times New Roman" pitchFamily="18" charset="0"/>
              </a:rPr>
              <a:t>CF</a:t>
            </a:r>
            <a:r>
              <a:rPr lang="en-US" sz="2400" dirty="0">
                <a:latin typeface="Times New Roman" pitchFamily="18" charset="0"/>
                <a:cs typeface="Times New Roman" pitchFamily="18" charset="0"/>
              </a:rPr>
              <a:t>(</a:t>
            </a:r>
            <a:r>
              <a:rPr lang="en-US" sz="2400" i="1" dirty="0">
                <a:latin typeface="Times New Roman" pitchFamily="18" charset="0"/>
                <a:cs typeface="Times New Roman" pitchFamily="18" charset="0"/>
              </a:rPr>
              <a:t>H</a:t>
            </a:r>
            <a:r>
              <a:rPr lang="en-US" sz="2400" dirty="0">
                <a:latin typeface="Times New Roman" pitchFamily="18" charset="0"/>
                <a:cs typeface="Times New Roman" pitchFamily="18" charset="0"/>
              </a:rPr>
              <a:t>)</a:t>
            </a:r>
            <a:r>
              <a:rPr lang="zh-CN" altLang="en-US" sz="2400" dirty="0">
                <a:latin typeface="Times New Roman" pitchFamily="18" charset="0"/>
                <a:cs typeface="Times New Roman" pitchFamily="18" charset="0"/>
              </a:rPr>
              <a:t>为</a:t>
            </a:r>
          </a:p>
          <a:p>
            <a:pPr>
              <a:lnSpc>
                <a:spcPct val="150000"/>
              </a:lnSpc>
              <a:buNone/>
            </a:pPr>
            <a:r>
              <a:rPr lang="en-US" sz="2400" i="1" dirty="0">
                <a:latin typeface="Times New Roman" pitchFamily="18" charset="0"/>
                <a:cs typeface="Times New Roman" pitchFamily="18" charset="0"/>
              </a:rPr>
              <a:t>                          CF</a:t>
            </a:r>
            <a:r>
              <a:rPr lang="en-US" sz="2400" dirty="0">
                <a:latin typeface="Times New Roman" pitchFamily="18" charset="0"/>
                <a:cs typeface="Times New Roman" pitchFamily="18" charset="0"/>
              </a:rPr>
              <a:t>(</a:t>
            </a:r>
            <a:r>
              <a:rPr lang="en-US" sz="2400" i="1" dirty="0">
                <a:latin typeface="Times New Roman" pitchFamily="18" charset="0"/>
                <a:cs typeface="Times New Roman" pitchFamily="18" charset="0"/>
              </a:rPr>
              <a:t>H</a:t>
            </a:r>
            <a:r>
              <a:rPr lang="en-US" sz="2400" dirty="0">
                <a:latin typeface="Times New Roman" pitchFamily="18" charset="0"/>
                <a:cs typeface="Times New Roman" pitchFamily="18" charset="0"/>
              </a:rPr>
              <a:t>)</a:t>
            </a:r>
            <a:r>
              <a:rPr lang="en-US" sz="2400" baseline="-25000" dirty="0">
                <a:latin typeface="Times New Roman" pitchFamily="18" charset="0"/>
                <a:cs typeface="Times New Roman" pitchFamily="18" charset="0"/>
              </a:rPr>
              <a:t>1</a:t>
            </a:r>
            <a:r>
              <a:rPr lang="zh-CN" altLang="en-US" sz="2400" dirty="0">
                <a:latin typeface="Times New Roman" pitchFamily="18" charset="0"/>
                <a:cs typeface="Times New Roman" pitchFamily="18" charset="0"/>
              </a:rPr>
              <a:t>＋</a:t>
            </a:r>
            <a:r>
              <a:rPr lang="en-US" sz="2400" i="1" dirty="0">
                <a:latin typeface="Times New Roman" pitchFamily="18" charset="0"/>
                <a:cs typeface="Times New Roman" pitchFamily="18" charset="0"/>
              </a:rPr>
              <a:t>CF</a:t>
            </a:r>
            <a:r>
              <a:rPr lang="en-US" sz="2400" dirty="0">
                <a:latin typeface="Times New Roman" pitchFamily="18" charset="0"/>
                <a:cs typeface="Times New Roman" pitchFamily="18" charset="0"/>
              </a:rPr>
              <a:t>(</a:t>
            </a:r>
            <a:r>
              <a:rPr lang="en-US" sz="2400" i="1" dirty="0">
                <a:latin typeface="Times New Roman" pitchFamily="18" charset="0"/>
                <a:cs typeface="Times New Roman" pitchFamily="18" charset="0"/>
              </a:rPr>
              <a:t>H</a:t>
            </a:r>
            <a:r>
              <a:rPr lang="en-US" sz="2400" dirty="0">
                <a:latin typeface="Times New Roman" pitchFamily="18" charset="0"/>
                <a:cs typeface="Times New Roman" pitchFamily="18" charset="0"/>
              </a:rPr>
              <a:t>)</a:t>
            </a:r>
            <a:r>
              <a:rPr lang="en-US" sz="2400" baseline="-25000" dirty="0">
                <a:latin typeface="Times New Roman" pitchFamily="18" charset="0"/>
                <a:cs typeface="Times New Roman" pitchFamily="18" charset="0"/>
              </a:rPr>
              <a:t>2</a:t>
            </a:r>
            <a:r>
              <a:rPr lang="zh-CN" altLang="en-US" sz="2400" dirty="0">
                <a:latin typeface="Times New Roman" pitchFamily="18" charset="0"/>
                <a:cs typeface="Times New Roman" pitchFamily="18" charset="0"/>
              </a:rPr>
              <a:t>－</a:t>
            </a:r>
            <a:r>
              <a:rPr lang="en-US" sz="2400" i="1" dirty="0">
                <a:latin typeface="Times New Roman" pitchFamily="18" charset="0"/>
                <a:cs typeface="Times New Roman" pitchFamily="18" charset="0"/>
              </a:rPr>
              <a:t>CF</a:t>
            </a:r>
            <a:r>
              <a:rPr lang="en-US" sz="2400" dirty="0">
                <a:latin typeface="Times New Roman" pitchFamily="18" charset="0"/>
                <a:cs typeface="Times New Roman" pitchFamily="18" charset="0"/>
              </a:rPr>
              <a:t>(</a:t>
            </a:r>
            <a:r>
              <a:rPr lang="en-US" sz="2400" i="1" dirty="0">
                <a:latin typeface="Times New Roman" pitchFamily="18" charset="0"/>
                <a:cs typeface="Times New Roman" pitchFamily="18" charset="0"/>
              </a:rPr>
              <a:t>H</a:t>
            </a:r>
            <a:r>
              <a:rPr lang="en-US" sz="2400" dirty="0">
                <a:latin typeface="Times New Roman" pitchFamily="18" charset="0"/>
                <a:cs typeface="Times New Roman" pitchFamily="18" charset="0"/>
              </a:rPr>
              <a:t>)</a:t>
            </a:r>
            <a:r>
              <a:rPr lang="en-US" sz="2400" baseline="-25000" dirty="0">
                <a:latin typeface="Times New Roman" pitchFamily="18" charset="0"/>
                <a:cs typeface="Times New Roman" pitchFamily="18" charset="0"/>
              </a:rPr>
              <a:t>1</a:t>
            </a:r>
            <a:r>
              <a:rPr lang="en-US" sz="2400" dirty="0">
                <a:latin typeface="Times New Roman" pitchFamily="18" charset="0"/>
                <a:cs typeface="Times New Roman" pitchFamily="18" charset="0"/>
                <a:sym typeface="Symbol"/>
              </a:rPr>
              <a:t></a:t>
            </a:r>
            <a:r>
              <a:rPr lang="en-US" sz="2400" i="1" dirty="0">
                <a:latin typeface="Times New Roman" pitchFamily="18" charset="0"/>
                <a:cs typeface="Times New Roman" pitchFamily="18" charset="0"/>
              </a:rPr>
              <a:t>CF</a:t>
            </a:r>
            <a:r>
              <a:rPr lang="en-US" sz="2400" dirty="0">
                <a:latin typeface="Times New Roman" pitchFamily="18" charset="0"/>
                <a:cs typeface="Times New Roman" pitchFamily="18" charset="0"/>
              </a:rPr>
              <a:t>(</a:t>
            </a:r>
            <a:r>
              <a:rPr lang="en-US" sz="2400" i="1" dirty="0">
                <a:latin typeface="Times New Roman" pitchFamily="18" charset="0"/>
                <a:cs typeface="Times New Roman" pitchFamily="18" charset="0"/>
              </a:rPr>
              <a:t>H</a:t>
            </a:r>
            <a:r>
              <a:rPr lang="en-US" sz="2400" dirty="0">
                <a:latin typeface="Times New Roman" pitchFamily="18" charset="0"/>
                <a:cs typeface="Times New Roman" pitchFamily="18" charset="0"/>
              </a:rPr>
              <a:t>)</a:t>
            </a:r>
            <a:r>
              <a:rPr lang="en-US" sz="2400" baseline="-25000" dirty="0">
                <a:latin typeface="Times New Roman" pitchFamily="18" charset="0"/>
                <a:cs typeface="Times New Roman" pitchFamily="18" charset="0"/>
              </a:rPr>
              <a:t>2</a:t>
            </a:r>
            <a:r>
              <a:rPr lang="en-US" sz="2400" dirty="0">
                <a:latin typeface="Times New Roman" pitchFamily="18" charset="0"/>
                <a:cs typeface="Times New Roman" pitchFamily="18" charset="0"/>
              </a:rPr>
              <a:t>  </a:t>
            </a:r>
          </a:p>
          <a:p>
            <a:pPr>
              <a:lnSpc>
                <a:spcPct val="150000"/>
              </a:lnSpc>
              <a:buNone/>
            </a:pPr>
            <a:r>
              <a:rPr lang="en-US" altLang="zh-CN" sz="2400" dirty="0">
                <a:latin typeface="Times New Roman" pitchFamily="18" charset="0"/>
                <a:cs typeface="Times New Roman" pitchFamily="18" charset="0"/>
              </a:rPr>
              <a:t>                                                </a:t>
            </a:r>
            <a:r>
              <a:rPr lang="zh-CN" altLang="en-US" sz="2400" dirty="0">
                <a:latin typeface="Times New Roman" pitchFamily="18" charset="0"/>
                <a:cs typeface="Times New Roman" pitchFamily="18" charset="0"/>
              </a:rPr>
              <a:t>当 </a:t>
            </a:r>
            <a:r>
              <a:rPr lang="en-US" sz="2400" i="1" dirty="0">
                <a:latin typeface="Times New Roman" pitchFamily="18" charset="0"/>
                <a:cs typeface="Times New Roman" pitchFamily="18" charset="0"/>
              </a:rPr>
              <a:t>CF</a:t>
            </a:r>
            <a:r>
              <a:rPr lang="en-US" sz="2400" dirty="0">
                <a:latin typeface="Times New Roman" pitchFamily="18" charset="0"/>
                <a:cs typeface="Times New Roman" pitchFamily="18" charset="0"/>
              </a:rPr>
              <a:t>(</a:t>
            </a:r>
            <a:r>
              <a:rPr lang="en-US" sz="2400" i="1" dirty="0">
                <a:latin typeface="Times New Roman" pitchFamily="18" charset="0"/>
                <a:cs typeface="Times New Roman" pitchFamily="18" charset="0"/>
              </a:rPr>
              <a:t>H</a:t>
            </a:r>
            <a:r>
              <a:rPr lang="en-US" sz="2400" dirty="0">
                <a:latin typeface="Times New Roman" pitchFamily="18" charset="0"/>
                <a:cs typeface="Times New Roman" pitchFamily="18" charset="0"/>
              </a:rPr>
              <a:t>)</a:t>
            </a:r>
            <a:r>
              <a:rPr lang="en-US" sz="2400" baseline="-25000" dirty="0">
                <a:latin typeface="Times New Roman" pitchFamily="18" charset="0"/>
                <a:cs typeface="Times New Roman" pitchFamily="18" charset="0"/>
              </a:rPr>
              <a:t>1</a:t>
            </a:r>
            <a:r>
              <a:rPr lang="en-US" sz="2400" dirty="0">
                <a:latin typeface="Times New Roman" pitchFamily="18" charset="0"/>
                <a:cs typeface="Times New Roman" pitchFamily="18" charset="0"/>
              </a:rPr>
              <a:t>≥0 </a:t>
            </a:r>
            <a:r>
              <a:rPr lang="zh-CN" altLang="en-US" sz="2400" dirty="0">
                <a:latin typeface="Times New Roman" pitchFamily="18" charset="0"/>
                <a:cs typeface="Times New Roman" pitchFamily="18" charset="0"/>
              </a:rPr>
              <a:t>且</a:t>
            </a:r>
            <a:r>
              <a:rPr lang="en-US" sz="2400" i="1" dirty="0">
                <a:latin typeface="Times New Roman" pitchFamily="18" charset="0"/>
                <a:cs typeface="Times New Roman" pitchFamily="18" charset="0"/>
              </a:rPr>
              <a:t>CF</a:t>
            </a:r>
            <a:r>
              <a:rPr lang="en-US" sz="2400" dirty="0">
                <a:latin typeface="Times New Roman" pitchFamily="18" charset="0"/>
                <a:cs typeface="Times New Roman" pitchFamily="18" charset="0"/>
              </a:rPr>
              <a:t>(</a:t>
            </a:r>
            <a:r>
              <a:rPr lang="en-US" sz="2400" i="1" dirty="0">
                <a:latin typeface="Times New Roman" pitchFamily="18" charset="0"/>
                <a:cs typeface="Times New Roman" pitchFamily="18" charset="0"/>
              </a:rPr>
              <a:t>H</a:t>
            </a:r>
            <a:r>
              <a:rPr lang="en-US" sz="2400" dirty="0">
                <a:latin typeface="Times New Roman" pitchFamily="18" charset="0"/>
                <a:cs typeface="Times New Roman" pitchFamily="18" charset="0"/>
              </a:rPr>
              <a:t>)</a:t>
            </a:r>
            <a:r>
              <a:rPr lang="en-US" sz="2400" baseline="-25000" dirty="0">
                <a:latin typeface="Times New Roman" pitchFamily="18" charset="0"/>
                <a:cs typeface="Times New Roman" pitchFamily="18" charset="0"/>
              </a:rPr>
              <a:t>2</a:t>
            </a:r>
            <a:r>
              <a:rPr lang="en-US" sz="2400" dirty="0">
                <a:latin typeface="Times New Roman" pitchFamily="18" charset="0"/>
                <a:cs typeface="Times New Roman" pitchFamily="18" charset="0"/>
              </a:rPr>
              <a:t>≥0    (8-7)</a:t>
            </a:r>
            <a:endParaRPr lang="zh-CN" altLang="en-US" sz="2400" dirty="0">
              <a:latin typeface="Times New Roman" pitchFamily="18" charset="0"/>
              <a:cs typeface="Times New Roman" pitchFamily="18" charset="0"/>
            </a:endParaRPr>
          </a:p>
          <a:p>
            <a:pPr>
              <a:lnSpc>
                <a:spcPct val="150000"/>
              </a:lnSpc>
              <a:buNone/>
            </a:pPr>
            <a:r>
              <a:rPr lang="en-US" sz="2400" i="1" dirty="0">
                <a:latin typeface="Times New Roman" pitchFamily="18" charset="0"/>
                <a:cs typeface="Times New Roman" pitchFamily="18" charset="0"/>
              </a:rPr>
              <a:t>        CF</a:t>
            </a:r>
            <a:r>
              <a:rPr lang="en-US" sz="2400" dirty="0">
                <a:latin typeface="Times New Roman" pitchFamily="18" charset="0"/>
                <a:cs typeface="Times New Roman" pitchFamily="18" charset="0"/>
              </a:rPr>
              <a:t>(</a:t>
            </a:r>
            <a:r>
              <a:rPr lang="en-US" sz="2400" i="1" dirty="0">
                <a:latin typeface="Times New Roman" pitchFamily="18" charset="0"/>
                <a:cs typeface="Times New Roman" pitchFamily="18" charset="0"/>
              </a:rPr>
              <a:t>H</a:t>
            </a:r>
            <a:r>
              <a:rPr lang="en-US" sz="2400" dirty="0">
                <a:latin typeface="Times New Roman" pitchFamily="18" charset="0"/>
                <a:cs typeface="Times New Roman" pitchFamily="18" charset="0"/>
              </a:rPr>
              <a:t>)=</a:t>
            </a:r>
            <a:r>
              <a:rPr lang="en-US" sz="2400" i="1" dirty="0">
                <a:latin typeface="Times New Roman" pitchFamily="18" charset="0"/>
                <a:cs typeface="Times New Roman" pitchFamily="18" charset="0"/>
              </a:rPr>
              <a:t>     CF</a:t>
            </a:r>
            <a:r>
              <a:rPr lang="en-US" sz="2400" dirty="0">
                <a:latin typeface="Times New Roman" pitchFamily="18" charset="0"/>
                <a:cs typeface="Times New Roman" pitchFamily="18" charset="0"/>
              </a:rPr>
              <a:t>(</a:t>
            </a:r>
            <a:r>
              <a:rPr lang="en-US" sz="2400" i="1" dirty="0">
                <a:latin typeface="Times New Roman" pitchFamily="18" charset="0"/>
                <a:cs typeface="Times New Roman" pitchFamily="18" charset="0"/>
              </a:rPr>
              <a:t>H</a:t>
            </a:r>
            <a:r>
              <a:rPr lang="en-US" sz="2400" dirty="0">
                <a:latin typeface="Times New Roman" pitchFamily="18" charset="0"/>
                <a:cs typeface="Times New Roman" pitchFamily="18" charset="0"/>
              </a:rPr>
              <a:t>)</a:t>
            </a:r>
            <a:r>
              <a:rPr lang="en-US" sz="2400" baseline="-25000" dirty="0">
                <a:latin typeface="Times New Roman" pitchFamily="18" charset="0"/>
                <a:cs typeface="Times New Roman" pitchFamily="18" charset="0"/>
              </a:rPr>
              <a:t>1</a:t>
            </a:r>
            <a:r>
              <a:rPr lang="zh-CN" altLang="en-US" sz="2400" dirty="0">
                <a:latin typeface="Times New Roman" pitchFamily="18" charset="0"/>
                <a:cs typeface="Times New Roman" pitchFamily="18" charset="0"/>
              </a:rPr>
              <a:t>＋</a:t>
            </a:r>
            <a:r>
              <a:rPr lang="en-US" sz="2400" i="1" dirty="0">
                <a:latin typeface="Times New Roman" pitchFamily="18" charset="0"/>
                <a:cs typeface="Times New Roman" pitchFamily="18" charset="0"/>
              </a:rPr>
              <a:t>CF</a:t>
            </a:r>
            <a:r>
              <a:rPr lang="en-US" sz="2400" dirty="0">
                <a:latin typeface="Times New Roman" pitchFamily="18" charset="0"/>
                <a:cs typeface="Times New Roman" pitchFamily="18" charset="0"/>
              </a:rPr>
              <a:t>(</a:t>
            </a:r>
            <a:r>
              <a:rPr lang="en-US" sz="2400" i="1" dirty="0">
                <a:latin typeface="Times New Roman" pitchFamily="18" charset="0"/>
                <a:cs typeface="Times New Roman" pitchFamily="18" charset="0"/>
              </a:rPr>
              <a:t>H</a:t>
            </a:r>
            <a:r>
              <a:rPr lang="en-US" sz="2400" dirty="0">
                <a:latin typeface="Times New Roman" pitchFamily="18" charset="0"/>
                <a:cs typeface="Times New Roman" pitchFamily="18" charset="0"/>
              </a:rPr>
              <a:t>)</a:t>
            </a:r>
            <a:r>
              <a:rPr lang="en-US" sz="2400" baseline="-25000" dirty="0">
                <a:latin typeface="Times New Roman" pitchFamily="18" charset="0"/>
                <a:cs typeface="Times New Roman" pitchFamily="18" charset="0"/>
              </a:rPr>
              <a:t>2</a:t>
            </a:r>
            <a:r>
              <a:rPr lang="zh-CN" altLang="en-US" sz="2400" dirty="0">
                <a:latin typeface="Times New Roman" pitchFamily="18" charset="0"/>
                <a:cs typeface="Times New Roman" pitchFamily="18" charset="0"/>
              </a:rPr>
              <a:t>＋</a:t>
            </a:r>
            <a:r>
              <a:rPr lang="en-US" sz="2400" i="1" dirty="0">
                <a:latin typeface="Times New Roman" pitchFamily="18" charset="0"/>
                <a:cs typeface="Times New Roman" pitchFamily="18" charset="0"/>
              </a:rPr>
              <a:t>CF</a:t>
            </a:r>
            <a:r>
              <a:rPr lang="en-US" sz="2400" dirty="0">
                <a:latin typeface="Times New Roman" pitchFamily="18" charset="0"/>
                <a:cs typeface="Times New Roman" pitchFamily="18" charset="0"/>
              </a:rPr>
              <a:t>(</a:t>
            </a:r>
            <a:r>
              <a:rPr lang="en-US" sz="2400" i="1" dirty="0">
                <a:latin typeface="Times New Roman" pitchFamily="18" charset="0"/>
                <a:cs typeface="Times New Roman" pitchFamily="18" charset="0"/>
              </a:rPr>
              <a:t>H</a:t>
            </a:r>
            <a:r>
              <a:rPr lang="en-US" sz="2400" dirty="0">
                <a:latin typeface="Times New Roman" pitchFamily="18" charset="0"/>
                <a:cs typeface="Times New Roman" pitchFamily="18" charset="0"/>
              </a:rPr>
              <a:t>)</a:t>
            </a:r>
            <a:r>
              <a:rPr lang="en-US" sz="2400" baseline="-25000" dirty="0">
                <a:latin typeface="Times New Roman" pitchFamily="18" charset="0"/>
                <a:cs typeface="Times New Roman" pitchFamily="18" charset="0"/>
              </a:rPr>
              <a:t>1</a:t>
            </a:r>
            <a:r>
              <a:rPr lang="en-US" sz="2400" dirty="0">
                <a:latin typeface="Times New Roman" pitchFamily="18" charset="0"/>
                <a:cs typeface="Times New Roman" pitchFamily="18" charset="0"/>
                <a:sym typeface="Symbol"/>
              </a:rPr>
              <a:t></a:t>
            </a:r>
            <a:r>
              <a:rPr lang="en-US" sz="2400" i="1" dirty="0">
                <a:latin typeface="Times New Roman" pitchFamily="18" charset="0"/>
                <a:cs typeface="Times New Roman" pitchFamily="18" charset="0"/>
              </a:rPr>
              <a:t>CF</a:t>
            </a:r>
            <a:r>
              <a:rPr lang="en-US" sz="2400" dirty="0">
                <a:latin typeface="Times New Roman" pitchFamily="18" charset="0"/>
                <a:cs typeface="Times New Roman" pitchFamily="18" charset="0"/>
              </a:rPr>
              <a:t>(</a:t>
            </a:r>
            <a:r>
              <a:rPr lang="en-US" sz="2400" i="1" dirty="0">
                <a:latin typeface="Times New Roman" pitchFamily="18" charset="0"/>
                <a:cs typeface="Times New Roman" pitchFamily="18" charset="0"/>
              </a:rPr>
              <a:t>H</a:t>
            </a:r>
            <a:r>
              <a:rPr lang="en-US" sz="2400" dirty="0">
                <a:latin typeface="Times New Roman" pitchFamily="18" charset="0"/>
                <a:cs typeface="Times New Roman" pitchFamily="18" charset="0"/>
              </a:rPr>
              <a:t>)</a:t>
            </a:r>
            <a:r>
              <a:rPr lang="en-US" sz="2400" baseline="-25000" dirty="0">
                <a:latin typeface="Times New Roman" pitchFamily="18" charset="0"/>
                <a:cs typeface="Times New Roman" pitchFamily="18" charset="0"/>
              </a:rPr>
              <a:t>2</a:t>
            </a:r>
            <a:r>
              <a:rPr lang="en-US" sz="2400" dirty="0">
                <a:latin typeface="Times New Roman" pitchFamily="18" charset="0"/>
                <a:cs typeface="Times New Roman" pitchFamily="18" charset="0"/>
              </a:rPr>
              <a:t>  </a:t>
            </a:r>
          </a:p>
          <a:p>
            <a:pPr>
              <a:lnSpc>
                <a:spcPct val="150000"/>
              </a:lnSpc>
              <a:buNone/>
            </a:pPr>
            <a:r>
              <a:rPr lang="en-US" altLang="zh-CN" sz="2400" dirty="0">
                <a:latin typeface="Times New Roman" pitchFamily="18" charset="0"/>
                <a:cs typeface="Times New Roman" pitchFamily="18" charset="0"/>
              </a:rPr>
              <a:t>                                               </a:t>
            </a:r>
            <a:r>
              <a:rPr lang="zh-CN" altLang="en-US" sz="2400" dirty="0">
                <a:latin typeface="Times New Roman" pitchFamily="18" charset="0"/>
                <a:cs typeface="Times New Roman" pitchFamily="18" charset="0"/>
              </a:rPr>
              <a:t>当</a:t>
            </a:r>
            <a:r>
              <a:rPr lang="en-US" sz="2400" i="1" dirty="0">
                <a:latin typeface="Times New Roman" pitchFamily="18" charset="0"/>
                <a:cs typeface="Times New Roman" pitchFamily="18" charset="0"/>
              </a:rPr>
              <a:t>CF</a:t>
            </a:r>
            <a:r>
              <a:rPr lang="en-US" sz="2400" dirty="0">
                <a:latin typeface="Times New Roman" pitchFamily="18" charset="0"/>
                <a:cs typeface="Times New Roman" pitchFamily="18" charset="0"/>
              </a:rPr>
              <a:t>(</a:t>
            </a:r>
            <a:r>
              <a:rPr lang="en-US" sz="2400" i="1" dirty="0">
                <a:latin typeface="Times New Roman" pitchFamily="18" charset="0"/>
                <a:cs typeface="Times New Roman" pitchFamily="18" charset="0"/>
              </a:rPr>
              <a:t>H</a:t>
            </a:r>
            <a:r>
              <a:rPr lang="en-US" sz="2400" dirty="0">
                <a:latin typeface="Times New Roman" pitchFamily="18" charset="0"/>
                <a:cs typeface="Times New Roman" pitchFamily="18" charset="0"/>
              </a:rPr>
              <a:t>)</a:t>
            </a:r>
            <a:r>
              <a:rPr lang="en-US" sz="2400" baseline="-25000" dirty="0">
                <a:latin typeface="Times New Roman" pitchFamily="18" charset="0"/>
                <a:cs typeface="Times New Roman" pitchFamily="18" charset="0"/>
              </a:rPr>
              <a:t>1</a:t>
            </a:r>
            <a:r>
              <a:rPr lang="zh-CN" altLang="en-US" sz="2400" dirty="0">
                <a:latin typeface="Times New Roman" pitchFamily="18" charset="0"/>
                <a:cs typeface="Times New Roman" pitchFamily="18" charset="0"/>
              </a:rPr>
              <a:t>＜</a:t>
            </a:r>
            <a:r>
              <a:rPr lang="en-US" sz="2400" dirty="0">
                <a:latin typeface="Times New Roman" pitchFamily="18" charset="0"/>
                <a:cs typeface="Times New Roman" pitchFamily="18" charset="0"/>
              </a:rPr>
              <a:t>0 </a:t>
            </a:r>
            <a:r>
              <a:rPr lang="zh-CN" altLang="en-US" sz="2400" dirty="0">
                <a:latin typeface="Times New Roman" pitchFamily="18" charset="0"/>
                <a:cs typeface="Times New Roman" pitchFamily="18" charset="0"/>
              </a:rPr>
              <a:t>且</a:t>
            </a:r>
            <a:r>
              <a:rPr lang="en-US" sz="2400" i="1" dirty="0">
                <a:latin typeface="Times New Roman" pitchFamily="18" charset="0"/>
                <a:cs typeface="Times New Roman" pitchFamily="18" charset="0"/>
              </a:rPr>
              <a:t>CF</a:t>
            </a:r>
            <a:r>
              <a:rPr lang="en-US" sz="2400" dirty="0">
                <a:latin typeface="Times New Roman" pitchFamily="18" charset="0"/>
                <a:cs typeface="Times New Roman" pitchFamily="18" charset="0"/>
              </a:rPr>
              <a:t>(</a:t>
            </a:r>
            <a:r>
              <a:rPr lang="en-US" sz="2400" i="1" dirty="0">
                <a:latin typeface="Times New Roman" pitchFamily="18" charset="0"/>
                <a:cs typeface="Times New Roman" pitchFamily="18" charset="0"/>
              </a:rPr>
              <a:t>H</a:t>
            </a:r>
            <a:r>
              <a:rPr lang="en-US" sz="2400" dirty="0">
                <a:latin typeface="Times New Roman" pitchFamily="18" charset="0"/>
                <a:cs typeface="Times New Roman" pitchFamily="18" charset="0"/>
              </a:rPr>
              <a:t>)</a:t>
            </a:r>
            <a:r>
              <a:rPr lang="en-US" sz="2400" baseline="-25000" dirty="0">
                <a:latin typeface="Times New Roman" pitchFamily="18" charset="0"/>
                <a:cs typeface="Times New Roman" pitchFamily="18" charset="0"/>
              </a:rPr>
              <a:t>2</a:t>
            </a:r>
            <a:r>
              <a:rPr lang="zh-CN" altLang="en-US" sz="2400" dirty="0">
                <a:latin typeface="Times New Roman" pitchFamily="18" charset="0"/>
                <a:cs typeface="Times New Roman" pitchFamily="18" charset="0"/>
              </a:rPr>
              <a:t>＜</a:t>
            </a:r>
            <a:r>
              <a:rPr lang="en-US" sz="2400" dirty="0">
                <a:latin typeface="Times New Roman" pitchFamily="18" charset="0"/>
                <a:cs typeface="Times New Roman" pitchFamily="18" charset="0"/>
              </a:rPr>
              <a:t>0   (8-8)</a:t>
            </a:r>
            <a:endParaRPr lang="zh-CN" altLang="en-US" sz="2400" dirty="0">
              <a:latin typeface="Times New Roman" pitchFamily="18" charset="0"/>
              <a:cs typeface="Times New Roman" pitchFamily="18" charset="0"/>
            </a:endParaRPr>
          </a:p>
          <a:p>
            <a:pPr>
              <a:lnSpc>
                <a:spcPct val="150000"/>
              </a:lnSpc>
              <a:buNone/>
            </a:pPr>
            <a:r>
              <a:rPr lang="en-US" sz="2400" i="1" dirty="0">
                <a:latin typeface="Times New Roman" pitchFamily="18" charset="0"/>
                <a:cs typeface="Times New Roman" pitchFamily="18" charset="0"/>
              </a:rPr>
              <a:t>                          CF</a:t>
            </a:r>
            <a:r>
              <a:rPr lang="en-US" sz="2400" dirty="0">
                <a:latin typeface="Times New Roman" pitchFamily="18" charset="0"/>
                <a:cs typeface="Times New Roman" pitchFamily="18" charset="0"/>
              </a:rPr>
              <a:t>(</a:t>
            </a:r>
            <a:r>
              <a:rPr lang="en-US" sz="2400" i="1" dirty="0">
                <a:latin typeface="Times New Roman" pitchFamily="18" charset="0"/>
                <a:cs typeface="Times New Roman" pitchFamily="18" charset="0"/>
              </a:rPr>
              <a:t>H</a:t>
            </a:r>
            <a:r>
              <a:rPr lang="en-US" sz="2400" dirty="0">
                <a:latin typeface="Times New Roman" pitchFamily="18" charset="0"/>
                <a:cs typeface="Times New Roman" pitchFamily="18" charset="0"/>
              </a:rPr>
              <a:t>)</a:t>
            </a:r>
            <a:r>
              <a:rPr lang="en-US" sz="2400" baseline="-25000" dirty="0">
                <a:latin typeface="Times New Roman" pitchFamily="18" charset="0"/>
                <a:cs typeface="Times New Roman" pitchFamily="18" charset="0"/>
              </a:rPr>
              <a:t>1</a:t>
            </a:r>
            <a:r>
              <a:rPr lang="zh-CN" altLang="en-US" sz="2400" dirty="0">
                <a:latin typeface="Times New Roman" pitchFamily="18" charset="0"/>
                <a:cs typeface="Times New Roman" pitchFamily="18" charset="0"/>
              </a:rPr>
              <a:t>＋</a:t>
            </a:r>
            <a:r>
              <a:rPr lang="en-US" sz="2400" i="1" dirty="0">
                <a:latin typeface="Times New Roman" pitchFamily="18" charset="0"/>
                <a:cs typeface="Times New Roman" pitchFamily="18" charset="0"/>
              </a:rPr>
              <a:t>CF</a:t>
            </a:r>
            <a:r>
              <a:rPr lang="en-US" sz="2400" dirty="0">
                <a:latin typeface="Times New Roman" pitchFamily="18" charset="0"/>
                <a:cs typeface="Times New Roman" pitchFamily="18" charset="0"/>
              </a:rPr>
              <a:t>(</a:t>
            </a:r>
            <a:r>
              <a:rPr lang="en-US" sz="2400" i="1" dirty="0">
                <a:latin typeface="Times New Roman" pitchFamily="18" charset="0"/>
                <a:cs typeface="Times New Roman" pitchFamily="18" charset="0"/>
              </a:rPr>
              <a:t>H</a:t>
            </a:r>
            <a:r>
              <a:rPr lang="en-US" sz="2400" dirty="0">
                <a:latin typeface="Times New Roman" pitchFamily="18" charset="0"/>
                <a:cs typeface="Times New Roman" pitchFamily="18" charset="0"/>
              </a:rPr>
              <a:t>)</a:t>
            </a:r>
            <a:r>
              <a:rPr lang="en-US" sz="2400" baseline="-25000" dirty="0">
                <a:latin typeface="Times New Roman" pitchFamily="18" charset="0"/>
                <a:cs typeface="Times New Roman" pitchFamily="18" charset="0"/>
              </a:rPr>
              <a:t>2</a:t>
            </a:r>
            <a:r>
              <a:rPr lang="en-US" sz="2400" dirty="0">
                <a:latin typeface="Times New Roman" pitchFamily="18" charset="0"/>
                <a:cs typeface="Times New Roman" pitchFamily="18" charset="0"/>
              </a:rPr>
              <a:t>          </a:t>
            </a:r>
            <a:r>
              <a:rPr lang="zh-CN" altLang="en-US" sz="2400" dirty="0">
                <a:latin typeface="Times New Roman" pitchFamily="18" charset="0"/>
                <a:cs typeface="Times New Roman" pitchFamily="18" charset="0"/>
              </a:rPr>
              <a:t>否则</a:t>
            </a:r>
            <a:r>
              <a:rPr lang="en-US" sz="2400" dirty="0">
                <a:latin typeface="Times New Roman" pitchFamily="18" charset="0"/>
                <a:cs typeface="Times New Roman" pitchFamily="18" charset="0"/>
              </a:rPr>
              <a:t>                       (8-9)</a:t>
            </a:r>
            <a:endParaRPr lang="zh-CN" altLang="en-US" sz="2400" dirty="0">
              <a:latin typeface="Times New Roman" pitchFamily="18" charset="0"/>
              <a:cs typeface="Times New Roman" pitchFamily="18" charset="0"/>
            </a:endParaRPr>
          </a:p>
        </p:txBody>
      </p:sp>
      <p:sp>
        <p:nvSpPr>
          <p:cNvPr id="3" name="左大括号 2"/>
          <p:cNvSpPr/>
          <p:nvPr/>
        </p:nvSpPr>
        <p:spPr>
          <a:xfrm>
            <a:off x="2285984" y="2636834"/>
            <a:ext cx="117157" cy="2571768"/>
          </a:xfrm>
          <a:prstGeom prst="leftBrace">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Tree>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内容占位符 3"/>
          <p:cNvSpPr>
            <a:spLocks noGrp="1"/>
          </p:cNvSpPr>
          <p:nvPr>
            <p:ph idx="1"/>
          </p:nvPr>
        </p:nvSpPr>
        <p:spPr>
          <a:xfrm>
            <a:off x="474634" y="642918"/>
            <a:ext cx="7929618" cy="5572164"/>
          </a:xfrm>
        </p:spPr>
        <p:txBody>
          <a:bodyPr/>
          <a:lstStyle/>
          <a:p>
            <a:pPr>
              <a:lnSpc>
                <a:spcPct val="130000"/>
              </a:lnSpc>
              <a:buNone/>
            </a:pPr>
            <a:r>
              <a:rPr lang="zh-CN" altLang="en-US" sz="2400" dirty="0"/>
              <a:t>           </a:t>
            </a:r>
            <a:r>
              <a:rPr lang="zh-CN" altLang="en-US" sz="2400" dirty="0">
                <a:latin typeface="黑体" pitchFamily="49" charset="-122"/>
                <a:ea typeface="黑体" pitchFamily="49" charset="-122"/>
              </a:rPr>
              <a:t>例 </a:t>
            </a:r>
            <a:r>
              <a:rPr lang="en-US" sz="2400" dirty="0">
                <a:latin typeface="Times New Roman" pitchFamily="18" charset="0"/>
                <a:cs typeface="Times New Roman" pitchFamily="18" charset="0"/>
              </a:rPr>
              <a:t>8-1</a:t>
            </a:r>
            <a:r>
              <a:rPr lang="en-US" sz="2400" dirty="0"/>
              <a:t> </a:t>
            </a:r>
            <a:r>
              <a:rPr lang="zh-CN" altLang="en-US" sz="2400" dirty="0"/>
              <a:t>设有如下一组产生式规则和证据事实，试用确定性理论求出由每一个规则推出的结论及其可信度。</a:t>
            </a:r>
          </a:p>
          <a:p>
            <a:pPr>
              <a:lnSpc>
                <a:spcPct val="130000"/>
              </a:lnSpc>
              <a:buNone/>
            </a:pPr>
            <a:r>
              <a:rPr lang="en-US" sz="2400" dirty="0"/>
              <a:t>    </a:t>
            </a:r>
            <a:r>
              <a:rPr lang="zh-CN" altLang="en-US" sz="2400" dirty="0"/>
              <a:t>规则：</a:t>
            </a:r>
          </a:p>
          <a:p>
            <a:pPr>
              <a:lnSpc>
                <a:spcPct val="130000"/>
              </a:lnSpc>
              <a:spcBef>
                <a:spcPts val="0"/>
              </a:spcBef>
              <a:buNone/>
            </a:pPr>
            <a:r>
              <a:rPr lang="en-US" sz="2400" dirty="0">
                <a:latin typeface="Times New Roman" pitchFamily="18" charset="0"/>
                <a:cs typeface="Times New Roman" pitchFamily="18" charset="0"/>
              </a:rPr>
              <a:t>             ① If </a:t>
            </a:r>
            <a:r>
              <a:rPr lang="en-US" sz="2400" i="1" dirty="0">
                <a:latin typeface="Times New Roman" pitchFamily="18" charset="0"/>
                <a:cs typeface="Times New Roman" pitchFamily="18" charset="0"/>
              </a:rPr>
              <a:t>A</a:t>
            </a:r>
            <a:r>
              <a:rPr lang="en-US" sz="2400" dirty="0">
                <a:latin typeface="Times New Roman" pitchFamily="18" charset="0"/>
                <a:cs typeface="Times New Roman" pitchFamily="18" charset="0"/>
              </a:rPr>
              <a:t> Then </a:t>
            </a:r>
            <a:r>
              <a:rPr lang="en-US" sz="2400" i="1" dirty="0">
                <a:latin typeface="Times New Roman" pitchFamily="18" charset="0"/>
                <a:cs typeface="Times New Roman" pitchFamily="18" charset="0"/>
              </a:rPr>
              <a:t>B</a:t>
            </a:r>
            <a:r>
              <a:rPr lang="en-US" sz="2400" dirty="0">
                <a:latin typeface="Times New Roman" pitchFamily="18" charset="0"/>
                <a:cs typeface="Times New Roman" pitchFamily="18" charset="0"/>
              </a:rPr>
              <a:t> (0.9) </a:t>
            </a:r>
          </a:p>
          <a:p>
            <a:pPr>
              <a:lnSpc>
                <a:spcPct val="130000"/>
              </a:lnSpc>
              <a:spcBef>
                <a:spcPts val="0"/>
              </a:spcBef>
              <a:buNone/>
            </a:pPr>
            <a:r>
              <a:rPr lang="en-US" sz="2400" dirty="0">
                <a:latin typeface="Times New Roman" pitchFamily="18" charset="0"/>
                <a:cs typeface="Times New Roman" pitchFamily="18" charset="0"/>
              </a:rPr>
              <a:t>             ② If </a:t>
            </a:r>
            <a:r>
              <a:rPr lang="en-US" sz="2400" i="1" dirty="0">
                <a:latin typeface="Times New Roman" pitchFamily="18" charset="0"/>
                <a:cs typeface="Times New Roman" pitchFamily="18" charset="0"/>
              </a:rPr>
              <a:t>B</a:t>
            </a:r>
            <a:r>
              <a:rPr lang="en-US" sz="2400" dirty="0">
                <a:latin typeface="Times New Roman" pitchFamily="18" charset="0"/>
                <a:cs typeface="Times New Roman" pitchFamily="18" charset="0"/>
              </a:rPr>
              <a:t> and </a:t>
            </a:r>
            <a:r>
              <a:rPr lang="en-US" sz="2400" i="1" dirty="0">
                <a:latin typeface="Times New Roman" pitchFamily="18" charset="0"/>
                <a:cs typeface="Times New Roman" pitchFamily="18" charset="0"/>
              </a:rPr>
              <a:t>C</a:t>
            </a:r>
            <a:r>
              <a:rPr lang="en-US" sz="2400" dirty="0">
                <a:latin typeface="Times New Roman" pitchFamily="18" charset="0"/>
                <a:cs typeface="Times New Roman" pitchFamily="18" charset="0"/>
              </a:rPr>
              <a:t> Then </a:t>
            </a:r>
            <a:r>
              <a:rPr lang="en-US" sz="2400" i="1" dirty="0">
                <a:latin typeface="Times New Roman" pitchFamily="18" charset="0"/>
                <a:cs typeface="Times New Roman" pitchFamily="18" charset="0"/>
              </a:rPr>
              <a:t>D</a:t>
            </a:r>
            <a:r>
              <a:rPr lang="en-US" sz="2400" dirty="0">
                <a:latin typeface="Times New Roman" pitchFamily="18" charset="0"/>
                <a:cs typeface="Times New Roman" pitchFamily="18" charset="0"/>
              </a:rPr>
              <a:t> (0.8)</a:t>
            </a:r>
            <a:endParaRPr lang="zh-CN" altLang="en-US" sz="2400" dirty="0">
              <a:latin typeface="Times New Roman" pitchFamily="18" charset="0"/>
              <a:cs typeface="Times New Roman" pitchFamily="18" charset="0"/>
            </a:endParaRPr>
          </a:p>
          <a:p>
            <a:pPr>
              <a:lnSpc>
                <a:spcPct val="130000"/>
              </a:lnSpc>
              <a:spcBef>
                <a:spcPts val="0"/>
              </a:spcBef>
              <a:buNone/>
            </a:pPr>
            <a:r>
              <a:rPr lang="en-US" sz="2400" dirty="0">
                <a:latin typeface="Times New Roman" pitchFamily="18" charset="0"/>
                <a:cs typeface="Times New Roman" pitchFamily="18" charset="0"/>
              </a:rPr>
              <a:t>             ③ If </a:t>
            </a:r>
            <a:r>
              <a:rPr lang="en-US" sz="2400" i="1" dirty="0">
                <a:latin typeface="Times New Roman" pitchFamily="18" charset="0"/>
                <a:cs typeface="Times New Roman" pitchFamily="18" charset="0"/>
              </a:rPr>
              <a:t>A</a:t>
            </a:r>
            <a:r>
              <a:rPr lang="en-US" sz="2400" dirty="0">
                <a:latin typeface="Times New Roman" pitchFamily="18" charset="0"/>
                <a:cs typeface="Times New Roman" pitchFamily="18" charset="0"/>
              </a:rPr>
              <a:t> and </a:t>
            </a:r>
            <a:r>
              <a:rPr lang="en-US" sz="2400" i="1" dirty="0">
                <a:latin typeface="Times New Roman" pitchFamily="18" charset="0"/>
                <a:cs typeface="Times New Roman" pitchFamily="18" charset="0"/>
              </a:rPr>
              <a:t>C</a:t>
            </a:r>
            <a:r>
              <a:rPr lang="en-US" sz="2400" dirty="0">
                <a:latin typeface="Times New Roman" pitchFamily="18" charset="0"/>
                <a:cs typeface="Times New Roman" pitchFamily="18" charset="0"/>
              </a:rPr>
              <a:t> Then </a:t>
            </a:r>
            <a:r>
              <a:rPr lang="en-US" sz="2400" i="1" dirty="0">
                <a:latin typeface="Times New Roman" pitchFamily="18" charset="0"/>
                <a:cs typeface="Times New Roman" pitchFamily="18" charset="0"/>
              </a:rPr>
              <a:t>D</a:t>
            </a:r>
            <a:r>
              <a:rPr lang="en-US" sz="2400" dirty="0">
                <a:latin typeface="Times New Roman" pitchFamily="18" charset="0"/>
                <a:cs typeface="Times New Roman" pitchFamily="18" charset="0"/>
              </a:rPr>
              <a:t> (0.7)</a:t>
            </a:r>
            <a:endParaRPr lang="zh-CN" altLang="en-US" sz="2400" dirty="0">
              <a:latin typeface="Times New Roman" pitchFamily="18" charset="0"/>
              <a:cs typeface="Times New Roman" pitchFamily="18" charset="0"/>
            </a:endParaRPr>
          </a:p>
          <a:p>
            <a:pPr>
              <a:lnSpc>
                <a:spcPct val="130000"/>
              </a:lnSpc>
              <a:spcBef>
                <a:spcPts val="0"/>
              </a:spcBef>
              <a:buNone/>
            </a:pPr>
            <a:r>
              <a:rPr lang="en-US" sz="2400" dirty="0">
                <a:latin typeface="Times New Roman" pitchFamily="18" charset="0"/>
                <a:cs typeface="Times New Roman" pitchFamily="18" charset="0"/>
              </a:rPr>
              <a:t>             ④ If </a:t>
            </a:r>
            <a:r>
              <a:rPr lang="en-US" sz="2400" i="1" dirty="0">
                <a:latin typeface="Times New Roman" pitchFamily="18" charset="0"/>
                <a:cs typeface="Times New Roman" pitchFamily="18" charset="0"/>
              </a:rPr>
              <a:t>B</a:t>
            </a:r>
            <a:r>
              <a:rPr lang="en-US" sz="2400" dirty="0">
                <a:latin typeface="Times New Roman" pitchFamily="18" charset="0"/>
                <a:cs typeface="Times New Roman" pitchFamily="18" charset="0"/>
              </a:rPr>
              <a:t> or </a:t>
            </a:r>
            <a:r>
              <a:rPr lang="en-US" sz="2400" i="1" dirty="0">
                <a:latin typeface="Times New Roman" pitchFamily="18" charset="0"/>
                <a:cs typeface="Times New Roman" pitchFamily="18" charset="0"/>
              </a:rPr>
              <a:t>D</a:t>
            </a:r>
            <a:r>
              <a:rPr lang="en-US" sz="2400" dirty="0">
                <a:latin typeface="Times New Roman" pitchFamily="18" charset="0"/>
                <a:cs typeface="Times New Roman" pitchFamily="18" charset="0"/>
              </a:rPr>
              <a:t> Then </a:t>
            </a:r>
            <a:r>
              <a:rPr lang="en-US" sz="2400" i="1" dirty="0">
                <a:latin typeface="Times New Roman" pitchFamily="18" charset="0"/>
                <a:cs typeface="Times New Roman" pitchFamily="18" charset="0"/>
              </a:rPr>
              <a:t>E</a:t>
            </a:r>
            <a:r>
              <a:rPr lang="en-US" sz="2400" dirty="0">
                <a:latin typeface="Times New Roman" pitchFamily="18" charset="0"/>
                <a:cs typeface="Times New Roman" pitchFamily="18" charset="0"/>
              </a:rPr>
              <a:t> (0.6)</a:t>
            </a:r>
            <a:endParaRPr lang="zh-CN" altLang="en-US" sz="2400" dirty="0">
              <a:latin typeface="Times New Roman" pitchFamily="18" charset="0"/>
              <a:cs typeface="Times New Roman" pitchFamily="18" charset="0"/>
            </a:endParaRPr>
          </a:p>
          <a:p>
            <a:pPr>
              <a:lnSpc>
                <a:spcPct val="150000"/>
              </a:lnSpc>
              <a:spcBef>
                <a:spcPts val="0"/>
              </a:spcBef>
              <a:buNone/>
            </a:pPr>
            <a:r>
              <a:rPr lang="en-US" sz="2400" dirty="0">
                <a:latin typeface="Times New Roman" pitchFamily="18" charset="0"/>
                <a:cs typeface="Times New Roman" pitchFamily="18" charset="0"/>
              </a:rPr>
              <a:t>     </a:t>
            </a:r>
            <a:r>
              <a:rPr lang="zh-CN" altLang="en-US" sz="2400" dirty="0">
                <a:latin typeface="Times New Roman" pitchFamily="18" charset="0"/>
                <a:cs typeface="Times New Roman" pitchFamily="18" charset="0"/>
              </a:rPr>
              <a:t>事实：</a:t>
            </a:r>
          </a:p>
          <a:p>
            <a:pPr>
              <a:lnSpc>
                <a:spcPct val="150000"/>
              </a:lnSpc>
              <a:spcBef>
                <a:spcPts val="0"/>
              </a:spcBef>
              <a:buNone/>
            </a:pPr>
            <a:r>
              <a:rPr lang="en-US" sz="2400" dirty="0">
                <a:latin typeface="Times New Roman" pitchFamily="18" charset="0"/>
                <a:cs typeface="Times New Roman" pitchFamily="18" charset="0"/>
              </a:rPr>
              <a:t>             </a:t>
            </a:r>
            <a:r>
              <a:rPr lang="en-US" sz="2400" i="1" dirty="0">
                <a:latin typeface="Times New Roman" pitchFamily="18" charset="0"/>
                <a:cs typeface="Times New Roman" pitchFamily="18" charset="0"/>
              </a:rPr>
              <a:t>A</a:t>
            </a:r>
            <a:r>
              <a:rPr lang="zh-CN" altLang="en-US" sz="2400" dirty="0">
                <a:latin typeface="Times New Roman" pitchFamily="18" charset="0"/>
                <a:cs typeface="Times New Roman" pitchFamily="18" charset="0"/>
              </a:rPr>
              <a:t>，</a:t>
            </a:r>
            <a:r>
              <a:rPr lang="en-US" sz="2400" dirty="0">
                <a:latin typeface="Times New Roman" pitchFamily="18" charset="0"/>
                <a:cs typeface="Times New Roman" pitchFamily="18" charset="0"/>
              </a:rPr>
              <a:t>CF(</a:t>
            </a:r>
            <a:r>
              <a:rPr lang="en-US" sz="2400" i="1" dirty="0">
                <a:latin typeface="Times New Roman" pitchFamily="18" charset="0"/>
                <a:cs typeface="Times New Roman" pitchFamily="18" charset="0"/>
              </a:rPr>
              <a:t>A</a:t>
            </a:r>
            <a:r>
              <a:rPr lang="en-US" sz="2400" dirty="0">
                <a:latin typeface="Times New Roman" pitchFamily="18" charset="0"/>
                <a:cs typeface="Times New Roman" pitchFamily="18" charset="0"/>
              </a:rPr>
              <a:t>)=0.8</a:t>
            </a:r>
            <a:r>
              <a:rPr lang="zh-CN" altLang="en-US" sz="2400" dirty="0">
                <a:latin typeface="Times New Roman" pitchFamily="18" charset="0"/>
                <a:cs typeface="Times New Roman" pitchFamily="18" charset="0"/>
              </a:rPr>
              <a:t>；</a:t>
            </a:r>
            <a:r>
              <a:rPr lang="en-US" sz="2400" i="1" dirty="0">
                <a:latin typeface="Times New Roman" pitchFamily="18" charset="0"/>
                <a:cs typeface="Times New Roman" pitchFamily="18" charset="0"/>
              </a:rPr>
              <a:t>C</a:t>
            </a:r>
            <a:r>
              <a:rPr lang="zh-CN" altLang="en-US" sz="2400" dirty="0">
                <a:latin typeface="Times New Roman" pitchFamily="18" charset="0"/>
                <a:cs typeface="Times New Roman" pitchFamily="18" charset="0"/>
              </a:rPr>
              <a:t>，</a:t>
            </a:r>
            <a:r>
              <a:rPr lang="en-US" sz="2400" dirty="0">
                <a:latin typeface="Times New Roman" pitchFamily="18" charset="0"/>
                <a:cs typeface="Times New Roman" pitchFamily="18" charset="0"/>
              </a:rPr>
              <a:t>CF(</a:t>
            </a:r>
            <a:r>
              <a:rPr lang="en-US" sz="2400" i="1" dirty="0">
                <a:latin typeface="Times New Roman" pitchFamily="18" charset="0"/>
                <a:cs typeface="Times New Roman" pitchFamily="18" charset="0"/>
              </a:rPr>
              <a:t>C</a:t>
            </a:r>
            <a:r>
              <a:rPr lang="en-US" sz="2400" dirty="0">
                <a:latin typeface="Times New Roman" pitchFamily="18" charset="0"/>
                <a:cs typeface="Times New Roman" pitchFamily="18" charset="0"/>
              </a:rPr>
              <a:t>)=0.9</a:t>
            </a:r>
            <a:endParaRPr lang="zh-CN" altLang="en-US" sz="2400" dirty="0">
              <a:latin typeface="Times New Roman" pitchFamily="18" charset="0"/>
              <a:cs typeface="Times New Roman" pitchFamily="18" charset="0"/>
            </a:endParaRPr>
          </a:p>
        </p:txBody>
      </p:sp>
    </p:spTree>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内容占位符 3"/>
          <p:cNvSpPr>
            <a:spLocks noGrp="1"/>
          </p:cNvSpPr>
          <p:nvPr>
            <p:ph idx="1"/>
          </p:nvPr>
        </p:nvSpPr>
        <p:spPr>
          <a:xfrm>
            <a:off x="500034" y="571480"/>
            <a:ext cx="8215370" cy="5643602"/>
          </a:xfrm>
        </p:spPr>
        <p:txBody>
          <a:bodyPr/>
          <a:lstStyle/>
          <a:p>
            <a:pPr>
              <a:buNone/>
            </a:pPr>
            <a:r>
              <a:rPr lang="en-US" altLang="zh-CN" dirty="0"/>
              <a:t>    </a:t>
            </a:r>
            <a:r>
              <a:rPr lang="zh-CN" altLang="en-US" sz="2400" dirty="0">
                <a:latin typeface="黑体" pitchFamily="49" charset="-122"/>
                <a:ea typeface="黑体" pitchFamily="49" charset="-122"/>
              </a:rPr>
              <a:t>解</a:t>
            </a:r>
          </a:p>
          <a:p>
            <a:pPr>
              <a:spcBef>
                <a:spcPts val="0"/>
              </a:spcBef>
              <a:buNone/>
            </a:pPr>
            <a:r>
              <a:rPr lang="en-US" sz="2400" dirty="0">
                <a:latin typeface="Times New Roman" pitchFamily="18" charset="0"/>
                <a:cs typeface="Times New Roman" pitchFamily="18" charset="0"/>
              </a:rPr>
              <a:t>          </a:t>
            </a:r>
            <a:r>
              <a:rPr lang="zh-CN" altLang="en-US" sz="2400" dirty="0">
                <a:latin typeface="Times New Roman" pitchFamily="18" charset="0"/>
                <a:cs typeface="Times New Roman" pitchFamily="18" charset="0"/>
              </a:rPr>
              <a:t>由规则</a:t>
            </a:r>
            <a:r>
              <a:rPr lang="en-US" sz="2400" dirty="0">
                <a:latin typeface="Times New Roman" pitchFamily="18" charset="0"/>
                <a:cs typeface="Times New Roman" pitchFamily="18" charset="0"/>
              </a:rPr>
              <a:t>①</a:t>
            </a:r>
            <a:r>
              <a:rPr lang="zh-CN" altLang="en-US" sz="2400" dirty="0">
                <a:latin typeface="Times New Roman" pitchFamily="18" charset="0"/>
                <a:cs typeface="Times New Roman" pitchFamily="18" charset="0"/>
              </a:rPr>
              <a:t>得</a:t>
            </a:r>
            <a:r>
              <a:rPr lang="en-US" sz="2400" dirty="0">
                <a:latin typeface="Times New Roman" pitchFamily="18" charset="0"/>
                <a:cs typeface="Times New Roman" pitchFamily="18" charset="0"/>
              </a:rPr>
              <a:t>:  </a:t>
            </a:r>
            <a:r>
              <a:rPr lang="en-US" sz="2400" i="1" dirty="0">
                <a:latin typeface="Times New Roman" pitchFamily="18" charset="0"/>
                <a:cs typeface="Times New Roman" pitchFamily="18" charset="0"/>
              </a:rPr>
              <a:t>CF</a:t>
            </a:r>
            <a:r>
              <a:rPr lang="en-US" sz="2400" dirty="0">
                <a:latin typeface="Times New Roman" pitchFamily="18" charset="0"/>
                <a:cs typeface="Times New Roman" pitchFamily="18" charset="0"/>
              </a:rPr>
              <a:t>(</a:t>
            </a:r>
            <a:r>
              <a:rPr lang="en-US" sz="2400" i="1" dirty="0">
                <a:latin typeface="Times New Roman" pitchFamily="18" charset="0"/>
                <a:cs typeface="Times New Roman" pitchFamily="18" charset="0"/>
              </a:rPr>
              <a:t>B</a:t>
            </a:r>
            <a:r>
              <a:rPr lang="en-US" sz="2400" dirty="0">
                <a:latin typeface="Times New Roman" pitchFamily="18" charset="0"/>
                <a:cs typeface="Times New Roman" pitchFamily="18" charset="0"/>
              </a:rPr>
              <a:t>)</a:t>
            </a:r>
            <a:r>
              <a:rPr lang="zh-CN" altLang="en-US" sz="2400" dirty="0">
                <a:latin typeface="Times New Roman" pitchFamily="18" charset="0"/>
                <a:cs typeface="Times New Roman" pitchFamily="18" charset="0"/>
              </a:rPr>
              <a:t>＝</a:t>
            </a:r>
            <a:r>
              <a:rPr lang="en-US" sz="2400" dirty="0">
                <a:latin typeface="Times New Roman" pitchFamily="18" charset="0"/>
                <a:cs typeface="Times New Roman" pitchFamily="18" charset="0"/>
              </a:rPr>
              <a:t>0.9×0.8</a:t>
            </a:r>
            <a:r>
              <a:rPr lang="zh-CN" altLang="en-US" sz="2400" dirty="0">
                <a:latin typeface="Times New Roman" pitchFamily="18" charset="0"/>
                <a:cs typeface="Times New Roman" pitchFamily="18" charset="0"/>
              </a:rPr>
              <a:t>＝</a:t>
            </a:r>
            <a:r>
              <a:rPr lang="en-US" sz="2400" dirty="0">
                <a:latin typeface="Times New Roman" pitchFamily="18" charset="0"/>
                <a:cs typeface="Times New Roman" pitchFamily="18" charset="0"/>
              </a:rPr>
              <a:t>0.72 </a:t>
            </a:r>
          </a:p>
          <a:p>
            <a:pPr>
              <a:spcBef>
                <a:spcPts val="0"/>
              </a:spcBef>
              <a:buNone/>
            </a:pPr>
            <a:r>
              <a:rPr lang="en-US" altLang="zh-CN" sz="2400" i="1" dirty="0">
                <a:latin typeface="Times New Roman" pitchFamily="18" charset="0"/>
                <a:cs typeface="Times New Roman" pitchFamily="18" charset="0"/>
              </a:rPr>
              <a:t>                   </a:t>
            </a:r>
            <a:endParaRPr lang="zh-CN" altLang="en-US" sz="2400" dirty="0">
              <a:latin typeface="Times New Roman" pitchFamily="18" charset="0"/>
              <a:cs typeface="Times New Roman" pitchFamily="18" charset="0"/>
            </a:endParaRPr>
          </a:p>
          <a:p>
            <a:pPr>
              <a:buNone/>
            </a:pPr>
            <a:r>
              <a:rPr lang="en-US" sz="2400" dirty="0">
                <a:latin typeface="Times New Roman" pitchFamily="18" charset="0"/>
                <a:cs typeface="Times New Roman" pitchFamily="18" charset="0"/>
              </a:rPr>
              <a:t>          </a:t>
            </a:r>
            <a:r>
              <a:rPr lang="zh-CN" altLang="en-US" sz="2400" dirty="0">
                <a:latin typeface="Times New Roman" pitchFamily="18" charset="0"/>
                <a:cs typeface="Times New Roman" pitchFamily="18" charset="0"/>
              </a:rPr>
              <a:t>由规则</a:t>
            </a:r>
            <a:r>
              <a:rPr lang="en-US" sz="2400" dirty="0">
                <a:latin typeface="Times New Roman" pitchFamily="18" charset="0"/>
                <a:cs typeface="Times New Roman" pitchFamily="18" charset="0"/>
              </a:rPr>
              <a:t>②</a:t>
            </a:r>
            <a:r>
              <a:rPr lang="zh-CN" altLang="en-US" sz="2400" dirty="0">
                <a:latin typeface="Times New Roman" pitchFamily="18" charset="0"/>
                <a:cs typeface="Times New Roman" pitchFamily="18" charset="0"/>
              </a:rPr>
              <a:t>得</a:t>
            </a:r>
            <a:r>
              <a:rPr lang="en-US" sz="2400" dirty="0">
                <a:latin typeface="Times New Roman" pitchFamily="18" charset="0"/>
                <a:cs typeface="Times New Roman" pitchFamily="18" charset="0"/>
              </a:rPr>
              <a:t>:  </a:t>
            </a:r>
            <a:r>
              <a:rPr lang="en-US" sz="2400" i="1" dirty="0">
                <a:latin typeface="Times New Roman" pitchFamily="18" charset="0"/>
                <a:cs typeface="Times New Roman" pitchFamily="18" charset="0"/>
              </a:rPr>
              <a:t>CF</a:t>
            </a:r>
            <a:r>
              <a:rPr lang="en-US" sz="2400" dirty="0">
                <a:latin typeface="Times New Roman" pitchFamily="18" charset="0"/>
                <a:cs typeface="Times New Roman" pitchFamily="18" charset="0"/>
              </a:rPr>
              <a:t>(</a:t>
            </a:r>
            <a:r>
              <a:rPr lang="en-US" sz="2400" i="1" dirty="0">
                <a:latin typeface="Times New Roman" pitchFamily="18" charset="0"/>
                <a:cs typeface="Times New Roman" pitchFamily="18" charset="0"/>
              </a:rPr>
              <a:t>D</a:t>
            </a:r>
            <a:r>
              <a:rPr lang="en-US" sz="2400" dirty="0">
                <a:latin typeface="Times New Roman" pitchFamily="18" charset="0"/>
                <a:cs typeface="Times New Roman" pitchFamily="18" charset="0"/>
              </a:rPr>
              <a:t>)</a:t>
            </a:r>
            <a:r>
              <a:rPr lang="en-US" sz="2400" baseline="-25000" dirty="0">
                <a:latin typeface="Times New Roman" pitchFamily="18" charset="0"/>
                <a:cs typeface="Times New Roman" pitchFamily="18" charset="0"/>
              </a:rPr>
              <a:t>1</a:t>
            </a:r>
            <a:r>
              <a:rPr lang="zh-CN" altLang="en-US" sz="2400" dirty="0">
                <a:latin typeface="Times New Roman" pitchFamily="18" charset="0"/>
                <a:cs typeface="Times New Roman" pitchFamily="18" charset="0"/>
              </a:rPr>
              <a:t>＝</a:t>
            </a:r>
            <a:r>
              <a:rPr lang="en-US" sz="2400" dirty="0">
                <a:latin typeface="Times New Roman" pitchFamily="18" charset="0"/>
                <a:cs typeface="Times New Roman" pitchFamily="18" charset="0"/>
              </a:rPr>
              <a:t>0.8×min{0.72, 0.9}</a:t>
            </a:r>
          </a:p>
          <a:p>
            <a:pPr>
              <a:buNone/>
            </a:pPr>
            <a:r>
              <a:rPr lang="en-US" altLang="zh-CN" sz="2400" dirty="0">
                <a:latin typeface="Times New Roman" pitchFamily="18" charset="0"/>
                <a:cs typeface="Times New Roman" pitchFamily="18" charset="0"/>
              </a:rPr>
              <a:t>                                             </a:t>
            </a:r>
            <a:r>
              <a:rPr lang="zh-CN" altLang="en-US" sz="2400" dirty="0">
                <a:latin typeface="Times New Roman" pitchFamily="18" charset="0"/>
                <a:cs typeface="Times New Roman" pitchFamily="18" charset="0"/>
              </a:rPr>
              <a:t>＝</a:t>
            </a:r>
            <a:r>
              <a:rPr lang="en-US" sz="2400" dirty="0">
                <a:latin typeface="Times New Roman" pitchFamily="18" charset="0"/>
                <a:cs typeface="Times New Roman" pitchFamily="18" charset="0"/>
              </a:rPr>
              <a:t>0.8×0.72</a:t>
            </a:r>
            <a:r>
              <a:rPr lang="zh-CN" altLang="en-US" sz="2400" dirty="0">
                <a:latin typeface="Times New Roman" pitchFamily="18" charset="0"/>
                <a:cs typeface="Times New Roman" pitchFamily="18" charset="0"/>
              </a:rPr>
              <a:t>＝</a:t>
            </a:r>
            <a:r>
              <a:rPr lang="en-US" sz="2400" dirty="0">
                <a:latin typeface="Times New Roman" pitchFamily="18" charset="0"/>
                <a:cs typeface="Times New Roman" pitchFamily="18" charset="0"/>
              </a:rPr>
              <a:t>0.576</a:t>
            </a:r>
            <a:endParaRPr lang="zh-CN" altLang="en-US" sz="2400" dirty="0">
              <a:latin typeface="Times New Roman" pitchFamily="18" charset="0"/>
              <a:cs typeface="Times New Roman" pitchFamily="18" charset="0"/>
            </a:endParaRPr>
          </a:p>
          <a:p>
            <a:pPr>
              <a:buNone/>
            </a:pPr>
            <a:r>
              <a:rPr lang="en-US" sz="2400" dirty="0">
                <a:latin typeface="Times New Roman" pitchFamily="18" charset="0"/>
                <a:cs typeface="Times New Roman" pitchFamily="18" charset="0"/>
              </a:rPr>
              <a:t>          </a:t>
            </a:r>
            <a:r>
              <a:rPr lang="zh-CN" altLang="en-US" sz="2400" dirty="0">
                <a:latin typeface="Times New Roman" pitchFamily="18" charset="0"/>
                <a:cs typeface="Times New Roman" pitchFamily="18" charset="0"/>
              </a:rPr>
              <a:t>由规则</a:t>
            </a:r>
            <a:r>
              <a:rPr lang="en-US" sz="2400" dirty="0">
                <a:latin typeface="Times New Roman" pitchFamily="18" charset="0"/>
                <a:cs typeface="Times New Roman" pitchFamily="18" charset="0"/>
              </a:rPr>
              <a:t>③</a:t>
            </a:r>
            <a:r>
              <a:rPr lang="zh-CN" altLang="en-US" sz="2400" dirty="0">
                <a:latin typeface="Times New Roman" pitchFamily="18" charset="0"/>
                <a:cs typeface="Times New Roman" pitchFamily="18" charset="0"/>
              </a:rPr>
              <a:t>得</a:t>
            </a:r>
            <a:r>
              <a:rPr lang="en-US" sz="2400" dirty="0">
                <a:latin typeface="Times New Roman" pitchFamily="18" charset="0"/>
                <a:cs typeface="Times New Roman" pitchFamily="18" charset="0"/>
              </a:rPr>
              <a:t>:  </a:t>
            </a:r>
            <a:r>
              <a:rPr lang="en-US" sz="2400" i="1" dirty="0">
                <a:latin typeface="Times New Roman" pitchFamily="18" charset="0"/>
                <a:cs typeface="Times New Roman" pitchFamily="18" charset="0"/>
              </a:rPr>
              <a:t>CF</a:t>
            </a:r>
            <a:r>
              <a:rPr lang="en-US" sz="2400" dirty="0">
                <a:latin typeface="Times New Roman" pitchFamily="18" charset="0"/>
                <a:cs typeface="Times New Roman" pitchFamily="18" charset="0"/>
              </a:rPr>
              <a:t>(</a:t>
            </a:r>
            <a:r>
              <a:rPr lang="en-US" sz="2400" i="1" dirty="0">
                <a:latin typeface="Times New Roman" pitchFamily="18" charset="0"/>
                <a:cs typeface="Times New Roman" pitchFamily="18" charset="0"/>
              </a:rPr>
              <a:t>D</a:t>
            </a:r>
            <a:r>
              <a:rPr lang="en-US" sz="2400" dirty="0">
                <a:latin typeface="Times New Roman" pitchFamily="18" charset="0"/>
                <a:cs typeface="Times New Roman" pitchFamily="18" charset="0"/>
              </a:rPr>
              <a:t>)</a:t>
            </a:r>
            <a:r>
              <a:rPr lang="en-US" sz="2400" baseline="-25000" dirty="0">
                <a:latin typeface="Times New Roman" pitchFamily="18" charset="0"/>
                <a:cs typeface="Times New Roman" pitchFamily="18" charset="0"/>
              </a:rPr>
              <a:t>2</a:t>
            </a:r>
            <a:r>
              <a:rPr lang="zh-CN" altLang="en-US" sz="2400" dirty="0">
                <a:latin typeface="Times New Roman" pitchFamily="18" charset="0"/>
                <a:cs typeface="Times New Roman" pitchFamily="18" charset="0"/>
              </a:rPr>
              <a:t>＝</a:t>
            </a:r>
            <a:r>
              <a:rPr lang="en-US" sz="2400" dirty="0">
                <a:latin typeface="Times New Roman" pitchFamily="18" charset="0"/>
                <a:cs typeface="Times New Roman" pitchFamily="18" charset="0"/>
              </a:rPr>
              <a:t>0.7×min{0.8, 0.9}</a:t>
            </a:r>
          </a:p>
          <a:p>
            <a:pPr>
              <a:buNone/>
            </a:pPr>
            <a:r>
              <a:rPr lang="en-US" altLang="zh-CN" sz="2400" dirty="0">
                <a:latin typeface="Times New Roman" pitchFamily="18" charset="0"/>
                <a:cs typeface="Times New Roman" pitchFamily="18" charset="0"/>
              </a:rPr>
              <a:t>                                             </a:t>
            </a:r>
            <a:r>
              <a:rPr lang="zh-CN" altLang="en-US" sz="2400" dirty="0">
                <a:latin typeface="Times New Roman" pitchFamily="18" charset="0"/>
                <a:cs typeface="Times New Roman" pitchFamily="18" charset="0"/>
              </a:rPr>
              <a:t>＝</a:t>
            </a:r>
            <a:r>
              <a:rPr lang="en-US" sz="2400" dirty="0">
                <a:latin typeface="Times New Roman" pitchFamily="18" charset="0"/>
                <a:cs typeface="Times New Roman" pitchFamily="18" charset="0"/>
              </a:rPr>
              <a:t>0.7×0.8</a:t>
            </a:r>
            <a:r>
              <a:rPr lang="zh-CN" altLang="en-US" sz="2400" dirty="0">
                <a:latin typeface="Times New Roman" pitchFamily="18" charset="0"/>
                <a:cs typeface="Times New Roman" pitchFamily="18" charset="0"/>
              </a:rPr>
              <a:t>＝</a:t>
            </a:r>
            <a:r>
              <a:rPr lang="en-US" sz="2400" dirty="0">
                <a:latin typeface="Times New Roman" pitchFamily="18" charset="0"/>
                <a:cs typeface="Times New Roman" pitchFamily="18" charset="0"/>
              </a:rPr>
              <a:t>0.56</a:t>
            </a:r>
            <a:endParaRPr lang="zh-CN" altLang="en-US" sz="2400" dirty="0">
              <a:latin typeface="Times New Roman" pitchFamily="18" charset="0"/>
              <a:cs typeface="Times New Roman" pitchFamily="18" charset="0"/>
            </a:endParaRPr>
          </a:p>
          <a:p>
            <a:pPr>
              <a:buNone/>
            </a:pPr>
            <a:r>
              <a:rPr lang="en-US" sz="2400" dirty="0">
                <a:latin typeface="Times New Roman" pitchFamily="18" charset="0"/>
                <a:cs typeface="Times New Roman" pitchFamily="18" charset="0"/>
              </a:rPr>
              <a:t>          </a:t>
            </a:r>
            <a:r>
              <a:rPr lang="zh-CN" altLang="en-US" sz="2400" dirty="0">
                <a:latin typeface="Times New Roman" pitchFamily="18" charset="0"/>
                <a:cs typeface="Times New Roman" pitchFamily="18" charset="0"/>
              </a:rPr>
              <a:t>从而</a:t>
            </a:r>
          </a:p>
          <a:p>
            <a:pPr>
              <a:spcBef>
                <a:spcPts val="0"/>
              </a:spcBef>
              <a:buNone/>
            </a:pPr>
            <a:r>
              <a:rPr lang="en-US" sz="2400" dirty="0">
                <a:latin typeface="Times New Roman" pitchFamily="18" charset="0"/>
                <a:cs typeface="Times New Roman" pitchFamily="18" charset="0"/>
              </a:rPr>
              <a:t>                    </a:t>
            </a:r>
            <a:r>
              <a:rPr lang="en-US" sz="2400" i="1" dirty="0">
                <a:latin typeface="Times New Roman" pitchFamily="18" charset="0"/>
                <a:cs typeface="Times New Roman" pitchFamily="18" charset="0"/>
              </a:rPr>
              <a:t>CF</a:t>
            </a:r>
            <a:r>
              <a:rPr lang="en-US" sz="2400" dirty="0">
                <a:latin typeface="Times New Roman" pitchFamily="18" charset="0"/>
                <a:cs typeface="Times New Roman" pitchFamily="18" charset="0"/>
              </a:rPr>
              <a:t>(</a:t>
            </a:r>
            <a:r>
              <a:rPr lang="en-US" sz="2400" i="1" dirty="0">
                <a:latin typeface="Times New Roman" pitchFamily="18" charset="0"/>
                <a:cs typeface="Times New Roman" pitchFamily="18" charset="0"/>
              </a:rPr>
              <a:t>D</a:t>
            </a:r>
            <a:r>
              <a:rPr lang="en-US" sz="2400" dirty="0">
                <a:latin typeface="Times New Roman" pitchFamily="18" charset="0"/>
                <a:cs typeface="Times New Roman" pitchFamily="18" charset="0"/>
              </a:rPr>
              <a:t>)</a:t>
            </a:r>
            <a:r>
              <a:rPr lang="zh-CN" altLang="en-US" sz="2400" dirty="0">
                <a:latin typeface="Times New Roman" pitchFamily="18" charset="0"/>
                <a:cs typeface="Times New Roman" pitchFamily="18" charset="0"/>
              </a:rPr>
              <a:t>＝</a:t>
            </a:r>
            <a:r>
              <a:rPr lang="en-US" sz="2400" i="1" dirty="0">
                <a:latin typeface="Times New Roman" pitchFamily="18" charset="0"/>
                <a:cs typeface="Times New Roman" pitchFamily="18" charset="0"/>
              </a:rPr>
              <a:t>CF</a:t>
            </a:r>
            <a:r>
              <a:rPr lang="en-US" sz="2400" dirty="0">
                <a:latin typeface="Times New Roman" pitchFamily="18" charset="0"/>
                <a:cs typeface="Times New Roman" pitchFamily="18" charset="0"/>
              </a:rPr>
              <a:t>(</a:t>
            </a:r>
            <a:r>
              <a:rPr lang="en-US" sz="2400" i="1" dirty="0">
                <a:latin typeface="Times New Roman" pitchFamily="18" charset="0"/>
                <a:cs typeface="Times New Roman" pitchFamily="18" charset="0"/>
              </a:rPr>
              <a:t>D</a:t>
            </a:r>
            <a:r>
              <a:rPr lang="en-US" sz="2400" dirty="0">
                <a:latin typeface="Times New Roman" pitchFamily="18" charset="0"/>
                <a:cs typeface="Times New Roman" pitchFamily="18" charset="0"/>
              </a:rPr>
              <a:t>)</a:t>
            </a:r>
            <a:r>
              <a:rPr lang="en-US" sz="2400" baseline="-25000" dirty="0">
                <a:latin typeface="Times New Roman" pitchFamily="18" charset="0"/>
                <a:cs typeface="Times New Roman" pitchFamily="18" charset="0"/>
              </a:rPr>
              <a:t>1</a:t>
            </a:r>
            <a:r>
              <a:rPr lang="zh-CN" altLang="en-US" sz="2400" dirty="0">
                <a:latin typeface="Times New Roman" pitchFamily="18" charset="0"/>
                <a:cs typeface="Times New Roman" pitchFamily="18" charset="0"/>
              </a:rPr>
              <a:t>＋</a:t>
            </a:r>
            <a:r>
              <a:rPr lang="en-US" sz="2400" i="1" dirty="0">
                <a:latin typeface="Times New Roman" pitchFamily="18" charset="0"/>
                <a:cs typeface="Times New Roman" pitchFamily="18" charset="0"/>
              </a:rPr>
              <a:t>CF</a:t>
            </a:r>
            <a:r>
              <a:rPr lang="en-US" sz="2400" dirty="0">
                <a:latin typeface="Times New Roman" pitchFamily="18" charset="0"/>
                <a:cs typeface="Times New Roman" pitchFamily="18" charset="0"/>
              </a:rPr>
              <a:t>(</a:t>
            </a:r>
            <a:r>
              <a:rPr lang="en-US" sz="2400" i="1" dirty="0">
                <a:latin typeface="Times New Roman" pitchFamily="18" charset="0"/>
                <a:cs typeface="Times New Roman" pitchFamily="18" charset="0"/>
              </a:rPr>
              <a:t>D</a:t>
            </a:r>
            <a:r>
              <a:rPr lang="en-US" sz="2400" dirty="0">
                <a:latin typeface="Times New Roman" pitchFamily="18" charset="0"/>
                <a:cs typeface="Times New Roman" pitchFamily="18" charset="0"/>
              </a:rPr>
              <a:t>)</a:t>
            </a:r>
            <a:r>
              <a:rPr lang="en-US" sz="2400" baseline="-25000" dirty="0">
                <a:latin typeface="Times New Roman" pitchFamily="18" charset="0"/>
                <a:cs typeface="Times New Roman" pitchFamily="18" charset="0"/>
              </a:rPr>
              <a:t>2</a:t>
            </a:r>
            <a:r>
              <a:rPr lang="zh-CN" altLang="en-US" sz="2400" dirty="0">
                <a:latin typeface="Times New Roman" pitchFamily="18" charset="0"/>
                <a:cs typeface="Times New Roman" pitchFamily="18" charset="0"/>
              </a:rPr>
              <a:t>－</a:t>
            </a:r>
            <a:r>
              <a:rPr lang="en-US" sz="2400" i="1" dirty="0">
                <a:latin typeface="Times New Roman" pitchFamily="18" charset="0"/>
                <a:cs typeface="Times New Roman" pitchFamily="18" charset="0"/>
              </a:rPr>
              <a:t>CF</a:t>
            </a:r>
            <a:r>
              <a:rPr lang="en-US" sz="2400" dirty="0">
                <a:latin typeface="Times New Roman" pitchFamily="18" charset="0"/>
                <a:cs typeface="Times New Roman" pitchFamily="18" charset="0"/>
              </a:rPr>
              <a:t>(</a:t>
            </a:r>
            <a:r>
              <a:rPr lang="en-US" sz="2400" i="1" dirty="0">
                <a:latin typeface="Times New Roman" pitchFamily="18" charset="0"/>
                <a:cs typeface="Times New Roman" pitchFamily="18" charset="0"/>
              </a:rPr>
              <a:t>D</a:t>
            </a:r>
            <a:r>
              <a:rPr lang="en-US" sz="2400" dirty="0">
                <a:latin typeface="Times New Roman" pitchFamily="18" charset="0"/>
                <a:cs typeface="Times New Roman" pitchFamily="18" charset="0"/>
              </a:rPr>
              <a:t>)</a:t>
            </a:r>
            <a:r>
              <a:rPr lang="en-US" sz="2400" baseline="-25000" dirty="0">
                <a:latin typeface="Times New Roman" pitchFamily="18" charset="0"/>
                <a:cs typeface="Times New Roman" pitchFamily="18" charset="0"/>
              </a:rPr>
              <a:t>1</a:t>
            </a:r>
            <a:r>
              <a:rPr lang="en-US" sz="2400" dirty="0">
                <a:latin typeface="Times New Roman" pitchFamily="18" charset="0"/>
                <a:cs typeface="Times New Roman" pitchFamily="18" charset="0"/>
              </a:rPr>
              <a:t>×</a:t>
            </a:r>
            <a:r>
              <a:rPr lang="en-US" sz="2400" i="1" dirty="0">
                <a:latin typeface="Times New Roman" pitchFamily="18" charset="0"/>
                <a:cs typeface="Times New Roman" pitchFamily="18" charset="0"/>
              </a:rPr>
              <a:t>CF</a:t>
            </a:r>
            <a:r>
              <a:rPr lang="en-US" sz="2400" dirty="0">
                <a:latin typeface="Times New Roman" pitchFamily="18" charset="0"/>
                <a:cs typeface="Times New Roman" pitchFamily="18" charset="0"/>
              </a:rPr>
              <a:t>(</a:t>
            </a:r>
            <a:r>
              <a:rPr lang="en-US" sz="2400" i="1" dirty="0">
                <a:latin typeface="Times New Roman" pitchFamily="18" charset="0"/>
                <a:cs typeface="Times New Roman" pitchFamily="18" charset="0"/>
              </a:rPr>
              <a:t>D</a:t>
            </a:r>
            <a:r>
              <a:rPr lang="en-US" sz="2400" dirty="0">
                <a:latin typeface="Times New Roman" pitchFamily="18" charset="0"/>
                <a:cs typeface="Times New Roman" pitchFamily="18" charset="0"/>
              </a:rPr>
              <a:t>)</a:t>
            </a:r>
            <a:r>
              <a:rPr lang="en-US" sz="2400" baseline="-25000" dirty="0">
                <a:latin typeface="Times New Roman" pitchFamily="18" charset="0"/>
                <a:cs typeface="Times New Roman" pitchFamily="18" charset="0"/>
              </a:rPr>
              <a:t>2</a:t>
            </a:r>
            <a:endParaRPr lang="zh-CN" altLang="en-US" sz="2400" dirty="0">
              <a:latin typeface="Times New Roman" pitchFamily="18" charset="0"/>
              <a:cs typeface="Times New Roman" pitchFamily="18" charset="0"/>
            </a:endParaRPr>
          </a:p>
          <a:p>
            <a:pPr>
              <a:buNone/>
            </a:pPr>
            <a:r>
              <a:rPr lang="en-US" sz="2400" dirty="0">
                <a:latin typeface="Times New Roman" pitchFamily="18" charset="0"/>
                <a:cs typeface="Times New Roman" pitchFamily="18" charset="0"/>
              </a:rPr>
              <a:t>                              </a:t>
            </a:r>
            <a:r>
              <a:rPr lang="zh-CN" altLang="en-US" sz="2400" dirty="0">
                <a:latin typeface="Times New Roman" pitchFamily="18" charset="0"/>
                <a:cs typeface="Times New Roman" pitchFamily="18" charset="0"/>
              </a:rPr>
              <a:t>＝</a:t>
            </a:r>
            <a:r>
              <a:rPr lang="en-US" sz="2400" dirty="0">
                <a:latin typeface="Times New Roman" pitchFamily="18" charset="0"/>
                <a:cs typeface="Times New Roman" pitchFamily="18" charset="0"/>
              </a:rPr>
              <a:t>0.576</a:t>
            </a:r>
            <a:r>
              <a:rPr lang="zh-CN" altLang="en-US" sz="2400" dirty="0">
                <a:latin typeface="Times New Roman" pitchFamily="18" charset="0"/>
                <a:cs typeface="Times New Roman" pitchFamily="18" charset="0"/>
              </a:rPr>
              <a:t>＋</a:t>
            </a:r>
            <a:r>
              <a:rPr lang="en-US" sz="2400" dirty="0">
                <a:latin typeface="Times New Roman" pitchFamily="18" charset="0"/>
                <a:cs typeface="Times New Roman" pitchFamily="18" charset="0"/>
              </a:rPr>
              <a:t>0.56</a:t>
            </a:r>
            <a:r>
              <a:rPr lang="zh-CN" altLang="en-US" sz="2400" dirty="0">
                <a:latin typeface="Times New Roman" pitchFamily="18" charset="0"/>
                <a:cs typeface="Times New Roman" pitchFamily="18" charset="0"/>
              </a:rPr>
              <a:t>－</a:t>
            </a:r>
            <a:r>
              <a:rPr lang="en-US" sz="2400" dirty="0">
                <a:latin typeface="Times New Roman" pitchFamily="18" charset="0"/>
                <a:cs typeface="Times New Roman" pitchFamily="18" charset="0"/>
              </a:rPr>
              <a:t>0.576×0.56</a:t>
            </a:r>
            <a:endParaRPr lang="zh-CN" altLang="en-US" sz="2400" dirty="0">
              <a:latin typeface="Times New Roman" pitchFamily="18" charset="0"/>
              <a:cs typeface="Times New Roman" pitchFamily="18" charset="0"/>
            </a:endParaRPr>
          </a:p>
          <a:p>
            <a:pPr>
              <a:buNone/>
            </a:pPr>
            <a:r>
              <a:rPr lang="en-US" sz="2400" dirty="0">
                <a:latin typeface="Times New Roman" pitchFamily="18" charset="0"/>
                <a:cs typeface="Times New Roman" pitchFamily="18" charset="0"/>
              </a:rPr>
              <a:t>                              </a:t>
            </a:r>
            <a:r>
              <a:rPr lang="zh-CN" altLang="en-US" sz="2400" dirty="0">
                <a:latin typeface="Times New Roman" pitchFamily="18" charset="0"/>
                <a:cs typeface="Times New Roman" pitchFamily="18" charset="0"/>
              </a:rPr>
              <a:t>＝</a:t>
            </a:r>
            <a:r>
              <a:rPr lang="en-US" sz="2400" dirty="0">
                <a:latin typeface="Times New Roman" pitchFamily="18" charset="0"/>
                <a:cs typeface="Times New Roman" pitchFamily="18" charset="0"/>
              </a:rPr>
              <a:t>0.81344</a:t>
            </a:r>
            <a:endParaRPr lang="zh-CN" altLang="en-US" sz="2400" dirty="0">
              <a:latin typeface="Times New Roman" pitchFamily="18" charset="0"/>
              <a:cs typeface="Times New Roman" pitchFamily="18" charset="0"/>
            </a:endParaRPr>
          </a:p>
          <a:p>
            <a:pPr>
              <a:buNone/>
            </a:pPr>
            <a:r>
              <a:rPr lang="en-US" sz="2400" dirty="0">
                <a:latin typeface="Times New Roman" pitchFamily="18" charset="0"/>
                <a:cs typeface="Times New Roman" pitchFamily="18" charset="0"/>
              </a:rPr>
              <a:t>        </a:t>
            </a:r>
            <a:r>
              <a:rPr lang="zh-CN" altLang="en-US" sz="2400" dirty="0">
                <a:latin typeface="Times New Roman" pitchFamily="18" charset="0"/>
                <a:cs typeface="Times New Roman" pitchFamily="18" charset="0"/>
              </a:rPr>
              <a:t>由规则</a:t>
            </a:r>
            <a:r>
              <a:rPr lang="en-US" sz="2400" dirty="0">
                <a:latin typeface="Times New Roman" pitchFamily="18" charset="0"/>
                <a:cs typeface="Times New Roman" pitchFamily="18" charset="0"/>
              </a:rPr>
              <a:t>④</a:t>
            </a:r>
            <a:r>
              <a:rPr lang="zh-CN" altLang="en-US" sz="2400" dirty="0">
                <a:latin typeface="Times New Roman" pitchFamily="18" charset="0"/>
                <a:cs typeface="Times New Roman" pitchFamily="18" charset="0"/>
              </a:rPr>
              <a:t>得</a:t>
            </a:r>
            <a:r>
              <a:rPr lang="en-US" sz="2400" dirty="0">
                <a:latin typeface="Times New Roman" pitchFamily="18" charset="0"/>
                <a:cs typeface="Times New Roman" pitchFamily="18" charset="0"/>
              </a:rPr>
              <a:t>:  </a:t>
            </a:r>
            <a:r>
              <a:rPr lang="en-US" sz="2400" i="1" dirty="0">
                <a:latin typeface="Times New Roman" pitchFamily="18" charset="0"/>
                <a:cs typeface="Times New Roman" pitchFamily="18" charset="0"/>
              </a:rPr>
              <a:t>CF</a:t>
            </a:r>
            <a:r>
              <a:rPr lang="en-US" sz="2400" dirty="0">
                <a:latin typeface="Times New Roman" pitchFamily="18" charset="0"/>
                <a:cs typeface="Times New Roman" pitchFamily="18" charset="0"/>
              </a:rPr>
              <a:t>(</a:t>
            </a:r>
            <a:r>
              <a:rPr lang="en-US" sz="2400" i="1" dirty="0">
                <a:latin typeface="Times New Roman" pitchFamily="18" charset="0"/>
                <a:cs typeface="Times New Roman" pitchFamily="18" charset="0"/>
              </a:rPr>
              <a:t>E</a:t>
            </a:r>
            <a:r>
              <a:rPr lang="en-US" sz="2400" dirty="0">
                <a:latin typeface="Times New Roman" pitchFamily="18" charset="0"/>
                <a:cs typeface="Times New Roman" pitchFamily="18" charset="0"/>
              </a:rPr>
              <a:t>)</a:t>
            </a:r>
            <a:r>
              <a:rPr lang="zh-CN" altLang="en-US" sz="2400" dirty="0">
                <a:latin typeface="Times New Roman" pitchFamily="18" charset="0"/>
                <a:cs typeface="Times New Roman" pitchFamily="18" charset="0"/>
              </a:rPr>
              <a:t>＝</a:t>
            </a:r>
            <a:r>
              <a:rPr lang="en-US" sz="2400" dirty="0">
                <a:latin typeface="Times New Roman" pitchFamily="18" charset="0"/>
                <a:cs typeface="Times New Roman" pitchFamily="18" charset="0"/>
              </a:rPr>
              <a:t>0.6×max{0.72, 0.81344}</a:t>
            </a:r>
          </a:p>
          <a:p>
            <a:pPr>
              <a:buNone/>
            </a:pPr>
            <a:r>
              <a:rPr lang="en-US" altLang="zh-CN" sz="2400" dirty="0">
                <a:latin typeface="Times New Roman" pitchFamily="18" charset="0"/>
                <a:cs typeface="Times New Roman" pitchFamily="18" charset="0"/>
              </a:rPr>
              <a:t>                                         </a:t>
            </a:r>
            <a:r>
              <a:rPr lang="zh-CN" altLang="en-US" sz="2400" dirty="0">
                <a:latin typeface="Times New Roman" pitchFamily="18" charset="0"/>
                <a:cs typeface="Times New Roman" pitchFamily="18" charset="0"/>
              </a:rPr>
              <a:t>＝</a:t>
            </a:r>
            <a:r>
              <a:rPr lang="en-US" sz="2400" dirty="0">
                <a:latin typeface="Times New Roman" pitchFamily="18" charset="0"/>
                <a:cs typeface="Times New Roman" pitchFamily="18" charset="0"/>
              </a:rPr>
              <a:t>0.6×0.72</a:t>
            </a:r>
            <a:r>
              <a:rPr lang="zh-CN" altLang="en-US" sz="2400" dirty="0">
                <a:latin typeface="Times New Roman" pitchFamily="18" charset="0"/>
                <a:cs typeface="Times New Roman" pitchFamily="18" charset="0"/>
              </a:rPr>
              <a:t>＝</a:t>
            </a:r>
            <a:r>
              <a:rPr lang="en-US" sz="2400" dirty="0">
                <a:latin typeface="Times New Roman" pitchFamily="18" charset="0"/>
                <a:cs typeface="Times New Roman" pitchFamily="18" charset="0"/>
              </a:rPr>
              <a:t>0.488064</a:t>
            </a:r>
            <a:endParaRPr lang="zh-CN" altLang="en-US" sz="2400" dirty="0">
              <a:latin typeface="Times New Roman" pitchFamily="18" charset="0"/>
              <a:cs typeface="Times New Roman" pitchFamily="18" charset="0"/>
            </a:endParaRPr>
          </a:p>
        </p:txBody>
      </p:sp>
    </p:spTree>
  </p:cSld>
  <p:clrMapOvr>
    <a:masterClrMapping/>
  </p:clrMapOvr>
  <p:transition/>
</p:sld>
</file>

<file path=ppt/slides/slide14.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B6DE8D8D-BBE7-CC51-91A2-98E79D48322B}"/>
            </a:ext>
          </a:extLst>
        </p:cNvPr>
        <p:cNvGrpSpPr/>
        <p:nvPr/>
      </p:nvGrpSpPr>
      <p:grpSpPr>
        <a:xfrm>
          <a:off x="0" y="0"/>
          <a:ext cx="0" cy="0"/>
          <a:chOff x="0" y="0"/>
          <a:chExt cx="0" cy="0"/>
        </a:xfrm>
      </p:grpSpPr>
      <p:pic>
        <p:nvPicPr>
          <p:cNvPr id="5" name="Picture 3">
            <a:extLst>
              <a:ext uri="{FF2B5EF4-FFF2-40B4-BE49-F238E27FC236}">
                <a16:creationId xmlns:a16="http://schemas.microsoft.com/office/drawing/2014/main" id="{FA7EBF97-118E-B2AC-B51B-2F284BC7FBF0}"/>
              </a:ext>
            </a:extLst>
          </p:cNvPr>
          <p:cNvPicPr>
            <a:picLocks noGrp="1" noChangeAspect="1"/>
          </p:cNvPicPr>
          <p:nvPr>
            <p:ph idx="1"/>
          </p:nvPr>
        </p:nvPicPr>
        <p:blipFill>
          <a:blip r:embed="rId2"/>
          <a:srcRect/>
          <a:stretch>
            <a:fillRect/>
          </a:stretch>
        </p:blipFill>
        <p:spPr>
          <a:xfrm>
            <a:off x="359184" y="1564481"/>
            <a:ext cx="8425631" cy="3729037"/>
          </a:xfrm>
          <a:ln/>
        </p:spPr>
      </p:pic>
      <p:pic>
        <p:nvPicPr>
          <p:cNvPr id="6" name="Picture 3">
            <a:extLst>
              <a:ext uri="{FF2B5EF4-FFF2-40B4-BE49-F238E27FC236}">
                <a16:creationId xmlns:a16="http://schemas.microsoft.com/office/drawing/2014/main" id="{13F39CCE-62F1-CF7C-5068-DC0991EC6273}"/>
              </a:ext>
            </a:extLst>
          </p:cNvPr>
          <p:cNvPicPr>
            <a:picLocks noChangeAspect="1"/>
          </p:cNvPicPr>
          <p:nvPr/>
        </p:nvPicPr>
        <p:blipFill>
          <a:blip r:embed="rId3"/>
          <a:stretch>
            <a:fillRect/>
          </a:stretch>
        </p:blipFill>
        <p:spPr>
          <a:xfrm>
            <a:off x="5796136" y="476672"/>
            <a:ext cx="2888105" cy="2016224"/>
          </a:xfrm>
          <a:prstGeom prst="rect">
            <a:avLst/>
          </a:prstGeom>
          <a:noFill/>
          <a:ln w="9525">
            <a:noFill/>
          </a:ln>
        </p:spPr>
      </p:pic>
    </p:spTree>
    <p:extLst>
      <p:ext uri="{BB962C8B-B14F-4D97-AF65-F5344CB8AC3E}">
        <p14:creationId xmlns:p14="http://schemas.microsoft.com/office/powerpoint/2010/main" val="539816356"/>
      </p:ext>
    </p:extLst>
  </p:cSld>
  <p:clrMapOvr>
    <a:masterClrMapping/>
  </p:clrMapOvr>
  <p:transition/>
</p:sld>
</file>

<file path=ppt/slides/slide15.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E97EF677-0B43-B92D-9429-9BADBBA08544}"/>
            </a:ext>
          </a:extLst>
        </p:cNvPr>
        <p:cNvGrpSpPr/>
        <p:nvPr/>
      </p:nvGrpSpPr>
      <p:grpSpPr>
        <a:xfrm>
          <a:off x="0" y="0"/>
          <a:ext cx="0" cy="0"/>
          <a:chOff x="0" y="0"/>
          <a:chExt cx="0" cy="0"/>
        </a:xfrm>
      </p:grpSpPr>
      <p:pic>
        <p:nvPicPr>
          <p:cNvPr id="5" name="Picture 2">
            <a:extLst>
              <a:ext uri="{FF2B5EF4-FFF2-40B4-BE49-F238E27FC236}">
                <a16:creationId xmlns:a16="http://schemas.microsoft.com/office/drawing/2014/main" id="{94D7D7A2-D40E-D867-4D51-CB2271E70B36}"/>
              </a:ext>
            </a:extLst>
          </p:cNvPr>
          <p:cNvPicPr>
            <a:picLocks noGrp="1" noChangeAspect="1"/>
          </p:cNvPicPr>
          <p:nvPr>
            <p:ph idx="1"/>
          </p:nvPr>
        </p:nvPicPr>
        <p:blipFill>
          <a:blip r:embed="rId2"/>
          <a:srcRect/>
          <a:stretch>
            <a:fillRect/>
          </a:stretch>
        </p:blipFill>
        <p:spPr>
          <a:xfrm>
            <a:off x="457200" y="620713"/>
            <a:ext cx="8229600" cy="5849937"/>
          </a:xfrm>
          <a:ln/>
        </p:spPr>
      </p:pic>
    </p:spTree>
    <p:extLst>
      <p:ext uri="{BB962C8B-B14F-4D97-AF65-F5344CB8AC3E}">
        <p14:creationId xmlns:p14="http://schemas.microsoft.com/office/powerpoint/2010/main" val="2291428208"/>
      </p:ext>
    </p:extLst>
  </p:cSld>
  <p:clrMapOvr>
    <a:masterClrMapping/>
  </p:clrMapOvr>
  <p:transition/>
</p:sld>
</file>

<file path=ppt/slides/slide16.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F4A4A683-17A3-FEA3-F68C-171C3D2B6F5E}"/>
            </a:ext>
          </a:extLst>
        </p:cNvPr>
        <p:cNvGrpSpPr/>
        <p:nvPr/>
      </p:nvGrpSpPr>
      <p:grpSpPr>
        <a:xfrm>
          <a:off x="0" y="0"/>
          <a:ext cx="0" cy="0"/>
          <a:chOff x="0" y="0"/>
          <a:chExt cx="0" cy="0"/>
        </a:xfrm>
      </p:grpSpPr>
      <p:pic>
        <p:nvPicPr>
          <p:cNvPr id="4" name="Picture 2">
            <a:extLst>
              <a:ext uri="{FF2B5EF4-FFF2-40B4-BE49-F238E27FC236}">
                <a16:creationId xmlns:a16="http://schemas.microsoft.com/office/drawing/2014/main" id="{7EE8DD65-23C0-63B0-B4A3-21D548266755}"/>
              </a:ext>
            </a:extLst>
          </p:cNvPr>
          <p:cNvPicPr>
            <a:picLocks noGrp="1" noChangeAspect="1"/>
          </p:cNvPicPr>
          <p:nvPr>
            <p:ph idx="1"/>
          </p:nvPr>
        </p:nvPicPr>
        <p:blipFill>
          <a:blip r:embed="rId2"/>
          <a:srcRect/>
          <a:stretch>
            <a:fillRect/>
          </a:stretch>
        </p:blipFill>
        <p:spPr>
          <a:xfrm>
            <a:off x="533400" y="692150"/>
            <a:ext cx="7924800" cy="5099050"/>
          </a:xfrm>
          <a:ln/>
        </p:spPr>
      </p:pic>
    </p:spTree>
    <p:extLst>
      <p:ext uri="{BB962C8B-B14F-4D97-AF65-F5344CB8AC3E}">
        <p14:creationId xmlns:p14="http://schemas.microsoft.com/office/powerpoint/2010/main" val="4258097921"/>
      </p:ext>
    </p:extLst>
  </p:cSld>
  <p:clrMapOvr>
    <a:masterClrMapping/>
  </p:clrMapOvr>
  <p:transition/>
</p:sld>
</file>

<file path=ppt/slides/slide17.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E6EF607E-E2D5-4762-FE70-EB8BEE013A15}"/>
            </a:ext>
          </a:extLst>
        </p:cNvPr>
        <p:cNvGrpSpPr/>
        <p:nvPr/>
      </p:nvGrpSpPr>
      <p:grpSpPr>
        <a:xfrm>
          <a:off x="0" y="0"/>
          <a:ext cx="0" cy="0"/>
          <a:chOff x="0" y="0"/>
          <a:chExt cx="0" cy="0"/>
        </a:xfrm>
      </p:grpSpPr>
      <p:pic>
        <p:nvPicPr>
          <p:cNvPr id="5" name="Picture 2">
            <a:extLst>
              <a:ext uri="{FF2B5EF4-FFF2-40B4-BE49-F238E27FC236}">
                <a16:creationId xmlns:a16="http://schemas.microsoft.com/office/drawing/2014/main" id="{4A69E568-8A7F-1392-76EF-C5B29340D9D6}"/>
              </a:ext>
            </a:extLst>
          </p:cNvPr>
          <p:cNvPicPr>
            <a:picLocks noGrp="1" noChangeAspect="1"/>
          </p:cNvPicPr>
          <p:nvPr>
            <p:ph idx="1"/>
          </p:nvPr>
        </p:nvPicPr>
        <p:blipFill>
          <a:blip r:embed="rId2"/>
          <a:srcRect/>
          <a:stretch>
            <a:fillRect/>
          </a:stretch>
        </p:blipFill>
        <p:spPr>
          <a:xfrm>
            <a:off x="457200" y="692150"/>
            <a:ext cx="7772400" cy="3117850"/>
          </a:xfrm>
          <a:ln/>
        </p:spPr>
      </p:pic>
      <p:sp>
        <p:nvSpPr>
          <p:cNvPr id="6" name="TextBox 1">
            <a:extLst>
              <a:ext uri="{FF2B5EF4-FFF2-40B4-BE49-F238E27FC236}">
                <a16:creationId xmlns:a16="http://schemas.microsoft.com/office/drawing/2014/main" id="{737A1AC5-4EB3-42DD-E19D-8A765F1C2FE8}"/>
              </a:ext>
            </a:extLst>
          </p:cNvPr>
          <p:cNvSpPr txBox="1"/>
          <p:nvPr/>
        </p:nvSpPr>
        <p:spPr>
          <a:xfrm>
            <a:off x="3851275" y="1046735"/>
            <a:ext cx="3673475" cy="369887"/>
          </a:xfrm>
          <a:prstGeom prst="rect">
            <a:avLst/>
          </a:prstGeom>
          <a:solidFill>
            <a:schemeClr val="bg1"/>
          </a:solidFill>
          <a:ln w="9525">
            <a:noFill/>
          </a:ln>
        </p:spPr>
        <p:txBody>
          <a:bodyPr>
            <a:spAutoFit/>
          </a:bodyPr>
          <a:lstStyle>
            <a:lvl1pPr marL="342900" indent="-342900" algn="l" rtl="0" eaLnBrk="0" fontAlgn="base" hangingPunct="0">
              <a:lnSpc>
                <a:spcPct val="130000"/>
              </a:lnSpc>
              <a:spcBef>
                <a:spcPct val="20000"/>
              </a:spcBef>
              <a:spcAft>
                <a:spcPct val="0"/>
              </a:spcAft>
              <a:defRPr sz="2400" kern="1200">
                <a:solidFill>
                  <a:schemeClr val="tx1"/>
                </a:solidFill>
                <a:latin typeface="+mn-lt"/>
                <a:ea typeface="+mn-ea"/>
                <a:cs typeface="+mn-cs"/>
              </a:defRPr>
            </a:lvl1pPr>
            <a:lvl2pPr marL="742950" indent="-285750" algn="l" rtl="0" eaLnBrk="0" fontAlgn="base" hangingPunct="0">
              <a:lnSpc>
                <a:spcPct val="130000"/>
              </a:lnSpc>
              <a:spcBef>
                <a:spcPct val="20000"/>
              </a:spcBef>
              <a:spcAft>
                <a:spcPct val="0"/>
              </a:spcAft>
              <a:buChar char="–"/>
              <a:defRPr sz="2800" kern="1200">
                <a:solidFill>
                  <a:schemeClr val="tx1"/>
                </a:solidFill>
                <a:latin typeface="+mn-lt"/>
                <a:ea typeface="+mn-ea"/>
                <a:cs typeface="+mn-cs"/>
              </a:defRPr>
            </a:lvl2pPr>
            <a:lvl3pPr marL="1143000" indent="-228600" algn="l" rtl="0" eaLnBrk="0" fontAlgn="base" hangingPunct="0">
              <a:lnSpc>
                <a:spcPct val="130000"/>
              </a:lnSpc>
              <a:spcBef>
                <a:spcPct val="20000"/>
              </a:spcBef>
              <a:spcAft>
                <a:spcPct val="0"/>
              </a:spcAft>
              <a:buChar char="•"/>
              <a:defRPr sz="2400" kern="1200">
                <a:solidFill>
                  <a:schemeClr val="tx1"/>
                </a:solidFill>
                <a:latin typeface="+mn-lt"/>
                <a:ea typeface="+mn-ea"/>
                <a:cs typeface="+mn-cs"/>
              </a:defRPr>
            </a:lvl3pPr>
            <a:lvl4pPr marL="1600200" indent="-228600" algn="l" rtl="0" eaLnBrk="0" fontAlgn="base" hangingPunct="0">
              <a:lnSpc>
                <a:spcPct val="130000"/>
              </a:lnSpc>
              <a:spcBef>
                <a:spcPct val="20000"/>
              </a:spcBef>
              <a:spcAft>
                <a:spcPct val="0"/>
              </a:spcAft>
              <a:buChar char="–"/>
              <a:defRPr sz="2000" kern="1200">
                <a:solidFill>
                  <a:schemeClr val="tx1"/>
                </a:solidFill>
                <a:latin typeface="+mn-lt"/>
                <a:ea typeface="+mn-ea"/>
                <a:cs typeface="+mn-cs"/>
              </a:defRPr>
            </a:lvl4pPr>
            <a:lvl5pPr marL="2057400" indent="-228600" algn="l" rtl="0" eaLnBrk="0" fontAlgn="base" hangingPunct="0">
              <a:lnSpc>
                <a:spcPct val="130000"/>
              </a:lnSpc>
              <a:spcBef>
                <a:spcPct val="20000"/>
              </a:spcBef>
              <a:spcAft>
                <a:spcPct val="0"/>
              </a:spcAft>
              <a:buChar char="»"/>
              <a:defRPr sz="2000" kern="1200">
                <a:solidFill>
                  <a:schemeClr val="tx1"/>
                </a:solidFill>
                <a:latin typeface="+mn-lt"/>
                <a:ea typeface="+mn-ea"/>
                <a:cs typeface="+mn-cs"/>
              </a:defRPr>
            </a:lvl5pPr>
          </a:lstStyle>
          <a:p>
            <a:pPr marL="0" lvl="0" indent="0">
              <a:lnSpc>
                <a:spcPct val="100000"/>
              </a:lnSpc>
              <a:spcBef>
                <a:spcPct val="0"/>
              </a:spcBef>
            </a:pPr>
            <a:endParaRPr lang="zh-CN" altLang="en-US" sz="1800" dirty="0"/>
          </a:p>
        </p:txBody>
      </p:sp>
      <p:sp>
        <p:nvSpPr>
          <p:cNvPr id="7" name="TextBox 1">
            <a:extLst>
              <a:ext uri="{FF2B5EF4-FFF2-40B4-BE49-F238E27FC236}">
                <a16:creationId xmlns:a16="http://schemas.microsoft.com/office/drawing/2014/main" id="{738826E0-3845-33DE-66CD-EE0294807156}"/>
              </a:ext>
            </a:extLst>
          </p:cNvPr>
          <p:cNvSpPr txBox="1"/>
          <p:nvPr/>
        </p:nvSpPr>
        <p:spPr>
          <a:xfrm>
            <a:off x="3995936" y="1796019"/>
            <a:ext cx="3673475" cy="369887"/>
          </a:xfrm>
          <a:prstGeom prst="rect">
            <a:avLst/>
          </a:prstGeom>
          <a:solidFill>
            <a:schemeClr val="bg1"/>
          </a:solidFill>
          <a:ln w="9525">
            <a:noFill/>
          </a:ln>
        </p:spPr>
        <p:txBody>
          <a:bodyPr>
            <a:spAutoFit/>
          </a:bodyPr>
          <a:lstStyle>
            <a:lvl1pPr marL="342900" indent="-342900" algn="l" rtl="0" eaLnBrk="0" fontAlgn="base" hangingPunct="0">
              <a:lnSpc>
                <a:spcPct val="130000"/>
              </a:lnSpc>
              <a:spcBef>
                <a:spcPct val="20000"/>
              </a:spcBef>
              <a:spcAft>
                <a:spcPct val="0"/>
              </a:spcAft>
              <a:defRPr sz="2400" kern="1200">
                <a:solidFill>
                  <a:schemeClr val="tx1"/>
                </a:solidFill>
                <a:latin typeface="+mn-lt"/>
                <a:ea typeface="+mn-ea"/>
                <a:cs typeface="+mn-cs"/>
              </a:defRPr>
            </a:lvl1pPr>
            <a:lvl2pPr marL="742950" indent="-285750" algn="l" rtl="0" eaLnBrk="0" fontAlgn="base" hangingPunct="0">
              <a:lnSpc>
                <a:spcPct val="130000"/>
              </a:lnSpc>
              <a:spcBef>
                <a:spcPct val="20000"/>
              </a:spcBef>
              <a:spcAft>
                <a:spcPct val="0"/>
              </a:spcAft>
              <a:buChar char="–"/>
              <a:defRPr sz="2800" kern="1200">
                <a:solidFill>
                  <a:schemeClr val="tx1"/>
                </a:solidFill>
                <a:latin typeface="+mn-lt"/>
                <a:ea typeface="+mn-ea"/>
                <a:cs typeface="+mn-cs"/>
              </a:defRPr>
            </a:lvl2pPr>
            <a:lvl3pPr marL="1143000" indent="-228600" algn="l" rtl="0" eaLnBrk="0" fontAlgn="base" hangingPunct="0">
              <a:lnSpc>
                <a:spcPct val="130000"/>
              </a:lnSpc>
              <a:spcBef>
                <a:spcPct val="20000"/>
              </a:spcBef>
              <a:spcAft>
                <a:spcPct val="0"/>
              </a:spcAft>
              <a:buChar char="•"/>
              <a:defRPr sz="2400" kern="1200">
                <a:solidFill>
                  <a:schemeClr val="tx1"/>
                </a:solidFill>
                <a:latin typeface="+mn-lt"/>
                <a:ea typeface="+mn-ea"/>
                <a:cs typeface="+mn-cs"/>
              </a:defRPr>
            </a:lvl3pPr>
            <a:lvl4pPr marL="1600200" indent="-228600" algn="l" rtl="0" eaLnBrk="0" fontAlgn="base" hangingPunct="0">
              <a:lnSpc>
                <a:spcPct val="130000"/>
              </a:lnSpc>
              <a:spcBef>
                <a:spcPct val="20000"/>
              </a:spcBef>
              <a:spcAft>
                <a:spcPct val="0"/>
              </a:spcAft>
              <a:buChar char="–"/>
              <a:defRPr sz="2000" kern="1200">
                <a:solidFill>
                  <a:schemeClr val="tx1"/>
                </a:solidFill>
                <a:latin typeface="+mn-lt"/>
                <a:ea typeface="+mn-ea"/>
                <a:cs typeface="+mn-cs"/>
              </a:defRPr>
            </a:lvl4pPr>
            <a:lvl5pPr marL="2057400" indent="-228600" algn="l" rtl="0" eaLnBrk="0" fontAlgn="base" hangingPunct="0">
              <a:lnSpc>
                <a:spcPct val="130000"/>
              </a:lnSpc>
              <a:spcBef>
                <a:spcPct val="20000"/>
              </a:spcBef>
              <a:spcAft>
                <a:spcPct val="0"/>
              </a:spcAft>
              <a:buChar char="»"/>
              <a:defRPr sz="2000" kern="1200">
                <a:solidFill>
                  <a:schemeClr val="tx1"/>
                </a:solidFill>
                <a:latin typeface="+mn-lt"/>
                <a:ea typeface="+mn-ea"/>
                <a:cs typeface="+mn-cs"/>
              </a:defRPr>
            </a:lvl5pPr>
          </a:lstStyle>
          <a:p>
            <a:pPr marL="0" lvl="0" indent="0">
              <a:lnSpc>
                <a:spcPct val="100000"/>
              </a:lnSpc>
              <a:spcBef>
                <a:spcPct val="0"/>
              </a:spcBef>
            </a:pPr>
            <a:endParaRPr lang="zh-CN" altLang="en-US" sz="1800" dirty="0"/>
          </a:p>
        </p:txBody>
      </p:sp>
      <p:sp>
        <p:nvSpPr>
          <p:cNvPr id="8" name="TextBox 1">
            <a:extLst>
              <a:ext uri="{FF2B5EF4-FFF2-40B4-BE49-F238E27FC236}">
                <a16:creationId xmlns:a16="http://schemas.microsoft.com/office/drawing/2014/main" id="{ED7565AF-61DD-EB55-FB7B-FD304787BF63}"/>
              </a:ext>
            </a:extLst>
          </p:cNvPr>
          <p:cNvSpPr txBox="1"/>
          <p:nvPr/>
        </p:nvSpPr>
        <p:spPr>
          <a:xfrm>
            <a:off x="3995936" y="2459108"/>
            <a:ext cx="3673475" cy="369887"/>
          </a:xfrm>
          <a:prstGeom prst="rect">
            <a:avLst/>
          </a:prstGeom>
          <a:solidFill>
            <a:schemeClr val="bg1"/>
          </a:solidFill>
          <a:ln w="9525">
            <a:noFill/>
          </a:ln>
        </p:spPr>
        <p:txBody>
          <a:bodyPr>
            <a:spAutoFit/>
          </a:bodyPr>
          <a:lstStyle>
            <a:lvl1pPr marL="342900" indent="-342900" algn="l" rtl="0" eaLnBrk="0" fontAlgn="base" hangingPunct="0">
              <a:lnSpc>
                <a:spcPct val="130000"/>
              </a:lnSpc>
              <a:spcBef>
                <a:spcPct val="20000"/>
              </a:spcBef>
              <a:spcAft>
                <a:spcPct val="0"/>
              </a:spcAft>
              <a:defRPr sz="2400" kern="1200">
                <a:solidFill>
                  <a:schemeClr val="tx1"/>
                </a:solidFill>
                <a:latin typeface="+mn-lt"/>
                <a:ea typeface="+mn-ea"/>
                <a:cs typeface="+mn-cs"/>
              </a:defRPr>
            </a:lvl1pPr>
            <a:lvl2pPr marL="742950" indent="-285750" algn="l" rtl="0" eaLnBrk="0" fontAlgn="base" hangingPunct="0">
              <a:lnSpc>
                <a:spcPct val="130000"/>
              </a:lnSpc>
              <a:spcBef>
                <a:spcPct val="20000"/>
              </a:spcBef>
              <a:spcAft>
                <a:spcPct val="0"/>
              </a:spcAft>
              <a:buChar char="–"/>
              <a:defRPr sz="2800" kern="1200">
                <a:solidFill>
                  <a:schemeClr val="tx1"/>
                </a:solidFill>
                <a:latin typeface="+mn-lt"/>
                <a:ea typeface="+mn-ea"/>
                <a:cs typeface="+mn-cs"/>
              </a:defRPr>
            </a:lvl2pPr>
            <a:lvl3pPr marL="1143000" indent="-228600" algn="l" rtl="0" eaLnBrk="0" fontAlgn="base" hangingPunct="0">
              <a:lnSpc>
                <a:spcPct val="130000"/>
              </a:lnSpc>
              <a:spcBef>
                <a:spcPct val="20000"/>
              </a:spcBef>
              <a:spcAft>
                <a:spcPct val="0"/>
              </a:spcAft>
              <a:buChar char="•"/>
              <a:defRPr sz="2400" kern="1200">
                <a:solidFill>
                  <a:schemeClr val="tx1"/>
                </a:solidFill>
                <a:latin typeface="+mn-lt"/>
                <a:ea typeface="+mn-ea"/>
                <a:cs typeface="+mn-cs"/>
              </a:defRPr>
            </a:lvl3pPr>
            <a:lvl4pPr marL="1600200" indent="-228600" algn="l" rtl="0" eaLnBrk="0" fontAlgn="base" hangingPunct="0">
              <a:lnSpc>
                <a:spcPct val="130000"/>
              </a:lnSpc>
              <a:spcBef>
                <a:spcPct val="20000"/>
              </a:spcBef>
              <a:spcAft>
                <a:spcPct val="0"/>
              </a:spcAft>
              <a:buChar char="–"/>
              <a:defRPr sz="2000" kern="1200">
                <a:solidFill>
                  <a:schemeClr val="tx1"/>
                </a:solidFill>
                <a:latin typeface="+mn-lt"/>
                <a:ea typeface="+mn-ea"/>
                <a:cs typeface="+mn-cs"/>
              </a:defRPr>
            </a:lvl4pPr>
            <a:lvl5pPr marL="2057400" indent="-228600" algn="l" rtl="0" eaLnBrk="0" fontAlgn="base" hangingPunct="0">
              <a:lnSpc>
                <a:spcPct val="130000"/>
              </a:lnSpc>
              <a:spcBef>
                <a:spcPct val="20000"/>
              </a:spcBef>
              <a:spcAft>
                <a:spcPct val="0"/>
              </a:spcAft>
              <a:buChar char="»"/>
              <a:defRPr sz="2000" kern="1200">
                <a:solidFill>
                  <a:schemeClr val="tx1"/>
                </a:solidFill>
                <a:latin typeface="+mn-lt"/>
                <a:ea typeface="+mn-ea"/>
                <a:cs typeface="+mn-cs"/>
              </a:defRPr>
            </a:lvl5pPr>
          </a:lstStyle>
          <a:p>
            <a:pPr marL="0" lvl="0" indent="0">
              <a:lnSpc>
                <a:spcPct val="100000"/>
              </a:lnSpc>
              <a:spcBef>
                <a:spcPct val="0"/>
              </a:spcBef>
            </a:pPr>
            <a:endParaRPr lang="zh-CN" altLang="en-US" sz="1800" dirty="0"/>
          </a:p>
        </p:txBody>
      </p:sp>
      <p:sp>
        <p:nvSpPr>
          <p:cNvPr id="9" name="TextBox 1">
            <a:extLst>
              <a:ext uri="{FF2B5EF4-FFF2-40B4-BE49-F238E27FC236}">
                <a16:creationId xmlns:a16="http://schemas.microsoft.com/office/drawing/2014/main" id="{014FFF36-D0DE-F613-BBF9-E89FF0610FCC}"/>
              </a:ext>
            </a:extLst>
          </p:cNvPr>
          <p:cNvSpPr txBox="1"/>
          <p:nvPr/>
        </p:nvSpPr>
        <p:spPr>
          <a:xfrm>
            <a:off x="3563888" y="2899888"/>
            <a:ext cx="3673475" cy="369887"/>
          </a:xfrm>
          <a:prstGeom prst="rect">
            <a:avLst/>
          </a:prstGeom>
          <a:solidFill>
            <a:schemeClr val="bg1"/>
          </a:solidFill>
          <a:ln w="9525">
            <a:noFill/>
          </a:ln>
        </p:spPr>
        <p:txBody>
          <a:bodyPr>
            <a:spAutoFit/>
          </a:bodyPr>
          <a:lstStyle>
            <a:lvl1pPr marL="342900" indent="-342900" algn="l" rtl="0" eaLnBrk="0" fontAlgn="base" hangingPunct="0">
              <a:lnSpc>
                <a:spcPct val="130000"/>
              </a:lnSpc>
              <a:spcBef>
                <a:spcPct val="20000"/>
              </a:spcBef>
              <a:spcAft>
                <a:spcPct val="0"/>
              </a:spcAft>
              <a:defRPr sz="2400" kern="1200">
                <a:solidFill>
                  <a:schemeClr val="tx1"/>
                </a:solidFill>
                <a:latin typeface="+mn-lt"/>
                <a:ea typeface="+mn-ea"/>
                <a:cs typeface="+mn-cs"/>
              </a:defRPr>
            </a:lvl1pPr>
            <a:lvl2pPr marL="742950" indent="-285750" algn="l" rtl="0" eaLnBrk="0" fontAlgn="base" hangingPunct="0">
              <a:lnSpc>
                <a:spcPct val="130000"/>
              </a:lnSpc>
              <a:spcBef>
                <a:spcPct val="20000"/>
              </a:spcBef>
              <a:spcAft>
                <a:spcPct val="0"/>
              </a:spcAft>
              <a:buChar char="–"/>
              <a:defRPr sz="2800" kern="1200">
                <a:solidFill>
                  <a:schemeClr val="tx1"/>
                </a:solidFill>
                <a:latin typeface="+mn-lt"/>
                <a:ea typeface="+mn-ea"/>
                <a:cs typeface="+mn-cs"/>
              </a:defRPr>
            </a:lvl2pPr>
            <a:lvl3pPr marL="1143000" indent="-228600" algn="l" rtl="0" eaLnBrk="0" fontAlgn="base" hangingPunct="0">
              <a:lnSpc>
                <a:spcPct val="130000"/>
              </a:lnSpc>
              <a:spcBef>
                <a:spcPct val="20000"/>
              </a:spcBef>
              <a:spcAft>
                <a:spcPct val="0"/>
              </a:spcAft>
              <a:buChar char="•"/>
              <a:defRPr sz="2400" kern="1200">
                <a:solidFill>
                  <a:schemeClr val="tx1"/>
                </a:solidFill>
                <a:latin typeface="+mn-lt"/>
                <a:ea typeface="+mn-ea"/>
                <a:cs typeface="+mn-cs"/>
              </a:defRPr>
            </a:lvl3pPr>
            <a:lvl4pPr marL="1600200" indent="-228600" algn="l" rtl="0" eaLnBrk="0" fontAlgn="base" hangingPunct="0">
              <a:lnSpc>
                <a:spcPct val="130000"/>
              </a:lnSpc>
              <a:spcBef>
                <a:spcPct val="20000"/>
              </a:spcBef>
              <a:spcAft>
                <a:spcPct val="0"/>
              </a:spcAft>
              <a:buChar char="–"/>
              <a:defRPr sz="2000" kern="1200">
                <a:solidFill>
                  <a:schemeClr val="tx1"/>
                </a:solidFill>
                <a:latin typeface="+mn-lt"/>
                <a:ea typeface="+mn-ea"/>
                <a:cs typeface="+mn-cs"/>
              </a:defRPr>
            </a:lvl4pPr>
            <a:lvl5pPr marL="2057400" indent="-228600" algn="l" rtl="0" eaLnBrk="0" fontAlgn="base" hangingPunct="0">
              <a:lnSpc>
                <a:spcPct val="130000"/>
              </a:lnSpc>
              <a:spcBef>
                <a:spcPct val="20000"/>
              </a:spcBef>
              <a:spcAft>
                <a:spcPct val="0"/>
              </a:spcAft>
              <a:buChar char="»"/>
              <a:defRPr sz="2000" kern="1200">
                <a:solidFill>
                  <a:schemeClr val="tx1"/>
                </a:solidFill>
                <a:latin typeface="+mn-lt"/>
                <a:ea typeface="+mn-ea"/>
                <a:cs typeface="+mn-cs"/>
              </a:defRPr>
            </a:lvl5pPr>
          </a:lstStyle>
          <a:p>
            <a:pPr marL="0" lvl="0" indent="0">
              <a:lnSpc>
                <a:spcPct val="100000"/>
              </a:lnSpc>
              <a:spcBef>
                <a:spcPct val="0"/>
              </a:spcBef>
            </a:pPr>
            <a:endParaRPr lang="zh-CN" altLang="en-US" sz="1800" dirty="0"/>
          </a:p>
        </p:txBody>
      </p:sp>
      <p:sp>
        <p:nvSpPr>
          <p:cNvPr id="10" name="TextBox 4">
            <a:extLst>
              <a:ext uri="{FF2B5EF4-FFF2-40B4-BE49-F238E27FC236}">
                <a16:creationId xmlns:a16="http://schemas.microsoft.com/office/drawing/2014/main" id="{740CD506-D915-CB40-30FD-B602CBFC2C02}"/>
              </a:ext>
            </a:extLst>
          </p:cNvPr>
          <p:cNvSpPr txBox="1"/>
          <p:nvPr/>
        </p:nvSpPr>
        <p:spPr>
          <a:xfrm>
            <a:off x="5004048" y="3212976"/>
            <a:ext cx="576312" cy="461963"/>
          </a:xfrm>
          <a:prstGeom prst="rect">
            <a:avLst/>
          </a:prstGeom>
          <a:solidFill>
            <a:schemeClr val="bg1"/>
          </a:solidFill>
          <a:ln w="9525">
            <a:noFill/>
          </a:ln>
        </p:spPr>
        <p:txBody>
          <a:bodyPr wrap="square">
            <a:spAutoFit/>
          </a:bodyPr>
          <a:lstStyle>
            <a:lvl1pPr marL="342900" indent="-342900" algn="l" rtl="0" eaLnBrk="0" fontAlgn="base" hangingPunct="0">
              <a:lnSpc>
                <a:spcPct val="130000"/>
              </a:lnSpc>
              <a:spcBef>
                <a:spcPct val="20000"/>
              </a:spcBef>
              <a:spcAft>
                <a:spcPct val="0"/>
              </a:spcAft>
              <a:defRPr sz="2400" kern="1200">
                <a:solidFill>
                  <a:schemeClr val="tx1"/>
                </a:solidFill>
                <a:latin typeface="+mn-lt"/>
                <a:ea typeface="+mn-ea"/>
                <a:cs typeface="+mn-cs"/>
              </a:defRPr>
            </a:lvl1pPr>
            <a:lvl2pPr marL="742950" indent="-285750" algn="l" rtl="0" eaLnBrk="0" fontAlgn="base" hangingPunct="0">
              <a:lnSpc>
                <a:spcPct val="130000"/>
              </a:lnSpc>
              <a:spcBef>
                <a:spcPct val="20000"/>
              </a:spcBef>
              <a:spcAft>
                <a:spcPct val="0"/>
              </a:spcAft>
              <a:buChar char="–"/>
              <a:defRPr sz="2800" kern="1200">
                <a:solidFill>
                  <a:schemeClr val="tx1"/>
                </a:solidFill>
                <a:latin typeface="+mn-lt"/>
                <a:ea typeface="+mn-ea"/>
                <a:cs typeface="+mn-cs"/>
              </a:defRPr>
            </a:lvl2pPr>
            <a:lvl3pPr marL="1143000" indent="-228600" algn="l" rtl="0" eaLnBrk="0" fontAlgn="base" hangingPunct="0">
              <a:lnSpc>
                <a:spcPct val="130000"/>
              </a:lnSpc>
              <a:spcBef>
                <a:spcPct val="20000"/>
              </a:spcBef>
              <a:spcAft>
                <a:spcPct val="0"/>
              </a:spcAft>
              <a:buChar char="•"/>
              <a:defRPr sz="2400" kern="1200">
                <a:solidFill>
                  <a:schemeClr val="tx1"/>
                </a:solidFill>
                <a:latin typeface="+mn-lt"/>
                <a:ea typeface="+mn-ea"/>
                <a:cs typeface="+mn-cs"/>
              </a:defRPr>
            </a:lvl3pPr>
            <a:lvl4pPr marL="1600200" indent="-228600" algn="l" rtl="0" eaLnBrk="0" fontAlgn="base" hangingPunct="0">
              <a:lnSpc>
                <a:spcPct val="130000"/>
              </a:lnSpc>
              <a:spcBef>
                <a:spcPct val="20000"/>
              </a:spcBef>
              <a:spcAft>
                <a:spcPct val="0"/>
              </a:spcAft>
              <a:buChar char="–"/>
              <a:defRPr sz="2000" kern="1200">
                <a:solidFill>
                  <a:schemeClr val="tx1"/>
                </a:solidFill>
                <a:latin typeface="+mn-lt"/>
                <a:ea typeface="+mn-ea"/>
                <a:cs typeface="+mn-cs"/>
              </a:defRPr>
            </a:lvl4pPr>
            <a:lvl5pPr marL="2057400" indent="-228600" algn="l" rtl="0" eaLnBrk="0" fontAlgn="base" hangingPunct="0">
              <a:lnSpc>
                <a:spcPct val="130000"/>
              </a:lnSpc>
              <a:spcBef>
                <a:spcPct val="20000"/>
              </a:spcBef>
              <a:spcAft>
                <a:spcPct val="0"/>
              </a:spcAft>
              <a:buChar char="»"/>
              <a:defRPr sz="2000" kern="1200">
                <a:solidFill>
                  <a:schemeClr val="tx1"/>
                </a:solidFill>
                <a:latin typeface="+mn-lt"/>
                <a:ea typeface="+mn-ea"/>
                <a:cs typeface="+mn-cs"/>
              </a:defRPr>
            </a:lvl5pPr>
          </a:lstStyle>
          <a:p>
            <a:pPr marL="0" lvl="0" indent="0">
              <a:lnSpc>
                <a:spcPct val="100000"/>
              </a:lnSpc>
              <a:spcBef>
                <a:spcPct val="0"/>
              </a:spcBef>
            </a:pPr>
            <a:r>
              <a:rPr lang="en-US" altLang="zh-CN" dirty="0">
                <a:solidFill>
                  <a:schemeClr val="accent1">
                    <a:lumMod val="10000"/>
                  </a:schemeClr>
                </a:solidFill>
              </a:rPr>
              <a:t>36</a:t>
            </a:r>
            <a:endParaRPr lang="zh-CN" altLang="en-US" dirty="0">
              <a:solidFill>
                <a:schemeClr val="accent1">
                  <a:lumMod val="10000"/>
                </a:schemeClr>
              </a:solidFill>
            </a:endParaRPr>
          </a:p>
        </p:txBody>
      </p:sp>
    </p:spTree>
    <p:extLst>
      <p:ext uri="{BB962C8B-B14F-4D97-AF65-F5344CB8AC3E}">
        <p14:creationId xmlns:p14="http://schemas.microsoft.com/office/powerpoint/2010/main" val="2858865822"/>
      </p:ext>
    </p:extLst>
  </p:cSld>
  <p:clrMapOvr>
    <a:masterClrMapping/>
  </p:clrMapOvr>
  <p:transition/>
</p:sld>
</file>

<file path=ppt/slides/slide1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09571" name="Rectangle 3"/>
          <p:cNvSpPr>
            <a:spLocks noGrp="1" noRot="1" noChangeArrowheads="1"/>
          </p:cNvSpPr>
          <p:nvPr>
            <p:ph type="body" idx="1"/>
          </p:nvPr>
        </p:nvSpPr>
        <p:spPr>
          <a:xfrm>
            <a:off x="515115" y="1096365"/>
            <a:ext cx="8113770" cy="5286412"/>
          </a:xfrm>
        </p:spPr>
        <p:txBody>
          <a:bodyPr/>
          <a:lstStyle/>
          <a:p>
            <a:pPr lvl="0">
              <a:buNone/>
            </a:pPr>
            <a:r>
              <a:rPr lang="en-US" altLang="zh-CN" sz="2400" dirty="0"/>
              <a:t>  </a:t>
            </a:r>
            <a:r>
              <a:rPr kumimoji="1" lang="en-US" altLang="zh-CN" sz="2400" dirty="0">
                <a:latin typeface="黑体" pitchFamily="49" charset="-122"/>
                <a:ea typeface="黑体" pitchFamily="49" charset="-122"/>
                <a:cs typeface="Times New Roman" pitchFamily="18" charset="0"/>
              </a:rPr>
              <a:t>8.4.1 </a:t>
            </a:r>
            <a:r>
              <a:rPr kumimoji="1" lang="zh-CN" altLang="en-US" sz="2400" dirty="0">
                <a:latin typeface="黑体" pitchFamily="49" charset="-122"/>
                <a:ea typeface="黑体" pitchFamily="49" charset="-122"/>
                <a:cs typeface="Times New Roman" pitchFamily="18" charset="0"/>
              </a:rPr>
              <a:t>不确切性知识的表示</a:t>
            </a:r>
            <a:endParaRPr kumimoji="1" lang="en-US" altLang="zh-CN" sz="2400" dirty="0">
              <a:latin typeface="黑体" pitchFamily="49" charset="-122"/>
              <a:ea typeface="黑体" pitchFamily="49" charset="-122"/>
              <a:cs typeface="Times New Roman" pitchFamily="18" charset="0"/>
            </a:endParaRPr>
          </a:p>
          <a:p>
            <a:pPr>
              <a:buNone/>
            </a:pPr>
            <a:r>
              <a:rPr kumimoji="1" lang="en-US" altLang="zh-CN" sz="2400" dirty="0">
                <a:latin typeface="黑体" pitchFamily="49" charset="-122"/>
                <a:ea typeface="黑体" pitchFamily="49" charset="-122"/>
                <a:cs typeface="Times New Roman" pitchFamily="18" charset="0"/>
              </a:rPr>
              <a:t>      </a:t>
            </a:r>
            <a:r>
              <a:rPr lang="zh-CN" altLang="en-US" sz="2400" dirty="0"/>
              <a:t>对于模糊不确定性，一般采用程度或集合来刻划</a:t>
            </a:r>
            <a:r>
              <a:rPr lang="zh-CN" altLang="zh-CN" sz="2400" dirty="0"/>
              <a:t>(</a:t>
            </a:r>
            <a:r>
              <a:rPr lang="zh-CN" altLang="en-US" sz="2400" b="1" dirty="0">
                <a:solidFill>
                  <a:srgbClr val="FF3300"/>
                </a:solidFill>
              </a:rPr>
              <a:t>隶属度</a:t>
            </a:r>
            <a:r>
              <a:rPr lang="zh-CN" altLang="zh-CN" sz="2400" dirty="0"/>
              <a:t>)</a:t>
            </a:r>
            <a:r>
              <a:rPr lang="zh-CN" altLang="en-US" sz="2400" dirty="0"/>
              <a:t>。所谓程度就是一个命题中所描述的事物的属性、状态和关系等的强度。例如，我们用三元组（张三，体型，</a:t>
            </a:r>
            <a:r>
              <a:rPr lang="zh-CN" altLang="zh-CN" sz="2400" dirty="0"/>
              <a:t>(</a:t>
            </a:r>
            <a:r>
              <a:rPr lang="zh-CN" altLang="en-US" sz="2400" dirty="0"/>
              <a:t>胖，</a:t>
            </a:r>
            <a:r>
              <a:rPr lang="zh-CN" altLang="zh-CN" sz="2400" dirty="0"/>
              <a:t>0.9</a:t>
            </a:r>
            <a:r>
              <a:rPr lang="zh-CN" altLang="en-US" sz="2400" dirty="0"/>
              <a:t>）</a:t>
            </a:r>
            <a:r>
              <a:rPr lang="zh-CN" altLang="zh-CN" sz="2400" dirty="0"/>
              <a:t>)</a:t>
            </a:r>
            <a:r>
              <a:rPr lang="zh-CN" altLang="en-US" sz="2400" dirty="0"/>
              <a:t>表示命题</a:t>
            </a:r>
            <a:r>
              <a:rPr lang="zh-CN" altLang="en-US" sz="2400" dirty="0">
                <a:latin typeface="Courier New" panose="02070309020205020404" pitchFamily="49" charset="0"/>
              </a:rPr>
              <a:t>“</a:t>
            </a:r>
            <a:r>
              <a:rPr lang="zh-CN" altLang="en-US" sz="2400" dirty="0"/>
              <a:t>张三比较胖</a:t>
            </a:r>
            <a:r>
              <a:rPr lang="zh-CN" altLang="en-US" sz="2400" dirty="0">
                <a:latin typeface="Courier New" panose="02070309020205020404" pitchFamily="49" charset="0"/>
              </a:rPr>
              <a:t>”</a:t>
            </a:r>
            <a:r>
              <a:rPr lang="zh-CN" altLang="en-US" sz="2400" dirty="0"/>
              <a:t>，其中的</a:t>
            </a:r>
            <a:r>
              <a:rPr lang="zh-CN" altLang="zh-CN" sz="2400" dirty="0"/>
              <a:t>0.9</a:t>
            </a:r>
            <a:r>
              <a:rPr lang="zh-CN" altLang="en-US" sz="2400" dirty="0"/>
              <a:t>就代替</a:t>
            </a:r>
            <a:r>
              <a:rPr lang="zh-CN" altLang="en-US" sz="2400" dirty="0">
                <a:latin typeface="Courier New" panose="02070309020205020404" pitchFamily="49" charset="0"/>
              </a:rPr>
              <a:t>“</a:t>
            </a:r>
            <a:r>
              <a:rPr lang="zh-CN" altLang="en-US" sz="2400" dirty="0"/>
              <a:t>比较</a:t>
            </a:r>
            <a:r>
              <a:rPr lang="zh-CN" altLang="en-US" sz="2400" dirty="0">
                <a:latin typeface="Courier New" panose="02070309020205020404" pitchFamily="49" charset="0"/>
              </a:rPr>
              <a:t>”</a:t>
            </a:r>
            <a:r>
              <a:rPr lang="zh-CN" altLang="en-US" sz="2400" dirty="0"/>
              <a:t>而刻划了张三</a:t>
            </a:r>
            <a:r>
              <a:rPr lang="zh-CN" altLang="en-US" sz="2400" dirty="0">
                <a:latin typeface="Courier New" panose="02070309020205020404" pitchFamily="49" charset="0"/>
              </a:rPr>
              <a:t>“</a:t>
            </a:r>
            <a:r>
              <a:rPr lang="zh-CN" altLang="en-US" sz="2400" dirty="0"/>
              <a:t>胖</a:t>
            </a:r>
            <a:r>
              <a:rPr lang="zh-CN" altLang="en-US" sz="2400" dirty="0">
                <a:latin typeface="Courier New" panose="02070309020205020404" pitchFamily="49" charset="0"/>
              </a:rPr>
              <a:t>”</a:t>
            </a:r>
            <a:r>
              <a:rPr lang="zh-CN" altLang="en-US" sz="2400" dirty="0"/>
              <a:t>的程度。用</a:t>
            </a:r>
            <a:r>
              <a:rPr lang="zh-CN" altLang="en-US" sz="2400" b="1" dirty="0">
                <a:solidFill>
                  <a:srgbClr val="FF0000"/>
                </a:solidFill>
              </a:rPr>
              <a:t>程度化元组</a:t>
            </a:r>
            <a:r>
              <a:rPr lang="zh-CN" altLang="en-US" sz="2400" dirty="0"/>
              <a:t>可表示为</a:t>
            </a:r>
            <a:r>
              <a:rPr lang="zh-CN" altLang="zh-CN" sz="2400" dirty="0"/>
              <a:t>：</a:t>
            </a:r>
            <a:endParaRPr lang="en-US" altLang="zh-CN" sz="2400" dirty="0"/>
          </a:p>
          <a:p>
            <a:pPr>
              <a:buNone/>
            </a:pPr>
            <a:r>
              <a:rPr lang="zh-CN" altLang="en-US" b="1" dirty="0">
                <a:solidFill>
                  <a:srgbClr val="FF3300"/>
                </a:solidFill>
              </a:rPr>
              <a:t>（</a:t>
            </a:r>
            <a:r>
              <a:rPr lang="zh-CN" altLang="zh-CN" b="1" dirty="0">
                <a:solidFill>
                  <a:srgbClr val="FF3300"/>
                </a:solidFill>
              </a:rPr>
              <a:t>&lt;</a:t>
            </a:r>
            <a:r>
              <a:rPr lang="zh-CN" altLang="en-US" b="1" dirty="0">
                <a:solidFill>
                  <a:srgbClr val="FF3300"/>
                </a:solidFill>
              </a:rPr>
              <a:t>对象</a:t>
            </a:r>
            <a:r>
              <a:rPr lang="zh-CN" altLang="zh-CN" b="1" dirty="0">
                <a:solidFill>
                  <a:srgbClr val="FF3300"/>
                </a:solidFill>
              </a:rPr>
              <a:t>&gt;</a:t>
            </a:r>
            <a:r>
              <a:rPr lang="zh-CN" altLang="en-US" b="1" dirty="0">
                <a:solidFill>
                  <a:srgbClr val="FF3300"/>
                </a:solidFill>
              </a:rPr>
              <a:t>，</a:t>
            </a:r>
            <a:r>
              <a:rPr lang="zh-CN" altLang="zh-CN" b="1" dirty="0">
                <a:solidFill>
                  <a:srgbClr val="FF3300"/>
                </a:solidFill>
              </a:rPr>
              <a:t>&lt;</a:t>
            </a:r>
            <a:r>
              <a:rPr lang="zh-CN" altLang="en-US" b="1" dirty="0">
                <a:solidFill>
                  <a:srgbClr val="FF3300"/>
                </a:solidFill>
              </a:rPr>
              <a:t>属性</a:t>
            </a:r>
            <a:r>
              <a:rPr lang="zh-CN" altLang="zh-CN" b="1" dirty="0">
                <a:solidFill>
                  <a:srgbClr val="FF3300"/>
                </a:solidFill>
              </a:rPr>
              <a:t>&gt;</a:t>
            </a:r>
            <a:r>
              <a:rPr lang="zh-CN" altLang="en-US" b="1" dirty="0">
                <a:solidFill>
                  <a:srgbClr val="FF3300"/>
                </a:solidFill>
              </a:rPr>
              <a:t>，</a:t>
            </a:r>
            <a:r>
              <a:rPr lang="zh-CN" altLang="zh-CN" b="1" dirty="0">
                <a:solidFill>
                  <a:srgbClr val="FF3300"/>
                </a:solidFill>
              </a:rPr>
              <a:t>(&lt;</a:t>
            </a:r>
            <a:r>
              <a:rPr lang="zh-CN" altLang="en-US" b="1" dirty="0">
                <a:solidFill>
                  <a:srgbClr val="FF3300"/>
                </a:solidFill>
              </a:rPr>
              <a:t>属性值</a:t>
            </a:r>
            <a:r>
              <a:rPr lang="zh-CN" altLang="zh-CN" b="1" dirty="0">
                <a:solidFill>
                  <a:srgbClr val="FF3300"/>
                </a:solidFill>
              </a:rPr>
              <a:t>&gt;</a:t>
            </a:r>
            <a:r>
              <a:rPr lang="zh-CN" altLang="en-US" b="1" dirty="0">
                <a:solidFill>
                  <a:srgbClr val="FF3300"/>
                </a:solidFill>
              </a:rPr>
              <a:t>，</a:t>
            </a:r>
            <a:r>
              <a:rPr lang="zh-CN" altLang="zh-CN" b="1" dirty="0">
                <a:solidFill>
                  <a:srgbClr val="FF3300"/>
                </a:solidFill>
              </a:rPr>
              <a:t>&lt;</a:t>
            </a:r>
            <a:r>
              <a:rPr lang="zh-CN" altLang="en-US" b="1" dirty="0">
                <a:solidFill>
                  <a:srgbClr val="FF3300"/>
                </a:solidFill>
              </a:rPr>
              <a:t>程度</a:t>
            </a:r>
            <a:r>
              <a:rPr lang="zh-CN" altLang="zh-CN" b="1" dirty="0">
                <a:solidFill>
                  <a:srgbClr val="FF3300"/>
                </a:solidFill>
              </a:rPr>
              <a:t>&gt;</a:t>
            </a:r>
            <a:r>
              <a:rPr lang="zh-CN" altLang="en-US" b="1" dirty="0">
                <a:solidFill>
                  <a:srgbClr val="FF3300"/>
                </a:solidFill>
              </a:rPr>
              <a:t>）</a:t>
            </a:r>
            <a:r>
              <a:rPr lang="zh-CN" altLang="zh-CN" b="1" dirty="0">
                <a:solidFill>
                  <a:srgbClr val="FF3300"/>
                </a:solidFill>
              </a:rPr>
              <a:t>)</a:t>
            </a:r>
          </a:p>
          <a:p>
            <a:pPr>
              <a:lnSpc>
                <a:spcPct val="150000"/>
              </a:lnSpc>
              <a:spcBef>
                <a:spcPts val="0"/>
              </a:spcBef>
              <a:buNone/>
            </a:pPr>
            <a:r>
              <a:rPr lang="zh-CN" altLang="en-US" sz="2300" dirty="0">
                <a:latin typeface="方正姚体" pitchFamily="2" charset="-122"/>
                <a:ea typeface="方正姚体" pitchFamily="2" charset="-122"/>
              </a:rPr>
              <a:t>        张三                 体型           （胖，                         </a:t>
            </a:r>
            <a:r>
              <a:rPr lang="en-US" altLang="zh-CN" sz="2300" dirty="0">
                <a:latin typeface="方正姚体" pitchFamily="2" charset="-122"/>
                <a:ea typeface="方正姚体" pitchFamily="2" charset="-122"/>
              </a:rPr>
              <a:t>0.9</a:t>
            </a:r>
            <a:r>
              <a:rPr lang="zh-CN" altLang="en-US" sz="2300" dirty="0">
                <a:latin typeface="方正姚体" pitchFamily="2" charset="-122"/>
                <a:ea typeface="方正姚体" pitchFamily="2" charset="-122"/>
              </a:rPr>
              <a:t>）</a:t>
            </a:r>
          </a:p>
        </p:txBody>
      </p:sp>
      <p:sp>
        <p:nvSpPr>
          <p:cNvPr id="3" name="内容占位符 2"/>
          <p:cNvSpPr txBox="1">
            <a:spLocks/>
          </p:cNvSpPr>
          <p:nvPr/>
        </p:nvSpPr>
        <p:spPr bwMode="auto">
          <a:xfrm>
            <a:off x="642910" y="487342"/>
            <a:ext cx="8131202" cy="107157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marL="342900" indent="-342900" algn="l" rtl="0" fontAlgn="base">
              <a:spcBef>
                <a:spcPct val="20000"/>
              </a:spcBef>
              <a:spcAft>
                <a:spcPct val="0"/>
              </a:spcAft>
              <a:buClr>
                <a:schemeClr val="hlink"/>
              </a:buClr>
              <a:buSzPct val="70000"/>
              <a:buFont typeface="Wingdings" pitchFamily="2" charset="2"/>
              <a:buChar char="v"/>
              <a:defRPr sz="3200">
                <a:solidFill>
                  <a:schemeClr val="tx1"/>
                </a:solidFill>
                <a:latin typeface="+mn-lt"/>
                <a:ea typeface="+mn-ea"/>
                <a:cs typeface="+mn-cs"/>
              </a:defRPr>
            </a:lvl1pPr>
            <a:lvl2pPr marL="742950" indent="-285750" algn="l" rtl="0" fontAlgn="base">
              <a:spcBef>
                <a:spcPct val="20000"/>
              </a:spcBef>
              <a:spcAft>
                <a:spcPct val="0"/>
              </a:spcAft>
              <a:buClr>
                <a:schemeClr val="accent2"/>
              </a:buClr>
              <a:buSzPct val="85000"/>
              <a:buFont typeface="Wingdings" pitchFamily="2" charset="2"/>
              <a:buChar char=""/>
              <a:defRPr sz="2800">
                <a:solidFill>
                  <a:schemeClr val="tx1"/>
                </a:solidFill>
                <a:latin typeface="+mn-lt"/>
                <a:ea typeface="+mn-ea"/>
              </a:defRPr>
            </a:lvl2pPr>
            <a:lvl3pPr marL="1143000" indent="-228600" algn="l" rtl="0" fontAlgn="base">
              <a:spcBef>
                <a:spcPct val="20000"/>
              </a:spcBef>
              <a:spcAft>
                <a:spcPct val="0"/>
              </a:spcAft>
              <a:buClr>
                <a:schemeClr val="hlink"/>
              </a:buClr>
              <a:buSzPct val="80000"/>
              <a:buFont typeface="Wingdings" pitchFamily="2" charset="2"/>
              <a:buChar char="v"/>
              <a:defRPr sz="2400">
                <a:solidFill>
                  <a:schemeClr val="tx1"/>
                </a:solidFill>
                <a:latin typeface="+mn-lt"/>
                <a:ea typeface="+mn-ea"/>
              </a:defRPr>
            </a:lvl3pPr>
            <a:lvl4pPr marL="1600200" indent="-228600" algn="l" rtl="0" fontAlgn="base">
              <a:spcBef>
                <a:spcPct val="20000"/>
              </a:spcBef>
              <a:spcAft>
                <a:spcPct val="0"/>
              </a:spcAft>
              <a:buClr>
                <a:schemeClr val="accent2"/>
              </a:buClr>
              <a:buSzPct val="90000"/>
              <a:buFont typeface="Wingdings" pitchFamily="2" charset="2"/>
              <a:buChar char=""/>
              <a:defRPr sz="2000">
                <a:solidFill>
                  <a:schemeClr val="tx1"/>
                </a:solidFill>
                <a:latin typeface="+mn-lt"/>
                <a:ea typeface="+mn-ea"/>
              </a:defRPr>
            </a:lvl4pPr>
            <a:lvl5pPr marL="2057400" indent="-228600" algn="l" rtl="0" fontAlgn="base">
              <a:spcBef>
                <a:spcPct val="20000"/>
              </a:spcBef>
              <a:spcAft>
                <a:spcPct val="0"/>
              </a:spcAft>
              <a:buClr>
                <a:schemeClr val="hlink"/>
              </a:buClr>
              <a:buSzPct val="85000"/>
              <a:buFont typeface="Wingdings" pitchFamily="2" charset="2"/>
              <a:buChar char="v"/>
              <a:defRPr sz="2000">
                <a:solidFill>
                  <a:schemeClr val="tx1"/>
                </a:solidFill>
                <a:latin typeface="+mn-lt"/>
                <a:ea typeface="+mn-ea"/>
              </a:defRPr>
            </a:lvl5pPr>
            <a:lvl6pPr marL="2514600" indent="-228600" algn="l" rtl="0" fontAlgn="base">
              <a:spcBef>
                <a:spcPct val="20000"/>
              </a:spcBef>
              <a:spcAft>
                <a:spcPct val="0"/>
              </a:spcAft>
              <a:buClr>
                <a:schemeClr val="hlink"/>
              </a:buClr>
              <a:buSzPct val="85000"/>
              <a:buFont typeface="Wingdings" pitchFamily="2" charset="2"/>
              <a:buChar char="v"/>
              <a:defRPr sz="2000">
                <a:solidFill>
                  <a:schemeClr val="tx1"/>
                </a:solidFill>
                <a:latin typeface="+mn-lt"/>
                <a:ea typeface="+mn-ea"/>
              </a:defRPr>
            </a:lvl6pPr>
            <a:lvl7pPr marL="2971800" indent="-228600" algn="l" rtl="0" fontAlgn="base">
              <a:spcBef>
                <a:spcPct val="20000"/>
              </a:spcBef>
              <a:spcAft>
                <a:spcPct val="0"/>
              </a:spcAft>
              <a:buClr>
                <a:schemeClr val="hlink"/>
              </a:buClr>
              <a:buSzPct val="85000"/>
              <a:buFont typeface="Wingdings" pitchFamily="2" charset="2"/>
              <a:buChar char="v"/>
              <a:defRPr sz="2000">
                <a:solidFill>
                  <a:schemeClr val="tx1"/>
                </a:solidFill>
                <a:latin typeface="+mn-lt"/>
                <a:ea typeface="+mn-ea"/>
              </a:defRPr>
            </a:lvl7pPr>
            <a:lvl8pPr marL="3429000" indent="-228600" algn="l" rtl="0" fontAlgn="base">
              <a:spcBef>
                <a:spcPct val="20000"/>
              </a:spcBef>
              <a:spcAft>
                <a:spcPct val="0"/>
              </a:spcAft>
              <a:buClr>
                <a:schemeClr val="hlink"/>
              </a:buClr>
              <a:buSzPct val="85000"/>
              <a:buFont typeface="Wingdings" pitchFamily="2" charset="2"/>
              <a:buChar char="v"/>
              <a:defRPr sz="2000">
                <a:solidFill>
                  <a:schemeClr val="tx1"/>
                </a:solidFill>
                <a:latin typeface="+mn-lt"/>
                <a:ea typeface="+mn-ea"/>
              </a:defRPr>
            </a:lvl8pPr>
            <a:lvl9pPr marL="3886200" indent="-228600" algn="l" rtl="0" fontAlgn="base">
              <a:spcBef>
                <a:spcPct val="20000"/>
              </a:spcBef>
              <a:spcAft>
                <a:spcPct val="0"/>
              </a:spcAft>
              <a:buClr>
                <a:schemeClr val="hlink"/>
              </a:buClr>
              <a:buSzPct val="85000"/>
              <a:buFont typeface="Wingdings" pitchFamily="2" charset="2"/>
              <a:buChar char="v"/>
              <a:defRPr sz="2000">
                <a:solidFill>
                  <a:schemeClr val="tx1"/>
                </a:solidFill>
                <a:latin typeface="+mn-lt"/>
                <a:ea typeface="+mn-ea"/>
              </a:defRPr>
            </a:lvl9pPr>
          </a:lstStyle>
          <a:p>
            <a:pPr algn="ctr">
              <a:buFont typeface="Wingdings" pitchFamily="2" charset="2"/>
              <a:buNone/>
            </a:pPr>
            <a:r>
              <a:rPr lang="en-US" sz="2800" kern="0" dirty="0">
                <a:latin typeface="黑体" pitchFamily="49" charset="-122"/>
                <a:ea typeface="黑体" pitchFamily="49" charset="-122"/>
              </a:rPr>
              <a:t>8.3 </a:t>
            </a:r>
            <a:r>
              <a:rPr lang="zh-CN" altLang="en-US" sz="2800" kern="0" dirty="0">
                <a:latin typeface="黑体" pitchFamily="49" charset="-122"/>
                <a:ea typeface="黑体" pitchFamily="49" charset="-122"/>
              </a:rPr>
              <a:t>不确切性知识的表示及推理</a:t>
            </a:r>
          </a:p>
        </p:txBody>
      </p:sp>
      <p:sp>
        <p:nvSpPr>
          <p:cNvPr id="2" name="箭头: 下 1">
            <a:extLst>
              <a:ext uri="{FF2B5EF4-FFF2-40B4-BE49-F238E27FC236}">
                <a16:creationId xmlns:a16="http://schemas.microsoft.com/office/drawing/2014/main" id="{22FFB3B7-5A19-3584-54AA-49F348D7D0E9}"/>
              </a:ext>
            </a:extLst>
          </p:cNvPr>
          <p:cNvSpPr/>
          <p:nvPr/>
        </p:nvSpPr>
        <p:spPr>
          <a:xfrm>
            <a:off x="4103948" y="5033224"/>
            <a:ext cx="936104" cy="288032"/>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文本框 3">
            <a:extLst>
              <a:ext uri="{FF2B5EF4-FFF2-40B4-BE49-F238E27FC236}">
                <a16:creationId xmlns:a16="http://schemas.microsoft.com/office/drawing/2014/main" id="{8950D8A1-5A0F-A5AF-479A-D5E341438C1A}"/>
              </a:ext>
            </a:extLst>
          </p:cNvPr>
          <p:cNvSpPr txBox="1"/>
          <p:nvPr/>
        </p:nvSpPr>
        <p:spPr>
          <a:xfrm>
            <a:off x="3563888" y="5407059"/>
            <a:ext cx="2592288" cy="523220"/>
          </a:xfrm>
          <a:prstGeom prst="rect">
            <a:avLst/>
          </a:prstGeom>
          <a:noFill/>
        </p:spPr>
        <p:txBody>
          <a:bodyPr wrap="square" rtlCol="0">
            <a:spAutoFit/>
          </a:bodyPr>
          <a:lstStyle/>
          <a:p>
            <a:r>
              <a:rPr lang="zh-CN" altLang="en-US" sz="2800" b="1" dirty="0"/>
              <a:t>张三比较胖</a:t>
            </a:r>
          </a:p>
        </p:txBody>
      </p:sp>
    </p:spTree>
  </p:cSld>
  <p:clrMapOvr>
    <a:masterClrMapping/>
  </p:clrMapOvr>
  <p:transition/>
</p:sld>
</file>

<file path=ppt/slides/slide1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12995" name="Rectangle 3"/>
          <p:cNvSpPr>
            <a:spLocks noGrp="1" noRot="1" noChangeArrowheads="1"/>
          </p:cNvSpPr>
          <p:nvPr>
            <p:ph type="body" idx="1"/>
          </p:nvPr>
        </p:nvSpPr>
        <p:spPr>
          <a:xfrm>
            <a:off x="457200" y="473074"/>
            <a:ext cx="7972452" cy="6022997"/>
          </a:xfrm>
        </p:spPr>
        <p:txBody>
          <a:bodyPr/>
          <a:lstStyle/>
          <a:p>
            <a:pPr>
              <a:lnSpc>
                <a:spcPct val="150000"/>
              </a:lnSpc>
              <a:buNone/>
            </a:pPr>
            <a:r>
              <a:rPr kumimoji="1" lang="en-US" altLang="zh-CN" sz="2400" dirty="0"/>
              <a:t>     </a:t>
            </a:r>
            <a:r>
              <a:rPr lang="en-US" sz="2400" dirty="0">
                <a:solidFill>
                  <a:schemeClr val="tx1"/>
                </a:solidFill>
                <a:latin typeface="+mn-lt"/>
                <a:ea typeface="+mn-ea"/>
                <a:cs typeface="+mn-cs"/>
              </a:rPr>
              <a:t>2. </a:t>
            </a:r>
            <a:r>
              <a:rPr lang="zh-CN" sz="2400" b="1" dirty="0">
                <a:solidFill>
                  <a:schemeClr val="tx1"/>
                </a:solidFill>
                <a:latin typeface="楷体" pitchFamily="49" charset="-122"/>
                <a:ea typeface="楷体" pitchFamily="49" charset="-122"/>
              </a:rPr>
              <a:t>程度化谓词</a:t>
            </a:r>
            <a:endParaRPr lang="en-US" altLang="zh-CN" sz="2400" b="1" dirty="0">
              <a:solidFill>
                <a:schemeClr val="tx1"/>
              </a:solidFill>
              <a:latin typeface="楷体" pitchFamily="49" charset="-122"/>
              <a:ea typeface="楷体" pitchFamily="49" charset="-122"/>
            </a:endParaRPr>
          </a:p>
          <a:p>
            <a:pPr>
              <a:buNone/>
            </a:pPr>
            <a:r>
              <a:rPr lang="en-US" sz="2400" dirty="0">
                <a:solidFill>
                  <a:schemeClr val="tx1"/>
                </a:solidFill>
                <a:latin typeface="+mn-ea"/>
                <a:cs typeface="Times New Roman" pitchFamily="18" charset="0"/>
              </a:rPr>
              <a:t>      </a:t>
            </a:r>
            <a:r>
              <a:rPr lang="zh-CN" altLang="en-US" sz="2400" dirty="0">
                <a:solidFill>
                  <a:schemeClr val="tx1"/>
                </a:solidFill>
                <a:latin typeface="+mn-ea"/>
                <a:cs typeface="Times New Roman" pitchFamily="18" charset="0"/>
              </a:rPr>
              <a:t>其一般形式为：</a:t>
            </a:r>
            <a:r>
              <a:rPr lang="en-US" sz="2400" dirty="0">
                <a:solidFill>
                  <a:schemeClr val="tx1"/>
                </a:solidFill>
                <a:latin typeface="+mn-ea"/>
                <a:cs typeface="Times New Roman" pitchFamily="18" charset="0"/>
              </a:rPr>
              <a:t>  </a:t>
            </a:r>
          </a:p>
          <a:p>
            <a:pPr>
              <a:lnSpc>
                <a:spcPct val="150000"/>
              </a:lnSpc>
              <a:spcBef>
                <a:spcPts val="0"/>
              </a:spcBef>
              <a:buNone/>
            </a:pPr>
            <a:r>
              <a:rPr lang="en-US" sz="2400" i="1" dirty="0">
                <a:solidFill>
                  <a:schemeClr val="tx1"/>
                </a:solidFill>
                <a:latin typeface="Times New Roman" pitchFamily="18" charset="0"/>
                <a:ea typeface="方正姚体" pitchFamily="2" charset="-122"/>
                <a:cs typeface="Times New Roman" pitchFamily="18" charset="0"/>
              </a:rPr>
              <a:t>                                p</a:t>
            </a:r>
            <a:r>
              <a:rPr lang="en-US" sz="2400" i="1" baseline="-25000" dirty="0">
                <a:solidFill>
                  <a:schemeClr val="tx1"/>
                </a:solidFill>
                <a:latin typeface="Times New Roman" pitchFamily="18" charset="0"/>
                <a:ea typeface="方正姚体" pitchFamily="2" charset="-122"/>
                <a:cs typeface="Times New Roman" pitchFamily="18" charset="0"/>
              </a:rPr>
              <a:t>d</a:t>
            </a:r>
            <a:r>
              <a:rPr lang="en-US" sz="2400" dirty="0">
                <a:solidFill>
                  <a:schemeClr val="tx1"/>
                </a:solidFill>
                <a:latin typeface="Times New Roman" pitchFamily="18" charset="0"/>
                <a:ea typeface="方正姚体" pitchFamily="2" charset="-122"/>
                <a:cs typeface="Times New Roman" pitchFamily="18" charset="0"/>
              </a:rPr>
              <a:t>(</a:t>
            </a:r>
            <a:r>
              <a:rPr lang="en-US" sz="2400" dirty="0">
                <a:solidFill>
                  <a:schemeClr val="tx1"/>
                </a:solidFill>
                <a:latin typeface="Times New Roman" pitchFamily="18" charset="0"/>
                <a:ea typeface="方正姚体" pitchFamily="2" charset="-122"/>
                <a:cs typeface="Times New Roman" pitchFamily="18" charset="0"/>
                <a:sym typeface="Symbol"/>
              </a:rPr>
              <a:t></a:t>
            </a:r>
            <a:r>
              <a:rPr lang="zh-CN" sz="2400" dirty="0">
                <a:solidFill>
                  <a:schemeClr val="tx1"/>
                </a:solidFill>
                <a:latin typeface="Times New Roman" pitchFamily="18" charset="0"/>
                <a:ea typeface="方正姚体" pitchFamily="2" charset="-122"/>
                <a:cs typeface="Times New Roman" pitchFamily="18" charset="0"/>
              </a:rPr>
              <a:t>对象</a:t>
            </a:r>
            <a:r>
              <a:rPr lang="en-US" sz="2400" baseline="-25000" dirty="0">
                <a:solidFill>
                  <a:schemeClr val="tx1"/>
                </a:solidFill>
                <a:latin typeface="Times New Roman" pitchFamily="18" charset="0"/>
                <a:ea typeface="方正姚体" pitchFamily="2" charset="-122"/>
                <a:cs typeface="Times New Roman" pitchFamily="18" charset="0"/>
              </a:rPr>
              <a:t>1</a:t>
            </a:r>
            <a:r>
              <a:rPr lang="en-US" sz="2400" dirty="0">
                <a:solidFill>
                  <a:schemeClr val="tx1"/>
                </a:solidFill>
                <a:latin typeface="Times New Roman" pitchFamily="18" charset="0"/>
                <a:ea typeface="方正姚体" pitchFamily="2" charset="-122"/>
                <a:cs typeface="Times New Roman" pitchFamily="18" charset="0"/>
              </a:rPr>
              <a:t>, </a:t>
            </a:r>
            <a:r>
              <a:rPr lang="zh-CN" sz="2400" dirty="0">
                <a:solidFill>
                  <a:schemeClr val="tx1"/>
                </a:solidFill>
                <a:latin typeface="Times New Roman" pitchFamily="18" charset="0"/>
                <a:ea typeface="方正姚体" pitchFamily="2" charset="-122"/>
                <a:cs typeface="Times New Roman" pitchFamily="18" charset="0"/>
              </a:rPr>
              <a:t>对象</a:t>
            </a:r>
            <a:r>
              <a:rPr lang="en-US" sz="2400" baseline="-25000" dirty="0">
                <a:solidFill>
                  <a:schemeClr val="tx1"/>
                </a:solidFill>
                <a:latin typeface="Times New Roman" pitchFamily="18" charset="0"/>
                <a:ea typeface="方正姚体" pitchFamily="2" charset="-122"/>
                <a:cs typeface="Times New Roman" pitchFamily="18" charset="0"/>
              </a:rPr>
              <a:t>2</a:t>
            </a:r>
            <a:r>
              <a:rPr lang="en-US" sz="2400" dirty="0">
                <a:solidFill>
                  <a:schemeClr val="tx1"/>
                </a:solidFill>
                <a:latin typeface="Times New Roman" pitchFamily="18" charset="0"/>
                <a:ea typeface="方正姚体" pitchFamily="2" charset="-122"/>
                <a:cs typeface="Times New Roman" pitchFamily="18" charset="0"/>
              </a:rPr>
              <a:t>, … ,</a:t>
            </a:r>
            <a:r>
              <a:rPr lang="zh-CN" sz="2400" dirty="0">
                <a:solidFill>
                  <a:schemeClr val="tx1"/>
                </a:solidFill>
                <a:latin typeface="Times New Roman" pitchFamily="18" charset="0"/>
                <a:ea typeface="方正姚体" pitchFamily="2" charset="-122"/>
                <a:cs typeface="Times New Roman" pitchFamily="18" charset="0"/>
              </a:rPr>
              <a:t>对象</a:t>
            </a:r>
            <a:r>
              <a:rPr lang="en-US" sz="2400" i="1" baseline="-25000" dirty="0">
                <a:solidFill>
                  <a:schemeClr val="tx1"/>
                </a:solidFill>
                <a:latin typeface="Times New Roman" pitchFamily="18" charset="0"/>
                <a:ea typeface="方正姚体" pitchFamily="2" charset="-122"/>
                <a:cs typeface="Times New Roman" pitchFamily="18" charset="0"/>
              </a:rPr>
              <a:t>n</a:t>
            </a:r>
            <a:r>
              <a:rPr lang="en-US" sz="2400" dirty="0">
                <a:solidFill>
                  <a:schemeClr val="tx1"/>
                </a:solidFill>
                <a:latin typeface="Times New Roman" pitchFamily="18" charset="0"/>
                <a:ea typeface="方正姚体" pitchFamily="2" charset="-122"/>
                <a:cs typeface="Times New Roman" pitchFamily="18" charset="0"/>
                <a:sym typeface="Symbol"/>
              </a:rPr>
              <a:t></a:t>
            </a:r>
            <a:r>
              <a:rPr lang="en-US" sz="2400" dirty="0">
                <a:solidFill>
                  <a:schemeClr val="tx1"/>
                </a:solidFill>
                <a:latin typeface="Times New Roman" pitchFamily="18" charset="0"/>
                <a:ea typeface="方正姚体" pitchFamily="2" charset="-122"/>
                <a:cs typeface="Times New Roman" pitchFamily="18" charset="0"/>
              </a:rPr>
              <a:t>)                   </a:t>
            </a:r>
            <a:endParaRPr lang="zh-CN" sz="2400" dirty="0">
              <a:solidFill>
                <a:schemeClr val="tx1"/>
              </a:solidFill>
              <a:latin typeface="Times New Roman" pitchFamily="18" charset="0"/>
              <a:ea typeface="方正姚体" pitchFamily="2" charset="-122"/>
              <a:cs typeface="Times New Roman" pitchFamily="18" charset="0"/>
            </a:endParaRPr>
          </a:p>
          <a:p>
            <a:pPr>
              <a:buNone/>
            </a:pPr>
            <a:r>
              <a:rPr lang="en-US" altLang="zh-CN" sz="2400" dirty="0">
                <a:solidFill>
                  <a:schemeClr val="tx1"/>
                </a:solidFill>
                <a:latin typeface="Times New Roman" pitchFamily="18" charset="0"/>
                <a:cs typeface="Times New Roman" pitchFamily="18" charset="0"/>
              </a:rPr>
              <a:t>     </a:t>
            </a:r>
            <a:r>
              <a:rPr lang="zh-CN" sz="2400" dirty="0">
                <a:solidFill>
                  <a:schemeClr val="tx1"/>
                </a:solidFill>
                <a:latin typeface="Times New Roman" pitchFamily="18" charset="0"/>
                <a:cs typeface="Times New Roman" pitchFamily="18" charset="0"/>
              </a:rPr>
              <a:t>或</a:t>
            </a:r>
          </a:p>
          <a:p>
            <a:pPr>
              <a:spcBef>
                <a:spcPts val="0"/>
              </a:spcBef>
              <a:buNone/>
            </a:pPr>
            <a:r>
              <a:rPr lang="en-US" sz="2400" dirty="0">
                <a:solidFill>
                  <a:schemeClr val="tx1"/>
                </a:solidFill>
                <a:latin typeface="Times New Roman" pitchFamily="18" charset="0"/>
                <a:ea typeface="方正姚体" pitchFamily="2" charset="-122"/>
                <a:cs typeface="Times New Roman" pitchFamily="18" charset="0"/>
              </a:rPr>
              <a:t>                               </a:t>
            </a:r>
            <a:r>
              <a:rPr lang="en-US" sz="2400" i="1" dirty="0" err="1">
                <a:solidFill>
                  <a:schemeClr val="tx1"/>
                </a:solidFill>
                <a:latin typeface="Times New Roman" pitchFamily="18" charset="0"/>
                <a:ea typeface="方正姚体" pitchFamily="2" charset="-122"/>
                <a:cs typeface="Times New Roman" pitchFamily="18" charset="0"/>
              </a:rPr>
              <a:t>dp</a:t>
            </a:r>
            <a:r>
              <a:rPr lang="en-US" sz="2400" dirty="0">
                <a:solidFill>
                  <a:schemeClr val="tx1"/>
                </a:solidFill>
                <a:latin typeface="Times New Roman" pitchFamily="18" charset="0"/>
                <a:ea typeface="方正姚体" pitchFamily="2" charset="-122"/>
                <a:cs typeface="Times New Roman" pitchFamily="18" charset="0"/>
              </a:rPr>
              <a:t>(</a:t>
            </a:r>
            <a:r>
              <a:rPr lang="en-US" sz="2400" dirty="0">
                <a:solidFill>
                  <a:schemeClr val="tx1"/>
                </a:solidFill>
                <a:latin typeface="Times New Roman" pitchFamily="18" charset="0"/>
                <a:ea typeface="方正姚体" pitchFamily="2" charset="-122"/>
                <a:cs typeface="Times New Roman" pitchFamily="18" charset="0"/>
                <a:sym typeface="Symbol"/>
              </a:rPr>
              <a:t></a:t>
            </a:r>
            <a:r>
              <a:rPr lang="zh-CN" sz="2400" dirty="0">
                <a:solidFill>
                  <a:schemeClr val="tx1"/>
                </a:solidFill>
                <a:latin typeface="Times New Roman" pitchFamily="18" charset="0"/>
                <a:ea typeface="方正姚体" pitchFamily="2" charset="-122"/>
                <a:cs typeface="Times New Roman" pitchFamily="18" charset="0"/>
              </a:rPr>
              <a:t>对象</a:t>
            </a:r>
            <a:r>
              <a:rPr lang="en-US" sz="2400" baseline="-25000" dirty="0">
                <a:solidFill>
                  <a:schemeClr val="tx1"/>
                </a:solidFill>
                <a:latin typeface="Times New Roman" pitchFamily="18" charset="0"/>
                <a:ea typeface="方正姚体" pitchFamily="2" charset="-122"/>
                <a:cs typeface="Times New Roman" pitchFamily="18" charset="0"/>
              </a:rPr>
              <a:t>1</a:t>
            </a:r>
            <a:r>
              <a:rPr lang="en-US" sz="2400" dirty="0">
                <a:solidFill>
                  <a:schemeClr val="tx1"/>
                </a:solidFill>
                <a:latin typeface="Times New Roman" pitchFamily="18" charset="0"/>
                <a:ea typeface="方正姚体" pitchFamily="2" charset="-122"/>
                <a:cs typeface="Times New Roman" pitchFamily="18" charset="0"/>
              </a:rPr>
              <a:t>, </a:t>
            </a:r>
            <a:r>
              <a:rPr lang="zh-CN" sz="2400" dirty="0">
                <a:solidFill>
                  <a:schemeClr val="tx1"/>
                </a:solidFill>
                <a:latin typeface="Times New Roman" pitchFamily="18" charset="0"/>
                <a:ea typeface="方正姚体" pitchFamily="2" charset="-122"/>
                <a:cs typeface="Times New Roman" pitchFamily="18" charset="0"/>
              </a:rPr>
              <a:t>对象</a:t>
            </a:r>
            <a:r>
              <a:rPr lang="en-US" sz="2400" baseline="-25000" dirty="0">
                <a:solidFill>
                  <a:schemeClr val="tx1"/>
                </a:solidFill>
                <a:latin typeface="Times New Roman" pitchFamily="18" charset="0"/>
                <a:ea typeface="方正姚体" pitchFamily="2" charset="-122"/>
                <a:cs typeface="Times New Roman" pitchFamily="18" charset="0"/>
              </a:rPr>
              <a:t>2</a:t>
            </a:r>
            <a:r>
              <a:rPr lang="en-US" sz="2400" dirty="0">
                <a:solidFill>
                  <a:schemeClr val="tx1"/>
                </a:solidFill>
                <a:latin typeface="Times New Roman" pitchFamily="18" charset="0"/>
                <a:ea typeface="方正姚体" pitchFamily="2" charset="-122"/>
                <a:cs typeface="Times New Roman" pitchFamily="18" charset="0"/>
              </a:rPr>
              <a:t>, … ,</a:t>
            </a:r>
            <a:r>
              <a:rPr lang="zh-CN" sz="2400" dirty="0">
                <a:solidFill>
                  <a:schemeClr val="tx1"/>
                </a:solidFill>
                <a:latin typeface="Times New Roman" pitchFamily="18" charset="0"/>
                <a:ea typeface="方正姚体" pitchFamily="2" charset="-122"/>
                <a:cs typeface="Times New Roman" pitchFamily="18" charset="0"/>
              </a:rPr>
              <a:t>对象</a:t>
            </a:r>
            <a:r>
              <a:rPr lang="en-US" sz="2400" i="1" baseline="-25000" dirty="0">
                <a:solidFill>
                  <a:schemeClr val="tx1"/>
                </a:solidFill>
                <a:latin typeface="Times New Roman" pitchFamily="18" charset="0"/>
                <a:ea typeface="方正姚体" pitchFamily="2" charset="-122"/>
                <a:cs typeface="Times New Roman" pitchFamily="18" charset="0"/>
              </a:rPr>
              <a:t>n</a:t>
            </a:r>
            <a:r>
              <a:rPr lang="en-US" sz="2400" dirty="0">
                <a:solidFill>
                  <a:schemeClr val="tx1"/>
                </a:solidFill>
                <a:latin typeface="Times New Roman" pitchFamily="18" charset="0"/>
                <a:ea typeface="方正姚体" pitchFamily="2" charset="-122"/>
                <a:cs typeface="Times New Roman" pitchFamily="18" charset="0"/>
              </a:rPr>
              <a:t> </a:t>
            </a:r>
            <a:r>
              <a:rPr lang="en-US" sz="2400" dirty="0">
                <a:solidFill>
                  <a:schemeClr val="tx1"/>
                </a:solidFill>
                <a:latin typeface="Times New Roman" pitchFamily="18" charset="0"/>
                <a:ea typeface="方正姚体" pitchFamily="2" charset="-122"/>
                <a:cs typeface="Times New Roman" pitchFamily="18" charset="0"/>
                <a:sym typeface="Symbol"/>
              </a:rPr>
              <a:t></a:t>
            </a:r>
            <a:r>
              <a:rPr lang="en-US" sz="2400" dirty="0">
                <a:solidFill>
                  <a:schemeClr val="tx1"/>
                </a:solidFill>
                <a:latin typeface="Times New Roman" pitchFamily="18" charset="0"/>
                <a:ea typeface="方正姚体" pitchFamily="2" charset="-122"/>
                <a:cs typeface="Times New Roman" pitchFamily="18" charset="0"/>
              </a:rPr>
              <a:t>)           </a:t>
            </a:r>
            <a:endParaRPr lang="zh-CN" sz="2400" dirty="0">
              <a:solidFill>
                <a:schemeClr val="tx1"/>
              </a:solidFill>
              <a:latin typeface="Times New Roman" pitchFamily="18" charset="0"/>
              <a:ea typeface="方正姚体" pitchFamily="2" charset="-122"/>
              <a:cs typeface="Times New Roman" pitchFamily="18" charset="0"/>
            </a:endParaRPr>
          </a:p>
          <a:p>
            <a:pPr algn="just">
              <a:lnSpc>
                <a:spcPct val="150000"/>
              </a:lnSpc>
              <a:buNone/>
            </a:pPr>
            <a:r>
              <a:rPr lang="en-US" altLang="zh-CN" sz="2400" dirty="0">
                <a:solidFill>
                  <a:schemeClr val="tx1"/>
                </a:solidFill>
                <a:latin typeface="Times New Roman" pitchFamily="18" charset="0"/>
                <a:cs typeface="Times New Roman" pitchFamily="18" charset="0"/>
              </a:rPr>
              <a:t>     </a:t>
            </a:r>
            <a:r>
              <a:rPr lang="zh-CN" sz="2400" dirty="0">
                <a:solidFill>
                  <a:schemeClr val="tx1"/>
                </a:solidFill>
                <a:latin typeface="Times New Roman" pitchFamily="18" charset="0"/>
                <a:cs typeface="Times New Roman" pitchFamily="18" charset="0"/>
              </a:rPr>
              <a:t>其中，</a:t>
            </a:r>
            <a:r>
              <a:rPr lang="en-US" sz="2400" i="1" dirty="0">
                <a:solidFill>
                  <a:schemeClr val="tx1"/>
                </a:solidFill>
                <a:latin typeface="Times New Roman" pitchFamily="18" charset="0"/>
                <a:cs typeface="Times New Roman" pitchFamily="18" charset="0"/>
              </a:rPr>
              <a:t>p</a:t>
            </a:r>
            <a:r>
              <a:rPr lang="zh-CN" sz="2400" dirty="0">
                <a:solidFill>
                  <a:schemeClr val="tx1"/>
                </a:solidFill>
                <a:latin typeface="Times New Roman" pitchFamily="18" charset="0"/>
                <a:cs typeface="Times New Roman" pitchFamily="18" charset="0"/>
              </a:rPr>
              <a:t>表示谓词</a:t>
            </a:r>
            <a:r>
              <a:rPr lang="zh-CN" altLang="en-US" sz="2400" dirty="0">
                <a:solidFill>
                  <a:schemeClr val="tx1"/>
                </a:solidFill>
                <a:latin typeface="Times New Roman" pitchFamily="18" charset="0"/>
                <a:cs typeface="Times New Roman" pitchFamily="18" charset="0"/>
              </a:rPr>
              <a:t>（如白，甜，高）</a:t>
            </a:r>
            <a:r>
              <a:rPr lang="zh-CN" sz="2400" dirty="0">
                <a:solidFill>
                  <a:schemeClr val="tx1"/>
                </a:solidFill>
                <a:latin typeface="Times New Roman" pitchFamily="18" charset="0"/>
                <a:cs typeface="Times New Roman" pitchFamily="18" charset="0"/>
              </a:rPr>
              <a:t>，</a:t>
            </a:r>
            <a:r>
              <a:rPr lang="en-US" sz="2400" i="1" dirty="0">
                <a:solidFill>
                  <a:schemeClr val="tx1"/>
                </a:solidFill>
                <a:latin typeface="Times New Roman" pitchFamily="18" charset="0"/>
                <a:cs typeface="Times New Roman" pitchFamily="18" charset="0"/>
              </a:rPr>
              <a:t>d</a:t>
            </a:r>
            <a:r>
              <a:rPr lang="zh-CN" sz="2400" dirty="0">
                <a:solidFill>
                  <a:schemeClr val="tx1"/>
                </a:solidFill>
                <a:latin typeface="Times New Roman" pitchFamily="18" charset="0"/>
                <a:cs typeface="Times New Roman" pitchFamily="18" charset="0"/>
              </a:rPr>
              <a:t>表示程度</a:t>
            </a:r>
            <a:r>
              <a:rPr lang="zh-CN" altLang="en-US" sz="2400" dirty="0">
                <a:solidFill>
                  <a:schemeClr val="tx1"/>
                </a:solidFill>
                <a:latin typeface="Times New Roman" pitchFamily="18" charset="0"/>
                <a:cs typeface="Times New Roman" pitchFamily="18" charset="0"/>
              </a:rPr>
              <a:t>（如</a:t>
            </a:r>
            <a:r>
              <a:rPr lang="en-US" altLang="zh-CN" sz="2400" dirty="0">
                <a:solidFill>
                  <a:schemeClr val="tx1"/>
                </a:solidFill>
                <a:latin typeface="Times New Roman" pitchFamily="18" charset="0"/>
                <a:cs typeface="Times New Roman" pitchFamily="18" charset="0"/>
              </a:rPr>
              <a:t>1.0</a:t>
            </a:r>
            <a:r>
              <a:rPr lang="en-US" altLang="zh-CN" sz="2400" dirty="0">
                <a:latin typeface="Times New Roman" pitchFamily="18" charset="0"/>
                <a:cs typeface="Times New Roman" pitchFamily="18" charset="0"/>
              </a:rPr>
              <a:t> </a:t>
            </a:r>
            <a:r>
              <a:rPr lang="zh-CN" altLang="en-US" sz="2400" dirty="0">
                <a:latin typeface="Times New Roman" pitchFamily="18" charset="0"/>
                <a:cs typeface="Times New Roman" pitchFamily="18" charset="0"/>
              </a:rPr>
              <a:t>，</a:t>
            </a:r>
            <a:r>
              <a:rPr lang="en-US" altLang="zh-CN" sz="2400" dirty="0">
                <a:latin typeface="Times New Roman" pitchFamily="18" charset="0"/>
                <a:cs typeface="Times New Roman" pitchFamily="18" charset="0"/>
              </a:rPr>
              <a:t>1.15</a:t>
            </a:r>
            <a:r>
              <a:rPr lang="zh-CN" altLang="en-US" sz="2400" dirty="0">
                <a:latin typeface="Times New Roman" pitchFamily="18" charset="0"/>
                <a:cs typeface="Times New Roman" pitchFamily="18" charset="0"/>
              </a:rPr>
              <a:t>，</a:t>
            </a:r>
            <a:r>
              <a:rPr lang="en-US" altLang="zh-CN" sz="2400" dirty="0">
                <a:latin typeface="Times New Roman" pitchFamily="18" charset="0"/>
                <a:cs typeface="Times New Roman" pitchFamily="18" charset="0"/>
              </a:rPr>
              <a:t>2.0</a:t>
            </a:r>
            <a:r>
              <a:rPr lang="zh-CN" altLang="en-US" sz="2400" dirty="0">
                <a:solidFill>
                  <a:schemeClr val="tx1"/>
                </a:solidFill>
                <a:latin typeface="Times New Roman" pitchFamily="18" charset="0"/>
                <a:cs typeface="Times New Roman" pitchFamily="18" charset="0"/>
              </a:rPr>
              <a:t>）</a:t>
            </a:r>
            <a:r>
              <a:rPr lang="zh-CN" sz="2400" dirty="0">
                <a:solidFill>
                  <a:schemeClr val="tx1"/>
                </a:solidFill>
                <a:latin typeface="Times New Roman" pitchFamily="18" charset="0"/>
                <a:cs typeface="Times New Roman" pitchFamily="18" charset="0"/>
              </a:rPr>
              <a:t>；</a:t>
            </a:r>
            <a:r>
              <a:rPr lang="en-US" sz="2400" i="1" dirty="0">
                <a:solidFill>
                  <a:schemeClr val="tx1"/>
                </a:solidFill>
                <a:latin typeface="Times New Roman" pitchFamily="18" charset="0"/>
                <a:cs typeface="Times New Roman" pitchFamily="18" charset="0"/>
              </a:rPr>
              <a:t>p</a:t>
            </a:r>
            <a:r>
              <a:rPr lang="en-US" sz="2400" i="1" baseline="-25000" dirty="0">
                <a:solidFill>
                  <a:schemeClr val="tx1"/>
                </a:solidFill>
                <a:latin typeface="Times New Roman" pitchFamily="18" charset="0"/>
                <a:cs typeface="Times New Roman" pitchFamily="18" charset="0"/>
              </a:rPr>
              <a:t>d</a:t>
            </a:r>
            <a:r>
              <a:rPr lang="zh-CN" sz="2400" dirty="0">
                <a:solidFill>
                  <a:schemeClr val="tx1"/>
                </a:solidFill>
                <a:latin typeface="Times New Roman" pitchFamily="18" charset="0"/>
                <a:cs typeface="Times New Roman" pitchFamily="18" charset="0"/>
              </a:rPr>
              <a:t>为下标表示法，</a:t>
            </a:r>
            <a:r>
              <a:rPr lang="en-US" sz="2400" i="1" dirty="0" err="1">
                <a:solidFill>
                  <a:schemeClr val="tx1"/>
                </a:solidFill>
                <a:latin typeface="Times New Roman" pitchFamily="18" charset="0"/>
                <a:cs typeface="Times New Roman" pitchFamily="18" charset="0"/>
              </a:rPr>
              <a:t>dp</a:t>
            </a:r>
            <a:r>
              <a:rPr lang="zh-CN" sz="2400" dirty="0">
                <a:solidFill>
                  <a:schemeClr val="tx1"/>
                </a:solidFill>
                <a:latin typeface="Times New Roman" pitchFamily="18" charset="0"/>
                <a:cs typeface="Times New Roman" pitchFamily="18" charset="0"/>
              </a:rPr>
              <a:t>为乘法表示法。</a:t>
            </a:r>
          </a:p>
          <a:p>
            <a:pPr>
              <a:buNone/>
            </a:pPr>
            <a:r>
              <a:rPr lang="en-US" altLang="zh-CN" sz="2400" dirty="0">
                <a:solidFill>
                  <a:schemeClr val="tx1"/>
                </a:solidFill>
                <a:latin typeface="Times New Roman" pitchFamily="18" charset="0"/>
                <a:cs typeface="Times New Roman" pitchFamily="18" charset="0"/>
              </a:rPr>
              <a:t>     </a:t>
            </a:r>
            <a:r>
              <a:rPr lang="zh-CN" sz="2400" dirty="0">
                <a:solidFill>
                  <a:schemeClr val="tx1"/>
                </a:solidFill>
                <a:latin typeface="Times New Roman" pitchFamily="18" charset="0"/>
                <a:cs typeface="Times New Roman" pitchFamily="18" charset="0"/>
              </a:rPr>
              <a:t>或者用变量表示为</a:t>
            </a:r>
          </a:p>
          <a:p>
            <a:pPr>
              <a:spcBef>
                <a:spcPts val="0"/>
              </a:spcBef>
              <a:buNone/>
            </a:pPr>
            <a:r>
              <a:rPr lang="en-US" sz="2400" dirty="0">
                <a:solidFill>
                  <a:schemeClr val="tx1"/>
                </a:solidFill>
                <a:latin typeface="Times New Roman" pitchFamily="18" charset="0"/>
                <a:cs typeface="Times New Roman" pitchFamily="18" charset="0"/>
              </a:rPr>
              <a:t>                                           </a:t>
            </a:r>
            <a:r>
              <a:rPr lang="en-US" sz="2400" i="1" dirty="0">
                <a:solidFill>
                  <a:schemeClr val="tx1"/>
                </a:solidFill>
                <a:latin typeface="Times New Roman" pitchFamily="18" charset="0"/>
                <a:cs typeface="Times New Roman" pitchFamily="18" charset="0"/>
              </a:rPr>
              <a:t>p</a:t>
            </a:r>
            <a:r>
              <a:rPr lang="en-US" sz="2400" i="1" baseline="-25000" dirty="0">
                <a:solidFill>
                  <a:schemeClr val="tx1"/>
                </a:solidFill>
                <a:latin typeface="Times New Roman" pitchFamily="18" charset="0"/>
                <a:cs typeface="Times New Roman" pitchFamily="18" charset="0"/>
              </a:rPr>
              <a:t>d</a:t>
            </a:r>
            <a:r>
              <a:rPr lang="en-US" sz="2400" dirty="0">
                <a:solidFill>
                  <a:schemeClr val="tx1"/>
                </a:solidFill>
                <a:latin typeface="Times New Roman" pitchFamily="18" charset="0"/>
                <a:cs typeface="Times New Roman" pitchFamily="18" charset="0"/>
              </a:rPr>
              <a:t>(</a:t>
            </a:r>
            <a:r>
              <a:rPr lang="en-US" sz="2400" i="1" dirty="0">
                <a:solidFill>
                  <a:schemeClr val="tx1"/>
                </a:solidFill>
                <a:latin typeface="Times New Roman" pitchFamily="18" charset="0"/>
                <a:cs typeface="Times New Roman" pitchFamily="18" charset="0"/>
              </a:rPr>
              <a:t>x</a:t>
            </a:r>
            <a:r>
              <a:rPr lang="en-US" sz="2400" baseline="-25000" dirty="0">
                <a:solidFill>
                  <a:schemeClr val="tx1"/>
                </a:solidFill>
                <a:latin typeface="Times New Roman" pitchFamily="18" charset="0"/>
                <a:cs typeface="Times New Roman" pitchFamily="18" charset="0"/>
              </a:rPr>
              <a:t>1</a:t>
            </a:r>
            <a:r>
              <a:rPr lang="en-US" sz="2400" dirty="0">
                <a:solidFill>
                  <a:schemeClr val="tx1"/>
                </a:solidFill>
                <a:latin typeface="Times New Roman" pitchFamily="18" charset="0"/>
                <a:cs typeface="Times New Roman" pitchFamily="18" charset="0"/>
              </a:rPr>
              <a:t>, </a:t>
            </a:r>
            <a:r>
              <a:rPr lang="en-US" sz="2400" i="1" dirty="0">
                <a:solidFill>
                  <a:schemeClr val="tx1"/>
                </a:solidFill>
                <a:latin typeface="Times New Roman" pitchFamily="18" charset="0"/>
                <a:cs typeface="Times New Roman" pitchFamily="18" charset="0"/>
              </a:rPr>
              <a:t>x</a:t>
            </a:r>
            <a:r>
              <a:rPr lang="en-US" sz="2400" baseline="-25000" dirty="0">
                <a:solidFill>
                  <a:schemeClr val="tx1"/>
                </a:solidFill>
                <a:latin typeface="Times New Roman" pitchFamily="18" charset="0"/>
                <a:cs typeface="Times New Roman" pitchFamily="18" charset="0"/>
              </a:rPr>
              <a:t>2</a:t>
            </a:r>
            <a:r>
              <a:rPr lang="en-US" sz="2400" dirty="0">
                <a:solidFill>
                  <a:schemeClr val="tx1"/>
                </a:solidFill>
                <a:latin typeface="Times New Roman" pitchFamily="18" charset="0"/>
                <a:cs typeface="Times New Roman" pitchFamily="18" charset="0"/>
              </a:rPr>
              <a:t>,…, </a:t>
            </a:r>
            <a:r>
              <a:rPr lang="en-US" sz="2400" i="1" dirty="0" err="1">
                <a:solidFill>
                  <a:schemeClr val="tx1"/>
                </a:solidFill>
                <a:latin typeface="Times New Roman" pitchFamily="18" charset="0"/>
                <a:cs typeface="Times New Roman" pitchFamily="18" charset="0"/>
              </a:rPr>
              <a:t>x</a:t>
            </a:r>
            <a:r>
              <a:rPr lang="en-US" sz="2400" i="1" baseline="-25000" dirty="0" err="1">
                <a:solidFill>
                  <a:schemeClr val="tx1"/>
                </a:solidFill>
                <a:latin typeface="Times New Roman" pitchFamily="18" charset="0"/>
                <a:cs typeface="Times New Roman" pitchFamily="18" charset="0"/>
              </a:rPr>
              <a:t>n</a:t>
            </a:r>
            <a:r>
              <a:rPr lang="en-US" sz="2400" dirty="0">
                <a:solidFill>
                  <a:schemeClr val="tx1"/>
                </a:solidFill>
                <a:latin typeface="Times New Roman" pitchFamily="18" charset="0"/>
                <a:cs typeface="Times New Roman" pitchFamily="18" charset="0"/>
              </a:rPr>
              <a:t>)</a:t>
            </a:r>
            <a:endParaRPr lang="zh-CN" sz="2400" dirty="0">
              <a:solidFill>
                <a:schemeClr val="tx1"/>
              </a:solidFill>
              <a:latin typeface="Times New Roman" pitchFamily="18" charset="0"/>
              <a:cs typeface="Times New Roman" pitchFamily="18" charset="0"/>
            </a:endParaRPr>
          </a:p>
          <a:p>
            <a:pPr>
              <a:buNone/>
            </a:pPr>
            <a:r>
              <a:rPr lang="en-US" altLang="zh-CN" sz="2400" dirty="0">
                <a:solidFill>
                  <a:schemeClr val="tx1"/>
                </a:solidFill>
                <a:latin typeface="Times New Roman" pitchFamily="18" charset="0"/>
                <a:cs typeface="Times New Roman" pitchFamily="18" charset="0"/>
              </a:rPr>
              <a:t>     </a:t>
            </a:r>
            <a:r>
              <a:rPr lang="zh-CN" sz="2400" dirty="0">
                <a:solidFill>
                  <a:schemeClr val="tx1"/>
                </a:solidFill>
                <a:latin typeface="Times New Roman" pitchFamily="18" charset="0"/>
                <a:cs typeface="Times New Roman" pitchFamily="18" charset="0"/>
              </a:rPr>
              <a:t>或</a:t>
            </a:r>
          </a:p>
          <a:p>
            <a:pPr>
              <a:spcBef>
                <a:spcPts val="0"/>
              </a:spcBef>
              <a:buNone/>
            </a:pPr>
            <a:r>
              <a:rPr lang="en-US" sz="2400" i="1" dirty="0">
                <a:solidFill>
                  <a:schemeClr val="tx1"/>
                </a:solidFill>
                <a:latin typeface="Times New Roman" pitchFamily="18" charset="0"/>
                <a:cs typeface="Times New Roman" pitchFamily="18" charset="0"/>
              </a:rPr>
              <a:t>                                           </a:t>
            </a:r>
            <a:r>
              <a:rPr lang="en-US" sz="2400" i="1" dirty="0" err="1">
                <a:solidFill>
                  <a:schemeClr val="tx1"/>
                </a:solidFill>
                <a:latin typeface="Times New Roman" pitchFamily="18" charset="0"/>
                <a:cs typeface="Times New Roman" pitchFamily="18" charset="0"/>
              </a:rPr>
              <a:t>dp</a:t>
            </a:r>
            <a:r>
              <a:rPr lang="en-US" sz="2400" dirty="0">
                <a:solidFill>
                  <a:schemeClr val="tx1"/>
                </a:solidFill>
                <a:latin typeface="Times New Roman" pitchFamily="18" charset="0"/>
                <a:cs typeface="Times New Roman" pitchFamily="18" charset="0"/>
              </a:rPr>
              <a:t>(</a:t>
            </a:r>
            <a:r>
              <a:rPr lang="en-US" sz="2400" i="1" dirty="0">
                <a:solidFill>
                  <a:schemeClr val="tx1"/>
                </a:solidFill>
                <a:latin typeface="Times New Roman" pitchFamily="18" charset="0"/>
                <a:cs typeface="Times New Roman" pitchFamily="18" charset="0"/>
              </a:rPr>
              <a:t>x</a:t>
            </a:r>
            <a:r>
              <a:rPr lang="en-US" sz="2400" baseline="-25000" dirty="0">
                <a:solidFill>
                  <a:schemeClr val="tx1"/>
                </a:solidFill>
                <a:latin typeface="Times New Roman" pitchFamily="18" charset="0"/>
                <a:cs typeface="Times New Roman" pitchFamily="18" charset="0"/>
              </a:rPr>
              <a:t>1</a:t>
            </a:r>
            <a:r>
              <a:rPr lang="en-US" sz="2400" dirty="0">
                <a:solidFill>
                  <a:schemeClr val="tx1"/>
                </a:solidFill>
                <a:latin typeface="Times New Roman" pitchFamily="18" charset="0"/>
                <a:cs typeface="Times New Roman" pitchFamily="18" charset="0"/>
              </a:rPr>
              <a:t>, </a:t>
            </a:r>
            <a:r>
              <a:rPr lang="en-US" sz="2400" i="1" dirty="0">
                <a:solidFill>
                  <a:schemeClr val="tx1"/>
                </a:solidFill>
                <a:latin typeface="Times New Roman" pitchFamily="18" charset="0"/>
                <a:cs typeface="Times New Roman" pitchFamily="18" charset="0"/>
              </a:rPr>
              <a:t>x</a:t>
            </a:r>
            <a:r>
              <a:rPr lang="en-US" sz="2400" baseline="-25000" dirty="0">
                <a:solidFill>
                  <a:schemeClr val="tx1"/>
                </a:solidFill>
                <a:latin typeface="Times New Roman" pitchFamily="18" charset="0"/>
                <a:cs typeface="Times New Roman" pitchFamily="18" charset="0"/>
              </a:rPr>
              <a:t>2</a:t>
            </a:r>
            <a:r>
              <a:rPr lang="en-US" sz="2400" dirty="0">
                <a:solidFill>
                  <a:schemeClr val="tx1"/>
                </a:solidFill>
                <a:latin typeface="Times New Roman" pitchFamily="18" charset="0"/>
                <a:cs typeface="Times New Roman" pitchFamily="18" charset="0"/>
              </a:rPr>
              <a:t>,…, </a:t>
            </a:r>
            <a:r>
              <a:rPr lang="en-US" sz="2400" i="1" dirty="0" err="1">
                <a:solidFill>
                  <a:schemeClr val="tx1"/>
                </a:solidFill>
                <a:latin typeface="Times New Roman" pitchFamily="18" charset="0"/>
                <a:cs typeface="Times New Roman" pitchFamily="18" charset="0"/>
              </a:rPr>
              <a:t>x</a:t>
            </a:r>
            <a:r>
              <a:rPr lang="en-US" sz="2400" i="1" baseline="-25000" dirty="0" err="1">
                <a:solidFill>
                  <a:schemeClr val="tx1"/>
                </a:solidFill>
                <a:latin typeface="Times New Roman" pitchFamily="18" charset="0"/>
                <a:cs typeface="Times New Roman" pitchFamily="18" charset="0"/>
              </a:rPr>
              <a:t>n</a:t>
            </a:r>
            <a:r>
              <a:rPr lang="en-US" sz="2400" dirty="0">
                <a:solidFill>
                  <a:schemeClr val="tx1"/>
                </a:solidFill>
                <a:latin typeface="Times New Roman" pitchFamily="18" charset="0"/>
                <a:cs typeface="Times New Roman" pitchFamily="18" charset="0"/>
              </a:rPr>
              <a:t>)            </a:t>
            </a:r>
            <a:endParaRPr lang="zh-CN" sz="2400" dirty="0">
              <a:solidFill>
                <a:schemeClr val="tx1"/>
              </a:solidFill>
              <a:latin typeface="Times New Roman" pitchFamily="18" charset="0"/>
              <a:cs typeface="Times New Roman" pitchFamily="18" charset="0"/>
            </a:endParaRPr>
          </a:p>
          <a:p>
            <a:pPr>
              <a:buNone/>
            </a:pPr>
            <a:r>
              <a:rPr lang="en-US" altLang="zh-CN" sz="2400" dirty="0">
                <a:solidFill>
                  <a:schemeClr val="tx1"/>
                </a:solidFill>
                <a:latin typeface="Times New Roman" pitchFamily="18" charset="0"/>
                <a:cs typeface="Times New Roman" pitchFamily="18" charset="0"/>
              </a:rPr>
              <a:t>     </a:t>
            </a:r>
            <a:r>
              <a:rPr lang="zh-CN" sz="2400" dirty="0">
                <a:solidFill>
                  <a:schemeClr val="tx1"/>
                </a:solidFill>
                <a:latin typeface="Times New Roman" pitchFamily="18" charset="0"/>
                <a:cs typeface="Times New Roman" pitchFamily="18" charset="0"/>
              </a:rPr>
              <a:t>其中</a:t>
            </a:r>
            <a:r>
              <a:rPr lang="en-US" sz="2400" i="1" dirty="0">
                <a:solidFill>
                  <a:schemeClr val="tx1"/>
                </a:solidFill>
                <a:latin typeface="Times New Roman" pitchFamily="18" charset="0"/>
                <a:cs typeface="Times New Roman" pitchFamily="18" charset="0"/>
              </a:rPr>
              <a:t>d</a:t>
            </a:r>
            <a:r>
              <a:rPr lang="en-US" sz="2400" dirty="0">
                <a:solidFill>
                  <a:schemeClr val="tx1"/>
                </a:solidFill>
                <a:latin typeface="Times New Roman" pitchFamily="18" charset="0"/>
                <a:cs typeface="Times New Roman" pitchFamily="18" charset="0"/>
              </a:rPr>
              <a:t>=</a:t>
            </a:r>
            <a:r>
              <a:rPr lang="en-US" sz="2400" i="1" dirty="0">
                <a:solidFill>
                  <a:schemeClr val="tx1"/>
                </a:solidFill>
                <a:latin typeface="Times New Roman" pitchFamily="18" charset="0"/>
                <a:cs typeface="Times New Roman" pitchFamily="18" charset="0"/>
              </a:rPr>
              <a:t> c</a:t>
            </a:r>
            <a:r>
              <a:rPr lang="en-US" sz="2400" i="1" baseline="-25000" dirty="0">
                <a:solidFill>
                  <a:schemeClr val="tx1"/>
                </a:solidFill>
                <a:latin typeface="Times New Roman" pitchFamily="18" charset="0"/>
                <a:cs typeface="Times New Roman" pitchFamily="18" charset="0"/>
              </a:rPr>
              <a:t>p</a:t>
            </a:r>
            <a:r>
              <a:rPr lang="en-US" sz="2400" dirty="0">
                <a:solidFill>
                  <a:schemeClr val="tx1"/>
                </a:solidFill>
                <a:latin typeface="Times New Roman" pitchFamily="18" charset="0"/>
                <a:cs typeface="Times New Roman" pitchFamily="18" charset="0"/>
              </a:rPr>
              <a:t>(</a:t>
            </a:r>
            <a:r>
              <a:rPr lang="en-US" sz="2400" i="1" dirty="0">
                <a:solidFill>
                  <a:schemeClr val="tx1"/>
                </a:solidFill>
                <a:latin typeface="Times New Roman" pitchFamily="18" charset="0"/>
                <a:cs typeface="Times New Roman" pitchFamily="18" charset="0"/>
              </a:rPr>
              <a:t>x</a:t>
            </a:r>
            <a:r>
              <a:rPr lang="en-US" sz="2400" baseline="-25000" dirty="0">
                <a:solidFill>
                  <a:schemeClr val="tx1"/>
                </a:solidFill>
                <a:latin typeface="Times New Roman" pitchFamily="18" charset="0"/>
                <a:cs typeface="Times New Roman" pitchFamily="18" charset="0"/>
              </a:rPr>
              <a:t>1</a:t>
            </a:r>
            <a:r>
              <a:rPr lang="en-US" sz="2400" dirty="0">
                <a:solidFill>
                  <a:schemeClr val="tx1"/>
                </a:solidFill>
                <a:latin typeface="Times New Roman" pitchFamily="18" charset="0"/>
                <a:cs typeface="Times New Roman" pitchFamily="18" charset="0"/>
              </a:rPr>
              <a:t>, </a:t>
            </a:r>
            <a:r>
              <a:rPr lang="en-US" sz="2400" i="1" dirty="0">
                <a:solidFill>
                  <a:schemeClr val="tx1"/>
                </a:solidFill>
                <a:latin typeface="Times New Roman" pitchFamily="18" charset="0"/>
                <a:cs typeface="Times New Roman" pitchFamily="18" charset="0"/>
              </a:rPr>
              <a:t>x</a:t>
            </a:r>
            <a:r>
              <a:rPr lang="en-US" sz="2400" baseline="-25000" dirty="0">
                <a:solidFill>
                  <a:schemeClr val="tx1"/>
                </a:solidFill>
                <a:latin typeface="Times New Roman" pitchFamily="18" charset="0"/>
                <a:cs typeface="Times New Roman" pitchFamily="18" charset="0"/>
              </a:rPr>
              <a:t>2</a:t>
            </a:r>
            <a:r>
              <a:rPr lang="en-US" sz="2400" dirty="0">
                <a:solidFill>
                  <a:schemeClr val="tx1"/>
                </a:solidFill>
                <a:latin typeface="Times New Roman" pitchFamily="18" charset="0"/>
                <a:cs typeface="Times New Roman" pitchFamily="18" charset="0"/>
              </a:rPr>
              <a:t>,…, </a:t>
            </a:r>
            <a:r>
              <a:rPr lang="en-US" sz="2400" i="1" dirty="0" err="1">
                <a:solidFill>
                  <a:schemeClr val="tx1"/>
                </a:solidFill>
                <a:latin typeface="Times New Roman" pitchFamily="18" charset="0"/>
                <a:cs typeface="Times New Roman" pitchFamily="18" charset="0"/>
              </a:rPr>
              <a:t>x</a:t>
            </a:r>
            <a:r>
              <a:rPr lang="en-US" sz="2400" i="1" baseline="-25000" dirty="0" err="1">
                <a:solidFill>
                  <a:schemeClr val="tx1"/>
                </a:solidFill>
                <a:latin typeface="Times New Roman" pitchFamily="18" charset="0"/>
                <a:cs typeface="Times New Roman" pitchFamily="18" charset="0"/>
              </a:rPr>
              <a:t>n</a:t>
            </a:r>
            <a:r>
              <a:rPr lang="en-US" sz="2400" dirty="0">
                <a:solidFill>
                  <a:schemeClr val="tx1"/>
                </a:solidFill>
                <a:latin typeface="Times New Roman" pitchFamily="18" charset="0"/>
                <a:cs typeface="Times New Roman" pitchFamily="18" charset="0"/>
              </a:rPr>
              <a:t>)</a:t>
            </a:r>
            <a:r>
              <a:rPr lang="zh-CN" sz="2400" dirty="0">
                <a:solidFill>
                  <a:schemeClr val="tx1"/>
                </a:solidFill>
                <a:latin typeface="Times New Roman" pitchFamily="18" charset="0"/>
                <a:cs typeface="Times New Roman" pitchFamily="18" charset="0"/>
              </a:rPr>
              <a:t>。</a:t>
            </a:r>
          </a:p>
        </p:txBody>
      </p:sp>
    </p:spTree>
  </p:cSld>
  <p:clrMapOvr>
    <a:masterClrMapping/>
  </p:clrMapOvr>
  <p:transition/>
</p:sld>
</file>

<file path=ppt/slides/slide2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15715" name="Rectangle 3"/>
          <p:cNvSpPr>
            <a:spLocks noGrp="1" noRot="1" noChangeArrowheads="1"/>
          </p:cNvSpPr>
          <p:nvPr>
            <p:ph type="body" idx="1"/>
          </p:nvPr>
        </p:nvSpPr>
        <p:spPr>
          <a:xfrm>
            <a:off x="857224" y="609600"/>
            <a:ext cx="7818464" cy="5556250"/>
          </a:xfrm>
        </p:spPr>
        <p:txBody>
          <a:bodyPr/>
          <a:lstStyle/>
          <a:p>
            <a:r>
              <a:rPr lang="en-US" altLang="zh-CN" sz="2400" dirty="0">
                <a:solidFill>
                  <a:schemeClr val="tx1"/>
                </a:solidFill>
                <a:latin typeface="+mn-lt"/>
                <a:ea typeface="+mn-ea"/>
                <a:cs typeface="+mn-cs"/>
              </a:rPr>
              <a:t>   </a:t>
            </a:r>
            <a:r>
              <a:rPr lang="zh-CN" sz="2400" dirty="0">
                <a:solidFill>
                  <a:schemeClr val="tx1"/>
                </a:solidFill>
                <a:latin typeface="+mn-lt"/>
                <a:ea typeface="+mn-ea"/>
                <a:cs typeface="+mn-cs"/>
              </a:rPr>
              <a:t>例如</a:t>
            </a:r>
          </a:p>
          <a:p>
            <a:pPr>
              <a:buNone/>
            </a:pPr>
            <a:r>
              <a:rPr lang="en-US" sz="2400" dirty="0">
                <a:solidFill>
                  <a:schemeClr val="tx1"/>
                </a:solidFill>
                <a:latin typeface="Times New Roman" pitchFamily="18" charset="0"/>
                <a:cs typeface="Times New Roman" pitchFamily="18" charset="0"/>
              </a:rPr>
              <a:t>                         white</a:t>
            </a:r>
            <a:r>
              <a:rPr lang="en-US" sz="2400" baseline="-25000" dirty="0">
                <a:solidFill>
                  <a:schemeClr val="tx1"/>
                </a:solidFill>
                <a:latin typeface="Times New Roman" pitchFamily="18" charset="0"/>
                <a:cs typeface="Times New Roman" pitchFamily="18" charset="0"/>
              </a:rPr>
              <a:t>1.0</a:t>
            </a:r>
            <a:r>
              <a:rPr lang="en-US" sz="2400" dirty="0">
                <a:solidFill>
                  <a:schemeClr val="tx1"/>
                </a:solidFill>
                <a:latin typeface="Times New Roman" pitchFamily="18" charset="0"/>
                <a:cs typeface="Times New Roman" pitchFamily="18" charset="0"/>
              </a:rPr>
              <a:t>(</a:t>
            </a:r>
            <a:r>
              <a:rPr lang="zh-CN" sz="2400" dirty="0">
                <a:solidFill>
                  <a:schemeClr val="tx1"/>
                </a:solidFill>
                <a:latin typeface="楷体" pitchFamily="49" charset="-122"/>
                <a:ea typeface="楷体" pitchFamily="49" charset="-122"/>
                <a:cs typeface="Times New Roman" pitchFamily="18" charset="0"/>
              </a:rPr>
              <a:t>雪</a:t>
            </a:r>
            <a:r>
              <a:rPr lang="en-US" sz="2400" dirty="0">
                <a:solidFill>
                  <a:schemeClr val="tx1"/>
                </a:solidFill>
                <a:latin typeface="Times New Roman" pitchFamily="18" charset="0"/>
                <a:cs typeface="Times New Roman" pitchFamily="18" charset="0"/>
              </a:rPr>
              <a:t>) </a:t>
            </a:r>
            <a:r>
              <a:rPr lang="zh-CN" sz="2400" dirty="0">
                <a:solidFill>
                  <a:schemeClr val="tx1"/>
                </a:solidFill>
                <a:latin typeface="Times New Roman" pitchFamily="18" charset="0"/>
                <a:cs typeface="Times New Roman" pitchFamily="18" charset="0"/>
              </a:rPr>
              <a:t>或</a:t>
            </a:r>
            <a:r>
              <a:rPr lang="en-US" sz="2400" dirty="0">
                <a:solidFill>
                  <a:schemeClr val="tx1"/>
                </a:solidFill>
                <a:latin typeface="Times New Roman" pitchFamily="18" charset="0"/>
                <a:cs typeface="Times New Roman" pitchFamily="18" charset="0"/>
              </a:rPr>
              <a:t>1.0white(</a:t>
            </a:r>
            <a:r>
              <a:rPr lang="zh-CN" sz="2400" dirty="0">
                <a:solidFill>
                  <a:schemeClr val="tx1"/>
                </a:solidFill>
                <a:latin typeface="楷体" pitchFamily="49" charset="-122"/>
                <a:ea typeface="楷体" pitchFamily="49" charset="-122"/>
                <a:cs typeface="Times New Roman" pitchFamily="18" charset="0"/>
              </a:rPr>
              <a:t>雪</a:t>
            </a:r>
            <a:r>
              <a:rPr lang="en-US" sz="2400" dirty="0">
                <a:solidFill>
                  <a:schemeClr val="tx1"/>
                </a:solidFill>
                <a:latin typeface="Times New Roman" pitchFamily="18" charset="0"/>
                <a:cs typeface="Times New Roman" pitchFamily="18" charset="0"/>
              </a:rPr>
              <a:t>)</a:t>
            </a:r>
            <a:endParaRPr lang="zh-CN" sz="2400" dirty="0">
              <a:solidFill>
                <a:schemeClr val="tx1"/>
              </a:solidFill>
              <a:latin typeface="Times New Roman" pitchFamily="18" charset="0"/>
              <a:cs typeface="Times New Roman" pitchFamily="18" charset="0"/>
            </a:endParaRPr>
          </a:p>
          <a:p>
            <a:pPr>
              <a:lnSpc>
                <a:spcPct val="150000"/>
              </a:lnSpc>
              <a:buNone/>
            </a:pPr>
            <a:r>
              <a:rPr lang="zh-CN" sz="2400" dirty="0">
                <a:solidFill>
                  <a:schemeClr val="tx1"/>
                </a:solidFill>
                <a:latin typeface="Times New Roman" pitchFamily="18" charset="0"/>
                <a:cs typeface="Times New Roman" pitchFamily="18" charset="0"/>
              </a:rPr>
              <a:t>就是程度化谓词，可解释为：</a:t>
            </a:r>
            <a:r>
              <a:rPr lang="zh-CN" sz="2400" dirty="0">
                <a:solidFill>
                  <a:schemeClr val="tx1"/>
                </a:solidFill>
                <a:latin typeface="楷体" pitchFamily="49" charset="-122"/>
                <a:ea typeface="楷体" pitchFamily="49" charset="-122"/>
                <a:cs typeface="Times New Roman" pitchFamily="18" charset="0"/>
              </a:rPr>
              <a:t>雪是白的</a:t>
            </a:r>
            <a:r>
              <a:rPr lang="zh-CN" sz="2400" dirty="0">
                <a:solidFill>
                  <a:schemeClr val="tx1"/>
                </a:solidFill>
                <a:latin typeface="Times New Roman" pitchFamily="18" charset="0"/>
                <a:cs typeface="Times New Roman" pitchFamily="18" charset="0"/>
              </a:rPr>
              <a:t>。</a:t>
            </a:r>
            <a:endParaRPr lang="en-US" altLang="zh-CN" sz="2400" dirty="0">
              <a:solidFill>
                <a:schemeClr val="tx1"/>
              </a:solidFill>
              <a:latin typeface="Times New Roman" pitchFamily="18" charset="0"/>
              <a:cs typeface="Times New Roman" pitchFamily="18" charset="0"/>
            </a:endParaRPr>
          </a:p>
          <a:p>
            <a:pPr>
              <a:buNone/>
            </a:pPr>
            <a:r>
              <a:rPr lang="zh-CN" sz="2400" dirty="0">
                <a:solidFill>
                  <a:schemeClr val="tx1"/>
                </a:solidFill>
                <a:latin typeface="Times New Roman" pitchFamily="18" charset="0"/>
                <a:cs typeface="Times New Roman" pitchFamily="18" charset="0"/>
              </a:rPr>
              <a:t>又如，</a:t>
            </a:r>
          </a:p>
          <a:p>
            <a:pPr>
              <a:buNone/>
            </a:pPr>
            <a:r>
              <a:rPr lang="en-US" sz="2400" dirty="0">
                <a:solidFill>
                  <a:schemeClr val="tx1"/>
                </a:solidFill>
                <a:latin typeface="Times New Roman" pitchFamily="18" charset="0"/>
                <a:cs typeface="Times New Roman" pitchFamily="18" charset="0"/>
              </a:rPr>
              <a:t>                           friends</a:t>
            </a:r>
            <a:r>
              <a:rPr lang="en-US" sz="2400" baseline="-25000" dirty="0">
                <a:solidFill>
                  <a:schemeClr val="tx1"/>
                </a:solidFill>
                <a:latin typeface="Times New Roman" pitchFamily="18" charset="0"/>
                <a:cs typeface="Times New Roman" pitchFamily="18" charset="0"/>
              </a:rPr>
              <a:t>1.15</a:t>
            </a:r>
            <a:r>
              <a:rPr lang="en-US" sz="2400" dirty="0">
                <a:solidFill>
                  <a:schemeClr val="tx1"/>
                </a:solidFill>
                <a:latin typeface="Times New Roman" pitchFamily="18" charset="0"/>
                <a:cs typeface="Times New Roman" pitchFamily="18" charset="0"/>
              </a:rPr>
              <a:t>(</a:t>
            </a:r>
            <a:r>
              <a:rPr lang="zh-CN" sz="2400" dirty="0">
                <a:solidFill>
                  <a:schemeClr val="tx1"/>
                </a:solidFill>
                <a:latin typeface="楷体" pitchFamily="49" charset="-122"/>
                <a:ea typeface="楷体" pitchFamily="49" charset="-122"/>
                <a:cs typeface="Times New Roman" pitchFamily="18" charset="0"/>
              </a:rPr>
              <a:t>张三</a:t>
            </a:r>
            <a:r>
              <a:rPr lang="zh-CN" sz="2400" dirty="0">
                <a:solidFill>
                  <a:schemeClr val="tx1"/>
                </a:solidFill>
                <a:latin typeface="Times New Roman" pitchFamily="18" charset="0"/>
                <a:cs typeface="Times New Roman" pitchFamily="18" charset="0"/>
              </a:rPr>
              <a:t>，</a:t>
            </a:r>
            <a:r>
              <a:rPr lang="zh-CN" sz="2400" dirty="0">
                <a:solidFill>
                  <a:schemeClr val="tx1"/>
                </a:solidFill>
                <a:latin typeface="楷体" pitchFamily="49" charset="-122"/>
                <a:ea typeface="楷体" pitchFamily="49" charset="-122"/>
                <a:cs typeface="Times New Roman" pitchFamily="18" charset="0"/>
              </a:rPr>
              <a:t>李四</a:t>
            </a:r>
            <a:r>
              <a:rPr lang="en-US" sz="2400" dirty="0">
                <a:solidFill>
                  <a:schemeClr val="tx1"/>
                </a:solidFill>
                <a:latin typeface="Times New Roman" pitchFamily="18" charset="0"/>
                <a:cs typeface="Times New Roman" pitchFamily="18" charset="0"/>
              </a:rPr>
              <a:t>) </a:t>
            </a:r>
          </a:p>
          <a:p>
            <a:pPr>
              <a:buNone/>
            </a:pPr>
            <a:r>
              <a:rPr lang="zh-CN" sz="2400" dirty="0">
                <a:solidFill>
                  <a:schemeClr val="tx1"/>
                </a:solidFill>
                <a:latin typeface="Times New Roman" pitchFamily="18" charset="0"/>
                <a:cs typeface="Times New Roman" pitchFamily="18" charset="0"/>
              </a:rPr>
              <a:t>或</a:t>
            </a:r>
            <a:r>
              <a:rPr lang="en-US" sz="2400" dirty="0">
                <a:solidFill>
                  <a:schemeClr val="tx1"/>
                </a:solidFill>
                <a:latin typeface="Times New Roman" pitchFamily="18" charset="0"/>
                <a:cs typeface="Times New Roman" pitchFamily="18" charset="0"/>
              </a:rPr>
              <a:t> </a:t>
            </a:r>
          </a:p>
          <a:p>
            <a:pPr>
              <a:buNone/>
            </a:pPr>
            <a:r>
              <a:rPr lang="en-US" sz="2400" dirty="0">
                <a:solidFill>
                  <a:schemeClr val="tx1"/>
                </a:solidFill>
                <a:latin typeface="Times New Roman" pitchFamily="18" charset="0"/>
                <a:cs typeface="Times New Roman" pitchFamily="18" charset="0"/>
              </a:rPr>
              <a:t>                          1.15 friends(</a:t>
            </a:r>
            <a:r>
              <a:rPr lang="zh-CN" sz="2400" dirty="0">
                <a:solidFill>
                  <a:schemeClr val="tx1"/>
                </a:solidFill>
                <a:latin typeface="楷体" pitchFamily="49" charset="-122"/>
                <a:ea typeface="楷体" pitchFamily="49" charset="-122"/>
                <a:cs typeface="Times New Roman" pitchFamily="18" charset="0"/>
              </a:rPr>
              <a:t>张三</a:t>
            </a:r>
            <a:r>
              <a:rPr lang="zh-CN" sz="2400" dirty="0">
                <a:solidFill>
                  <a:schemeClr val="tx1"/>
                </a:solidFill>
                <a:latin typeface="Times New Roman" pitchFamily="18" charset="0"/>
                <a:cs typeface="Times New Roman" pitchFamily="18" charset="0"/>
              </a:rPr>
              <a:t>，</a:t>
            </a:r>
            <a:r>
              <a:rPr lang="zh-CN" sz="2400" dirty="0">
                <a:solidFill>
                  <a:schemeClr val="tx1"/>
                </a:solidFill>
                <a:latin typeface="楷体" pitchFamily="49" charset="-122"/>
                <a:ea typeface="楷体" pitchFamily="49" charset="-122"/>
                <a:cs typeface="Times New Roman" pitchFamily="18" charset="0"/>
              </a:rPr>
              <a:t>李四</a:t>
            </a:r>
            <a:r>
              <a:rPr lang="en-US" sz="2400" dirty="0">
                <a:solidFill>
                  <a:schemeClr val="tx1"/>
                </a:solidFill>
                <a:latin typeface="Times New Roman" pitchFamily="18" charset="0"/>
                <a:cs typeface="Times New Roman" pitchFamily="18" charset="0"/>
              </a:rPr>
              <a:t>)</a:t>
            </a:r>
            <a:endParaRPr lang="zh-CN" sz="2400" dirty="0">
              <a:solidFill>
                <a:schemeClr val="tx1"/>
              </a:solidFill>
              <a:latin typeface="Times New Roman" pitchFamily="18" charset="0"/>
              <a:cs typeface="Times New Roman" pitchFamily="18" charset="0"/>
            </a:endParaRPr>
          </a:p>
          <a:p>
            <a:pPr>
              <a:lnSpc>
                <a:spcPct val="150000"/>
              </a:lnSpc>
              <a:buNone/>
            </a:pPr>
            <a:r>
              <a:rPr lang="zh-CN" sz="2400" dirty="0">
                <a:solidFill>
                  <a:schemeClr val="tx1"/>
                </a:solidFill>
                <a:latin typeface="Times New Roman" pitchFamily="18" charset="0"/>
                <a:cs typeface="Times New Roman" pitchFamily="18" charset="0"/>
              </a:rPr>
              <a:t>也是程度化谓词，可解释为：</a:t>
            </a:r>
            <a:r>
              <a:rPr lang="zh-CN" sz="2400" dirty="0">
                <a:solidFill>
                  <a:schemeClr val="tx1"/>
                </a:solidFill>
                <a:latin typeface="楷体" pitchFamily="49" charset="-122"/>
                <a:ea typeface="楷体" pitchFamily="49" charset="-122"/>
                <a:cs typeface="Times New Roman" pitchFamily="18" charset="0"/>
              </a:rPr>
              <a:t>张三和李四是好朋友</a:t>
            </a:r>
            <a:r>
              <a:rPr lang="zh-CN" sz="2400" dirty="0">
                <a:solidFill>
                  <a:schemeClr val="tx1"/>
                </a:solidFill>
                <a:latin typeface="Times New Roman" pitchFamily="18" charset="0"/>
                <a:cs typeface="Times New Roman" pitchFamily="18" charset="0"/>
              </a:rPr>
              <a:t>。</a:t>
            </a:r>
          </a:p>
          <a:p>
            <a:pPr>
              <a:buFont typeface="Wingdings" pitchFamily="2" charset="2"/>
              <a:buNone/>
            </a:pPr>
            <a:endParaRPr lang="zh-CN" altLang="en-US" sz="2800" dirty="0">
              <a:latin typeface="仿宋_GB2312" pitchFamily="49" charset="-122"/>
              <a:ea typeface="仿宋_GB2312" pitchFamily="49" charset="-122"/>
            </a:endParaRPr>
          </a:p>
        </p:txBody>
      </p:sp>
    </p:spTree>
  </p:cSld>
  <p:clrMapOvr>
    <a:masterClrMapping/>
  </p:clrMapOvr>
  <p:transition/>
</p:sld>
</file>

<file path=ppt/slides/slide2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18787" name="Rectangle 3"/>
          <p:cNvSpPr>
            <a:spLocks noGrp="1" noRot="1" noChangeArrowheads="1"/>
          </p:cNvSpPr>
          <p:nvPr>
            <p:ph type="body" idx="1"/>
          </p:nvPr>
        </p:nvSpPr>
        <p:spPr>
          <a:xfrm>
            <a:off x="357188" y="628650"/>
            <a:ext cx="8208962" cy="5832475"/>
          </a:xfrm>
        </p:spPr>
        <p:txBody>
          <a:bodyPr/>
          <a:lstStyle/>
          <a:p>
            <a:pPr algn="just">
              <a:lnSpc>
                <a:spcPct val="110000"/>
              </a:lnSpc>
              <a:buNone/>
            </a:pPr>
            <a:r>
              <a:rPr lang="en-US" altLang="zh-CN" sz="2800" dirty="0">
                <a:latin typeface="Times New Roman" pitchFamily="18" charset="0"/>
              </a:rPr>
              <a:t>    </a:t>
            </a:r>
            <a:r>
              <a:rPr lang="en-US" sz="2400" dirty="0">
                <a:solidFill>
                  <a:schemeClr val="tx1"/>
                </a:solidFill>
                <a:latin typeface="+mn-lt"/>
                <a:ea typeface="+mn-ea"/>
                <a:cs typeface="+mn-cs"/>
              </a:rPr>
              <a:t>3. </a:t>
            </a:r>
            <a:r>
              <a:rPr lang="zh-CN" sz="2400" b="1" dirty="0">
                <a:solidFill>
                  <a:schemeClr val="tx1"/>
                </a:solidFill>
                <a:latin typeface="楷体" pitchFamily="49" charset="-122"/>
                <a:ea typeface="楷体" pitchFamily="49" charset="-122"/>
              </a:rPr>
              <a:t>程度化规则</a:t>
            </a:r>
          </a:p>
          <a:p>
            <a:pPr>
              <a:lnSpc>
                <a:spcPct val="150000"/>
              </a:lnSpc>
              <a:buNone/>
            </a:pPr>
            <a:r>
              <a:rPr lang="zh-CN" altLang="en-US" sz="2400" dirty="0"/>
              <a:t>            含有程度化语言值的产生式规则称为程度化产生式规则，简称程度化规则。单条件程度化规则的一般形式为：</a:t>
            </a:r>
          </a:p>
          <a:p>
            <a:pPr>
              <a:lnSpc>
                <a:spcPct val="150000"/>
              </a:lnSpc>
              <a:buNone/>
            </a:pPr>
            <a:r>
              <a:rPr lang="en-US" sz="2400" spc="-150" dirty="0">
                <a:solidFill>
                  <a:schemeClr val="tx1"/>
                </a:solidFill>
                <a:latin typeface="+mn-lt"/>
                <a:ea typeface="+mn-ea"/>
                <a:cs typeface="+mn-cs"/>
              </a:rPr>
              <a:t>    </a:t>
            </a:r>
            <a:r>
              <a:rPr lang="en-US" sz="2300" spc="-150" dirty="0">
                <a:solidFill>
                  <a:schemeClr val="tx1"/>
                </a:solidFill>
                <a:latin typeface="方正姚体" pitchFamily="2" charset="-122"/>
                <a:ea typeface="方正姚体" pitchFamily="2" charset="-122"/>
              </a:rPr>
              <a:t>(</a:t>
            </a:r>
            <a:r>
              <a:rPr lang="en-US" sz="2300" spc="-150" dirty="0">
                <a:solidFill>
                  <a:schemeClr val="tx1"/>
                </a:solidFill>
                <a:latin typeface="方正姚体" pitchFamily="2" charset="-122"/>
                <a:ea typeface="方正姚体" pitchFamily="2" charset="-122"/>
                <a:sym typeface="Symbol"/>
              </a:rPr>
              <a:t></a:t>
            </a:r>
            <a:r>
              <a:rPr lang="zh-CN" sz="2300" spc="-150" dirty="0">
                <a:solidFill>
                  <a:schemeClr val="tx1"/>
                </a:solidFill>
                <a:latin typeface="方正姚体" pitchFamily="2" charset="-122"/>
                <a:ea typeface="方正姚体" pitchFamily="2" charset="-122"/>
              </a:rPr>
              <a:t>对象</a:t>
            </a:r>
            <a:r>
              <a:rPr lang="en-US" sz="2300" spc="-150" dirty="0">
                <a:solidFill>
                  <a:schemeClr val="tx1"/>
                </a:solidFill>
                <a:latin typeface="方正姚体" pitchFamily="2" charset="-122"/>
                <a:ea typeface="方正姚体" pitchFamily="2" charset="-122"/>
                <a:sym typeface="Symbol"/>
              </a:rPr>
              <a:t></a:t>
            </a:r>
            <a:r>
              <a:rPr lang="en-US" sz="2300" spc="-150" dirty="0">
                <a:solidFill>
                  <a:schemeClr val="tx1"/>
                </a:solidFill>
                <a:latin typeface="方正姚体" pitchFamily="2" charset="-122"/>
                <a:ea typeface="方正姚体" pitchFamily="2" charset="-122"/>
              </a:rPr>
              <a:t>, </a:t>
            </a:r>
            <a:r>
              <a:rPr lang="en-US" sz="2300" spc="-150" dirty="0">
                <a:solidFill>
                  <a:schemeClr val="tx1"/>
                </a:solidFill>
                <a:latin typeface="方正姚体" pitchFamily="2" charset="-122"/>
                <a:ea typeface="方正姚体" pitchFamily="2" charset="-122"/>
                <a:sym typeface="Symbol"/>
              </a:rPr>
              <a:t></a:t>
            </a:r>
            <a:r>
              <a:rPr lang="zh-CN" sz="2300" spc="-150" dirty="0">
                <a:solidFill>
                  <a:schemeClr val="tx1"/>
                </a:solidFill>
                <a:latin typeface="方正姚体" pitchFamily="2" charset="-122"/>
                <a:ea typeface="方正姚体" pitchFamily="2" charset="-122"/>
              </a:rPr>
              <a:t>特征</a:t>
            </a:r>
            <a:r>
              <a:rPr lang="en-US" sz="2300" spc="-150" dirty="0">
                <a:solidFill>
                  <a:schemeClr val="tx1"/>
                </a:solidFill>
                <a:latin typeface="方正姚体" pitchFamily="2" charset="-122"/>
                <a:ea typeface="方正姚体" pitchFamily="2" charset="-122"/>
                <a:sym typeface="Symbol"/>
              </a:rPr>
              <a:t></a:t>
            </a:r>
            <a:r>
              <a:rPr lang="en-US" sz="2300" spc="-150" dirty="0">
                <a:solidFill>
                  <a:schemeClr val="tx1"/>
                </a:solidFill>
                <a:latin typeface="方正姚体" pitchFamily="2" charset="-122"/>
                <a:ea typeface="方正姚体" pitchFamily="2" charset="-122"/>
              </a:rPr>
              <a:t>, (</a:t>
            </a:r>
            <a:r>
              <a:rPr lang="en-US" sz="2300" spc="-150" dirty="0">
                <a:solidFill>
                  <a:schemeClr val="tx1"/>
                </a:solidFill>
                <a:latin typeface="方正姚体" pitchFamily="2" charset="-122"/>
                <a:ea typeface="方正姚体" pitchFamily="2" charset="-122"/>
                <a:sym typeface="Symbol"/>
              </a:rPr>
              <a:t></a:t>
            </a:r>
            <a:r>
              <a:rPr lang="zh-CN" sz="2300" spc="-150" dirty="0">
                <a:solidFill>
                  <a:schemeClr val="tx1"/>
                </a:solidFill>
                <a:latin typeface="方正姚体" pitchFamily="2" charset="-122"/>
                <a:ea typeface="方正姚体" pitchFamily="2" charset="-122"/>
              </a:rPr>
              <a:t>语言值</a:t>
            </a:r>
            <a:r>
              <a:rPr lang="en-US" sz="2300" spc="-150" dirty="0">
                <a:solidFill>
                  <a:schemeClr val="tx1"/>
                </a:solidFill>
                <a:latin typeface="方正姚体" pitchFamily="2" charset="-122"/>
                <a:ea typeface="方正姚体" pitchFamily="2" charset="-122"/>
                <a:sym typeface="Symbol"/>
              </a:rPr>
              <a:t></a:t>
            </a:r>
            <a:r>
              <a:rPr lang="en-US" sz="2300" spc="-150" dirty="0">
                <a:solidFill>
                  <a:schemeClr val="tx1"/>
                </a:solidFill>
                <a:latin typeface="方正姚体" pitchFamily="2" charset="-122"/>
                <a:ea typeface="方正姚体" pitchFamily="2" charset="-122"/>
              </a:rPr>
              <a:t>, </a:t>
            </a:r>
            <a:r>
              <a:rPr lang="en-US" sz="2300" spc="-150" dirty="0">
                <a:solidFill>
                  <a:schemeClr val="tx1"/>
                </a:solidFill>
                <a:latin typeface="方正姚体" pitchFamily="2" charset="-122"/>
                <a:ea typeface="方正姚体" pitchFamily="2" charset="-122"/>
                <a:sym typeface="Symbol"/>
              </a:rPr>
              <a:t></a:t>
            </a:r>
            <a:r>
              <a:rPr lang="zh-CN" sz="2300" spc="-150" dirty="0">
                <a:solidFill>
                  <a:schemeClr val="tx1"/>
                </a:solidFill>
                <a:latin typeface="方正姚体" pitchFamily="2" charset="-122"/>
                <a:ea typeface="方正姚体" pitchFamily="2" charset="-122"/>
              </a:rPr>
              <a:t>程度</a:t>
            </a:r>
            <a:r>
              <a:rPr lang="en-US" sz="2300" spc="-150" dirty="0">
                <a:solidFill>
                  <a:schemeClr val="tx1"/>
                </a:solidFill>
                <a:latin typeface="方正姚体" pitchFamily="2" charset="-122"/>
                <a:ea typeface="方正姚体" pitchFamily="2" charset="-122"/>
                <a:sym typeface="Symbol"/>
              </a:rPr>
              <a:t></a:t>
            </a:r>
            <a:r>
              <a:rPr lang="en-US" sz="2300" spc="-150" dirty="0">
                <a:solidFill>
                  <a:schemeClr val="tx1"/>
                </a:solidFill>
                <a:latin typeface="方正姚体" pitchFamily="2" charset="-122"/>
                <a:ea typeface="方正姚体" pitchFamily="2" charset="-122"/>
              </a:rPr>
              <a:t>))</a:t>
            </a:r>
            <a:r>
              <a:rPr lang="zh-CN" sz="2300" spc="-150" dirty="0">
                <a:solidFill>
                  <a:schemeClr val="tx1"/>
                </a:solidFill>
                <a:latin typeface="方正姚体" pitchFamily="2" charset="-122"/>
                <a:ea typeface="方正姚体" pitchFamily="2" charset="-122"/>
              </a:rPr>
              <a:t>→</a:t>
            </a:r>
            <a:r>
              <a:rPr lang="en-US" sz="2300" spc="-150" dirty="0">
                <a:solidFill>
                  <a:schemeClr val="tx1"/>
                </a:solidFill>
                <a:latin typeface="方正姚体" pitchFamily="2" charset="-122"/>
                <a:ea typeface="方正姚体" pitchFamily="2" charset="-122"/>
              </a:rPr>
              <a:t>(</a:t>
            </a:r>
            <a:r>
              <a:rPr lang="en-US" sz="2300" spc="-150" dirty="0">
                <a:solidFill>
                  <a:schemeClr val="tx1"/>
                </a:solidFill>
                <a:latin typeface="方正姚体" pitchFamily="2" charset="-122"/>
                <a:ea typeface="方正姚体" pitchFamily="2" charset="-122"/>
                <a:sym typeface="Symbol"/>
              </a:rPr>
              <a:t></a:t>
            </a:r>
            <a:r>
              <a:rPr lang="zh-CN" sz="2300" spc="-150" dirty="0">
                <a:solidFill>
                  <a:schemeClr val="tx1"/>
                </a:solidFill>
                <a:latin typeface="方正姚体" pitchFamily="2" charset="-122"/>
                <a:ea typeface="方正姚体" pitchFamily="2" charset="-122"/>
              </a:rPr>
              <a:t>对象</a:t>
            </a:r>
            <a:r>
              <a:rPr lang="en-US" sz="2300" spc="-150" dirty="0">
                <a:solidFill>
                  <a:schemeClr val="tx1"/>
                </a:solidFill>
                <a:latin typeface="方正姚体" pitchFamily="2" charset="-122"/>
                <a:ea typeface="方正姚体" pitchFamily="2" charset="-122"/>
                <a:sym typeface="Symbol"/>
              </a:rPr>
              <a:t></a:t>
            </a:r>
            <a:r>
              <a:rPr lang="en-US" sz="2300" spc="-150" dirty="0">
                <a:solidFill>
                  <a:schemeClr val="tx1"/>
                </a:solidFill>
                <a:latin typeface="方正姚体" pitchFamily="2" charset="-122"/>
                <a:ea typeface="方正姚体" pitchFamily="2" charset="-122"/>
              </a:rPr>
              <a:t>, </a:t>
            </a:r>
            <a:r>
              <a:rPr lang="en-US" sz="2300" spc="-150" dirty="0">
                <a:solidFill>
                  <a:schemeClr val="tx1"/>
                </a:solidFill>
                <a:latin typeface="方正姚体" pitchFamily="2" charset="-122"/>
                <a:ea typeface="方正姚体" pitchFamily="2" charset="-122"/>
                <a:sym typeface="Symbol"/>
              </a:rPr>
              <a:t></a:t>
            </a:r>
            <a:r>
              <a:rPr lang="zh-CN" sz="2300" spc="-150" dirty="0">
                <a:solidFill>
                  <a:schemeClr val="tx1"/>
                </a:solidFill>
                <a:latin typeface="方正姚体" pitchFamily="2" charset="-122"/>
                <a:ea typeface="方正姚体" pitchFamily="2" charset="-122"/>
              </a:rPr>
              <a:t>特征</a:t>
            </a:r>
            <a:r>
              <a:rPr lang="en-US" sz="2300" spc="-150" dirty="0">
                <a:solidFill>
                  <a:schemeClr val="tx1"/>
                </a:solidFill>
                <a:latin typeface="方正姚体" pitchFamily="2" charset="-122"/>
                <a:ea typeface="方正姚体" pitchFamily="2" charset="-122"/>
                <a:sym typeface="Symbol"/>
              </a:rPr>
              <a:t></a:t>
            </a:r>
            <a:r>
              <a:rPr lang="en-US" sz="2300" spc="-150" dirty="0">
                <a:solidFill>
                  <a:schemeClr val="tx1"/>
                </a:solidFill>
                <a:latin typeface="方正姚体" pitchFamily="2" charset="-122"/>
                <a:ea typeface="方正姚体" pitchFamily="2" charset="-122"/>
              </a:rPr>
              <a:t>, (</a:t>
            </a:r>
            <a:r>
              <a:rPr lang="en-US" sz="2300" spc="-150" dirty="0">
                <a:solidFill>
                  <a:schemeClr val="tx1"/>
                </a:solidFill>
                <a:latin typeface="方正姚体" pitchFamily="2" charset="-122"/>
                <a:ea typeface="方正姚体" pitchFamily="2" charset="-122"/>
                <a:sym typeface="Symbol"/>
              </a:rPr>
              <a:t></a:t>
            </a:r>
            <a:r>
              <a:rPr lang="zh-CN" sz="2300" spc="-150" dirty="0">
                <a:solidFill>
                  <a:schemeClr val="tx1"/>
                </a:solidFill>
                <a:latin typeface="方正姚体" pitchFamily="2" charset="-122"/>
                <a:ea typeface="方正姚体" pitchFamily="2" charset="-122"/>
              </a:rPr>
              <a:t>语言值</a:t>
            </a:r>
            <a:r>
              <a:rPr lang="en-US" sz="2300" spc="-150" dirty="0">
                <a:solidFill>
                  <a:schemeClr val="tx1"/>
                </a:solidFill>
                <a:latin typeface="方正姚体" pitchFamily="2" charset="-122"/>
                <a:ea typeface="方正姚体" pitchFamily="2" charset="-122"/>
                <a:sym typeface="Symbol"/>
              </a:rPr>
              <a:t></a:t>
            </a:r>
            <a:r>
              <a:rPr lang="en-US" sz="2300" spc="-150" dirty="0">
                <a:solidFill>
                  <a:schemeClr val="tx1"/>
                </a:solidFill>
                <a:latin typeface="方正姚体" pitchFamily="2" charset="-122"/>
                <a:ea typeface="方正姚体" pitchFamily="2" charset="-122"/>
              </a:rPr>
              <a:t>, </a:t>
            </a:r>
            <a:r>
              <a:rPr lang="en-US" sz="2300" spc="-150" dirty="0">
                <a:solidFill>
                  <a:schemeClr val="tx1"/>
                </a:solidFill>
                <a:latin typeface="方正姚体" pitchFamily="2" charset="-122"/>
                <a:ea typeface="方正姚体" pitchFamily="2" charset="-122"/>
                <a:sym typeface="Symbol"/>
              </a:rPr>
              <a:t></a:t>
            </a:r>
            <a:r>
              <a:rPr lang="zh-CN" sz="2300" spc="-150" dirty="0">
                <a:solidFill>
                  <a:schemeClr val="tx1"/>
                </a:solidFill>
                <a:latin typeface="方正姚体" pitchFamily="2" charset="-122"/>
                <a:ea typeface="方正姚体" pitchFamily="2" charset="-122"/>
              </a:rPr>
              <a:t>程度</a:t>
            </a:r>
            <a:r>
              <a:rPr lang="en-US" sz="2300" spc="-150" dirty="0">
                <a:solidFill>
                  <a:schemeClr val="tx1"/>
                </a:solidFill>
                <a:latin typeface="方正姚体" pitchFamily="2" charset="-122"/>
                <a:ea typeface="方正姚体" pitchFamily="2" charset="-122"/>
                <a:sym typeface="Symbol"/>
              </a:rPr>
              <a:t></a:t>
            </a:r>
            <a:r>
              <a:rPr lang="en-US" sz="2300" spc="-150" dirty="0">
                <a:solidFill>
                  <a:schemeClr val="tx1"/>
                </a:solidFill>
                <a:latin typeface="方正姚体" pitchFamily="2" charset="-122"/>
                <a:ea typeface="方正姚体" pitchFamily="2" charset="-122"/>
              </a:rPr>
              <a:t>)) </a:t>
            </a:r>
            <a:endParaRPr lang="zh-CN" sz="2300" spc="-150" dirty="0">
              <a:solidFill>
                <a:schemeClr val="tx1"/>
              </a:solidFill>
              <a:latin typeface="方正姚体" pitchFamily="2" charset="-122"/>
              <a:ea typeface="方正姚体" pitchFamily="2" charset="-122"/>
            </a:endParaRPr>
          </a:p>
          <a:p>
            <a:pPr>
              <a:buNone/>
            </a:pPr>
            <a:r>
              <a:rPr lang="en-US" altLang="zh-CN" sz="2400" dirty="0">
                <a:solidFill>
                  <a:schemeClr val="tx1"/>
                </a:solidFill>
                <a:latin typeface="+mn-lt"/>
                <a:ea typeface="+mn-ea"/>
                <a:cs typeface="+mn-cs"/>
              </a:rPr>
              <a:t>   </a:t>
            </a:r>
            <a:r>
              <a:rPr lang="zh-CN" sz="2400" dirty="0">
                <a:solidFill>
                  <a:schemeClr val="tx1"/>
                </a:solidFill>
                <a:latin typeface="+mn-lt"/>
                <a:ea typeface="+mn-ea"/>
                <a:cs typeface="+mn-cs"/>
              </a:rPr>
              <a:t>或者</a:t>
            </a:r>
          </a:p>
          <a:p>
            <a:pPr>
              <a:lnSpc>
                <a:spcPct val="150000"/>
              </a:lnSpc>
              <a:spcBef>
                <a:spcPts val="0"/>
              </a:spcBef>
              <a:buNone/>
            </a:pPr>
            <a:r>
              <a:rPr lang="en-US" sz="2400" dirty="0">
                <a:solidFill>
                  <a:schemeClr val="tx1"/>
                </a:solidFill>
                <a:latin typeface="Times New Roman" pitchFamily="18" charset="0"/>
                <a:cs typeface="Times New Roman" pitchFamily="18" charset="0"/>
              </a:rPr>
              <a:t>                                       (</a:t>
            </a:r>
            <a:r>
              <a:rPr lang="en-US" sz="2400" i="1" dirty="0">
                <a:solidFill>
                  <a:schemeClr val="tx1"/>
                </a:solidFill>
                <a:latin typeface="Times New Roman" pitchFamily="18" charset="0"/>
                <a:cs typeface="Times New Roman" pitchFamily="18" charset="0"/>
              </a:rPr>
              <a:t>A</a:t>
            </a:r>
            <a:r>
              <a:rPr lang="en-US" sz="2400" dirty="0">
                <a:solidFill>
                  <a:schemeClr val="tx1"/>
                </a:solidFill>
                <a:latin typeface="Times New Roman" pitchFamily="18" charset="0"/>
                <a:cs typeface="Times New Roman" pitchFamily="18" charset="0"/>
              </a:rPr>
              <a:t>, </a:t>
            </a:r>
            <a:r>
              <a:rPr lang="en-US" sz="2400" i="1" dirty="0">
                <a:solidFill>
                  <a:schemeClr val="tx1"/>
                </a:solidFill>
                <a:latin typeface="Times New Roman" pitchFamily="18" charset="0"/>
                <a:cs typeface="Times New Roman" pitchFamily="18" charset="0"/>
              </a:rPr>
              <a:t>d</a:t>
            </a:r>
            <a:r>
              <a:rPr lang="en-US" sz="2400" dirty="0">
                <a:solidFill>
                  <a:schemeClr val="tx1"/>
                </a:solidFill>
                <a:latin typeface="Times New Roman" pitchFamily="18" charset="0"/>
                <a:cs typeface="Times New Roman" pitchFamily="18" charset="0"/>
              </a:rPr>
              <a:t>)</a:t>
            </a:r>
            <a:r>
              <a:rPr lang="en-US" sz="2400" dirty="0">
                <a:solidFill>
                  <a:schemeClr val="tx1"/>
                </a:solidFill>
                <a:latin typeface="Times New Roman" pitchFamily="18" charset="0"/>
                <a:cs typeface="Times New Roman" pitchFamily="18" charset="0"/>
                <a:sym typeface="Symbol"/>
              </a:rPr>
              <a:t></a:t>
            </a:r>
            <a:r>
              <a:rPr lang="en-US" sz="2400" dirty="0">
                <a:solidFill>
                  <a:schemeClr val="tx1"/>
                </a:solidFill>
                <a:latin typeface="Times New Roman" pitchFamily="18" charset="0"/>
                <a:cs typeface="Times New Roman" pitchFamily="18" charset="0"/>
              </a:rPr>
              <a:t> (</a:t>
            </a:r>
            <a:r>
              <a:rPr lang="en-US" sz="2400" i="1" dirty="0">
                <a:solidFill>
                  <a:schemeClr val="tx1"/>
                </a:solidFill>
                <a:latin typeface="Times New Roman" pitchFamily="18" charset="0"/>
                <a:cs typeface="Times New Roman" pitchFamily="18" charset="0"/>
              </a:rPr>
              <a:t>B</a:t>
            </a:r>
            <a:r>
              <a:rPr lang="en-US" sz="2400" dirty="0">
                <a:solidFill>
                  <a:schemeClr val="tx1"/>
                </a:solidFill>
                <a:latin typeface="Times New Roman" pitchFamily="18" charset="0"/>
                <a:cs typeface="Times New Roman" pitchFamily="18" charset="0"/>
              </a:rPr>
              <a:t>,</a:t>
            </a:r>
            <a:r>
              <a:rPr lang="en-US" sz="2400" i="1" dirty="0">
                <a:solidFill>
                  <a:schemeClr val="tx1"/>
                </a:solidFill>
                <a:latin typeface="Times New Roman" pitchFamily="18" charset="0"/>
                <a:cs typeface="Times New Roman" pitchFamily="18" charset="0"/>
              </a:rPr>
              <a:t> f</a:t>
            </a:r>
            <a:r>
              <a:rPr lang="en-US" sz="2400" dirty="0">
                <a:solidFill>
                  <a:schemeClr val="tx1"/>
                </a:solidFill>
                <a:latin typeface="Times New Roman" pitchFamily="18" charset="0"/>
                <a:cs typeface="Times New Roman" pitchFamily="18" charset="0"/>
              </a:rPr>
              <a:t>(</a:t>
            </a:r>
            <a:r>
              <a:rPr lang="en-US" sz="2400" i="1" dirty="0">
                <a:solidFill>
                  <a:schemeClr val="tx1"/>
                </a:solidFill>
                <a:latin typeface="Times New Roman" pitchFamily="18" charset="0"/>
                <a:cs typeface="Times New Roman" pitchFamily="18" charset="0"/>
              </a:rPr>
              <a:t>d</a:t>
            </a:r>
            <a:r>
              <a:rPr lang="en-US" sz="2400" dirty="0">
                <a:solidFill>
                  <a:schemeClr val="tx1"/>
                </a:solidFill>
                <a:latin typeface="Times New Roman" pitchFamily="18" charset="0"/>
                <a:cs typeface="Times New Roman" pitchFamily="18" charset="0"/>
              </a:rPr>
              <a:t>) ) </a:t>
            </a:r>
          </a:p>
          <a:p>
            <a:pPr>
              <a:lnSpc>
                <a:spcPct val="150000"/>
              </a:lnSpc>
              <a:buNone/>
            </a:pPr>
            <a:r>
              <a:rPr lang="en-US" altLang="zh-CN" sz="2400" dirty="0">
                <a:solidFill>
                  <a:schemeClr val="tx1"/>
                </a:solidFill>
                <a:latin typeface="Times New Roman" pitchFamily="18" charset="0"/>
                <a:cs typeface="Times New Roman" pitchFamily="18" charset="0"/>
              </a:rPr>
              <a:t>    </a:t>
            </a:r>
            <a:r>
              <a:rPr lang="zh-CN" sz="2400" dirty="0">
                <a:solidFill>
                  <a:schemeClr val="tx1"/>
                </a:solidFill>
                <a:latin typeface="Times New Roman" pitchFamily="18" charset="0"/>
                <a:cs typeface="Times New Roman" pitchFamily="18" charset="0"/>
              </a:rPr>
              <a:t>其中，</a:t>
            </a:r>
            <a:r>
              <a:rPr lang="en-US" sz="2400" i="1" dirty="0">
                <a:solidFill>
                  <a:schemeClr val="tx1"/>
                </a:solidFill>
                <a:latin typeface="Times New Roman" pitchFamily="18" charset="0"/>
                <a:cs typeface="Times New Roman" pitchFamily="18" charset="0"/>
              </a:rPr>
              <a:t>d </a:t>
            </a:r>
            <a:r>
              <a:rPr lang="en-US" sz="2400" dirty="0">
                <a:solidFill>
                  <a:schemeClr val="tx1"/>
                </a:solidFill>
                <a:latin typeface="Times New Roman" pitchFamily="18" charset="0"/>
                <a:cs typeface="Times New Roman" pitchFamily="18" charset="0"/>
              </a:rPr>
              <a:t>=</a:t>
            </a:r>
            <a:r>
              <a:rPr lang="en-US" sz="2400" i="1" dirty="0" err="1">
                <a:solidFill>
                  <a:schemeClr val="tx1"/>
                </a:solidFill>
                <a:latin typeface="Times New Roman" pitchFamily="18" charset="0"/>
                <a:cs typeface="Times New Roman" pitchFamily="18" charset="0"/>
              </a:rPr>
              <a:t>c</a:t>
            </a:r>
            <a:r>
              <a:rPr lang="en-US" sz="2400" b="1" i="1" baseline="-25000" dirty="0" err="1">
                <a:solidFill>
                  <a:schemeClr val="tx1"/>
                </a:solidFill>
                <a:latin typeface="Times New Roman" pitchFamily="18" charset="0"/>
                <a:cs typeface="Times New Roman" pitchFamily="18" charset="0"/>
              </a:rPr>
              <a:t>A</a:t>
            </a:r>
            <a:r>
              <a:rPr lang="en-US" sz="2400" dirty="0">
                <a:solidFill>
                  <a:schemeClr val="tx1"/>
                </a:solidFill>
                <a:latin typeface="Times New Roman" pitchFamily="18" charset="0"/>
                <a:cs typeface="Times New Roman" pitchFamily="18" charset="0"/>
              </a:rPr>
              <a:t>(</a:t>
            </a:r>
            <a:r>
              <a:rPr lang="en-US" sz="2400" i="1" dirty="0">
                <a:solidFill>
                  <a:schemeClr val="tx1"/>
                </a:solidFill>
                <a:latin typeface="Times New Roman" pitchFamily="18" charset="0"/>
                <a:cs typeface="Times New Roman" pitchFamily="18" charset="0"/>
              </a:rPr>
              <a:t>x</a:t>
            </a:r>
            <a:r>
              <a:rPr lang="en-US" sz="2400" dirty="0">
                <a:solidFill>
                  <a:schemeClr val="tx1"/>
                </a:solidFill>
                <a:latin typeface="Times New Roman" pitchFamily="18" charset="0"/>
                <a:cs typeface="Times New Roman" pitchFamily="18" charset="0"/>
              </a:rPr>
              <a:t>)</a:t>
            </a:r>
            <a:r>
              <a:rPr lang="zh-CN" sz="2400" dirty="0">
                <a:solidFill>
                  <a:schemeClr val="tx1"/>
                </a:solidFill>
                <a:latin typeface="Times New Roman" pitchFamily="18" charset="0"/>
                <a:cs typeface="Times New Roman" pitchFamily="18" charset="0"/>
              </a:rPr>
              <a:t>是规则前件语言值</a:t>
            </a:r>
            <a:r>
              <a:rPr lang="en-US" sz="2400" i="1" dirty="0">
                <a:solidFill>
                  <a:schemeClr val="tx1"/>
                </a:solidFill>
                <a:latin typeface="Times New Roman" pitchFamily="18" charset="0"/>
                <a:cs typeface="Times New Roman" pitchFamily="18" charset="0"/>
              </a:rPr>
              <a:t>A</a:t>
            </a:r>
            <a:r>
              <a:rPr lang="zh-CN" sz="2400" dirty="0">
                <a:solidFill>
                  <a:schemeClr val="tx1"/>
                </a:solidFill>
                <a:latin typeface="Times New Roman" pitchFamily="18" charset="0"/>
                <a:cs typeface="Times New Roman" pitchFamily="18" charset="0"/>
              </a:rPr>
              <a:t>的程度，函数值</a:t>
            </a:r>
            <a:r>
              <a:rPr lang="en-US" sz="2400" i="1" dirty="0">
                <a:solidFill>
                  <a:schemeClr val="tx1"/>
                </a:solidFill>
                <a:latin typeface="Times New Roman" pitchFamily="18" charset="0"/>
                <a:cs typeface="Times New Roman" pitchFamily="18" charset="0"/>
              </a:rPr>
              <a:t>f</a:t>
            </a:r>
            <a:r>
              <a:rPr lang="en-US" sz="2400" dirty="0">
                <a:solidFill>
                  <a:schemeClr val="tx1"/>
                </a:solidFill>
                <a:latin typeface="Times New Roman" pitchFamily="18" charset="0"/>
                <a:cs typeface="Times New Roman" pitchFamily="18" charset="0"/>
              </a:rPr>
              <a:t>(</a:t>
            </a:r>
            <a:r>
              <a:rPr lang="en-US" sz="2400" i="1" dirty="0">
                <a:solidFill>
                  <a:schemeClr val="tx1"/>
                </a:solidFill>
                <a:latin typeface="Times New Roman" pitchFamily="18" charset="0"/>
                <a:cs typeface="Times New Roman" pitchFamily="18" charset="0"/>
              </a:rPr>
              <a:t>d</a:t>
            </a:r>
            <a:r>
              <a:rPr lang="en-US" sz="2400" dirty="0">
                <a:solidFill>
                  <a:schemeClr val="tx1"/>
                </a:solidFill>
                <a:latin typeface="Times New Roman" pitchFamily="18" charset="0"/>
                <a:cs typeface="Times New Roman" pitchFamily="18" charset="0"/>
              </a:rPr>
              <a:t>)</a:t>
            </a:r>
            <a:r>
              <a:rPr lang="zh-CN" sz="2400" dirty="0">
                <a:solidFill>
                  <a:schemeClr val="tx1"/>
                </a:solidFill>
                <a:latin typeface="Times New Roman" pitchFamily="18" charset="0"/>
                <a:cs typeface="Times New Roman" pitchFamily="18" charset="0"/>
              </a:rPr>
              <a:t>是规则后件语言值</a:t>
            </a:r>
            <a:r>
              <a:rPr lang="en-US" sz="2400" i="1" dirty="0">
                <a:solidFill>
                  <a:schemeClr val="tx1"/>
                </a:solidFill>
                <a:latin typeface="Times New Roman" pitchFamily="18" charset="0"/>
                <a:cs typeface="Times New Roman" pitchFamily="18" charset="0"/>
              </a:rPr>
              <a:t>B</a:t>
            </a:r>
            <a:r>
              <a:rPr lang="zh-CN" sz="2400" dirty="0">
                <a:solidFill>
                  <a:schemeClr val="tx1"/>
                </a:solidFill>
                <a:latin typeface="Times New Roman" pitchFamily="18" charset="0"/>
                <a:cs typeface="Times New Roman" pitchFamily="18" charset="0"/>
              </a:rPr>
              <a:t>的程度，</a:t>
            </a:r>
            <a:r>
              <a:rPr lang="en-US" sz="2400" i="1" dirty="0">
                <a:solidFill>
                  <a:schemeClr val="tx1"/>
                </a:solidFill>
                <a:latin typeface="Times New Roman" pitchFamily="18" charset="0"/>
                <a:cs typeface="Times New Roman" pitchFamily="18" charset="0"/>
              </a:rPr>
              <a:t>f</a:t>
            </a:r>
            <a:r>
              <a:rPr lang="en-US" sz="2400" dirty="0">
                <a:solidFill>
                  <a:schemeClr val="tx1"/>
                </a:solidFill>
                <a:latin typeface="Times New Roman" pitchFamily="18" charset="0"/>
                <a:cs typeface="Times New Roman" pitchFamily="18" charset="0"/>
              </a:rPr>
              <a:t>(</a:t>
            </a:r>
            <a:r>
              <a:rPr lang="en-US" sz="2400" i="1" dirty="0">
                <a:solidFill>
                  <a:schemeClr val="tx1"/>
                </a:solidFill>
                <a:latin typeface="Times New Roman" pitchFamily="18" charset="0"/>
                <a:cs typeface="Times New Roman" pitchFamily="18" charset="0"/>
              </a:rPr>
              <a:t>d</a:t>
            </a:r>
            <a:r>
              <a:rPr lang="en-US" sz="2400" dirty="0">
                <a:solidFill>
                  <a:schemeClr val="tx1"/>
                </a:solidFill>
                <a:latin typeface="Times New Roman" pitchFamily="18" charset="0"/>
                <a:cs typeface="Times New Roman" pitchFamily="18" charset="0"/>
              </a:rPr>
              <a:t>)</a:t>
            </a:r>
            <a:r>
              <a:rPr lang="zh-CN" sz="2400" dirty="0">
                <a:solidFill>
                  <a:schemeClr val="tx1"/>
                </a:solidFill>
                <a:latin typeface="Times New Roman" pitchFamily="18" charset="0"/>
                <a:cs typeface="Times New Roman" pitchFamily="18" charset="0"/>
              </a:rPr>
              <a:t>为原规则</a:t>
            </a:r>
            <a:r>
              <a:rPr lang="en-US" sz="2400" i="1" dirty="0">
                <a:solidFill>
                  <a:schemeClr val="tx1"/>
                </a:solidFill>
                <a:latin typeface="Times New Roman" pitchFamily="18" charset="0"/>
                <a:cs typeface="Times New Roman" pitchFamily="18" charset="0"/>
              </a:rPr>
              <a:t>A</a:t>
            </a:r>
            <a:r>
              <a:rPr lang="en-US" sz="2400" dirty="0">
                <a:solidFill>
                  <a:schemeClr val="tx1"/>
                </a:solidFill>
                <a:latin typeface="Times New Roman" pitchFamily="18" charset="0"/>
                <a:cs typeface="Times New Roman" pitchFamily="18" charset="0"/>
              </a:rPr>
              <a:t>(</a:t>
            </a:r>
            <a:r>
              <a:rPr lang="en-US" sz="2400" i="1" dirty="0">
                <a:solidFill>
                  <a:schemeClr val="tx1"/>
                </a:solidFill>
                <a:latin typeface="Times New Roman" pitchFamily="18" charset="0"/>
                <a:cs typeface="Times New Roman" pitchFamily="18" charset="0"/>
              </a:rPr>
              <a:t>x</a:t>
            </a:r>
            <a:r>
              <a:rPr lang="en-US" sz="2400" dirty="0">
                <a:solidFill>
                  <a:schemeClr val="tx1"/>
                </a:solidFill>
                <a:latin typeface="Times New Roman" pitchFamily="18" charset="0"/>
                <a:cs typeface="Times New Roman" pitchFamily="18" charset="0"/>
              </a:rPr>
              <a:t>)</a:t>
            </a:r>
            <a:r>
              <a:rPr lang="zh-CN" sz="2400" dirty="0">
                <a:solidFill>
                  <a:schemeClr val="tx1"/>
                </a:solidFill>
                <a:latin typeface="Times New Roman" pitchFamily="18" charset="0"/>
                <a:cs typeface="Times New Roman" pitchFamily="18" charset="0"/>
              </a:rPr>
              <a:t>→</a:t>
            </a:r>
            <a:r>
              <a:rPr lang="en-US" sz="2400" i="1" dirty="0">
                <a:solidFill>
                  <a:schemeClr val="tx1"/>
                </a:solidFill>
                <a:latin typeface="Times New Roman" pitchFamily="18" charset="0"/>
                <a:cs typeface="Times New Roman" pitchFamily="18" charset="0"/>
              </a:rPr>
              <a:t>B</a:t>
            </a:r>
            <a:r>
              <a:rPr lang="en-US" sz="2400" dirty="0">
                <a:solidFill>
                  <a:schemeClr val="tx1"/>
                </a:solidFill>
                <a:latin typeface="Times New Roman" pitchFamily="18" charset="0"/>
                <a:cs typeface="Times New Roman" pitchFamily="18" charset="0"/>
              </a:rPr>
              <a:t>(</a:t>
            </a:r>
            <a:r>
              <a:rPr lang="en-US" sz="2400" i="1" dirty="0">
                <a:solidFill>
                  <a:schemeClr val="tx1"/>
                </a:solidFill>
                <a:latin typeface="Times New Roman" pitchFamily="18" charset="0"/>
                <a:cs typeface="Times New Roman" pitchFamily="18" charset="0"/>
              </a:rPr>
              <a:t>y</a:t>
            </a:r>
            <a:r>
              <a:rPr lang="en-US" sz="2400" dirty="0">
                <a:solidFill>
                  <a:schemeClr val="tx1"/>
                </a:solidFill>
                <a:latin typeface="Times New Roman" pitchFamily="18" charset="0"/>
                <a:cs typeface="Times New Roman" pitchFamily="18" charset="0"/>
              </a:rPr>
              <a:t>)</a:t>
            </a:r>
            <a:r>
              <a:rPr lang="zh-CN" sz="2400" dirty="0">
                <a:solidFill>
                  <a:schemeClr val="tx1"/>
                </a:solidFill>
                <a:latin typeface="+mn-lt"/>
                <a:ea typeface="+mn-ea"/>
                <a:cs typeface="+mn-cs"/>
              </a:rPr>
              <a:t>的伴随程度函数</a:t>
            </a:r>
            <a:r>
              <a:rPr lang="zh-CN" altLang="en-US" sz="2400" dirty="0">
                <a:solidFill>
                  <a:schemeClr val="tx1"/>
                </a:solidFill>
                <a:latin typeface="+mn-lt"/>
                <a:ea typeface="+mn-ea"/>
                <a:cs typeface="+mn-cs"/>
              </a:rPr>
              <a:t>。</a:t>
            </a:r>
            <a:endParaRPr lang="en-US" altLang="zh-CN" sz="2400" dirty="0">
              <a:solidFill>
                <a:schemeClr val="tx1"/>
              </a:solidFill>
              <a:latin typeface="+mn-lt"/>
              <a:ea typeface="+mn-ea"/>
              <a:cs typeface="+mn-cs"/>
            </a:endParaRPr>
          </a:p>
          <a:p>
            <a:pPr>
              <a:buNone/>
            </a:pPr>
            <a:endParaRPr lang="zh-CN" altLang="en-US" sz="2400" dirty="0">
              <a:latin typeface="Times New Roman" pitchFamily="18" charset="0"/>
            </a:endParaRPr>
          </a:p>
        </p:txBody>
      </p:sp>
    </p:spTree>
  </p:cSld>
  <p:clrMapOvr>
    <a:masterClrMapping/>
  </p:clrMapOvr>
  <p:transition/>
</p:sld>
</file>

<file path=ppt/slides/slide2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19811" name="Rectangle 3"/>
          <p:cNvSpPr>
            <a:spLocks noGrp="1" noRot="1" noChangeArrowheads="1"/>
          </p:cNvSpPr>
          <p:nvPr>
            <p:ph type="body" idx="1"/>
          </p:nvPr>
        </p:nvSpPr>
        <p:spPr>
          <a:xfrm>
            <a:off x="658785" y="692150"/>
            <a:ext cx="8107389" cy="5737246"/>
          </a:xfrm>
        </p:spPr>
        <p:txBody>
          <a:bodyPr/>
          <a:lstStyle/>
          <a:p>
            <a:pPr>
              <a:buNone/>
            </a:pPr>
            <a:r>
              <a:rPr lang="en-US" altLang="zh-CN" sz="2400" dirty="0">
                <a:solidFill>
                  <a:schemeClr val="tx1"/>
                </a:solidFill>
                <a:latin typeface="+mn-lt"/>
                <a:ea typeface="+mn-ea"/>
                <a:cs typeface="+mn-cs"/>
              </a:rPr>
              <a:t>      </a:t>
            </a:r>
            <a:r>
              <a:rPr lang="zh-CN" sz="2400" dirty="0">
                <a:solidFill>
                  <a:schemeClr val="tx1"/>
                </a:solidFill>
                <a:latin typeface="+mn-lt"/>
                <a:ea typeface="+mn-ea"/>
                <a:cs typeface="+mn-cs"/>
              </a:rPr>
              <a:t>例如</a:t>
            </a:r>
          </a:p>
          <a:p>
            <a:pPr>
              <a:lnSpc>
                <a:spcPct val="150000"/>
              </a:lnSpc>
              <a:buNone/>
            </a:pPr>
            <a:r>
              <a:rPr lang="en-US" sz="2400" dirty="0">
                <a:solidFill>
                  <a:schemeClr val="tx1"/>
                </a:solidFill>
                <a:latin typeface="Times New Roman" pitchFamily="18" charset="0"/>
                <a:cs typeface="Times New Roman" pitchFamily="18" charset="0"/>
              </a:rPr>
              <a:t>                (</a:t>
            </a:r>
            <a:r>
              <a:rPr lang="zh-CN" sz="2400" dirty="0">
                <a:solidFill>
                  <a:schemeClr val="tx1"/>
                </a:solidFill>
                <a:latin typeface="Times New Roman" pitchFamily="18" charset="0"/>
                <a:cs typeface="Times New Roman" pitchFamily="18" charset="0"/>
              </a:rPr>
              <a:t>香蕉</a:t>
            </a:r>
            <a:r>
              <a:rPr lang="en-US" sz="2400" dirty="0">
                <a:solidFill>
                  <a:schemeClr val="tx1"/>
                </a:solidFill>
                <a:latin typeface="Times New Roman" pitchFamily="18" charset="0"/>
                <a:cs typeface="Times New Roman" pitchFamily="18" charset="0"/>
              </a:rPr>
              <a:t>,</a:t>
            </a:r>
            <a:r>
              <a:rPr lang="zh-CN" sz="2400" dirty="0">
                <a:solidFill>
                  <a:schemeClr val="tx1"/>
                </a:solidFill>
                <a:latin typeface="Times New Roman" pitchFamily="18" charset="0"/>
                <a:cs typeface="Times New Roman" pitchFamily="18" charset="0"/>
              </a:rPr>
              <a:t>颜色</a:t>
            </a:r>
            <a:r>
              <a:rPr lang="en-US" sz="2400" dirty="0">
                <a:solidFill>
                  <a:schemeClr val="tx1"/>
                </a:solidFill>
                <a:latin typeface="Times New Roman" pitchFamily="18" charset="0"/>
                <a:cs typeface="Times New Roman" pitchFamily="18" charset="0"/>
              </a:rPr>
              <a:t>,(</a:t>
            </a:r>
            <a:r>
              <a:rPr lang="zh-CN" sz="2400" dirty="0">
                <a:solidFill>
                  <a:schemeClr val="tx1"/>
                </a:solidFill>
                <a:latin typeface="楷体" pitchFamily="49" charset="-122"/>
                <a:ea typeface="楷体" pitchFamily="49" charset="-122"/>
                <a:cs typeface="Times New Roman" pitchFamily="18" charset="0"/>
              </a:rPr>
              <a:t>黄</a:t>
            </a:r>
            <a:r>
              <a:rPr lang="en-US" sz="2400" dirty="0">
                <a:solidFill>
                  <a:schemeClr val="tx1"/>
                </a:solidFill>
                <a:latin typeface="Times New Roman" pitchFamily="18" charset="0"/>
                <a:cs typeface="Times New Roman" pitchFamily="18" charset="0"/>
              </a:rPr>
              <a:t>,0.7))→(</a:t>
            </a:r>
            <a:r>
              <a:rPr lang="zh-CN" sz="2400" dirty="0">
                <a:solidFill>
                  <a:schemeClr val="tx1"/>
                </a:solidFill>
                <a:latin typeface="楷体" pitchFamily="49" charset="-122"/>
                <a:ea typeface="楷体" pitchFamily="49" charset="-122"/>
                <a:cs typeface="Times New Roman" pitchFamily="18" charset="0"/>
              </a:rPr>
              <a:t>香蕉</a:t>
            </a:r>
            <a:r>
              <a:rPr lang="en-US" sz="2400" dirty="0">
                <a:solidFill>
                  <a:schemeClr val="tx1"/>
                </a:solidFill>
                <a:latin typeface="Times New Roman" pitchFamily="18" charset="0"/>
                <a:cs typeface="Times New Roman" pitchFamily="18" charset="0"/>
              </a:rPr>
              <a:t>,</a:t>
            </a:r>
            <a:r>
              <a:rPr lang="zh-CN" sz="2400" dirty="0">
                <a:solidFill>
                  <a:schemeClr val="tx1"/>
                </a:solidFill>
                <a:latin typeface="Times New Roman" pitchFamily="18" charset="0"/>
                <a:cs typeface="Times New Roman" pitchFamily="18" charset="0"/>
              </a:rPr>
              <a:t>生熟</a:t>
            </a:r>
            <a:r>
              <a:rPr lang="en-US" sz="2400" dirty="0">
                <a:solidFill>
                  <a:schemeClr val="tx1"/>
                </a:solidFill>
                <a:latin typeface="Times New Roman" pitchFamily="18" charset="0"/>
                <a:cs typeface="Times New Roman" pitchFamily="18" charset="0"/>
              </a:rPr>
              <a:t>,(</a:t>
            </a:r>
            <a:r>
              <a:rPr lang="zh-CN" sz="2400" dirty="0">
                <a:solidFill>
                  <a:schemeClr val="tx1"/>
                </a:solidFill>
                <a:latin typeface="楷体" pitchFamily="49" charset="-122"/>
                <a:ea typeface="楷体" pitchFamily="49" charset="-122"/>
                <a:cs typeface="Times New Roman" pitchFamily="18" charset="0"/>
              </a:rPr>
              <a:t>熟</a:t>
            </a:r>
            <a:r>
              <a:rPr lang="en-US" sz="2400" dirty="0">
                <a:solidFill>
                  <a:schemeClr val="tx1"/>
                </a:solidFill>
                <a:latin typeface="Times New Roman" pitchFamily="18" charset="0"/>
                <a:cs typeface="Times New Roman" pitchFamily="18" charset="0"/>
              </a:rPr>
              <a:t>,0.9))</a:t>
            </a:r>
            <a:endParaRPr lang="zh-CN" sz="2400" dirty="0">
              <a:solidFill>
                <a:schemeClr val="tx1"/>
              </a:solidFill>
              <a:latin typeface="Times New Roman" pitchFamily="18" charset="0"/>
              <a:cs typeface="Times New Roman" pitchFamily="18" charset="0"/>
            </a:endParaRPr>
          </a:p>
          <a:p>
            <a:pPr>
              <a:lnSpc>
                <a:spcPct val="150000"/>
              </a:lnSpc>
              <a:buNone/>
            </a:pPr>
            <a:r>
              <a:rPr lang="zh-CN" sz="2400" dirty="0">
                <a:solidFill>
                  <a:schemeClr val="tx1"/>
                </a:solidFill>
                <a:latin typeface="Times New Roman" pitchFamily="18" charset="0"/>
                <a:cs typeface="Times New Roman" pitchFamily="18" charset="0"/>
              </a:rPr>
              <a:t>就是一个程度化规则，可解释为：</a:t>
            </a:r>
            <a:r>
              <a:rPr lang="zh-CN" sz="2400" dirty="0">
                <a:solidFill>
                  <a:schemeClr val="tx1"/>
                </a:solidFill>
                <a:latin typeface="楷体" pitchFamily="49" charset="-122"/>
                <a:ea typeface="楷体" pitchFamily="49" charset="-122"/>
                <a:cs typeface="Times New Roman" pitchFamily="18" charset="0"/>
              </a:rPr>
              <a:t>如果香蕉有些黄，则就比较熟。</a:t>
            </a:r>
          </a:p>
          <a:p>
            <a:pPr>
              <a:lnSpc>
                <a:spcPct val="150000"/>
              </a:lnSpc>
              <a:buNone/>
            </a:pPr>
            <a:r>
              <a:rPr lang="zh-CN" sz="2400" dirty="0">
                <a:solidFill>
                  <a:schemeClr val="tx1"/>
                </a:solidFill>
                <a:latin typeface="Times New Roman" pitchFamily="18" charset="0"/>
                <a:cs typeface="Times New Roman" pitchFamily="18" charset="0"/>
              </a:rPr>
              <a:t>又如，设有规则：</a:t>
            </a:r>
            <a:r>
              <a:rPr lang="zh-CN" sz="2400" dirty="0">
                <a:solidFill>
                  <a:schemeClr val="tx1"/>
                </a:solidFill>
                <a:latin typeface="方正姚体" pitchFamily="2" charset="-122"/>
                <a:ea typeface="方正姚体" pitchFamily="2" charset="-122"/>
                <a:cs typeface="Times New Roman" pitchFamily="18" charset="0"/>
              </a:rPr>
              <a:t>如果严重鼻塞、头很痛并且发高烧，则患了重感冒。</a:t>
            </a:r>
            <a:r>
              <a:rPr lang="zh-CN" sz="2400" dirty="0">
                <a:solidFill>
                  <a:schemeClr val="tx1"/>
                </a:solidFill>
                <a:latin typeface="Times New Roman" pitchFamily="18" charset="0"/>
                <a:cs typeface="Times New Roman" pitchFamily="18" charset="0"/>
              </a:rPr>
              <a:t>用程度化规则可描述如下：</a:t>
            </a:r>
          </a:p>
          <a:p>
            <a:pPr>
              <a:lnSpc>
                <a:spcPct val="150000"/>
              </a:lnSpc>
              <a:buNone/>
            </a:pPr>
            <a:r>
              <a:rPr lang="en-US" sz="2400" dirty="0">
                <a:solidFill>
                  <a:schemeClr val="tx1"/>
                </a:solidFill>
                <a:latin typeface="Times New Roman" pitchFamily="18" charset="0"/>
                <a:ea typeface="方正姚体" pitchFamily="2" charset="-122"/>
                <a:cs typeface="Times New Roman" pitchFamily="18" charset="0"/>
              </a:rPr>
              <a:t>      (</a:t>
            </a:r>
            <a:r>
              <a:rPr lang="zh-CN" sz="2400" dirty="0">
                <a:solidFill>
                  <a:schemeClr val="tx1"/>
                </a:solidFill>
                <a:latin typeface="Times New Roman" pitchFamily="18" charset="0"/>
                <a:ea typeface="方正姚体" pitchFamily="2" charset="-122"/>
                <a:cs typeface="Times New Roman" pitchFamily="18" charset="0"/>
              </a:rPr>
              <a:t>严重</a:t>
            </a:r>
            <a:r>
              <a:rPr lang="en-US" sz="2400" dirty="0">
                <a:solidFill>
                  <a:schemeClr val="tx1"/>
                </a:solidFill>
                <a:latin typeface="Times New Roman" pitchFamily="18" charset="0"/>
                <a:ea typeface="方正姚体" pitchFamily="2" charset="-122"/>
                <a:cs typeface="Times New Roman" pitchFamily="18" charset="0"/>
              </a:rPr>
              <a:t>(</a:t>
            </a:r>
            <a:r>
              <a:rPr lang="zh-CN" sz="2400" dirty="0">
                <a:solidFill>
                  <a:schemeClr val="tx1"/>
                </a:solidFill>
                <a:latin typeface="Times New Roman" pitchFamily="18" charset="0"/>
                <a:ea typeface="方正姚体" pitchFamily="2" charset="-122"/>
                <a:cs typeface="Times New Roman" pitchFamily="18" charset="0"/>
              </a:rPr>
              <a:t>鼻塞</a:t>
            </a:r>
            <a:r>
              <a:rPr lang="en-US" sz="2400" dirty="0">
                <a:solidFill>
                  <a:schemeClr val="tx1"/>
                </a:solidFill>
                <a:latin typeface="Times New Roman" pitchFamily="18" charset="0"/>
                <a:ea typeface="方正姚体" pitchFamily="2" charset="-122"/>
                <a:cs typeface="Times New Roman" pitchFamily="18" charset="0"/>
              </a:rPr>
              <a:t>),</a:t>
            </a:r>
            <a:r>
              <a:rPr lang="en-US" sz="2400" i="1" dirty="0">
                <a:solidFill>
                  <a:schemeClr val="tx1"/>
                </a:solidFill>
                <a:latin typeface="Times New Roman" pitchFamily="18" charset="0"/>
                <a:ea typeface="方正姚体" pitchFamily="2" charset="-122"/>
                <a:cs typeface="Times New Roman" pitchFamily="18" charset="0"/>
              </a:rPr>
              <a:t> </a:t>
            </a:r>
            <a:r>
              <a:rPr lang="en-US" sz="2400" i="1" dirty="0" err="1">
                <a:solidFill>
                  <a:schemeClr val="tx1"/>
                </a:solidFill>
                <a:latin typeface="Times New Roman" pitchFamily="18" charset="0"/>
                <a:ea typeface="方正姚体" pitchFamily="2" charset="-122"/>
                <a:cs typeface="Times New Roman" pitchFamily="18" charset="0"/>
              </a:rPr>
              <a:t>d</a:t>
            </a:r>
            <a:r>
              <a:rPr lang="en-US" sz="2400" i="1" baseline="-25000" dirty="0" err="1">
                <a:solidFill>
                  <a:schemeClr val="tx1"/>
                </a:solidFill>
                <a:latin typeface="Times New Roman" pitchFamily="18" charset="0"/>
                <a:ea typeface="方正姚体" pitchFamily="2" charset="-122"/>
                <a:cs typeface="Times New Roman" pitchFamily="18" charset="0"/>
              </a:rPr>
              <a:t>x</a:t>
            </a:r>
            <a:r>
              <a:rPr lang="en-US" sz="2400" dirty="0">
                <a:solidFill>
                  <a:schemeClr val="tx1"/>
                </a:solidFill>
                <a:latin typeface="Times New Roman" pitchFamily="18" charset="0"/>
                <a:ea typeface="方正姚体" pitchFamily="2" charset="-122"/>
                <a:cs typeface="Times New Roman" pitchFamily="18" charset="0"/>
              </a:rPr>
              <a:t>)</a:t>
            </a:r>
            <a:r>
              <a:rPr lang="zh-CN" sz="2400" dirty="0">
                <a:solidFill>
                  <a:schemeClr val="tx1"/>
                </a:solidFill>
                <a:latin typeface="Times New Roman" pitchFamily="18" charset="0"/>
                <a:ea typeface="方正姚体" pitchFamily="2" charset="-122"/>
                <a:cs typeface="Times New Roman" pitchFamily="18" charset="0"/>
              </a:rPr>
              <a:t>∧</a:t>
            </a:r>
            <a:r>
              <a:rPr lang="en-US" sz="2400" dirty="0">
                <a:solidFill>
                  <a:schemeClr val="tx1"/>
                </a:solidFill>
                <a:latin typeface="Times New Roman" pitchFamily="18" charset="0"/>
                <a:ea typeface="方正姚体" pitchFamily="2" charset="-122"/>
                <a:cs typeface="Times New Roman" pitchFamily="18" charset="0"/>
              </a:rPr>
              <a:t>((</a:t>
            </a:r>
            <a:r>
              <a:rPr lang="zh-CN" sz="2400" dirty="0">
                <a:solidFill>
                  <a:schemeClr val="tx1"/>
                </a:solidFill>
                <a:latin typeface="Times New Roman" pitchFamily="18" charset="0"/>
                <a:ea typeface="方正姚体" pitchFamily="2" charset="-122"/>
                <a:cs typeface="Times New Roman" pitchFamily="18" charset="0"/>
              </a:rPr>
              <a:t>头</a:t>
            </a:r>
            <a:r>
              <a:rPr lang="en-US" sz="2400" dirty="0">
                <a:solidFill>
                  <a:schemeClr val="tx1"/>
                </a:solidFill>
                <a:latin typeface="Times New Roman" pitchFamily="18" charset="0"/>
                <a:ea typeface="方正姚体" pitchFamily="2" charset="-122"/>
                <a:cs typeface="Times New Roman" pitchFamily="18" charset="0"/>
              </a:rPr>
              <a:t>)</a:t>
            </a:r>
            <a:r>
              <a:rPr lang="zh-CN" sz="2400" dirty="0">
                <a:solidFill>
                  <a:schemeClr val="tx1"/>
                </a:solidFill>
                <a:latin typeface="Times New Roman" pitchFamily="18" charset="0"/>
                <a:ea typeface="方正姚体" pitchFamily="2" charset="-122"/>
                <a:cs typeface="Times New Roman" pitchFamily="18" charset="0"/>
              </a:rPr>
              <a:t>很痛</a:t>
            </a:r>
            <a:r>
              <a:rPr lang="en-US" sz="2400" dirty="0">
                <a:solidFill>
                  <a:schemeClr val="tx1"/>
                </a:solidFill>
                <a:latin typeface="Times New Roman" pitchFamily="18" charset="0"/>
                <a:ea typeface="方正姚体" pitchFamily="2" charset="-122"/>
                <a:cs typeface="Times New Roman" pitchFamily="18" charset="0"/>
              </a:rPr>
              <a:t>,</a:t>
            </a:r>
            <a:r>
              <a:rPr lang="en-US" sz="2400" i="1" dirty="0">
                <a:solidFill>
                  <a:schemeClr val="tx1"/>
                </a:solidFill>
                <a:latin typeface="Times New Roman" pitchFamily="18" charset="0"/>
                <a:ea typeface="方正姚体" pitchFamily="2" charset="-122"/>
                <a:cs typeface="Times New Roman" pitchFamily="18" charset="0"/>
              </a:rPr>
              <a:t> </a:t>
            </a:r>
            <a:r>
              <a:rPr lang="en-US" sz="2400" i="1" dirty="0" err="1">
                <a:solidFill>
                  <a:schemeClr val="tx1"/>
                </a:solidFill>
                <a:latin typeface="Times New Roman" pitchFamily="18" charset="0"/>
                <a:ea typeface="方正姚体" pitchFamily="2" charset="-122"/>
                <a:cs typeface="Times New Roman" pitchFamily="18" charset="0"/>
              </a:rPr>
              <a:t>d</a:t>
            </a:r>
            <a:r>
              <a:rPr lang="en-US" sz="2400" i="1" baseline="-25000" dirty="0" err="1">
                <a:solidFill>
                  <a:schemeClr val="tx1"/>
                </a:solidFill>
                <a:latin typeface="Times New Roman" pitchFamily="18" charset="0"/>
                <a:ea typeface="方正姚体" pitchFamily="2" charset="-122"/>
                <a:cs typeface="Times New Roman" pitchFamily="18" charset="0"/>
              </a:rPr>
              <a:t>y</a:t>
            </a:r>
            <a:r>
              <a:rPr lang="en-US" sz="2400" dirty="0">
                <a:solidFill>
                  <a:schemeClr val="tx1"/>
                </a:solidFill>
                <a:latin typeface="Times New Roman" pitchFamily="18" charset="0"/>
                <a:ea typeface="方正姚体" pitchFamily="2" charset="-122"/>
                <a:cs typeface="Times New Roman" pitchFamily="18" charset="0"/>
              </a:rPr>
              <a:t>)</a:t>
            </a:r>
            <a:r>
              <a:rPr lang="zh-CN" sz="2400" dirty="0">
                <a:solidFill>
                  <a:schemeClr val="tx1"/>
                </a:solidFill>
                <a:latin typeface="Times New Roman" pitchFamily="18" charset="0"/>
                <a:ea typeface="方正姚体" pitchFamily="2" charset="-122"/>
                <a:cs typeface="Times New Roman" pitchFamily="18" charset="0"/>
              </a:rPr>
              <a:t>∧</a:t>
            </a:r>
            <a:r>
              <a:rPr lang="en-US" sz="2400" dirty="0">
                <a:solidFill>
                  <a:schemeClr val="tx1"/>
                </a:solidFill>
                <a:latin typeface="Times New Roman" pitchFamily="18" charset="0"/>
                <a:ea typeface="方正姚体" pitchFamily="2" charset="-122"/>
                <a:cs typeface="Times New Roman" pitchFamily="18" charset="0"/>
              </a:rPr>
              <a:t>(</a:t>
            </a:r>
            <a:r>
              <a:rPr lang="zh-CN" sz="2400" dirty="0">
                <a:solidFill>
                  <a:schemeClr val="tx1"/>
                </a:solidFill>
                <a:latin typeface="Times New Roman" pitchFamily="18" charset="0"/>
                <a:ea typeface="方正姚体" pitchFamily="2" charset="-122"/>
                <a:cs typeface="Times New Roman" pitchFamily="18" charset="0"/>
              </a:rPr>
              <a:t>高烧</a:t>
            </a:r>
            <a:r>
              <a:rPr lang="en-US" sz="2400" dirty="0">
                <a:solidFill>
                  <a:schemeClr val="tx1"/>
                </a:solidFill>
                <a:latin typeface="Times New Roman" pitchFamily="18" charset="0"/>
                <a:ea typeface="方正姚体" pitchFamily="2" charset="-122"/>
                <a:cs typeface="Times New Roman" pitchFamily="18" charset="0"/>
              </a:rPr>
              <a:t>,</a:t>
            </a:r>
            <a:r>
              <a:rPr lang="en-US" sz="2400" i="1" dirty="0">
                <a:solidFill>
                  <a:schemeClr val="tx1"/>
                </a:solidFill>
                <a:latin typeface="Times New Roman" pitchFamily="18" charset="0"/>
                <a:ea typeface="方正姚体" pitchFamily="2" charset="-122"/>
                <a:cs typeface="Times New Roman" pitchFamily="18" charset="0"/>
              </a:rPr>
              <a:t> </a:t>
            </a:r>
            <a:r>
              <a:rPr lang="en-US" sz="2400" i="1" dirty="0" err="1">
                <a:solidFill>
                  <a:schemeClr val="tx1"/>
                </a:solidFill>
                <a:latin typeface="Times New Roman" pitchFamily="18" charset="0"/>
                <a:ea typeface="方正姚体" pitchFamily="2" charset="-122"/>
                <a:cs typeface="Times New Roman" pitchFamily="18" charset="0"/>
              </a:rPr>
              <a:t>d</a:t>
            </a:r>
            <a:r>
              <a:rPr lang="en-US" sz="2400" i="1" baseline="-25000" dirty="0" err="1">
                <a:solidFill>
                  <a:schemeClr val="tx1"/>
                </a:solidFill>
                <a:latin typeface="Times New Roman" pitchFamily="18" charset="0"/>
                <a:ea typeface="方正姚体" pitchFamily="2" charset="-122"/>
                <a:cs typeface="Times New Roman" pitchFamily="18" charset="0"/>
              </a:rPr>
              <a:t>z</a:t>
            </a:r>
            <a:r>
              <a:rPr lang="en-US" sz="2400" dirty="0">
                <a:solidFill>
                  <a:schemeClr val="tx1"/>
                </a:solidFill>
                <a:latin typeface="Times New Roman" pitchFamily="18" charset="0"/>
                <a:ea typeface="方正姚体" pitchFamily="2" charset="-122"/>
                <a:cs typeface="Times New Roman" pitchFamily="18" charset="0"/>
              </a:rPr>
              <a:t>) </a:t>
            </a:r>
            <a:r>
              <a:rPr lang="zh-CN" sz="2400" dirty="0">
                <a:solidFill>
                  <a:schemeClr val="tx1"/>
                </a:solidFill>
                <a:latin typeface="Times New Roman" pitchFamily="18" charset="0"/>
                <a:ea typeface="方正姚体" pitchFamily="2" charset="-122"/>
                <a:cs typeface="Times New Roman" pitchFamily="18" charset="0"/>
              </a:rPr>
              <a:t>→</a:t>
            </a:r>
            <a:r>
              <a:rPr lang="en-US" sz="2400" dirty="0">
                <a:solidFill>
                  <a:schemeClr val="tx1"/>
                </a:solidFill>
                <a:latin typeface="Times New Roman" pitchFamily="18" charset="0"/>
                <a:ea typeface="方正姚体" pitchFamily="2" charset="-122"/>
                <a:cs typeface="Times New Roman" pitchFamily="18" charset="0"/>
              </a:rPr>
              <a:t> </a:t>
            </a:r>
          </a:p>
          <a:p>
            <a:pPr>
              <a:lnSpc>
                <a:spcPct val="150000"/>
              </a:lnSpc>
              <a:buNone/>
            </a:pPr>
            <a:r>
              <a:rPr lang="en-US" sz="2400" dirty="0">
                <a:latin typeface="Times New Roman" pitchFamily="18" charset="0"/>
                <a:ea typeface="方正姚体" pitchFamily="2" charset="-122"/>
                <a:cs typeface="Times New Roman" pitchFamily="18" charset="0"/>
              </a:rPr>
              <a:t>                                       </a:t>
            </a:r>
            <a:r>
              <a:rPr lang="en-US" sz="2400" dirty="0">
                <a:solidFill>
                  <a:schemeClr val="tx1"/>
                </a:solidFill>
                <a:latin typeface="Times New Roman" pitchFamily="18" charset="0"/>
                <a:ea typeface="方正姚体" pitchFamily="2" charset="-122"/>
                <a:cs typeface="Times New Roman" pitchFamily="18" charset="0"/>
              </a:rPr>
              <a:t>(</a:t>
            </a:r>
            <a:r>
              <a:rPr lang="zh-CN" sz="2400" dirty="0">
                <a:solidFill>
                  <a:schemeClr val="tx1"/>
                </a:solidFill>
                <a:latin typeface="Times New Roman" pitchFamily="18" charset="0"/>
                <a:ea typeface="方正姚体" pitchFamily="2" charset="-122"/>
                <a:cs typeface="Times New Roman" pitchFamily="18" charset="0"/>
              </a:rPr>
              <a:t>重感冒</a:t>
            </a:r>
            <a:r>
              <a:rPr lang="en-US" sz="2400" dirty="0">
                <a:solidFill>
                  <a:schemeClr val="tx1"/>
                </a:solidFill>
                <a:latin typeface="Times New Roman" pitchFamily="18" charset="0"/>
                <a:ea typeface="方正姚体" pitchFamily="2" charset="-122"/>
                <a:cs typeface="Times New Roman" pitchFamily="18" charset="0"/>
              </a:rPr>
              <a:t>, 1.2(0.3</a:t>
            </a:r>
            <a:r>
              <a:rPr lang="en-US" sz="2400" i="1" dirty="0">
                <a:solidFill>
                  <a:schemeClr val="tx1"/>
                </a:solidFill>
                <a:latin typeface="Times New Roman" pitchFamily="18" charset="0"/>
                <a:ea typeface="方正姚体" pitchFamily="2" charset="-122"/>
                <a:cs typeface="Times New Roman" pitchFamily="18" charset="0"/>
              </a:rPr>
              <a:t> </a:t>
            </a:r>
            <a:r>
              <a:rPr lang="en-US" sz="2400" i="1" dirty="0" err="1">
                <a:solidFill>
                  <a:schemeClr val="tx1"/>
                </a:solidFill>
                <a:latin typeface="Times New Roman" pitchFamily="18" charset="0"/>
                <a:ea typeface="方正姚体" pitchFamily="2" charset="-122"/>
                <a:cs typeface="Times New Roman" pitchFamily="18" charset="0"/>
              </a:rPr>
              <a:t>d</a:t>
            </a:r>
            <a:r>
              <a:rPr lang="en-US" sz="2400" i="1" baseline="-25000" dirty="0" err="1">
                <a:solidFill>
                  <a:schemeClr val="tx1"/>
                </a:solidFill>
                <a:latin typeface="Times New Roman" pitchFamily="18" charset="0"/>
                <a:ea typeface="方正姚体" pitchFamily="2" charset="-122"/>
                <a:cs typeface="Times New Roman" pitchFamily="18" charset="0"/>
              </a:rPr>
              <a:t>x</a:t>
            </a:r>
            <a:r>
              <a:rPr lang="en-US" sz="2400" dirty="0">
                <a:solidFill>
                  <a:schemeClr val="tx1"/>
                </a:solidFill>
                <a:latin typeface="Times New Roman" pitchFamily="18" charset="0"/>
                <a:ea typeface="方正姚体" pitchFamily="2" charset="-122"/>
                <a:cs typeface="Times New Roman" pitchFamily="18" charset="0"/>
              </a:rPr>
              <a:t> +0.2</a:t>
            </a:r>
            <a:r>
              <a:rPr lang="en-US" sz="2400" i="1" dirty="0">
                <a:solidFill>
                  <a:schemeClr val="tx1"/>
                </a:solidFill>
                <a:latin typeface="Times New Roman" pitchFamily="18" charset="0"/>
                <a:ea typeface="方正姚体" pitchFamily="2" charset="-122"/>
                <a:cs typeface="Times New Roman" pitchFamily="18" charset="0"/>
              </a:rPr>
              <a:t> </a:t>
            </a:r>
            <a:r>
              <a:rPr lang="en-US" sz="2400" i="1" dirty="0" err="1">
                <a:solidFill>
                  <a:schemeClr val="tx1"/>
                </a:solidFill>
                <a:latin typeface="Times New Roman" pitchFamily="18" charset="0"/>
                <a:ea typeface="方正姚体" pitchFamily="2" charset="-122"/>
                <a:cs typeface="Times New Roman" pitchFamily="18" charset="0"/>
              </a:rPr>
              <a:t>d</a:t>
            </a:r>
            <a:r>
              <a:rPr lang="en-US" sz="2400" i="1" baseline="-25000" dirty="0" err="1">
                <a:solidFill>
                  <a:schemeClr val="tx1"/>
                </a:solidFill>
                <a:latin typeface="Times New Roman" pitchFamily="18" charset="0"/>
                <a:ea typeface="方正姚体" pitchFamily="2" charset="-122"/>
                <a:cs typeface="Times New Roman" pitchFamily="18" charset="0"/>
              </a:rPr>
              <a:t>y</a:t>
            </a:r>
            <a:r>
              <a:rPr lang="en-US" sz="2400" dirty="0">
                <a:solidFill>
                  <a:schemeClr val="tx1"/>
                </a:solidFill>
                <a:latin typeface="Times New Roman" pitchFamily="18" charset="0"/>
                <a:ea typeface="方正姚体" pitchFamily="2" charset="-122"/>
                <a:cs typeface="Times New Roman" pitchFamily="18" charset="0"/>
              </a:rPr>
              <a:t> +0.5</a:t>
            </a:r>
            <a:r>
              <a:rPr lang="en-US" sz="2400" i="1" dirty="0">
                <a:solidFill>
                  <a:schemeClr val="tx1"/>
                </a:solidFill>
                <a:latin typeface="Times New Roman" pitchFamily="18" charset="0"/>
                <a:ea typeface="方正姚体" pitchFamily="2" charset="-122"/>
                <a:cs typeface="Times New Roman" pitchFamily="18" charset="0"/>
              </a:rPr>
              <a:t> </a:t>
            </a:r>
            <a:r>
              <a:rPr lang="en-US" sz="2400" i="1" dirty="0" err="1">
                <a:solidFill>
                  <a:schemeClr val="tx1"/>
                </a:solidFill>
                <a:latin typeface="Times New Roman" pitchFamily="18" charset="0"/>
                <a:ea typeface="方正姚体" pitchFamily="2" charset="-122"/>
                <a:cs typeface="Times New Roman" pitchFamily="18" charset="0"/>
              </a:rPr>
              <a:t>d</a:t>
            </a:r>
            <a:r>
              <a:rPr lang="en-US" sz="2400" i="1" baseline="-25000" dirty="0" err="1">
                <a:solidFill>
                  <a:schemeClr val="tx1"/>
                </a:solidFill>
                <a:latin typeface="Times New Roman" pitchFamily="18" charset="0"/>
                <a:ea typeface="方正姚体" pitchFamily="2" charset="-122"/>
                <a:cs typeface="Times New Roman" pitchFamily="18" charset="0"/>
              </a:rPr>
              <a:t>z</a:t>
            </a:r>
            <a:r>
              <a:rPr lang="en-US" sz="2400" dirty="0">
                <a:solidFill>
                  <a:schemeClr val="tx1"/>
                </a:solidFill>
                <a:latin typeface="Times New Roman" pitchFamily="18" charset="0"/>
                <a:ea typeface="方正姚体" pitchFamily="2" charset="-122"/>
                <a:cs typeface="Times New Roman" pitchFamily="18" charset="0"/>
              </a:rPr>
              <a:t>)) </a:t>
            </a:r>
            <a:endParaRPr lang="zh-CN" sz="2400" dirty="0">
              <a:solidFill>
                <a:schemeClr val="tx1"/>
              </a:solidFill>
              <a:latin typeface="Times New Roman" pitchFamily="18" charset="0"/>
              <a:ea typeface="方正姚体" pitchFamily="2" charset="-122"/>
              <a:cs typeface="Times New Roman" pitchFamily="18" charset="0"/>
            </a:endParaRPr>
          </a:p>
          <a:p>
            <a:pPr algn="just">
              <a:buFont typeface="Wingdings" pitchFamily="2" charset="2"/>
              <a:buNone/>
            </a:pPr>
            <a:endParaRPr lang="en-US" altLang="zh-CN" sz="2800" dirty="0">
              <a:latin typeface="仿宋_GB2312" pitchFamily="49" charset="-122"/>
              <a:ea typeface="仿宋_GB2312" pitchFamily="49" charset="-122"/>
            </a:endParaRPr>
          </a:p>
        </p:txBody>
      </p:sp>
    </p:spTree>
  </p:cSld>
  <p:clrMapOvr>
    <a:masterClrMapping/>
  </p:clrMapOvr>
  <p:transition/>
</p:sld>
</file>

<file path=ppt/slides/slide2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29027" name="Rectangle 3"/>
          <p:cNvSpPr>
            <a:spLocks noGrp="1" noRot="1" noChangeArrowheads="1"/>
          </p:cNvSpPr>
          <p:nvPr>
            <p:ph type="body" idx="1"/>
          </p:nvPr>
        </p:nvSpPr>
        <p:spPr>
          <a:xfrm>
            <a:off x="671486" y="642918"/>
            <a:ext cx="7672414" cy="5857916"/>
          </a:xfrm>
        </p:spPr>
        <p:txBody>
          <a:bodyPr/>
          <a:lstStyle/>
          <a:p>
            <a:pPr algn="just">
              <a:buNone/>
            </a:pPr>
            <a:r>
              <a:rPr lang="en-US" sz="2400" dirty="0">
                <a:solidFill>
                  <a:schemeClr val="tx1"/>
                </a:solidFill>
                <a:latin typeface="+mn-lt"/>
                <a:ea typeface="+mn-ea"/>
                <a:cs typeface="+mn-cs"/>
              </a:rPr>
              <a:t>    4. </a:t>
            </a:r>
            <a:r>
              <a:rPr lang="zh-CN" sz="2400" b="1" dirty="0">
                <a:solidFill>
                  <a:schemeClr val="tx1"/>
                </a:solidFill>
                <a:latin typeface="楷体" pitchFamily="49" charset="-122"/>
                <a:ea typeface="楷体" pitchFamily="49" charset="-122"/>
              </a:rPr>
              <a:t>程度化框架</a:t>
            </a:r>
            <a:endParaRPr lang="zh-CN" sz="2400" dirty="0">
              <a:solidFill>
                <a:schemeClr val="tx1"/>
              </a:solidFill>
              <a:latin typeface="楷体" pitchFamily="49" charset="-122"/>
              <a:ea typeface="楷体" pitchFamily="49" charset="-122"/>
            </a:endParaRPr>
          </a:p>
          <a:p>
            <a:pPr algn="just">
              <a:lnSpc>
                <a:spcPct val="150000"/>
              </a:lnSpc>
              <a:buNone/>
            </a:pPr>
            <a:r>
              <a:rPr lang="zh-CN" altLang="en-US" sz="2400" dirty="0"/>
              <a:t>           含有程度化语言值的框架称为程度化框架。例如下面是一个描述大枣的程度化框架。</a:t>
            </a:r>
          </a:p>
          <a:p>
            <a:pPr>
              <a:spcBef>
                <a:spcPts val="1200"/>
              </a:spcBef>
              <a:buNone/>
            </a:pPr>
            <a:r>
              <a:rPr lang="en-US" altLang="zh-CN" sz="2400" dirty="0">
                <a:solidFill>
                  <a:schemeClr val="tx1"/>
                </a:solidFill>
                <a:latin typeface="Times New Roman" pitchFamily="18" charset="0"/>
                <a:cs typeface="Times New Roman" pitchFamily="18" charset="0"/>
              </a:rPr>
              <a:t>       </a:t>
            </a:r>
            <a:r>
              <a:rPr lang="zh-CN" sz="2400" dirty="0">
                <a:solidFill>
                  <a:schemeClr val="tx1"/>
                </a:solidFill>
                <a:latin typeface="方正姚体" pitchFamily="2" charset="-122"/>
                <a:ea typeface="方正姚体" pitchFamily="2" charset="-122"/>
                <a:cs typeface="Times New Roman" pitchFamily="18" charset="0"/>
              </a:rPr>
              <a:t>框架名：</a:t>
            </a:r>
            <a:r>
              <a:rPr lang="zh-CN" sz="2400" dirty="0">
                <a:solidFill>
                  <a:schemeClr val="tx1"/>
                </a:solidFill>
                <a:latin typeface="Times New Roman" pitchFamily="18" charset="0"/>
                <a:cs typeface="Times New Roman" pitchFamily="18" charset="0"/>
              </a:rPr>
              <a:t> </a:t>
            </a:r>
            <a:r>
              <a:rPr lang="en-US" sz="2400" dirty="0">
                <a:solidFill>
                  <a:schemeClr val="tx1"/>
                </a:solidFill>
                <a:latin typeface="Times New Roman" pitchFamily="18" charset="0"/>
                <a:cs typeface="Times New Roman" pitchFamily="18" charset="0"/>
                <a:sym typeface="Symbol"/>
              </a:rPr>
              <a:t></a:t>
            </a:r>
            <a:r>
              <a:rPr lang="zh-CN" sz="2400" dirty="0">
                <a:solidFill>
                  <a:schemeClr val="tx1"/>
                </a:solidFill>
                <a:latin typeface="楷体" pitchFamily="49" charset="-122"/>
                <a:ea typeface="楷体" pitchFamily="49" charset="-122"/>
                <a:cs typeface="Times New Roman" pitchFamily="18" charset="0"/>
              </a:rPr>
              <a:t>大枣</a:t>
            </a:r>
            <a:r>
              <a:rPr lang="en-US" sz="2400" dirty="0">
                <a:solidFill>
                  <a:schemeClr val="tx1"/>
                </a:solidFill>
                <a:latin typeface="Times New Roman" pitchFamily="18" charset="0"/>
                <a:cs typeface="Times New Roman" pitchFamily="18" charset="0"/>
                <a:sym typeface="Symbol"/>
              </a:rPr>
              <a:t></a:t>
            </a:r>
            <a:endParaRPr lang="zh-CN" sz="2400" dirty="0">
              <a:solidFill>
                <a:schemeClr val="tx1"/>
              </a:solidFill>
              <a:latin typeface="Times New Roman" pitchFamily="18" charset="0"/>
              <a:cs typeface="Times New Roman" pitchFamily="18" charset="0"/>
            </a:endParaRPr>
          </a:p>
          <a:p>
            <a:pPr>
              <a:buNone/>
            </a:pPr>
            <a:r>
              <a:rPr lang="en-US" sz="2400" dirty="0">
                <a:solidFill>
                  <a:schemeClr val="tx1"/>
                </a:solidFill>
                <a:latin typeface="Times New Roman" pitchFamily="18" charset="0"/>
                <a:cs typeface="Times New Roman" pitchFamily="18" charset="0"/>
              </a:rPr>
              <a:t>                </a:t>
            </a:r>
            <a:r>
              <a:rPr lang="zh-CN" sz="2400" dirty="0">
                <a:solidFill>
                  <a:schemeClr val="tx1"/>
                </a:solidFill>
                <a:latin typeface="方正姚体" pitchFamily="2" charset="-122"/>
                <a:ea typeface="方正姚体" pitchFamily="2" charset="-122"/>
                <a:cs typeface="Times New Roman" pitchFamily="18" charset="0"/>
              </a:rPr>
              <a:t>类属：</a:t>
            </a:r>
            <a:r>
              <a:rPr lang="zh-CN" sz="2400" dirty="0">
                <a:solidFill>
                  <a:schemeClr val="tx1"/>
                </a:solidFill>
                <a:latin typeface="Times New Roman" pitchFamily="18" charset="0"/>
                <a:cs typeface="Times New Roman" pitchFamily="18" charset="0"/>
              </a:rPr>
              <a:t> </a:t>
            </a:r>
            <a:r>
              <a:rPr lang="en-US" sz="2400" dirty="0">
                <a:solidFill>
                  <a:schemeClr val="tx1"/>
                </a:solidFill>
                <a:latin typeface="Times New Roman" pitchFamily="18" charset="0"/>
                <a:cs typeface="Times New Roman" pitchFamily="18" charset="0"/>
              </a:rPr>
              <a:t>(</a:t>
            </a:r>
            <a:r>
              <a:rPr lang="en-US" sz="2400" dirty="0">
                <a:solidFill>
                  <a:schemeClr val="tx1"/>
                </a:solidFill>
                <a:latin typeface="Times New Roman" pitchFamily="18" charset="0"/>
                <a:cs typeface="Times New Roman" pitchFamily="18" charset="0"/>
                <a:sym typeface="Symbol"/>
              </a:rPr>
              <a:t></a:t>
            </a:r>
            <a:r>
              <a:rPr lang="zh-CN" sz="2400" dirty="0">
                <a:solidFill>
                  <a:schemeClr val="tx1"/>
                </a:solidFill>
                <a:latin typeface="楷体" pitchFamily="49" charset="-122"/>
                <a:ea typeface="楷体" pitchFamily="49" charset="-122"/>
                <a:cs typeface="Times New Roman" pitchFamily="18" charset="0"/>
              </a:rPr>
              <a:t>干果</a:t>
            </a:r>
            <a:r>
              <a:rPr lang="en-US" sz="2400" dirty="0">
                <a:solidFill>
                  <a:schemeClr val="tx1"/>
                </a:solidFill>
                <a:latin typeface="Times New Roman" pitchFamily="18" charset="0"/>
                <a:cs typeface="Times New Roman" pitchFamily="18" charset="0"/>
                <a:sym typeface="Symbol"/>
              </a:rPr>
              <a:t></a:t>
            </a:r>
            <a:r>
              <a:rPr lang="en-US" sz="2400" dirty="0">
                <a:solidFill>
                  <a:schemeClr val="tx1"/>
                </a:solidFill>
                <a:latin typeface="Times New Roman" pitchFamily="18" charset="0"/>
                <a:cs typeface="Times New Roman" pitchFamily="18" charset="0"/>
              </a:rPr>
              <a:t>, 0.8)</a:t>
            </a:r>
            <a:endParaRPr lang="zh-CN" sz="2400" dirty="0">
              <a:solidFill>
                <a:schemeClr val="tx1"/>
              </a:solidFill>
              <a:latin typeface="Times New Roman" pitchFamily="18" charset="0"/>
              <a:cs typeface="Times New Roman" pitchFamily="18" charset="0"/>
            </a:endParaRPr>
          </a:p>
          <a:p>
            <a:pPr>
              <a:buNone/>
            </a:pPr>
            <a:r>
              <a:rPr lang="en-US" sz="2400" dirty="0">
                <a:solidFill>
                  <a:schemeClr val="tx1"/>
                </a:solidFill>
                <a:latin typeface="方正姚体" pitchFamily="2" charset="-122"/>
                <a:ea typeface="方正姚体" pitchFamily="2" charset="-122"/>
                <a:cs typeface="Times New Roman" pitchFamily="18" charset="0"/>
              </a:rPr>
              <a:t>                </a:t>
            </a:r>
            <a:r>
              <a:rPr lang="zh-CN" sz="2400" dirty="0">
                <a:solidFill>
                  <a:schemeClr val="tx1"/>
                </a:solidFill>
                <a:latin typeface="方正姚体" pitchFamily="2" charset="-122"/>
                <a:ea typeface="方正姚体" pitchFamily="2" charset="-122"/>
                <a:cs typeface="Times New Roman" pitchFamily="18" charset="0"/>
              </a:rPr>
              <a:t>形状：</a:t>
            </a:r>
            <a:r>
              <a:rPr lang="en-US" sz="2400" dirty="0">
                <a:solidFill>
                  <a:schemeClr val="tx1"/>
                </a:solidFill>
                <a:latin typeface="方正姚体" pitchFamily="2" charset="-122"/>
                <a:ea typeface="方正姚体" pitchFamily="2" charset="-122"/>
                <a:cs typeface="Times New Roman" pitchFamily="18" charset="0"/>
              </a:rPr>
              <a:t> </a:t>
            </a:r>
            <a:r>
              <a:rPr lang="en-US" sz="2400" dirty="0">
                <a:solidFill>
                  <a:schemeClr val="tx1"/>
                </a:solidFill>
                <a:latin typeface="Times New Roman" pitchFamily="18" charset="0"/>
                <a:cs typeface="Times New Roman" pitchFamily="18" charset="0"/>
              </a:rPr>
              <a:t>(</a:t>
            </a:r>
            <a:r>
              <a:rPr lang="zh-CN" sz="2400" dirty="0">
                <a:solidFill>
                  <a:schemeClr val="tx1"/>
                </a:solidFill>
                <a:latin typeface="楷体" pitchFamily="49" charset="-122"/>
                <a:ea typeface="楷体" pitchFamily="49" charset="-122"/>
                <a:cs typeface="Times New Roman" pitchFamily="18" charset="0"/>
              </a:rPr>
              <a:t>圆</a:t>
            </a:r>
            <a:r>
              <a:rPr lang="en-US" sz="2400" dirty="0">
                <a:solidFill>
                  <a:schemeClr val="tx1"/>
                </a:solidFill>
                <a:latin typeface="Times New Roman" pitchFamily="18" charset="0"/>
                <a:cs typeface="Times New Roman" pitchFamily="18" charset="0"/>
              </a:rPr>
              <a:t>, 0.7)</a:t>
            </a:r>
            <a:endParaRPr lang="zh-CN" sz="2400" dirty="0">
              <a:solidFill>
                <a:schemeClr val="tx1"/>
              </a:solidFill>
              <a:latin typeface="Times New Roman" pitchFamily="18" charset="0"/>
              <a:cs typeface="Times New Roman" pitchFamily="18" charset="0"/>
            </a:endParaRPr>
          </a:p>
          <a:p>
            <a:pPr>
              <a:buNone/>
            </a:pPr>
            <a:r>
              <a:rPr lang="en-US" sz="2400" dirty="0">
                <a:solidFill>
                  <a:schemeClr val="tx1"/>
                </a:solidFill>
                <a:latin typeface="方正姚体" pitchFamily="2" charset="-122"/>
                <a:ea typeface="方正姚体" pitchFamily="2" charset="-122"/>
                <a:cs typeface="Times New Roman" pitchFamily="18" charset="0"/>
              </a:rPr>
              <a:t>                </a:t>
            </a:r>
            <a:r>
              <a:rPr lang="zh-CN" sz="2400" dirty="0">
                <a:solidFill>
                  <a:schemeClr val="tx1"/>
                </a:solidFill>
                <a:latin typeface="方正姚体" pitchFamily="2" charset="-122"/>
                <a:ea typeface="方正姚体" pitchFamily="2" charset="-122"/>
                <a:cs typeface="Times New Roman" pitchFamily="18" charset="0"/>
              </a:rPr>
              <a:t>颜色：</a:t>
            </a:r>
            <a:r>
              <a:rPr lang="en-US" sz="2400" dirty="0">
                <a:solidFill>
                  <a:schemeClr val="tx1"/>
                </a:solidFill>
                <a:latin typeface="方正姚体" pitchFamily="2" charset="-122"/>
                <a:ea typeface="方正姚体" pitchFamily="2" charset="-122"/>
                <a:cs typeface="Times New Roman" pitchFamily="18" charset="0"/>
              </a:rPr>
              <a:t> </a:t>
            </a:r>
            <a:r>
              <a:rPr lang="en-US" sz="2400" dirty="0">
                <a:solidFill>
                  <a:schemeClr val="tx1"/>
                </a:solidFill>
                <a:latin typeface="Times New Roman" pitchFamily="18" charset="0"/>
                <a:cs typeface="Times New Roman" pitchFamily="18" charset="0"/>
              </a:rPr>
              <a:t>(</a:t>
            </a:r>
            <a:r>
              <a:rPr lang="zh-CN" sz="2400" dirty="0">
                <a:solidFill>
                  <a:schemeClr val="tx1"/>
                </a:solidFill>
                <a:latin typeface="楷体" pitchFamily="49" charset="-122"/>
                <a:ea typeface="楷体" pitchFamily="49" charset="-122"/>
                <a:cs typeface="Times New Roman" pitchFamily="18" charset="0"/>
              </a:rPr>
              <a:t>红</a:t>
            </a:r>
            <a:r>
              <a:rPr lang="en-US" sz="2400" dirty="0">
                <a:solidFill>
                  <a:schemeClr val="tx1"/>
                </a:solidFill>
                <a:latin typeface="Times New Roman" pitchFamily="18" charset="0"/>
                <a:cs typeface="Times New Roman" pitchFamily="18" charset="0"/>
              </a:rPr>
              <a:t>, 1.0)</a:t>
            </a:r>
            <a:endParaRPr lang="zh-CN" sz="2400" dirty="0">
              <a:solidFill>
                <a:schemeClr val="tx1"/>
              </a:solidFill>
              <a:latin typeface="Times New Roman" pitchFamily="18" charset="0"/>
              <a:cs typeface="Times New Roman" pitchFamily="18" charset="0"/>
            </a:endParaRPr>
          </a:p>
          <a:p>
            <a:pPr>
              <a:buNone/>
            </a:pPr>
            <a:r>
              <a:rPr lang="en-US" sz="2400" dirty="0">
                <a:solidFill>
                  <a:schemeClr val="tx1"/>
                </a:solidFill>
                <a:latin typeface="Times New Roman" pitchFamily="18" charset="0"/>
                <a:cs typeface="Times New Roman" pitchFamily="18" charset="0"/>
              </a:rPr>
              <a:t>                </a:t>
            </a:r>
            <a:r>
              <a:rPr lang="zh-CN" sz="2400" dirty="0">
                <a:solidFill>
                  <a:schemeClr val="tx1"/>
                </a:solidFill>
                <a:latin typeface="方正姚体" pitchFamily="2" charset="-122"/>
                <a:ea typeface="方正姚体" pitchFamily="2" charset="-122"/>
                <a:cs typeface="Times New Roman" pitchFamily="18" charset="0"/>
              </a:rPr>
              <a:t>味道：</a:t>
            </a:r>
            <a:r>
              <a:rPr lang="en-US" sz="2400" dirty="0">
                <a:solidFill>
                  <a:schemeClr val="tx1"/>
                </a:solidFill>
                <a:latin typeface="Times New Roman" pitchFamily="18" charset="0"/>
                <a:cs typeface="Times New Roman" pitchFamily="18" charset="0"/>
              </a:rPr>
              <a:t> (</a:t>
            </a:r>
            <a:r>
              <a:rPr lang="zh-CN" sz="2400" dirty="0">
                <a:solidFill>
                  <a:schemeClr val="tx1"/>
                </a:solidFill>
                <a:latin typeface="楷体" pitchFamily="49" charset="-122"/>
                <a:ea typeface="楷体" pitchFamily="49" charset="-122"/>
                <a:cs typeface="Times New Roman" pitchFamily="18" charset="0"/>
              </a:rPr>
              <a:t>甘</a:t>
            </a:r>
            <a:r>
              <a:rPr lang="en-US" sz="2400" dirty="0">
                <a:solidFill>
                  <a:schemeClr val="tx1"/>
                </a:solidFill>
                <a:latin typeface="Times New Roman" pitchFamily="18" charset="0"/>
                <a:cs typeface="Times New Roman" pitchFamily="18" charset="0"/>
              </a:rPr>
              <a:t>, 1.1)</a:t>
            </a:r>
            <a:endParaRPr lang="zh-CN" sz="2400" dirty="0">
              <a:solidFill>
                <a:schemeClr val="tx1"/>
              </a:solidFill>
              <a:latin typeface="Times New Roman" pitchFamily="18" charset="0"/>
              <a:cs typeface="Times New Roman" pitchFamily="18" charset="0"/>
            </a:endParaRPr>
          </a:p>
          <a:p>
            <a:pPr>
              <a:buNone/>
            </a:pPr>
            <a:r>
              <a:rPr lang="en-US" sz="2400" dirty="0">
                <a:solidFill>
                  <a:schemeClr val="tx1"/>
                </a:solidFill>
                <a:latin typeface="Times New Roman" pitchFamily="18" charset="0"/>
                <a:cs typeface="Times New Roman" pitchFamily="18" charset="0"/>
              </a:rPr>
              <a:t>                </a:t>
            </a:r>
            <a:r>
              <a:rPr lang="zh-CN" sz="2400" dirty="0">
                <a:solidFill>
                  <a:schemeClr val="tx1"/>
                </a:solidFill>
                <a:latin typeface="方正姚体" pitchFamily="2" charset="-122"/>
                <a:ea typeface="方正姚体" pitchFamily="2" charset="-122"/>
                <a:cs typeface="Times New Roman" pitchFamily="18" charset="0"/>
              </a:rPr>
              <a:t>用途：</a:t>
            </a:r>
            <a:r>
              <a:rPr lang="zh-CN" sz="2400" dirty="0">
                <a:solidFill>
                  <a:schemeClr val="tx1"/>
                </a:solidFill>
                <a:latin typeface="Times New Roman" pitchFamily="18" charset="0"/>
                <a:cs typeface="Times New Roman" pitchFamily="18" charset="0"/>
              </a:rPr>
              <a:t> 范围：（</a:t>
            </a:r>
            <a:r>
              <a:rPr lang="zh-CN" sz="2400" dirty="0">
                <a:solidFill>
                  <a:schemeClr val="tx1"/>
                </a:solidFill>
                <a:latin typeface="楷体" pitchFamily="49" charset="-122"/>
                <a:ea typeface="楷体" pitchFamily="49" charset="-122"/>
                <a:cs typeface="Times New Roman" pitchFamily="18" charset="0"/>
              </a:rPr>
              <a:t>食用</a:t>
            </a:r>
            <a:r>
              <a:rPr lang="zh-CN" sz="2400" dirty="0">
                <a:solidFill>
                  <a:schemeClr val="tx1"/>
                </a:solidFill>
                <a:latin typeface="Times New Roman" pitchFamily="18" charset="0"/>
                <a:cs typeface="Times New Roman" pitchFamily="18" charset="0"/>
              </a:rPr>
              <a:t>，</a:t>
            </a:r>
            <a:r>
              <a:rPr lang="zh-CN" sz="2400" dirty="0">
                <a:solidFill>
                  <a:schemeClr val="tx1"/>
                </a:solidFill>
                <a:latin typeface="楷体" pitchFamily="49" charset="-122"/>
                <a:ea typeface="楷体" pitchFamily="49" charset="-122"/>
                <a:cs typeface="Times New Roman" pitchFamily="18" charset="0"/>
              </a:rPr>
              <a:t>药用</a:t>
            </a:r>
            <a:r>
              <a:rPr lang="zh-CN" sz="2400" dirty="0">
                <a:solidFill>
                  <a:schemeClr val="tx1"/>
                </a:solidFill>
                <a:latin typeface="Times New Roman" pitchFamily="18" charset="0"/>
                <a:cs typeface="Times New Roman" pitchFamily="18" charset="0"/>
              </a:rPr>
              <a:t>）</a:t>
            </a:r>
          </a:p>
          <a:p>
            <a:pPr>
              <a:buNone/>
            </a:pPr>
            <a:r>
              <a:rPr lang="en-US" sz="2400" dirty="0">
                <a:solidFill>
                  <a:schemeClr val="tx1"/>
                </a:solidFill>
                <a:latin typeface="方正姚体" pitchFamily="2" charset="-122"/>
                <a:ea typeface="方正姚体" pitchFamily="2" charset="-122"/>
                <a:cs typeface="Times New Roman" pitchFamily="18" charset="0"/>
              </a:rPr>
              <a:t>                </a:t>
            </a:r>
            <a:r>
              <a:rPr lang="zh-CN" sz="2400" dirty="0">
                <a:solidFill>
                  <a:schemeClr val="tx1"/>
                </a:solidFill>
                <a:latin typeface="方正姚体" pitchFamily="2" charset="-122"/>
                <a:ea typeface="方正姚体" pitchFamily="2" charset="-122"/>
                <a:cs typeface="Times New Roman" pitchFamily="18" charset="0"/>
              </a:rPr>
              <a:t>缺省：</a:t>
            </a:r>
            <a:r>
              <a:rPr lang="zh-CN" sz="2400" dirty="0">
                <a:solidFill>
                  <a:schemeClr val="tx1"/>
                </a:solidFill>
                <a:latin typeface="楷体" pitchFamily="49" charset="-122"/>
                <a:ea typeface="楷体" pitchFamily="49" charset="-122"/>
                <a:cs typeface="Times New Roman" pitchFamily="18" charset="0"/>
              </a:rPr>
              <a:t>食用</a:t>
            </a:r>
            <a:endParaRPr lang="zh-CN" altLang="en-US" sz="2400" dirty="0">
              <a:latin typeface="楷体" pitchFamily="49" charset="-122"/>
              <a:ea typeface="楷体" pitchFamily="49" charset="-122"/>
              <a:cs typeface="Times New Roman" pitchFamily="18" charset="0"/>
            </a:endParaRPr>
          </a:p>
        </p:txBody>
      </p:sp>
    </p:spTree>
  </p:cSld>
  <p:clrMapOvr>
    <a:masterClrMapping/>
  </p:clrMapOvr>
  <p:transition/>
</p:sld>
</file>

<file path=ppt/slides/slide2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30051" name="Rectangle 3"/>
          <p:cNvSpPr>
            <a:spLocks noGrp="1" noRot="1" noChangeArrowheads="1"/>
          </p:cNvSpPr>
          <p:nvPr>
            <p:ph type="body" idx="1"/>
          </p:nvPr>
        </p:nvSpPr>
        <p:spPr>
          <a:xfrm>
            <a:off x="571472" y="620713"/>
            <a:ext cx="8104216" cy="5094287"/>
          </a:xfrm>
        </p:spPr>
        <p:txBody>
          <a:bodyPr/>
          <a:lstStyle/>
          <a:p>
            <a:pPr algn="just">
              <a:lnSpc>
                <a:spcPct val="150000"/>
              </a:lnSpc>
              <a:buNone/>
            </a:pPr>
            <a:r>
              <a:rPr lang="en-US" altLang="zh-CN" sz="2800" dirty="0">
                <a:latin typeface="黑体" pitchFamily="49" charset="-122"/>
                <a:ea typeface="黑体" pitchFamily="49" charset="-122"/>
              </a:rPr>
              <a:t>  </a:t>
            </a:r>
            <a:r>
              <a:rPr lang="en-US" sz="2400" dirty="0">
                <a:solidFill>
                  <a:schemeClr val="tx1"/>
                </a:solidFill>
                <a:latin typeface="+mn-lt"/>
                <a:ea typeface="+mn-ea"/>
                <a:cs typeface="+mn-cs"/>
              </a:rPr>
              <a:t>5. </a:t>
            </a:r>
            <a:r>
              <a:rPr lang="zh-CN" sz="2400" b="1" dirty="0">
                <a:solidFill>
                  <a:schemeClr val="tx1"/>
                </a:solidFill>
                <a:latin typeface="楷体" pitchFamily="49" charset="-122"/>
                <a:ea typeface="楷体" pitchFamily="49" charset="-122"/>
              </a:rPr>
              <a:t>程度化语义网（知识图谱）</a:t>
            </a:r>
            <a:endParaRPr lang="zh-CN" sz="2400" dirty="0">
              <a:solidFill>
                <a:schemeClr val="tx1"/>
              </a:solidFill>
              <a:latin typeface="楷体" pitchFamily="49" charset="-122"/>
              <a:ea typeface="楷体" pitchFamily="49" charset="-122"/>
            </a:endParaRPr>
          </a:p>
          <a:p>
            <a:pPr algn="just">
              <a:lnSpc>
                <a:spcPct val="150000"/>
              </a:lnSpc>
              <a:buNone/>
            </a:pPr>
            <a:r>
              <a:rPr lang="en-US" altLang="zh-CN" sz="2400" dirty="0">
                <a:solidFill>
                  <a:schemeClr val="tx1"/>
                </a:solidFill>
                <a:latin typeface="+mn-lt"/>
                <a:ea typeface="+mn-ea"/>
                <a:cs typeface="+mn-cs"/>
              </a:rPr>
              <a:t>       </a:t>
            </a:r>
            <a:r>
              <a:rPr lang="zh-CN" sz="2400" dirty="0">
                <a:solidFill>
                  <a:schemeClr val="tx1"/>
                </a:solidFill>
                <a:latin typeface="+mn-lt"/>
                <a:ea typeface="+mn-ea"/>
                <a:cs typeface="+mn-cs"/>
              </a:rPr>
              <a:t>含有程度化语言值的语义网称为程度化语义网。例如，</a:t>
            </a:r>
            <a:endParaRPr lang="zh-CN" altLang="en-US" sz="2400" dirty="0">
              <a:latin typeface="仿宋_GB2312" pitchFamily="49" charset="-122"/>
              <a:ea typeface="仿宋_GB2312" pitchFamily="49" charset="-122"/>
            </a:endParaRPr>
          </a:p>
        </p:txBody>
      </p:sp>
      <p:pic>
        <p:nvPicPr>
          <p:cNvPr id="578561" name="Picture 1"/>
          <p:cNvPicPr>
            <a:picLocks noChangeAspect="1" noChangeArrowheads="1"/>
          </p:cNvPicPr>
          <p:nvPr/>
        </p:nvPicPr>
        <p:blipFill>
          <a:blip r:embed="rId2"/>
          <a:srcRect/>
          <a:stretch>
            <a:fillRect/>
          </a:stretch>
        </p:blipFill>
        <p:spPr bwMode="auto">
          <a:xfrm>
            <a:off x="627032" y="2000240"/>
            <a:ext cx="8731314" cy="3786214"/>
          </a:xfrm>
          <a:prstGeom prst="rect">
            <a:avLst/>
          </a:prstGeom>
          <a:noFill/>
          <a:ln w="9525">
            <a:noFill/>
            <a:miter lim="800000"/>
            <a:headEnd/>
            <a:tailEnd/>
          </a:ln>
          <a:effectLst/>
        </p:spPr>
      </p:pic>
    </p:spTree>
  </p:cSld>
  <p:clrMapOvr>
    <a:masterClrMapping/>
  </p:clrMapOvr>
  <p:transition/>
</p:sld>
</file>

<file path=ppt/slides/slide2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76162" name="Rectangle 2"/>
          <p:cNvSpPr>
            <a:spLocks noChangeArrowheads="1"/>
          </p:cNvSpPr>
          <p:nvPr/>
        </p:nvSpPr>
        <p:spPr bwMode="auto">
          <a:xfrm>
            <a:off x="671486" y="436542"/>
            <a:ext cx="7786742" cy="6001643"/>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2400" b="0" i="0" u="none" strike="noStrike" cap="none" normalizeH="0" baseline="0" dirty="0">
                <a:ln>
                  <a:noFill/>
                </a:ln>
                <a:solidFill>
                  <a:schemeClr val="tx1"/>
                </a:solidFill>
                <a:effectLst/>
                <a:latin typeface="Times New Roman" pitchFamily="18" charset="0"/>
                <a:ea typeface="黑体" pitchFamily="49" charset="-122"/>
                <a:cs typeface="Times New Roman" pitchFamily="18" charset="0"/>
              </a:rPr>
              <a:t>8.5.4  </a:t>
            </a:r>
            <a:r>
              <a:rPr kumimoji="0" lang="zh-CN" altLang="en-US" sz="2400" b="0" i="0" u="none" strike="noStrike" cap="none" normalizeH="0" baseline="0" dirty="0">
                <a:ln>
                  <a:noFill/>
                </a:ln>
                <a:solidFill>
                  <a:schemeClr val="tx1"/>
                </a:solidFill>
                <a:effectLst/>
                <a:latin typeface="黑体" pitchFamily="49" charset="-122"/>
                <a:ea typeface="黑体" pitchFamily="49" charset="-122"/>
                <a:cs typeface="Times New Roman" pitchFamily="18" charset="0"/>
              </a:rPr>
              <a:t>基于模糊集合与模糊关系的模糊推理</a:t>
            </a:r>
            <a:endParaRPr kumimoji="0" lang="en-US" altLang="zh-CN" sz="2400" b="0" i="0" u="none" strike="noStrike" cap="none" normalizeH="0" baseline="0" dirty="0">
              <a:ln>
                <a:noFill/>
              </a:ln>
              <a:solidFill>
                <a:schemeClr val="tx1"/>
              </a:solidFill>
              <a:effectLst/>
              <a:latin typeface="黑体" pitchFamily="49" charset="-122"/>
              <a:ea typeface="黑体" pitchFamily="49" charset="-122"/>
              <a:cs typeface="Times New Roman" pitchFamily="18" charset="0"/>
            </a:endParaRPr>
          </a:p>
          <a:p>
            <a:pPr>
              <a:lnSpc>
                <a:spcPct val="150000"/>
              </a:lnSpc>
            </a:pPr>
            <a:r>
              <a:rPr lang="en-US" sz="2400" dirty="0"/>
              <a:t>    1</a:t>
            </a:r>
            <a:r>
              <a:rPr lang="en-US" sz="2400" dirty="0">
                <a:latin typeface="楷体" pitchFamily="49" charset="-122"/>
                <a:ea typeface="楷体" pitchFamily="49" charset="-122"/>
              </a:rPr>
              <a:t>. </a:t>
            </a:r>
            <a:r>
              <a:rPr lang="zh-CN" altLang="en-US" sz="2400" b="1" dirty="0">
                <a:latin typeface="楷体" pitchFamily="49" charset="-122"/>
                <a:ea typeface="楷体" pitchFamily="49" charset="-122"/>
              </a:rPr>
              <a:t>模糊集合与模糊关系</a:t>
            </a:r>
            <a:endParaRPr lang="zh-CN" altLang="en-US" sz="2400" dirty="0">
              <a:latin typeface="楷体" pitchFamily="49" charset="-122"/>
              <a:ea typeface="楷体" pitchFamily="49" charset="-122"/>
            </a:endParaRPr>
          </a:p>
          <a:p>
            <a:r>
              <a:rPr lang="en-US" sz="2400" dirty="0"/>
              <a:t>     (1) </a:t>
            </a:r>
            <a:r>
              <a:rPr lang="zh-CN" altLang="en-US" sz="2400" b="1" dirty="0">
                <a:latin typeface="楷体" pitchFamily="49" charset="-122"/>
                <a:ea typeface="楷体" pitchFamily="49" charset="-122"/>
              </a:rPr>
              <a:t>模糊集合</a:t>
            </a:r>
            <a:endParaRPr lang="en-US" altLang="zh-CN" sz="2400" b="1" dirty="0">
              <a:latin typeface="楷体" pitchFamily="49" charset="-122"/>
              <a:ea typeface="楷体" pitchFamily="49" charset="-122"/>
            </a:endParaRPr>
          </a:p>
          <a:p>
            <a:pPr>
              <a:lnSpc>
                <a:spcPct val="120000"/>
              </a:lnSpc>
            </a:pPr>
            <a:r>
              <a:rPr lang="en-US" sz="2200" dirty="0">
                <a:latin typeface="Times New Roman" pitchFamily="18" charset="0"/>
                <a:cs typeface="Times New Roman" pitchFamily="18" charset="0"/>
              </a:rPr>
              <a:t>       </a:t>
            </a:r>
            <a:r>
              <a:rPr lang="zh-CN" altLang="en-US" sz="2200" dirty="0">
                <a:latin typeface="Times New Roman" pitchFamily="18" charset="0"/>
                <a:ea typeface="黑体" pitchFamily="49" charset="-122"/>
                <a:cs typeface="Times New Roman" pitchFamily="18" charset="0"/>
              </a:rPr>
              <a:t>定义</a:t>
            </a:r>
            <a:r>
              <a:rPr lang="en-US" sz="2200" dirty="0">
                <a:latin typeface="Times New Roman" pitchFamily="18" charset="0"/>
                <a:cs typeface="Times New Roman" pitchFamily="18" charset="0"/>
              </a:rPr>
              <a:t>8-2  </a:t>
            </a:r>
            <a:r>
              <a:rPr lang="zh-CN" altLang="en-US" sz="2200" dirty="0">
                <a:latin typeface="Times New Roman" pitchFamily="18" charset="0"/>
                <a:cs typeface="Times New Roman" pitchFamily="18" charset="0"/>
              </a:rPr>
              <a:t>设</a:t>
            </a:r>
            <a:r>
              <a:rPr lang="en-US" sz="2200" i="1" dirty="0">
                <a:latin typeface="Times New Roman" pitchFamily="18" charset="0"/>
                <a:cs typeface="Times New Roman" pitchFamily="18" charset="0"/>
              </a:rPr>
              <a:t>U</a:t>
            </a:r>
            <a:r>
              <a:rPr lang="zh-CN" altLang="en-US" sz="2200" dirty="0">
                <a:latin typeface="Times New Roman" pitchFamily="18" charset="0"/>
                <a:cs typeface="Times New Roman" pitchFamily="18" charset="0"/>
              </a:rPr>
              <a:t>是一个论域，</a:t>
            </a:r>
            <a:r>
              <a:rPr lang="en-US" sz="2200" i="1" dirty="0">
                <a:latin typeface="Times New Roman" pitchFamily="18" charset="0"/>
                <a:cs typeface="Times New Roman" pitchFamily="18" charset="0"/>
              </a:rPr>
              <a:t>U</a:t>
            </a:r>
            <a:r>
              <a:rPr lang="zh-CN" altLang="en-US" sz="2200" dirty="0">
                <a:latin typeface="Times New Roman" pitchFamily="18" charset="0"/>
                <a:cs typeface="Times New Roman" pitchFamily="18" charset="0"/>
              </a:rPr>
              <a:t>到区间</a:t>
            </a:r>
            <a:r>
              <a:rPr lang="en-US" sz="2200" dirty="0">
                <a:latin typeface="Times New Roman" pitchFamily="18" charset="0"/>
                <a:cs typeface="Times New Roman" pitchFamily="18" charset="0"/>
              </a:rPr>
              <a:t> [0, 1] </a:t>
            </a:r>
            <a:r>
              <a:rPr lang="zh-CN" altLang="en-US" sz="2200" dirty="0">
                <a:latin typeface="Times New Roman" pitchFamily="18" charset="0"/>
                <a:cs typeface="Times New Roman" pitchFamily="18" charset="0"/>
              </a:rPr>
              <a:t>的一个映射</a:t>
            </a:r>
          </a:p>
          <a:p>
            <a:pPr>
              <a:lnSpc>
                <a:spcPct val="120000"/>
              </a:lnSpc>
            </a:pPr>
            <a:r>
              <a:rPr lang="en-US" sz="2200" dirty="0">
                <a:latin typeface="Times New Roman" pitchFamily="18" charset="0"/>
                <a:cs typeface="Times New Roman" pitchFamily="18" charset="0"/>
              </a:rPr>
              <a:t>                               </a:t>
            </a:r>
            <a:r>
              <a:rPr lang="en-US" sz="2200" i="1" dirty="0">
                <a:latin typeface="Times New Roman" pitchFamily="18" charset="0"/>
                <a:cs typeface="Times New Roman" pitchFamily="18" charset="0"/>
              </a:rPr>
              <a:t>μ </a:t>
            </a:r>
            <a:r>
              <a:rPr lang="en-US" sz="2200" dirty="0">
                <a:latin typeface="Times New Roman" pitchFamily="18" charset="0"/>
                <a:cs typeface="Times New Roman" pitchFamily="18" charset="0"/>
              </a:rPr>
              <a:t>:  </a:t>
            </a:r>
            <a:r>
              <a:rPr lang="en-US" sz="2200" i="1" dirty="0">
                <a:latin typeface="Times New Roman" pitchFamily="18" charset="0"/>
                <a:cs typeface="Times New Roman" pitchFamily="18" charset="0"/>
              </a:rPr>
              <a:t>U </a:t>
            </a:r>
            <a:r>
              <a:rPr lang="en-US" sz="2200" dirty="0">
                <a:latin typeface="Times New Roman" pitchFamily="18" charset="0"/>
                <a:cs typeface="Times New Roman" pitchFamily="18" charset="0"/>
                <a:sym typeface="Symbol"/>
              </a:rPr>
              <a:t></a:t>
            </a:r>
            <a:r>
              <a:rPr lang="en-US" sz="2200" dirty="0">
                <a:latin typeface="Times New Roman" pitchFamily="18" charset="0"/>
                <a:cs typeface="Times New Roman" pitchFamily="18" charset="0"/>
              </a:rPr>
              <a:t> [0, 1]</a:t>
            </a:r>
            <a:endParaRPr lang="zh-CN" altLang="en-US" sz="2200" dirty="0">
              <a:latin typeface="Times New Roman" pitchFamily="18" charset="0"/>
              <a:cs typeface="Times New Roman" pitchFamily="18" charset="0"/>
            </a:endParaRPr>
          </a:p>
          <a:p>
            <a:pPr algn="just">
              <a:lnSpc>
                <a:spcPct val="120000"/>
              </a:lnSpc>
            </a:pPr>
            <a:r>
              <a:rPr lang="zh-CN" altLang="en-US" sz="2200" dirty="0">
                <a:latin typeface="Times New Roman" pitchFamily="18" charset="0"/>
                <a:cs typeface="Times New Roman" pitchFamily="18" charset="0"/>
              </a:rPr>
              <a:t>就确定了</a:t>
            </a:r>
            <a:r>
              <a:rPr lang="en-US" sz="2200" i="1" dirty="0">
                <a:latin typeface="Times New Roman" pitchFamily="18" charset="0"/>
                <a:cs typeface="Times New Roman" pitchFamily="18" charset="0"/>
              </a:rPr>
              <a:t>U</a:t>
            </a:r>
            <a:r>
              <a:rPr lang="zh-CN" altLang="en-US" sz="2200" dirty="0">
                <a:latin typeface="Times New Roman" pitchFamily="18" charset="0"/>
                <a:cs typeface="Times New Roman" pitchFamily="18" charset="0"/>
              </a:rPr>
              <a:t>的一个模糊子集</a:t>
            </a:r>
            <a:r>
              <a:rPr lang="en-US" sz="2200" i="1" dirty="0">
                <a:latin typeface="Times New Roman" pitchFamily="18" charset="0"/>
                <a:cs typeface="Times New Roman" pitchFamily="18" charset="0"/>
              </a:rPr>
              <a:t>A</a:t>
            </a:r>
            <a:r>
              <a:rPr lang="zh-CN" altLang="en-US" sz="2200" dirty="0">
                <a:latin typeface="Times New Roman" pitchFamily="18" charset="0"/>
                <a:cs typeface="Times New Roman" pitchFamily="18" charset="0"/>
              </a:rPr>
              <a:t>。映射</a:t>
            </a:r>
            <a:r>
              <a:rPr lang="en-US" sz="2200" i="1" dirty="0">
                <a:latin typeface="Times New Roman" pitchFamily="18" charset="0"/>
                <a:cs typeface="Times New Roman" pitchFamily="18" charset="0"/>
              </a:rPr>
              <a:t>μ</a:t>
            </a:r>
            <a:r>
              <a:rPr lang="zh-CN" altLang="en-US" sz="2200" dirty="0">
                <a:latin typeface="Times New Roman" pitchFamily="18" charset="0"/>
                <a:cs typeface="Times New Roman" pitchFamily="18" charset="0"/>
              </a:rPr>
              <a:t>称为</a:t>
            </a:r>
            <a:r>
              <a:rPr lang="en-US" sz="2200" i="1" dirty="0">
                <a:latin typeface="Times New Roman" pitchFamily="18" charset="0"/>
                <a:cs typeface="Times New Roman" pitchFamily="18" charset="0"/>
              </a:rPr>
              <a:t>A</a:t>
            </a:r>
            <a:r>
              <a:rPr lang="zh-CN" altLang="en-US" sz="2200" dirty="0">
                <a:latin typeface="Times New Roman" pitchFamily="18" charset="0"/>
                <a:cs typeface="Times New Roman" pitchFamily="18" charset="0"/>
              </a:rPr>
              <a:t>的隶属函数，记为</a:t>
            </a:r>
            <a:r>
              <a:rPr lang="en-US" sz="2200" i="1" dirty="0">
                <a:latin typeface="Times New Roman" pitchFamily="18" charset="0"/>
                <a:cs typeface="Times New Roman" pitchFamily="18" charset="0"/>
              </a:rPr>
              <a:t>μ</a:t>
            </a:r>
            <a:r>
              <a:rPr lang="en-US" sz="2200" dirty="0">
                <a:latin typeface="Times New Roman" pitchFamily="18" charset="0"/>
                <a:cs typeface="Times New Roman" pitchFamily="18" charset="0"/>
              </a:rPr>
              <a:t>(</a:t>
            </a:r>
            <a:r>
              <a:rPr lang="en-US" sz="2200" i="1" dirty="0">
                <a:latin typeface="Times New Roman" pitchFamily="18" charset="0"/>
                <a:cs typeface="Times New Roman" pitchFamily="18" charset="0"/>
              </a:rPr>
              <a:t>u</a:t>
            </a:r>
            <a:r>
              <a:rPr lang="en-US" sz="2200" dirty="0">
                <a:latin typeface="Times New Roman" pitchFamily="18" charset="0"/>
                <a:cs typeface="Times New Roman" pitchFamily="18" charset="0"/>
              </a:rPr>
              <a:t>)</a:t>
            </a:r>
            <a:r>
              <a:rPr lang="zh-CN" altLang="en-US" sz="2200" dirty="0">
                <a:latin typeface="Times New Roman" pitchFamily="18" charset="0"/>
                <a:cs typeface="Times New Roman" pitchFamily="18" charset="0"/>
              </a:rPr>
              <a:t>。 对于任意的</a:t>
            </a:r>
            <a:r>
              <a:rPr lang="en-US" sz="2200" i="1" dirty="0" err="1">
                <a:latin typeface="Times New Roman" pitchFamily="18" charset="0"/>
                <a:cs typeface="Times New Roman" pitchFamily="18" charset="0"/>
              </a:rPr>
              <a:t>u</a:t>
            </a:r>
            <a:r>
              <a:rPr lang="en-US" sz="2200" dirty="0" err="1">
                <a:latin typeface="Times New Roman" pitchFamily="18" charset="0"/>
                <a:cs typeface="Times New Roman" pitchFamily="18" charset="0"/>
              </a:rPr>
              <a:t>∈</a:t>
            </a:r>
            <a:r>
              <a:rPr lang="en-US" sz="2200" i="1" dirty="0" err="1">
                <a:latin typeface="Times New Roman" pitchFamily="18" charset="0"/>
                <a:cs typeface="Times New Roman" pitchFamily="18" charset="0"/>
              </a:rPr>
              <a:t>U</a:t>
            </a:r>
            <a:r>
              <a:rPr lang="zh-CN" altLang="en-US" sz="2200" dirty="0">
                <a:latin typeface="Times New Roman" pitchFamily="18" charset="0"/>
                <a:cs typeface="Times New Roman" pitchFamily="18" charset="0"/>
              </a:rPr>
              <a:t>， </a:t>
            </a:r>
            <a:r>
              <a:rPr lang="en-US" sz="2200" i="1" dirty="0" err="1">
                <a:latin typeface="Times New Roman" pitchFamily="18" charset="0"/>
                <a:cs typeface="Times New Roman" pitchFamily="18" charset="0"/>
              </a:rPr>
              <a:t>μ</a:t>
            </a:r>
            <a:r>
              <a:rPr lang="en-US" sz="2200" i="1" baseline="-25000" dirty="0" err="1">
                <a:latin typeface="Times New Roman" pitchFamily="18" charset="0"/>
                <a:cs typeface="Times New Roman" pitchFamily="18" charset="0"/>
              </a:rPr>
              <a:t>A</a:t>
            </a:r>
            <a:r>
              <a:rPr lang="en-US" sz="2200" dirty="0">
                <a:latin typeface="Times New Roman" pitchFamily="18" charset="0"/>
                <a:cs typeface="Times New Roman" pitchFamily="18" charset="0"/>
              </a:rPr>
              <a:t>(</a:t>
            </a:r>
            <a:r>
              <a:rPr lang="en-US" sz="2200" i="1" dirty="0">
                <a:latin typeface="Times New Roman" pitchFamily="18" charset="0"/>
                <a:cs typeface="Times New Roman" pitchFamily="18" charset="0"/>
              </a:rPr>
              <a:t>u</a:t>
            </a:r>
            <a:r>
              <a:rPr lang="en-US" sz="2200" dirty="0">
                <a:latin typeface="Times New Roman" pitchFamily="18" charset="0"/>
                <a:cs typeface="Times New Roman" pitchFamily="18" charset="0"/>
              </a:rPr>
              <a:t>)∈[0, 1]</a:t>
            </a:r>
            <a:r>
              <a:rPr lang="zh-CN" altLang="en-US" sz="2200" dirty="0">
                <a:latin typeface="Times New Roman" pitchFamily="18" charset="0"/>
                <a:cs typeface="Times New Roman" pitchFamily="18" charset="0"/>
              </a:rPr>
              <a:t>称为</a:t>
            </a:r>
            <a:r>
              <a:rPr lang="en-US" sz="2200" i="1" dirty="0">
                <a:latin typeface="Times New Roman" pitchFamily="18" charset="0"/>
                <a:cs typeface="Times New Roman" pitchFamily="18" charset="0"/>
              </a:rPr>
              <a:t>u</a:t>
            </a:r>
            <a:r>
              <a:rPr lang="zh-CN" altLang="en-US" sz="2200" dirty="0">
                <a:latin typeface="Times New Roman" pitchFamily="18" charset="0"/>
                <a:cs typeface="Times New Roman" pitchFamily="18" charset="0"/>
              </a:rPr>
              <a:t>属于模糊子集</a:t>
            </a:r>
            <a:r>
              <a:rPr lang="en-US" sz="2200" i="1" dirty="0">
                <a:latin typeface="Times New Roman" pitchFamily="18" charset="0"/>
                <a:cs typeface="Times New Roman" pitchFamily="18" charset="0"/>
              </a:rPr>
              <a:t>A</a:t>
            </a:r>
            <a:r>
              <a:rPr lang="zh-CN" altLang="en-US" sz="2200" dirty="0">
                <a:latin typeface="Times New Roman" pitchFamily="18" charset="0"/>
                <a:cs typeface="Times New Roman" pitchFamily="18" charset="0"/>
              </a:rPr>
              <a:t>的程度，简称隶属度。如</a:t>
            </a:r>
            <a:r>
              <a:rPr lang="en-US" altLang="zh-CN" sz="2400" dirty="0"/>
              <a:t>U={</a:t>
            </a:r>
            <a:r>
              <a:rPr lang="zh-CN" altLang="en-US" sz="2400" dirty="0"/>
              <a:t>所有人</a:t>
            </a:r>
            <a:r>
              <a:rPr lang="en-US" altLang="zh-CN" sz="2400" dirty="0"/>
              <a:t>}</a:t>
            </a:r>
            <a:r>
              <a:rPr lang="zh-CN" altLang="en-US" sz="2400" dirty="0"/>
              <a:t>，</a:t>
            </a:r>
            <a:r>
              <a:rPr lang="en-US" altLang="zh-CN" sz="2400" dirty="0"/>
              <a:t>A={</a:t>
            </a:r>
            <a:r>
              <a:rPr lang="zh-CN" altLang="en-US" sz="2400" dirty="0"/>
              <a:t>高个子的人</a:t>
            </a:r>
            <a:r>
              <a:rPr lang="en-US" altLang="zh-CN" sz="2400" dirty="0"/>
              <a:t>}</a:t>
            </a:r>
            <a:endParaRPr lang="zh-CN" altLang="en-US" sz="2200" dirty="0">
              <a:latin typeface="Times New Roman" pitchFamily="18" charset="0"/>
              <a:cs typeface="Times New Roman" pitchFamily="18" charset="0"/>
            </a:endParaRPr>
          </a:p>
          <a:p>
            <a:pPr>
              <a:lnSpc>
                <a:spcPct val="120000"/>
              </a:lnSpc>
            </a:pPr>
            <a:r>
              <a:rPr lang="en-US" sz="2200" dirty="0">
                <a:latin typeface="Times New Roman" pitchFamily="18" charset="0"/>
                <a:cs typeface="Times New Roman" pitchFamily="18" charset="0"/>
              </a:rPr>
              <a:t>    </a:t>
            </a:r>
            <a:r>
              <a:rPr lang="zh-CN" altLang="en-US" sz="2200" dirty="0">
                <a:latin typeface="Times New Roman" pitchFamily="18" charset="0"/>
                <a:cs typeface="Times New Roman" pitchFamily="18" charset="0"/>
              </a:rPr>
              <a:t>模糊集合</a:t>
            </a:r>
            <a:r>
              <a:rPr lang="en-US" sz="2200" i="1" dirty="0">
                <a:latin typeface="Times New Roman" pitchFamily="18" charset="0"/>
                <a:cs typeface="Times New Roman" pitchFamily="18" charset="0"/>
              </a:rPr>
              <a:t>A</a:t>
            </a:r>
            <a:r>
              <a:rPr lang="zh-CN" altLang="en-US" sz="2200" dirty="0">
                <a:latin typeface="Times New Roman" pitchFamily="18" charset="0"/>
                <a:cs typeface="Times New Roman" pitchFamily="18" charset="0"/>
              </a:rPr>
              <a:t>一般可表示为</a:t>
            </a:r>
          </a:p>
          <a:p>
            <a:pPr>
              <a:lnSpc>
                <a:spcPct val="120000"/>
              </a:lnSpc>
            </a:pPr>
            <a:r>
              <a:rPr lang="en-US" sz="2200" dirty="0">
                <a:latin typeface="Times New Roman" pitchFamily="18" charset="0"/>
                <a:cs typeface="Times New Roman" pitchFamily="18" charset="0"/>
              </a:rPr>
              <a:t>                         </a:t>
            </a:r>
            <a:r>
              <a:rPr lang="en-US" sz="2200" i="1" dirty="0">
                <a:latin typeface="Times New Roman" pitchFamily="18" charset="0"/>
                <a:cs typeface="Times New Roman" pitchFamily="18" charset="0"/>
              </a:rPr>
              <a:t>A</a:t>
            </a:r>
            <a:r>
              <a:rPr lang="en-US" sz="2200" dirty="0">
                <a:latin typeface="Times New Roman" pitchFamily="18" charset="0"/>
                <a:cs typeface="Times New Roman" pitchFamily="18" charset="0"/>
              </a:rPr>
              <a:t>={</a:t>
            </a:r>
            <a:r>
              <a:rPr lang="en-US" sz="2200" i="1" dirty="0" err="1">
                <a:latin typeface="Times New Roman" pitchFamily="18" charset="0"/>
                <a:cs typeface="Times New Roman" pitchFamily="18" charset="0"/>
              </a:rPr>
              <a:t>μ</a:t>
            </a:r>
            <a:r>
              <a:rPr lang="en-US" sz="2200" i="1" baseline="-25000" dirty="0" err="1">
                <a:latin typeface="Times New Roman" pitchFamily="18" charset="0"/>
                <a:cs typeface="Times New Roman" pitchFamily="18" charset="0"/>
              </a:rPr>
              <a:t>A</a:t>
            </a:r>
            <a:r>
              <a:rPr lang="en-US" sz="2200" dirty="0">
                <a:latin typeface="Times New Roman" pitchFamily="18" charset="0"/>
                <a:cs typeface="Times New Roman" pitchFamily="18" charset="0"/>
              </a:rPr>
              <a:t>(</a:t>
            </a:r>
            <a:r>
              <a:rPr lang="en-US" sz="2200" i="1" dirty="0">
                <a:latin typeface="Times New Roman" pitchFamily="18" charset="0"/>
                <a:cs typeface="Times New Roman" pitchFamily="18" charset="0"/>
              </a:rPr>
              <a:t>u</a:t>
            </a:r>
            <a:r>
              <a:rPr lang="en-US" sz="2200" baseline="-25000" dirty="0">
                <a:latin typeface="Times New Roman" pitchFamily="18" charset="0"/>
                <a:cs typeface="Times New Roman" pitchFamily="18" charset="0"/>
              </a:rPr>
              <a:t>1</a:t>
            </a:r>
            <a:r>
              <a:rPr lang="en-US" sz="2200" dirty="0">
                <a:latin typeface="Times New Roman" pitchFamily="18" charset="0"/>
                <a:cs typeface="Times New Roman" pitchFamily="18" charset="0"/>
              </a:rPr>
              <a:t>)/</a:t>
            </a:r>
            <a:r>
              <a:rPr lang="en-US" sz="2200" i="1" dirty="0">
                <a:latin typeface="Times New Roman" pitchFamily="18" charset="0"/>
                <a:cs typeface="Times New Roman" pitchFamily="18" charset="0"/>
              </a:rPr>
              <a:t>u</a:t>
            </a:r>
            <a:r>
              <a:rPr lang="en-US" sz="2200" baseline="-25000" dirty="0">
                <a:latin typeface="Times New Roman" pitchFamily="18" charset="0"/>
                <a:cs typeface="Times New Roman" pitchFamily="18" charset="0"/>
              </a:rPr>
              <a:t>1</a:t>
            </a:r>
            <a:r>
              <a:rPr lang="en-US" sz="2200" dirty="0">
                <a:latin typeface="Times New Roman" pitchFamily="18" charset="0"/>
                <a:cs typeface="Times New Roman" pitchFamily="18" charset="0"/>
              </a:rPr>
              <a:t>, </a:t>
            </a:r>
            <a:r>
              <a:rPr lang="en-US" sz="2200" i="1" dirty="0" err="1">
                <a:latin typeface="Times New Roman" pitchFamily="18" charset="0"/>
                <a:cs typeface="Times New Roman" pitchFamily="18" charset="0"/>
              </a:rPr>
              <a:t>μ</a:t>
            </a:r>
            <a:r>
              <a:rPr lang="en-US" sz="2200" i="1" baseline="-25000" dirty="0" err="1">
                <a:latin typeface="Times New Roman" pitchFamily="18" charset="0"/>
                <a:cs typeface="Times New Roman" pitchFamily="18" charset="0"/>
              </a:rPr>
              <a:t>A</a:t>
            </a:r>
            <a:r>
              <a:rPr lang="en-US" sz="2200" dirty="0">
                <a:latin typeface="Times New Roman" pitchFamily="18" charset="0"/>
                <a:cs typeface="Times New Roman" pitchFamily="18" charset="0"/>
              </a:rPr>
              <a:t>(</a:t>
            </a:r>
            <a:r>
              <a:rPr lang="en-US" sz="2200" i="1" dirty="0">
                <a:latin typeface="Times New Roman" pitchFamily="18" charset="0"/>
                <a:cs typeface="Times New Roman" pitchFamily="18" charset="0"/>
              </a:rPr>
              <a:t>u</a:t>
            </a:r>
            <a:r>
              <a:rPr lang="en-US" sz="2200" baseline="-25000" dirty="0">
                <a:latin typeface="Times New Roman" pitchFamily="18" charset="0"/>
                <a:cs typeface="Times New Roman" pitchFamily="18" charset="0"/>
              </a:rPr>
              <a:t>2</a:t>
            </a:r>
            <a:r>
              <a:rPr lang="en-US" sz="2200" dirty="0">
                <a:latin typeface="Times New Roman" pitchFamily="18" charset="0"/>
                <a:cs typeface="Times New Roman" pitchFamily="18" charset="0"/>
              </a:rPr>
              <a:t>)/</a:t>
            </a:r>
            <a:r>
              <a:rPr lang="en-US" sz="2200" i="1" dirty="0">
                <a:latin typeface="Times New Roman" pitchFamily="18" charset="0"/>
                <a:cs typeface="Times New Roman" pitchFamily="18" charset="0"/>
              </a:rPr>
              <a:t>u</a:t>
            </a:r>
            <a:r>
              <a:rPr lang="en-US" sz="2200" baseline="-25000" dirty="0">
                <a:latin typeface="Times New Roman" pitchFamily="18" charset="0"/>
                <a:cs typeface="Times New Roman" pitchFamily="18" charset="0"/>
              </a:rPr>
              <a:t>2</a:t>
            </a:r>
            <a:r>
              <a:rPr lang="en-US" sz="2200" dirty="0">
                <a:latin typeface="Times New Roman" pitchFamily="18" charset="0"/>
                <a:cs typeface="Times New Roman" pitchFamily="18" charset="0"/>
              </a:rPr>
              <a:t>, </a:t>
            </a:r>
            <a:r>
              <a:rPr lang="en-US" sz="2200" i="1" dirty="0" err="1">
                <a:latin typeface="Times New Roman" pitchFamily="18" charset="0"/>
                <a:cs typeface="Times New Roman" pitchFamily="18" charset="0"/>
              </a:rPr>
              <a:t>μ</a:t>
            </a:r>
            <a:r>
              <a:rPr lang="en-US" sz="2200" baseline="-25000" dirty="0" err="1">
                <a:latin typeface="Times New Roman" pitchFamily="18" charset="0"/>
                <a:cs typeface="Times New Roman" pitchFamily="18" charset="0"/>
              </a:rPr>
              <a:t>A</a:t>
            </a:r>
            <a:r>
              <a:rPr lang="en-US" sz="2200" dirty="0">
                <a:latin typeface="Times New Roman" pitchFamily="18" charset="0"/>
                <a:cs typeface="Times New Roman" pitchFamily="18" charset="0"/>
              </a:rPr>
              <a:t>(</a:t>
            </a:r>
            <a:r>
              <a:rPr lang="en-US" sz="2200" i="1" dirty="0">
                <a:latin typeface="Times New Roman" pitchFamily="18" charset="0"/>
                <a:cs typeface="Times New Roman" pitchFamily="18" charset="0"/>
              </a:rPr>
              <a:t>u</a:t>
            </a:r>
            <a:r>
              <a:rPr lang="en-US" sz="2200" baseline="-25000" dirty="0">
                <a:latin typeface="Times New Roman" pitchFamily="18" charset="0"/>
                <a:cs typeface="Times New Roman" pitchFamily="18" charset="0"/>
              </a:rPr>
              <a:t>3</a:t>
            </a:r>
            <a:r>
              <a:rPr lang="en-US" sz="2200" dirty="0">
                <a:latin typeface="Times New Roman" pitchFamily="18" charset="0"/>
                <a:cs typeface="Times New Roman" pitchFamily="18" charset="0"/>
              </a:rPr>
              <a:t>)/</a:t>
            </a:r>
            <a:r>
              <a:rPr lang="en-US" sz="2200" i="1" dirty="0">
                <a:latin typeface="Times New Roman" pitchFamily="18" charset="0"/>
                <a:cs typeface="Times New Roman" pitchFamily="18" charset="0"/>
              </a:rPr>
              <a:t>u</a:t>
            </a:r>
            <a:r>
              <a:rPr lang="en-US" sz="2200" baseline="-25000" dirty="0">
                <a:latin typeface="Times New Roman" pitchFamily="18" charset="0"/>
                <a:cs typeface="Times New Roman" pitchFamily="18" charset="0"/>
              </a:rPr>
              <a:t>3</a:t>
            </a:r>
            <a:r>
              <a:rPr lang="en-US" sz="2200" dirty="0">
                <a:latin typeface="Times New Roman" pitchFamily="18" charset="0"/>
                <a:cs typeface="Times New Roman" pitchFamily="18" charset="0"/>
              </a:rPr>
              <a:t>, …}                 </a:t>
            </a:r>
            <a:endParaRPr lang="zh-CN" altLang="en-US" sz="2200" dirty="0">
              <a:latin typeface="Times New Roman" pitchFamily="18" charset="0"/>
              <a:cs typeface="Times New Roman" pitchFamily="18" charset="0"/>
            </a:endParaRPr>
          </a:p>
          <a:p>
            <a:pPr>
              <a:lnSpc>
                <a:spcPct val="120000"/>
              </a:lnSpc>
            </a:pPr>
            <a:r>
              <a:rPr lang="zh-CN" altLang="en-US" sz="2200" dirty="0">
                <a:latin typeface="Times New Roman" pitchFamily="18" charset="0"/>
                <a:cs typeface="Times New Roman" pitchFamily="18" charset="0"/>
              </a:rPr>
              <a:t>或</a:t>
            </a:r>
          </a:p>
          <a:p>
            <a:pPr>
              <a:lnSpc>
                <a:spcPct val="120000"/>
              </a:lnSpc>
            </a:pPr>
            <a:r>
              <a:rPr lang="en-US" sz="2200" dirty="0">
                <a:latin typeface="Times New Roman" pitchFamily="18" charset="0"/>
                <a:cs typeface="Times New Roman" pitchFamily="18" charset="0"/>
              </a:rPr>
              <a:t>                          </a:t>
            </a:r>
            <a:r>
              <a:rPr lang="en-US" sz="2200" i="1" dirty="0">
                <a:latin typeface="Times New Roman" pitchFamily="18" charset="0"/>
                <a:cs typeface="Times New Roman" pitchFamily="18" charset="0"/>
              </a:rPr>
              <a:t>A</a:t>
            </a:r>
            <a:r>
              <a:rPr lang="en-US" sz="2200" dirty="0">
                <a:latin typeface="Times New Roman" pitchFamily="18" charset="0"/>
                <a:cs typeface="Times New Roman" pitchFamily="18" charset="0"/>
              </a:rPr>
              <a:t>=</a:t>
            </a:r>
            <a:r>
              <a:rPr lang="en-US" sz="2200" i="1" dirty="0" err="1">
                <a:latin typeface="Times New Roman" pitchFamily="18" charset="0"/>
                <a:cs typeface="Times New Roman" pitchFamily="18" charset="0"/>
              </a:rPr>
              <a:t>μ</a:t>
            </a:r>
            <a:r>
              <a:rPr lang="en-US" sz="2200" i="1" baseline="-25000" dirty="0" err="1">
                <a:latin typeface="Times New Roman" pitchFamily="18" charset="0"/>
                <a:cs typeface="Times New Roman" pitchFamily="18" charset="0"/>
              </a:rPr>
              <a:t>A</a:t>
            </a:r>
            <a:r>
              <a:rPr lang="en-US" sz="2200" dirty="0">
                <a:latin typeface="Times New Roman" pitchFamily="18" charset="0"/>
                <a:cs typeface="Times New Roman" pitchFamily="18" charset="0"/>
              </a:rPr>
              <a:t>(</a:t>
            </a:r>
            <a:r>
              <a:rPr lang="en-US" sz="2200" i="1" dirty="0">
                <a:latin typeface="Times New Roman" pitchFamily="18" charset="0"/>
                <a:cs typeface="Times New Roman" pitchFamily="18" charset="0"/>
              </a:rPr>
              <a:t>u</a:t>
            </a:r>
            <a:r>
              <a:rPr lang="en-US" sz="2200" baseline="-25000" dirty="0">
                <a:latin typeface="Times New Roman" pitchFamily="18" charset="0"/>
                <a:cs typeface="Times New Roman" pitchFamily="18" charset="0"/>
              </a:rPr>
              <a:t>1</a:t>
            </a:r>
            <a:r>
              <a:rPr lang="en-US" sz="2200" dirty="0">
                <a:latin typeface="Times New Roman" pitchFamily="18" charset="0"/>
                <a:cs typeface="Times New Roman" pitchFamily="18" charset="0"/>
              </a:rPr>
              <a:t>)/</a:t>
            </a:r>
            <a:r>
              <a:rPr lang="en-US" sz="2200" i="1" dirty="0">
                <a:latin typeface="Times New Roman" pitchFamily="18" charset="0"/>
                <a:cs typeface="Times New Roman" pitchFamily="18" charset="0"/>
              </a:rPr>
              <a:t>u</a:t>
            </a:r>
            <a:r>
              <a:rPr lang="en-US" sz="2200" baseline="-25000" dirty="0">
                <a:latin typeface="Times New Roman" pitchFamily="18" charset="0"/>
                <a:cs typeface="Times New Roman" pitchFamily="18" charset="0"/>
              </a:rPr>
              <a:t>1</a:t>
            </a:r>
            <a:r>
              <a:rPr lang="zh-CN" altLang="en-US" sz="2200" dirty="0">
                <a:latin typeface="Times New Roman" pitchFamily="18" charset="0"/>
                <a:cs typeface="Times New Roman" pitchFamily="18" charset="0"/>
              </a:rPr>
              <a:t>＋</a:t>
            </a:r>
            <a:r>
              <a:rPr lang="en-US" sz="2200" i="1" dirty="0" err="1">
                <a:latin typeface="Times New Roman" pitchFamily="18" charset="0"/>
                <a:cs typeface="Times New Roman" pitchFamily="18" charset="0"/>
              </a:rPr>
              <a:t>μ</a:t>
            </a:r>
            <a:r>
              <a:rPr lang="en-US" sz="2200" i="1" baseline="-25000" dirty="0" err="1">
                <a:latin typeface="Times New Roman" pitchFamily="18" charset="0"/>
                <a:cs typeface="Times New Roman" pitchFamily="18" charset="0"/>
              </a:rPr>
              <a:t>A</a:t>
            </a:r>
            <a:r>
              <a:rPr lang="en-US" sz="2200" dirty="0">
                <a:latin typeface="Times New Roman" pitchFamily="18" charset="0"/>
                <a:cs typeface="Times New Roman" pitchFamily="18" charset="0"/>
              </a:rPr>
              <a:t>(</a:t>
            </a:r>
            <a:r>
              <a:rPr lang="en-US" sz="2200" i="1" dirty="0">
                <a:latin typeface="Times New Roman" pitchFamily="18" charset="0"/>
                <a:cs typeface="Times New Roman" pitchFamily="18" charset="0"/>
              </a:rPr>
              <a:t>u</a:t>
            </a:r>
            <a:r>
              <a:rPr lang="en-US" sz="2200" baseline="-25000" dirty="0">
                <a:latin typeface="Times New Roman" pitchFamily="18" charset="0"/>
                <a:cs typeface="Times New Roman" pitchFamily="18" charset="0"/>
              </a:rPr>
              <a:t>2</a:t>
            </a:r>
            <a:r>
              <a:rPr lang="en-US" sz="2200" dirty="0">
                <a:latin typeface="Times New Roman" pitchFamily="18" charset="0"/>
                <a:cs typeface="Times New Roman" pitchFamily="18" charset="0"/>
              </a:rPr>
              <a:t>)/</a:t>
            </a:r>
            <a:r>
              <a:rPr lang="en-US" sz="2200" i="1" dirty="0">
                <a:latin typeface="Times New Roman" pitchFamily="18" charset="0"/>
                <a:cs typeface="Times New Roman" pitchFamily="18" charset="0"/>
              </a:rPr>
              <a:t>u</a:t>
            </a:r>
            <a:r>
              <a:rPr lang="en-US" sz="2200" baseline="-25000" dirty="0">
                <a:latin typeface="Times New Roman" pitchFamily="18" charset="0"/>
                <a:cs typeface="Times New Roman" pitchFamily="18" charset="0"/>
              </a:rPr>
              <a:t>2</a:t>
            </a:r>
            <a:r>
              <a:rPr lang="zh-CN" altLang="en-US" sz="2200" dirty="0">
                <a:latin typeface="Times New Roman" pitchFamily="18" charset="0"/>
                <a:cs typeface="Times New Roman" pitchFamily="18" charset="0"/>
              </a:rPr>
              <a:t>＋</a:t>
            </a:r>
            <a:r>
              <a:rPr lang="en-US" sz="2200" i="1" dirty="0" err="1">
                <a:latin typeface="Times New Roman" pitchFamily="18" charset="0"/>
                <a:cs typeface="Times New Roman" pitchFamily="18" charset="0"/>
              </a:rPr>
              <a:t>μ</a:t>
            </a:r>
            <a:r>
              <a:rPr lang="en-US" sz="2200" baseline="-25000" dirty="0" err="1">
                <a:latin typeface="Times New Roman" pitchFamily="18" charset="0"/>
                <a:cs typeface="Times New Roman" pitchFamily="18" charset="0"/>
              </a:rPr>
              <a:t>A</a:t>
            </a:r>
            <a:r>
              <a:rPr lang="en-US" sz="2200" dirty="0">
                <a:latin typeface="Times New Roman" pitchFamily="18" charset="0"/>
                <a:cs typeface="Times New Roman" pitchFamily="18" charset="0"/>
              </a:rPr>
              <a:t>(</a:t>
            </a:r>
            <a:r>
              <a:rPr lang="en-US" sz="2200" i="1" dirty="0">
                <a:latin typeface="Times New Roman" pitchFamily="18" charset="0"/>
                <a:cs typeface="Times New Roman" pitchFamily="18" charset="0"/>
              </a:rPr>
              <a:t>u</a:t>
            </a:r>
            <a:r>
              <a:rPr lang="en-US" sz="2200" baseline="-25000" dirty="0">
                <a:latin typeface="Times New Roman" pitchFamily="18" charset="0"/>
                <a:cs typeface="Times New Roman" pitchFamily="18" charset="0"/>
              </a:rPr>
              <a:t>3</a:t>
            </a:r>
            <a:r>
              <a:rPr lang="en-US" sz="2200" dirty="0">
                <a:latin typeface="Times New Roman" pitchFamily="18" charset="0"/>
                <a:cs typeface="Times New Roman" pitchFamily="18" charset="0"/>
              </a:rPr>
              <a:t>)/</a:t>
            </a:r>
            <a:r>
              <a:rPr lang="en-US" sz="2200" i="1" dirty="0">
                <a:latin typeface="Times New Roman" pitchFamily="18" charset="0"/>
                <a:cs typeface="Times New Roman" pitchFamily="18" charset="0"/>
              </a:rPr>
              <a:t>u</a:t>
            </a:r>
            <a:r>
              <a:rPr lang="en-US" sz="2200" baseline="-25000" dirty="0">
                <a:latin typeface="Times New Roman" pitchFamily="18" charset="0"/>
                <a:cs typeface="Times New Roman" pitchFamily="18" charset="0"/>
              </a:rPr>
              <a:t>3</a:t>
            </a:r>
            <a:r>
              <a:rPr lang="zh-CN" altLang="en-US" sz="2200" dirty="0">
                <a:latin typeface="Times New Roman" pitchFamily="18" charset="0"/>
                <a:cs typeface="Times New Roman" pitchFamily="18" charset="0"/>
              </a:rPr>
              <a:t>＋</a:t>
            </a:r>
            <a:r>
              <a:rPr lang="en-US" sz="2200" dirty="0">
                <a:latin typeface="Times New Roman" pitchFamily="18" charset="0"/>
                <a:cs typeface="Times New Roman" pitchFamily="18" charset="0"/>
              </a:rPr>
              <a:t>…  </a:t>
            </a:r>
          </a:p>
          <a:p>
            <a:pPr>
              <a:lnSpc>
                <a:spcPct val="120000"/>
              </a:lnSpc>
            </a:pPr>
            <a:r>
              <a:rPr lang="zh-CN" altLang="en-US" sz="2200" dirty="0">
                <a:latin typeface="Times New Roman" pitchFamily="18" charset="0"/>
                <a:cs typeface="Times New Roman" pitchFamily="18" charset="0"/>
              </a:rPr>
              <a:t>或</a:t>
            </a:r>
            <a:r>
              <a:rPr lang="en-US" sz="2200" dirty="0">
                <a:latin typeface="Times New Roman" pitchFamily="18" charset="0"/>
                <a:cs typeface="Times New Roman" pitchFamily="18" charset="0"/>
              </a:rPr>
              <a:t>      </a:t>
            </a:r>
            <a:endParaRPr lang="zh-CN" altLang="en-US" sz="2200" dirty="0">
              <a:latin typeface="Times New Roman" pitchFamily="18" charset="0"/>
              <a:cs typeface="Times New Roman" pitchFamily="18" charset="0"/>
            </a:endParaRPr>
          </a:p>
          <a:p>
            <a:pPr marL="0" marR="0" lvl="0" indent="0" algn="l" defTabSz="914400" rtl="0" eaLnBrk="1" fontAlgn="base" latinLnBrk="0" hangingPunct="1">
              <a:lnSpc>
                <a:spcPct val="100000"/>
              </a:lnSpc>
              <a:spcBef>
                <a:spcPct val="0"/>
              </a:spcBef>
              <a:spcAft>
                <a:spcPct val="0"/>
              </a:spcAft>
              <a:buClrTx/>
              <a:buSzTx/>
              <a:buFontTx/>
              <a:buNone/>
              <a:tabLst/>
            </a:pPr>
            <a:endParaRPr kumimoji="0" lang="zh-CN" altLang="en-US" sz="2400" b="0" i="0" u="none" strike="noStrike" cap="none" normalizeH="0" baseline="0" dirty="0">
              <a:ln>
                <a:noFill/>
              </a:ln>
              <a:solidFill>
                <a:schemeClr val="tx1"/>
              </a:solidFill>
              <a:effectLst/>
              <a:latin typeface="Arial" pitchFamily="34" charset="0"/>
              <a:ea typeface="宋体" pitchFamily="2" charset="-122"/>
              <a:cs typeface="宋体" pitchFamily="2" charset="-122"/>
            </a:endParaRPr>
          </a:p>
        </p:txBody>
      </p:sp>
      <p:pic>
        <p:nvPicPr>
          <p:cNvPr id="599042" name="Picture 2"/>
          <p:cNvPicPr>
            <a:picLocks noChangeAspect="1" noChangeArrowheads="1"/>
          </p:cNvPicPr>
          <p:nvPr/>
        </p:nvPicPr>
        <p:blipFill>
          <a:blip r:embed="rId2"/>
          <a:srcRect/>
          <a:stretch>
            <a:fillRect/>
          </a:stretch>
        </p:blipFill>
        <p:spPr bwMode="auto">
          <a:xfrm>
            <a:off x="2285984" y="5786454"/>
            <a:ext cx="7929618" cy="785818"/>
          </a:xfrm>
          <a:prstGeom prst="rect">
            <a:avLst/>
          </a:prstGeom>
          <a:noFill/>
          <a:ln w="9525">
            <a:noFill/>
            <a:miter lim="800000"/>
            <a:headEnd/>
            <a:tailEnd/>
          </a:ln>
          <a:effectLst/>
        </p:spPr>
      </p:pic>
    </p:spTree>
  </p:cSld>
  <p:clrMapOvr>
    <a:masterClrMapping/>
  </p:clrMapOvr>
  <p:transition/>
</p:sld>
</file>

<file path=ppt/slides/slide26.xml><?xml version="1.0" encoding="utf-8"?>
<p:sld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475137" name="Rectangle 1"/>
          <p:cNvSpPr>
            <a:spLocks noChangeArrowheads="1"/>
          </p:cNvSpPr>
          <p:nvPr/>
        </p:nvSpPr>
        <p:spPr bwMode="auto">
          <a:xfrm>
            <a:off x="222220" y="500042"/>
            <a:ext cx="8572560" cy="2400657"/>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266700" algn="l" defTabSz="914400" rtl="0" eaLnBrk="1" fontAlgn="base" latinLnBrk="0" hangingPunct="1">
              <a:lnSpc>
                <a:spcPts val="3600"/>
              </a:lnSpc>
              <a:spcBef>
                <a:spcPct val="0"/>
              </a:spcBef>
              <a:spcAft>
                <a:spcPct val="0"/>
              </a:spcAft>
              <a:buClrTx/>
              <a:buSzTx/>
              <a:buFontTx/>
              <a:buNone/>
              <a:tabLst/>
            </a:pPr>
            <a:r>
              <a:rPr kumimoji="0" lang="en-US" altLang="zh-CN" sz="2400" b="0" i="0" u="none" strike="noStrike" cap="none" normalizeH="0" baseline="0" dirty="0">
                <a:ln>
                  <a:noFill/>
                </a:ln>
                <a:solidFill>
                  <a:schemeClr val="tx1"/>
                </a:solidFill>
                <a:effectLst/>
                <a:latin typeface="黑体" pitchFamily="49" charset="-122"/>
                <a:ea typeface="黑体" pitchFamily="49" charset="-122"/>
                <a:cs typeface="Times New Roman" pitchFamily="18" charset="0"/>
              </a:rPr>
              <a:t>   </a:t>
            </a:r>
            <a:r>
              <a:rPr kumimoji="0" lang="zh-CN" sz="2200" b="0" i="0" u="none" strike="noStrike" cap="none" normalizeH="0" baseline="0" dirty="0">
                <a:ln>
                  <a:noFill/>
                </a:ln>
                <a:solidFill>
                  <a:schemeClr val="tx1"/>
                </a:solidFill>
                <a:effectLst/>
                <a:latin typeface="黑体" pitchFamily="49" charset="-122"/>
                <a:ea typeface="黑体" pitchFamily="49" charset="-122"/>
                <a:cs typeface="Times New Roman" pitchFamily="18" charset="0"/>
              </a:rPr>
              <a:t>例</a:t>
            </a:r>
            <a:r>
              <a:rPr kumimoji="0" lang="en-US" altLang="zh-CN" sz="2200" b="0" i="0" u="none" strike="noStrike" cap="none" normalizeH="0" baseline="0" dirty="0">
                <a:ln>
                  <a:noFill/>
                </a:ln>
                <a:solidFill>
                  <a:schemeClr val="tx1"/>
                </a:solidFill>
                <a:effectLst/>
                <a:latin typeface="黑体" pitchFamily="49" charset="-122"/>
                <a:ea typeface="黑体" pitchFamily="49" charset="-122"/>
                <a:cs typeface="Times New Roman" pitchFamily="18" charset="0"/>
              </a:rPr>
              <a:t> 8-5 </a:t>
            </a:r>
            <a:r>
              <a:rPr kumimoji="0" lang="en-US" altLang="zh-CN" sz="22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 </a:t>
            </a:r>
            <a:r>
              <a:rPr kumimoji="0" lang="zh-CN" altLang="en-US" sz="22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设</a:t>
            </a:r>
            <a:r>
              <a:rPr kumimoji="0" lang="en-US" altLang="zh-CN" sz="2200" b="0" i="1"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U</a:t>
            </a:r>
            <a:r>
              <a:rPr kumimoji="0" lang="en-US" altLang="zh-CN" sz="22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={0, 1, 2, 3, 4, 5, 6, 7, 8, 9, 10}</a:t>
            </a:r>
            <a:r>
              <a:rPr kumimoji="0" lang="zh-CN" altLang="en-US" sz="22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，则</a:t>
            </a:r>
            <a:endParaRPr kumimoji="0" lang="zh-CN" altLang="en-US" sz="2200" b="0" i="0" u="none" strike="noStrike" cap="none" normalizeH="0" baseline="0" dirty="0">
              <a:ln>
                <a:noFill/>
              </a:ln>
              <a:solidFill>
                <a:schemeClr val="tx1"/>
              </a:solidFill>
              <a:effectLst/>
              <a:latin typeface="Arial" pitchFamily="34" charset="0"/>
              <a:ea typeface="宋体" pitchFamily="2" charset="-122"/>
              <a:cs typeface="宋体" pitchFamily="2" charset="-122"/>
            </a:endParaRPr>
          </a:p>
          <a:p>
            <a:pPr marL="0" marR="0" lvl="0" indent="266700" algn="l" defTabSz="914400" rtl="0" eaLnBrk="0" fontAlgn="base" latinLnBrk="0" hangingPunct="0">
              <a:lnSpc>
                <a:spcPts val="3600"/>
              </a:lnSpc>
              <a:spcBef>
                <a:spcPct val="0"/>
              </a:spcBef>
              <a:spcAft>
                <a:spcPct val="0"/>
              </a:spcAft>
              <a:buClrTx/>
              <a:buSzTx/>
              <a:buFontTx/>
              <a:buNone/>
              <a:tabLst/>
            </a:pPr>
            <a:r>
              <a:rPr kumimoji="0" lang="zh-CN" altLang="en-US" sz="20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  </a:t>
            </a:r>
            <a:r>
              <a:rPr kumimoji="0" lang="en-US" altLang="zh-CN" sz="2000" b="0" i="1"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S</a:t>
            </a:r>
            <a:r>
              <a:rPr kumimoji="0" lang="en-US" altLang="zh-CN" sz="2000" b="0" i="0" u="none" strike="noStrike" cap="none" normalizeH="0" baseline="-30000" dirty="0">
                <a:ln>
                  <a:noFill/>
                </a:ln>
                <a:solidFill>
                  <a:schemeClr val="tx1"/>
                </a:solidFill>
                <a:effectLst/>
                <a:latin typeface="Times New Roman" pitchFamily="18" charset="0"/>
                <a:ea typeface="宋体" pitchFamily="2" charset="-122"/>
                <a:cs typeface="Times New Roman" pitchFamily="18" charset="0"/>
              </a:rPr>
              <a:t>1</a:t>
            </a:r>
            <a:r>
              <a:rPr kumimoji="0" lang="zh-CN" altLang="en-US" sz="20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a:t>
            </a:r>
            <a:r>
              <a:rPr kumimoji="0" lang="en-US" altLang="zh-CN" sz="2000" b="0" i="0" u="none" strike="noStrike" cap="none" normalizeH="0" baseline="0" dirty="0">
                <a:ln>
                  <a:noFill/>
                </a:ln>
                <a:solidFill>
                  <a:srgbClr val="FF0000"/>
                </a:solidFill>
                <a:effectLst/>
                <a:latin typeface="Times New Roman" pitchFamily="18" charset="0"/>
                <a:ea typeface="宋体" pitchFamily="2" charset="-122"/>
                <a:cs typeface="Times New Roman" pitchFamily="18" charset="0"/>
              </a:rPr>
              <a:t>0</a:t>
            </a:r>
            <a:r>
              <a:rPr kumimoji="0" lang="en-US" altLang="zh-CN" sz="20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/0</a:t>
            </a:r>
            <a:r>
              <a:rPr kumimoji="0" lang="zh-CN" altLang="en-US" sz="20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a:t>
            </a:r>
            <a:r>
              <a:rPr kumimoji="0" lang="en-US" altLang="zh-CN" sz="2000" b="0" i="0" u="none" strike="noStrike" cap="none" normalizeH="0" baseline="0" dirty="0">
                <a:ln>
                  <a:noFill/>
                </a:ln>
                <a:solidFill>
                  <a:srgbClr val="FF0000"/>
                </a:solidFill>
                <a:effectLst/>
                <a:latin typeface="Times New Roman" pitchFamily="18" charset="0"/>
                <a:ea typeface="宋体" pitchFamily="2" charset="-122"/>
                <a:cs typeface="Times New Roman" pitchFamily="18" charset="0"/>
              </a:rPr>
              <a:t>0</a:t>
            </a:r>
            <a:r>
              <a:rPr kumimoji="0" lang="en-US" altLang="zh-CN" sz="20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/1</a:t>
            </a:r>
            <a:r>
              <a:rPr kumimoji="0" lang="zh-CN" altLang="en-US" sz="20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a:t>
            </a:r>
            <a:r>
              <a:rPr kumimoji="0" lang="en-US" altLang="zh-CN" sz="2000" b="0" i="0" u="none" strike="noStrike" cap="none" normalizeH="0" baseline="0" dirty="0">
                <a:ln>
                  <a:noFill/>
                </a:ln>
                <a:solidFill>
                  <a:srgbClr val="FF0000"/>
                </a:solidFill>
                <a:effectLst/>
                <a:latin typeface="Times New Roman" pitchFamily="18" charset="0"/>
                <a:ea typeface="宋体" pitchFamily="2" charset="-122"/>
                <a:cs typeface="Times New Roman" pitchFamily="18" charset="0"/>
              </a:rPr>
              <a:t>0</a:t>
            </a:r>
            <a:r>
              <a:rPr kumimoji="0" lang="en-US" altLang="zh-CN" sz="20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/2</a:t>
            </a:r>
            <a:r>
              <a:rPr kumimoji="0" lang="zh-CN" altLang="en-US" sz="20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a:t>
            </a:r>
            <a:r>
              <a:rPr kumimoji="0" lang="en-US" altLang="zh-CN" sz="2000" b="0" i="0" u="none" strike="noStrike" cap="none" normalizeH="0" baseline="0" dirty="0">
                <a:ln>
                  <a:noFill/>
                </a:ln>
                <a:solidFill>
                  <a:srgbClr val="FF0000"/>
                </a:solidFill>
                <a:effectLst/>
                <a:latin typeface="Times New Roman" pitchFamily="18" charset="0"/>
                <a:ea typeface="宋体" pitchFamily="2" charset="-122"/>
                <a:cs typeface="Times New Roman" pitchFamily="18" charset="0"/>
              </a:rPr>
              <a:t>0.1</a:t>
            </a:r>
            <a:r>
              <a:rPr kumimoji="0" lang="en-US" altLang="zh-CN" sz="20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/3</a:t>
            </a:r>
            <a:r>
              <a:rPr kumimoji="0" lang="zh-CN" altLang="en-US" sz="20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a:t>
            </a:r>
            <a:r>
              <a:rPr kumimoji="0" lang="en-US" altLang="zh-CN" sz="2000" b="0" i="0" u="none" strike="noStrike" cap="none" normalizeH="0" baseline="0" dirty="0">
                <a:ln>
                  <a:noFill/>
                </a:ln>
                <a:solidFill>
                  <a:srgbClr val="FF0000"/>
                </a:solidFill>
                <a:effectLst/>
                <a:latin typeface="Times New Roman" pitchFamily="18" charset="0"/>
                <a:ea typeface="宋体" pitchFamily="2" charset="-122"/>
                <a:cs typeface="Times New Roman" pitchFamily="18" charset="0"/>
              </a:rPr>
              <a:t>0.2</a:t>
            </a:r>
            <a:r>
              <a:rPr kumimoji="0" lang="en-US" altLang="zh-CN" sz="20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/4</a:t>
            </a:r>
            <a:r>
              <a:rPr kumimoji="0" lang="zh-CN" altLang="en-US" sz="20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a:t>
            </a:r>
            <a:r>
              <a:rPr kumimoji="0" lang="en-US" altLang="zh-CN" sz="2000" b="0" i="0" u="none" strike="noStrike" cap="none" normalizeH="0" baseline="0" dirty="0">
                <a:ln>
                  <a:noFill/>
                </a:ln>
                <a:solidFill>
                  <a:srgbClr val="FF0000"/>
                </a:solidFill>
                <a:effectLst/>
                <a:latin typeface="Times New Roman" pitchFamily="18" charset="0"/>
                <a:ea typeface="宋体" pitchFamily="2" charset="-122"/>
                <a:cs typeface="Times New Roman" pitchFamily="18" charset="0"/>
              </a:rPr>
              <a:t>0.3</a:t>
            </a:r>
            <a:r>
              <a:rPr kumimoji="0" lang="en-US" altLang="zh-CN" sz="20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/5</a:t>
            </a:r>
            <a:r>
              <a:rPr kumimoji="0" lang="zh-CN" altLang="en-US" sz="20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a:t>
            </a:r>
            <a:r>
              <a:rPr kumimoji="0" lang="en-US" altLang="zh-CN" sz="2000" b="0" i="0" u="none" strike="noStrike" cap="none" normalizeH="0" baseline="0" dirty="0">
                <a:ln>
                  <a:noFill/>
                </a:ln>
                <a:solidFill>
                  <a:srgbClr val="FF0000"/>
                </a:solidFill>
                <a:effectLst/>
                <a:latin typeface="Times New Roman" pitchFamily="18" charset="0"/>
                <a:ea typeface="宋体" pitchFamily="2" charset="-122"/>
                <a:cs typeface="Times New Roman" pitchFamily="18" charset="0"/>
              </a:rPr>
              <a:t>0.5</a:t>
            </a:r>
            <a:r>
              <a:rPr kumimoji="0" lang="en-US" altLang="zh-CN" sz="20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/6</a:t>
            </a:r>
            <a:r>
              <a:rPr kumimoji="0" lang="zh-CN" altLang="en-US" sz="20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a:t>
            </a:r>
            <a:r>
              <a:rPr kumimoji="0" lang="en-US" altLang="zh-CN" sz="2000" b="0" i="0" u="none" strike="noStrike" cap="none" normalizeH="0" baseline="0" dirty="0">
                <a:ln>
                  <a:noFill/>
                </a:ln>
                <a:solidFill>
                  <a:srgbClr val="FF0000"/>
                </a:solidFill>
                <a:effectLst/>
                <a:latin typeface="Times New Roman" pitchFamily="18" charset="0"/>
                <a:ea typeface="宋体" pitchFamily="2" charset="-122"/>
                <a:cs typeface="Times New Roman" pitchFamily="18" charset="0"/>
              </a:rPr>
              <a:t>0.7</a:t>
            </a:r>
            <a:r>
              <a:rPr kumimoji="0" lang="en-US" altLang="zh-CN" sz="20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/7</a:t>
            </a:r>
            <a:r>
              <a:rPr kumimoji="0" lang="zh-CN" altLang="en-US" sz="20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a:t>
            </a:r>
            <a:r>
              <a:rPr kumimoji="0" lang="en-US" altLang="zh-CN" sz="2000" b="0" i="0" u="none" strike="noStrike" cap="none" normalizeH="0" baseline="0" dirty="0">
                <a:ln>
                  <a:noFill/>
                </a:ln>
                <a:solidFill>
                  <a:srgbClr val="FF0000"/>
                </a:solidFill>
                <a:effectLst/>
                <a:latin typeface="Times New Roman" pitchFamily="18" charset="0"/>
                <a:ea typeface="宋体" pitchFamily="2" charset="-122"/>
                <a:cs typeface="Times New Roman" pitchFamily="18" charset="0"/>
              </a:rPr>
              <a:t>0.9</a:t>
            </a:r>
            <a:r>
              <a:rPr kumimoji="0" lang="en-US" altLang="zh-CN" sz="20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/8</a:t>
            </a:r>
            <a:r>
              <a:rPr kumimoji="0" lang="zh-CN" altLang="en-US" sz="20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a:t>
            </a:r>
            <a:r>
              <a:rPr kumimoji="0" lang="en-US" altLang="zh-CN" sz="2000" b="0" i="0" u="none" strike="noStrike" cap="none" normalizeH="0" baseline="0" dirty="0">
                <a:ln>
                  <a:noFill/>
                </a:ln>
                <a:solidFill>
                  <a:srgbClr val="FF0000"/>
                </a:solidFill>
                <a:effectLst/>
                <a:latin typeface="Times New Roman" pitchFamily="18" charset="0"/>
                <a:ea typeface="宋体" pitchFamily="2" charset="-122"/>
                <a:cs typeface="Times New Roman" pitchFamily="18" charset="0"/>
              </a:rPr>
              <a:t>1</a:t>
            </a:r>
            <a:r>
              <a:rPr kumimoji="0" lang="en-US" altLang="zh-CN" sz="20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/9</a:t>
            </a:r>
            <a:r>
              <a:rPr kumimoji="0" lang="zh-CN" altLang="en-US" sz="20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a:t>
            </a:r>
            <a:r>
              <a:rPr kumimoji="0" lang="en-US" altLang="zh-CN" sz="2000" b="0" i="0" u="none" strike="noStrike" cap="none" normalizeH="0" baseline="0" dirty="0">
                <a:ln>
                  <a:noFill/>
                </a:ln>
                <a:solidFill>
                  <a:srgbClr val="FF0000"/>
                </a:solidFill>
                <a:effectLst/>
                <a:latin typeface="Times New Roman" pitchFamily="18" charset="0"/>
                <a:ea typeface="宋体" pitchFamily="2" charset="-122"/>
                <a:cs typeface="Times New Roman" pitchFamily="18" charset="0"/>
              </a:rPr>
              <a:t>1</a:t>
            </a:r>
            <a:r>
              <a:rPr kumimoji="0" lang="en-US" altLang="zh-CN" sz="20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/10</a:t>
            </a:r>
            <a:endParaRPr kumimoji="0" lang="en-US" altLang="zh-CN" sz="2000" b="0" i="0" u="none" strike="noStrike" cap="none" normalizeH="0" baseline="0" dirty="0">
              <a:ln>
                <a:noFill/>
              </a:ln>
              <a:solidFill>
                <a:schemeClr val="tx1"/>
              </a:solidFill>
              <a:effectLst/>
              <a:latin typeface="Arial" pitchFamily="34" charset="0"/>
              <a:ea typeface="宋体" pitchFamily="2" charset="-122"/>
              <a:cs typeface="宋体" pitchFamily="2" charset="-122"/>
            </a:endParaRPr>
          </a:p>
          <a:p>
            <a:pPr marL="0" marR="0" lvl="0" indent="266700" algn="l" defTabSz="914400" rtl="0" eaLnBrk="0" fontAlgn="base" latinLnBrk="0" hangingPunct="0">
              <a:lnSpc>
                <a:spcPts val="3600"/>
              </a:lnSpc>
              <a:spcBef>
                <a:spcPct val="0"/>
              </a:spcBef>
              <a:spcAft>
                <a:spcPct val="0"/>
              </a:spcAft>
              <a:buClrTx/>
              <a:buSzTx/>
              <a:buFontTx/>
              <a:buNone/>
              <a:tabLst/>
            </a:pPr>
            <a:r>
              <a:rPr kumimoji="0" lang="en-US" altLang="zh-CN" sz="20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  </a:t>
            </a:r>
            <a:r>
              <a:rPr kumimoji="0" lang="en-US" altLang="zh-CN" sz="2000" b="0" i="1"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S</a:t>
            </a:r>
            <a:r>
              <a:rPr kumimoji="0" lang="en-US" altLang="zh-CN" sz="2000" b="0" i="0" u="none" strike="noStrike" cap="none" normalizeH="0" baseline="-30000" dirty="0">
                <a:ln>
                  <a:noFill/>
                </a:ln>
                <a:solidFill>
                  <a:schemeClr val="tx1"/>
                </a:solidFill>
                <a:effectLst/>
                <a:latin typeface="Times New Roman" pitchFamily="18" charset="0"/>
                <a:ea typeface="宋体" pitchFamily="2" charset="-122"/>
                <a:cs typeface="Times New Roman" pitchFamily="18" charset="0"/>
              </a:rPr>
              <a:t>2</a:t>
            </a:r>
            <a:r>
              <a:rPr kumimoji="0" lang="zh-CN" altLang="en-US" sz="20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a:t>
            </a:r>
            <a:r>
              <a:rPr kumimoji="0" lang="en-US" altLang="zh-CN" sz="2000" b="0" i="0" u="none" strike="noStrike" cap="none" normalizeH="0" baseline="0" dirty="0">
                <a:ln>
                  <a:noFill/>
                </a:ln>
                <a:solidFill>
                  <a:srgbClr val="FF0000"/>
                </a:solidFill>
                <a:effectLst/>
                <a:latin typeface="Times New Roman" pitchFamily="18" charset="0"/>
                <a:ea typeface="宋体" pitchFamily="2" charset="-122"/>
                <a:cs typeface="Times New Roman" pitchFamily="18" charset="0"/>
              </a:rPr>
              <a:t>1</a:t>
            </a:r>
            <a:r>
              <a:rPr kumimoji="0" lang="en-US" altLang="zh-CN" sz="20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/0</a:t>
            </a:r>
            <a:r>
              <a:rPr kumimoji="0" lang="zh-CN" altLang="en-US" sz="20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a:t>
            </a:r>
            <a:r>
              <a:rPr kumimoji="0" lang="en-US" altLang="zh-CN" sz="2000" b="0" i="0" u="none" strike="noStrike" cap="none" normalizeH="0" baseline="0" dirty="0">
                <a:ln>
                  <a:noFill/>
                </a:ln>
                <a:solidFill>
                  <a:srgbClr val="FF0000"/>
                </a:solidFill>
                <a:effectLst/>
                <a:latin typeface="Times New Roman" pitchFamily="18" charset="0"/>
                <a:ea typeface="宋体" pitchFamily="2" charset="-122"/>
                <a:cs typeface="Times New Roman" pitchFamily="18" charset="0"/>
              </a:rPr>
              <a:t>1</a:t>
            </a:r>
            <a:r>
              <a:rPr kumimoji="0" lang="en-US" altLang="zh-CN" sz="20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/1</a:t>
            </a:r>
            <a:r>
              <a:rPr kumimoji="0" lang="zh-CN" altLang="en-US" sz="20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a:t>
            </a:r>
            <a:r>
              <a:rPr kumimoji="0" lang="en-US" altLang="zh-CN" sz="2000" b="0" i="0" u="none" strike="noStrike" cap="none" normalizeH="0" baseline="0" dirty="0">
                <a:ln>
                  <a:noFill/>
                </a:ln>
                <a:solidFill>
                  <a:srgbClr val="FF0000"/>
                </a:solidFill>
                <a:effectLst/>
                <a:latin typeface="Times New Roman" pitchFamily="18" charset="0"/>
                <a:ea typeface="宋体" pitchFamily="2" charset="-122"/>
                <a:cs typeface="Times New Roman" pitchFamily="18" charset="0"/>
              </a:rPr>
              <a:t>1</a:t>
            </a:r>
            <a:r>
              <a:rPr kumimoji="0" lang="en-US" altLang="zh-CN" sz="20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/2</a:t>
            </a:r>
            <a:r>
              <a:rPr kumimoji="0" lang="zh-CN" altLang="en-US" sz="20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a:t>
            </a:r>
            <a:r>
              <a:rPr kumimoji="0" lang="en-US" altLang="zh-CN" sz="2000" b="0" i="0" u="none" strike="noStrike" cap="none" normalizeH="0" baseline="0" dirty="0">
                <a:ln>
                  <a:noFill/>
                </a:ln>
                <a:solidFill>
                  <a:srgbClr val="FF0000"/>
                </a:solidFill>
                <a:effectLst/>
                <a:latin typeface="Times New Roman" pitchFamily="18" charset="0"/>
                <a:ea typeface="宋体" pitchFamily="2" charset="-122"/>
                <a:cs typeface="Times New Roman" pitchFamily="18" charset="0"/>
              </a:rPr>
              <a:t>0.8</a:t>
            </a:r>
            <a:r>
              <a:rPr kumimoji="0" lang="en-US" altLang="zh-CN" sz="20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/3</a:t>
            </a:r>
            <a:r>
              <a:rPr kumimoji="0" lang="zh-CN" altLang="en-US" sz="20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a:t>
            </a:r>
            <a:r>
              <a:rPr kumimoji="0" lang="en-US" altLang="zh-CN" sz="2000" b="0" i="0" u="none" strike="noStrike" cap="none" normalizeH="0" baseline="0" dirty="0">
                <a:ln>
                  <a:noFill/>
                </a:ln>
                <a:solidFill>
                  <a:srgbClr val="FF0000"/>
                </a:solidFill>
                <a:effectLst/>
                <a:latin typeface="Times New Roman" pitchFamily="18" charset="0"/>
                <a:ea typeface="宋体" pitchFamily="2" charset="-122"/>
                <a:cs typeface="Times New Roman" pitchFamily="18" charset="0"/>
              </a:rPr>
              <a:t>0.7</a:t>
            </a:r>
            <a:r>
              <a:rPr kumimoji="0" lang="en-US" altLang="zh-CN" sz="20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/4</a:t>
            </a:r>
            <a:r>
              <a:rPr kumimoji="0" lang="zh-CN" altLang="en-US" sz="20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a:t>
            </a:r>
            <a:r>
              <a:rPr kumimoji="0" lang="en-US" altLang="zh-CN" sz="2000" b="0" i="0" u="none" strike="noStrike" cap="none" normalizeH="0" baseline="0" dirty="0">
                <a:ln>
                  <a:noFill/>
                </a:ln>
                <a:solidFill>
                  <a:srgbClr val="FF0000"/>
                </a:solidFill>
                <a:effectLst/>
                <a:latin typeface="Times New Roman" pitchFamily="18" charset="0"/>
                <a:ea typeface="宋体" pitchFamily="2" charset="-122"/>
                <a:cs typeface="Times New Roman" pitchFamily="18" charset="0"/>
              </a:rPr>
              <a:t>0.5</a:t>
            </a:r>
            <a:r>
              <a:rPr kumimoji="0" lang="en-US" altLang="zh-CN" sz="20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/5</a:t>
            </a:r>
            <a:r>
              <a:rPr kumimoji="0" lang="zh-CN" altLang="en-US" sz="20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a:t>
            </a:r>
            <a:r>
              <a:rPr kumimoji="0" lang="en-US" altLang="zh-CN" sz="2000" b="0" i="0" u="none" strike="noStrike" cap="none" normalizeH="0" baseline="0" dirty="0">
                <a:ln>
                  <a:noFill/>
                </a:ln>
                <a:solidFill>
                  <a:srgbClr val="FF0000"/>
                </a:solidFill>
                <a:effectLst/>
                <a:latin typeface="Times New Roman" pitchFamily="18" charset="0"/>
                <a:ea typeface="宋体" pitchFamily="2" charset="-122"/>
                <a:cs typeface="Times New Roman" pitchFamily="18" charset="0"/>
              </a:rPr>
              <a:t>0.4</a:t>
            </a:r>
            <a:r>
              <a:rPr kumimoji="0" lang="en-US" altLang="zh-CN" sz="20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/6</a:t>
            </a:r>
            <a:r>
              <a:rPr kumimoji="0" lang="zh-CN" altLang="en-US" sz="20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a:t>
            </a:r>
            <a:r>
              <a:rPr kumimoji="0" lang="en-US" altLang="zh-CN" sz="2000" b="0" i="0" u="none" strike="noStrike" cap="none" normalizeH="0" baseline="0" dirty="0">
                <a:ln>
                  <a:noFill/>
                </a:ln>
                <a:solidFill>
                  <a:srgbClr val="FF0000"/>
                </a:solidFill>
                <a:effectLst/>
                <a:latin typeface="Times New Roman" pitchFamily="18" charset="0"/>
                <a:ea typeface="宋体" pitchFamily="2" charset="-122"/>
                <a:cs typeface="Times New Roman" pitchFamily="18" charset="0"/>
              </a:rPr>
              <a:t>0.2</a:t>
            </a:r>
            <a:r>
              <a:rPr kumimoji="0" lang="en-US" altLang="zh-CN" sz="20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/7</a:t>
            </a:r>
            <a:r>
              <a:rPr kumimoji="0" lang="zh-CN" altLang="en-US" sz="20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a:t>
            </a:r>
            <a:r>
              <a:rPr kumimoji="0" lang="en-US" altLang="zh-CN" sz="2000" b="0" i="0" u="none" strike="noStrike" cap="none" normalizeH="0" baseline="0" dirty="0">
                <a:ln>
                  <a:noFill/>
                </a:ln>
                <a:solidFill>
                  <a:srgbClr val="FF0000"/>
                </a:solidFill>
                <a:effectLst/>
                <a:latin typeface="Times New Roman" pitchFamily="18" charset="0"/>
                <a:ea typeface="宋体" pitchFamily="2" charset="-122"/>
                <a:cs typeface="Times New Roman" pitchFamily="18" charset="0"/>
              </a:rPr>
              <a:t>0</a:t>
            </a:r>
            <a:r>
              <a:rPr kumimoji="0" lang="en-US" altLang="zh-CN" sz="20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/8</a:t>
            </a:r>
            <a:r>
              <a:rPr kumimoji="0" lang="zh-CN" altLang="en-US" sz="20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a:t>
            </a:r>
            <a:r>
              <a:rPr kumimoji="0" lang="en-US" altLang="zh-CN" sz="2000" b="0" i="0" u="none" strike="noStrike" cap="none" normalizeH="0" baseline="0" dirty="0">
                <a:ln>
                  <a:noFill/>
                </a:ln>
                <a:solidFill>
                  <a:srgbClr val="FF0000"/>
                </a:solidFill>
                <a:effectLst/>
                <a:latin typeface="Times New Roman" pitchFamily="18" charset="0"/>
                <a:ea typeface="宋体" pitchFamily="2" charset="-122"/>
                <a:cs typeface="Times New Roman" pitchFamily="18" charset="0"/>
              </a:rPr>
              <a:t>0</a:t>
            </a:r>
            <a:r>
              <a:rPr kumimoji="0" lang="en-US" altLang="zh-CN" sz="20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/9</a:t>
            </a:r>
            <a:r>
              <a:rPr kumimoji="0" lang="zh-CN" altLang="en-US" sz="20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a:t>
            </a:r>
            <a:r>
              <a:rPr kumimoji="0" lang="en-US" altLang="zh-CN" sz="2000" b="0" i="0" u="none" strike="noStrike" cap="none" normalizeH="0" baseline="0" dirty="0">
                <a:ln>
                  <a:noFill/>
                </a:ln>
                <a:solidFill>
                  <a:srgbClr val="FF0000"/>
                </a:solidFill>
                <a:effectLst/>
                <a:latin typeface="Times New Roman" pitchFamily="18" charset="0"/>
                <a:ea typeface="宋体" pitchFamily="2" charset="-122"/>
                <a:cs typeface="Times New Roman" pitchFamily="18" charset="0"/>
              </a:rPr>
              <a:t>0</a:t>
            </a:r>
            <a:r>
              <a:rPr kumimoji="0" lang="en-US" altLang="zh-CN" sz="20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/10</a:t>
            </a:r>
          </a:p>
          <a:p>
            <a:pPr lvl="0" indent="266700" eaLnBrk="0" hangingPunct="0">
              <a:lnSpc>
                <a:spcPts val="3600"/>
              </a:lnSpc>
            </a:pPr>
            <a:r>
              <a:rPr lang="zh-CN" altLang="en-US" sz="2000" dirty="0">
                <a:latin typeface="Times New Roman" pitchFamily="18" charset="0"/>
                <a:cs typeface="Times New Roman" pitchFamily="18" charset="0"/>
              </a:rPr>
              <a:t>就是论域</a:t>
            </a:r>
            <a:r>
              <a:rPr lang="en-US" sz="2000" i="1" dirty="0">
                <a:latin typeface="Times New Roman" pitchFamily="18" charset="0"/>
                <a:cs typeface="Times New Roman" pitchFamily="18" charset="0"/>
              </a:rPr>
              <a:t>U</a:t>
            </a:r>
            <a:r>
              <a:rPr lang="zh-CN" altLang="en-US" sz="2000" dirty="0">
                <a:latin typeface="Times New Roman" pitchFamily="18" charset="0"/>
                <a:cs typeface="Times New Roman" pitchFamily="18" charset="0"/>
              </a:rPr>
              <a:t>的两个模糊子集，它们可分别表示</a:t>
            </a:r>
            <a:r>
              <a:rPr lang="en-US" sz="2000" i="1" dirty="0">
                <a:latin typeface="Times New Roman" pitchFamily="18" charset="0"/>
                <a:cs typeface="Times New Roman" pitchFamily="18" charset="0"/>
              </a:rPr>
              <a:t>U</a:t>
            </a:r>
            <a:r>
              <a:rPr lang="zh-CN" altLang="en-US" sz="2000" dirty="0">
                <a:latin typeface="Times New Roman" pitchFamily="18" charset="0"/>
                <a:cs typeface="Times New Roman" pitchFamily="18" charset="0"/>
              </a:rPr>
              <a:t>中“</a:t>
            </a:r>
            <a:r>
              <a:rPr lang="zh-CN" altLang="en-US" sz="2000" dirty="0">
                <a:latin typeface="楷体" pitchFamily="49" charset="-122"/>
                <a:ea typeface="楷体" pitchFamily="49" charset="-122"/>
                <a:cs typeface="Times New Roman" pitchFamily="18" charset="0"/>
              </a:rPr>
              <a:t>大数的集合</a:t>
            </a:r>
            <a:r>
              <a:rPr lang="zh-CN" altLang="en-US" sz="2000" dirty="0">
                <a:latin typeface="Times New Roman" pitchFamily="18" charset="0"/>
                <a:cs typeface="Times New Roman" pitchFamily="18" charset="0"/>
              </a:rPr>
              <a:t>”和</a:t>
            </a:r>
            <a:endParaRPr lang="en-US" altLang="zh-CN" sz="2000" dirty="0">
              <a:latin typeface="Times New Roman" pitchFamily="18" charset="0"/>
              <a:cs typeface="Times New Roman" pitchFamily="18" charset="0"/>
            </a:endParaRPr>
          </a:p>
          <a:p>
            <a:pPr lvl="0" indent="266700" eaLnBrk="0" hangingPunct="0">
              <a:lnSpc>
                <a:spcPts val="3600"/>
              </a:lnSpc>
            </a:pPr>
            <a:r>
              <a:rPr lang="zh-CN" altLang="en-US" sz="2000" dirty="0">
                <a:latin typeface="Times New Roman" pitchFamily="18" charset="0"/>
                <a:cs typeface="Times New Roman" pitchFamily="18" charset="0"/>
              </a:rPr>
              <a:t>“</a:t>
            </a:r>
            <a:r>
              <a:rPr lang="zh-CN" altLang="en-US" sz="2000" dirty="0">
                <a:latin typeface="楷体" pitchFamily="49" charset="-122"/>
                <a:ea typeface="楷体" pitchFamily="49" charset="-122"/>
                <a:cs typeface="Times New Roman" pitchFamily="18" charset="0"/>
              </a:rPr>
              <a:t>小数的集合</a:t>
            </a:r>
            <a:r>
              <a:rPr lang="zh-CN" altLang="en-US" sz="2000" dirty="0">
                <a:latin typeface="Times New Roman" pitchFamily="18" charset="0"/>
                <a:cs typeface="Times New Roman" pitchFamily="18" charset="0"/>
              </a:rPr>
              <a:t>”</a:t>
            </a:r>
            <a:r>
              <a:rPr lang="zh-CN" altLang="en-US" sz="2000" dirty="0"/>
              <a:t>。</a:t>
            </a:r>
            <a:endParaRPr kumimoji="0" lang="en-US" altLang="zh-CN" sz="2000" b="0" i="0" u="none" strike="noStrike" cap="none" normalizeH="0" baseline="0" dirty="0">
              <a:ln>
                <a:noFill/>
              </a:ln>
              <a:solidFill>
                <a:schemeClr val="tx1"/>
              </a:solidFill>
              <a:effectLst/>
              <a:latin typeface="Arial" pitchFamily="34" charset="0"/>
              <a:ea typeface="宋体" pitchFamily="2" charset="-122"/>
              <a:cs typeface="宋体" pitchFamily="2" charset="-122"/>
            </a:endParaRPr>
          </a:p>
        </p:txBody>
      </p:sp>
      <p:sp>
        <p:nvSpPr>
          <p:cNvPr id="8" name="矩形 7"/>
          <p:cNvSpPr/>
          <p:nvPr/>
        </p:nvSpPr>
        <p:spPr>
          <a:xfrm>
            <a:off x="571472" y="2797168"/>
            <a:ext cx="8143932" cy="3323987"/>
          </a:xfrm>
          <a:prstGeom prst="rect">
            <a:avLst/>
          </a:prstGeom>
        </p:spPr>
        <p:txBody>
          <a:bodyPr wrap="square">
            <a:spAutoFit/>
          </a:bodyPr>
          <a:lstStyle/>
          <a:p>
            <a:pPr>
              <a:lnSpc>
                <a:spcPts val="3600"/>
              </a:lnSpc>
            </a:pPr>
            <a:r>
              <a:rPr lang="zh-CN" altLang="en-US" sz="2200" dirty="0">
                <a:latin typeface="黑体" pitchFamily="49" charset="-122"/>
                <a:ea typeface="黑体" pitchFamily="49" charset="-122"/>
              </a:rPr>
              <a:t>    例 </a:t>
            </a:r>
            <a:r>
              <a:rPr lang="en-US" sz="2200" dirty="0">
                <a:latin typeface="黑体" pitchFamily="49" charset="-122"/>
                <a:ea typeface="黑体" pitchFamily="49" charset="-122"/>
                <a:cs typeface="Times New Roman" pitchFamily="18" charset="0"/>
              </a:rPr>
              <a:t>8-6</a:t>
            </a:r>
            <a:r>
              <a:rPr lang="en-US" sz="2200" dirty="0">
                <a:latin typeface="黑体" pitchFamily="49" charset="-122"/>
                <a:ea typeface="黑体" pitchFamily="49" charset="-122"/>
              </a:rPr>
              <a:t> </a:t>
            </a:r>
            <a:r>
              <a:rPr lang="zh-CN" altLang="en-US" sz="2200" dirty="0"/>
              <a:t>通常所说的“高个”“矮个”“中等个”就是三个关于身高的软概念。我们用模糊集合表示这三个软概念，即为它们建模。</a:t>
            </a:r>
          </a:p>
          <a:p>
            <a:pPr>
              <a:lnSpc>
                <a:spcPts val="3600"/>
              </a:lnSpc>
            </a:pPr>
            <a:r>
              <a:rPr lang="zh-CN" altLang="en-US" sz="2200" dirty="0"/>
              <a:t>    </a:t>
            </a:r>
            <a:r>
              <a:rPr lang="zh-CN" altLang="en-US" sz="2200" dirty="0">
                <a:latin typeface="Times New Roman" pitchFamily="18" charset="0"/>
                <a:cs typeface="Times New Roman" pitchFamily="18" charset="0"/>
              </a:rPr>
              <a:t>取人类的身高范围</a:t>
            </a:r>
            <a:r>
              <a:rPr lang="en-US" sz="2200" dirty="0">
                <a:latin typeface="Times New Roman" pitchFamily="18" charset="0"/>
                <a:cs typeface="Times New Roman" pitchFamily="18" charset="0"/>
              </a:rPr>
              <a:t>[1.0, 3.0] </a:t>
            </a:r>
            <a:r>
              <a:rPr lang="zh-CN" altLang="en-US" sz="2200" dirty="0">
                <a:latin typeface="Times New Roman" pitchFamily="18" charset="0"/>
                <a:cs typeface="Times New Roman" pitchFamily="18" charset="0"/>
              </a:rPr>
              <a:t>为论域</a:t>
            </a:r>
            <a:r>
              <a:rPr lang="en-US" sz="2200" i="1" dirty="0">
                <a:latin typeface="Times New Roman" pitchFamily="18" charset="0"/>
                <a:cs typeface="Times New Roman" pitchFamily="18" charset="0"/>
              </a:rPr>
              <a:t>U</a:t>
            </a:r>
            <a:r>
              <a:rPr lang="zh-CN" altLang="en-US" sz="2200" dirty="0">
                <a:latin typeface="Times New Roman" pitchFamily="18" charset="0"/>
                <a:cs typeface="Times New Roman" pitchFamily="18" charset="0"/>
              </a:rPr>
              <a:t>，在</a:t>
            </a:r>
            <a:r>
              <a:rPr lang="en-US" sz="2200" i="1" dirty="0">
                <a:latin typeface="Times New Roman" pitchFamily="18" charset="0"/>
                <a:cs typeface="Times New Roman" pitchFamily="18" charset="0"/>
              </a:rPr>
              <a:t>U</a:t>
            </a:r>
            <a:r>
              <a:rPr lang="zh-CN" altLang="en-US" sz="2200" dirty="0">
                <a:latin typeface="Times New Roman" pitchFamily="18" charset="0"/>
                <a:cs typeface="Times New Roman" pitchFamily="18" charset="0"/>
              </a:rPr>
              <a:t>上定义隶属函数</a:t>
            </a:r>
            <a:r>
              <a:rPr lang="en-US" altLang="zh-CN" sz="2200" i="1" dirty="0">
                <a:latin typeface="Times New Roman" pitchFamily="18" charset="0"/>
                <a:cs typeface="Times New Roman" pitchFamily="18" charset="0"/>
              </a:rPr>
              <a:t>μ</a:t>
            </a:r>
            <a:r>
              <a:rPr lang="zh-CN" altLang="en-US" sz="2200" baseline="-25000" dirty="0">
                <a:latin typeface="Times New Roman" pitchFamily="18" charset="0"/>
                <a:cs typeface="Times New Roman" pitchFamily="18" charset="0"/>
              </a:rPr>
              <a:t>矮</a:t>
            </a:r>
            <a:r>
              <a:rPr lang="en-US" sz="2200" dirty="0">
                <a:latin typeface="Times New Roman" pitchFamily="18" charset="0"/>
                <a:cs typeface="Times New Roman" pitchFamily="18" charset="0"/>
              </a:rPr>
              <a:t>(</a:t>
            </a:r>
            <a:r>
              <a:rPr lang="en-US" sz="2200" i="1" dirty="0">
                <a:latin typeface="Times New Roman" pitchFamily="18" charset="0"/>
                <a:cs typeface="Times New Roman" pitchFamily="18" charset="0"/>
              </a:rPr>
              <a:t>x</a:t>
            </a:r>
            <a:r>
              <a:rPr lang="en-US" sz="2200" dirty="0">
                <a:latin typeface="Times New Roman" pitchFamily="18" charset="0"/>
                <a:cs typeface="Times New Roman" pitchFamily="18" charset="0"/>
              </a:rPr>
              <a:t>)</a:t>
            </a:r>
            <a:r>
              <a:rPr lang="zh-CN" altLang="en-US" sz="2200" dirty="0">
                <a:latin typeface="Times New Roman" pitchFamily="18" charset="0"/>
                <a:cs typeface="Times New Roman" pitchFamily="18" charset="0"/>
              </a:rPr>
              <a:t>、</a:t>
            </a:r>
            <a:r>
              <a:rPr lang="en-US" altLang="zh-CN" sz="2200" i="1" dirty="0">
                <a:latin typeface="Times New Roman" pitchFamily="18" charset="0"/>
                <a:cs typeface="Times New Roman" pitchFamily="18" charset="0"/>
              </a:rPr>
              <a:t>μ</a:t>
            </a:r>
            <a:r>
              <a:rPr lang="zh-CN" altLang="en-US" sz="2200" baseline="-25000" dirty="0">
                <a:latin typeface="Times New Roman" pitchFamily="18" charset="0"/>
                <a:cs typeface="Times New Roman" pitchFamily="18" charset="0"/>
              </a:rPr>
              <a:t>中等</a:t>
            </a:r>
            <a:r>
              <a:rPr lang="en-US" sz="2200" dirty="0">
                <a:latin typeface="Times New Roman" pitchFamily="18" charset="0"/>
                <a:cs typeface="Times New Roman" pitchFamily="18" charset="0"/>
              </a:rPr>
              <a:t>(</a:t>
            </a:r>
            <a:r>
              <a:rPr lang="en-US" sz="2200" i="1" dirty="0">
                <a:latin typeface="Times New Roman" pitchFamily="18" charset="0"/>
                <a:cs typeface="Times New Roman" pitchFamily="18" charset="0"/>
              </a:rPr>
              <a:t>x</a:t>
            </a:r>
            <a:r>
              <a:rPr lang="en-US" sz="2200" dirty="0">
                <a:latin typeface="Times New Roman" pitchFamily="18" charset="0"/>
                <a:cs typeface="Times New Roman" pitchFamily="18" charset="0"/>
              </a:rPr>
              <a:t>)</a:t>
            </a:r>
            <a:r>
              <a:rPr lang="zh-CN" altLang="en-US" sz="2200" dirty="0">
                <a:latin typeface="Times New Roman" pitchFamily="18" charset="0"/>
                <a:cs typeface="Times New Roman" pitchFamily="18" charset="0"/>
              </a:rPr>
              <a:t>、</a:t>
            </a:r>
            <a:r>
              <a:rPr lang="en-US" altLang="zh-CN" sz="2200" i="1" dirty="0">
                <a:latin typeface="Times New Roman" pitchFamily="18" charset="0"/>
                <a:cs typeface="Times New Roman" pitchFamily="18" charset="0"/>
              </a:rPr>
              <a:t>μ</a:t>
            </a:r>
            <a:r>
              <a:rPr lang="zh-CN" altLang="en-US" sz="2200" baseline="-25000" dirty="0">
                <a:latin typeface="Times New Roman" pitchFamily="18" charset="0"/>
                <a:cs typeface="Times New Roman" pitchFamily="18" charset="0"/>
              </a:rPr>
              <a:t>高</a:t>
            </a:r>
            <a:r>
              <a:rPr lang="en-US" sz="2200" dirty="0">
                <a:latin typeface="Times New Roman" pitchFamily="18" charset="0"/>
                <a:cs typeface="Times New Roman" pitchFamily="18" charset="0"/>
              </a:rPr>
              <a:t>(</a:t>
            </a:r>
            <a:r>
              <a:rPr lang="en-US" sz="2200" i="1" dirty="0">
                <a:latin typeface="Times New Roman" pitchFamily="18" charset="0"/>
                <a:cs typeface="Times New Roman" pitchFamily="18" charset="0"/>
              </a:rPr>
              <a:t>x</a:t>
            </a:r>
            <a:r>
              <a:rPr lang="en-US" sz="2200" dirty="0">
                <a:latin typeface="Times New Roman" pitchFamily="18" charset="0"/>
                <a:cs typeface="Times New Roman" pitchFamily="18" charset="0"/>
              </a:rPr>
              <a:t>)</a:t>
            </a:r>
            <a:r>
              <a:rPr lang="zh-CN" altLang="en-US" sz="2200" dirty="0">
                <a:latin typeface="Times New Roman" pitchFamily="18" charset="0"/>
                <a:cs typeface="Times New Roman" pitchFamily="18" charset="0"/>
              </a:rPr>
              <a:t>如下（函数图像如图</a:t>
            </a:r>
            <a:r>
              <a:rPr lang="en-US" sz="2200" dirty="0">
                <a:latin typeface="Times New Roman" pitchFamily="18" charset="0"/>
                <a:cs typeface="Times New Roman" pitchFamily="18" charset="0"/>
              </a:rPr>
              <a:t>8-10</a:t>
            </a:r>
            <a:r>
              <a:rPr lang="zh-CN" altLang="en-US" sz="2200" dirty="0">
                <a:latin typeface="Times New Roman" pitchFamily="18" charset="0"/>
                <a:cs typeface="Times New Roman" pitchFamily="18" charset="0"/>
              </a:rPr>
              <a:t>所示）。这三个隶属函数就确定了</a:t>
            </a:r>
            <a:r>
              <a:rPr lang="en-US" sz="2200" i="1" dirty="0">
                <a:latin typeface="Times New Roman" pitchFamily="18" charset="0"/>
                <a:cs typeface="Times New Roman" pitchFamily="18" charset="0"/>
              </a:rPr>
              <a:t>U</a:t>
            </a:r>
            <a:r>
              <a:rPr lang="zh-CN" altLang="en-US" sz="2200" dirty="0">
                <a:latin typeface="Times New Roman" pitchFamily="18" charset="0"/>
                <a:cs typeface="Times New Roman" pitchFamily="18" charset="0"/>
              </a:rPr>
              <a:t>上的三个模糊集合，它们也就是相应三个软概念的数学模型。</a:t>
            </a:r>
          </a:p>
        </p:txBody>
      </p:sp>
    </p:spTree>
  </p:cSld>
  <p:clrMapOvr>
    <a:masterClrMapping/>
  </p:clrMapOvr>
  <p:transition/>
</p:sld>
</file>

<file path=ppt/slides/slide2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474113" name="Picture 1"/>
          <p:cNvPicPr>
            <a:picLocks noChangeAspect="1" noChangeArrowheads="1"/>
          </p:cNvPicPr>
          <p:nvPr/>
        </p:nvPicPr>
        <p:blipFill>
          <a:blip r:embed="rId2"/>
          <a:srcRect/>
          <a:stretch>
            <a:fillRect/>
          </a:stretch>
        </p:blipFill>
        <p:spPr bwMode="auto">
          <a:xfrm>
            <a:off x="571472" y="714356"/>
            <a:ext cx="8215370" cy="5357850"/>
          </a:xfrm>
          <a:prstGeom prst="rect">
            <a:avLst/>
          </a:prstGeom>
          <a:noFill/>
          <a:ln w="9525">
            <a:noFill/>
            <a:miter lim="800000"/>
            <a:headEnd/>
            <a:tailEnd/>
          </a:ln>
          <a:effectLst/>
        </p:spPr>
      </p:pic>
      <p:pic>
        <p:nvPicPr>
          <p:cNvPr id="600066" name="Picture 2"/>
          <p:cNvPicPr>
            <a:picLocks noChangeAspect="1" noChangeArrowheads="1"/>
          </p:cNvPicPr>
          <p:nvPr/>
        </p:nvPicPr>
        <p:blipFill>
          <a:blip r:embed="rId3"/>
          <a:srcRect/>
          <a:stretch>
            <a:fillRect/>
          </a:stretch>
        </p:blipFill>
        <p:spPr bwMode="auto">
          <a:xfrm>
            <a:off x="0" y="1268760"/>
            <a:ext cx="3563888" cy="2247913"/>
          </a:xfrm>
          <a:prstGeom prst="rect">
            <a:avLst/>
          </a:prstGeom>
          <a:noFill/>
          <a:ln w="9525">
            <a:noFill/>
            <a:miter lim="800000"/>
            <a:headEnd/>
            <a:tailEnd/>
          </a:ln>
          <a:effectLst/>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28355" name="Rectangle 3"/>
          <p:cNvSpPr>
            <a:spLocks noGrp="1" noRot="1" noChangeArrowheads="1"/>
          </p:cNvSpPr>
          <p:nvPr>
            <p:ph type="body" idx="1"/>
          </p:nvPr>
        </p:nvSpPr>
        <p:spPr>
          <a:xfrm>
            <a:off x="357158" y="500042"/>
            <a:ext cx="8429684" cy="6597650"/>
          </a:xfrm>
        </p:spPr>
        <p:txBody>
          <a:bodyPr/>
          <a:lstStyle/>
          <a:p>
            <a:pPr>
              <a:lnSpc>
                <a:spcPct val="150000"/>
              </a:lnSpc>
              <a:spcBef>
                <a:spcPts val="0"/>
              </a:spcBef>
              <a:buNone/>
            </a:pPr>
            <a:r>
              <a:rPr lang="en-US" altLang="zh-CN" sz="2400" b="1" dirty="0">
                <a:latin typeface="仿宋_GB2312" pitchFamily="49" charset="-122"/>
                <a:ea typeface="仿宋_GB2312" pitchFamily="49" charset="-122"/>
              </a:rPr>
              <a:t>     </a:t>
            </a:r>
            <a:r>
              <a:rPr lang="en-US" sz="2400" dirty="0"/>
              <a:t>(2) </a:t>
            </a:r>
            <a:r>
              <a:rPr lang="zh-CN" altLang="en-US" sz="2400" b="1" dirty="0">
                <a:latin typeface="楷体" pitchFamily="49" charset="-122"/>
                <a:ea typeface="楷体" pitchFamily="49" charset="-122"/>
              </a:rPr>
              <a:t>模糊关系</a:t>
            </a:r>
            <a:endParaRPr lang="zh-CN" altLang="en-US" sz="2400" dirty="0">
              <a:latin typeface="楷体" pitchFamily="49" charset="-122"/>
              <a:ea typeface="楷体" pitchFamily="49" charset="-122"/>
            </a:endParaRPr>
          </a:p>
          <a:p>
            <a:pPr>
              <a:lnSpc>
                <a:spcPts val="3600"/>
              </a:lnSpc>
              <a:spcBef>
                <a:spcPts val="0"/>
              </a:spcBef>
              <a:buNone/>
            </a:pPr>
            <a:r>
              <a:rPr lang="en-US" sz="2400" dirty="0"/>
              <a:t>           </a:t>
            </a:r>
            <a:r>
              <a:rPr lang="zh-CN" altLang="en-US" sz="2400" dirty="0">
                <a:latin typeface="Times New Roman" pitchFamily="18" charset="0"/>
                <a:ea typeface="黑体" pitchFamily="49" charset="-122"/>
                <a:cs typeface="Times New Roman" pitchFamily="18" charset="0"/>
              </a:rPr>
              <a:t>定义 </a:t>
            </a:r>
            <a:r>
              <a:rPr lang="en-US" sz="2400" dirty="0">
                <a:latin typeface="黑体" pitchFamily="49" charset="-122"/>
                <a:ea typeface="黑体" pitchFamily="49" charset="-122"/>
                <a:cs typeface="Times New Roman" pitchFamily="18" charset="0"/>
              </a:rPr>
              <a:t>8-3</a:t>
            </a:r>
            <a:r>
              <a:rPr lang="en-US" sz="2400" dirty="0">
                <a:latin typeface="Times New Roman" pitchFamily="18" charset="0"/>
                <a:cs typeface="Times New Roman" pitchFamily="18" charset="0"/>
              </a:rPr>
              <a:t> </a:t>
            </a:r>
            <a:r>
              <a:rPr lang="zh-CN" altLang="en-US" sz="2400" dirty="0">
                <a:latin typeface="Times New Roman" pitchFamily="18" charset="0"/>
                <a:cs typeface="Times New Roman" pitchFamily="18" charset="0"/>
              </a:rPr>
              <a:t>集合</a:t>
            </a:r>
            <a:r>
              <a:rPr lang="en-US" sz="2400" i="1" dirty="0">
                <a:latin typeface="Times New Roman" pitchFamily="18" charset="0"/>
                <a:cs typeface="Times New Roman" pitchFamily="18" charset="0"/>
              </a:rPr>
              <a:t>U</a:t>
            </a:r>
            <a:r>
              <a:rPr lang="en-US" sz="2400" baseline="-25000" dirty="0">
                <a:latin typeface="Times New Roman" pitchFamily="18" charset="0"/>
                <a:cs typeface="Times New Roman" pitchFamily="18" charset="0"/>
              </a:rPr>
              <a:t>1</a:t>
            </a:r>
            <a:r>
              <a:rPr lang="en-US" sz="2400" dirty="0">
                <a:latin typeface="Times New Roman" pitchFamily="18" charset="0"/>
                <a:cs typeface="Times New Roman" pitchFamily="18" charset="0"/>
              </a:rPr>
              <a:t>, </a:t>
            </a:r>
            <a:r>
              <a:rPr lang="en-US" sz="2400" i="1" dirty="0">
                <a:latin typeface="Times New Roman" pitchFamily="18" charset="0"/>
                <a:cs typeface="Times New Roman" pitchFamily="18" charset="0"/>
              </a:rPr>
              <a:t>U</a:t>
            </a:r>
            <a:r>
              <a:rPr lang="en-US" sz="2400" baseline="-25000" dirty="0">
                <a:latin typeface="Times New Roman" pitchFamily="18" charset="0"/>
                <a:cs typeface="Times New Roman" pitchFamily="18" charset="0"/>
              </a:rPr>
              <a:t>2</a:t>
            </a:r>
            <a:r>
              <a:rPr lang="en-US" sz="2400" dirty="0">
                <a:latin typeface="Times New Roman" pitchFamily="18" charset="0"/>
                <a:cs typeface="Times New Roman" pitchFamily="18" charset="0"/>
              </a:rPr>
              <a:t> , …, </a:t>
            </a:r>
            <a:r>
              <a:rPr lang="en-US" sz="2400" i="1" dirty="0">
                <a:latin typeface="Times New Roman" pitchFamily="18" charset="0"/>
                <a:cs typeface="Times New Roman" pitchFamily="18" charset="0"/>
              </a:rPr>
              <a:t>U</a:t>
            </a:r>
            <a:r>
              <a:rPr lang="en-US" sz="2400" i="1" baseline="-25000" dirty="0">
                <a:latin typeface="Times New Roman" pitchFamily="18" charset="0"/>
                <a:cs typeface="Times New Roman" pitchFamily="18" charset="0"/>
              </a:rPr>
              <a:t>n</a:t>
            </a:r>
            <a:r>
              <a:rPr lang="zh-CN" altLang="en-US" sz="2400" dirty="0">
                <a:latin typeface="Times New Roman" pitchFamily="18" charset="0"/>
                <a:cs typeface="Times New Roman" pitchFamily="18" charset="0"/>
              </a:rPr>
              <a:t>的</a:t>
            </a:r>
            <a:r>
              <a:rPr lang="zh-CN" altLang="en-US" sz="2400" b="1" dirty="0">
                <a:solidFill>
                  <a:srgbClr val="FF0000"/>
                </a:solidFill>
                <a:latin typeface="Times New Roman" pitchFamily="18" charset="0"/>
                <a:cs typeface="Times New Roman" pitchFamily="18" charset="0"/>
              </a:rPr>
              <a:t>笛卡尔积</a:t>
            </a:r>
            <a:r>
              <a:rPr lang="zh-CN" altLang="en-US" sz="2400" dirty="0">
                <a:latin typeface="Times New Roman" pitchFamily="18" charset="0"/>
                <a:cs typeface="Times New Roman" pitchFamily="18" charset="0"/>
              </a:rPr>
              <a:t>集</a:t>
            </a:r>
            <a:r>
              <a:rPr lang="en-US" sz="2400" i="1" dirty="0">
                <a:latin typeface="Times New Roman" pitchFamily="18" charset="0"/>
                <a:cs typeface="Times New Roman" pitchFamily="18" charset="0"/>
              </a:rPr>
              <a:t>U</a:t>
            </a:r>
            <a:r>
              <a:rPr lang="en-US" sz="2400" baseline="-25000" dirty="0">
                <a:latin typeface="Times New Roman" pitchFamily="18" charset="0"/>
                <a:cs typeface="Times New Roman" pitchFamily="18" charset="0"/>
              </a:rPr>
              <a:t>1</a:t>
            </a:r>
            <a:r>
              <a:rPr lang="en-US" sz="2400" dirty="0">
                <a:latin typeface="Times New Roman" pitchFamily="18" charset="0"/>
                <a:cs typeface="Times New Roman" pitchFamily="18" charset="0"/>
              </a:rPr>
              <a:t>×</a:t>
            </a:r>
            <a:r>
              <a:rPr lang="en-US" sz="2400" i="1" dirty="0">
                <a:latin typeface="Times New Roman" pitchFamily="18" charset="0"/>
                <a:cs typeface="Times New Roman" pitchFamily="18" charset="0"/>
              </a:rPr>
              <a:t>U</a:t>
            </a:r>
            <a:r>
              <a:rPr lang="en-US" sz="2400" baseline="-25000" dirty="0">
                <a:latin typeface="Times New Roman" pitchFamily="18" charset="0"/>
                <a:cs typeface="Times New Roman" pitchFamily="18" charset="0"/>
              </a:rPr>
              <a:t>2</a:t>
            </a:r>
            <a:r>
              <a:rPr lang="en-US" sz="2400" dirty="0">
                <a:latin typeface="Times New Roman" pitchFamily="18" charset="0"/>
                <a:cs typeface="Times New Roman" pitchFamily="18" charset="0"/>
              </a:rPr>
              <a:t>×…×</a:t>
            </a:r>
            <a:r>
              <a:rPr lang="en-US" sz="2400" i="1" dirty="0">
                <a:latin typeface="Times New Roman" pitchFamily="18" charset="0"/>
                <a:cs typeface="Times New Roman" pitchFamily="18" charset="0"/>
              </a:rPr>
              <a:t>U</a:t>
            </a:r>
            <a:r>
              <a:rPr lang="en-US" sz="2400" i="1" baseline="-25000" dirty="0">
                <a:latin typeface="Times New Roman" pitchFamily="18" charset="0"/>
                <a:cs typeface="Times New Roman" pitchFamily="18" charset="0"/>
              </a:rPr>
              <a:t>n</a:t>
            </a:r>
            <a:r>
              <a:rPr lang="zh-CN" altLang="en-US" sz="2400" dirty="0">
                <a:latin typeface="Times New Roman" pitchFamily="18" charset="0"/>
                <a:cs typeface="Times New Roman" pitchFamily="18" charset="0"/>
              </a:rPr>
              <a:t>的一个模糊子集</a:t>
            </a:r>
            <a:r>
              <a:rPr lang="en-US" sz="2400" i="1" dirty="0">
                <a:latin typeface="Times New Roman" pitchFamily="18" charset="0"/>
                <a:cs typeface="Times New Roman" pitchFamily="18" charset="0"/>
              </a:rPr>
              <a:t>R</a:t>
            </a:r>
            <a:r>
              <a:rPr lang="zh-CN" altLang="en-US" sz="2400" dirty="0">
                <a:latin typeface="Times New Roman" pitchFamily="18" charset="0"/>
                <a:cs typeface="Times New Roman" pitchFamily="18" charset="0"/>
              </a:rPr>
              <a:t>，称为 </a:t>
            </a:r>
            <a:r>
              <a:rPr lang="en-US" sz="2400" i="1" dirty="0">
                <a:latin typeface="Times New Roman" pitchFamily="18" charset="0"/>
                <a:cs typeface="Times New Roman" pitchFamily="18" charset="0"/>
              </a:rPr>
              <a:t>U</a:t>
            </a:r>
            <a:r>
              <a:rPr lang="en-US" sz="2400" baseline="-25000" dirty="0">
                <a:latin typeface="Times New Roman" pitchFamily="18" charset="0"/>
                <a:cs typeface="Times New Roman" pitchFamily="18" charset="0"/>
              </a:rPr>
              <a:t>1</a:t>
            </a:r>
            <a:r>
              <a:rPr lang="en-US" sz="2400" dirty="0">
                <a:latin typeface="Times New Roman" pitchFamily="18" charset="0"/>
                <a:cs typeface="Times New Roman" pitchFamily="18" charset="0"/>
              </a:rPr>
              <a:t>, </a:t>
            </a:r>
            <a:r>
              <a:rPr lang="en-US" sz="2400" i="1" dirty="0">
                <a:latin typeface="Times New Roman" pitchFamily="18" charset="0"/>
                <a:cs typeface="Times New Roman" pitchFamily="18" charset="0"/>
              </a:rPr>
              <a:t>U</a:t>
            </a:r>
            <a:r>
              <a:rPr lang="en-US" sz="2400" baseline="-25000" dirty="0">
                <a:latin typeface="Times New Roman" pitchFamily="18" charset="0"/>
                <a:cs typeface="Times New Roman" pitchFamily="18" charset="0"/>
              </a:rPr>
              <a:t>2</a:t>
            </a:r>
            <a:r>
              <a:rPr lang="en-US" sz="2400" dirty="0">
                <a:latin typeface="Times New Roman" pitchFamily="18" charset="0"/>
                <a:cs typeface="Times New Roman" pitchFamily="18" charset="0"/>
              </a:rPr>
              <a:t> , …, </a:t>
            </a:r>
            <a:r>
              <a:rPr lang="en-US" sz="2400" i="1" dirty="0">
                <a:latin typeface="Times New Roman" pitchFamily="18" charset="0"/>
                <a:cs typeface="Times New Roman" pitchFamily="18" charset="0"/>
              </a:rPr>
              <a:t>U</a:t>
            </a:r>
            <a:r>
              <a:rPr lang="en-US" sz="2400" i="1" baseline="-25000" dirty="0">
                <a:latin typeface="Times New Roman" pitchFamily="18" charset="0"/>
                <a:cs typeface="Times New Roman" pitchFamily="18" charset="0"/>
              </a:rPr>
              <a:t>n</a:t>
            </a:r>
            <a:r>
              <a:rPr lang="zh-CN" altLang="en-US" sz="2400" dirty="0">
                <a:latin typeface="Times New Roman" pitchFamily="18" charset="0"/>
                <a:cs typeface="Times New Roman" pitchFamily="18" charset="0"/>
              </a:rPr>
              <a:t>间的一个</a:t>
            </a:r>
            <a:r>
              <a:rPr lang="en-US" sz="2400" i="1" dirty="0">
                <a:latin typeface="Times New Roman" pitchFamily="18" charset="0"/>
                <a:cs typeface="Times New Roman" pitchFamily="18" charset="0"/>
              </a:rPr>
              <a:t>n</a:t>
            </a:r>
            <a:r>
              <a:rPr lang="zh-CN" altLang="en-US" sz="2400" dirty="0">
                <a:latin typeface="Times New Roman" pitchFamily="18" charset="0"/>
                <a:cs typeface="Times New Roman" pitchFamily="18" charset="0"/>
              </a:rPr>
              <a:t>元模糊关系。特别地，</a:t>
            </a:r>
            <a:r>
              <a:rPr lang="en-US" sz="2400" i="1" dirty="0">
                <a:latin typeface="Times New Roman" pitchFamily="18" charset="0"/>
                <a:cs typeface="Times New Roman" pitchFamily="18" charset="0"/>
              </a:rPr>
              <a:t>U</a:t>
            </a:r>
            <a:r>
              <a:rPr lang="en-US" sz="2400" i="1" baseline="30000" dirty="0">
                <a:latin typeface="Times New Roman" pitchFamily="18" charset="0"/>
                <a:cs typeface="Times New Roman" pitchFamily="18" charset="0"/>
              </a:rPr>
              <a:t>n</a:t>
            </a:r>
            <a:r>
              <a:rPr lang="zh-CN" altLang="en-US" sz="2400" dirty="0">
                <a:latin typeface="Times New Roman" pitchFamily="18" charset="0"/>
                <a:cs typeface="Times New Roman" pitchFamily="18" charset="0"/>
              </a:rPr>
              <a:t>的一个模糊子集称为</a:t>
            </a:r>
            <a:r>
              <a:rPr lang="en-US" sz="2400" i="1" dirty="0">
                <a:latin typeface="Times New Roman" pitchFamily="18" charset="0"/>
                <a:cs typeface="Times New Roman" pitchFamily="18" charset="0"/>
              </a:rPr>
              <a:t>U</a:t>
            </a:r>
            <a:r>
              <a:rPr lang="zh-CN" altLang="en-US" sz="2400" dirty="0">
                <a:latin typeface="Times New Roman" pitchFamily="18" charset="0"/>
                <a:cs typeface="Times New Roman" pitchFamily="18" charset="0"/>
              </a:rPr>
              <a:t>上的一个</a:t>
            </a:r>
            <a:r>
              <a:rPr lang="en-US" sz="2400" i="1" dirty="0">
                <a:latin typeface="Times New Roman" pitchFamily="18" charset="0"/>
                <a:cs typeface="Times New Roman" pitchFamily="18" charset="0"/>
              </a:rPr>
              <a:t>n</a:t>
            </a:r>
            <a:r>
              <a:rPr lang="zh-CN" altLang="en-US" sz="2400" dirty="0">
                <a:latin typeface="Times New Roman" pitchFamily="18" charset="0"/>
                <a:cs typeface="Times New Roman" pitchFamily="18" charset="0"/>
              </a:rPr>
              <a:t>元模糊关系。</a:t>
            </a:r>
            <a:endParaRPr lang="en-US" altLang="zh-CN" sz="2400" dirty="0">
              <a:latin typeface="Times New Roman" pitchFamily="18" charset="0"/>
              <a:cs typeface="Times New Roman" pitchFamily="18" charset="0"/>
            </a:endParaRPr>
          </a:p>
          <a:p>
            <a:pPr>
              <a:lnSpc>
                <a:spcPts val="3600"/>
              </a:lnSpc>
              <a:spcBef>
                <a:spcPts val="0"/>
              </a:spcBef>
              <a:buNone/>
            </a:pPr>
            <a:r>
              <a:rPr lang="en-US" altLang="zh-CN" sz="2400" dirty="0">
                <a:latin typeface="Times New Roman" pitchFamily="18" charset="0"/>
                <a:cs typeface="Times New Roman" pitchFamily="18" charset="0"/>
              </a:rPr>
              <a:t>     </a:t>
            </a:r>
            <a:r>
              <a:rPr lang="zh-CN" altLang="en-US" sz="2400" dirty="0">
                <a:latin typeface="Times New Roman" pitchFamily="18" charset="0"/>
                <a:cs typeface="Times New Roman" pitchFamily="18" charset="0"/>
              </a:rPr>
              <a:t>集合论中的笛卡尔积：</a:t>
            </a:r>
            <a:r>
              <a:rPr lang="en-US" altLang="zh-CN" sz="2400" dirty="0"/>
              <a:t>U={1,2,3,4,5}</a:t>
            </a:r>
            <a:r>
              <a:rPr lang="zh-CN" altLang="en-US" sz="2400" dirty="0"/>
              <a:t>，笛卡尔积</a:t>
            </a:r>
            <a:r>
              <a:rPr lang="en-US" altLang="zh-CN" sz="2400" dirty="0"/>
              <a:t>U×U=(1,1),(1,2),…,(5,5)</a:t>
            </a:r>
            <a:endParaRPr lang="zh-CN" altLang="en-US" sz="2400" dirty="0">
              <a:latin typeface="Times New Roman" pitchFamily="18" charset="0"/>
              <a:cs typeface="Times New Roman" pitchFamily="18" charset="0"/>
            </a:endParaRPr>
          </a:p>
          <a:p>
            <a:pPr>
              <a:lnSpc>
                <a:spcPct val="150000"/>
              </a:lnSpc>
              <a:spcBef>
                <a:spcPts val="0"/>
              </a:spcBef>
              <a:buNone/>
            </a:pPr>
            <a:r>
              <a:rPr lang="en-US" sz="2400" dirty="0">
                <a:latin typeface="Times New Roman" pitchFamily="18" charset="0"/>
                <a:cs typeface="Times New Roman" pitchFamily="18" charset="0"/>
              </a:rPr>
              <a:t>            </a:t>
            </a:r>
            <a:r>
              <a:rPr lang="zh-CN" altLang="en-US" sz="2400" dirty="0">
                <a:latin typeface="Times New Roman" pitchFamily="18" charset="0"/>
                <a:ea typeface="黑体" pitchFamily="49" charset="-122"/>
                <a:cs typeface="Times New Roman" pitchFamily="18" charset="0"/>
              </a:rPr>
              <a:t>例 </a:t>
            </a:r>
            <a:r>
              <a:rPr lang="en-US" sz="2400" dirty="0">
                <a:latin typeface="黑体" pitchFamily="49" charset="-122"/>
                <a:ea typeface="黑体" pitchFamily="49" charset="-122"/>
                <a:cs typeface="Times New Roman" pitchFamily="18" charset="0"/>
              </a:rPr>
              <a:t>8-7</a:t>
            </a:r>
            <a:r>
              <a:rPr lang="en-US" sz="2400" dirty="0">
                <a:latin typeface="Times New Roman" pitchFamily="18" charset="0"/>
                <a:cs typeface="Times New Roman" pitchFamily="18" charset="0"/>
              </a:rPr>
              <a:t> </a:t>
            </a:r>
            <a:r>
              <a:rPr lang="zh-CN" altLang="en-US" sz="2400" dirty="0">
                <a:latin typeface="Times New Roman" pitchFamily="18" charset="0"/>
                <a:cs typeface="Times New Roman" pitchFamily="18" charset="0"/>
              </a:rPr>
              <a:t>设</a:t>
            </a:r>
            <a:r>
              <a:rPr lang="en-US" sz="2400" i="1" dirty="0">
                <a:latin typeface="Times New Roman" pitchFamily="18" charset="0"/>
                <a:cs typeface="Times New Roman" pitchFamily="18" charset="0"/>
              </a:rPr>
              <a:t>U</a:t>
            </a:r>
            <a:r>
              <a:rPr lang="zh-CN" altLang="en-US" sz="2400" dirty="0">
                <a:latin typeface="Times New Roman" pitchFamily="18" charset="0"/>
                <a:cs typeface="Times New Roman" pitchFamily="18" charset="0"/>
              </a:rPr>
              <a:t>＝</a:t>
            </a:r>
            <a:r>
              <a:rPr lang="en-US" sz="2400" dirty="0">
                <a:latin typeface="Times New Roman" pitchFamily="18" charset="0"/>
                <a:cs typeface="Times New Roman" pitchFamily="18" charset="0"/>
              </a:rPr>
              <a:t>{1, 2, 3, 4. 5}</a:t>
            </a:r>
            <a:r>
              <a:rPr lang="zh-CN" altLang="en-US" sz="2400" dirty="0">
                <a:latin typeface="Times New Roman" pitchFamily="18" charset="0"/>
                <a:cs typeface="Times New Roman" pitchFamily="18" charset="0"/>
              </a:rPr>
              <a:t>，</a:t>
            </a:r>
            <a:r>
              <a:rPr lang="en-US" sz="2400" i="1" dirty="0">
                <a:latin typeface="Times New Roman" pitchFamily="18" charset="0"/>
                <a:cs typeface="Times New Roman" pitchFamily="18" charset="0"/>
              </a:rPr>
              <a:t>U</a:t>
            </a:r>
            <a:r>
              <a:rPr lang="zh-CN" altLang="en-US" sz="2400" dirty="0">
                <a:latin typeface="Times New Roman" pitchFamily="18" charset="0"/>
                <a:cs typeface="Times New Roman" pitchFamily="18" charset="0"/>
              </a:rPr>
              <a:t>上的“远大于”这个模糊关系可用模糊子集表示如下</a:t>
            </a:r>
            <a:r>
              <a:rPr lang="en-US" sz="2400" dirty="0">
                <a:latin typeface="Times New Roman" pitchFamily="18" charset="0"/>
                <a:cs typeface="Times New Roman" pitchFamily="18" charset="0"/>
              </a:rPr>
              <a:t>:</a:t>
            </a:r>
            <a:endParaRPr lang="zh-CN" altLang="en-US" sz="2400" dirty="0">
              <a:latin typeface="Times New Roman" pitchFamily="18" charset="0"/>
              <a:cs typeface="Times New Roman" pitchFamily="18" charset="0"/>
            </a:endParaRPr>
          </a:p>
          <a:p>
            <a:pPr>
              <a:spcBef>
                <a:spcPts val="600"/>
              </a:spcBef>
              <a:buNone/>
            </a:pPr>
            <a:r>
              <a:rPr lang="en-US" sz="2400" dirty="0">
                <a:latin typeface="Times New Roman" pitchFamily="18" charset="0"/>
                <a:cs typeface="Times New Roman" pitchFamily="18" charset="0"/>
              </a:rPr>
              <a:t>              </a:t>
            </a:r>
            <a:r>
              <a:rPr lang="en-US" sz="2400" i="1" dirty="0">
                <a:latin typeface="Times New Roman" pitchFamily="18" charset="0"/>
                <a:cs typeface="Times New Roman" pitchFamily="18" charset="0"/>
              </a:rPr>
              <a:t>R</a:t>
            </a:r>
            <a:r>
              <a:rPr lang="zh-CN" altLang="en-US" sz="2400" baseline="-25000" dirty="0">
                <a:latin typeface="Times New Roman" pitchFamily="18" charset="0"/>
                <a:cs typeface="Times New Roman" pitchFamily="18" charset="0"/>
              </a:rPr>
              <a:t>远大于</a:t>
            </a:r>
            <a:r>
              <a:rPr lang="en-US" sz="2400" dirty="0">
                <a:latin typeface="Times New Roman" pitchFamily="18" charset="0"/>
                <a:cs typeface="Times New Roman" pitchFamily="18" charset="0"/>
              </a:rPr>
              <a:t>=0.1/(1, 2)</a:t>
            </a:r>
            <a:r>
              <a:rPr lang="zh-CN" altLang="en-US" sz="2400" dirty="0">
                <a:latin typeface="Times New Roman" pitchFamily="18" charset="0"/>
                <a:cs typeface="Times New Roman" pitchFamily="18" charset="0"/>
              </a:rPr>
              <a:t>＋</a:t>
            </a:r>
            <a:r>
              <a:rPr lang="en-US" sz="2400" dirty="0">
                <a:latin typeface="Times New Roman" pitchFamily="18" charset="0"/>
                <a:cs typeface="Times New Roman" pitchFamily="18" charset="0"/>
              </a:rPr>
              <a:t>0.4/(1, 3)</a:t>
            </a:r>
            <a:r>
              <a:rPr lang="zh-CN" altLang="en-US" sz="2400" dirty="0">
                <a:latin typeface="Times New Roman" pitchFamily="18" charset="0"/>
                <a:cs typeface="Times New Roman" pitchFamily="18" charset="0"/>
              </a:rPr>
              <a:t>＋</a:t>
            </a:r>
            <a:r>
              <a:rPr lang="en-US" sz="2400" dirty="0">
                <a:latin typeface="Times New Roman" pitchFamily="18" charset="0"/>
                <a:cs typeface="Times New Roman" pitchFamily="18" charset="0"/>
              </a:rPr>
              <a:t>0.7/(1, 4)</a:t>
            </a:r>
            <a:r>
              <a:rPr lang="zh-CN" altLang="en-US" sz="2400" dirty="0">
                <a:latin typeface="Times New Roman" pitchFamily="18" charset="0"/>
                <a:cs typeface="Times New Roman" pitchFamily="18" charset="0"/>
              </a:rPr>
              <a:t>＋</a:t>
            </a:r>
            <a:r>
              <a:rPr lang="en-US" sz="2400" dirty="0">
                <a:latin typeface="Times New Roman" pitchFamily="18" charset="0"/>
                <a:cs typeface="Times New Roman" pitchFamily="18" charset="0"/>
              </a:rPr>
              <a:t>1/(1, 5)+</a:t>
            </a:r>
            <a:endParaRPr lang="zh-CN" altLang="en-US" sz="2400" dirty="0">
              <a:latin typeface="Times New Roman" pitchFamily="18" charset="0"/>
              <a:cs typeface="Times New Roman" pitchFamily="18" charset="0"/>
            </a:endParaRPr>
          </a:p>
          <a:p>
            <a:pPr>
              <a:buNone/>
            </a:pPr>
            <a:r>
              <a:rPr lang="en-US" sz="2400" dirty="0">
                <a:latin typeface="Times New Roman" pitchFamily="18" charset="0"/>
                <a:cs typeface="Times New Roman" pitchFamily="18" charset="0"/>
              </a:rPr>
              <a:t>                           +0.2/(2, 3)</a:t>
            </a:r>
            <a:r>
              <a:rPr lang="zh-CN" altLang="en-US" sz="2400" dirty="0">
                <a:latin typeface="Times New Roman" pitchFamily="18" charset="0"/>
                <a:cs typeface="Times New Roman" pitchFamily="18" charset="0"/>
              </a:rPr>
              <a:t>＋</a:t>
            </a:r>
            <a:r>
              <a:rPr lang="en-US" sz="2400" dirty="0">
                <a:latin typeface="Times New Roman" pitchFamily="18" charset="0"/>
                <a:cs typeface="Times New Roman" pitchFamily="18" charset="0"/>
              </a:rPr>
              <a:t>0.4/(2, 4)</a:t>
            </a:r>
            <a:r>
              <a:rPr lang="zh-CN" altLang="en-US" sz="2400" dirty="0">
                <a:latin typeface="Times New Roman" pitchFamily="18" charset="0"/>
                <a:cs typeface="Times New Roman" pitchFamily="18" charset="0"/>
              </a:rPr>
              <a:t>＋</a:t>
            </a:r>
            <a:r>
              <a:rPr lang="en-US" sz="2400" dirty="0">
                <a:latin typeface="Times New Roman" pitchFamily="18" charset="0"/>
                <a:cs typeface="Times New Roman" pitchFamily="18" charset="0"/>
              </a:rPr>
              <a:t>0.7/(2, 5)</a:t>
            </a:r>
            <a:r>
              <a:rPr lang="zh-CN" altLang="en-US" sz="2400" dirty="0">
                <a:latin typeface="Times New Roman" pitchFamily="18" charset="0"/>
                <a:cs typeface="Times New Roman" pitchFamily="18" charset="0"/>
              </a:rPr>
              <a:t>＋</a:t>
            </a:r>
          </a:p>
          <a:p>
            <a:pPr>
              <a:buNone/>
            </a:pPr>
            <a:r>
              <a:rPr lang="en-US" sz="2400" dirty="0">
                <a:latin typeface="Times New Roman" pitchFamily="18" charset="0"/>
                <a:cs typeface="Times New Roman" pitchFamily="18" charset="0"/>
              </a:rPr>
              <a:t>                            0.1/(3, 4)</a:t>
            </a:r>
            <a:r>
              <a:rPr lang="zh-CN" altLang="en-US" sz="2400" dirty="0">
                <a:latin typeface="Times New Roman" pitchFamily="18" charset="0"/>
                <a:cs typeface="Times New Roman" pitchFamily="18" charset="0"/>
              </a:rPr>
              <a:t>＋</a:t>
            </a:r>
            <a:r>
              <a:rPr lang="en-US" sz="2400" dirty="0">
                <a:latin typeface="Times New Roman" pitchFamily="18" charset="0"/>
                <a:cs typeface="Times New Roman" pitchFamily="18" charset="0"/>
              </a:rPr>
              <a:t>0.4/(3, 5)</a:t>
            </a:r>
            <a:r>
              <a:rPr lang="zh-CN" altLang="en-US" sz="2400" dirty="0">
                <a:latin typeface="Times New Roman" pitchFamily="18" charset="0"/>
                <a:cs typeface="Times New Roman" pitchFamily="18" charset="0"/>
              </a:rPr>
              <a:t>＋</a:t>
            </a:r>
          </a:p>
          <a:p>
            <a:pPr>
              <a:buNone/>
            </a:pPr>
            <a:r>
              <a:rPr lang="en-US" sz="2400" dirty="0">
                <a:latin typeface="Times New Roman" pitchFamily="18" charset="0"/>
                <a:cs typeface="Times New Roman" pitchFamily="18" charset="0"/>
              </a:rPr>
              <a:t>                            0.1/(4, 5)</a:t>
            </a:r>
            <a:endParaRPr lang="zh-CN" altLang="en-US" sz="2000" dirty="0">
              <a:latin typeface="Times New Roman" pitchFamily="18" charset="0"/>
              <a:ea typeface="仿宋_GB2312" pitchFamily="49" charset="-122"/>
              <a:cs typeface="Times New Roman" pitchFamily="18" charset="0"/>
            </a:endParaRPr>
          </a:p>
        </p:txBody>
      </p:sp>
    </p:spTree>
  </p:cSld>
  <p:clrMapOvr>
    <a:masterClrMapping/>
  </p:clrMapOvr>
  <p:transition/>
</p:sld>
</file>

<file path=ppt/slides/slide2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471049" name="Picture 9"/>
          <p:cNvPicPr>
            <a:picLocks noChangeAspect="1" noChangeArrowheads="1"/>
          </p:cNvPicPr>
          <p:nvPr/>
        </p:nvPicPr>
        <p:blipFill>
          <a:blip r:embed="rId2"/>
          <a:srcRect/>
          <a:stretch>
            <a:fillRect/>
          </a:stretch>
        </p:blipFill>
        <p:spPr bwMode="auto">
          <a:xfrm>
            <a:off x="785786" y="1428736"/>
            <a:ext cx="7858179" cy="2428892"/>
          </a:xfrm>
          <a:prstGeom prst="rect">
            <a:avLst/>
          </a:prstGeom>
          <a:noFill/>
          <a:ln w="9525">
            <a:noFill/>
            <a:miter lim="800000"/>
            <a:headEnd/>
            <a:tailEnd/>
          </a:ln>
          <a:effectLst/>
        </p:spPr>
      </p:pic>
      <p:sp>
        <p:nvSpPr>
          <p:cNvPr id="3" name="矩形 2"/>
          <p:cNvSpPr/>
          <p:nvPr/>
        </p:nvSpPr>
        <p:spPr>
          <a:xfrm>
            <a:off x="1000100" y="857232"/>
            <a:ext cx="2646878" cy="461665"/>
          </a:xfrm>
          <a:prstGeom prst="rect">
            <a:avLst/>
          </a:prstGeom>
        </p:spPr>
        <p:txBody>
          <a:bodyPr wrap="none">
            <a:spAutoFit/>
          </a:bodyPr>
          <a:lstStyle/>
          <a:p>
            <a:r>
              <a:rPr lang="zh-CN" altLang="en-US" sz="2400" dirty="0"/>
              <a:t>也用矩阵可表示为</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3" name="内容占位符 2"/>
          <p:cNvSpPr>
            <a:spLocks noGrp="1"/>
          </p:cNvSpPr>
          <p:nvPr>
            <p:ph idx="1"/>
          </p:nvPr>
        </p:nvSpPr>
        <p:spPr>
          <a:xfrm>
            <a:off x="357158" y="714356"/>
            <a:ext cx="8345516" cy="5572164"/>
          </a:xfrm>
        </p:spPr>
        <p:txBody>
          <a:bodyPr/>
          <a:lstStyle/>
          <a:p>
            <a:pPr>
              <a:lnSpc>
                <a:spcPct val="150000"/>
              </a:lnSpc>
              <a:buNone/>
            </a:pPr>
            <a:r>
              <a:rPr lang="en-US" dirty="0"/>
              <a:t>      </a:t>
            </a:r>
            <a:r>
              <a:rPr lang="en-US" sz="2400" dirty="0"/>
              <a:t>(3) </a:t>
            </a:r>
            <a:r>
              <a:rPr lang="zh-CN" altLang="en-US" sz="2400" b="1" dirty="0">
                <a:latin typeface="楷体" pitchFamily="49" charset="-122"/>
                <a:ea typeface="楷体" pitchFamily="49" charset="-122"/>
              </a:rPr>
              <a:t>模糊集合的运算</a:t>
            </a:r>
            <a:endParaRPr lang="zh-CN" altLang="en-US" sz="2400" dirty="0">
              <a:latin typeface="楷体" pitchFamily="49" charset="-122"/>
              <a:ea typeface="楷体" pitchFamily="49" charset="-122"/>
            </a:endParaRPr>
          </a:p>
          <a:p>
            <a:pPr>
              <a:buNone/>
            </a:pPr>
            <a:r>
              <a:rPr lang="zh-CN" altLang="en-US" sz="2400" dirty="0">
                <a:latin typeface="Times New Roman" pitchFamily="18" charset="0"/>
                <a:cs typeface="Times New Roman" pitchFamily="18" charset="0"/>
              </a:rPr>
              <a:t>           模糊集合的交、并、补运算</a:t>
            </a:r>
          </a:p>
          <a:p>
            <a:pPr>
              <a:lnSpc>
                <a:spcPct val="150000"/>
              </a:lnSpc>
              <a:buNone/>
            </a:pPr>
            <a:r>
              <a:rPr lang="en-US" sz="2400" dirty="0">
                <a:latin typeface="Times New Roman" pitchFamily="18" charset="0"/>
                <a:cs typeface="Times New Roman" pitchFamily="18" charset="0"/>
              </a:rPr>
              <a:t>    </a:t>
            </a:r>
            <a:r>
              <a:rPr lang="zh-CN" altLang="en-US" sz="2400" dirty="0">
                <a:latin typeface="Times New Roman" pitchFamily="18" charset="0"/>
                <a:cs typeface="Times New Roman" pitchFamily="18" charset="0"/>
              </a:rPr>
              <a:t>定义</a:t>
            </a:r>
            <a:r>
              <a:rPr lang="en-US" sz="2400" dirty="0">
                <a:latin typeface="Times New Roman" pitchFamily="18" charset="0"/>
                <a:cs typeface="Times New Roman" pitchFamily="18" charset="0"/>
              </a:rPr>
              <a:t>8-4 </a:t>
            </a:r>
            <a:r>
              <a:rPr lang="zh-CN" altLang="en-US" sz="2400" dirty="0">
                <a:latin typeface="Times New Roman" pitchFamily="18" charset="0"/>
                <a:cs typeface="Times New Roman" pitchFamily="18" charset="0"/>
              </a:rPr>
              <a:t>设</a:t>
            </a:r>
            <a:r>
              <a:rPr lang="en-US" sz="2400" i="1" dirty="0">
                <a:latin typeface="Times New Roman" pitchFamily="18" charset="0"/>
                <a:cs typeface="Times New Roman" pitchFamily="18" charset="0"/>
              </a:rPr>
              <a:t>A</a:t>
            </a:r>
            <a:r>
              <a:rPr lang="en-US" sz="2400" dirty="0">
                <a:latin typeface="Times New Roman" pitchFamily="18" charset="0"/>
                <a:cs typeface="Times New Roman" pitchFamily="18" charset="0"/>
              </a:rPr>
              <a:t>, </a:t>
            </a:r>
            <a:r>
              <a:rPr lang="en-US" sz="2400" i="1" dirty="0">
                <a:latin typeface="Times New Roman" pitchFamily="18" charset="0"/>
                <a:cs typeface="Times New Roman" pitchFamily="18" charset="0"/>
              </a:rPr>
              <a:t>B</a:t>
            </a:r>
            <a:r>
              <a:rPr lang="zh-CN" altLang="en-US" sz="2400" dirty="0">
                <a:latin typeface="Times New Roman" pitchFamily="18" charset="0"/>
                <a:cs typeface="Times New Roman" pitchFamily="18" charset="0"/>
              </a:rPr>
              <a:t>是论域</a:t>
            </a:r>
            <a:r>
              <a:rPr lang="en-US" sz="2400" i="1" dirty="0">
                <a:latin typeface="Times New Roman" pitchFamily="18" charset="0"/>
                <a:cs typeface="Times New Roman" pitchFamily="18" charset="0"/>
              </a:rPr>
              <a:t>U</a:t>
            </a:r>
            <a:r>
              <a:rPr lang="zh-CN" altLang="en-US" sz="2400" dirty="0">
                <a:latin typeface="Times New Roman" pitchFamily="18" charset="0"/>
                <a:cs typeface="Times New Roman" pitchFamily="18" charset="0"/>
              </a:rPr>
              <a:t>的模糊子集，</a:t>
            </a:r>
            <a:r>
              <a:rPr lang="en-US" sz="2400" i="1" dirty="0">
                <a:latin typeface="Times New Roman" pitchFamily="18" charset="0"/>
                <a:cs typeface="Times New Roman" pitchFamily="18" charset="0"/>
              </a:rPr>
              <a:t>A</a:t>
            </a:r>
            <a:r>
              <a:rPr lang="en-US" sz="2400" dirty="0">
                <a:latin typeface="Times New Roman" pitchFamily="18" charset="0"/>
                <a:cs typeface="Times New Roman" pitchFamily="18" charset="0"/>
              </a:rPr>
              <a:t>, </a:t>
            </a:r>
            <a:r>
              <a:rPr lang="en-US" sz="2400" i="1" dirty="0">
                <a:latin typeface="Times New Roman" pitchFamily="18" charset="0"/>
                <a:cs typeface="Times New Roman" pitchFamily="18" charset="0"/>
              </a:rPr>
              <a:t>B</a:t>
            </a:r>
            <a:r>
              <a:rPr lang="zh-CN" altLang="en-US" sz="2400" dirty="0">
                <a:latin typeface="Times New Roman" pitchFamily="18" charset="0"/>
                <a:cs typeface="Times New Roman" pitchFamily="18" charset="0"/>
              </a:rPr>
              <a:t>的交集</a:t>
            </a:r>
            <a:r>
              <a:rPr lang="en-US" sz="2400" i="1" dirty="0">
                <a:latin typeface="Times New Roman" pitchFamily="18" charset="0"/>
                <a:cs typeface="Times New Roman" pitchFamily="18" charset="0"/>
              </a:rPr>
              <a:t>A</a:t>
            </a:r>
            <a:r>
              <a:rPr lang="en-US" sz="2400" dirty="0">
                <a:latin typeface="Times New Roman" pitchFamily="18" charset="0"/>
                <a:cs typeface="Times New Roman" pitchFamily="18" charset="0"/>
              </a:rPr>
              <a:t>∩</a:t>
            </a:r>
            <a:r>
              <a:rPr lang="en-US" sz="2400" i="1" dirty="0">
                <a:latin typeface="Times New Roman" pitchFamily="18" charset="0"/>
                <a:cs typeface="Times New Roman" pitchFamily="18" charset="0"/>
              </a:rPr>
              <a:t>B</a:t>
            </a:r>
            <a:r>
              <a:rPr lang="en-US" sz="2400" dirty="0">
                <a:latin typeface="Times New Roman" pitchFamily="18" charset="0"/>
                <a:cs typeface="Times New Roman" pitchFamily="18" charset="0"/>
              </a:rPr>
              <a:t>, </a:t>
            </a:r>
            <a:r>
              <a:rPr lang="zh-CN" altLang="en-US" sz="2400" dirty="0">
                <a:latin typeface="Times New Roman" pitchFamily="18" charset="0"/>
                <a:cs typeface="Times New Roman" pitchFamily="18" charset="0"/>
              </a:rPr>
              <a:t>并集</a:t>
            </a:r>
            <a:r>
              <a:rPr lang="en-US" sz="2400" i="1" dirty="0">
                <a:latin typeface="Times New Roman" pitchFamily="18" charset="0"/>
                <a:cs typeface="Times New Roman" pitchFamily="18" charset="0"/>
              </a:rPr>
              <a:t>A</a:t>
            </a:r>
            <a:r>
              <a:rPr lang="en-US" sz="2400" dirty="0">
                <a:latin typeface="Times New Roman" pitchFamily="18" charset="0"/>
                <a:cs typeface="Times New Roman" pitchFamily="18" charset="0"/>
              </a:rPr>
              <a:t>∪</a:t>
            </a:r>
            <a:r>
              <a:rPr lang="en-US" sz="2400" i="1" dirty="0">
                <a:latin typeface="Times New Roman" pitchFamily="18" charset="0"/>
                <a:cs typeface="Times New Roman" pitchFamily="18" charset="0"/>
              </a:rPr>
              <a:t>B</a:t>
            </a:r>
            <a:r>
              <a:rPr lang="zh-CN" altLang="en-US" sz="2400" dirty="0">
                <a:latin typeface="Times New Roman" pitchFamily="18" charset="0"/>
                <a:cs typeface="Times New Roman" pitchFamily="18" charset="0"/>
              </a:rPr>
              <a:t>和补集</a:t>
            </a:r>
            <a:r>
              <a:rPr lang="en-US" sz="2400" i="1" dirty="0">
                <a:latin typeface="Times New Roman" pitchFamily="18" charset="0"/>
                <a:cs typeface="Times New Roman" pitchFamily="18" charset="0"/>
              </a:rPr>
              <a:t>A</a:t>
            </a:r>
            <a:r>
              <a:rPr lang="en-US" sz="2400" dirty="0">
                <a:latin typeface="Times New Roman" pitchFamily="18" charset="0"/>
                <a:cs typeface="Times New Roman" pitchFamily="18" charset="0"/>
              </a:rPr>
              <a:t>′</a:t>
            </a:r>
            <a:r>
              <a:rPr lang="zh-CN" altLang="en-US" sz="2400" dirty="0">
                <a:latin typeface="Times New Roman" pitchFamily="18" charset="0"/>
                <a:cs typeface="Times New Roman" pitchFamily="18" charset="0"/>
              </a:rPr>
              <a:t>，分别由下面的隶属函数确定：</a:t>
            </a:r>
          </a:p>
          <a:p>
            <a:pPr>
              <a:lnSpc>
                <a:spcPct val="150000"/>
              </a:lnSpc>
              <a:buNone/>
            </a:pPr>
            <a:r>
              <a:rPr lang="en-US" sz="2400" dirty="0">
                <a:latin typeface="Times New Roman" pitchFamily="18" charset="0"/>
                <a:cs typeface="Times New Roman" pitchFamily="18" charset="0"/>
              </a:rPr>
              <a:t>                              </a:t>
            </a:r>
            <a:r>
              <a:rPr lang="en-US" sz="2400" i="1" dirty="0" err="1">
                <a:latin typeface="Times New Roman" pitchFamily="18" charset="0"/>
                <a:cs typeface="Times New Roman" pitchFamily="18" charset="0"/>
              </a:rPr>
              <a:t>μ</a:t>
            </a:r>
            <a:r>
              <a:rPr lang="en-US" sz="2400" i="1" baseline="-25000" dirty="0" err="1">
                <a:latin typeface="Times New Roman" pitchFamily="18" charset="0"/>
                <a:cs typeface="Times New Roman" pitchFamily="18" charset="0"/>
              </a:rPr>
              <a:t>A</a:t>
            </a:r>
            <a:r>
              <a:rPr lang="en-US" sz="2400" baseline="-25000" dirty="0" err="1">
                <a:latin typeface="Times New Roman" pitchFamily="18" charset="0"/>
                <a:cs typeface="Times New Roman" pitchFamily="18" charset="0"/>
              </a:rPr>
              <a:t>∩</a:t>
            </a:r>
            <a:r>
              <a:rPr lang="en-US" sz="2400" i="1" baseline="-25000" dirty="0" err="1">
                <a:latin typeface="Times New Roman" pitchFamily="18" charset="0"/>
                <a:cs typeface="Times New Roman" pitchFamily="18" charset="0"/>
              </a:rPr>
              <a:t>B</a:t>
            </a:r>
            <a:r>
              <a:rPr lang="en-US" sz="2400" dirty="0">
                <a:latin typeface="Times New Roman" pitchFamily="18" charset="0"/>
                <a:cs typeface="Times New Roman" pitchFamily="18" charset="0"/>
              </a:rPr>
              <a:t>(</a:t>
            </a:r>
            <a:r>
              <a:rPr lang="en-US" sz="2400" i="1" dirty="0">
                <a:latin typeface="Times New Roman" pitchFamily="18" charset="0"/>
                <a:cs typeface="Times New Roman" pitchFamily="18" charset="0"/>
              </a:rPr>
              <a:t>x</a:t>
            </a:r>
            <a:r>
              <a:rPr lang="en-US" sz="2400" dirty="0">
                <a:latin typeface="Times New Roman" pitchFamily="18" charset="0"/>
                <a:cs typeface="Times New Roman" pitchFamily="18" charset="0"/>
              </a:rPr>
              <a:t>)=min(</a:t>
            </a:r>
            <a:r>
              <a:rPr lang="en-US" sz="2400" i="1" dirty="0" err="1">
                <a:latin typeface="Times New Roman" pitchFamily="18" charset="0"/>
                <a:cs typeface="Times New Roman" pitchFamily="18" charset="0"/>
              </a:rPr>
              <a:t>μ</a:t>
            </a:r>
            <a:r>
              <a:rPr lang="en-US" sz="2400" i="1" baseline="-25000" dirty="0" err="1">
                <a:latin typeface="Times New Roman" pitchFamily="18" charset="0"/>
                <a:cs typeface="Times New Roman" pitchFamily="18" charset="0"/>
              </a:rPr>
              <a:t>A</a:t>
            </a:r>
            <a:r>
              <a:rPr lang="en-US" sz="2400" dirty="0">
                <a:latin typeface="Times New Roman" pitchFamily="18" charset="0"/>
                <a:cs typeface="Times New Roman" pitchFamily="18" charset="0"/>
              </a:rPr>
              <a:t>(</a:t>
            </a:r>
            <a:r>
              <a:rPr lang="en-US" sz="2400" i="1" dirty="0">
                <a:latin typeface="Times New Roman" pitchFamily="18" charset="0"/>
                <a:cs typeface="Times New Roman" pitchFamily="18" charset="0"/>
              </a:rPr>
              <a:t>x</a:t>
            </a:r>
            <a:r>
              <a:rPr lang="en-US" sz="2400" dirty="0">
                <a:latin typeface="Times New Roman" pitchFamily="18" charset="0"/>
                <a:cs typeface="Times New Roman" pitchFamily="18" charset="0"/>
              </a:rPr>
              <a:t>), </a:t>
            </a:r>
            <a:r>
              <a:rPr lang="en-US" sz="2400" i="1" dirty="0" err="1">
                <a:latin typeface="Times New Roman" pitchFamily="18" charset="0"/>
                <a:cs typeface="Times New Roman" pitchFamily="18" charset="0"/>
              </a:rPr>
              <a:t>μ</a:t>
            </a:r>
            <a:r>
              <a:rPr lang="en-US" sz="2400" i="1" baseline="-25000" dirty="0" err="1">
                <a:latin typeface="Times New Roman" pitchFamily="18" charset="0"/>
                <a:cs typeface="Times New Roman" pitchFamily="18" charset="0"/>
              </a:rPr>
              <a:t>B</a:t>
            </a:r>
            <a:r>
              <a:rPr lang="en-US" sz="2400" dirty="0">
                <a:latin typeface="Times New Roman" pitchFamily="18" charset="0"/>
                <a:cs typeface="Times New Roman" pitchFamily="18" charset="0"/>
              </a:rPr>
              <a:t>(</a:t>
            </a:r>
            <a:r>
              <a:rPr lang="en-US" sz="2400" i="1" dirty="0">
                <a:latin typeface="Times New Roman" pitchFamily="18" charset="0"/>
                <a:cs typeface="Times New Roman" pitchFamily="18" charset="0"/>
              </a:rPr>
              <a:t>x</a:t>
            </a:r>
            <a:r>
              <a:rPr lang="en-US" sz="2400" dirty="0">
                <a:latin typeface="Times New Roman" pitchFamily="18" charset="0"/>
                <a:cs typeface="Times New Roman" pitchFamily="18" charset="0"/>
              </a:rPr>
              <a:t>))                         (8-36)</a:t>
            </a:r>
            <a:endParaRPr lang="zh-CN" altLang="en-US" sz="2400" dirty="0">
              <a:latin typeface="Times New Roman" pitchFamily="18" charset="0"/>
              <a:cs typeface="Times New Roman" pitchFamily="18" charset="0"/>
            </a:endParaRPr>
          </a:p>
          <a:p>
            <a:pPr>
              <a:lnSpc>
                <a:spcPct val="150000"/>
              </a:lnSpc>
              <a:buNone/>
            </a:pPr>
            <a:r>
              <a:rPr lang="en-US" sz="2400" dirty="0">
                <a:latin typeface="Times New Roman" pitchFamily="18" charset="0"/>
                <a:cs typeface="Times New Roman" pitchFamily="18" charset="0"/>
              </a:rPr>
              <a:t>                              </a:t>
            </a:r>
            <a:r>
              <a:rPr lang="en-US" sz="2400" i="1" dirty="0" err="1">
                <a:latin typeface="Times New Roman" pitchFamily="18" charset="0"/>
                <a:cs typeface="Times New Roman" pitchFamily="18" charset="0"/>
              </a:rPr>
              <a:t>μ</a:t>
            </a:r>
            <a:r>
              <a:rPr lang="en-US" sz="2400" i="1" baseline="-25000" dirty="0" err="1">
                <a:latin typeface="Times New Roman" pitchFamily="18" charset="0"/>
                <a:cs typeface="Times New Roman" pitchFamily="18" charset="0"/>
              </a:rPr>
              <a:t>A</a:t>
            </a:r>
            <a:r>
              <a:rPr lang="en-US" sz="2400" baseline="-25000" dirty="0" err="1">
                <a:latin typeface="Times New Roman" pitchFamily="18" charset="0"/>
                <a:cs typeface="Times New Roman" pitchFamily="18" charset="0"/>
              </a:rPr>
              <a:t>∪</a:t>
            </a:r>
            <a:r>
              <a:rPr lang="en-US" sz="2400" i="1" baseline="-25000" dirty="0" err="1">
                <a:latin typeface="Times New Roman" pitchFamily="18" charset="0"/>
                <a:cs typeface="Times New Roman" pitchFamily="18" charset="0"/>
              </a:rPr>
              <a:t>B</a:t>
            </a:r>
            <a:r>
              <a:rPr lang="en-US" sz="2400" dirty="0">
                <a:latin typeface="Times New Roman" pitchFamily="18" charset="0"/>
                <a:cs typeface="Times New Roman" pitchFamily="18" charset="0"/>
              </a:rPr>
              <a:t>(</a:t>
            </a:r>
            <a:r>
              <a:rPr lang="en-US" sz="2400" i="1" dirty="0">
                <a:latin typeface="Times New Roman" pitchFamily="18" charset="0"/>
                <a:cs typeface="Times New Roman" pitchFamily="18" charset="0"/>
              </a:rPr>
              <a:t>x</a:t>
            </a:r>
            <a:r>
              <a:rPr lang="en-US" sz="2400" dirty="0">
                <a:latin typeface="Times New Roman" pitchFamily="18" charset="0"/>
                <a:cs typeface="Times New Roman" pitchFamily="18" charset="0"/>
              </a:rPr>
              <a:t>)=max(</a:t>
            </a:r>
            <a:r>
              <a:rPr lang="en-US" sz="2400" i="1" dirty="0" err="1">
                <a:latin typeface="Times New Roman" pitchFamily="18" charset="0"/>
                <a:cs typeface="Times New Roman" pitchFamily="18" charset="0"/>
              </a:rPr>
              <a:t>μ</a:t>
            </a:r>
            <a:r>
              <a:rPr lang="en-US" sz="2400" i="1" baseline="-25000" dirty="0" err="1">
                <a:latin typeface="Times New Roman" pitchFamily="18" charset="0"/>
                <a:cs typeface="Times New Roman" pitchFamily="18" charset="0"/>
              </a:rPr>
              <a:t>A</a:t>
            </a:r>
            <a:r>
              <a:rPr lang="en-US" sz="2400" dirty="0">
                <a:latin typeface="Times New Roman" pitchFamily="18" charset="0"/>
                <a:cs typeface="Times New Roman" pitchFamily="18" charset="0"/>
              </a:rPr>
              <a:t>(</a:t>
            </a:r>
            <a:r>
              <a:rPr lang="en-US" sz="2400" i="1" dirty="0">
                <a:latin typeface="Times New Roman" pitchFamily="18" charset="0"/>
                <a:cs typeface="Times New Roman" pitchFamily="18" charset="0"/>
              </a:rPr>
              <a:t>x</a:t>
            </a:r>
            <a:r>
              <a:rPr lang="en-US" sz="2400" dirty="0">
                <a:latin typeface="Times New Roman" pitchFamily="18" charset="0"/>
                <a:cs typeface="Times New Roman" pitchFamily="18" charset="0"/>
              </a:rPr>
              <a:t>), </a:t>
            </a:r>
            <a:r>
              <a:rPr lang="en-US" sz="2400" i="1" dirty="0" err="1">
                <a:latin typeface="Times New Roman" pitchFamily="18" charset="0"/>
                <a:cs typeface="Times New Roman" pitchFamily="18" charset="0"/>
              </a:rPr>
              <a:t>μ</a:t>
            </a:r>
            <a:r>
              <a:rPr lang="en-US" sz="2400" i="1" baseline="-25000" dirty="0" err="1">
                <a:latin typeface="Times New Roman" pitchFamily="18" charset="0"/>
                <a:cs typeface="Times New Roman" pitchFamily="18" charset="0"/>
              </a:rPr>
              <a:t>B</a:t>
            </a:r>
            <a:r>
              <a:rPr lang="en-US" sz="2400" dirty="0">
                <a:latin typeface="Times New Roman" pitchFamily="18" charset="0"/>
                <a:cs typeface="Times New Roman" pitchFamily="18" charset="0"/>
              </a:rPr>
              <a:t>(</a:t>
            </a:r>
            <a:r>
              <a:rPr lang="en-US" sz="2400" i="1" dirty="0">
                <a:latin typeface="Times New Roman" pitchFamily="18" charset="0"/>
                <a:cs typeface="Times New Roman" pitchFamily="18" charset="0"/>
              </a:rPr>
              <a:t>x</a:t>
            </a:r>
            <a:r>
              <a:rPr lang="en-US" sz="2400" dirty="0">
                <a:latin typeface="Times New Roman" pitchFamily="18" charset="0"/>
                <a:cs typeface="Times New Roman" pitchFamily="18" charset="0"/>
              </a:rPr>
              <a:t>))                        (8-37)</a:t>
            </a:r>
            <a:endParaRPr lang="zh-CN" altLang="en-US" sz="2400" dirty="0">
              <a:latin typeface="Times New Roman" pitchFamily="18" charset="0"/>
              <a:cs typeface="Times New Roman" pitchFamily="18" charset="0"/>
            </a:endParaRPr>
          </a:p>
          <a:p>
            <a:pPr>
              <a:lnSpc>
                <a:spcPct val="150000"/>
              </a:lnSpc>
              <a:buNone/>
            </a:pPr>
            <a:r>
              <a:rPr lang="en-US" sz="2400" dirty="0">
                <a:latin typeface="Times New Roman" pitchFamily="18" charset="0"/>
                <a:cs typeface="Times New Roman" pitchFamily="18" charset="0"/>
              </a:rPr>
              <a:t>                              </a:t>
            </a:r>
            <a:r>
              <a:rPr lang="en-US" sz="2400" i="1" dirty="0" err="1">
                <a:latin typeface="Times New Roman" pitchFamily="18" charset="0"/>
                <a:cs typeface="Times New Roman" pitchFamily="18" charset="0"/>
              </a:rPr>
              <a:t>μ</a:t>
            </a:r>
            <a:r>
              <a:rPr lang="en-US" sz="2400" i="1" baseline="-25000" dirty="0" err="1">
                <a:latin typeface="Times New Roman" pitchFamily="18" charset="0"/>
                <a:cs typeface="Times New Roman" pitchFamily="18" charset="0"/>
              </a:rPr>
              <a:t>A</a:t>
            </a:r>
            <a:r>
              <a:rPr lang="en-US" sz="2400" dirty="0">
                <a:latin typeface="Times New Roman" pitchFamily="18" charset="0"/>
                <a:cs typeface="Times New Roman" pitchFamily="18" charset="0"/>
              </a:rPr>
              <a:t>′(</a:t>
            </a:r>
            <a:r>
              <a:rPr lang="en-US" sz="2400" i="1" dirty="0">
                <a:latin typeface="Times New Roman" pitchFamily="18" charset="0"/>
                <a:cs typeface="Times New Roman" pitchFamily="18" charset="0"/>
              </a:rPr>
              <a:t>x</a:t>
            </a:r>
            <a:r>
              <a:rPr lang="en-US" sz="2400" dirty="0">
                <a:latin typeface="Times New Roman" pitchFamily="18" charset="0"/>
                <a:cs typeface="Times New Roman" pitchFamily="18" charset="0"/>
              </a:rPr>
              <a:t>)=1</a:t>
            </a:r>
            <a:r>
              <a:rPr lang="zh-CN" altLang="en-US" sz="2400" dirty="0">
                <a:latin typeface="Times New Roman" pitchFamily="18" charset="0"/>
                <a:cs typeface="Times New Roman" pitchFamily="18" charset="0"/>
              </a:rPr>
              <a:t>－</a:t>
            </a:r>
            <a:r>
              <a:rPr lang="en-US" sz="2400" i="1" dirty="0" err="1">
                <a:latin typeface="Times New Roman" pitchFamily="18" charset="0"/>
                <a:cs typeface="Times New Roman" pitchFamily="18" charset="0"/>
              </a:rPr>
              <a:t>μ</a:t>
            </a:r>
            <a:r>
              <a:rPr lang="en-US" sz="2400" i="1" baseline="-25000" dirty="0" err="1">
                <a:latin typeface="Times New Roman" pitchFamily="18" charset="0"/>
                <a:cs typeface="Times New Roman" pitchFamily="18" charset="0"/>
              </a:rPr>
              <a:t>A</a:t>
            </a:r>
            <a:r>
              <a:rPr lang="en-US" sz="2400" dirty="0">
                <a:latin typeface="Times New Roman" pitchFamily="18" charset="0"/>
                <a:cs typeface="Times New Roman" pitchFamily="18" charset="0"/>
              </a:rPr>
              <a:t>(</a:t>
            </a:r>
            <a:r>
              <a:rPr lang="en-US" sz="2400" i="1" dirty="0">
                <a:latin typeface="Times New Roman" pitchFamily="18" charset="0"/>
                <a:cs typeface="Times New Roman" pitchFamily="18" charset="0"/>
              </a:rPr>
              <a:t>x</a:t>
            </a:r>
            <a:r>
              <a:rPr lang="en-US" sz="2400" dirty="0">
                <a:latin typeface="Times New Roman" pitchFamily="18" charset="0"/>
                <a:cs typeface="Times New Roman" pitchFamily="18" charset="0"/>
              </a:rPr>
              <a:t>)                                         (8-38)</a:t>
            </a:r>
            <a:endParaRPr lang="zh-CN" altLang="en-US" sz="2400" dirty="0">
              <a:latin typeface="Times New Roman" pitchFamily="18" charset="0"/>
              <a:cs typeface="Times New Roman" pitchFamily="18" charset="0"/>
            </a:endParaRPr>
          </a:p>
        </p:txBody>
      </p:sp>
    </p:spTree>
  </p:cSld>
  <p:clrMapOvr>
    <a:masterClrMapping/>
  </p:clrMapOvr>
  <p:transition/>
</p:sld>
</file>

<file path=ppt/slides/slide3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68993" name="Rectangle 1"/>
          <p:cNvSpPr>
            <a:spLocks noChangeArrowheads="1"/>
          </p:cNvSpPr>
          <p:nvPr/>
        </p:nvSpPr>
        <p:spPr bwMode="auto">
          <a:xfrm>
            <a:off x="714348" y="592118"/>
            <a:ext cx="3094117" cy="461665"/>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2400" b="0" i="0" u="none" strike="noStrike" cap="none" normalizeH="0" baseline="0" dirty="0">
                <a:ln>
                  <a:noFill/>
                </a:ln>
                <a:solidFill>
                  <a:schemeClr val="tx1"/>
                </a:solidFill>
                <a:effectLst/>
                <a:latin typeface="Times New Roman" pitchFamily="18" charset="0"/>
                <a:ea typeface="楷体" pitchFamily="49" charset="-122"/>
                <a:cs typeface="Times New Roman" pitchFamily="18" charset="0"/>
              </a:rPr>
              <a:t>    (4) </a:t>
            </a:r>
            <a:r>
              <a:rPr kumimoji="0" lang="zh-CN" altLang="en-US" sz="2400" b="1" i="0" u="none" strike="noStrike" cap="none" normalizeH="0" baseline="0" dirty="0">
                <a:ln>
                  <a:noFill/>
                </a:ln>
                <a:solidFill>
                  <a:schemeClr val="tx1"/>
                </a:solidFill>
                <a:effectLst/>
                <a:latin typeface="楷体" pitchFamily="49" charset="-122"/>
                <a:ea typeface="楷体" pitchFamily="49" charset="-122"/>
                <a:cs typeface="Times New Roman" pitchFamily="18" charset="0"/>
              </a:rPr>
              <a:t>模糊关系的合成</a:t>
            </a:r>
            <a:endParaRPr kumimoji="0" lang="zh-CN" altLang="en-US" sz="2400" b="0" i="0" u="none" strike="noStrike" cap="none" normalizeH="0" baseline="0" dirty="0">
              <a:ln>
                <a:noFill/>
              </a:ln>
              <a:solidFill>
                <a:schemeClr val="tx1"/>
              </a:solidFill>
              <a:effectLst/>
              <a:latin typeface="Arial" pitchFamily="34" charset="0"/>
              <a:ea typeface="宋体" pitchFamily="2" charset="-122"/>
              <a:cs typeface="宋体" pitchFamily="2" charset="-122"/>
            </a:endParaRPr>
          </a:p>
        </p:txBody>
      </p:sp>
      <p:pic>
        <p:nvPicPr>
          <p:cNvPr id="601090" name="Picture 2"/>
          <p:cNvPicPr>
            <a:picLocks noChangeAspect="1" noChangeArrowheads="1"/>
          </p:cNvPicPr>
          <p:nvPr/>
        </p:nvPicPr>
        <p:blipFill>
          <a:blip r:embed="rId2"/>
          <a:srcRect/>
          <a:stretch>
            <a:fillRect/>
          </a:stretch>
        </p:blipFill>
        <p:spPr bwMode="auto">
          <a:xfrm>
            <a:off x="571472" y="1166924"/>
            <a:ext cx="7786742" cy="5286412"/>
          </a:xfrm>
          <a:prstGeom prst="rect">
            <a:avLst/>
          </a:prstGeom>
          <a:noFill/>
          <a:ln w="9525">
            <a:noFill/>
            <a:miter lim="800000"/>
            <a:headEnd/>
            <a:tailEnd/>
          </a:ln>
          <a:effectLst/>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33475" name="Rectangle 3"/>
          <p:cNvSpPr>
            <a:spLocks noGrp="1" noRot="1" noChangeArrowheads="1"/>
          </p:cNvSpPr>
          <p:nvPr>
            <p:ph type="body" idx="1"/>
          </p:nvPr>
        </p:nvSpPr>
        <p:spPr>
          <a:xfrm>
            <a:off x="360334" y="428604"/>
            <a:ext cx="8221661" cy="6121400"/>
          </a:xfrm>
        </p:spPr>
        <p:txBody>
          <a:bodyPr/>
          <a:lstStyle/>
          <a:p>
            <a:pPr>
              <a:lnSpc>
                <a:spcPct val="150000"/>
              </a:lnSpc>
              <a:buNone/>
            </a:pPr>
            <a:r>
              <a:rPr lang="en-US" sz="2400" dirty="0"/>
              <a:t>     2. </a:t>
            </a:r>
            <a:r>
              <a:rPr lang="zh-CN" altLang="en-US" sz="2400" b="1" dirty="0">
                <a:latin typeface="楷体" pitchFamily="49" charset="-122"/>
                <a:ea typeface="楷体" pitchFamily="49" charset="-122"/>
              </a:rPr>
              <a:t>模糊推理</a:t>
            </a:r>
            <a:endParaRPr lang="zh-CN" altLang="en-US" sz="2400" dirty="0">
              <a:latin typeface="楷体" pitchFamily="49" charset="-122"/>
              <a:ea typeface="楷体" pitchFamily="49" charset="-122"/>
            </a:endParaRPr>
          </a:p>
          <a:p>
            <a:pPr>
              <a:lnSpc>
                <a:spcPct val="120000"/>
              </a:lnSpc>
              <a:spcBef>
                <a:spcPts val="0"/>
              </a:spcBef>
              <a:buNone/>
            </a:pPr>
            <a:r>
              <a:rPr lang="zh-CN" altLang="en-US" sz="2300" dirty="0"/>
              <a:t>        例：张三，李四和王五 三位同学对数学、编程和英语的掌握程度如下（</a:t>
            </a:r>
            <a:r>
              <a:rPr lang="zh-CN" altLang="en-US" sz="2300" b="1" dirty="0">
                <a:solidFill>
                  <a:srgbClr val="FF0000"/>
                </a:solidFill>
              </a:rPr>
              <a:t>模糊关系</a:t>
            </a:r>
            <a:r>
              <a:rPr lang="zh-CN" altLang="en-US" sz="2300" dirty="0"/>
              <a:t>）：</a:t>
            </a:r>
            <a:endParaRPr lang="en-US" altLang="zh-CN" sz="2300" dirty="0"/>
          </a:p>
          <a:p>
            <a:pPr>
              <a:lnSpc>
                <a:spcPct val="120000"/>
              </a:lnSpc>
              <a:spcBef>
                <a:spcPts val="0"/>
              </a:spcBef>
              <a:buNone/>
            </a:pPr>
            <a:endParaRPr lang="en-US" altLang="zh-CN" sz="2300" dirty="0"/>
          </a:p>
          <a:p>
            <a:pPr>
              <a:lnSpc>
                <a:spcPct val="120000"/>
              </a:lnSpc>
              <a:spcBef>
                <a:spcPts val="0"/>
              </a:spcBef>
              <a:buNone/>
            </a:pPr>
            <a:endParaRPr lang="en-US" altLang="zh-CN" sz="2300" dirty="0"/>
          </a:p>
          <a:p>
            <a:pPr>
              <a:lnSpc>
                <a:spcPct val="120000"/>
              </a:lnSpc>
              <a:spcBef>
                <a:spcPts val="0"/>
              </a:spcBef>
              <a:buNone/>
            </a:pPr>
            <a:endParaRPr lang="en-US" altLang="zh-CN" sz="2300" dirty="0"/>
          </a:p>
          <a:p>
            <a:pPr>
              <a:lnSpc>
                <a:spcPct val="120000"/>
              </a:lnSpc>
              <a:spcBef>
                <a:spcPts val="0"/>
              </a:spcBef>
              <a:buNone/>
            </a:pPr>
            <a:endParaRPr lang="en-US" altLang="zh-CN" sz="2300" dirty="0"/>
          </a:p>
          <a:p>
            <a:pPr>
              <a:lnSpc>
                <a:spcPct val="120000"/>
              </a:lnSpc>
              <a:spcBef>
                <a:spcPts val="0"/>
              </a:spcBef>
              <a:buNone/>
            </a:pPr>
            <a:endParaRPr lang="en-US" altLang="zh-CN" sz="2300" dirty="0"/>
          </a:p>
          <a:p>
            <a:pPr>
              <a:lnSpc>
                <a:spcPct val="120000"/>
              </a:lnSpc>
              <a:spcBef>
                <a:spcPts val="0"/>
              </a:spcBef>
              <a:buNone/>
            </a:pPr>
            <a:r>
              <a:rPr lang="zh-CN" altLang="en-US" sz="2300" dirty="0"/>
              <a:t>数学，编程和英语对学术和工程能力的贡献如下（</a:t>
            </a:r>
            <a:r>
              <a:rPr lang="zh-CN" altLang="en-US" sz="2300" b="1" dirty="0">
                <a:solidFill>
                  <a:srgbClr val="FF0000"/>
                </a:solidFill>
              </a:rPr>
              <a:t>模糊关系</a:t>
            </a:r>
            <a:r>
              <a:rPr lang="zh-CN" altLang="en-US" sz="2300" dirty="0"/>
              <a:t>）：</a:t>
            </a:r>
          </a:p>
        </p:txBody>
      </p:sp>
      <p:grpSp>
        <p:nvGrpSpPr>
          <p:cNvPr id="8" name="组合 7">
            <a:extLst>
              <a:ext uri="{FF2B5EF4-FFF2-40B4-BE49-F238E27FC236}">
                <a16:creationId xmlns:a16="http://schemas.microsoft.com/office/drawing/2014/main" id="{BE3F82C4-9124-0D34-025E-1C509E9D7474}"/>
              </a:ext>
            </a:extLst>
          </p:cNvPr>
          <p:cNvGrpSpPr/>
          <p:nvPr/>
        </p:nvGrpSpPr>
        <p:grpSpPr>
          <a:xfrm>
            <a:off x="844287" y="1988840"/>
            <a:ext cx="2808312" cy="1440160"/>
            <a:chOff x="827584" y="1556792"/>
            <a:chExt cx="2808312" cy="1440160"/>
          </a:xfrm>
        </p:grpSpPr>
        <p:pic>
          <p:nvPicPr>
            <p:cNvPr id="3" name="图片 2">
              <a:extLst>
                <a:ext uri="{FF2B5EF4-FFF2-40B4-BE49-F238E27FC236}">
                  <a16:creationId xmlns:a16="http://schemas.microsoft.com/office/drawing/2014/main" id="{6DB36048-4819-CEF0-94BD-35CEF7D3B1E9}"/>
                </a:ext>
              </a:extLst>
            </p:cNvPr>
            <p:cNvPicPr>
              <a:picLocks noChangeAspect="1"/>
            </p:cNvPicPr>
            <p:nvPr/>
          </p:nvPicPr>
          <p:blipFill>
            <a:blip r:embed="rId2"/>
            <a:stretch>
              <a:fillRect/>
            </a:stretch>
          </p:blipFill>
          <p:spPr>
            <a:xfrm>
              <a:off x="1547664" y="1844824"/>
              <a:ext cx="1972393" cy="1152128"/>
            </a:xfrm>
            <a:prstGeom prst="rect">
              <a:avLst/>
            </a:prstGeom>
          </p:spPr>
        </p:pic>
        <p:sp>
          <p:nvSpPr>
            <p:cNvPr id="4" name="文本框 3">
              <a:extLst>
                <a:ext uri="{FF2B5EF4-FFF2-40B4-BE49-F238E27FC236}">
                  <a16:creationId xmlns:a16="http://schemas.microsoft.com/office/drawing/2014/main" id="{ACC33BBC-C871-E7D8-FED9-48E7D76588AE}"/>
                </a:ext>
              </a:extLst>
            </p:cNvPr>
            <p:cNvSpPr txBox="1"/>
            <p:nvPr/>
          </p:nvSpPr>
          <p:spPr>
            <a:xfrm>
              <a:off x="827584" y="1959223"/>
              <a:ext cx="936104" cy="923330"/>
            </a:xfrm>
            <a:prstGeom prst="rect">
              <a:avLst/>
            </a:prstGeom>
            <a:noFill/>
          </p:spPr>
          <p:txBody>
            <a:bodyPr wrap="square" rtlCol="0">
              <a:spAutoFit/>
            </a:bodyPr>
            <a:lstStyle/>
            <a:p>
              <a:r>
                <a:rPr lang="zh-CN" altLang="en-US" b="1" dirty="0"/>
                <a:t>张三</a:t>
              </a:r>
              <a:endParaRPr lang="en-US" altLang="zh-CN" b="1" dirty="0"/>
            </a:p>
            <a:p>
              <a:r>
                <a:rPr lang="zh-CN" altLang="en-US" b="1" dirty="0"/>
                <a:t>李四</a:t>
              </a:r>
              <a:endParaRPr lang="en-US" altLang="zh-CN" b="1" dirty="0"/>
            </a:p>
            <a:p>
              <a:r>
                <a:rPr lang="zh-CN" altLang="en-US" b="1" dirty="0"/>
                <a:t>王五</a:t>
              </a:r>
            </a:p>
          </p:txBody>
        </p:sp>
        <p:sp>
          <p:nvSpPr>
            <p:cNvPr id="5" name="文本框 4">
              <a:extLst>
                <a:ext uri="{FF2B5EF4-FFF2-40B4-BE49-F238E27FC236}">
                  <a16:creationId xmlns:a16="http://schemas.microsoft.com/office/drawing/2014/main" id="{D21A6ECA-5A25-1A68-C1F1-8C066EABC9C2}"/>
                </a:ext>
              </a:extLst>
            </p:cNvPr>
            <p:cNvSpPr txBox="1"/>
            <p:nvPr/>
          </p:nvSpPr>
          <p:spPr>
            <a:xfrm>
              <a:off x="1547664" y="1556792"/>
              <a:ext cx="2088232" cy="369332"/>
            </a:xfrm>
            <a:prstGeom prst="rect">
              <a:avLst/>
            </a:prstGeom>
            <a:noFill/>
          </p:spPr>
          <p:txBody>
            <a:bodyPr wrap="square" rtlCol="0">
              <a:spAutoFit/>
            </a:bodyPr>
            <a:lstStyle/>
            <a:p>
              <a:r>
                <a:rPr lang="zh-CN" altLang="en-US" dirty="0"/>
                <a:t>数学    编程   英语   </a:t>
              </a:r>
            </a:p>
          </p:txBody>
        </p:sp>
      </p:grpSp>
      <p:grpSp>
        <p:nvGrpSpPr>
          <p:cNvPr id="12" name="组合 11">
            <a:extLst>
              <a:ext uri="{FF2B5EF4-FFF2-40B4-BE49-F238E27FC236}">
                <a16:creationId xmlns:a16="http://schemas.microsoft.com/office/drawing/2014/main" id="{48E83DAF-D47F-B955-50A1-3C95453A7C5B}"/>
              </a:ext>
            </a:extLst>
          </p:cNvPr>
          <p:cNvGrpSpPr/>
          <p:nvPr/>
        </p:nvGrpSpPr>
        <p:grpSpPr>
          <a:xfrm>
            <a:off x="1312339" y="4401707"/>
            <a:ext cx="2733015" cy="1276745"/>
            <a:chOff x="1312339" y="4401707"/>
            <a:chExt cx="2733015" cy="1276745"/>
          </a:xfrm>
        </p:grpSpPr>
        <p:pic>
          <p:nvPicPr>
            <p:cNvPr id="7" name="图片 6">
              <a:extLst>
                <a:ext uri="{FF2B5EF4-FFF2-40B4-BE49-F238E27FC236}">
                  <a16:creationId xmlns:a16="http://schemas.microsoft.com/office/drawing/2014/main" id="{29F8D823-80AA-1A0A-9E17-E057EA6313F6}"/>
                </a:ext>
              </a:extLst>
            </p:cNvPr>
            <p:cNvPicPr>
              <a:picLocks noChangeAspect="1"/>
            </p:cNvPicPr>
            <p:nvPr/>
          </p:nvPicPr>
          <p:blipFill>
            <a:blip r:embed="rId3"/>
            <a:stretch>
              <a:fillRect/>
            </a:stretch>
          </p:blipFill>
          <p:spPr>
            <a:xfrm>
              <a:off x="1964848" y="4607263"/>
              <a:ext cx="1171429" cy="1071189"/>
            </a:xfrm>
            <a:prstGeom prst="rect">
              <a:avLst/>
            </a:prstGeom>
          </p:spPr>
        </p:pic>
        <p:sp>
          <p:nvSpPr>
            <p:cNvPr id="9" name="文本框 8">
              <a:extLst>
                <a:ext uri="{FF2B5EF4-FFF2-40B4-BE49-F238E27FC236}">
                  <a16:creationId xmlns:a16="http://schemas.microsoft.com/office/drawing/2014/main" id="{53AC1971-6055-4F58-24E1-983B5238D996}"/>
                </a:ext>
              </a:extLst>
            </p:cNvPr>
            <p:cNvSpPr txBox="1"/>
            <p:nvPr/>
          </p:nvSpPr>
          <p:spPr>
            <a:xfrm>
              <a:off x="1312339" y="4728987"/>
              <a:ext cx="936104" cy="923330"/>
            </a:xfrm>
            <a:prstGeom prst="rect">
              <a:avLst/>
            </a:prstGeom>
            <a:noFill/>
          </p:spPr>
          <p:txBody>
            <a:bodyPr wrap="square" rtlCol="0">
              <a:spAutoFit/>
            </a:bodyPr>
            <a:lstStyle/>
            <a:p>
              <a:r>
                <a:rPr lang="zh-CN" altLang="en-US" b="1" dirty="0"/>
                <a:t>数学</a:t>
              </a:r>
              <a:endParaRPr lang="en-US" altLang="zh-CN" b="1" dirty="0"/>
            </a:p>
            <a:p>
              <a:r>
                <a:rPr lang="zh-CN" altLang="en-US" b="1" dirty="0"/>
                <a:t>编程</a:t>
              </a:r>
              <a:endParaRPr lang="en-US" altLang="zh-CN" b="1" dirty="0"/>
            </a:p>
            <a:p>
              <a:r>
                <a:rPr lang="zh-CN" altLang="en-US" b="1" dirty="0"/>
                <a:t>英语</a:t>
              </a:r>
            </a:p>
          </p:txBody>
        </p:sp>
        <p:sp>
          <p:nvSpPr>
            <p:cNvPr id="10" name="文本框 9">
              <a:extLst>
                <a:ext uri="{FF2B5EF4-FFF2-40B4-BE49-F238E27FC236}">
                  <a16:creationId xmlns:a16="http://schemas.microsoft.com/office/drawing/2014/main" id="{D84861D7-1C05-A42E-BB11-7266340DF6C5}"/>
                </a:ext>
              </a:extLst>
            </p:cNvPr>
            <p:cNvSpPr txBox="1"/>
            <p:nvPr/>
          </p:nvSpPr>
          <p:spPr>
            <a:xfrm>
              <a:off x="1957122" y="4401707"/>
              <a:ext cx="2088232" cy="369332"/>
            </a:xfrm>
            <a:prstGeom prst="rect">
              <a:avLst/>
            </a:prstGeom>
            <a:noFill/>
          </p:spPr>
          <p:txBody>
            <a:bodyPr wrap="square" rtlCol="0">
              <a:spAutoFit/>
            </a:bodyPr>
            <a:lstStyle/>
            <a:p>
              <a:r>
                <a:rPr lang="zh-CN" altLang="en-US" dirty="0"/>
                <a:t>工程 学术</a:t>
              </a:r>
            </a:p>
          </p:txBody>
        </p:sp>
      </p:grpSp>
      <p:sp>
        <p:nvSpPr>
          <p:cNvPr id="11" name="文本框 10">
            <a:extLst>
              <a:ext uri="{FF2B5EF4-FFF2-40B4-BE49-F238E27FC236}">
                <a16:creationId xmlns:a16="http://schemas.microsoft.com/office/drawing/2014/main" id="{5F6C7429-A5D7-C1CB-863A-3DD71003E71E}"/>
              </a:ext>
            </a:extLst>
          </p:cNvPr>
          <p:cNvSpPr txBox="1"/>
          <p:nvPr/>
        </p:nvSpPr>
        <p:spPr>
          <a:xfrm>
            <a:off x="539552" y="5877272"/>
            <a:ext cx="7416824" cy="461665"/>
          </a:xfrm>
          <a:prstGeom prst="rect">
            <a:avLst/>
          </a:prstGeom>
          <a:noFill/>
        </p:spPr>
        <p:txBody>
          <a:bodyPr wrap="square" rtlCol="0">
            <a:spAutoFit/>
          </a:bodyPr>
          <a:lstStyle/>
          <a:p>
            <a:r>
              <a:rPr lang="zh-CN" altLang="en-US" sz="2400" b="1" dirty="0">
                <a:solidFill>
                  <a:srgbClr val="FF0000"/>
                </a:solidFill>
              </a:rPr>
              <a:t>张三、李四和王五谁跟适合工程，谁更适合学术？</a:t>
            </a:r>
          </a:p>
        </p:txBody>
      </p:sp>
    </p:spTree>
  </p:cSld>
  <p:clrMapOvr>
    <a:masterClrMapping/>
  </p:clrMapOvr>
  <p:transition/>
</p:sld>
</file>

<file path=ppt/slides/slide33.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8D9542A7-C628-5506-0D07-983A82656462}"/>
            </a:ext>
          </a:extLst>
        </p:cNvPr>
        <p:cNvGrpSpPr/>
        <p:nvPr/>
      </p:nvGrpSpPr>
      <p:grpSpPr>
        <a:xfrm>
          <a:off x="0" y="0"/>
          <a:ext cx="0" cy="0"/>
          <a:chOff x="0" y="0"/>
          <a:chExt cx="0" cy="0"/>
        </a:xfrm>
      </p:grpSpPr>
      <p:sp>
        <p:nvSpPr>
          <p:cNvPr id="233475" name="Rectangle 3">
            <a:extLst>
              <a:ext uri="{FF2B5EF4-FFF2-40B4-BE49-F238E27FC236}">
                <a16:creationId xmlns:a16="http://schemas.microsoft.com/office/drawing/2014/main" id="{1C53C74C-032A-83E7-4D9A-E5E69F7DB872}"/>
              </a:ext>
            </a:extLst>
          </p:cNvPr>
          <p:cNvSpPr>
            <a:spLocks noGrp="1" noRot="1" noChangeArrowheads="1"/>
          </p:cNvSpPr>
          <p:nvPr>
            <p:ph type="body" idx="1"/>
          </p:nvPr>
        </p:nvSpPr>
        <p:spPr>
          <a:xfrm>
            <a:off x="360334" y="428604"/>
            <a:ext cx="8221661" cy="6121400"/>
          </a:xfrm>
        </p:spPr>
        <p:txBody>
          <a:bodyPr/>
          <a:lstStyle/>
          <a:p>
            <a:pPr>
              <a:lnSpc>
                <a:spcPct val="150000"/>
              </a:lnSpc>
              <a:buNone/>
            </a:pPr>
            <a:r>
              <a:rPr lang="en-US" sz="2400" dirty="0"/>
              <a:t>     2. </a:t>
            </a:r>
            <a:r>
              <a:rPr lang="zh-CN" altLang="en-US" sz="2400" b="1" dirty="0">
                <a:latin typeface="楷体" pitchFamily="49" charset="-122"/>
                <a:ea typeface="楷体" pitchFamily="49" charset="-122"/>
              </a:rPr>
              <a:t>模糊推理</a:t>
            </a:r>
            <a:endParaRPr lang="en-US" altLang="zh-CN" sz="2400" b="1" dirty="0">
              <a:latin typeface="楷体" pitchFamily="49" charset="-122"/>
              <a:ea typeface="楷体" pitchFamily="49" charset="-122"/>
            </a:endParaRPr>
          </a:p>
          <a:p>
            <a:pPr>
              <a:lnSpc>
                <a:spcPct val="150000"/>
              </a:lnSpc>
              <a:buNone/>
            </a:pPr>
            <a:r>
              <a:rPr lang="en-US" altLang="zh-CN" sz="2400" b="1" dirty="0">
                <a:latin typeface="楷体" pitchFamily="49" charset="-122"/>
                <a:ea typeface="楷体" pitchFamily="49" charset="-122"/>
              </a:rPr>
              <a:t>    </a:t>
            </a:r>
          </a:p>
          <a:p>
            <a:pPr>
              <a:lnSpc>
                <a:spcPct val="120000"/>
              </a:lnSpc>
              <a:spcBef>
                <a:spcPts val="0"/>
              </a:spcBef>
              <a:buNone/>
            </a:pPr>
            <a:r>
              <a:rPr lang="zh-CN" altLang="en-US" sz="2300" dirty="0"/>
              <a:t>        </a:t>
            </a:r>
          </a:p>
        </p:txBody>
      </p:sp>
      <p:grpSp>
        <p:nvGrpSpPr>
          <p:cNvPr id="28" name="组合 27">
            <a:extLst>
              <a:ext uri="{FF2B5EF4-FFF2-40B4-BE49-F238E27FC236}">
                <a16:creationId xmlns:a16="http://schemas.microsoft.com/office/drawing/2014/main" id="{D72A0CC0-AF87-EC02-6E38-3E013E742535}"/>
              </a:ext>
            </a:extLst>
          </p:cNvPr>
          <p:cNvGrpSpPr/>
          <p:nvPr/>
        </p:nvGrpSpPr>
        <p:grpSpPr>
          <a:xfrm>
            <a:off x="6037820" y="1052736"/>
            <a:ext cx="3456384" cy="1434917"/>
            <a:chOff x="755576" y="1124899"/>
            <a:chExt cx="3456384" cy="1434917"/>
          </a:xfrm>
        </p:grpSpPr>
        <p:grpSp>
          <p:nvGrpSpPr>
            <p:cNvPr id="27" name="组合 26">
              <a:extLst>
                <a:ext uri="{FF2B5EF4-FFF2-40B4-BE49-F238E27FC236}">
                  <a16:creationId xmlns:a16="http://schemas.microsoft.com/office/drawing/2014/main" id="{A881F1E3-FED6-A026-6510-96C7FF1D995A}"/>
                </a:ext>
              </a:extLst>
            </p:cNvPr>
            <p:cNvGrpSpPr/>
            <p:nvPr/>
          </p:nvGrpSpPr>
          <p:grpSpPr>
            <a:xfrm>
              <a:off x="755576" y="1340768"/>
              <a:ext cx="2606247" cy="1219048"/>
              <a:chOff x="755576" y="1340768"/>
              <a:chExt cx="2606247" cy="1219048"/>
            </a:xfrm>
          </p:grpSpPr>
          <p:pic>
            <p:nvPicPr>
              <p:cNvPr id="6" name="图片 5">
                <a:extLst>
                  <a:ext uri="{FF2B5EF4-FFF2-40B4-BE49-F238E27FC236}">
                    <a16:creationId xmlns:a16="http://schemas.microsoft.com/office/drawing/2014/main" id="{A29B5694-6F27-5F8A-0C88-08C093D4E77B}"/>
                  </a:ext>
                </a:extLst>
              </p:cNvPr>
              <p:cNvPicPr>
                <a:picLocks noChangeAspect="1"/>
              </p:cNvPicPr>
              <p:nvPr/>
            </p:nvPicPr>
            <p:blipFill>
              <a:blip r:embed="rId2"/>
              <a:stretch>
                <a:fillRect/>
              </a:stretch>
            </p:blipFill>
            <p:spPr>
              <a:xfrm>
                <a:off x="2123728" y="1340768"/>
                <a:ext cx="1238095" cy="1219048"/>
              </a:xfrm>
              <a:prstGeom prst="rect">
                <a:avLst/>
              </a:prstGeom>
            </p:spPr>
          </p:pic>
          <p:sp>
            <p:nvSpPr>
              <p:cNvPr id="12" name="文本框 11">
                <a:extLst>
                  <a:ext uri="{FF2B5EF4-FFF2-40B4-BE49-F238E27FC236}">
                    <a16:creationId xmlns:a16="http://schemas.microsoft.com/office/drawing/2014/main" id="{ACE9BC8F-E002-DD91-1493-18BCC3D60E2F}"/>
                  </a:ext>
                </a:extLst>
              </p:cNvPr>
              <p:cNvSpPr txBox="1"/>
              <p:nvPr/>
            </p:nvSpPr>
            <p:spPr>
              <a:xfrm>
                <a:off x="755576" y="1719459"/>
                <a:ext cx="792088" cy="461665"/>
              </a:xfrm>
              <a:prstGeom prst="rect">
                <a:avLst/>
              </a:prstGeom>
              <a:noFill/>
            </p:spPr>
            <p:txBody>
              <a:bodyPr wrap="square" rtlCol="0">
                <a:spAutoFit/>
              </a:bodyPr>
              <a:lstStyle/>
              <a:p>
                <a:r>
                  <a:rPr lang="en-US" altLang="zh-CN" sz="2400" dirty="0"/>
                  <a:t>T</a:t>
                </a:r>
                <a:r>
                  <a:rPr lang="zh-CN" altLang="en-US" sz="2400" dirty="0"/>
                  <a:t>＝</a:t>
                </a:r>
              </a:p>
            </p:txBody>
          </p:sp>
          <p:sp>
            <p:nvSpPr>
              <p:cNvPr id="13" name="文本框 12">
                <a:extLst>
                  <a:ext uri="{FF2B5EF4-FFF2-40B4-BE49-F238E27FC236}">
                    <a16:creationId xmlns:a16="http://schemas.microsoft.com/office/drawing/2014/main" id="{3F76186D-8E56-0F85-1319-B10DF46867A4}"/>
                  </a:ext>
                </a:extLst>
              </p:cNvPr>
              <p:cNvSpPr txBox="1"/>
              <p:nvPr/>
            </p:nvSpPr>
            <p:spPr>
              <a:xfrm>
                <a:off x="1474854" y="1488626"/>
                <a:ext cx="936104" cy="923330"/>
              </a:xfrm>
              <a:prstGeom prst="rect">
                <a:avLst/>
              </a:prstGeom>
              <a:noFill/>
            </p:spPr>
            <p:txBody>
              <a:bodyPr wrap="square" rtlCol="0">
                <a:spAutoFit/>
              </a:bodyPr>
              <a:lstStyle/>
              <a:p>
                <a:r>
                  <a:rPr lang="zh-CN" altLang="en-US" b="1" dirty="0"/>
                  <a:t>张三</a:t>
                </a:r>
                <a:endParaRPr lang="en-US" altLang="zh-CN" b="1" dirty="0"/>
              </a:p>
              <a:p>
                <a:r>
                  <a:rPr lang="zh-CN" altLang="en-US" b="1" dirty="0"/>
                  <a:t>李四</a:t>
                </a:r>
                <a:endParaRPr lang="en-US" altLang="zh-CN" b="1" dirty="0"/>
              </a:p>
              <a:p>
                <a:r>
                  <a:rPr lang="zh-CN" altLang="en-US" b="1" dirty="0"/>
                  <a:t>王五</a:t>
                </a:r>
              </a:p>
            </p:txBody>
          </p:sp>
          <p:sp>
            <p:nvSpPr>
              <p:cNvPr id="15" name="TextBox 1">
                <a:extLst>
                  <a:ext uri="{FF2B5EF4-FFF2-40B4-BE49-F238E27FC236}">
                    <a16:creationId xmlns:a16="http://schemas.microsoft.com/office/drawing/2014/main" id="{E0C0F6D2-8B54-524A-AF35-25A122F90EFA}"/>
                  </a:ext>
                </a:extLst>
              </p:cNvPr>
              <p:cNvSpPr txBox="1"/>
              <p:nvPr/>
            </p:nvSpPr>
            <p:spPr>
              <a:xfrm>
                <a:off x="2266942" y="1497618"/>
                <a:ext cx="936104" cy="369887"/>
              </a:xfrm>
              <a:prstGeom prst="rect">
                <a:avLst/>
              </a:prstGeom>
              <a:solidFill>
                <a:schemeClr val="bg1"/>
              </a:solidFill>
              <a:ln w="9525">
                <a:noFill/>
              </a:ln>
            </p:spPr>
            <p:txBody>
              <a:bodyPr wrap="square">
                <a:spAutoFit/>
              </a:bodyPr>
              <a:lstStyle>
                <a:lvl1pPr marL="342900" indent="-342900" algn="l" rtl="0" eaLnBrk="0" fontAlgn="base" hangingPunct="0">
                  <a:lnSpc>
                    <a:spcPct val="130000"/>
                  </a:lnSpc>
                  <a:spcBef>
                    <a:spcPct val="20000"/>
                  </a:spcBef>
                  <a:spcAft>
                    <a:spcPct val="0"/>
                  </a:spcAft>
                  <a:defRPr sz="2400" kern="1200">
                    <a:solidFill>
                      <a:schemeClr val="tx1"/>
                    </a:solidFill>
                    <a:latin typeface="+mn-lt"/>
                    <a:ea typeface="+mn-ea"/>
                    <a:cs typeface="+mn-cs"/>
                  </a:defRPr>
                </a:lvl1pPr>
                <a:lvl2pPr marL="742950" indent="-285750" algn="l" rtl="0" eaLnBrk="0" fontAlgn="base" hangingPunct="0">
                  <a:lnSpc>
                    <a:spcPct val="130000"/>
                  </a:lnSpc>
                  <a:spcBef>
                    <a:spcPct val="20000"/>
                  </a:spcBef>
                  <a:spcAft>
                    <a:spcPct val="0"/>
                  </a:spcAft>
                  <a:buChar char="–"/>
                  <a:defRPr sz="2800" kern="1200">
                    <a:solidFill>
                      <a:schemeClr val="tx1"/>
                    </a:solidFill>
                    <a:latin typeface="+mn-lt"/>
                    <a:ea typeface="+mn-ea"/>
                    <a:cs typeface="+mn-cs"/>
                  </a:defRPr>
                </a:lvl2pPr>
                <a:lvl3pPr marL="1143000" indent="-228600" algn="l" rtl="0" eaLnBrk="0" fontAlgn="base" hangingPunct="0">
                  <a:lnSpc>
                    <a:spcPct val="130000"/>
                  </a:lnSpc>
                  <a:spcBef>
                    <a:spcPct val="20000"/>
                  </a:spcBef>
                  <a:spcAft>
                    <a:spcPct val="0"/>
                  </a:spcAft>
                  <a:buChar char="•"/>
                  <a:defRPr sz="2400" kern="1200">
                    <a:solidFill>
                      <a:schemeClr val="tx1"/>
                    </a:solidFill>
                    <a:latin typeface="+mn-lt"/>
                    <a:ea typeface="+mn-ea"/>
                    <a:cs typeface="+mn-cs"/>
                  </a:defRPr>
                </a:lvl3pPr>
                <a:lvl4pPr marL="1600200" indent="-228600" algn="l" rtl="0" eaLnBrk="0" fontAlgn="base" hangingPunct="0">
                  <a:lnSpc>
                    <a:spcPct val="130000"/>
                  </a:lnSpc>
                  <a:spcBef>
                    <a:spcPct val="20000"/>
                  </a:spcBef>
                  <a:spcAft>
                    <a:spcPct val="0"/>
                  </a:spcAft>
                  <a:buChar char="–"/>
                  <a:defRPr sz="2000" kern="1200">
                    <a:solidFill>
                      <a:schemeClr val="tx1"/>
                    </a:solidFill>
                    <a:latin typeface="+mn-lt"/>
                    <a:ea typeface="+mn-ea"/>
                    <a:cs typeface="+mn-cs"/>
                  </a:defRPr>
                </a:lvl4pPr>
                <a:lvl5pPr marL="2057400" indent="-228600" algn="l" rtl="0" eaLnBrk="0" fontAlgn="base" hangingPunct="0">
                  <a:lnSpc>
                    <a:spcPct val="130000"/>
                  </a:lnSpc>
                  <a:spcBef>
                    <a:spcPct val="20000"/>
                  </a:spcBef>
                  <a:spcAft>
                    <a:spcPct val="0"/>
                  </a:spcAft>
                  <a:buChar char="»"/>
                  <a:defRPr sz="2000" kern="1200">
                    <a:solidFill>
                      <a:schemeClr val="tx1"/>
                    </a:solidFill>
                    <a:latin typeface="+mn-lt"/>
                    <a:ea typeface="+mn-ea"/>
                    <a:cs typeface="+mn-cs"/>
                  </a:defRPr>
                </a:lvl5pPr>
              </a:lstStyle>
              <a:p>
                <a:pPr marL="0" lvl="0" indent="0">
                  <a:lnSpc>
                    <a:spcPct val="100000"/>
                  </a:lnSpc>
                  <a:spcBef>
                    <a:spcPct val="0"/>
                  </a:spcBef>
                </a:pPr>
                <a:endParaRPr lang="zh-CN" altLang="en-US" sz="1800" dirty="0"/>
              </a:p>
            </p:txBody>
          </p:sp>
          <p:sp>
            <p:nvSpPr>
              <p:cNvPr id="16" name="TextBox 1">
                <a:extLst>
                  <a:ext uri="{FF2B5EF4-FFF2-40B4-BE49-F238E27FC236}">
                    <a16:creationId xmlns:a16="http://schemas.microsoft.com/office/drawing/2014/main" id="{19AED8E9-8C7A-10B1-B413-740EDDA6B5E7}"/>
                  </a:ext>
                </a:extLst>
              </p:cNvPr>
              <p:cNvSpPr txBox="1"/>
              <p:nvPr/>
            </p:nvSpPr>
            <p:spPr>
              <a:xfrm>
                <a:off x="2274723" y="1846579"/>
                <a:ext cx="936104" cy="369887"/>
              </a:xfrm>
              <a:prstGeom prst="rect">
                <a:avLst/>
              </a:prstGeom>
              <a:solidFill>
                <a:schemeClr val="bg1"/>
              </a:solidFill>
              <a:ln w="9525">
                <a:noFill/>
              </a:ln>
            </p:spPr>
            <p:txBody>
              <a:bodyPr wrap="square">
                <a:spAutoFit/>
              </a:bodyPr>
              <a:lstStyle>
                <a:lvl1pPr marL="342900" indent="-342900" algn="l" rtl="0" eaLnBrk="0" fontAlgn="base" hangingPunct="0">
                  <a:lnSpc>
                    <a:spcPct val="130000"/>
                  </a:lnSpc>
                  <a:spcBef>
                    <a:spcPct val="20000"/>
                  </a:spcBef>
                  <a:spcAft>
                    <a:spcPct val="0"/>
                  </a:spcAft>
                  <a:defRPr sz="2400" kern="1200">
                    <a:solidFill>
                      <a:schemeClr val="tx1"/>
                    </a:solidFill>
                    <a:latin typeface="+mn-lt"/>
                    <a:ea typeface="+mn-ea"/>
                    <a:cs typeface="+mn-cs"/>
                  </a:defRPr>
                </a:lvl1pPr>
                <a:lvl2pPr marL="742950" indent="-285750" algn="l" rtl="0" eaLnBrk="0" fontAlgn="base" hangingPunct="0">
                  <a:lnSpc>
                    <a:spcPct val="130000"/>
                  </a:lnSpc>
                  <a:spcBef>
                    <a:spcPct val="20000"/>
                  </a:spcBef>
                  <a:spcAft>
                    <a:spcPct val="0"/>
                  </a:spcAft>
                  <a:buChar char="–"/>
                  <a:defRPr sz="2800" kern="1200">
                    <a:solidFill>
                      <a:schemeClr val="tx1"/>
                    </a:solidFill>
                    <a:latin typeface="+mn-lt"/>
                    <a:ea typeface="+mn-ea"/>
                    <a:cs typeface="+mn-cs"/>
                  </a:defRPr>
                </a:lvl2pPr>
                <a:lvl3pPr marL="1143000" indent="-228600" algn="l" rtl="0" eaLnBrk="0" fontAlgn="base" hangingPunct="0">
                  <a:lnSpc>
                    <a:spcPct val="130000"/>
                  </a:lnSpc>
                  <a:spcBef>
                    <a:spcPct val="20000"/>
                  </a:spcBef>
                  <a:spcAft>
                    <a:spcPct val="0"/>
                  </a:spcAft>
                  <a:buChar char="•"/>
                  <a:defRPr sz="2400" kern="1200">
                    <a:solidFill>
                      <a:schemeClr val="tx1"/>
                    </a:solidFill>
                    <a:latin typeface="+mn-lt"/>
                    <a:ea typeface="+mn-ea"/>
                    <a:cs typeface="+mn-cs"/>
                  </a:defRPr>
                </a:lvl3pPr>
                <a:lvl4pPr marL="1600200" indent="-228600" algn="l" rtl="0" eaLnBrk="0" fontAlgn="base" hangingPunct="0">
                  <a:lnSpc>
                    <a:spcPct val="130000"/>
                  </a:lnSpc>
                  <a:spcBef>
                    <a:spcPct val="20000"/>
                  </a:spcBef>
                  <a:spcAft>
                    <a:spcPct val="0"/>
                  </a:spcAft>
                  <a:buChar char="–"/>
                  <a:defRPr sz="2000" kern="1200">
                    <a:solidFill>
                      <a:schemeClr val="tx1"/>
                    </a:solidFill>
                    <a:latin typeface="+mn-lt"/>
                    <a:ea typeface="+mn-ea"/>
                    <a:cs typeface="+mn-cs"/>
                  </a:defRPr>
                </a:lvl4pPr>
                <a:lvl5pPr marL="2057400" indent="-228600" algn="l" rtl="0" eaLnBrk="0" fontAlgn="base" hangingPunct="0">
                  <a:lnSpc>
                    <a:spcPct val="130000"/>
                  </a:lnSpc>
                  <a:spcBef>
                    <a:spcPct val="20000"/>
                  </a:spcBef>
                  <a:spcAft>
                    <a:spcPct val="0"/>
                  </a:spcAft>
                  <a:buChar char="»"/>
                  <a:defRPr sz="2000" kern="1200">
                    <a:solidFill>
                      <a:schemeClr val="tx1"/>
                    </a:solidFill>
                    <a:latin typeface="+mn-lt"/>
                    <a:ea typeface="+mn-ea"/>
                    <a:cs typeface="+mn-cs"/>
                  </a:defRPr>
                </a:lvl5pPr>
              </a:lstStyle>
              <a:p>
                <a:pPr marL="0" lvl="0" indent="0">
                  <a:lnSpc>
                    <a:spcPct val="100000"/>
                  </a:lnSpc>
                  <a:spcBef>
                    <a:spcPct val="0"/>
                  </a:spcBef>
                </a:pPr>
                <a:endParaRPr lang="zh-CN" altLang="en-US" sz="1800" dirty="0"/>
              </a:p>
            </p:txBody>
          </p:sp>
          <p:sp>
            <p:nvSpPr>
              <p:cNvPr id="17" name="TextBox 1">
                <a:extLst>
                  <a:ext uri="{FF2B5EF4-FFF2-40B4-BE49-F238E27FC236}">
                    <a16:creationId xmlns:a16="http://schemas.microsoft.com/office/drawing/2014/main" id="{239823FF-15B6-8617-F98C-9DA8E39E4E4D}"/>
                  </a:ext>
                </a:extLst>
              </p:cNvPr>
              <p:cNvSpPr txBox="1"/>
              <p:nvPr/>
            </p:nvSpPr>
            <p:spPr>
              <a:xfrm>
                <a:off x="2274723" y="2083374"/>
                <a:ext cx="936104" cy="369887"/>
              </a:xfrm>
              <a:prstGeom prst="rect">
                <a:avLst/>
              </a:prstGeom>
              <a:solidFill>
                <a:schemeClr val="bg1"/>
              </a:solidFill>
              <a:ln w="9525">
                <a:noFill/>
              </a:ln>
            </p:spPr>
            <p:txBody>
              <a:bodyPr wrap="square">
                <a:spAutoFit/>
              </a:bodyPr>
              <a:lstStyle>
                <a:lvl1pPr marL="342900" indent="-342900" algn="l" rtl="0" eaLnBrk="0" fontAlgn="base" hangingPunct="0">
                  <a:lnSpc>
                    <a:spcPct val="130000"/>
                  </a:lnSpc>
                  <a:spcBef>
                    <a:spcPct val="20000"/>
                  </a:spcBef>
                  <a:spcAft>
                    <a:spcPct val="0"/>
                  </a:spcAft>
                  <a:defRPr sz="2400" kern="1200">
                    <a:solidFill>
                      <a:schemeClr val="tx1"/>
                    </a:solidFill>
                    <a:latin typeface="+mn-lt"/>
                    <a:ea typeface="+mn-ea"/>
                    <a:cs typeface="+mn-cs"/>
                  </a:defRPr>
                </a:lvl1pPr>
                <a:lvl2pPr marL="742950" indent="-285750" algn="l" rtl="0" eaLnBrk="0" fontAlgn="base" hangingPunct="0">
                  <a:lnSpc>
                    <a:spcPct val="130000"/>
                  </a:lnSpc>
                  <a:spcBef>
                    <a:spcPct val="20000"/>
                  </a:spcBef>
                  <a:spcAft>
                    <a:spcPct val="0"/>
                  </a:spcAft>
                  <a:buChar char="–"/>
                  <a:defRPr sz="2800" kern="1200">
                    <a:solidFill>
                      <a:schemeClr val="tx1"/>
                    </a:solidFill>
                    <a:latin typeface="+mn-lt"/>
                    <a:ea typeface="+mn-ea"/>
                    <a:cs typeface="+mn-cs"/>
                  </a:defRPr>
                </a:lvl2pPr>
                <a:lvl3pPr marL="1143000" indent="-228600" algn="l" rtl="0" eaLnBrk="0" fontAlgn="base" hangingPunct="0">
                  <a:lnSpc>
                    <a:spcPct val="130000"/>
                  </a:lnSpc>
                  <a:spcBef>
                    <a:spcPct val="20000"/>
                  </a:spcBef>
                  <a:spcAft>
                    <a:spcPct val="0"/>
                  </a:spcAft>
                  <a:buChar char="•"/>
                  <a:defRPr sz="2400" kern="1200">
                    <a:solidFill>
                      <a:schemeClr val="tx1"/>
                    </a:solidFill>
                    <a:latin typeface="+mn-lt"/>
                    <a:ea typeface="+mn-ea"/>
                    <a:cs typeface="+mn-cs"/>
                  </a:defRPr>
                </a:lvl3pPr>
                <a:lvl4pPr marL="1600200" indent="-228600" algn="l" rtl="0" eaLnBrk="0" fontAlgn="base" hangingPunct="0">
                  <a:lnSpc>
                    <a:spcPct val="130000"/>
                  </a:lnSpc>
                  <a:spcBef>
                    <a:spcPct val="20000"/>
                  </a:spcBef>
                  <a:spcAft>
                    <a:spcPct val="0"/>
                  </a:spcAft>
                  <a:buChar char="–"/>
                  <a:defRPr sz="2000" kern="1200">
                    <a:solidFill>
                      <a:schemeClr val="tx1"/>
                    </a:solidFill>
                    <a:latin typeface="+mn-lt"/>
                    <a:ea typeface="+mn-ea"/>
                    <a:cs typeface="+mn-cs"/>
                  </a:defRPr>
                </a:lvl4pPr>
                <a:lvl5pPr marL="2057400" indent="-228600" algn="l" rtl="0" eaLnBrk="0" fontAlgn="base" hangingPunct="0">
                  <a:lnSpc>
                    <a:spcPct val="130000"/>
                  </a:lnSpc>
                  <a:spcBef>
                    <a:spcPct val="20000"/>
                  </a:spcBef>
                  <a:spcAft>
                    <a:spcPct val="0"/>
                  </a:spcAft>
                  <a:buChar char="»"/>
                  <a:defRPr sz="2000" kern="1200">
                    <a:solidFill>
                      <a:schemeClr val="tx1"/>
                    </a:solidFill>
                    <a:latin typeface="+mn-lt"/>
                    <a:ea typeface="+mn-ea"/>
                    <a:cs typeface="+mn-cs"/>
                  </a:defRPr>
                </a:lvl5pPr>
              </a:lstStyle>
              <a:p>
                <a:pPr marL="0" lvl="0" indent="0">
                  <a:lnSpc>
                    <a:spcPct val="100000"/>
                  </a:lnSpc>
                  <a:spcBef>
                    <a:spcPct val="0"/>
                  </a:spcBef>
                </a:pPr>
                <a:endParaRPr lang="zh-CN" altLang="en-US" sz="1800" dirty="0"/>
              </a:p>
            </p:txBody>
          </p:sp>
          <mc:AlternateContent xmlns:mc="http://schemas.openxmlformats.org/markup-compatibility/2006" xmlns:a14="http://schemas.microsoft.com/office/drawing/2010/main">
            <mc:Choice Requires="a14">
              <p:sp>
                <p:nvSpPr>
                  <p:cNvPr id="18" name="文本框 17">
                    <a:extLst>
                      <a:ext uri="{FF2B5EF4-FFF2-40B4-BE49-F238E27FC236}">
                        <a16:creationId xmlns:a16="http://schemas.microsoft.com/office/drawing/2014/main" id="{59DE3B3F-27C6-9C93-5284-88AA72E3BD75}"/>
                      </a:ext>
                    </a:extLst>
                  </p:cNvPr>
                  <p:cNvSpPr txBox="1"/>
                  <p:nvPr/>
                </p:nvSpPr>
                <p:spPr>
                  <a:xfrm>
                    <a:off x="2130307" y="1435942"/>
                    <a:ext cx="720080"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altLang="zh-CN" i="1" dirty="0" smtClean="0">
                                  <a:latin typeface="Cambria Math" panose="02040503050406030204" pitchFamily="18" charset="0"/>
                                </a:rPr>
                              </m:ctrlPr>
                            </m:sSubPr>
                            <m:e>
                              <m:r>
                                <a:rPr lang="en-US" altLang="zh-CN" b="0" i="1" dirty="0" smtClean="0">
                                  <a:latin typeface="Cambria Math" panose="02040503050406030204" pitchFamily="18" charset="0"/>
                                </a:rPr>
                                <m:t>𝑡</m:t>
                              </m:r>
                            </m:e>
                            <m:sub>
                              <m:r>
                                <a:rPr lang="en-US" altLang="zh-CN" b="0" i="1" dirty="0" smtClean="0">
                                  <a:latin typeface="Cambria Math" panose="02040503050406030204" pitchFamily="18" charset="0"/>
                                </a:rPr>
                                <m:t>11</m:t>
                              </m:r>
                            </m:sub>
                          </m:sSub>
                        </m:oMath>
                      </m:oMathPara>
                    </a14:m>
                    <a:endParaRPr/>
                  </a:p>
                </p:txBody>
              </p:sp>
            </mc:Choice>
            <mc:Fallback xmlns="">
              <p:sp>
                <p:nvSpPr>
                  <p:cNvPr id="18" name="文本框 17">
                    <a:extLst>
                      <a:ext uri="{FF2B5EF4-FFF2-40B4-BE49-F238E27FC236}">
                        <a16:creationId xmlns:a16="http://schemas.microsoft.com/office/drawing/2014/main" id="{59DE3B3F-27C6-9C93-5284-88AA72E3BD75}"/>
                      </a:ext>
                    </a:extLst>
                  </p:cNvPr>
                  <p:cNvSpPr txBox="1">
                    <a:spLocks noRot="1" noChangeAspect="1" noMove="1" noResize="1" noEditPoints="1" noAdjustHandles="1" noChangeArrowheads="1" noChangeShapeType="1" noTextEdit="1"/>
                  </p:cNvSpPr>
                  <p:nvPr/>
                </p:nvSpPr>
                <p:spPr>
                  <a:xfrm>
                    <a:off x="2130307" y="1435942"/>
                    <a:ext cx="720080" cy="369332"/>
                  </a:xfrm>
                  <a:prstGeom prst="rect">
                    <a:avLst/>
                  </a:prstGeom>
                  <a:blipFill>
                    <a:blip r:embed="rId3"/>
                    <a:stretch>
                      <a:fillRect t="-11667" b="-2500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9" name="文本框 18">
                    <a:extLst>
                      <a:ext uri="{FF2B5EF4-FFF2-40B4-BE49-F238E27FC236}">
                        <a16:creationId xmlns:a16="http://schemas.microsoft.com/office/drawing/2014/main" id="{445100BE-1BFD-E43D-1F2F-930E2AE824A3}"/>
                      </a:ext>
                    </a:extLst>
                  </p:cNvPr>
                  <p:cNvSpPr txBox="1"/>
                  <p:nvPr/>
                </p:nvSpPr>
                <p:spPr>
                  <a:xfrm>
                    <a:off x="2580214" y="1421442"/>
                    <a:ext cx="720080"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altLang="zh-CN" i="1" dirty="0" smtClean="0">
                                  <a:latin typeface="Cambria Math" panose="02040503050406030204" pitchFamily="18" charset="0"/>
                                </a:rPr>
                              </m:ctrlPr>
                            </m:sSubPr>
                            <m:e>
                              <m:r>
                                <a:rPr lang="en-US" altLang="zh-CN" b="0" i="1" dirty="0" smtClean="0">
                                  <a:latin typeface="Cambria Math" panose="02040503050406030204" pitchFamily="18" charset="0"/>
                                </a:rPr>
                                <m:t>𝑡</m:t>
                              </m:r>
                            </m:e>
                            <m:sub>
                              <m:r>
                                <a:rPr lang="en-US" altLang="zh-CN" b="0" i="1" dirty="0" smtClean="0">
                                  <a:latin typeface="Cambria Math" panose="02040503050406030204" pitchFamily="18" charset="0"/>
                                </a:rPr>
                                <m:t>12</m:t>
                              </m:r>
                            </m:sub>
                          </m:sSub>
                        </m:oMath>
                      </m:oMathPara>
                    </a14:m>
                    <a:endParaRPr/>
                  </a:p>
                </p:txBody>
              </p:sp>
            </mc:Choice>
            <mc:Fallback xmlns="">
              <p:sp>
                <p:nvSpPr>
                  <p:cNvPr id="19" name="文本框 18">
                    <a:extLst>
                      <a:ext uri="{FF2B5EF4-FFF2-40B4-BE49-F238E27FC236}">
                        <a16:creationId xmlns:a16="http://schemas.microsoft.com/office/drawing/2014/main" id="{445100BE-1BFD-E43D-1F2F-930E2AE824A3}"/>
                      </a:ext>
                    </a:extLst>
                  </p:cNvPr>
                  <p:cNvSpPr txBox="1">
                    <a:spLocks noRot="1" noChangeAspect="1" noMove="1" noResize="1" noEditPoints="1" noAdjustHandles="1" noChangeArrowheads="1" noChangeShapeType="1" noTextEdit="1"/>
                  </p:cNvSpPr>
                  <p:nvPr/>
                </p:nvSpPr>
                <p:spPr>
                  <a:xfrm>
                    <a:off x="2580214" y="1421442"/>
                    <a:ext cx="720080" cy="369332"/>
                  </a:xfrm>
                  <a:prstGeom prst="rect">
                    <a:avLst/>
                  </a:prstGeom>
                  <a:blipFill>
                    <a:blip r:embed="rId4"/>
                    <a:stretch>
                      <a:fillRect t="-9836" b="-22951"/>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0" name="文本框 19">
                    <a:extLst>
                      <a:ext uri="{FF2B5EF4-FFF2-40B4-BE49-F238E27FC236}">
                        <a16:creationId xmlns:a16="http://schemas.microsoft.com/office/drawing/2014/main" id="{92D4BA57-2042-7C95-BD13-5AFC38651724}"/>
                      </a:ext>
                    </a:extLst>
                  </p:cNvPr>
                  <p:cNvSpPr txBox="1"/>
                  <p:nvPr/>
                </p:nvSpPr>
                <p:spPr>
                  <a:xfrm>
                    <a:off x="2132127" y="1693122"/>
                    <a:ext cx="720080"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altLang="zh-CN" i="1" dirty="0" smtClean="0">
                                  <a:latin typeface="Cambria Math" panose="02040503050406030204" pitchFamily="18" charset="0"/>
                                </a:rPr>
                              </m:ctrlPr>
                            </m:sSubPr>
                            <m:e>
                              <m:r>
                                <a:rPr lang="en-US" altLang="zh-CN" b="0" i="1" dirty="0" smtClean="0">
                                  <a:latin typeface="Cambria Math" panose="02040503050406030204" pitchFamily="18" charset="0"/>
                                </a:rPr>
                                <m:t>𝑡</m:t>
                              </m:r>
                            </m:e>
                            <m:sub>
                              <m:r>
                                <a:rPr lang="en-US" altLang="zh-CN" b="0" i="1" dirty="0" smtClean="0">
                                  <a:latin typeface="Cambria Math" panose="02040503050406030204" pitchFamily="18" charset="0"/>
                                </a:rPr>
                                <m:t>21</m:t>
                              </m:r>
                            </m:sub>
                          </m:sSub>
                        </m:oMath>
                      </m:oMathPara>
                    </a14:m>
                    <a:endParaRPr/>
                  </a:p>
                </p:txBody>
              </p:sp>
            </mc:Choice>
            <mc:Fallback xmlns="">
              <p:sp>
                <p:nvSpPr>
                  <p:cNvPr id="20" name="文本框 19">
                    <a:extLst>
                      <a:ext uri="{FF2B5EF4-FFF2-40B4-BE49-F238E27FC236}">
                        <a16:creationId xmlns:a16="http://schemas.microsoft.com/office/drawing/2014/main" id="{92D4BA57-2042-7C95-BD13-5AFC38651724}"/>
                      </a:ext>
                    </a:extLst>
                  </p:cNvPr>
                  <p:cNvSpPr txBox="1">
                    <a:spLocks noRot="1" noChangeAspect="1" noMove="1" noResize="1" noEditPoints="1" noAdjustHandles="1" noChangeArrowheads="1" noChangeShapeType="1" noTextEdit="1"/>
                  </p:cNvSpPr>
                  <p:nvPr/>
                </p:nvSpPr>
                <p:spPr>
                  <a:xfrm>
                    <a:off x="2132127" y="1693122"/>
                    <a:ext cx="720080" cy="369332"/>
                  </a:xfrm>
                  <a:prstGeom prst="rect">
                    <a:avLst/>
                  </a:prstGeom>
                  <a:blipFill>
                    <a:blip r:embed="rId5"/>
                    <a:stretch>
                      <a:fillRect t="-11667" b="-2500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1" name="文本框 20">
                    <a:extLst>
                      <a:ext uri="{FF2B5EF4-FFF2-40B4-BE49-F238E27FC236}">
                        <a16:creationId xmlns:a16="http://schemas.microsoft.com/office/drawing/2014/main" id="{959679AD-5683-4104-B18F-FCA1628EE262}"/>
                      </a:ext>
                    </a:extLst>
                  </p:cNvPr>
                  <p:cNvSpPr txBox="1"/>
                  <p:nvPr/>
                </p:nvSpPr>
                <p:spPr>
                  <a:xfrm>
                    <a:off x="2569736" y="1697614"/>
                    <a:ext cx="720080"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altLang="zh-CN" i="1" dirty="0" smtClean="0">
                                  <a:latin typeface="Cambria Math" panose="02040503050406030204" pitchFamily="18" charset="0"/>
                                </a:rPr>
                              </m:ctrlPr>
                            </m:sSubPr>
                            <m:e>
                              <m:r>
                                <a:rPr lang="en-US" altLang="zh-CN" b="0" i="1" dirty="0" smtClean="0">
                                  <a:latin typeface="Cambria Math" panose="02040503050406030204" pitchFamily="18" charset="0"/>
                                </a:rPr>
                                <m:t>𝑡</m:t>
                              </m:r>
                            </m:e>
                            <m:sub>
                              <m:r>
                                <a:rPr lang="en-US" altLang="zh-CN" b="0" i="1" dirty="0" smtClean="0">
                                  <a:latin typeface="Cambria Math" panose="02040503050406030204" pitchFamily="18" charset="0"/>
                                </a:rPr>
                                <m:t>22</m:t>
                              </m:r>
                            </m:sub>
                          </m:sSub>
                        </m:oMath>
                      </m:oMathPara>
                    </a14:m>
                    <a:endParaRPr/>
                  </a:p>
                </p:txBody>
              </p:sp>
            </mc:Choice>
            <mc:Fallback xmlns="">
              <p:sp>
                <p:nvSpPr>
                  <p:cNvPr id="21" name="文本框 20">
                    <a:extLst>
                      <a:ext uri="{FF2B5EF4-FFF2-40B4-BE49-F238E27FC236}">
                        <a16:creationId xmlns:a16="http://schemas.microsoft.com/office/drawing/2014/main" id="{959679AD-5683-4104-B18F-FCA1628EE262}"/>
                      </a:ext>
                    </a:extLst>
                  </p:cNvPr>
                  <p:cNvSpPr txBox="1">
                    <a:spLocks noRot="1" noChangeAspect="1" noMove="1" noResize="1" noEditPoints="1" noAdjustHandles="1" noChangeArrowheads="1" noChangeShapeType="1" noTextEdit="1"/>
                  </p:cNvSpPr>
                  <p:nvPr/>
                </p:nvSpPr>
                <p:spPr>
                  <a:xfrm>
                    <a:off x="2569736" y="1697614"/>
                    <a:ext cx="720080" cy="369332"/>
                  </a:xfrm>
                  <a:prstGeom prst="rect">
                    <a:avLst/>
                  </a:prstGeom>
                  <a:blipFill>
                    <a:blip r:embed="rId6"/>
                    <a:stretch>
                      <a:fillRect t="-11667" b="-2500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2" name="文本框 21">
                    <a:extLst>
                      <a:ext uri="{FF2B5EF4-FFF2-40B4-BE49-F238E27FC236}">
                        <a16:creationId xmlns:a16="http://schemas.microsoft.com/office/drawing/2014/main" id="{3EB9CFA8-A1D4-AC26-8126-16C47AFF748C}"/>
                      </a:ext>
                    </a:extLst>
                  </p:cNvPr>
                  <p:cNvSpPr txBox="1"/>
                  <p:nvPr/>
                </p:nvSpPr>
                <p:spPr>
                  <a:xfrm>
                    <a:off x="2137366" y="2008657"/>
                    <a:ext cx="720080"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altLang="zh-CN" i="1" dirty="0" smtClean="0">
                                  <a:latin typeface="Cambria Math" panose="02040503050406030204" pitchFamily="18" charset="0"/>
                                </a:rPr>
                              </m:ctrlPr>
                            </m:sSubPr>
                            <m:e>
                              <m:r>
                                <a:rPr lang="en-US" altLang="zh-CN" b="0" i="1" dirty="0" smtClean="0">
                                  <a:latin typeface="Cambria Math" panose="02040503050406030204" pitchFamily="18" charset="0"/>
                                </a:rPr>
                                <m:t>𝑡</m:t>
                              </m:r>
                            </m:e>
                            <m:sub>
                              <m:r>
                                <a:rPr lang="en-US" altLang="zh-CN" b="0" i="1" dirty="0" smtClean="0">
                                  <a:latin typeface="Cambria Math" panose="02040503050406030204" pitchFamily="18" charset="0"/>
                                </a:rPr>
                                <m:t>31</m:t>
                              </m:r>
                            </m:sub>
                          </m:sSub>
                        </m:oMath>
                      </m:oMathPara>
                    </a14:m>
                    <a:endParaRPr/>
                  </a:p>
                </p:txBody>
              </p:sp>
            </mc:Choice>
            <mc:Fallback xmlns="">
              <p:sp>
                <p:nvSpPr>
                  <p:cNvPr id="22" name="文本框 21">
                    <a:extLst>
                      <a:ext uri="{FF2B5EF4-FFF2-40B4-BE49-F238E27FC236}">
                        <a16:creationId xmlns:a16="http://schemas.microsoft.com/office/drawing/2014/main" id="{3EB9CFA8-A1D4-AC26-8126-16C47AFF748C}"/>
                      </a:ext>
                    </a:extLst>
                  </p:cNvPr>
                  <p:cNvSpPr txBox="1">
                    <a:spLocks noRot="1" noChangeAspect="1" noMove="1" noResize="1" noEditPoints="1" noAdjustHandles="1" noChangeArrowheads="1" noChangeShapeType="1" noTextEdit="1"/>
                  </p:cNvSpPr>
                  <p:nvPr/>
                </p:nvSpPr>
                <p:spPr>
                  <a:xfrm>
                    <a:off x="2137366" y="2008657"/>
                    <a:ext cx="720080" cy="369332"/>
                  </a:xfrm>
                  <a:prstGeom prst="rect">
                    <a:avLst/>
                  </a:prstGeom>
                  <a:blipFill>
                    <a:blip r:embed="rId7"/>
                    <a:stretch>
                      <a:fillRect t="-11667" b="-2500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3" name="文本框 22">
                    <a:extLst>
                      <a:ext uri="{FF2B5EF4-FFF2-40B4-BE49-F238E27FC236}">
                        <a16:creationId xmlns:a16="http://schemas.microsoft.com/office/drawing/2014/main" id="{FA8BF166-BA51-925D-071D-FE092EF17FF4}"/>
                      </a:ext>
                    </a:extLst>
                  </p:cNvPr>
                  <p:cNvSpPr txBox="1"/>
                  <p:nvPr/>
                </p:nvSpPr>
                <p:spPr>
                  <a:xfrm>
                    <a:off x="2599650" y="2012199"/>
                    <a:ext cx="720080"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altLang="zh-CN" i="1" dirty="0" smtClean="0">
                                  <a:latin typeface="Cambria Math" panose="02040503050406030204" pitchFamily="18" charset="0"/>
                                </a:rPr>
                              </m:ctrlPr>
                            </m:sSubPr>
                            <m:e>
                              <m:r>
                                <a:rPr lang="en-US" altLang="zh-CN" b="0" i="1" dirty="0" smtClean="0">
                                  <a:latin typeface="Cambria Math" panose="02040503050406030204" pitchFamily="18" charset="0"/>
                                </a:rPr>
                                <m:t>𝑡</m:t>
                              </m:r>
                            </m:e>
                            <m:sub>
                              <m:r>
                                <a:rPr lang="en-US" altLang="zh-CN" b="0" i="1" dirty="0" smtClean="0">
                                  <a:latin typeface="Cambria Math" panose="02040503050406030204" pitchFamily="18" charset="0"/>
                                </a:rPr>
                                <m:t>32</m:t>
                              </m:r>
                            </m:sub>
                          </m:sSub>
                        </m:oMath>
                      </m:oMathPara>
                    </a14:m>
                    <a:endParaRPr/>
                  </a:p>
                </p:txBody>
              </p:sp>
            </mc:Choice>
            <mc:Fallback xmlns="">
              <p:sp>
                <p:nvSpPr>
                  <p:cNvPr id="23" name="文本框 22">
                    <a:extLst>
                      <a:ext uri="{FF2B5EF4-FFF2-40B4-BE49-F238E27FC236}">
                        <a16:creationId xmlns:a16="http://schemas.microsoft.com/office/drawing/2014/main" id="{FA8BF166-BA51-925D-071D-FE092EF17FF4}"/>
                      </a:ext>
                    </a:extLst>
                  </p:cNvPr>
                  <p:cNvSpPr txBox="1">
                    <a:spLocks noRot="1" noChangeAspect="1" noMove="1" noResize="1" noEditPoints="1" noAdjustHandles="1" noChangeArrowheads="1" noChangeShapeType="1" noTextEdit="1"/>
                  </p:cNvSpPr>
                  <p:nvPr/>
                </p:nvSpPr>
                <p:spPr>
                  <a:xfrm>
                    <a:off x="2599650" y="2012199"/>
                    <a:ext cx="720080" cy="369332"/>
                  </a:xfrm>
                  <a:prstGeom prst="rect">
                    <a:avLst/>
                  </a:prstGeom>
                  <a:blipFill>
                    <a:blip r:embed="rId8"/>
                    <a:stretch>
                      <a:fillRect t="-9836" b="-22951"/>
                    </a:stretch>
                  </a:blipFill>
                </p:spPr>
                <p:txBody>
                  <a:bodyPr/>
                  <a:lstStyle/>
                  <a:p>
                    <a:r>
                      <a:rPr lang="zh-CN" altLang="en-US">
                        <a:noFill/>
                      </a:rPr>
                      <a:t> </a:t>
                    </a:r>
                  </a:p>
                </p:txBody>
              </p:sp>
            </mc:Fallback>
          </mc:AlternateContent>
        </p:grpSp>
        <p:sp>
          <p:nvSpPr>
            <p:cNvPr id="14" name="文本框 13">
              <a:extLst>
                <a:ext uri="{FF2B5EF4-FFF2-40B4-BE49-F238E27FC236}">
                  <a16:creationId xmlns:a16="http://schemas.microsoft.com/office/drawing/2014/main" id="{189E8826-4B22-3775-138C-E47804C0A034}"/>
                </a:ext>
              </a:extLst>
            </p:cNvPr>
            <p:cNvSpPr txBox="1"/>
            <p:nvPr/>
          </p:nvSpPr>
          <p:spPr>
            <a:xfrm>
              <a:off x="2123728" y="1124899"/>
              <a:ext cx="2088232" cy="369332"/>
            </a:xfrm>
            <a:prstGeom prst="rect">
              <a:avLst/>
            </a:prstGeom>
            <a:noFill/>
          </p:spPr>
          <p:txBody>
            <a:bodyPr wrap="square" rtlCol="0">
              <a:spAutoFit/>
            </a:bodyPr>
            <a:lstStyle/>
            <a:p>
              <a:r>
                <a:rPr lang="zh-CN" altLang="en-US" dirty="0"/>
                <a:t>工程 学术</a:t>
              </a:r>
            </a:p>
          </p:txBody>
        </p:sp>
      </p:grpSp>
      <mc:AlternateContent xmlns:mc="http://schemas.openxmlformats.org/markup-compatibility/2006" xmlns:a14="http://schemas.microsoft.com/office/drawing/2010/main">
        <mc:Choice Requires="a14">
          <p:sp>
            <p:nvSpPr>
              <p:cNvPr id="24" name="文本框 23">
                <a:extLst>
                  <a:ext uri="{FF2B5EF4-FFF2-40B4-BE49-F238E27FC236}">
                    <a16:creationId xmlns:a16="http://schemas.microsoft.com/office/drawing/2014/main" id="{B631080F-EE12-1247-57C6-7C0CA11113F8}"/>
                  </a:ext>
                </a:extLst>
              </p:cNvPr>
              <p:cNvSpPr txBox="1"/>
              <p:nvPr/>
            </p:nvSpPr>
            <p:spPr>
              <a:xfrm>
                <a:off x="817240" y="5444957"/>
                <a:ext cx="7632848" cy="369332"/>
              </a:xfrm>
              <a:prstGeom prst="rect">
                <a:avLst/>
              </a:prstGeom>
              <a:noFill/>
            </p:spPr>
            <p:txBody>
              <a:bodyPr wrap="square" rtlCol="0">
                <a:spAutoFit/>
              </a:bodyPr>
              <a:lstStyle/>
              <a:p>
                <a14:m>
                  <m:oMath xmlns:m="http://schemas.openxmlformats.org/officeDocument/2006/math">
                    <m:sSub>
                      <m:sSubPr>
                        <m:ctrlPr>
                          <a:rPr lang="en-US" altLang="zh-CN" i="1" smtClean="0">
                            <a:latin typeface="Cambria Math" panose="02040503050406030204" pitchFamily="18" charset="0"/>
                          </a:rPr>
                        </m:ctrlPr>
                      </m:sSubPr>
                      <m:e>
                        <m:r>
                          <a:rPr lang="en-US" altLang="zh-CN" b="0" i="1" smtClean="0">
                            <a:latin typeface="Cambria Math" panose="02040503050406030204" pitchFamily="18" charset="0"/>
                          </a:rPr>
                          <m:t>𝑡</m:t>
                        </m:r>
                      </m:e>
                      <m:sub>
                        <m:r>
                          <a:rPr lang="en-US" altLang="zh-CN" b="0" i="1" smtClean="0">
                            <a:latin typeface="Cambria Math" panose="02040503050406030204" pitchFamily="18" charset="0"/>
                          </a:rPr>
                          <m:t>11</m:t>
                        </m:r>
                      </m:sub>
                    </m:sSub>
                    <m:r>
                      <a:rPr lang="en-US" altLang="zh-CN" b="0" i="1" smtClean="0">
                        <a:latin typeface="Cambria Math" panose="02040503050406030204" pitchFamily="18" charset="0"/>
                      </a:rPr>
                      <m:t>=</m:t>
                    </m:r>
                    <m:r>
                      <m:rPr>
                        <m:sty m:val="p"/>
                      </m:rPr>
                      <a:rPr lang="en-US" altLang="zh-CN" b="0" i="0" smtClean="0">
                        <a:latin typeface="Cambria Math" panose="02040503050406030204" pitchFamily="18" charset="0"/>
                      </a:rPr>
                      <m:t>max</m:t>
                    </m:r>
                    <m:r>
                      <a:rPr lang="en-US" altLang="zh-CN" b="0" i="1" smtClean="0">
                        <a:latin typeface="Cambria Math" panose="02040503050406030204" pitchFamily="18" charset="0"/>
                      </a:rPr>
                      <m:t>⁡(</m:t>
                    </m:r>
                    <m:func>
                      <m:funcPr>
                        <m:ctrlPr>
                          <a:rPr lang="en-US" altLang="zh-CN" b="0" i="1" smtClean="0">
                            <a:latin typeface="Cambria Math" panose="02040503050406030204" pitchFamily="18" charset="0"/>
                          </a:rPr>
                        </m:ctrlPr>
                      </m:funcPr>
                      <m:fName>
                        <m:r>
                          <m:rPr>
                            <m:sty m:val="p"/>
                          </m:rPr>
                          <a:rPr lang="en-US" altLang="zh-CN" b="0" i="0" smtClean="0">
                            <a:latin typeface="Cambria Math" panose="02040503050406030204" pitchFamily="18" charset="0"/>
                          </a:rPr>
                          <m:t>min</m:t>
                        </m:r>
                      </m:fName>
                      <m:e>
                        <m:d>
                          <m:dPr>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0.1,0.1</m:t>
                            </m:r>
                          </m:e>
                        </m:d>
                      </m:e>
                    </m:func>
                    <m:r>
                      <a:rPr lang="en-US" altLang="zh-CN" b="0" i="1" smtClean="0">
                        <a:latin typeface="Cambria Math" panose="02040503050406030204" pitchFamily="18" charset="0"/>
                      </a:rPr>
                      <m:t>,</m:t>
                    </m:r>
                    <m:r>
                      <a:rPr lang="en-US" altLang="zh-CN" b="0" i="1" smtClean="0">
                        <a:latin typeface="Cambria Math" panose="02040503050406030204" pitchFamily="18" charset="0"/>
                      </a:rPr>
                      <m:t>𝑚𝑖𝑛</m:t>
                    </m:r>
                    <m:d>
                      <m:dPr>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0.6, 1</m:t>
                        </m:r>
                      </m:e>
                    </m:d>
                    <m:r>
                      <a:rPr lang="en-US" altLang="zh-CN" b="0" i="1" smtClean="0">
                        <a:latin typeface="Cambria Math" panose="02040503050406030204" pitchFamily="18" charset="0"/>
                      </a:rPr>
                      <m:t>, </m:t>
                    </m:r>
                    <m:r>
                      <m:rPr>
                        <m:sty m:val="p"/>
                      </m:rPr>
                      <a:rPr lang="en-US" altLang="zh-CN" b="0" i="0" smtClean="0">
                        <a:latin typeface="Cambria Math" panose="02040503050406030204" pitchFamily="18" charset="0"/>
                      </a:rPr>
                      <m:t>min</m:t>
                    </m:r>
                    <m:r>
                      <a:rPr lang="en-US" altLang="zh-CN" b="0" i="1" smtClean="0">
                        <a:latin typeface="Cambria Math" panose="02040503050406030204" pitchFamily="18" charset="0"/>
                      </a:rPr>
                      <m:t>⁡(0.3,0.7))</m:t>
                    </m:r>
                  </m:oMath>
                </a14:m>
                <a:r>
                  <a:rPr lang="en-US" altLang="zh-CN" dirty="0"/>
                  <a:t>=max(0.1, 0.6, 0.3)=0.6</a:t>
                </a:r>
                <a:endParaRPr lang="zh-CN" altLang="en-US" dirty="0"/>
              </a:p>
            </p:txBody>
          </p:sp>
        </mc:Choice>
        <mc:Fallback xmlns="">
          <p:sp>
            <p:nvSpPr>
              <p:cNvPr id="24" name="文本框 23">
                <a:extLst>
                  <a:ext uri="{FF2B5EF4-FFF2-40B4-BE49-F238E27FC236}">
                    <a16:creationId xmlns:a16="http://schemas.microsoft.com/office/drawing/2014/main" id="{B631080F-EE12-1247-57C6-7C0CA11113F8}"/>
                  </a:ext>
                </a:extLst>
              </p:cNvPr>
              <p:cNvSpPr txBox="1">
                <a:spLocks noRot="1" noChangeAspect="1" noMove="1" noResize="1" noEditPoints="1" noAdjustHandles="1" noChangeArrowheads="1" noChangeShapeType="1" noTextEdit="1"/>
              </p:cNvSpPr>
              <p:nvPr/>
            </p:nvSpPr>
            <p:spPr>
              <a:xfrm>
                <a:off x="817240" y="5444957"/>
                <a:ext cx="7632848" cy="369332"/>
              </a:xfrm>
              <a:prstGeom prst="rect">
                <a:avLst/>
              </a:prstGeom>
              <a:blipFill>
                <a:blip r:embed="rId9"/>
                <a:stretch>
                  <a:fillRect t="-8197" b="-24590"/>
                </a:stretch>
              </a:blipFill>
            </p:spPr>
            <p:txBody>
              <a:bodyPr/>
              <a:lstStyle/>
              <a:p>
                <a:r>
                  <a:rPr lang="zh-CN" altLang="en-US">
                    <a:noFill/>
                  </a:rPr>
                  <a:t> </a:t>
                </a:r>
              </a:p>
            </p:txBody>
          </p:sp>
        </mc:Fallback>
      </mc:AlternateContent>
      <p:pic>
        <p:nvPicPr>
          <p:cNvPr id="30" name="图片 29">
            <a:extLst>
              <a:ext uri="{FF2B5EF4-FFF2-40B4-BE49-F238E27FC236}">
                <a16:creationId xmlns:a16="http://schemas.microsoft.com/office/drawing/2014/main" id="{10052E74-8D87-29D5-013B-53125D863B4A}"/>
              </a:ext>
            </a:extLst>
          </p:cNvPr>
          <p:cNvPicPr>
            <a:picLocks noChangeAspect="1"/>
          </p:cNvPicPr>
          <p:nvPr/>
        </p:nvPicPr>
        <p:blipFill>
          <a:blip r:embed="rId10"/>
          <a:stretch>
            <a:fillRect/>
          </a:stretch>
        </p:blipFill>
        <p:spPr>
          <a:xfrm>
            <a:off x="1057868" y="2648598"/>
            <a:ext cx="7186947" cy="2686866"/>
          </a:xfrm>
          <a:prstGeom prst="rect">
            <a:avLst/>
          </a:prstGeom>
        </p:spPr>
      </p:pic>
      <p:grpSp>
        <p:nvGrpSpPr>
          <p:cNvPr id="31" name="组合 30">
            <a:extLst>
              <a:ext uri="{FF2B5EF4-FFF2-40B4-BE49-F238E27FC236}">
                <a16:creationId xmlns:a16="http://schemas.microsoft.com/office/drawing/2014/main" id="{7AC70459-AF91-86B8-AB22-22104B39FE36}"/>
              </a:ext>
            </a:extLst>
          </p:cNvPr>
          <p:cNvGrpSpPr/>
          <p:nvPr/>
        </p:nvGrpSpPr>
        <p:grpSpPr>
          <a:xfrm>
            <a:off x="337381" y="1126860"/>
            <a:ext cx="2808312" cy="1440160"/>
            <a:chOff x="827584" y="1556792"/>
            <a:chExt cx="2808312" cy="1440160"/>
          </a:xfrm>
        </p:grpSpPr>
        <p:pic>
          <p:nvPicPr>
            <p:cNvPr id="32" name="图片 31">
              <a:extLst>
                <a:ext uri="{FF2B5EF4-FFF2-40B4-BE49-F238E27FC236}">
                  <a16:creationId xmlns:a16="http://schemas.microsoft.com/office/drawing/2014/main" id="{4FF9FC8A-C1A9-382F-1715-9245C44A28D4}"/>
                </a:ext>
              </a:extLst>
            </p:cNvPr>
            <p:cNvPicPr>
              <a:picLocks noChangeAspect="1"/>
            </p:cNvPicPr>
            <p:nvPr/>
          </p:nvPicPr>
          <p:blipFill>
            <a:blip r:embed="rId11"/>
            <a:stretch>
              <a:fillRect/>
            </a:stretch>
          </p:blipFill>
          <p:spPr>
            <a:xfrm>
              <a:off x="1547664" y="1844824"/>
              <a:ext cx="1972393" cy="1152128"/>
            </a:xfrm>
            <a:prstGeom prst="rect">
              <a:avLst/>
            </a:prstGeom>
          </p:spPr>
        </p:pic>
        <p:sp>
          <p:nvSpPr>
            <p:cNvPr id="33" name="文本框 32">
              <a:extLst>
                <a:ext uri="{FF2B5EF4-FFF2-40B4-BE49-F238E27FC236}">
                  <a16:creationId xmlns:a16="http://schemas.microsoft.com/office/drawing/2014/main" id="{071AEEDC-037A-B21D-F155-0693F3D36796}"/>
                </a:ext>
              </a:extLst>
            </p:cNvPr>
            <p:cNvSpPr txBox="1"/>
            <p:nvPr/>
          </p:nvSpPr>
          <p:spPr>
            <a:xfrm>
              <a:off x="827584" y="1959223"/>
              <a:ext cx="936104" cy="923330"/>
            </a:xfrm>
            <a:prstGeom prst="rect">
              <a:avLst/>
            </a:prstGeom>
            <a:noFill/>
          </p:spPr>
          <p:txBody>
            <a:bodyPr wrap="square" rtlCol="0">
              <a:spAutoFit/>
            </a:bodyPr>
            <a:lstStyle/>
            <a:p>
              <a:r>
                <a:rPr lang="zh-CN" altLang="en-US" b="1" dirty="0"/>
                <a:t>张三</a:t>
              </a:r>
              <a:endParaRPr lang="en-US" altLang="zh-CN" b="1" dirty="0"/>
            </a:p>
            <a:p>
              <a:r>
                <a:rPr lang="zh-CN" altLang="en-US" b="1" dirty="0"/>
                <a:t>李四</a:t>
              </a:r>
              <a:endParaRPr lang="en-US" altLang="zh-CN" b="1" dirty="0"/>
            </a:p>
            <a:p>
              <a:r>
                <a:rPr lang="zh-CN" altLang="en-US" b="1" dirty="0"/>
                <a:t>王五</a:t>
              </a:r>
            </a:p>
          </p:txBody>
        </p:sp>
        <p:sp>
          <p:nvSpPr>
            <p:cNvPr id="34" name="文本框 33">
              <a:extLst>
                <a:ext uri="{FF2B5EF4-FFF2-40B4-BE49-F238E27FC236}">
                  <a16:creationId xmlns:a16="http://schemas.microsoft.com/office/drawing/2014/main" id="{365D315D-AEA9-151E-8F46-226CD547B4BB}"/>
                </a:ext>
              </a:extLst>
            </p:cNvPr>
            <p:cNvSpPr txBox="1"/>
            <p:nvPr/>
          </p:nvSpPr>
          <p:spPr>
            <a:xfrm>
              <a:off x="1547664" y="1556792"/>
              <a:ext cx="2088232" cy="369332"/>
            </a:xfrm>
            <a:prstGeom prst="rect">
              <a:avLst/>
            </a:prstGeom>
            <a:noFill/>
          </p:spPr>
          <p:txBody>
            <a:bodyPr wrap="square" rtlCol="0">
              <a:spAutoFit/>
            </a:bodyPr>
            <a:lstStyle/>
            <a:p>
              <a:r>
                <a:rPr lang="zh-CN" altLang="en-US" dirty="0"/>
                <a:t>数学    编程   英语   </a:t>
              </a:r>
            </a:p>
          </p:txBody>
        </p:sp>
      </p:grpSp>
      <p:grpSp>
        <p:nvGrpSpPr>
          <p:cNvPr id="35" name="组合 34">
            <a:extLst>
              <a:ext uri="{FF2B5EF4-FFF2-40B4-BE49-F238E27FC236}">
                <a16:creationId xmlns:a16="http://schemas.microsoft.com/office/drawing/2014/main" id="{BF250154-45A3-16A8-7404-62764A7BF5E0}"/>
              </a:ext>
            </a:extLst>
          </p:cNvPr>
          <p:cNvGrpSpPr/>
          <p:nvPr/>
        </p:nvGrpSpPr>
        <p:grpSpPr>
          <a:xfrm>
            <a:off x="3413119" y="1139625"/>
            <a:ext cx="2733015" cy="1276745"/>
            <a:chOff x="1312339" y="4401707"/>
            <a:chExt cx="2733015" cy="1276745"/>
          </a:xfrm>
        </p:grpSpPr>
        <p:pic>
          <p:nvPicPr>
            <p:cNvPr id="36" name="图片 35">
              <a:extLst>
                <a:ext uri="{FF2B5EF4-FFF2-40B4-BE49-F238E27FC236}">
                  <a16:creationId xmlns:a16="http://schemas.microsoft.com/office/drawing/2014/main" id="{401AD78A-D29F-36E7-B6BC-5D85E5456965}"/>
                </a:ext>
              </a:extLst>
            </p:cNvPr>
            <p:cNvPicPr>
              <a:picLocks noChangeAspect="1"/>
            </p:cNvPicPr>
            <p:nvPr/>
          </p:nvPicPr>
          <p:blipFill>
            <a:blip r:embed="rId12"/>
            <a:stretch>
              <a:fillRect/>
            </a:stretch>
          </p:blipFill>
          <p:spPr>
            <a:xfrm>
              <a:off x="1964848" y="4607263"/>
              <a:ext cx="1171429" cy="1071189"/>
            </a:xfrm>
            <a:prstGeom prst="rect">
              <a:avLst/>
            </a:prstGeom>
          </p:spPr>
        </p:pic>
        <p:sp>
          <p:nvSpPr>
            <p:cNvPr id="37" name="文本框 36">
              <a:extLst>
                <a:ext uri="{FF2B5EF4-FFF2-40B4-BE49-F238E27FC236}">
                  <a16:creationId xmlns:a16="http://schemas.microsoft.com/office/drawing/2014/main" id="{04AD65B9-04D3-F556-42FD-BAA0A18B8A29}"/>
                </a:ext>
              </a:extLst>
            </p:cNvPr>
            <p:cNvSpPr txBox="1"/>
            <p:nvPr/>
          </p:nvSpPr>
          <p:spPr>
            <a:xfrm>
              <a:off x="1312339" y="4728987"/>
              <a:ext cx="936104" cy="923330"/>
            </a:xfrm>
            <a:prstGeom prst="rect">
              <a:avLst/>
            </a:prstGeom>
            <a:noFill/>
          </p:spPr>
          <p:txBody>
            <a:bodyPr wrap="square" rtlCol="0">
              <a:spAutoFit/>
            </a:bodyPr>
            <a:lstStyle/>
            <a:p>
              <a:r>
                <a:rPr lang="zh-CN" altLang="en-US" b="1" dirty="0"/>
                <a:t>数学</a:t>
              </a:r>
              <a:endParaRPr lang="en-US" altLang="zh-CN" b="1" dirty="0"/>
            </a:p>
            <a:p>
              <a:r>
                <a:rPr lang="zh-CN" altLang="en-US" b="1" dirty="0"/>
                <a:t>编程</a:t>
              </a:r>
              <a:endParaRPr lang="en-US" altLang="zh-CN" b="1" dirty="0"/>
            </a:p>
            <a:p>
              <a:r>
                <a:rPr lang="zh-CN" altLang="en-US" b="1" dirty="0"/>
                <a:t>英语</a:t>
              </a:r>
            </a:p>
          </p:txBody>
        </p:sp>
        <p:sp>
          <p:nvSpPr>
            <p:cNvPr id="38" name="文本框 37">
              <a:extLst>
                <a:ext uri="{FF2B5EF4-FFF2-40B4-BE49-F238E27FC236}">
                  <a16:creationId xmlns:a16="http://schemas.microsoft.com/office/drawing/2014/main" id="{75D932BA-3705-0822-C879-0B5B543ACB47}"/>
                </a:ext>
              </a:extLst>
            </p:cNvPr>
            <p:cNvSpPr txBox="1"/>
            <p:nvPr/>
          </p:nvSpPr>
          <p:spPr>
            <a:xfrm>
              <a:off x="1957122" y="4401707"/>
              <a:ext cx="2088232" cy="369332"/>
            </a:xfrm>
            <a:prstGeom prst="rect">
              <a:avLst/>
            </a:prstGeom>
            <a:noFill/>
          </p:spPr>
          <p:txBody>
            <a:bodyPr wrap="square" rtlCol="0">
              <a:spAutoFit/>
            </a:bodyPr>
            <a:lstStyle/>
            <a:p>
              <a:r>
                <a:rPr lang="zh-CN" altLang="en-US" dirty="0"/>
                <a:t>工程 学术</a:t>
              </a:r>
            </a:p>
          </p:txBody>
        </p:sp>
      </p:grpSp>
      <p:sp>
        <p:nvSpPr>
          <p:cNvPr id="39" name="箭头: 右 38">
            <a:extLst>
              <a:ext uri="{FF2B5EF4-FFF2-40B4-BE49-F238E27FC236}">
                <a16:creationId xmlns:a16="http://schemas.microsoft.com/office/drawing/2014/main" id="{29799F9C-96E3-FDB9-36A4-9C6170C5F259}"/>
              </a:ext>
            </a:extLst>
          </p:cNvPr>
          <p:cNvSpPr/>
          <p:nvPr/>
        </p:nvSpPr>
        <p:spPr>
          <a:xfrm>
            <a:off x="5508104" y="1647296"/>
            <a:ext cx="487623" cy="519959"/>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mc:AlternateContent xmlns:mc="http://schemas.openxmlformats.org/markup-compatibility/2006" xmlns:a14="http://schemas.microsoft.com/office/drawing/2010/main">
        <mc:Choice Requires="a14">
          <p:sp>
            <p:nvSpPr>
              <p:cNvPr id="40" name="文本框 39">
                <a:extLst>
                  <a:ext uri="{FF2B5EF4-FFF2-40B4-BE49-F238E27FC236}">
                    <a16:creationId xmlns:a16="http://schemas.microsoft.com/office/drawing/2014/main" id="{04103E27-9DC5-F9DC-074E-B788645AA151}"/>
                  </a:ext>
                </a:extLst>
              </p:cNvPr>
              <p:cNvSpPr txBox="1"/>
              <p:nvPr/>
            </p:nvSpPr>
            <p:spPr>
              <a:xfrm>
                <a:off x="834916" y="5938216"/>
                <a:ext cx="7948749" cy="369332"/>
              </a:xfrm>
              <a:prstGeom prst="rect">
                <a:avLst/>
              </a:prstGeom>
              <a:noFill/>
            </p:spPr>
            <p:txBody>
              <a:bodyPr wrap="square" rtlCol="0">
                <a:spAutoFit/>
              </a:bodyPr>
              <a:lstStyle/>
              <a:p>
                <a14:m>
                  <m:oMath xmlns:m="http://schemas.openxmlformats.org/officeDocument/2006/math">
                    <m:sSub>
                      <m:sSubPr>
                        <m:ctrlPr>
                          <a:rPr lang="en-US" altLang="zh-CN" i="1" smtClean="0">
                            <a:latin typeface="Cambria Math" panose="02040503050406030204" pitchFamily="18" charset="0"/>
                          </a:rPr>
                        </m:ctrlPr>
                      </m:sSubPr>
                      <m:e>
                        <m:r>
                          <a:rPr lang="en-US" altLang="zh-CN" b="0" i="1" smtClean="0">
                            <a:latin typeface="Cambria Math" panose="02040503050406030204" pitchFamily="18" charset="0"/>
                          </a:rPr>
                          <m:t>𝑡</m:t>
                        </m:r>
                      </m:e>
                      <m:sub>
                        <m:r>
                          <a:rPr lang="en-US" altLang="zh-CN" b="0" i="1" smtClean="0">
                            <a:latin typeface="Cambria Math" panose="02040503050406030204" pitchFamily="18" charset="0"/>
                          </a:rPr>
                          <m:t>12</m:t>
                        </m:r>
                      </m:sub>
                    </m:sSub>
                    <m:r>
                      <a:rPr lang="en-US" altLang="zh-CN" b="0" i="1" smtClean="0">
                        <a:latin typeface="Cambria Math" panose="02040503050406030204" pitchFamily="18" charset="0"/>
                      </a:rPr>
                      <m:t>=</m:t>
                    </m:r>
                    <m:r>
                      <m:rPr>
                        <m:sty m:val="p"/>
                      </m:rPr>
                      <a:rPr lang="en-US" altLang="zh-CN" b="0" i="0" smtClean="0">
                        <a:latin typeface="Cambria Math" panose="02040503050406030204" pitchFamily="18" charset="0"/>
                      </a:rPr>
                      <m:t>max</m:t>
                    </m:r>
                    <m:r>
                      <a:rPr lang="en-US" altLang="zh-CN" b="0" i="1" smtClean="0">
                        <a:latin typeface="Cambria Math" panose="02040503050406030204" pitchFamily="18" charset="0"/>
                      </a:rPr>
                      <m:t>⁡(</m:t>
                    </m:r>
                    <m:func>
                      <m:funcPr>
                        <m:ctrlPr>
                          <a:rPr lang="en-US" altLang="zh-CN" b="0" i="1" smtClean="0">
                            <a:latin typeface="Cambria Math" panose="02040503050406030204" pitchFamily="18" charset="0"/>
                          </a:rPr>
                        </m:ctrlPr>
                      </m:funcPr>
                      <m:fName>
                        <m:r>
                          <m:rPr>
                            <m:sty m:val="p"/>
                          </m:rPr>
                          <a:rPr lang="en-US" altLang="zh-CN" b="0" i="0" smtClean="0">
                            <a:latin typeface="Cambria Math" panose="02040503050406030204" pitchFamily="18" charset="0"/>
                          </a:rPr>
                          <m:t>min</m:t>
                        </m:r>
                      </m:fName>
                      <m:e>
                        <m:d>
                          <m:dPr>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0.1,0.4</m:t>
                            </m:r>
                          </m:e>
                        </m:d>
                      </m:e>
                    </m:func>
                    <m:r>
                      <a:rPr lang="en-US" altLang="zh-CN" b="0" i="1" smtClean="0">
                        <a:latin typeface="Cambria Math" panose="02040503050406030204" pitchFamily="18" charset="0"/>
                      </a:rPr>
                      <m:t>,</m:t>
                    </m:r>
                    <m:r>
                      <a:rPr lang="en-US" altLang="zh-CN" b="0" i="1" smtClean="0">
                        <a:latin typeface="Cambria Math" panose="02040503050406030204" pitchFamily="18" charset="0"/>
                      </a:rPr>
                      <m:t>𝑚𝑖𝑛</m:t>
                    </m:r>
                    <m:d>
                      <m:dPr>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0.6, 0.9</m:t>
                        </m:r>
                      </m:e>
                    </m:d>
                    <m:r>
                      <a:rPr lang="en-US" altLang="zh-CN" b="0" i="1" smtClean="0">
                        <a:latin typeface="Cambria Math" panose="02040503050406030204" pitchFamily="18" charset="0"/>
                      </a:rPr>
                      <m:t>, </m:t>
                    </m:r>
                    <m:r>
                      <m:rPr>
                        <m:sty m:val="p"/>
                      </m:rPr>
                      <a:rPr lang="en-US" altLang="zh-CN" b="0" i="0" smtClean="0">
                        <a:latin typeface="Cambria Math" panose="02040503050406030204" pitchFamily="18" charset="0"/>
                      </a:rPr>
                      <m:t>min</m:t>
                    </m:r>
                    <m:r>
                      <a:rPr lang="en-US" altLang="zh-CN" b="0" i="1" smtClean="0">
                        <a:latin typeface="Cambria Math" panose="02040503050406030204" pitchFamily="18" charset="0"/>
                      </a:rPr>
                      <m:t>⁡(0.3,0.8))</m:t>
                    </m:r>
                  </m:oMath>
                </a14:m>
                <a:r>
                  <a:rPr lang="en-US" altLang="zh-CN" dirty="0"/>
                  <a:t>=max(0.1, 0.6, 0.3)=0.6</a:t>
                </a:r>
                <a:endParaRPr lang="zh-CN" altLang="en-US" dirty="0"/>
              </a:p>
            </p:txBody>
          </p:sp>
        </mc:Choice>
        <mc:Fallback xmlns="">
          <p:sp>
            <p:nvSpPr>
              <p:cNvPr id="40" name="文本框 39">
                <a:extLst>
                  <a:ext uri="{FF2B5EF4-FFF2-40B4-BE49-F238E27FC236}">
                    <a16:creationId xmlns:a16="http://schemas.microsoft.com/office/drawing/2014/main" id="{04103E27-9DC5-F9DC-074E-B788645AA151}"/>
                  </a:ext>
                </a:extLst>
              </p:cNvPr>
              <p:cNvSpPr txBox="1">
                <a:spLocks noRot="1" noChangeAspect="1" noMove="1" noResize="1" noEditPoints="1" noAdjustHandles="1" noChangeArrowheads="1" noChangeShapeType="1" noTextEdit="1"/>
              </p:cNvSpPr>
              <p:nvPr/>
            </p:nvSpPr>
            <p:spPr>
              <a:xfrm>
                <a:off x="834916" y="5938216"/>
                <a:ext cx="7948749" cy="369332"/>
              </a:xfrm>
              <a:prstGeom prst="rect">
                <a:avLst/>
              </a:prstGeom>
              <a:blipFill>
                <a:blip r:embed="rId13"/>
                <a:stretch>
                  <a:fillRect t="-8197" b="-24590"/>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2425863229"/>
      </p:ext>
    </p:extLst>
  </p:cSld>
  <p:clrMapOvr>
    <a:masterClrMapping/>
  </p:clrMapOvr>
  <p:transition/>
</p:sld>
</file>

<file path=ppt/slides/slide34.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E9A3DD95-4C1E-EB0C-E878-146B680F995E}"/>
            </a:ext>
          </a:extLst>
        </p:cNvPr>
        <p:cNvGrpSpPr/>
        <p:nvPr/>
      </p:nvGrpSpPr>
      <p:grpSpPr>
        <a:xfrm>
          <a:off x="0" y="0"/>
          <a:ext cx="0" cy="0"/>
          <a:chOff x="0" y="0"/>
          <a:chExt cx="0" cy="0"/>
        </a:xfrm>
      </p:grpSpPr>
      <p:sp>
        <p:nvSpPr>
          <p:cNvPr id="233475" name="Rectangle 3">
            <a:extLst>
              <a:ext uri="{FF2B5EF4-FFF2-40B4-BE49-F238E27FC236}">
                <a16:creationId xmlns:a16="http://schemas.microsoft.com/office/drawing/2014/main" id="{FF67908F-4F41-269F-3BA4-AE4B2726D842}"/>
              </a:ext>
            </a:extLst>
          </p:cNvPr>
          <p:cNvSpPr>
            <a:spLocks noGrp="1" noRot="1" noChangeArrowheads="1"/>
          </p:cNvSpPr>
          <p:nvPr>
            <p:ph type="body" idx="1"/>
          </p:nvPr>
        </p:nvSpPr>
        <p:spPr>
          <a:xfrm>
            <a:off x="360334" y="428604"/>
            <a:ext cx="8221661" cy="6121400"/>
          </a:xfrm>
        </p:spPr>
        <p:txBody>
          <a:bodyPr/>
          <a:lstStyle/>
          <a:p>
            <a:pPr>
              <a:lnSpc>
                <a:spcPct val="150000"/>
              </a:lnSpc>
              <a:buNone/>
            </a:pPr>
            <a:r>
              <a:rPr lang="en-US" sz="2400" dirty="0"/>
              <a:t>     2. </a:t>
            </a:r>
            <a:r>
              <a:rPr lang="zh-CN" altLang="en-US" sz="2400" b="1" dirty="0">
                <a:latin typeface="楷体" pitchFamily="49" charset="-122"/>
                <a:ea typeface="楷体" pitchFamily="49" charset="-122"/>
              </a:rPr>
              <a:t>模糊推理</a:t>
            </a:r>
            <a:endParaRPr lang="en-US" altLang="zh-CN" sz="2400" b="1" dirty="0">
              <a:latin typeface="楷体" pitchFamily="49" charset="-122"/>
              <a:ea typeface="楷体" pitchFamily="49" charset="-122"/>
            </a:endParaRPr>
          </a:p>
          <a:p>
            <a:pPr>
              <a:lnSpc>
                <a:spcPct val="150000"/>
              </a:lnSpc>
              <a:buNone/>
            </a:pPr>
            <a:r>
              <a:rPr lang="en-US" altLang="zh-CN" sz="2400" b="1" dirty="0">
                <a:latin typeface="楷体" pitchFamily="49" charset="-122"/>
                <a:ea typeface="楷体" pitchFamily="49" charset="-122"/>
              </a:rPr>
              <a:t>    </a:t>
            </a:r>
          </a:p>
          <a:p>
            <a:pPr>
              <a:lnSpc>
                <a:spcPct val="120000"/>
              </a:lnSpc>
              <a:spcBef>
                <a:spcPts val="0"/>
              </a:spcBef>
              <a:buNone/>
            </a:pPr>
            <a:r>
              <a:rPr lang="zh-CN" altLang="en-US" sz="2300" dirty="0"/>
              <a:t>        </a:t>
            </a:r>
          </a:p>
        </p:txBody>
      </p:sp>
      <p:grpSp>
        <p:nvGrpSpPr>
          <p:cNvPr id="28" name="组合 27">
            <a:extLst>
              <a:ext uri="{FF2B5EF4-FFF2-40B4-BE49-F238E27FC236}">
                <a16:creationId xmlns:a16="http://schemas.microsoft.com/office/drawing/2014/main" id="{B943204C-B471-C572-593D-EB2ADD2CFCF2}"/>
              </a:ext>
            </a:extLst>
          </p:cNvPr>
          <p:cNvGrpSpPr/>
          <p:nvPr/>
        </p:nvGrpSpPr>
        <p:grpSpPr>
          <a:xfrm>
            <a:off x="5687616" y="1268760"/>
            <a:ext cx="3456384" cy="1434917"/>
            <a:chOff x="755576" y="1124899"/>
            <a:chExt cx="3456384" cy="1434917"/>
          </a:xfrm>
        </p:grpSpPr>
        <p:grpSp>
          <p:nvGrpSpPr>
            <p:cNvPr id="27" name="组合 26">
              <a:extLst>
                <a:ext uri="{FF2B5EF4-FFF2-40B4-BE49-F238E27FC236}">
                  <a16:creationId xmlns:a16="http://schemas.microsoft.com/office/drawing/2014/main" id="{C8DCAB9D-AF97-BFAF-77A0-67A059D6437B}"/>
                </a:ext>
              </a:extLst>
            </p:cNvPr>
            <p:cNvGrpSpPr/>
            <p:nvPr/>
          </p:nvGrpSpPr>
          <p:grpSpPr>
            <a:xfrm>
              <a:off x="755576" y="1340768"/>
              <a:ext cx="2606247" cy="1219048"/>
              <a:chOff x="755576" y="1340768"/>
              <a:chExt cx="2606247" cy="1219048"/>
            </a:xfrm>
          </p:grpSpPr>
          <p:pic>
            <p:nvPicPr>
              <p:cNvPr id="6" name="图片 5">
                <a:extLst>
                  <a:ext uri="{FF2B5EF4-FFF2-40B4-BE49-F238E27FC236}">
                    <a16:creationId xmlns:a16="http://schemas.microsoft.com/office/drawing/2014/main" id="{3F8C6B51-9F20-8898-4815-C87D3CCD1FD7}"/>
                  </a:ext>
                </a:extLst>
              </p:cNvPr>
              <p:cNvPicPr>
                <a:picLocks noChangeAspect="1"/>
              </p:cNvPicPr>
              <p:nvPr/>
            </p:nvPicPr>
            <p:blipFill>
              <a:blip r:embed="rId3"/>
              <a:stretch>
                <a:fillRect/>
              </a:stretch>
            </p:blipFill>
            <p:spPr>
              <a:xfrm>
                <a:off x="2123728" y="1340768"/>
                <a:ext cx="1238095" cy="1219048"/>
              </a:xfrm>
              <a:prstGeom prst="rect">
                <a:avLst/>
              </a:prstGeom>
            </p:spPr>
          </p:pic>
          <p:sp>
            <p:nvSpPr>
              <p:cNvPr id="12" name="文本框 11">
                <a:extLst>
                  <a:ext uri="{FF2B5EF4-FFF2-40B4-BE49-F238E27FC236}">
                    <a16:creationId xmlns:a16="http://schemas.microsoft.com/office/drawing/2014/main" id="{2FA2EF45-8387-DFBB-5488-ED080CE559BD}"/>
                  </a:ext>
                </a:extLst>
              </p:cNvPr>
              <p:cNvSpPr txBox="1"/>
              <p:nvPr/>
            </p:nvSpPr>
            <p:spPr>
              <a:xfrm>
                <a:off x="755576" y="1719459"/>
                <a:ext cx="792088" cy="461665"/>
              </a:xfrm>
              <a:prstGeom prst="rect">
                <a:avLst/>
              </a:prstGeom>
              <a:noFill/>
            </p:spPr>
            <p:txBody>
              <a:bodyPr wrap="square" rtlCol="0">
                <a:spAutoFit/>
              </a:bodyPr>
              <a:lstStyle/>
              <a:p>
                <a:r>
                  <a:rPr lang="en-US" altLang="zh-CN" sz="2400" dirty="0"/>
                  <a:t>T</a:t>
                </a:r>
                <a:r>
                  <a:rPr lang="zh-CN" altLang="en-US" sz="2400" dirty="0"/>
                  <a:t>＝</a:t>
                </a:r>
              </a:p>
            </p:txBody>
          </p:sp>
          <p:sp>
            <p:nvSpPr>
              <p:cNvPr id="13" name="文本框 12">
                <a:extLst>
                  <a:ext uri="{FF2B5EF4-FFF2-40B4-BE49-F238E27FC236}">
                    <a16:creationId xmlns:a16="http://schemas.microsoft.com/office/drawing/2014/main" id="{6D9020EC-CFF6-1526-1AED-418D572788CC}"/>
                  </a:ext>
                </a:extLst>
              </p:cNvPr>
              <p:cNvSpPr txBox="1"/>
              <p:nvPr/>
            </p:nvSpPr>
            <p:spPr>
              <a:xfrm>
                <a:off x="1474854" y="1488626"/>
                <a:ext cx="936104" cy="923330"/>
              </a:xfrm>
              <a:prstGeom prst="rect">
                <a:avLst/>
              </a:prstGeom>
              <a:noFill/>
            </p:spPr>
            <p:txBody>
              <a:bodyPr wrap="square" rtlCol="0">
                <a:spAutoFit/>
              </a:bodyPr>
              <a:lstStyle/>
              <a:p>
                <a:r>
                  <a:rPr lang="zh-CN" altLang="en-US" b="1" dirty="0"/>
                  <a:t>张三</a:t>
                </a:r>
                <a:endParaRPr lang="en-US" altLang="zh-CN" b="1" dirty="0"/>
              </a:p>
              <a:p>
                <a:r>
                  <a:rPr lang="zh-CN" altLang="en-US" b="1" dirty="0"/>
                  <a:t>李四</a:t>
                </a:r>
                <a:endParaRPr lang="en-US" altLang="zh-CN" b="1" dirty="0"/>
              </a:p>
              <a:p>
                <a:r>
                  <a:rPr lang="zh-CN" altLang="en-US" b="1" dirty="0"/>
                  <a:t>王五</a:t>
                </a:r>
              </a:p>
            </p:txBody>
          </p:sp>
        </p:grpSp>
        <p:sp>
          <p:nvSpPr>
            <p:cNvPr id="14" name="文本框 13">
              <a:extLst>
                <a:ext uri="{FF2B5EF4-FFF2-40B4-BE49-F238E27FC236}">
                  <a16:creationId xmlns:a16="http://schemas.microsoft.com/office/drawing/2014/main" id="{99F072B3-C60F-64E9-90B0-06217B50A2E6}"/>
                </a:ext>
              </a:extLst>
            </p:cNvPr>
            <p:cNvSpPr txBox="1"/>
            <p:nvPr/>
          </p:nvSpPr>
          <p:spPr>
            <a:xfrm>
              <a:off x="2123728" y="1124899"/>
              <a:ext cx="2088232" cy="369332"/>
            </a:xfrm>
            <a:prstGeom prst="rect">
              <a:avLst/>
            </a:prstGeom>
            <a:noFill/>
          </p:spPr>
          <p:txBody>
            <a:bodyPr wrap="square" rtlCol="0">
              <a:spAutoFit/>
            </a:bodyPr>
            <a:lstStyle/>
            <a:p>
              <a:r>
                <a:rPr lang="zh-CN" altLang="en-US" dirty="0"/>
                <a:t>工程 学术</a:t>
              </a:r>
            </a:p>
          </p:txBody>
        </p:sp>
      </p:grpSp>
      <mc:AlternateContent xmlns:mc="http://schemas.openxmlformats.org/markup-compatibility/2006" xmlns:a14="http://schemas.microsoft.com/office/drawing/2010/main">
        <mc:Choice Requires="a14">
          <p:sp>
            <p:nvSpPr>
              <p:cNvPr id="3" name="文本框 2">
                <a:extLst>
                  <a:ext uri="{FF2B5EF4-FFF2-40B4-BE49-F238E27FC236}">
                    <a16:creationId xmlns:a16="http://schemas.microsoft.com/office/drawing/2014/main" id="{8FAA6461-F9B9-8F8E-C20B-2326871FE507}"/>
                  </a:ext>
                </a:extLst>
              </p:cNvPr>
              <p:cNvSpPr txBox="1"/>
              <p:nvPr/>
            </p:nvSpPr>
            <p:spPr>
              <a:xfrm>
                <a:off x="683568" y="4257508"/>
                <a:ext cx="8046640" cy="369332"/>
              </a:xfrm>
              <a:prstGeom prst="rect">
                <a:avLst/>
              </a:prstGeom>
              <a:noFill/>
            </p:spPr>
            <p:txBody>
              <a:bodyPr wrap="square">
                <a:spAutoFit/>
              </a:bodyPr>
              <a:lstStyle/>
              <a:p>
                <a14:m>
                  <m:oMath xmlns:m="http://schemas.openxmlformats.org/officeDocument/2006/math">
                    <m:sSub>
                      <m:sSubPr>
                        <m:ctrlPr>
                          <a:rPr lang="en-US" altLang="zh-CN" i="1" smtClean="0">
                            <a:latin typeface="Cambria Math" panose="02040503050406030204" pitchFamily="18" charset="0"/>
                          </a:rPr>
                        </m:ctrlPr>
                      </m:sSubPr>
                      <m:e>
                        <m:r>
                          <a:rPr lang="en-US" altLang="zh-CN" b="0" i="1" smtClean="0">
                            <a:latin typeface="Cambria Math" panose="02040503050406030204" pitchFamily="18" charset="0"/>
                          </a:rPr>
                          <m:t>𝑡</m:t>
                        </m:r>
                      </m:e>
                      <m:sub>
                        <m:r>
                          <a:rPr lang="en-US" altLang="zh-CN" b="0" i="1" smtClean="0">
                            <a:latin typeface="Cambria Math" panose="02040503050406030204" pitchFamily="18" charset="0"/>
                          </a:rPr>
                          <m:t>11</m:t>
                        </m:r>
                      </m:sub>
                    </m:sSub>
                    <m:r>
                      <a:rPr lang="en-US" altLang="zh-CN" b="0" i="1" smtClean="0">
                        <a:latin typeface="Cambria Math" panose="02040503050406030204" pitchFamily="18" charset="0"/>
                      </a:rPr>
                      <m:t>=</m:t>
                    </m:r>
                    <m:r>
                      <m:rPr>
                        <m:sty m:val="p"/>
                      </m:rPr>
                      <a:rPr lang="en-US" altLang="zh-CN" b="0" i="0" smtClean="0">
                        <a:latin typeface="Cambria Math" panose="02040503050406030204" pitchFamily="18" charset="0"/>
                      </a:rPr>
                      <m:t>max</m:t>
                    </m:r>
                    <m:r>
                      <a:rPr lang="en-US" altLang="zh-CN" b="0" i="1" smtClean="0">
                        <a:latin typeface="Cambria Math" panose="02040503050406030204" pitchFamily="18" charset="0"/>
                      </a:rPr>
                      <m:t>⁡(</m:t>
                    </m:r>
                    <m:func>
                      <m:funcPr>
                        <m:ctrlPr>
                          <a:rPr lang="en-US" altLang="zh-CN" b="0" i="1" smtClean="0">
                            <a:latin typeface="Cambria Math" panose="02040503050406030204" pitchFamily="18" charset="0"/>
                          </a:rPr>
                        </m:ctrlPr>
                      </m:funcPr>
                      <m:fName>
                        <m:r>
                          <m:rPr>
                            <m:sty m:val="p"/>
                          </m:rPr>
                          <a:rPr lang="en-US" altLang="zh-CN" b="0" i="0" smtClean="0">
                            <a:latin typeface="Cambria Math" panose="02040503050406030204" pitchFamily="18" charset="0"/>
                          </a:rPr>
                          <m:t>min</m:t>
                        </m:r>
                      </m:fName>
                      <m:e>
                        <m:d>
                          <m:dPr>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0.1,0.1</m:t>
                            </m:r>
                          </m:e>
                        </m:d>
                      </m:e>
                    </m:func>
                    <m:r>
                      <a:rPr lang="en-US" altLang="zh-CN" b="0" i="1" smtClean="0">
                        <a:latin typeface="Cambria Math" panose="02040503050406030204" pitchFamily="18" charset="0"/>
                      </a:rPr>
                      <m:t>,</m:t>
                    </m:r>
                    <m:r>
                      <a:rPr lang="en-US" altLang="zh-CN" b="0" i="1" smtClean="0">
                        <a:latin typeface="Cambria Math" panose="02040503050406030204" pitchFamily="18" charset="0"/>
                      </a:rPr>
                      <m:t>𝑚𝑖𝑛</m:t>
                    </m:r>
                    <m:d>
                      <m:dPr>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0.6, 1</m:t>
                        </m:r>
                      </m:e>
                    </m:d>
                    <m:r>
                      <a:rPr lang="en-US" altLang="zh-CN" b="0" i="1" smtClean="0">
                        <a:latin typeface="Cambria Math" panose="02040503050406030204" pitchFamily="18" charset="0"/>
                      </a:rPr>
                      <m:t>, </m:t>
                    </m:r>
                    <m:r>
                      <m:rPr>
                        <m:sty m:val="p"/>
                      </m:rPr>
                      <a:rPr lang="en-US" altLang="zh-CN" b="0" i="0" smtClean="0">
                        <a:latin typeface="Cambria Math" panose="02040503050406030204" pitchFamily="18" charset="0"/>
                      </a:rPr>
                      <m:t>min</m:t>
                    </m:r>
                    <m:r>
                      <a:rPr lang="en-US" altLang="zh-CN" b="0" i="1" smtClean="0">
                        <a:latin typeface="Cambria Math" panose="02040503050406030204" pitchFamily="18" charset="0"/>
                      </a:rPr>
                      <m:t>⁡(0.3,0.7))</m:t>
                    </m:r>
                  </m:oMath>
                </a14:m>
                <a:r>
                  <a:rPr lang="en-US" altLang="zh-CN" dirty="0"/>
                  <a:t>=max(0.1, 0.6, 0.3)=0.6</a:t>
                </a:r>
                <a:endParaRPr lang="zh-CN" altLang="en-US" dirty="0"/>
              </a:p>
            </p:txBody>
          </p:sp>
        </mc:Choice>
        <mc:Fallback xmlns="">
          <p:sp>
            <p:nvSpPr>
              <p:cNvPr id="3" name="文本框 2">
                <a:extLst>
                  <a:ext uri="{FF2B5EF4-FFF2-40B4-BE49-F238E27FC236}">
                    <a16:creationId xmlns:a16="http://schemas.microsoft.com/office/drawing/2014/main" id="{8FAA6461-F9B9-8F8E-C20B-2326871FE507}"/>
                  </a:ext>
                </a:extLst>
              </p:cNvPr>
              <p:cNvSpPr txBox="1">
                <a:spLocks noRot="1" noChangeAspect="1" noMove="1" noResize="1" noEditPoints="1" noAdjustHandles="1" noChangeArrowheads="1" noChangeShapeType="1" noTextEdit="1"/>
              </p:cNvSpPr>
              <p:nvPr/>
            </p:nvSpPr>
            <p:spPr>
              <a:xfrm>
                <a:off x="683568" y="4257508"/>
                <a:ext cx="8046640" cy="369332"/>
              </a:xfrm>
              <a:prstGeom prst="rect">
                <a:avLst/>
              </a:prstGeom>
              <a:blipFill>
                <a:blip r:embed="rId4"/>
                <a:stretch>
                  <a:fillRect t="-8197" b="-24590"/>
                </a:stretch>
              </a:blipFill>
            </p:spPr>
            <p:txBody>
              <a:bodyPr/>
              <a:lstStyle/>
              <a:p>
                <a:r>
                  <a:rPr lang="zh-CN" altLang="en-US">
                    <a:noFill/>
                  </a:rPr>
                  <a:t> </a:t>
                </a:r>
              </a:p>
            </p:txBody>
          </p:sp>
        </mc:Fallback>
      </mc:AlternateContent>
      <p:sp>
        <p:nvSpPr>
          <p:cNvPr id="4" name="箭头: 下 3">
            <a:extLst>
              <a:ext uri="{FF2B5EF4-FFF2-40B4-BE49-F238E27FC236}">
                <a16:creationId xmlns:a16="http://schemas.microsoft.com/office/drawing/2014/main" id="{4925F7E5-1010-2B99-1946-CD58C0F45B5A}"/>
              </a:ext>
            </a:extLst>
          </p:cNvPr>
          <p:cNvSpPr/>
          <p:nvPr/>
        </p:nvSpPr>
        <p:spPr>
          <a:xfrm>
            <a:off x="3808345" y="4606673"/>
            <a:ext cx="144016" cy="330678"/>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文本框 4">
            <a:extLst>
              <a:ext uri="{FF2B5EF4-FFF2-40B4-BE49-F238E27FC236}">
                <a16:creationId xmlns:a16="http://schemas.microsoft.com/office/drawing/2014/main" id="{1CE95988-E412-747E-D6D8-2991EAE9CC61}"/>
              </a:ext>
            </a:extLst>
          </p:cNvPr>
          <p:cNvSpPr txBox="1"/>
          <p:nvPr/>
        </p:nvSpPr>
        <p:spPr>
          <a:xfrm>
            <a:off x="3016257" y="4954799"/>
            <a:ext cx="2088232" cy="369332"/>
          </a:xfrm>
          <a:prstGeom prst="rect">
            <a:avLst/>
          </a:prstGeom>
          <a:noFill/>
        </p:spPr>
        <p:txBody>
          <a:bodyPr wrap="square" rtlCol="0">
            <a:spAutoFit/>
          </a:bodyPr>
          <a:lstStyle/>
          <a:p>
            <a:r>
              <a:rPr lang="zh-CN" altLang="en-US" dirty="0"/>
              <a:t>编程的掌握程度</a:t>
            </a:r>
          </a:p>
        </p:txBody>
      </p:sp>
      <p:grpSp>
        <p:nvGrpSpPr>
          <p:cNvPr id="7" name="组合 6">
            <a:extLst>
              <a:ext uri="{FF2B5EF4-FFF2-40B4-BE49-F238E27FC236}">
                <a16:creationId xmlns:a16="http://schemas.microsoft.com/office/drawing/2014/main" id="{803DCB5B-8F11-8336-0EA5-9434A835DDC3}"/>
              </a:ext>
            </a:extLst>
          </p:cNvPr>
          <p:cNvGrpSpPr/>
          <p:nvPr/>
        </p:nvGrpSpPr>
        <p:grpSpPr>
          <a:xfrm>
            <a:off x="339852" y="1302520"/>
            <a:ext cx="2808312" cy="1440160"/>
            <a:chOff x="827584" y="1556792"/>
            <a:chExt cx="2808312" cy="1440160"/>
          </a:xfrm>
        </p:grpSpPr>
        <p:pic>
          <p:nvPicPr>
            <p:cNvPr id="8" name="图片 7">
              <a:extLst>
                <a:ext uri="{FF2B5EF4-FFF2-40B4-BE49-F238E27FC236}">
                  <a16:creationId xmlns:a16="http://schemas.microsoft.com/office/drawing/2014/main" id="{BF5934C2-4B48-BF20-FE3B-52660FF74091}"/>
                </a:ext>
              </a:extLst>
            </p:cNvPr>
            <p:cNvPicPr>
              <a:picLocks noChangeAspect="1"/>
            </p:cNvPicPr>
            <p:nvPr/>
          </p:nvPicPr>
          <p:blipFill>
            <a:blip r:embed="rId5"/>
            <a:stretch>
              <a:fillRect/>
            </a:stretch>
          </p:blipFill>
          <p:spPr>
            <a:xfrm>
              <a:off x="1547664" y="1844824"/>
              <a:ext cx="1972393" cy="1152128"/>
            </a:xfrm>
            <a:prstGeom prst="rect">
              <a:avLst/>
            </a:prstGeom>
          </p:spPr>
        </p:pic>
        <p:sp>
          <p:nvSpPr>
            <p:cNvPr id="9" name="文本框 8">
              <a:extLst>
                <a:ext uri="{FF2B5EF4-FFF2-40B4-BE49-F238E27FC236}">
                  <a16:creationId xmlns:a16="http://schemas.microsoft.com/office/drawing/2014/main" id="{F21BEB88-7D58-4397-4A91-F30DA781336F}"/>
                </a:ext>
              </a:extLst>
            </p:cNvPr>
            <p:cNvSpPr txBox="1"/>
            <p:nvPr/>
          </p:nvSpPr>
          <p:spPr>
            <a:xfrm>
              <a:off x="827584" y="1959223"/>
              <a:ext cx="936104" cy="923330"/>
            </a:xfrm>
            <a:prstGeom prst="rect">
              <a:avLst/>
            </a:prstGeom>
            <a:noFill/>
          </p:spPr>
          <p:txBody>
            <a:bodyPr wrap="square" rtlCol="0">
              <a:spAutoFit/>
            </a:bodyPr>
            <a:lstStyle/>
            <a:p>
              <a:r>
                <a:rPr lang="zh-CN" altLang="en-US" b="1" dirty="0"/>
                <a:t>张三</a:t>
              </a:r>
              <a:endParaRPr lang="en-US" altLang="zh-CN" b="1" dirty="0"/>
            </a:p>
            <a:p>
              <a:r>
                <a:rPr lang="zh-CN" altLang="en-US" b="1" dirty="0"/>
                <a:t>李四</a:t>
              </a:r>
              <a:endParaRPr lang="en-US" altLang="zh-CN" b="1" dirty="0"/>
            </a:p>
            <a:p>
              <a:r>
                <a:rPr lang="zh-CN" altLang="en-US" b="1" dirty="0"/>
                <a:t>王五</a:t>
              </a:r>
            </a:p>
          </p:txBody>
        </p:sp>
        <p:sp>
          <p:nvSpPr>
            <p:cNvPr id="10" name="文本框 9">
              <a:extLst>
                <a:ext uri="{FF2B5EF4-FFF2-40B4-BE49-F238E27FC236}">
                  <a16:creationId xmlns:a16="http://schemas.microsoft.com/office/drawing/2014/main" id="{6888A231-9435-896C-B2AF-F0E4EC37EBEF}"/>
                </a:ext>
              </a:extLst>
            </p:cNvPr>
            <p:cNvSpPr txBox="1"/>
            <p:nvPr/>
          </p:nvSpPr>
          <p:spPr>
            <a:xfrm>
              <a:off x="1547664" y="1556792"/>
              <a:ext cx="2088232" cy="369332"/>
            </a:xfrm>
            <a:prstGeom prst="rect">
              <a:avLst/>
            </a:prstGeom>
            <a:noFill/>
          </p:spPr>
          <p:txBody>
            <a:bodyPr wrap="square" rtlCol="0">
              <a:spAutoFit/>
            </a:bodyPr>
            <a:lstStyle/>
            <a:p>
              <a:r>
                <a:rPr lang="zh-CN" altLang="en-US" dirty="0"/>
                <a:t>数学    编程   英语   </a:t>
              </a:r>
            </a:p>
          </p:txBody>
        </p:sp>
      </p:grpSp>
      <p:grpSp>
        <p:nvGrpSpPr>
          <p:cNvPr id="11" name="组合 10">
            <a:extLst>
              <a:ext uri="{FF2B5EF4-FFF2-40B4-BE49-F238E27FC236}">
                <a16:creationId xmlns:a16="http://schemas.microsoft.com/office/drawing/2014/main" id="{9A5223C8-22AA-2550-DDC4-9621C49D1637}"/>
              </a:ext>
            </a:extLst>
          </p:cNvPr>
          <p:cNvGrpSpPr/>
          <p:nvPr/>
        </p:nvGrpSpPr>
        <p:grpSpPr>
          <a:xfrm>
            <a:off x="3415590" y="1315285"/>
            <a:ext cx="2733015" cy="1276745"/>
            <a:chOff x="1312339" y="4401707"/>
            <a:chExt cx="2733015" cy="1276745"/>
          </a:xfrm>
        </p:grpSpPr>
        <p:pic>
          <p:nvPicPr>
            <p:cNvPr id="25" name="图片 24">
              <a:extLst>
                <a:ext uri="{FF2B5EF4-FFF2-40B4-BE49-F238E27FC236}">
                  <a16:creationId xmlns:a16="http://schemas.microsoft.com/office/drawing/2014/main" id="{F90C5A01-E613-D9E9-9629-46525483F4AD}"/>
                </a:ext>
              </a:extLst>
            </p:cNvPr>
            <p:cNvPicPr>
              <a:picLocks noChangeAspect="1"/>
            </p:cNvPicPr>
            <p:nvPr/>
          </p:nvPicPr>
          <p:blipFill>
            <a:blip r:embed="rId6"/>
            <a:stretch>
              <a:fillRect/>
            </a:stretch>
          </p:blipFill>
          <p:spPr>
            <a:xfrm>
              <a:off x="1964848" y="4607263"/>
              <a:ext cx="1171429" cy="1071189"/>
            </a:xfrm>
            <a:prstGeom prst="rect">
              <a:avLst/>
            </a:prstGeom>
          </p:spPr>
        </p:pic>
        <p:sp>
          <p:nvSpPr>
            <p:cNvPr id="26" name="文本框 25">
              <a:extLst>
                <a:ext uri="{FF2B5EF4-FFF2-40B4-BE49-F238E27FC236}">
                  <a16:creationId xmlns:a16="http://schemas.microsoft.com/office/drawing/2014/main" id="{35FBC841-E65C-2576-505D-8F384D0F4C22}"/>
                </a:ext>
              </a:extLst>
            </p:cNvPr>
            <p:cNvSpPr txBox="1"/>
            <p:nvPr/>
          </p:nvSpPr>
          <p:spPr>
            <a:xfrm>
              <a:off x="1312339" y="4728987"/>
              <a:ext cx="936104" cy="923330"/>
            </a:xfrm>
            <a:prstGeom prst="rect">
              <a:avLst/>
            </a:prstGeom>
            <a:noFill/>
          </p:spPr>
          <p:txBody>
            <a:bodyPr wrap="square" rtlCol="0">
              <a:spAutoFit/>
            </a:bodyPr>
            <a:lstStyle/>
            <a:p>
              <a:r>
                <a:rPr lang="zh-CN" altLang="en-US" b="1" dirty="0"/>
                <a:t>数学</a:t>
              </a:r>
              <a:endParaRPr lang="en-US" altLang="zh-CN" b="1" dirty="0"/>
            </a:p>
            <a:p>
              <a:r>
                <a:rPr lang="zh-CN" altLang="en-US" b="1" dirty="0"/>
                <a:t>编程</a:t>
              </a:r>
              <a:endParaRPr lang="en-US" altLang="zh-CN" b="1" dirty="0"/>
            </a:p>
            <a:p>
              <a:r>
                <a:rPr lang="zh-CN" altLang="en-US" b="1" dirty="0"/>
                <a:t>英语</a:t>
              </a:r>
            </a:p>
          </p:txBody>
        </p:sp>
        <p:sp>
          <p:nvSpPr>
            <p:cNvPr id="29" name="文本框 28">
              <a:extLst>
                <a:ext uri="{FF2B5EF4-FFF2-40B4-BE49-F238E27FC236}">
                  <a16:creationId xmlns:a16="http://schemas.microsoft.com/office/drawing/2014/main" id="{163D27A6-EED2-E085-97C6-841341038CAF}"/>
                </a:ext>
              </a:extLst>
            </p:cNvPr>
            <p:cNvSpPr txBox="1"/>
            <p:nvPr/>
          </p:nvSpPr>
          <p:spPr>
            <a:xfrm>
              <a:off x="1957122" y="4401707"/>
              <a:ext cx="2088232" cy="369332"/>
            </a:xfrm>
            <a:prstGeom prst="rect">
              <a:avLst/>
            </a:prstGeom>
            <a:noFill/>
          </p:spPr>
          <p:txBody>
            <a:bodyPr wrap="square" rtlCol="0">
              <a:spAutoFit/>
            </a:bodyPr>
            <a:lstStyle/>
            <a:p>
              <a:r>
                <a:rPr lang="zh-CN" altLang="en-US" dirty="0"/>
                <a:t>工程 学术</a:t>
              </a:r>
            </a:p>
          </p:txBody>
        </p:sp>
      </p:grpSp>
      <p:sp>
        <p:nvSpPr>
          <p:cNvPr id="41" name="箭头: 右 40">
            <a:extLst>
              <a:ext uri="{FF2B5EF4-FFF2-40B4-BE49-F238E27FC236}">
                <a16:creationId xmlns:a16="http://schemas.microsoft.com/office/drawing/2014/main" id="{38A2CF80-924A-27A6-B471-5AF5B80C25AF}"/>
              </a:ext>
            </a:extLst>
          </p:cNvPr>
          <p:cNvSpPr/>
          <p:nvPr/>
        </p:nvSpPr>
        <p:spPr>
          <a:xfrm>
            <a:off x="5260776" y="1863320"/>
            <a:ext cx="487623" cy="519959"/>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2" name="箭头: 下 41">
            <a:extLst>
              <a:ext uri="{FF2B5EF4-FFF2-40B4-BE49-F238E27FC236}">
                <a16:creationId xmlns:a16="http://schemas.microsoft.com/office/drawing/2014/main" id="{2EBC2526-AFD1-50AE-101E-F166F0F9D90C}"/>
              </a:ext>
            </a:extLst>
          </p:cNvPr>
          <p:cNvSpPr/>
          <p:nvPr/>
        </p:nvSpPr>
        <p:spPr>
          <a:xfrm rot="10800000">
            <a:off x="4130694" y="3956864"/>
            <a:ext cx="144016" cy="330678"/>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3" name="文本框 42">
            <a:extLst>
              <a:ext uri="{FF2B5EF4-FFF2-40B4-BE49-F238E27FC236}">
                <a16:creationId xmlns:a16="http://schemas.microsoft.com/office/drawing/2014/main" id="{384BFE68-F263-CE5D-9B4B-5FC309148C3D}"/>
              </a:ext>
            </a:extLst>
          </p:cNvPr>
          <p:cNvSpPr txBox="1"/>
          <p:nvPr/>
        </p:nvSpPr>
        <p:spPr>
          <a:xfrm>
            <a:off x="2986748" y="3567778"/>
            <a:ext cx="2583791" cy="369332"/>
          </a:xfrm>
          <a:prstGeom prst="rect">
            <a:avLst/>
          </a:prstGeom>
          <a:noFill/>
        </p:spPr>
        <p:txBody>
          <a:bodyPr wrap="square" rtlCol="0">
            <a:spAutoFit/>
          </a:bodyPr>
          <a:lstStyle/>
          <a:p>
            <a:r>
              <a:rPr lang="zh-CN" altLang="en-US" dirty="0"/>
              <a:t>编程对工程的重要程度</a:t>
            </a:r>
          </a:p>
        </p:txBody>
      </p:sp>
      <p:sp>
        <p:nvSpPr>
          <p:cNvPr id="45" name="箭头: 右 44">
            <a:extLst>
              <a:ext uri="{FF2B5EF4-FFF2-40B4-BE49-F238E27FC236}">
                <a16:creationId xmlns:a16="http://schemas.microsoft.com/office/drawing/2014/main" id="{8CE94474-9C69-619F-04B1-373B2E2C9E0E}"/>
              </a:ext>
            </a:extLst>
          </p:cNvPr>
          <p:cNvSpPr/>
          <p:nvPr/>
        </p:nvSpPr>
        <p:spPr>
          <a:xfrm rot="5400000">
            <a:off x="3730264" y="5333993"/>
            <a:ext cx="487623" cy="519959"/>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6" name="文本框 45">
            <a:extLst>
              <a:ext uri="{FF2B5EF4-FFF2-40B4-BE49-F238E27FC236}">
                <a16:creationId xmlns:a16="http://schemas.microsoft.com/office/drawing/2014/main" id="{AC0B14AF-3936-51FC-50DD-94CB8512B810}"/>
              </a:ext>
            </a:extLst>
          </p:cNvPr>
          <p:cNvSpPr txBox="1"/>
          <p:nvPr/>
        </p:nvSpPr>
        <p:spPr>
          <a:xfrm>
            <a:off x="2139631" y="5873908"/>
            <a:ext cx="5688632" cy="369332"/>
          </a:xfrm>
          <a:prstGeom prst="rect">
            <a:avLst/>
          </a:prstGeom>
          <a:noFill/>
        </p:spPr>
        <p:txBody>
          <a:bodyPr wrap="square" rtlCol="0">
            <a:spAutoFit/>
          </a:bodyPr>
          <a:lstStyle/>
          <a:p>
            <a:r>
              <a:rPr lang="zh-CN" altLang="en-US" b="1" dirty="0">
                <a:solidFill>
                  <a:srgbClr val="FF0000"/>
                </a:solidFill>
              </a:rPr>
              <a:t>编程很重要</a:t>
            </a:r>
            <a:r>
              <a:rPr lang="en-US" altLang="zh-CN" b="1" dirty="0">
                <a:solidFill>
                  <a:srgbClr val="FF0000"/>
                </a:solidFill>
              </a:rPr>
              <a:t>1.0</a:t>
            </a:r>
            <a:r>
              <a:rPr lang="zh-CN" altLang="en-US" b="1" dirty="0">
                <a:solidFill>
                  <a:srgbClr val="FF0000"/>
                </a:solidFill>
              </a:rPr>
              <a:t>，但掌握不好也不行</a:t>
            </a:r>
            <a:r>
              <a:rPr lang="en-US" altLang="zh-CN" b="1" dirty="0">
                <a:solidFill>
                  <a:srgbClr val="FF0000"/>
                </a:solidFill>
              </a:rPr>
              <a:t>0.6</a:t>
            </a:r>
            <a:endParaRPr lang="zh-CN" altLang="en-US" b="1" dirty="0">
              <a:solidFill>
                <a:srgbClr val="FF0000"/>
              </a:solidFill>
            </a:endParaRPr>
          </a:p>
        </p:txBody>
      </p:sp>
      <p:sp>
        <p:nvSpPr>
          <p:cNvPr id="47" name="文本框 46">
            <a:extLst>
              <a:ext uri="{FF2B5EF4-FFF2-40B4-BE49-F238E27FC236}">
                <a16:creationId xmlns:a16="http://schemas.microsoft.com/office/drawing/2014/main" id="{2AB2CFAF-3A16-EF80-4F29-80E2A4E0D9F7}"/>
              </a:ext>
            </a:extLst>
          </p:cNvPr>
          <p:cNvSpPr txBox="1"/>
          <p:nvPr/>
        </p:nvSpPr>
        <p:spPr>
          <a:xfrm>
            <a:off x="5239528" y="4920006"/>
            <a:ext cx="3449011" cy="646331"/>
          </a:xfrm>
          <a:prstGeom prst="rect">
            <a:avLst/>
          </a:prstGeom>
          <a:noFill/>
        </p:spPr>
        <p:txBody>
          <a:bodyPr wrap="square" rtlCol="0">
            <a:spAutoFit/>
          </a:bodyPr>
          <a:lstStyle/>
          <a:p>
            <a:r>
              <a:rPr lang="zh-CN" altLang="en-US" b="1" dirty="0">
                <a:solidFill>
                  <a:srgbClr val="FF0000"/>
                </a:solidFill>
              </a:rPr>
              <a:t>数学，编程和英语都能支撑工程能力，那么最大能支撑到多少？</a:t>
            </a:r>
          </a:p>
        </p:txBody>
      </p:sp>
      <p:sp>
        <p:nvSpPr>
          <p:cNvPr id="48" name="箭头: 下 47">
            <a:extLst>
              <a:ext uri="{FF2B5EF4-FFF2-40B4-BE49-F238E27FC236}">
                <a16:creationId xmlns:a16="http://schemas.microsoft.com/office/drawing/2014/main" id="{4AAF8F04-ED79-5BBC-DFC7-36B806D1D1DF}"/>
              </a:ext>
            </a:extLst>
          </p:cNvPr>
          <p:cNvSpPr/>
          <p:nvPr/>
        </p:nvSpPr>
        <p:spPr>
          <a:xfrm>
            <a:off x="6747337" y="4556995"/>
            <a:ext cx="144016" cy="330678"/>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2644164930"/>
      </p:ext>
    </p:extLst>
  </p:cSld>
  <p:clrMapOvr>
    <a:masterClrMapping/>
  </p:clrMapOvr>
  <p:transition/>
</p:sld>
</file>

<file path=ppt/slides/slide3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18786" name="Rectangle 2"/>
          <p:cNvSpPr>
            <a:spLocks noGrp="1"/>
          </p:cNvSpPr>
          <p:nvPr>
            <p:ph type="title"/>
          </p:nvPr>
        </p:nvSpPr>
        <p:spPr>
          <a:xfrm>
            <a:off x="827088" y="830263"/>
            <a:ext cx="7772400" cy="936625"/>
          </a:xfrm>
          <a:ln/>
        </p:spPr>
        <p:txBody>
          <a:bodyPr vert="horz" wrap="square" lIns="91440" tIns="45720" rIns="91440" bIns="45720" anchor="ctr" anchorCtr="0"/>
          <a:lstStyle/>
          <a:p>
            <a:pPr eaLnBrk="1" hangingPunct="1"/>
            <a:r>
              <a:rPr lang="en-US" altLang="zh-CN" sz="3600" dirty="0">
                <a:solidFill>
                  <a:schemeClr val="tx1"/>
                </a:solidFill>
              </a:rPr>
              <a:t>8.3 </a:t>
            </a:r>
            <a:r>
              <a:rPr lang="zh-CN" altLang="en-US" sz="3600" dirty="0">
                <a:solidFill>
                  <a:schemeClr val="tx1"/>
                </a:solidFill>
              </a:rPr>
              <a:t>基于贝叶斯网络的概率推理</a:t>
            </a:r>
          </a:p>
        </p:txBody>
      </p:sp>
      <p:sp>
        <p:nvSpPr>
          <p:cNvPr id="118787" name="Rectangle 3"/>
          <p:cNvSpPr>
            <a:spLocks noGrp="1"/>
          </p:cNvSpPr>
          <p:nvPr>
            <p:ph idx="1"/>
          </p:nvPr>
        </p:nvSpPr>
        <p:spPr>
          <a:xfrm>
            <a:off x="250825" y="1752600"/>
            <a:ext cx="8642350" cy="4916488"/>
          </a:xfrm>
          <a:ln/>
        </p:spPr>
        <p:txBody>
          <a:bodyPr vert="horz" wrap="square" lIns="91440" tIns="45720" rIns="91440" bIns="45720" anchor="t" anchorCtr="0"/>
          <a:lstStyle/>
          <a:p>
            <a:pPr marL="0" indent="0" eaLnBrk="1" hangingPunct="1">
              <a:buNone/>
            </a:pPr>
            <a:r>
              <a:rPr lang="en-US" altLang="zh-CN" sz="2800" dirty="0"/>
              <a:t>8.3.1  </a:t>
            </a:r>
            <a:r>
              <a:rPr lang="zh-CN" altLang="en-US" sz="2800" dirty="0"/>
              <a:t>什么是贝叶斯网络</a:t>
            </a:r>
          </a:p>
          <a:p>
            <a:pPr marL="0" indent="0" eaLnBrk="1" hangingPunct="1">
              <a:lnSpc>
                <a:spcPct val="120000"/>
              </a:lnSpc>
              <a:buNone/>
            </a:pPr>
            <a:r>
              <a:rPr lang="en-US" altLang="zh-CN" sz="2800" dirty="0">
                <a:solidFill>
                  <a:srgbClr val="FF0000"/>
                </a:solidFill>
                <a:latin typeface="宋体" panose="02010600030101010101" pitchFamily="2" charset="-122"/>
              </a:rPr>
              <a:t>    </a:t>
            </a:r>
            <a:r>
              <a:rPr lang="zh-CN" altLang="en-US" sz="2400" b="1" dirty="0">
                <a:solidFill>
                  <a:srgbClr val="FF0000"/>
                </a:solidFill>
                <a:latin typeface="宋体" panose="02010600030101010101" pitchFamily="2" charset="-122"/>
              </a:rPr>
              <a:t>贝叶斯网络是一种以随机变量为节点，以条件概率为节点间关系强度的有向无环图</a:t>
            </a:r>
            <a:r>
              <a:rPr lang="en-US" altLang="zh-CN" sz="2400" b="1" dirty="0">
                <a:solidFill>
                  <a:srgbClr val="FF0000"/>
                </a:solidFill>
                <a:latin typeface="宋体" panose="02010600030101010101" pitchFamily="2" charset="-122"/>
              </a:rPr>
              <a:t>(DAG)</a:t>
            </a:r>
            <a:r>
              <a:rPr lang="zh-CN" altLang="en-US" sz="2400" b="1" dirty="0">
                <a:solidFill>
                  <a:srgbClr val="FF0000"/>
                </a:solidFill>
                <a:latin typeface="宋体" panose="02010600030101010101" pitchFamily="2" charset="-122"/>
              </a:rPr>
              <a:t>。</a:t>
            </a:r>
            <a:endParaRPr lang="en-US" altLang="zh-CN" sz="2400" b="1" dirty="0">
              <a:solidFill>
                <a:srgbClr val="FF0000"/>
              </a:solidFill>
              <a:latin typeface="宋体" panose="02010600030101010101" pitchFamily="2" charset="-122"/>
            </a:endParaRPr>
          </a:p>
          <a:p>
            <a:pPr marL="0" indent="0" eaLnBrk="1" hangingPunct="1">
              <a:lnSpc>
                <a:spcPct val="120000"/>
              </a:lnSpc>
              <a:buNone/>
            </a:pPr>
            <a:r>
              <a:rPr lang="en-US" altLang="zh-CN" sz="2800" dirty="0">
                <a:solidFill>
                  <a:srgbClr val="FF0000"/>
                </a:solidFill>
                <a:latin typeface="宋体" panose="02010600030101010101" pitchFamily="2" charset="-122"/>
              </a:rPr>
              <a:t>   </a:t>
            </a:r>
            <a:r>
              <a:rPr lang="zh-CN" altLang="en-US" sz="2400" b="1" dirty="0">
                <a:latin typeface="宋体" panose="02010600030101010101" pitchFamily="2" charset="-122"/>
              </a:rPr>
              <a:t>其中节点表示随机变量，有向边描述了相关节点或变量之间的某种依赖关系，而且每个节点附一个</a:t>
            </a:r>
            <a:r>
              <a:rPr lang="zh-CN" altLang="en-US" sz="2400" b="1" dirty="0">
                <a:solidFill>
                  <a:srgbClr val="FF3300"/>
                </a:solidFill>
                <a:latin typeface="宋体" panose="02010600030101010101" pitchFamily="2" charset="-122"/>
              </a:rPr>
              <a:t>条件概率表</a:t>
            </a:r>
            <a:r>
              <a:rPr lang="zh-CN" altLang="en-US" sz="2400" b="1" dirty="0">
                <a:latin typeface="宋体" panose="02010600030101010101" pitchFamily="2" charset="-122"/>
              </a:rPr>
              <a:t>，以刻画相关节点对该节点的影响，条件概率可视为节点之间的关系强度。有向边的发出端节点称为</a:t>
            </a:r>
            <a:r>
              <a:rPr lang="zh-CN" altLang="en-US" sz="2400" b="1" dirty="0">
                <a:solidFill>
                  <a:srgbClr val="FF0000"/>
                </a:solidFill>
                <a:latin typeface="宋体" panose="02010600030101010101" pitchFamily="2" charset="-122"/>
              </a:rPr>
              <a:t>因节点</a:t>
            </a:r>
            <a:r>
              <a:rPr lang="zh-CN" altLang="en-US" sz="2400" b="1" dirty="0">
                <a:latin typeface="宋体" panose="02010600030101010101" pitchFamily="2" charset="-122"/>
              </a:rPr>
              <a:t>，指向端节点称为</a:t>
            </a:r>
            <a:r>
              <a:rPr lang="zh-CN" altLang="en-US" sz="2400" b="1" dirty="0">
                <a:solidFill>
                  <a:srgbClr val="FF0000"/>
                </a:solidFill>
                <a:latin typeface="宋体" panose="02010600030101010101" pitchFamily="2" charset="-122"/>
              </a:rPr>
              <a:t>果节点</a:t>
            </a:r>
            <a:r>
              <a:rPr lang="zh-CN" altLang="en-US" sz="2400" b="1" dirty="0">
                <a:latin typeface="宋体" panose="02010600030101010101" pitchFamily="2" charset="-122"/>
              </a:rPr>
              <a:t>。</a:t>
            </a:r>
            <a:endParaRPr lang="en-US" altLang="zh-CN" sz="2400" b="1" dirty="0">
              <a:latin typeface="宋体" panose="02010600030101010101" pitchFamily="2" charset="-122"/>
            </a:endParaRPr>
          </a:p>
          <a:p>
            <a:pPr marL="0" indent="0" eaLnBrk="1" hangingPunct="1">
              <a:lnSpc>
                <a:spcPct val="120000"/>
              </a:lnSpc>
              <a:buNone/>
            </a:pPr>
            <a:r>
              <a:rPr lang="en-US" altLang="zh-CN" sz="2800" b="1" dirty="0">
                <a:latin typeface="宋体" panose="02010600030101010101" pitchFamily="2" charset="-122"/>
              </a:rPr>
              <a:t>   </a:t>
            </a:r>
            <a:r>
              <a:rPr lang="zh-CN" altLang="en-US" sz="2400" b="1" dirty="0">
                <a:latin typeface="宋体" panose="02010600030101010101" pitchFamily="2" charset="-122"/>
              </a:rPr>
              <a:t>贝叶斯网络也称因果网络、</a:t>
            </a:r>
            <a:r>
              <a:rPr lang="zh-CN" altLang="en-US" sz="2400" b="1" dirty="0">
                <a:solidFill>
                  <a:srgbClr val="FF6600"/>
                </a:solidFill>
                <a:latin typeface="宋体" panose="02010600030101010101" pitchFamily="2" charset="-122"/>
              </a:rPr>
              <a:t>信念网络</a:t>
            </a:r>
            <a:r>
              <a:rPr lang="zh-CN" altLang="en-US" sz="2400" b="1" dirty="0">
                <a:latin typeface="宋体" panose="02010600030101010101" pitchFamily="2" charset="-122"/>
              </a:rPr>
              <a:t>、概率网络或知识图等。它是描述事物之间因果关系或依赖关系的一种直观图形，所以</a:t>
            </a:r>
            <a:r>
              <a:rPr lang="zh-CN" altLang="en-US" sz="2400" b="1" dirty="0">
                <a:solidFill>
                  <a:srgbClr val="C00000"/>
                </a:solidFill>
                <a:latin typeface="宋体" panose="02010600030101010101" pitchFamily="2" charset="-122"/>
              </a:rPr>
              <a:t>贝叶斯网络可作为一种不确定性知识的表示方法。</a:t>
            </a:r>
          </a:p>
        </p:txBody>
      </p:sp>
    </p:spTree>
    <p:extLst>
      <p:ext uri="{BB962C8B-B14F-4D97-AF65-F5344CB8AC3E}">
        <p14:creationId xmlns:p14="http://schemas.microsoft.com/office/powerpoint/2010/main" val="409813331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104450" name="内容占位符 7"/>
          <p:cNvPicPr>
            <a:picLocks noGrp="1" noChangeAspect="1"/>
          </p:cNvPicPr>
          <p:nvPr>
            <p:ph idx="1"/>
          </p:nvPr>
        </p:nvPicPr>
        <p:blipFill>
          <a:blip r:embed="rId2"/>
          <a:srcRect/>
          <a:stretch>
            <a:fillRect/>
          </a:stretch>
        </p:blipFill>
        <p:spPr>
          <a:xfrm>
            <a:off x="395288" y="476250"/>
            <a:ext cx="8497887" cy="3995738"/>
          </a:xfrm>
          <a:ln/>
        </p:spPr>
      </p:pic>
      <p:sp>
        <p:nvSpPr>
          <p:cNvPr id="2" name="文本框 1"/>
          <p:cNvSpPr txBox="1"/>
          <p:nvPr/>
        </p:nvSpPr>
        <p:spPr>
          <a:xfrm>
            <a:off x="6516688" y="2133600"/>
            <a:ext cx="1439688" cy="522288"/>
          </a:xfrm>
          <a:prstGeom prst="rect">
            <a:avLst/>
          </a:prstGeom>
          <a:solidFill>
            <a:schemeClr val="accent3"/>
          </a:solidFill>
        </p:spPr>
        <p:txBody>
          <a:bodyPr wrap="square">
            <a:spAutoFit/>
          </a:bodyPr>
          <a:lstStyle/>
          <a:p>
            <a:pPr marR="0" defTabSz="914400">
              <a:buClrTx/>
              <a:buSzTx/>
              <a:buFontTx/>
              <a:buNone/>
              <a:defRPr/>
            </a:pPr>
            <a:endParaRPr kumimoji="0" lang="zh-CN" altLang="en-US" kern="1200" cap="none" spc="0" normalizeH="0" baseline="0" noProof="0" dirty="0">
              <a:latin typeface="Times New Roman" panose="02020603050405020304" pitchFamily="18" charset="0"/>
              <a:ea typeface="宋体" panose="02010600030101010101" pitchFamily="2" charset="-122"/>
              <a:cs typeface="+mn-cs"/>
            </a:endParaRPr>
          </a:p>
        </p:txBody>
      </p:sp>
      <p:sp>
        <p:nvSpPr>
          <p:cNvPr id="104452" name="文本框 2"/>
          <p:cNvSpPr txBox="1"/>
          <p:nvPr/>
        </p:nvSpPr>
        <p:spPr>
          <a:xfrm>
            <a:off x="6660232" y="1124744"/>
            <a:ext cx="576262" cy="307975"/>
          </a:xfrm>
          <a:prstGeom prst="rect">
            <a:avLst/>
          </a:prstGeom>
          <a:solidFill>
            <a:schemeClr val="bg1"/>
          </a:solidFill>
          <a:ln w="9525">
            <a:noFill/>
          </a:ln>
        </p:spPr>
        <p:txBody>
          <a:bodyPr>
            <a:spAutoFit/>
          </a:bodyPr>
          <a:lstStyle>
            <a:lvl1pPr marL="342900" indent="-342900" algn="l" rtl="0" eaLnBrk="0" fontAlgn="base" hangingPunct="0">
              <a:lnSpc>
                <a:spcPct val="130000"/>
              </a:lnSpc>
              <a:spcBef>
                <a:spcPct val="20000"/>
              </a:spcBef>
              <a:spcAft>
                <a:spcPct val="0"/>
              </a:spcAft>
              <a:defRPr sz="2400" kern="1200">
                <a:solidFill>
                  <a:schemeClr val="tx1"/>
                </a:solidFill>
                <a:latin typeface="+mn-lt"/>
                <a:ea typeface="+mn-ea"/>
                <a:cs typeface="+mn-cs"/>
              </a:defRPr>
            </a:lvl1pPr>
            <a:lvl2pPr marL="742950" indent="-285750" algn="l" rtl="0" eaLnBrk="0" fontAlgn="base" hangingPunct="0">
              <a:lnSpc>
                <a:spcPct val="130000"/>
              </a:lnSpc>
              <a:spcBef>
                <a:spcPct val="20000"/>
              </a:spcBef>
              <a:spcAft>
                <a:spcPct val="0"/>
              </a:spcAft>
              <a:buChar char="–"/>
              <a:defRPr sz="2800" kern="1200">
                <a:solidFill>
                  <a:schemeClr val="tx1"/>
                </a:solidFill>
                <a:latin typeface="+mn-lt"/>
                <a:ea typeface="+mn-ea"/>
                <a:cs typeface="+mn-cs"/>
              </a:defRPr>
            </a:lvl2pPr>
            <a:lvl3pPr marL="1143000" indent="-228600" algn="l" rtl="0" eaLnBrk="0" fontAlgn="base" hangingPunct="0">
              <a:lnSpc>
                <a:spcPct val="130000"/>
              </a:lnSpc>
              <a:spcBef>
                <a:spcPct val="20000"/>
              </a:spcBef>
              <a:spcAft>
                <a:spcPct val="0"/>
              </a:spcAft>
              <a:buChar char="•"/>
              <a:defRPr sz="2400" kern="1200">
                <a:solidFill>
                  <a:schemeClr val="tx1"/>
                </a:solidFill>
                <a:latin typeface="+mn-lt"/>
                <a:ea typeface="+mn-ea"/>
                <a:cs typeface="+mn-cs"/>
              </a:defRPr>
            </a:lvl3pPr>
            <a:lvl4pPr marL="1600200" indent="-228600" algn="l" rtl="0" eaLnBrk="0" fontAlgn="base" hangingPunct="0">
              <a:lnSpc>
                <a:spcPct val="130000"/>
              </a:lnSpc>
              <a:spcBef>
                <a:spcPct val="20000"/>
              </a:spcBef>
              <a:spcAft>
                <a:spcPct val="0"/>
              </a:spcAft>
              <a:buChar char="–"/>
              <a:defRPr sz="2000" kern="1200">
                <a:solidFill>
                  <a:schemeClr val="tx1"/>
                </a:solidFill>
                <a:latin typeface="+mn-lt"/>
                <a:ea typeface="+mn-ea"/>
                <a:cs typeface="+mn-cs"/>
              </a:defRPr>
            </a:lvl4pPr>
            <a:lvl5pPr marL="2057400" indent="-228600" algn="l" rtl="0" eaLnBrk="0" fontAlgn="base" hangingPunct="0">
              <a:lnSpc>
                <a:spcPct val="130000"/>
              </a:lnSpc>
              <a:spcBef>
                <a:spcPct val="20000"/>
              </a:spcBef>
              <a:spcAft>
                <a:spcPct val="0"/>
              </a:spcAft>
              <a:buChar char="»"/>
              <a:defRPr sz="2000" kern="1200">
                <a:solidFill>
                  <a:schemeClr val="tx1"/>
                </a:solidFill>
                <a:latin typeface="+mn-lt"/>
                <a:ea typeface="+mn-ea"/>
                <a:cs typeface="+mn-cs"/>
              </a:defRPr>
            </a:lvl5pPr>
          </a:lstStyle>
          <a:p>
            <a:pPr marL="0" lvl="0" indent="0">
              <a:lnSpc>
                <a:spcPct val="100000"/>
              </a:lnSpc>
              <a:spcBef>
                <a:spcPct val="0"/>
              </a:spcBef>
            </a:pPr>
            <a:r>
              <a:rPr lang="zh-CN" altLang="en-US" sz="1400" dirty="0"/>
              <a:t>）</a:t>
            </a:r>
            <a:r>
              <a:rPr lang="en-US" altLang="zh-CN" sz="1400" dirty="0"/>
              <a:t>=1</a:t>
            </a:r>
            <a:endParaRPr lang="zh-CN" altLang="en-US" sz="14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105474" name="图片 4"/>
          <p:cNvPicPr>
            <a:picLocks noChangeAspect="1"/>
          </p:cNvPicPr>
          <p:nvPr/>
        </p:nvPicPr>
        <p:blipFill>
          <a:blip r:embed="rId2"/>
          <a:stretch>
            <a:fillRect/>
          </a:stretch>
        </p:blipFill>
        <p:spPr>
          <a:xfrm>
            <a:off x="895350" y="404813"/>
            <a:ext cx="7092950" cy="3384550"/>
          </a:xfrm>
          <a:prstGeom prst="rect">
            <a:avLst/>
          </a:prstGeom>
          <a:noFill/>
          <a:ln w="9525">
            <a:noFill/>
          </a:ln>
        </p:spPr>
      </p:pic>
      <p:pic>
        <p:nvPicPr>
          <p:cNvPr id="105475" name="图片 6"/>
          <p:cNvPicPr>
            <a:picLocks noChangeAspect="1"/>
          </p:cNvPicPr>
          <p:nvPr/>
        </p:nvPicPr>
        <p:blipFill>
          <a:blip r:embed="rId3"/>
          <a:stretch>
            <a:fillRect/>
          </a:stretch>
        </p:blipFill>
        <p:spPr>
          <a:xfrm>
            <a:off x="900113" y="3605213"/>
            <a:ext cx="7091362" cy="3136900"/>
          </a:xfrm>
          <a:prstGeom prst="rect">
            <a:avLst/>
          </a:prstGeom>
          <a:noFill/>
          <a:ln w="9525">
            <a:noFill/>
          </a:ln>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20834" name="Rectangle 3"/>
          <p:cNvSpPr>
            <a:spLocks noGrp="1"/>
          </p:cNvSpPr>
          <p:nvPr>
            <p:ph type="title"/>
          </p:nvPr>
        </p:nvSpPr>
        <p:spPr>
          <a:xfrm>
            <a:off x="246063" y="914400"/>
            <a:ext cx="7772400" cy="785813"/>
          </a:xfrm>
          <a:ln/>
        </p:spPr>
        <p:txBody>
          <a:bodyPr vert="horz" wrap="square" lIns="91440" tIns="45720" rIns="91440" bIns="45720" anchor="ctr" anchorCtr="0"/>
          <a:lstStyle/>
          <a:p>
            <a:pPr eaLnBrk="1" hangingPunct="1"/>
            <a:r>
              <a:rPr lang="en-US" altLang="zh-CN" sz="3600" dirty="0">
                <a:solidFill>
                  <a:schemeClr val="tx1"/>
                </a:solidFill>
              </a:rPr>
              <a:t>8.3.2.</a:t>
            </a:r>
            <a:r>
              <a:rPr lang="zh-CN" altLang="en-US" sz="3600" dirty="0">
                <a:solidFill>
                  <a:schemeClr val="tx1"/>
                </a:solidFill>
              </a:rPr>
              <a:t>用贝叶斯网络表示不确定性知识</a:t>
            </a:r>
          </a:p>
        </p:txBody>
      </p:sp>
      <p:sp>
        <p:nvSpPr>
          <p:cNvPr id="154628" name="Rectangle 4"/>
          <p:cNvSpPr>
            <a:spLocks noGrp="1" noChangeArrowheads="1"/>
          </p:cNvSpPr>
          <p:nvPr>
            <p:ph idx="1"/>
          </p:nvPr>
        </p:nvSpPr>
        <p:spPr>
          <a:xfrm>
            <a:off x="5303838" y="1498600"/>
            <a:ext cx="3690938" cy="5359400"/>
          </a:xfrm>
        </p:spPr>
        <p:txBody>
          <a:bodyPr vert="horz" wrap="square" lIns="91440" tIns="45720" rIns="91440" bIns="45720" numCol="1" anchor="t" anchorCtr="0" compatLnSpc="1"/>
          <a:lstStyle/>
          <a:p>
            <a:pPr marL="0" marR="0" lvl="0" indent="0" algn="l" defTabSz="914400" rtl="0" eaLnBrk="1" fontAlgn="base" latinLnBrk="0" hangingPunct="1">
              <a:lnSpc>
                <a:spcPct val="100000"/>
              </a:lnSpc>
              <a:spcBef>
                <a:spcPct val="20000"/>
              </a:spcBef>
              <a:spcAft>
                <a:spcPct val="0"/>
              </a:spcAft>
              <a:buClrTx/>
              <a:buSzTx/>
              <a:buFontTx/>
              <a:buNone/>
              <a:defRPr/>
            </a:pPr>
            <a:r>
              <a:rPr kumimoji="0" lang="en-US" altLang="zh-CN" sz="2800" b="0" i="0" u="none" strike="noStrike" kern="1200" cap="none" spc="0" normalizeH="0" baseline="0" noProof="0" dirty="0">
                <a:ln>
                  <a:noFill/>
                </a:ln>
                <a:solidFill>
                  <a:schemeClr val="tx1"/>
                </a:solidFill>
                <a:effectLst/>
                <a:uLnTx/>
                <a:uFillTx/>
                <a:latin typeface="+mj-lt"/>
                <a:ea typeface="+mn-ea"/>
                <a:cs typeface="+mn-cs"/>
              </a:rPr>
              <a:t>P(s)=0.4  P(</a:t>
            </a:r>
            <a:r>
              <a:rPr kumimoji="0" lang="en-US" altLang="zh-CN" sz="2800" b="0" i="0" u="none" strike="noStrike" kern="1200" cap="none" spc="0" normalizeH="0" baseline="0" noProof="0" dirty="0">
                <a:ln>
                  <a:noFill/>
                </a:ln>
                <a:solidFill>
                  <a:schemeClr val="tx1"/>
                </a:solidFill>
                <a:effectLst/>
                <a:uLnTx/>
                <a:uFillTx/>
                <a:latin typeface="+mj-lt"/>
                <a:ea typeface="+mn-ea"/>
                <a:cs typeface="+mn-cs"/>
                <a:sym typeface="Symbol" panose="05050102010706020507" pitchFamily="18" charset="2"/>
              </a:rPr>
              <a:t>s)=0.6</a:t>
            </a:r>
          </a:p>
          <a:p>
            <a:pPr marL="0" marR="0" lvl="0" indent="0" algn="l" defTabSz="914400" rtl="0" eaLnBrk="1" fontAlgn="base" latinLnBrk="0" hangingPunct="1">
              <a:lnSpc>
                <a:spcPct val="100000"/>
              </a:lnSpc>
              <a:spcBef>
                <a:spcPct val="20000"/>
              </a:spcBef>
              <a:spcAft>
                <a:spcPct val="0"/>
              </a:spcAft>
              <a:buClrTx/>
              <a:buSzTx/>
              <a:buFontTx/>
              <a:buNone/>
              <a:defRPr/>
            </a:pPr>
            <a:r>
              <a:rPr kumimoji="0" lang="en-US" altLang="zh-CN" sz="2800" b="0" i="0" u="none" strike="noStrike" kern="1200" cap="none" spc="0" normalizeH="0" baseline="0" noProof="0" dirty="0">
                <a:ln>
                  <a:noFill/>
                </a:ln>
                <a:solidFill>
                  <a:schemeClr val="tx1"/>
                </a:solidFill>
                <a:effectLst/>
                <a:uLnTx/>
                <a:uFillTx/>
                <a:latin typeface="+mj-lt"/>
                <a:ea typeface="+mn-ea"/>
                <a:cs typeface="+mn-cs"/>
                <a:sym typeface="Symbol" panose="05050102010706020507" pitchFamily="18" charset="2"/>
              </a:rPr>
              <a:t>P(c)=0.8  P(c)=0.2</a:t>
            </a:r>
          </a:p>
          <a:p>
            <a:pPr marL="0" marR="0" lvl="0" indent="0" algn="l" defTabSz="914400" rtl="0" eaLnBrk="1" fontAlgn="base" latinLnBrk="0" hangingPunct="1">
              <a:lnSpc>
                <a:spcPct val="100000"/>
              </a:lnSpc>
              <a:spcBef>
                <a:spcPct val="20000"/>
              </a:spcBef>
              <a:spcAft>
                <a:spcPct val="0"/>
              </a:spcAft>
              <a:buClrTx/>
              <a:buSzTx/>
              <a:buFontTx/>
              <a:buNone/>
              <a:defRPr/>
            </a:pPr>
            <a:r>
              <a:rPr kumimoji="0" lang="en-US" altLang="zh-CN" sz="2800" b="0" i="0" u="none" strike="noStrike" kern="1200" cap="none" spc="0" normalizeH="0" baseline="0" noProof="0" dirty="0">
                <a:ln>
                  <a:noFill/>
                </a:ln>
                <a:solidFill>
                  <a:schemeClr val="tx1"/>
                </a:solidFill>
                <a:effectLst/>
                <a:uLnTx/>
                <a:uFillTx/>
                <a:latin typeface="+mj-lt"/>
                <a:ea typeface="+mn-ea"/>
                <a:cs typeface="+mn-cs"/>
                <a:sym typeface="Symbol" panose="05050102010706020507" pitchFamily="18" charset="2"/>
              </a:rPr>
              <a:t>P(T|S,C)=0.35</a:t>
            </a:r>
          </a:p>
          <a:p>
            <a:pPr marL="0" marR="0" lvl="0" indent="0" algn="l" defTabSz="914400" rtl="0" eaLnBrk="1" fontAlgn="base" latinLnBrk="0" hangingPunct="1">
              <a:lnSpc>
                <a:spcPct val="100000"/>
              </a:lnSpc>
              <a:spcBef>
                <a:spcPct val="20000"/>
              </a:spcBef>
              <a:spcAft>
                <a:spcPct val="0"/>
              </a:spcAft>
              <a:buClrTx/>
              <a:buSzTx/>
              <a:buFontTx/>
              <a:buNone/>
              <a:defRPr/>
            </a:pPr>
            <a:r>
              <a:rPr kumimoji="0" lang="en-US" altLang="zh-CN" sz="2800" b="0" i="0" u="none" strike="noStrike" kern="1200" cap="none" spc="0" normalizeH="0" baseline="0" noProof="0" dirty="0">
                <a:ln>
                  <a:noFill/>
                </a:ln>
                <a:solidFill>
                  <a:schemeClr val="tx1"/>
                </a:solidFill>
                <a:effectLst/>
                <a:uLnTx/>
                <a:uFillTx/>
                <a:latin typeface="+mj-lt"/>
                <a:ea typeface="+mn-ea"/>
                <a:cs typeface="+mn-cs"/>
                <a:sym typeface="Symbol" panose="05050102010706020507" pitchFamily="18" charset="2"/>
              </a:rPr>
              <a:t>P(T|S,C)=0.25</a:t>
            </a:r>
          </a:p>
          <a:p>
            <a:pPr marL="0" marR="0" lvl="0" indent="0" algn="l" defTabSz="914400" rtl="0" eaLnBrk="1" fontAlgn="base" latinLnBrk="0" hangingPunct="1">
              <a:lnSpc>
                <a:spcPct val="100000"/>
              </a:lnSpc>
              <a:spcBef>
                <a:spcPct val="20000"/>
              </a:spcBef>
              <a:spcAft>
                <a:spcPct val="0"/>
              </a:spcAft>
              <a:buClrTx/>
              <a:buSzTx/>
              <a:buFontTx/>
              <a:buNone/>
              <a:defRPr/>
            </a:pPr>
            <a:r>
              <a:rPr kumimoji="0" lang="en-US" altLang="zh-CN" sz="2800" b="0" i="0" u="none" strike="noStrike" kern="1200" cap="none" spc="0" normalizeH="0" baseline="0" noProof="0" dirty="0">
                <a:ln>
                  <a:noFill/>
                </a:ln>
                <a:solidFill>
                  <a:schemeClr val="tx1"/>
                </a:solidFill>
                <a:effectLst/>
                <a:uLnTx/>
                <a:uFillTx/>
                <a:latin typeface="+mj-lt"/>
                <a:ea typeface="+mn-ea"/>
                <a:cs typeface="+mn-cs"/>
                <a:sym typeface="Symbol" panose="05050102010706020507" pitchFamily="18" charset="2"/>
              </a:rPr>
              <a:t>P(T|S,C)=0.011</a:t>
            </a:r>
          </a:p>
          <a:p>
            <a:pPr marL="0" marR="0" lvl="0" indent="0" algn="l" defTabSz="914400" rtl="0" eaLnBrk="1" fontAlgn="base" latinLnBrk="0" hangingPunct="1">
              <a:lnSpc>
                <a:spcPct val="100000"/>
              </a:lnSpc>
              <a:spcBef>
                <a:spcPct val="20000"/>
              </a:spcBef>
              <a:spcAft>
                <a:spcPct val="0"/>
              </a:spcAft>
              <a:buClrTx/>
              <a:buSzTx/>
              <a:buFontTx/>
              <a:buNone/>
              <a:defRPr/>
            </a:pPr>
            <a:r>
              <a:rPr kumimoji="0" lang="en-US" altLang="zh-CN" sz="2800" b="0" i="0" u="none" strike="noStrike" kern="1200" cap="none" spc="0" normalizeH="0" baseline="0" noProof="0" dirty="0">
                <a:ln>
                  <a:noFill/>
                </a:ln>
                <a:solidFill>
                  <a:schemeClr val="tx1"/>
                </a:solidFill>
                <a:effectLst/>
                <a:uLnTx/>
                <a:uFillTx/>
                <a:latin typeface="+mj-lt"/>
                <a:ea typeface="+mn-ea"/>
                <a:cs typeface="+mn-cs"/>
                <a:sym typeface="Symbol" panose="05050102010706020507" pitchFamily="18" charset="2"/>
              </a:rPr>
              <a:t>P(T|S,C)=0.002</a:t>
            </a:r>
          </a:p>
          <a:p>
            <a:pPr marL="0" marR="0" lvl="0" indent="0" algn="l" defTabSz="914400" rtl="0" eaLnBrk="1" fontAlgn="base" latinLnBrk="0" hangingPunct="1">
              <a:lnSpc>
                <a:spcPct val="100000"/>
              </a:lnSpc>
              <a:spcBef>
                <a:spcPct val="20000"/>
              </a:spcBef>
              <a:spcAft>
                <a:spcPct val="0"/>
              </a:spcAft>
              <a:buClrTx/>
              <a:buSzTx/>
              <a:buFontTx/>
              <a:buNone/>
              <a:defRPr/>
            </a:pPr>
            <a:r>
              <a:rPr kumimoji="0" lang="en-US" altLang="zh-CN" sz="2800" b="0" i="0" u="none" strike="noStrike" kern="1200" cap="none" spc="0" normalizeH="0" baseline="0" noProof="0" dirty="0">
                <a:ln>
                  <a:noFill/>
                </a:ln>
                <a:solidFill>
                  <a:schemeClr val="tx1"/>
                </a:solidFill>
                <a:effectLst/>
                <a:uLnTx/>
                <a:uFillTx/>
                <a:latin typeface="+mj-lt"/>
                <a:ea typeface="+mn-ea"/>
                <a:cs typeface="+mn-cs"/>
                <a:sym typeface="Symbol" panose="05050102010706020507" pitchFamily="18" charset="2"/>
              </a:rPr>
              <a:t>P(O|T)=0.85</a:t>
            </a:r>
          </a:p>
          <a:p>
            <a:pPr marL="0" marR="0" lvl="0" indent="0" algn="l" defTabSz="914400" rtl="0" eaLnBrk="1" fontAlgn="base" latinLnBrk="0" hangingPunct="1">
              <a:lnSpc>
                <a:spcPct val="100000"/>
              </a:lnSpc>
              <a:spcBef>
                <a:spcPct val="20000"/>
              </a:spcBef>
              <a:spcAft>
                <a:spcPct val="0"/>
              </a:spcAft>
              <a:buClrTx/>
              <a:buSzTx/>
              <a:buFontTx/>
              <a:buNone/>
              <a:defRPr/>
            </a:pPr>
            <a:r>
              <a:rPr kumimoji="0" lang="en-US" altLang="zh-CN" sz="2800" b="0" i="0" u="none" strike="noStrike" kern="1200" cap="none" spc="0" normalizeH="0" baseline="0" noProof="0" dirty="0">
                <a:ln>
                  <a:noFill/>
                </a:ln>
                <a:solidFill>
                  <a:schemeClr val="tx1"/>
                </a:solidFill>
                <a:effectLst/>
                <a:uLnTx/>
                <a:uFillTx/>
                <a:latin typeface="+mj-lt"/>
                <a:ea typeface="+mn-ea"/>
                <a:cs typeface="+mn-cs"/>
                <a:sym typeface="Symbol" panose="05050102010706020507" pitchFamily="18" charset="2"/>
              </a:rPr>
              <a:t>P(O|</a:t>
            </a:r>
            <a:r>
              <a:rPr kumimoji="0" lang="en-US" altLang="zh-CN" sz="2800" b="0" i="0" u="none" strike="noStrike" kern="1200" cap="none" spc="0" normalizeH="0" baseline="0" noProof="0" dirty="0">
                <a:ln>
                  <a:noFill/>
                </a:ln>
                <a:solidFill>
                  <a:schemeClr val="tx1"/>
                </a:solidFill>
                <a:effectLst/>
                <a:uLnTx/>
                <a:uFillTx/>
                <a:latin typeface="+mj-lt"/>
                <a:ea typeface="+mn-ea"/>
                <a:cs typeface="+mn-cs"/>
                <a:sym typeface="Symbol" panose="05050102010706020507" charset="0"/>
              </a:rPr>
              <a:t></a:t>
            </a:r>
            <a:r>
              <a:rPr kumimoji="0" lang="en-US" altLang="zh-CN" sz="2800" b="0" i="0" u="none" strike="noStrike" kern="1200" cap="none" spc="0" normalizeH="0" baseline="0" noProof="0" dirty="0">
                <a:ln>
                  <a:noFill/>
                </a:ln>
                <a:solidFill>
                  <a:schemeClr val="tx1"/>
                </a:solidFill>
                <a:effectLst/>
                <a:uLnTx/>
                <a:uFillTx/>
                <a:latin typeface="+mj-lt"/>
                <a:ea typeface="+mn-ea"/>
                <a:cs typeface="+mn-cs"/>
                <a:sym typeface="Symbol" panose="05050102010706020507" pitchFamily="18" charset="2"/>
              </a:rPr>
              <a:t>  T)=0.15</a:t>
            </a:r>
          </a:p>
          <a:p>
            <a:pPr marL="0" marR="0" lvl="0" indent="0" algn="l" defTabSz="914400" rtl="0" eaLnBrk="1" fontAlgn="base" latinLnBrk="0" hangingPunct="1">
              <a:lnSpc>
                <a:spcPct val="100000"/>
              </a:lnSpc>
              <a:spcBef>
                <a:spcPct val="20000"/>
              </a:spcBef>
              <a:spcAft>
                <a:spcPct val="0"/>
              </a:spcAft>
              <a:buClrTx/>
              <a:buSzTx/>
              <a:buFontTx/>
              <a:buNone/>
              <a:defRPr/>
            </a:pPr>
            <a:r>
              <a:rPr kumimoji="0" lang="en-US" altLang="zh-CN" sz="2800" b="0" i="0" u="none" strike="noStrike" kern="1200" cap="none" spc="0" normalizeH="0" baseline="0" noProof="0" dirty="0">
                <a:ln>
                  <a:noFill/>
                </a:ln>
                <a:solidFill>
                  <a:schemeClr val="tx1"/>
                </a:solidFill>
                <a:effectLst/>
                <a:uLnTx/>
                <a:uFillTx/>
                <a:latin typeface="+mj-lt"/>
                <a:ea typeface="+mn-ea"/>
                <a:cs typeface="+mn-cs"/>
                <a:sym typeface="Symbol" panose="05050102010706020507" pitchFamily="18" charset="2"/>
              </a:rPr>
              <a:t>P(A|T)=0.5</a:t>
            </a:r>
            <a:r>
              <a:rPr kumimoji="0" lang="zh-CN" altLang="en-US" sz="2800" b="0" i="0" u="none" strike="noStrike" kern="1200" cap="none" spc="0" normalizeH="0" baseline="0" noProof="0" dirty="0">
                <a:ln>
                  <a:noFill/>
                </a:ln>
                <a:solidFill>
                  <a:schemeClr val="tx1"/>
                </a:solidFill>
                <a:effectLst/>
                <a:uLnTx/>
                <a:uFillTx/>
                <a:latin typeface="+mj-lt"/>
                <a:ea typeface="+mn-ea"/>
                <a:cs typeface="+mn-cs"/>
                <a:sym typeface="Symbol" panose="05050102010706020507" pitchFamily="18" charset="2"/>
              </a:rPr>
              <a:t>，</a:t>
            </a:r>
          </a:p>
          <a:p>
            <a:pPr marL="0" marR="0" lvl="0" indent="0" algn="l" defTabSz="914400" rtl="0" eaLnBrk="1" fontAlgn="base" latinLnBrk="0" hangingPunct="1">
              <a:lnSpc>
                <a:spcPct val="100000"/>
              </a:lnSpc>
              <a:spcBef>
                <a:spcPct val="20000"/>
              </a:spcBef>
              <a:spcAft>
                <a:spcPct val="0"/>
              </a:spcAft>
              <a:buClrTx/>
              <a:buSzTx/>
              <a:buFontTx/>
              <a:buNone/>
              <a:defRPr/>
            </a:pPr>
            <a:r>
              <a:rPr kumimoji="0" lang="en-US" altLang="zh-CN" sz="2800" b="0" i="0" u="none" strike="noStrike" kern="1200" cap="none" spc="0" normalizeH="0" baseline="0" noProof="0" dirty="0">
                <a:ln>
                  <a:noFill/>
                </a:ln>
                <a:solidFill>
                  <a:schemeClr val="tx1"/>
                </a:solidFill>
                <a:effectLst/>
                <a:uLnTx/>
                <a:uFillTx/>
                <a:latin typeface="+mj-lt"/>
                <a:ea typeface="+mn-ea"/>
                <a:cs typeface="+mn-cs"/>
                <a:sym typeface="Symbol" panose="05050102010706020507" pitchFamily="18" charset="2"/>
              </a:rPr>
              <a:t>P(A|  </a:t>
            </a:r>
            <a:r>
              <a:rPr kumimoji="0" lang="en-US" altLang="zh-CN" sz="2800" b="0" i="0" u="none" strike="noStrike" kern="1200" cap="none" spc="0" normalizeH="0" baseline="0" noProof="0" dirty="0">
                <a:ln>
                  <a:noFill/>
                </a:ln>
                <a:solidFill>
                  <a:schemeClr val="tx1"/>
                </a:solidFill>
                <a:effectLst/>
                <a:uLnTx/>
                <a:uFillTx/>
                <a:latin typeface="+mj-lt"/>
                <a:ea typeface="+mn-ea"/>
                <a:cs typeface="+mn-cs"/>
                <a:sym typeface="Symbol" panose="05050102010706020507" charset="0"/>
              </a:rPr>
              <a:t></a:t>
            </a:r>
            <a:r>
              <a:rPr kumimoji="0" lang="en-US" altLang="zh-CN" sz="2800" b="0" i="0" u="none" strike="noStrike" kern="1200" cap="none" spc="0" normalizeH="0" baseline="0" noProof="0" dirty="0">
                <a:ln>
                  <a:noFill/>
                </a:ln>
                <a:solidFill>
                  <a:schemeClr val="tx1"/>
                </a:solidFill>
                <a:effectLst/>
                <a:uLnTx/>
                <a:uFillTx/>
                <a:latin typeface="+mj-lt"/>
                <a:ea typeface="+mn-ea"/>
                <a:cs typeface="+mn-cs"/>
                <a:sym typeface="Symbol" panose="05050102010706020507" pitchFamily="18" charset="2"/>
              </a:rPr>
              <a:t>T)=0.1</a:t>
            </a:r>
            <a:endParaRPr kumimoji="0" lang="zh-CN" altLang="en-US" sz="2800" b="0" i="0" u="none" strike="noStrike" kern="1200" cap="none" spc="0" normalizeH="0" baseline="0" noProof="0" dirty="0">
              <a:ln>
                <a:noFill/>
              </a:ln>
              <a:solidFill>
                <a:schemeClr val="tx1"/>
              </a:solidFill>
              <a:effectLst/>
              <a:uLnTx/>
              <a:uFillTx/>
              <a:latin typeface="+mj-lt"/>
              <a:ea typeface="+mn-ea"/>
              <a:cs typeface="+mn-cs"/>
              <a:sym typeface="Symbol" panose="05050102010706020507" pitchFamily="18" charset="2"/>
            </a:endParaRPr>
          </a:p>
        </p:txBody>
      </p:sp>
      <p:sp>
        <p:nvSpPr>
          <p:cNvPr id="120836" name="Line 24"/>
          <p:cNvSpPr/>
          <p:nvPr/>
        </p:nvSpPr>
        <p:spPr>
          <a:xfrm>
            <a:off x="3692096" y="2414163"/>
            <a:ext cx="893763" cy="450850"/>
          </a:xfrm>
          <a:prstGeom prst="line">
            <a:avLst/>
          </a:prstGeom>
          <a:ln w="9525" cap="flat" cmpd="sng">
            <a:solidFill>
              <a:schemeClr val="tx1"/>
            </a:solidFill>
            <a:prstDash val="solid"/>
            <a:headEnd type="none" w="med" len="med"/>
            <a:tailEnd type="triangle" w="med" len="med"/>
          </a:ln>
        </p:spPr>
      </p:sp>
      <p:grpSp>
        <p:nvGrpSpPr>
          <p:cNvPr id="120837" name="组合 1"/>
          <p:cNvGrpSpPr/>
          <p:nvPr/>
        </p:nvGrpSpPr>
        <p:grpSpPr>
          <a:xfrm>
            <a:off x="95250" y="2027238"/>
            <a:ext cx="5208588" cy="3167062"/>
            <a:chOff x="900113" y="2565400"/>
            <a:chExt cx="5424487" cy="3311525"/>
          </a:xfrm>
        </p:grpSpPr>
        <p:sp>
          <p:nvSpPr>
            <p:cNvPr id="120838" name="Oval 2"/>
            <p:cNvSpPr/>
            <p:nvPr/>
          </p:nvSpPr>
          <p:spPr>
            <a:xfrm>
              <a:off x="2700338" y="3860800"/>
              <a:ext cx="863600" cy="576263"/>
            </a:xfrm>
            <a:prstGeom prst="ellipse">
              <a:avLst/>
            </a:prstGeom>
            <a:solidFill>
              <a:schemeClr val="accent1"/>
            </a:solidFill>
            <a:ln w="9525" cap="flat" cmpd="sng">
              <a:solidFill>
                <a:schemeClr val="tx1"/>
              </a:solidFill>
              <a:prstDash val="solid"/>
              <a:headEnd type="none" w="med" len="med"/>
              <a:tailEnd type="none" w="med" len="med"/>
            </a:ln>
          </p:spPr>
          <p:txBody>
            <a:bodyPr anchor="ctr" anchorCtr="0"/>
            <a:lstStyle>
              <a:lvl1pPr marL="342900" indent="-342900" algn="l" rtl="0" eaLnBrk="0" fontAlgn="base" hangingPunct="0">
                <a:spcBef>
                  <a:spcPct val="20000"/>
                </a:spcBef>
                <a:spcAft>
                  <a:spcPct val="0"/>
                </a:spcAft>
                <a:buBlip>
                  <a:blip r:embed="rId2"/>
                </a:buBlip>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SzPct val="75000"/>
                <a:buBlip>
                  <a:blip r:embed="rId3"/>
                </a:buBlip>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Char char="–"/>
                <a:defRPr sz="2000" kern="1200">
                  <a:solidFill>
                    <a:schemeClr val="tx1"/>
                  </a:solidFill>
                  <a:latin typeface="+mn-lt"/>
                  <a:ea typeface="+mn-ea"/>
                  <a:cs typeface="+mn-cs"/>
                </a:defRPr>
              </a:lvl5pPr>
            </a:lstStyle>
            <a:p>
              <a:pPr marL="0" lvl="0" indent="0" eaLnBrk="1" hangingPunct="1">
                <a:spcBef>
                  <a:spcPct val="0"/>
                </a:spcBef>
                <a:buNone/>
              </a:pPr>
              <a:endParaRPr lang="zh-CN" altLang="en-US" sz="2800" dirty="0">
                <a:latin typeface="Times New Roman" panose="02020603050405020304" pitchFamily="18" charset="0"/>
              </a:endParaRPr>
            </a:p>
          </p:txBody>
        </p:sp>
        <p:sp>
          <p:nvSpPr>
            <p:cNvPr id="120839" name="Oval 5"/>
            <p:cNvSpPr/>
            <p:nvPr/>
          </p:nvSpPr>
          <p:spPr>
            <a:xfrm>
              <a:off x="2051050" y="2565400"/>
              <a:ext cx="865188" cy="576263"/>
            </a:xfrm>
            <a:prstGeom prst="ellipse">
              <a:avLst/>
            </a:prstGeom>
            <a:solidFill>
              <a:schemeClr val="accent1"/>
            </a:solidFill>
            <a:ln w="9525" cap="flat" cmpd="sng">
              <a:solidFill>
                <a:schemeClr val="tx1"/>
              </a:solidFill>
              <a:prstDash val="solid"/>
              <a:headEnd type="none" w="med" len="med"/>
              <a:tailEnd type="none" w="med" len="med"/>
            </a:ln>
          </p:spPr>
          <p:txBody>
            <a:bodyPr anchor="ctr" anchorCtr="0"/>
            <a:lstStyle>
              <a:lvl1pPr marL="342900" indent="-342900" algn="l" rtl="0" eaLnBrk="0" fontAlgn="base" hangingPunct="0">
                <a:spcBef>
                  <a:spcPct val="20000"/>
                </a:spcBef>
                <a:spcAft>
                  <a:spcPct val="0"/>
                </a:spcAft>
                <a:buBlip>
                  <a:blip r:embed="rId2"/>
                </a:buBlip>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SzPct val="75000"/>
                <a:buBlip>
                  <a:blip r:embed="rId3"/>
                </a:buBlip>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Char char="–"/>
                <a:defRPr sz="2000" kern="1200">
                  <a:solidFill>
                    <a:schemeClr val="tx1"/>
                  </a:solidFill>
                  <a:latin typeface="+mn-lt"/>
                  <a:ea typeface="+mn-ea"/>
                  <a:cs typeface="+mn-cs"/>
                </a:defRPr>
              </a:lvl5pPr>
            </a:lstStyle>
            <a:p>
              <a:pPr marL="0" lvl="0" indent="0" eaLnBrk="1" hangingPunct="1">
                <a:spcBef>
                  <a:spcPct val="0"/>
                </a:spcBef>
                <a:buNone/>
              </a:pPr>
              <a:endParaRPr lang="zh-CN" altLang="en-US" sz="2800" dirty="0">
                <a:latin typeface="Times New Roman" panose="02020603050405020304" pitchFamily="18" charset="0"/>
              </a:endParaRPr>
            </a:p>
          </p:txBody>
        </p:sp>
        <p:sp>
          <p:nvSpPr>
            <p:cNvPr id="120840" name="Text Box 6"/>
            <p:cNvSpPr txBox="1"/>
            <p:nvPr/>
          </p:nvSpPr>
          <p:spPr>
            <a:xfrm>
              <a:off x="2124075" y="2636838"/>
              <a:ext cx="815975" cy="366712"/>
            </a:xfrm>
            <a:prstGeom prst="rect">
              <a:avLst/>
            </a:prstGeom>
            <a:noFill/>
            <a:ln w="9525">
              <a:noFill/>
            </a:ln>
          </p:spPr>
          <p:txBody>
            <a:bodyPr>
              <a:spAutoFit/>
            </a:bodyPr>
            <a:lstStyle>
              <a:lvl1pPr marL="342900" indent="-342900" algn="l" rtl="0" eaLnBrk="0" fontAlgn="base" hangingPunct="0">
                <a:spcBef>
                  <a:spcPct val="20000"/>
                </a:spcBef>
                <a:spcAft>
                  <a:spcPct val="0"/>
                </a:spcAft>
                <a:buBlip>
                  <a:blip r:embed="rId2"/>
                </a:buBlip>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SzPct val="75000"/>
                <a:buBlip>
                  <a:blip r:embed="rId3"/>
                </a:buBlip>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Char char="–"/>
                <a:defRPr sz="2000" kern="1200">
                  <a:solidFill>
                    <a:schemeClr val="tx1"/>
                  </a:solidFill>
                  <a:latin typeface="+mn-lt"/>
                  <a:ea typeface="+mn-ea"/>
                  <a:cs typeface="+mn-cs"/>
                </a:defRPr>
              </a:lvl5pPr>
            </a:lstStyle>
            <a:p>
              <a:pPr marL="0" lvl="0" indent="0" eaLnBrk="1" hangingPunct="1">
                <a:spcBef>
                  <a:spcPct val="0"/>
                </a:spcBef>
                <a:buNone/>
              </a:pPr>
              <a:r>
                <a:rPr lang="zh-CN" altLang="en-US" sz="1800" dirty="0">
                  <a:latin typeface="Times New Roman" panose="02020603050405020304" pitchFamily="18" charset="0"/>
                </a:rPr>
                <a:t>吸烟</a:t>
              </a:r>
              <a:r>
                <a:rPr lang="en-US" altLang="zh-CN" sz="1800" dirty="0">
                  <a:latin typeface="Times New Roman" panose="02020603050405020304" pitchFamily="18" charset="0"/>
                </a:rPr>
                <a:t>S</a:t>
              </a:r>
              <a:endParaRPr lang="zh-CN" altLang="zh-CN" sz="1800" dirty="0">
                <a:latin typeface="Times New Roman" panose="02020603050405020304" pitchFamily="18" charset="0"/>
              </a:endParaRPr>
            </a:p>
          </p:txBody>
        </p:sp>
        <p:sp>
          <p:nvSpPr>
            <p:cNvPr id="120841" name="Oval 7"/>
            <p:cNvSpPr/>
            <p:nvPr/>
          </p:nvSpPr>
          <p:spPr>
            <a:xfrm>
              <a:off x="3851275" y="2565400"/>
              <a:ext cx="863600" cy="576263"/>
            </a:xfrm>
            <a:prstGeom prst="ellipse">
              <a:avLst/>
            </a:prstGeom>
            <a:solidFill>
              <a:schemeClr val="accent1"/>
            </a:solidFill>
            <a:ln w="9525" cap="flat" cmpd="sng">
              <a:solidFill>
                <a:schemeClr val="tx1"/>
              </a:solidFill>
              <a:prstDash val="solid"/>
              <a:headEnd type="none" w="med" len="med"/>
              <a:tailEnd type="none" w="med" len="med"/>
            </a:ln>
          </p:spPr>
          <p:txBody>
            <a:bodyPr anchor="ctr" anchorCtr="0"/>
            <a:lstStyle>
              <a:lvl1pPr marL="342900" indent="-342900" algn="l" rtl="0" eaLnBrk="0" fontAlgn="base" hangingPunct="0">
                <a:spcBef>
                  <a:spcPct val="20000"/>
                </a:spcBef>
                <a:spcAft>
                  <a:spcPct val="0"/>
                </a:spcAft>
                <a:buBlip>
                  <a:blip r:embed="rId2"/>
                </a:buBlip>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SzPct val="75000"/>
                <a:buBlip>
                  <a:blip r:embed="rId3"/>
                </a:buBlip>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Char char="–"/>
                <a:defRPr sz="2000" kern="1200">
                  <a:solidFill>
                    <a:schemeClr val="tx1"/>
                  </a:solidFill>
                  <a:latin typeface="+mn-lt"/>
                  <a:ea typeface="+mn-ea"/>
                  <a:cs typeface="+mn-cs"/>
                </a:defRPr>
              </a:lvl5pPr>
            </a:lstStyle>
            <a:p>
              <a:pPr marL="0" lvl="0" indent="0" eaLnBrk="1" hangingPunct="1">
                <a:spcBef>
                  <a:spcPct val="0"/>
                </a:spcBef>
                <a:buNone/>
              </a:pPr>
              <a:endParaRPr lang="zh-CN" altLang="en-US" sz="2800" dirty="0">
                <a:latin typeface="Times New Roman" panose="02020603050405020304" pitchFamily="18" charset="0"/>
              </a:endParaRPr>
            </a:p>
          </p:txBody>
        </p:sp>
        <p:sp>
          <p:nvSpPr>
            <p:cNvPr id="120842" name="Text Box 8"/>
            <p:cNvSpPr txBox="1"/>
            <p:nvPr/>
          </p:nvSpPr>
          <p:spPr>
            <a:xfrm>
              <a:off x="3924300" y="2708275"/>
              <a:ext cx="863600" cy="369332"/>
            </a:xfrm>
            <a:prstGeom prst="rect">
              <a:avLst/>
            </a:prstGeom>
            <a:noFill/>
            <a:ln w="9525">
              <a:noFill/>
            </a:ln>
          </p:spPr>
          <p:txBody>
            <a:bodyPr>
              <a:spAutoFit/>
            </a:bodyPr>
            <a:lstStyle>
              <a:lvl1pPr marL="342900" indent="-342900" algn="l" rtl="0" eaLnBrk="0" fontAlgn="base" hangingPunct="0">
                <a:spcBef>
                  <a:spcPct val="20000"/>
                </a:spcBef>
                <a:spcAft>
                  <a:spcPct val="0"/>
                </a:spcAft>
                <a:buBlip>
                  <a:blip r:embed="rId2"/>
                </a:buBlip>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SzPct val="75000"/>
                <a:buBlip>
                  <a:blip r:embed="rId3"/>
                </a:buBlip>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Char char="–"/>
                <a:defRPr sz="2000" kern="1200">
                  <a:solidFill>
                    <a:schemeClr val="tx1"/>
                  </a:solidFill>
                  <a:latin typeface="+mn-lt"/>
                  <a:ea typeface="+mn-ea"/>
                  <a:cs typeface="+mn-cs"/>
                </a:defRPr>
              </a:lvl5pPr>
            </a:lstStyle>
            <a:p>
              <a:pPr marL="0" lvl="0" indent="0" eaLnBrk="1" hangingPunct="1">
                <a:spcBef>
                  <a:spcPct val="0"/>
                </a:spcBef>
                <a:buNone/>
              </a:pPr>
              <a:r>
                <a:rPr lang="zh-CN" altLang="en-US" sz="1800" dirty="0">
                  <a:latin typeface="Times New Roman" panose="02020603050405020304" pitchFamily="18" charset="0"/>
                </a:rPr>
                <a:t>感冒</a:t>
              </a:r>
              <a:r>
                <a:rPr lang="en-US" altLang="zh-CN" sz="1800" dirty="0">
                  <a:latin typeface="Times New Roman" panose="02020603050405020304" pitchFamily="18" charset="0"/>
                </a:rPr>
                <a:t>C</a:t>
              </a:r>
              <a:endParaRPr lang="zh-CN" altLang="zh-CN" sz="1800" dirty="0">
                <a:latin typeface="Times New Roman" panose="02020603050405020304" pitchFamily="18" charset="0"/>
              </a:endParaRPr>
            </a:p>
          </p:txBody>
        </p:sp>
        <p:sp>
          <p:nvSpPr>
            <p:cNvPr id="120843" name="Text Box 9"/>
            <p:cNvSpPr txBox="1"/>
            <p:nvPr/>
          </p:nvSpPr>
          <p:spPr>
            <a:xfrm>
              <a:off x="2627784" y="4005064"/>
              <a:ext cx="1079500" cy="366712"/>
            </a:xfrm>
            <a:prstGeom prst="rect">
              <a:avLst/>
            </a:prstGeom>
            <a:noFill/>
            <a:ln w="9525">
              <a:noFill/>
            </a:ln>
          </p:spPr>
          <p:txBody>
            <a:bodyPr>
              <a:spAutoFit/>
            </a:bodyPr>
            <a:lstStyle>
              <a:lvl1pPr marL="342900" indent="-342900" algn="l" rtl="0" eaLnBrk="0" fontAlgn="base" hangingPunct="0">
                <a:spcBef>
                  <a:spcPct val="20000"/>
                </a:spcBef>
                <a:spcAft>
                  <a:spcPct val="0"/>
                </a:spcAft>
                <a:buBlip>
                  <a:blip r:embed="rId2"/>
                </a:buBlip>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SzPct val="75000"/>
                <a:buBlip>
                  <a:blip r:embed="rId3"/>
                </a:buBlip>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Char char="–"/>
                <a:defRPr sz="2000" kern="1200">
                  <a:solidFill>
                    <a:schemeClr val="tx1"/>
                  </a:solidFill>
                  <a:latin typeface="+mn-lt"/>
                  <a:ea typeface="+mn-ea"/>
                  <a:cs typeface="+mn-cs"/>
                </a:defRPr>
              </a:lvl5pPr>
            </a:lstStyle>
            <a:p>
              <a:pPr marL="0" lvl="0" indent="0" eaLnBrk="1" hangingPunct="1">
                <a:spcBef>
                  <a:spcPct val="0"/>
                </a:spcBef>
                <a:buNone/>
              </a:pPr>
              <a:r>
                <a:rPr lang="zh-CN" altLang="en-US" sz="1800" dirty="0">
                  <a:latin typeface="Times New Roman" panose="02020603050405020304" pitchFamily="18" charset="0"/>
                </a:rPr>
                <a:t>气管炎</a:t>
              </a:r>
              <a:r>
                <a:rPr lang="en-US" altLang="zh-CN" sz="1800" dirty="0">
                  <a:latin typeface="Times New Roman" panose="02020603050405020304" pitchFamily="18" charset="0"/>
                </a:rPr>
                <a:t>T</a:t>
              </a:r>
              <a:endParaRPr lang="zh-CN" altLang="zh-CN" sz="1800" dirty="0">
                <a:latin typeface="Times New Roman" panose="02020603050405020304" pitchFamily="18" charset="0"/>
              </a:endParaRPr>
            </a:p>
          </p:txBody>
        </p:sp>
        <p:sp>
          <p:nvSpPr>
            <p:cNvPr id="120844" name="Oval 10"/>
            <p:cNvSpPr/>
            <p:nvPr/>
          </p:nvSpPr>
          <p:spPr>
            <a:xfrm>
              <a:off x="900113" y="3933825"/>
              <a:ext cx="863600" cy="576263"/>
            </a:xfrm>
            <a:prstGeom prst="ellipse">
              <a:avLst/>
            </a:prstGeom>
            <a:solidFill>
              <a:schemeClr val="accent1"/>
            </a:solidFill>
            <a:ln w="9525" cap="flat" cmpd="sng">
              <a:solidFill>
                <a:schemeClr val="tx1"/>
              </a:solidFill>
              <a:prstDash val="solid"/>
              <a:headEnd type="none" w="med" len="med"/>
              <a:tailEnd type="none" w="med" len="med"/>
            </a:ln>
          </p:spPr>
          <p:txBody>
            <a:bodyPr anchor="ctr" anchorCtr="0"/>
            <a:lstStyle>
              <a:lvl1pPr marL="342900" indent="-342900" algn="l" rtl="0" eaLnBrk="0" fontAlgn="base" hangingPunct="0">
                <a:spcBef>
                  <a:spcPct val="20000"/>
                </a:spcBef>
                <a:spcAft>
                  <a:spcPct val="0"/>
                </a:spcAft>
                <a:buBlip>
                  <a:blip r:embed="rId2"/>
                </a:buBlip>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SzPct val="75000"/>
                <a:buBlip>
                  <a:blip r:embed="rId3"/>
                </a:buBlip>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Char char="–"/>
                <a:defRPr sz="2000" kern="1200">
                  <a:solidFill>
                    <a:schemeClr val="tx1"/>
                  </a:solidFill>
                  <a:latin typeface="+mn-lt"/>
                  <a:ea typeface="+mn-ea"/>
                  <a:cs typeface="+mn-cs"/>
                </a:defRPr>
              </a:lvl5pPr>
            </a:lstStyle>
            <a:p>
              <a:pPr marL="0" lvl="0" indent="0" eaLnBrk="1" hangingPunct="1">
                <a:spcBef>
                  <a:spcPct val="0"/>
                </a:spcBef>
                <a:buNone/>
              </a:pPr>
              <a:endParaRPr lang="zh-CN" altLang="en-US" sz="2800" dirty="0">
                <a:latin typeface="Times New Roman" panose="02020603050405020304" pitchFamily="18" charset="0"/>
              </a:endParaRPr>
            </a:p>
          </p:txBody>
        </p:sp>
        <p:sp>
          <p:nvSpPr>
            <p:cNvPr id="120845" name="Oval 11"/>
            <p:cNvSpPr/>
            <p:nvPr/>
          </p:nvSpPr>
          <p:spPr>
            <a:xfrm>
              <a:off x="5435600" y="3357563"/>
              <a:ext cx="865188" cy="576262"/>
            </a:xfrm>
            <a:prstGeom prst="ellipse">
              <a:avLst/>
            </a:prstGeom>
            <a:solidFill>
              <a:schemeClr val="accent1"/>
            </a:solidFill>
            <a:ln w="9525" cap="flat" cmpd="sng">
              <a:solidFill>
                <a:schemeClr val="tx1"/>
              </a:solidFill>
              <a:prstDash val="solid"/>
              <a:headEnd type="none" w="med" len="med"/>
              <a:tailEnd type="none" w="med" len="med"/>
            </a:ln>
          </p:spPr>
          <p:txBody>
            <a:bodyPr anchor="ctr" anchorCtr="0"/>
            <a:lstStyle>
              <a:lvl1pPr marL="342900" indent="-342900" algn="l" rtl="0" eaLnBrk="0" fontAlgn="base" hangingPunct="0">
                <a:spcBef>
                  <a:spcPct val="20000"/>
                </a:spcBef>
                <a:spcAft>
                  <a:spcPct val="0"/>
                </a:spcAft>
                <a:buBlip>
                  <a:blip r:embed="rId2"/>
                </a:buBlip>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SzPct val="75000"/>
                <a:buBlip>
                  <a:blip r:embed="rId3"/>
                </a:buBlip>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Char char="–"/>
                <a:defRPr sz="2000" kern="1200">
                  <a:solidFill>
                    <a:schemeClr val="tx1"/>
                  </a:solidFill>
                  <a:latin typeface="+mn-lt"/>
                  <a:ea typeface="+mn-ea"/>
                  <a:cs typeface="+mn-cs"/>
                </a:defRPr>
              </a:lvl5pPr>
            </a:lstStyle>
            <a:p>
              <a:pPr marL="0" lvl="0" indent="0" eaLnBrk="1" hangingPunct="1">
                <a:spcBef>
                  <a:spcPct val="0"/>
                </a:spcBef>
                <a:buNone/>
              </a:pPr>
              <a:endParaRPr lang="zh-CN" altLang="en-US" sz="2800" dirty="0">
                <a:latin typeface="Times New Roman" panose="02020603050405020304" pitchFamily="18" charset="0"/>
              </a:endParaRPr>
            </a:p>
          </p:txBody>
        </p:sp>
        <p:sp>
          <p:nvSpPr>
            <p:cNvPr id="120846" name="Text Box 12"/>
            <p:cNvSpPr txBox="1"/>
            <p:nvPr/>
          </p:nvSpPr>
          <p:spPr>
            <a:xfrm>
              <a:off x="971550" y="4076700"/>
              <a:ext cx="795338" cy="365125"/>
            </a:xfrm>
            <a:prstGeom prst="rect">
              <a:avLst/>
            </a:prstGeom>
            <a:noFill/>
            <a:ln w="9525">
              <a:noFill/>
            </a:ln>
          </p:spPr>
          <p:txBody>
            <a:bodyPr>
              <a:spAutoFit/>
            </a:bodyPr>
            <a:lstStyle>
              <a:lvl1pPr marL="342900" indent="-342900" algn="l" rtl="0" eaLnBrk="0" fontAlgn="base" hangingPunct="0">
                <a:spcBef>
                  <a:spcPct val="20000"/>
                </a:spcBef>
                <a:spcAft>
                  <a:spcPct val="0"/>
                </a:spcAft>
                <a:buBlip>
                  <a:blip r:embed="rId2"/>
                </a:buBlip>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SzPct val="75000"/>
                <a:buBlip>
                  <a:blip r:embed="rId3"/>
                </a:buBlip>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Char char="–"/>
                <a:defRPr sz="2000" kern="1200">
                  <a:solidFill>
                    <a:schemeClr val="tx1"/>
                  </a:solidFill>
                  <a:latin typeface="+mn-lt"/>
                  <a:ea typeface="+mn-ea"/>
                  <a:cs typeface="+mn-cs"/>
                </a:defRPr>
              </a:lvl5pPr>
            </a:lstStyle>
            <a:p>
              <a:pPr marL="0" lvl="0" indent="0" eaLnBrk="1" hangingPunct="1">
                <a:spcBef>
                  <a:spcPct val="0"/>
                </a:spcBef>
                <a:buNone/>
              </a:pPr>
              <a:r>
                <a:rPr lang="zh-CN" altLang="en-US" sz="1800" dirty="0">
                  <a:latin typeface="Times New Roman" panose="02020603050405020304" pitchFamily="18" charset="0"/>
                </a:rPr>
                <a:t>肺炎</a:t>
              </a:r>
            </a:p>
          </p:txBody>
        </p:sp>
        <p:sp>
          <p:nvSpPr>
            <p:cNvPr id="120847" name="Oval 13"/>
            <p:cNvSpPr/>
            <p:nvPr/>
          </p:nvSpPr>
          <p:spPr>
            <a:xfrm>
              <a:off x="4067175" y="3860800"/>
              <a:ext cx="865188" cy="576263"/>
            </a:xfrm>
            <a:prstGeom prst="ellipse">
              <a:avLst/>
            </a:prstGeom>
            <a:solidFill>
              <a:schemeClr val="accent1"/>
            </a:solidFill>
            <a:ln w="9525" cap="flat" cmpd="sng">
              <a:solidFill>
                <a:schemeClr val="tx1"/>
              </a:solidFill>
              <a:prstDash val="solid"/>
              <a:headEnd type="none" w="med" len="med"/>
              <a:tailEnd type="none" w="med" len="med"/>
            </a:ln>
          </p:spPr>
          <p:txBody>
            <a:bodyPr anchor="ctr" anchorCtr="0"/>
            <a:lstStyle>
              <a:lvl1pPr marL="342900" indent="-342900" algn="l" rtl="0" eaLnBrk="0" fontAlgn="base" hangingPunct="0">
                <a:spcBef>
                  <a:spcPct val="20000"/>
                </a:spcBef>
                <a:spcAft>
                  <a:spcPct val="0"/>
                </a:spcAft>
                <a:buBlip>
                  <a:blip r:embed="rId2"/>
                </a:buBlip>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SzPct val="75000"/>
                <a:buBlip>
                  <a:blip r:embed="rId3"/>
                </a:buBlip>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Char char="–"/>
                <a:defRPr sz="2000" kern="1200">
                  <a:solidFill>
                    <a:schemeClr val="tx1"/>
                  </a:solidFill>
                  <a:latin typeface="+mn-lt"/>
                  <a:ea typeface="+mn-ea"/>
                  <a:cs typeface="+mn-cs"/>
                </a:defRPr>
              </a:lvl5pPr>
            </a:lstStyle>
            <a:p>
              <a:pPr marL="0" lvl="0" indent="0" eaLnBrk="1" hangingPunct="1">
                <a:spcBef>
                  <a:spcPct val="0"/>
                </a:spcBef>
                <a:buNone/>
              </a:pPr>
              <a:endParaRPr lang="zh-CN" altLang="en-US" sz="2800" dirty="0">
                <a:latin typeface="Times New Roman" panose="02020603050405020304" pitchFamily="18" charset="0"/>
              </a:endParaRPr>
            </a:p>
          </p:txBody>
        </p:sp>
        <p:sp>
          <p:nvSpPr>
            <p:cNvPr id="120848" name="Oval 14"/>
            <p:cNvSpPr/>
            <p:nvPr/>
          </p:nvSpPr>
          <p:spPr>
            <a:xfrm>
              <a:off x="3203575" y="5302250"/>
              <a:ext cx="865188" cy="574675"/>
            </a:xfrm>
            <a:prstGeom prst="ellipse">
              <a:avLst/>
            </a:prstGeom>
            <a:solidFill>
              <a:schemeClr val="accent1"/>
            </a:solidFill>
            <a:ln w="9525" cap="flat" cmpd="sng">
              <a:solidFill>
                <a:schemeClr val="tx1"/>
              </a:solidFill>
              <a:prstDash val="solid"/>
              <a:headEnd type="none" w="med" len="med"/>
              <a:tailEnd type="none" w="med" len="med"/>
            </a:ln>
          </p:spPr>
          <p:txBody>
            <a:bodyPr anchor="ctr" anchorCtr="0"/>
            <a:lstStyle>
              <a:lvl1pPr marL="342900" indent="-342900" algn="l" rtl="0" eaLnBrk="0" fontAlgn="base" hangingPunct="0">
                <a:spcBef>
                  <a:spcPct val="20000"/>
                </a:spcBef>
                <a:spcAft>
                  <a:spcPct val="0"/>
                </a:spcAft>
                <a:buBlip>
                  <a:blip r:embed="rId2"/>
                </a:buBlip>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SzPct val="75000"/>
                <a:buBlip>
                  <a:blip r:embed="rId3"/>
                </a:buBlip>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Char char="–"/>
                <a:defRPr sz="2000" kern="1200">
                  <a:solidFill>
                    <a:schemeClr val="tx1"/>
                  </a:solidFill>
                  <a:latin typeface="+mn-lt"/>
                  <a:ea typeface="+mn-ea"/>
                  <a:cs typeface="+mn-cs"/>
                </a:defRPr>
              </a:lvl5pPr>
            </a:lstStyle>
            <a:p>
              <a:pPr marL="0" lvl="0" indent="0" eaLnBrk="1" hangingPunct="1">
                <a:spcBef>
                  <a:spcPct val="0"/>
                </a:spcBef>
                <a:buNone/>
              </a:pPr>
              <a:endParaRPr lang="zh-CN" altLang="en-US" sz="2800" dirty="0">
                <a:latin typeface="Times New Roman" panose="02020603050405020304" pitchFamily="18" charset="0"/>
              </a:endParaRPr>
            </a:p>
          </p:txBody>
        </p:sp>
        <p:sp>
          <p:nvSpPr>
            <p:cNvPr id="120849" name="Oval 15"/>
            <p:cNvSpPr/>
            <p:nvPr/>
          </p:nvSpPr>
          <p:spPr>
            <a:xfrm>
              <a:off x="1835150" y="5302250"/>
              <a:ext cx="865188" cy="574675"/>
            </a:xfrm>
            <a:prstGeom prst="ellipse">
              <a:avLst/>
            </a:prstGeom>
            <a:solidFill>
              <a:schemeClr val="accent1"/>
            </a:solidFill>
            <a:ln w="9525" cap="flat" cmpd="sng">
              <a:solidFill>
                <a:schemeClr val="tx1"/>
              </a:solidFill>
              <a:prstDash val="solid"/>
              <a:headEnd type="none" w="med" len="med"/>
              <a:tailEnd type="none" w="med" len="med"/>
            </a:ln>
          </p:spPr>
          <p:txBody>
            <a:bodyPr anchor="ctr" anchorCtr="0"/>
            <a:lstStyle>
              <a:lvl1pPr marL="342900" indent="-342900" algn="l" rtl="0" eaLnBrk="0" fontAlgn="base" hangingPunct="0">
                <a:spcBef>
                  <a:spcPct val="20000"/>
                </a:spcBef>
                <a:spcAft>
                  <a:spcPct val="0"/>
                </a:spcAft>
                <a:buBlip>
                  <a:blip r:embed="rId2"/>
                </a:buBlip>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SzPct val="75000"/>
                <a:buBlip>
                  <a:blip r:embed="rId3"/>
                </a:buBlip>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Char char="–"/>
                <a:defRPr sz="2000" kern="1200">
                  <a:solidFill>
                    <a:schemeClr val="tx1"/>
                  </a:solidFill>
                  <a:latin typeface="+mn-lt"/>
                  <a:ea typeface="+mn-ea"/>
                  <a:cs typeface="+mn-cs"/>
                </a:defRPr>
              </a:lvl5pPr>
            </a:lstStyle>
            <a:p>
              <a:pPr marL="0" lvl="0" indent="0" eaLnBrk="1" hangingPunct="1">
                <a:spcBef>
                  <a:spcPct val="0"/>
                </a:spcBef>
                <a:buNone/>
              </a:pPr>
              <a:endParaRPr lang="zh-CN" altLang="en-US" sz="2800" dirty="0">
                <a:latin typeface="Times New Roman" panose="02020603050405020304" pitchFamily="18" charset="0"/>
              </a:endParaRPr>
            </a:p>
          </p:txBody>
        </p:sp>
        <p:sp>
          <p:nvSpPr>
            <p:cNvPr id="120850" name="Text Box 16"/>
            <p:cNvSpPr txBox="1"/>
            <p:nvPr/>
          </p:nvSpPr>
          <p:spPr>
            <a:xfrm>
              <a:off x="4211638" y="3933825"/>
              <a:ext cx="815975" cy="365125"/>
            </a:xfrm>
            <a:prstGeom prst="rect">
              <a:avLst/>
            </a:prstGeom>
            <a:noFill/>
            <a:ln w="9525">
              <a:noFill/>
            </a:ln>
          </p:spPr>
          <p:txBody>
            <a:bodyPr>
              <a:spAutoFit/>
            </a:bodyPr>
            <a:lstStyle>
              <a:lvl1pPr marL="342900" indent="-342900" algn="l" rtl="0" eaLnBrk="0" fontAlgn="base" hangingPunct="0">
                <a:spcBef>
                  <a:spcPct val="20000"/>
                </a:spcBef>
                <a:spcAft>
                  <a:spcPct val="0"/>
                </a:spcAft>
                <a:buBlip>
                  <a:blip r:embed="rId2"/>
                </a:buBlip>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SzPct val="75000"/>
                <a:buBlip>
                  <a:blip r:embed="rId3"/>
                </a:buBlip>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Char char="–"/>
                <a:defRPr sz="2000" kern="1200">
                  <a:solidFill>
                    <a:schemeClr val="tx1"/>
                  </a:solidFill>
                  <a:latin typeface="+mn-lt"/>
                  <a:ea typeface="+mn-ea"/>
                  <a:cs typeface="+mn-cs"/>
                </a:defRPr>
              </a:lvl5pPr>
            </a:lstStyle>
            <a:p>
              <a:pPr marL="0" lvl="0" indent="0" eaLnBrk="1" hangingPunct="1">
                <a:spcBef>
                  <a:spcPct val="0"/>
                </a:spcBef>
                <a:buNone/>
              </a:pPr>
              <a:r>
                <a:rPr lang="zh-CN" altLang="en-US" sz="1800" dirty="0">
                  <a:latin typeface="Times New Roman" panose="02020603050405020304" pitchFamily="18" charset="0"/>
                </a:rPr>
                <a:t>头痛</a:t>
              </a:r>
            </a:p>
          </p:txBody>
        </p:sp>
        <p:sp>
          <p:nvSpPr>
            <p:cNvPr id="120851" name="Text Box 17"/>
            <p:cNvSpPr txBox="1"/>
            <p:nvPr/>
          </p:nvSpPr>
          <p:spPr>
            <a:xfrm>
              <a:off x="5508625" y="3422650"/>
              <a:ext cx="815975" cy="365125"/>
            </a:xfrm>
            <a:prstGeom prst="rect">
              <a:avLst/>
            </a:prstGeom>
            <a:noFill/>
            <a:ln w="9525">
              <a:noFill/>
            </a:ln>
          </p:spPr>
          <p:txBody>
            <a:bodyPr>
              <a:spAutoFit/>
            </a:bodyPr>
            <a:lstStyle>
              <a:lvl1pPr marL="342900" indent="-342900" algn="l" rtl="0" eaLnBrk="0" fontAlgn="base" hangingPunct="0">
                <a:spcBef>
                  <a:spcPct val="20000"/>
                </a:spcBef>
                <a:spcAft>
                  <a:spcPct val="0"/>
                </a:spcAft>
                <a:buBlip>
                  <a:blip r:embed="rId2"/>
                </a:buBlip>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SzPct val="75000"/>
                <a:buBlip>
                  <a:blip r:embed="rId3"/>
                </a:buBlip>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Char char="–"/>
                <a:defRPr sz="2000" kern="1200">
                  <a:solidFill>
                    <a:schemeClr val="tx1"/>
                  </a:solidFill>
                  <a:latin typeface="+mn-lt"/>
                  <a:ea typeface="+mn-ea"/>
                  <a:cs typeface="+mn-cs"/>
                </a:defRPr>
              </a:lvl5pPr>
            </a:lstStyle>
            <a:p>
              <a:pPr marL="0" lvl="0" indent="0" eaLnBrk="1" hangingPunct="1">
                <a:spcBef>
                  <a:spcPct val="0"/>
                </a:spcBef>
                <a:buNone/>
              </a:pPr>
              <a:r>
                <a:rPr lang="zh-CN" altLang="en-US" sz="1800" dirty="0">
                  <a:latin typeface="Times New Roman" panose="02020603050405020304" pitchFamily="18" charset="0"/>
                </a:rPr>
                <a:t>发烧</a:t>
              </a:r>
            </a:p>
          </p:txBody>
        </p:sp>
        <p:sp>
          <p:nvSpPr>
            <p:cNvPr id="120852" name="Text Box 18"/>
            <p:cNvSpPr txBox="1"/>
            <p:nvPr/>
          </p:nvSpPr>
          <p:spPr>
            <a:xfrm>
              <a:off x="1785937" y="5373689"/>
              <a:ext cx="912813" cy="404450"/>
            </a:xfrm>
            <a:prstGeom prst="rect">
              <a:avLst/>
            </a:prstGeom>
            <a:noFill/>
            <a:ln w="9525">
              <a:noFill/>
            </a:ln>
          </p:spPr>
          <p:txBody>
            <a:bodyPr>
              <a:spAutoFit/>
            </a:bodyPr>
            <a:lstStyle>
              <a:lvl1pPr marL="342900" indent="-342900" algn="l" rtl="0" eaLnBrk="0" fontAlgn="base" hangingPunct="0">
                <a:spcBef>
                  <a:spcPct val="20000"/>
                </a:spcBef>
                <a:spcAft>
                  <a:spcPct val="0"/>
                </a:spcAft>
                <a:buBlip>
                  <a:blip r:embed="rId2"/>
                </a:buBlip>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SzPct val="75000"/>
                <a:buBlip>
                  <a:blip r:embed="rId3"/>
                </a:buBlip>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Char char="–"/>
                <a:defRPr sz="2000" kern="1200">
                  <a:solidFill>
                    <a:schemeClr val="tx1"/>
                  </a:solidFill>
                  <a:latin typeface="+mn-lt"/>
                  <a:ea typeface="+mn-ea"/>
                  <a:cs typeface="+mn-cs"/>
                </a:defRPr>
              </a:lvl5pPr>
            </a:lstStyle>
            <a:p>
              <a:pPr marL="0" lvl="0" indent="0" eaLnBrk="1" hangingPunct="1">
                <a:spcBef>
                  <a:spcPct val="0"/>
                </a:spcBef>
                <a:buNone/>
              </a:pPr>
              <a:r>
                <a:rPr lang="zh-CN" altLang="en-US" sz="1800" dirty="0">
                  <a:latin typeface="Times New Roman" panose="02020603050405020304" pitchFamily="18" charset="0"/>
                </a:rPr>
                <a:t>咳嗽</a:t>
              </a:r>
              <a:r>
                <a:rPr lang="en-US" altLang="zh-CN" sz="1800" dirty="0">
                  <a:latin typeface="Times New Roman" panose="02020603050405020304" pitchFamily="18" charset="0"/>
                </a:rPr>
                <a:t>O</a:t>
              </a:r>
              <a:endParaRPr lang="zh-CN" altLang="zh-CN" sz="2400" dirty="0">
                <a:latin typeface="Times New Roman" panose="02020603050405020304" pitchFamily="18" charset="0"/>
              </a:endParaRPr>
            </a:p>
          </p:txBody>
        </p:sp>
        <p:sp>
          <p:nvSpPr>
            <p:cNvPr id="120853" name="Text Box 19"/>
            <p:cNvSpPr txBox="1"/>
            <p:nvPr/>
          </p:nvSpPr>
          <p:spPr>
            <a:xfrm>
              <a:off x="3132137" y="5445125"/>
              <a:ext cx="887412" cy="404450"/>
            </a:xfrm>
            <a:prstGeom prst="rect">
              <a:avLst/>
            </a:prstGeom>
            <a:noFill/>
            <a:ln w="9525">
              <a:noFill/>
            </a:ln>
          </p:spPr>
          <p:txBody>
            <a:bodyPr>
              <a:spAutoFit/>
            </a:bodyPr>
            <a:lstStyle>
              <a:lvl1pPr marL="342900" indent="-342900" algn="l" rtl="0" eaLnBrk="0" fontAlgn="base" hangingPunct="0">
                <a:spcBef>
                  <a:spcPct val="20000"/>
                </a:spcBef>
                <a:spcAft>
                  <a:spcPct val="0"/>
                </a:spcAft>
                <a:buBlip>
                  <a:blip r:embed="rId2"/>
                </a:buBlip>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SzPct val="75000"/>
                <a:buBlip>
                  <a:blip r:embed="rId3"/>
                </a:buBlip>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Char char="–"/>
                <a:defRPr sz="2000" kern="1200">
                  <a:solidFill>
                    <a:schemeClr val="tx1"/>
                  </a:solidFill>
                  <a:latin typeface="+mn-lt"/>
                  <a:ea typeface="+mn-ea"/>
                  <a:cs typeface="+mn-cs"/>
                </a:defRPr>
              </a:lvl5pPr>
            </a:lstStyle>
            <a:p>
              <a:pPr marL="0" lvl="0" indent="0" eaLnBrk="1" hangingPunct="1">
                <a:spcBef>
                  <a:spcPct val="0"/>
                </a:spcBef>
                <a:buNone/>
              </a:pPr>
              <a:r>
                <a:rPr lang="zh-CN" altLang="en-US" sz="1800" dirty="0">
                  <a:latin typeface="Times New Roman" panose="02020603050405020304" pitchFamily="18" charset="0"/>
                </a:rPr>
                <a:t>气喘</a:t>
              </a:r>
              <a:r>
                <a:rPr lang="en-US" altLang="zh-CN" sz="1800" dirty="0">
                  <a:latin typeface="Times New Roman" panose="02020603050405020304" pitchFamily="18" charset="0"/>
                </a:rPr>
                <a:t>A</a:t>
              </a:r>
              <a:endParaRPr lang="zh-CN" altLang="zh-CN" sz="2400" dirty="0">
                <a:latin typeface="Times New Roman" panose="02020603050405020304" pitchFamily="18" charset="0"/>
              </a:endParaRPr>
            </a:p>
          </p:txBody>
        </p:sp>
        <p:sp>
          <p:nvSpPr>
            <p:cNvPr id="120854" name="Line 20"/>
            <p:cNvSpPr/>
            <p:nvPr/>
          </p:nvSpPr>
          <p:spPr>
            <a:xfrm flipH="1">
              <a:off x="1331913" y="3141663"/>
              <a:ext cx="1079500" cy="792162"/>
            </a:xfrm>
            <a:prstGeom prst="line">
              <a:avLst/>
            </a:prstGeom>
            <a:ln w="9525" cap="flat" cmpd="sng">
              <a:solidFill>
                <a:schemeClr val="tx1"/>
              </a:solidFill>
              <a:prstDash val="solid"/>
              <a:headEnd type="none" w="med" len="med"/>
              <a:tailEnd type="triangle" w="med" len="med"/>
            </a:ln>
          </p:spPr>
        </p:sp>
        <p:sp>
          <p:nvSpPr>
            <p:cNvPr id="120855" name="Line 21"/>
            <p:cNvSpPr/>
            <p:nvPr/>
          </p:nvSpPr>
          <p:spPr>
            <a:xfrm>
              <a:off x="2484438" y="3141663"/>
              <a:ext cx="504355" cy="727074"/>
            </a:xfrm>
            <a:prstGeom prst="line">
              <a:avLst/>
            </a:prstGeom>
            <a:ln w="9525" cap="flat" cmpd="sng">
              <a:solidFill>
                <a:schemeClr val="tx1"/>
              </a:solidFill>
              <a:prstDash val="solid"/>
              <a:headEnd type="none" w="med" len="med"/>
              <a:tailEnd type="triangle" w="med" len="med"/>
            </a:ln>
          </p:spPr>
        </p:sp>
        <p:sp>
          <p:nvSpPr>
            <p:cNvPr id="120856" name="Line 22"/>
            <p:cNvSpPr/>
            <p:nvPr/>
          </p:nvSpPr>
          <p:spPr>
            <a:xfrm flipH="1">
              <a:off x="3344863" y="3141662"/>
              <a:ext cx="866774" cy="764811"/>
            </a:xfrm>
            <a:prstGeom prst="line">
              <a:avLst/>
            </a:prstGeom>
            <a:ln w="9525" cap="flat" cmpd="sng">
              <a:solidFill>
                <a:schemeClr val="tx1"/>
              </a:solidFill>
              <a:prstDash val="solid"/>
              <a:headEnd type="none" w="med" len="med"/>
              <a:tailEnd type="triangle" w="med" len="med"/>
            </a:ln>
          </p:spPr>
        </p:sp>
        <p:sp>
          <p:nvSpPr>
            <p:cNvPr id="120857" name="Line 23"/>
            <p:cNvSpPr/>
            <p:nvPr/>
          </p:nvSpPr>
          <p:spPr>
            <a:xfrm>
              <a:off x="4284664" y="3141663"/>
              <a:ext cx="168276" cy="719137"/>
            </a:xfrm>
            <a:prstGeom prst="line">
              <a:avLst/>
            </a:prstGeom>
            <a:ln w="9525" cap="flat" cmpd="sng">
              <a:solidFill>
                <a:schemeClr val="tx1"/>
              </a:solidFill>
              <a:prstDash val="solid"/>
              <a:headEnd type="none" w="med" len="med"/>
              <a:tailEnd type="triangle" w="med" len="med"/>
            </a:ln>
          </p:spPr>
        </p:sp>
        <p:sp>
          <p:nvSpPr>
            <p:cNvPr id="120858" name="Line 25"/>
            <p:cNvSpPr/>
            <p:nvPr/>
          </p:nvSpPr>
          <p:spPr>
            <a:xfrm flipH="1">
              <a:off x="2411413" y="4437063"/>
              <a:ext cx="720725" cy="865187"/>
            </a:xfrm>
            <a:prstGeom prst="line">
              <a:avLst/>
            </a:prstGeom>
            <a:ln w="9525" cap="flat" cmpd="sng">
              <a:solidFill>
                <a:schemeClr val="tx1"/>
              </a:solidFill>
              <a:prstDash val="solid"/>
              <a:headEnd type="none" w="med" len="med"/>
              <a:tailEnd type="triangle" w="med" len="med"/>
            </a:ln>
          </p:spPr>
        </p:sp>
        <p:sp>
          <p:nvSpPr>
            <p:cNvPr id="120859" name="Line 26"/>
            <p:cNvSpPr/>
            <p:nvPr/>
          </p:nvSpPr>
          <p:spPr>
            <a:xfrm>
              <a:off x="3132138" y="4437064"/>
              <a:ext cx="455612" cy="865186"/>
            </a:xfrm>
            <a:prstGeom prst="line">
              <a:avLst/>
            </a:prstGeom>
            <a:ln w="9525" cap="flat" cmpd="sng">
              <a:solidFill>
                <a:schemeClr val="tx1"/>
              </a:solidFill>
              <a:prstDash val="solid"/>
              <a:headEnd type="none" w="med" len="med"/>
              <a:tailEnd type="triangle" w="med" len="med"/>
            </a:ln>
          </p:spPr>
        </p:sp>
      </p:grpSp>
    </p:spTree>
    <p:extLst>
      <p:ext uri="{BB962C8B-B14F-4D97-AF65-F5344CB8AC3E}">
        <p14:creationId xmlns:p14="http://schemas.microsoft.com/office/powerpoint/2010/main" val="15833772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21858" name="Rectangle 2"/>
          <p:cNvSpPr>
            <a:spLocks noGrp="1"/>
          </p:cNvSpPr>
          <p:nvPr>
            <p:ph type="title"/>
          </p:nvPr>
        </p:nvSpPr>
        <p:spPr>
          <a:xfrm>
            <a:off x="246063" y="914400"/>
            <a:ext cx="7772400" cy="858838"/>
          </a:xfrm>
          <a:ln/>
        </p:spPr>
        <p:txBody>
          <a:bodyPr vert="horz" wrap="square" lIns="91440" tIns="45720" rIns="91440" bIns="45720" anchor="ctr" anchorCtr="0"/>
          <a:lstStyle/>
          <a:p>
            <a:pPr eaLnBrk="1" hangingPunct="1"/>
            <a:r>
              <a:rPr lang="en-US" altLang="zh-CN" sz="3200" dirty="0">
                <a:solidFill>
                  <a:schemeClr val="tx1"/>
                </a:solidFill>
              </a:rPr>
              <a:t>8.3.3.</a:t>
            </a:r>
            <a:r>
              <a:rPr lang="zh-CN" altLang="en-US" sz="3200" dirty="0">
                <a:solidFill>
                  <a:schemeClr val="tx1"/>
                </a:solidFill>
              </a:rPr>
              <a:t>基于贝叶斯网络的概率推理</a:t>
            </a:r>
          </a:p>
        </p:txBody>
      </p:sp>
      <p:sp>
        <p:nvSpPr>
          <p:cNvPr id="155651" name="Rectangle 3"/>
          <p:cNvSpPr>
            <a:spLocks noGrp="1" noChangeArrowheads="1"/>
          </p:cNvSpPr>
          <p:nvPr>
            <p:ph idx="1"/>
          </p:nvPr>
        </p:nvSpPr>
        <p:spPr>
          <a:xfrm>
            <a:off x="179388" y="1700213"/>
            <a:ext cx="8713788" cy="4968875"/>
          </a:xfrm>
        </p:spPr>
        <p:txBody>
          <a:bodyPr vert="horz" wrap="square" lIns="91440" tIns="45720" rIns="91440" bIns="45720" numCol="1" anchor="t" anchorCtr="0" compatLnSpc="1"/>
          <a:lstStyle/>
          <a:p>
            <a:pPr marL="0" marR="0" lvl="0" indent="0" algn="l" defTabSz="914400" rtl="0" eaLnBrk="1" fontAlgn="base" latinLnBrk="0" hangingPunct="1">
              <a:lnSpc>
                <a:spcPct val="100000"/>
              </a:lnSpc>
              <a:spcBef>
                <a:spcPct val="20000"/>
              </a:spcBef>
              <a:spcAft>
                <a:spcPct val="0"/>
              </a:spcAft>
              <a:buClrTx/>
              <a:buSzTx/>
              <a:buFontTx/>
              <a:buNone/>
              <a:defRPr/>
            </a:pPr>
            <a:r>
              <a:rPr kumimoji="0" lang="zh-CN" sz="2800" b="0" i="0" u="none" strike="noStrike" kern="1200" cap="none" spc="0" normalizeH="0" baseline="0" noProof="0" dirty="0">
                <a:ln>
                  <a:noFill/>
                </a:ln>
                <a:solidFill>
                  <a:srgbClr val="FF3300"/>
                </a:solidFill>
                <a:effectLst/>
                <a:uLnTx/>
                <a:uFillTx/>
                <a:latin typeface="+mn-lt"/>
                <a:ea typeface="+mn-ea"/>
                <a:cs typeface="+mn-cs"/>
              </a:rPr>
              <a:t>联合概率</a:t>
            </a:r>
            <a:r>
              <a:rPr kumimoji="0" lang="zh-CN" sz="2800" b="0" i="0" u="none" strike="noStrike" kern="1200" cap="none" spc="0" normalizeH="0" baseline="0" noProof="0" dirty="0">
                <a:ln>
                  <a:noFill/>
                </a:ln>
                <a:solidFill>
                  <a:schemeClr val="tx1"/>
                </a:solidFill>
                <a:effectLst/>
                <a:uLnTx/>
                <a:uFillTx/>
                <a:latin typeface="+mn-lt"/>
                <a:ea typeface="+mn-ea"/>
                <a:cs typeface="+mn-cs"/>
              </a:rPr>
              <a:t>：</a:t>
            </a:r>
            <a:endParaRPr kumimoji="0" lang="en-US" altLang="zh-CN" sz="2800" b="0" i="0" u="none" strike="noStrike" kern="1200" cap="none" spc="0" normalizeH="0" baseline="0" noProof="0" dirty="0">
              <a:ln>
                <a:noFill/>
              </a:ln>
              <a:solidFill>
                <a:schemeClr val="tx1"/>
              </a:solidFill>
              <a:effectLst/>
              <a:uLnTx/>
              <a:uFillTx/>
              <a:latin typeface="+mn-lt"/>
              <a:ea typeface="+mn-ea"/>
              <a:cs typeface="+mn-cs"/>
            </a:endParaRPr>
          </a:p>
          <a:p>
            <a:pPr marL="0" marR="0" lvl="0" indent="0" algn="l" defTabSz="914400" rtl="0" eaLnBrk="1" fontAlgn="base" latinLnBrk="0" hangingPunct="1">
              <a:lnSpc>
                <a:spcPct val="100000"/>
              </a:lnSpc>
              <a:spcBef>
                <a:spcPct val="20000"/>
              </a:spcBef>
              <a:spcAft>
                <a:spcPct val="0"/>
              </a:spcAft>
              <a:buClrTx/>
              <a:buSzTx/>
              <a:buFontTx/>
              <a:buNone/>
              <a:defRPr/>
            </a:pPr>
            <a:r>
              <a:rPr kumimoji="0" lang="en-US" altLang="zh-CN" sz="2800" b="0" i="0" u="none" strike="noStrike" kern="1200" cap="none" spc="0" normalizeH="0" baseline="0" noProof="0" dirty="0">
                <a:ln>
                  <a:noFill/>
                </a:ln>
                <a:solidFill>
                  <a:schemeClr val="tx1"/>
                </a:solidFill>
                <a:effectLst/>
                <a:uLnTx/>
                <a:uFillTx/>
                <a:latin typeface="+mn-lt"/>
                <a:ea typeface="+mn-ea"/>
                <a:cs typeface="+mn-cs"/>
              </a:rPr>
              <a:t>      </a:t>
            </a:r>
            <a:r>
              <a:rPr kumimoji="0" lang="zh-CN" sz="2800" b="0" i="0" u="none" strike="noStrike" kern="1200" cap="none" spc="0" normalizeH="0" baseline="0" noProof="0" dirty="0">
                <a:ln>
                  <a:noFill/>
                </a:ln>
                <a:solidFill>
                  <a:schemeClr val="tx1"/>
                </a:solidFill>
                <a:effectLst/>
                <a:uLnTx/>
                <a:uFillTx/>
                <a:latin typeface="+mn-lt"/>
                <a:ea typeface="+mn-ea"/>
                <a:cs typeface="+mn-cs"/>
              </a:rPr>
              <a:t>设一个贝叶斯网络中全体变量的集合为</a:t>
            </a:r>
            <a:r>
              <a:rPr kumimoji="0" lang="en-US" sz="2800" b="0" i="0" u="none" strike="noStrike" kern="1200" cap="none" spc="0" normalizeH="0" baseline="0" noProof="0" dirty="0">
                <a:ln>
                  <a:noFill/>
                </a:ln>
                <a:solidFill>
                  <a:schemeClr val="tx1"/>
                </a:solidFill>
                <a:effectLst/>
                <a:uLnTx/>
                <a:uFillTx/>
                <a:latin typeface="+mn-lt"/>
                <a:ea typeface="+mn-ea"/>
                <a:cs typeface="+mn-cs"/>
              </a:rPr>
              <a:t>{x</a:t>
            </a:r>
            <a:r>
              <a:rPr kumimoji="0" lang="en-US" sz="2800" b="0" i="0" u="none" strike="noStrike" kern="1200" cap="none" spc="0" normalizeH="0" baseline="-25000" noProof="0" dirty="0">
                <a:ln>
                  <a:noFill/>
                </a:ln>
                <a:solidFill>
                  <a:schemeClr val="tx1"/>
                </a:solidFill>
                <a:effectLst/>
                <a:uLnTx/>
                <a:uFillTx/>
                <a:latin typeface="+mn-lt"/>
                <a:ea typeface="+mn-ea"/>
                <a:cs typeface="+mn-cs"/>
              </a:rPr>
              <a:t>1</a:t>
            </a:r>
            <a:r>
              <a:rPr kumimoji="0" lang="en-US" sz="2800" b="0" i="0" u="none" strike="noStrike" kern="1200" cap="none" spc="0" normalizeH="0" baseline="0" noProof="0" dirty="0">
                <a:ln>
                  <a:noFill/>
                </a:ln>
                <a:solidFill>
                  <a:schemeClr val="tx1"/>
                </a:solidFill>
                <a:effectLst/>
                <a:uLnTx/>
                <a:uFillTx/>
                <a:latin typeface="+mn-lt"/>
                <a:ea typeface="+mn-ea"/>
                <a:cs typeface="+mn-cs"/>
              </a:rPr>
              <a:t>,x</a:t>
            </a:r>
            <a:r>
              <a:rPr kumimoji="0" lang="en-US" sz="2800" b="0" i="0" u="none" strike="noStrike" kern="1200" cap="none" spc="0" normalizeH="0" baseline="-25000" noProof="0" dirty="0">
                <a:ln>
                  <a:noFill/>
                </a:ln>
                <a:solidFill>
                  <a:schemeClr val="tx1"/>
                </a:solidFill>
                <a:effectLst/>
                <a:uLnTx/>
                <a:uFillTx/>
                <a:latin typeface="+mn-lt"/>
                <a:ea typeface="+mn-ea"/>
                <a:cs typeface="+mn-cs"/>
              </a:rPr>
              <a:t>2</a:t>
            </a:r>
            <a:r>
              <a:rPr kumimoji="0" lang="en-US" sz="2800" b="0" i="0" u="none" strike="noStrike" kern="1200" cap="none" spc="0" normalizeH="0" baseline="0" noProof="0" dirty="0">
                <a:ln>
                  <a:noFill/>
                </a:ln>
                <a:solidFill>
                  <a:schemeClr val="tx1"/>
                </a:solidFill>
                <a:effectLst/>
                <a:uLnTx/>
                <a:uFillTx/>
                <a:latin typeface="+mn-lt"/>
                <a:ea typeface="+mn-ea"/>
                <a:cs typeface="+mn-cs"/>
              </a:rPr>
              <a:t>, </a:t>
            </a:r>
            <a:r>
              <a:rPr kumimoji="0" lang="en-US" sz="28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mn-cs"/>
              </a:rPr>
              <a:t>…</a:t>
            </a:r>
            <a:r>
              <a:rPr kumimoji="0" lang="en-US" sz="2800" b="0" i="0" u="none" strike="noStrike" kern="1200" cap="none" spc="0" normalizeH="0" baseline="0" noProof="0" dirty="0" err="1">
                <a:ln>
                  <a:noFill/>
                </a:ln>
                <a:solidFill>
                  <a:schemeClr val="tx1"/>
                </a:solidFill>
                <a:effectLst/>
                <a:uLnTx/>
                <a:uFillTx/>
                <a:latin typeface="+mn-lt"/>
                <a:ea typeface="+mn-ea"/>
                <a:cs typeface="+mn-cs"/>
              </a:rPr>
              <a:t>x</a:t>
            </a:r>
            <a:r>
              <a:rPr kumimoji="0" lang="en-US" sz="2800" b="0" i="0" u="none" strike="noStrike" kern="1200" cap="none" spc="0" normalizeH="0" baseline="-25000" noProof="0" dirty="0" err="1">
                <a:ln>
                  <a:noFill/>
                </a:ln>
                <a:solidFill>
                  <a:schemeClr val="tx1"/>
                </a:solidFill>
                <a:effectLst/>
                <a:uLnTx/>
                <a:uFillTx/>
                <a:latin typeface="+mn-lt"/>
                <a:ea typeface="+mn-ea"/>
                <a:cs typeface="+mn-cs"/>
              </a:rPr>
              <a:t>n</a:t>
            </a:r>
            <a:r>
              <a:rPr kumimoji="0" lang="en-US" sz="2800" b="0" i="0" u="none" strike="noStrike" kern="1200" cap="none" spc="0" normalizeH="0" baseline="0" noProof="0" dirty="0">
                <a:ln>
                  <a:noFill/>
                </a:ln>
                <a:solidFill>
                  <a:schemeClr val="tx1"/>
                </a:solidFill>
                <a:effectLst/>
                <a:uLnTx/>
                <a:uFillTx/>
                <a:latin typeface="+mn-lt"/>
                <a:ea typeface="+mn-ea"/>
                <a:cs typeface="+mn-cs"/>
              </a:rPr>
              <a:t>}, </a:t>
            </a:r>
            <a:r>
              <a:rPr kumimoji="0" lang="zh-CN" sz="2800" b="0" i="0" u="none" strike="noStrike" kern="1200" cap="none" spc="0" normalizeH="0" baseline="0" noProof="0" dirty="0">
                <a:ln>
                  <a:noFill/>
                </a:ln>
                <a:solidFill>
                  <a:schemeClr val="tx1"/>
                </a:solidFill>
                <a:effectLst/>
                <a:uLnTx/>
                <a:uFillTx/>
                <a:latin typeface="+mn-lt"/>
                <a:ea typeface="+mn-ea"/>
                <a:cs typeface="+mn-cs"/>
              </a:rPr>
              <a:t>则这些变量的联合概率为   </a:t>
            </a:r>
          </a:p>
          <a:p>
            <a:pPr marL="0" marR="0" lvl="0" indent="0" algn="l" defTabSz="914400" rtl="0" eaLnBrk="1" fontAlgn="base" latinLnBrk="0" hangingPunct="1">
              <a:lnSpc>
                <a:spcPct val="100000"/>
              </a:lnSpc>
              <a:spcBef>
                <a:spcPct val="20000"/>
              </a:spcBef>
              <a:spcAft>
                <a:spcPct val="0"/>
              </a:spcAft>
              <a:buClrTx/>
              <a:buSzTx/>
              <a:buFontTx/>
              <a:buNone/>
              <a:defRPr/>
            </a:pPr>
            <a:r>
              <a:rPr kumimoji="0" lang="en-US" sz="3200" b="0" i="0" u="none" strike="noStrike" kern="1200" cap="none" spc="0" normalizeH="0" baseline="0" noProof="0" dirty="0">
                <a:ln>
                  <a:noFill/>
                </a:ln>
                <a:solidFill>
                  <a:schemeClr val="tx1"/>
                </a:solidFill>
                <a:effectLst/>
                <a:uLnTx/>
                <a:uFillTx/>
                <a:latin typeface="+mn-lt"/>
                <a:ea typeface="+mn-ea"/>
                <a:cs typeface="+mn-cs"/>
              </a:rPr>
              <a:t>         </a:t>
            </a:r>
            <a:r>
              <a:rPr kumimoji="0" lang="en-US" sz="2800" b="0" i="0" u="none" strike="noStrike" kern="1200" cap="none" spc="0" normalizeH="0" baseline="0" noProof="0" dirty="0">
                <a:ln>
                  <a:noFill/>
                </a:ln>
                <a:solidFill>
                  <a:schemeClr val="tx1"/>
                </a:solidFill>
                <a:effectLst/>
                <a:uLnTx/>
                <a:uFillTx/>
                <a:latin typeface="+mj-lt"/>
                <a:ea typeface="+mn-ea"/>
                <a:cs typeface="+mn-cs"/>
              </a:rPr>
              <a:t>P(x</a:t>
            </a:r>
            <a:r>
              <a:rPr kumimoji="0" lang="en-US" sz="2800" b="0" i="0" u="none" strike="noStrike" kern="1200" cap="none" spc="0" normalizeH="0" baseline="-25000" noProof="0" dirty="0">
                <a:ln>
                  <a:noFill/>
                </a:ln>
                <a:solidFill>
                  <a:schemeClr val="tx1"/>
                </a:solidFill>
                <a:effectLst/>
                <a:uLnTx/>
                <a:uFillTx/>
                <a:latin typeface="+mj-lt"/>
                <a:ea typeface="+mn-ea"/>
                <a:cs typeface="+mn-cs"/>
              </a:rPr>
              <a:t>1</a:t>
            </a:r>
            <a:r>
              <a:rPr kumimoji="0" lang="en-US" sz="2800" b="0" i="0" u="none" strike="noStrike" kern="1200" cap="none" spc="0" normalizeH="0" baseline="0" noProof="0" dirty="0">
                <a:ln>
                  <a:noFill/>
                </a:ln>
                <a:solidFill>
                  <a:schemeClr val="tx1"/>
                </a:solidFill>
                <a:effectLst/>
                <a:uLnTx/>
                <a:uFillTx/>
                <a:latin typeface="+mj-lt"/>
                <a:ea typeface="+mn-ea"/>
                <a:cs typeface="+mn-cs"/>
              </a:rPr>
              <a:t>,x</a:t>
            </a:r>
            <a:r>
              <a:rPr kumimoji="0" lang="en-US" sz="2800" b="0" i="0" u="none" strike="noStrike" kern="1200" cap="none" spc="0" normalizeH="0" baseline="-25000" noProof="0" dirty="0">
                <a:ln>
                  <a:noFill/>
                </a:ln>
                <a:solidFill>
                  <a:schemeClr val="tx1"/>
                </a:solidFill>
                <a:effectLst/>
                <a:uLnTx/>
                <a:uFillTx/>
                <a:latin typeface="+mj-lt"/>
                <a:ea typeface="+mn-ea"/>
                <a:cs typeface="+mn-cs"/>
              </a:rPr>
              <a:t>2</a:t>
            </a:r>
            <a:r>
              <a:rPr kumimoji="0" lang="en-US" sz="2800" b="0" i="0" u="none" strike="noStrike" kern="1200" cap="none" spc="0" normalizeH="0" baseline="0" noProof="0" dirty="0">
                <a:ln>
                  <a:noFill/>
                </a:ln>
                <a:solidFill>
                  <a:schemeClr val="tx1"/>
                </a:solidFill>
                <a:effectLst/>
                <a:uLnTx/>
                <a:uFillTx/>
                <a:latin typeface="+mj-lt"/>
                <a:ea typeface="+mn-ea"/>
                <a:cs typeface="+mn-cs"/>
              </a:rPr>
              <a:t>, …</a:t>
            </a:r>
            <a:r>
              <a:rPr kumimoji="0" lang="en-US" sz="2800" b="0" i="0" u="none" strike="noStrike" kern="1200" cap="none" spc="0" normalizeH="0" baseline="0" noProof="0" dirty="0" err="1">
                <a:ln>
                  <a:noFill/>
                </a:ln>
                <a:solidFill>
                  <a:schemeClr val="tx1"/>
                </a:solidFill>
                <a:effectLst/>
                <a:uLnTx/>
                <a:uFillTx/>
                <a:latin typeface="+mj-lt"/>
                <a:ea typeface="+mn-ea"/>
                <a:cs typeface="+mn-cs"/>
              </a:rPr>
              <a:t>x</a:t>
            </a:r>
            <a:r>
              <a:rPr kumimoji="0" lang="en-US" sz="2800" b="0" i="0" u="none" strike="noStrike" kern="1200" cap="none" spc="0" normalizeH="0" baseline="-25000" noProof="0" dirty="0" err="1">
                <a:ln>
                  <a:noFill/>
                </a:ln>
                <a:solidFill>
                  <a:schemeClr val="tx1"/>
                </a:solidFill>
                <a:effectLst/>
                <a:uLnTx/>
                <a:uFillTx/>
                <a:latin typeface="+mj-lt"/>
                <a:ea typeface="+mn-ea"/>
                <a:cs typeface="+mn-cs"/>
              </a:rPr>
              <a:t>n</a:t>
            </a:r>
            <a:r>
              <a:rPr kumimoji="0" lang="en-US" sz="2800" b="0" i="0" u="none" strike="noStrike" kern="1200" cap="none" spc="0" normalizeH="0" baseline="0" noProof="0" dirty="0">
                <a:ln>
                  <a:noFill/>
                </a:ln>
                <a:solidFill>
                  <a:schemeClr val="tx1"/>
                </a:solidFill>
                <a:effectLst/>
                <a:uLnTx/>
                <a:uFillTx/>
                <a:latin typeface="+mj-lt"/>
                <a:ea typeface="+mn-ea"/>
                <a:cs typeface="+mn-cs"/>
              </a:rPr>
              <a:t> )=</a:t>
            </a:r>
          </a:p>
          <a:p>
            <a:pPr marL="0" marR="0" lvl="0" indent="0" algn="l" defTabSz="914400" rtl="0" eaLnBrk="1" fontAlgn="base" latinLnBrk="0" hangingPunct="1">
              <a:lnSpc>
                <a:spcPct val="100000"/>
              </a:lnSpc>
              <a:spcBef>
                <a:spcPct val="20000"/>
              </a:spcBef>
              <a:spcAft>
                <a:spcPct val="0"/>
              </a:spcAft>
              <a:buClrTx/>
              <a:buSzTx/>
              <a:buFontTx/>
              <a:buNone/>
              <a:defRPr/>
            </a:pPr>
            <a:r>
              <a:rPr kumimoji="0" lang="en-US" sz="2800" b="0" i="0" u="none" strike="noStrike" kern="1200" cap="none" spc="0" normalizeH="0" baseline="0" noProof="0" dirty="0">
                <a:ln>
                  <a:noFill/>
                </a:ln>
                <a:solidFill>
                  <a:schemeClr val="tx1"/>
                </a:solidFill>
                <a:effectLst/>
                <a:uLnTx/>
                <a:uFillTx/>
                <a:latin typeface="+mj-lt"/>
                <a:ea typeface="+mn-ea"/>
                <a:cs typeface="+mn-cs"/>
              </a:rPr>
              <a:t>                  P(x1)P(x2|x1)P(x3|x1,x2) …P(</a:t>
            </a:r>
            <a:r>
              <a:rPr kumimoji="0" lang="en-US" sz="2800" b="0" i="0" u="none" strike="noStrike" kern="1200" cap="none" spc="0" normalizeH="0" baseline="0" noProof="0" dirty="0" err="1">
                <a:ln>
                  <a:noFill/>
                </a:ln>
                <a:solidFill>
                  <a:schemeClr val="tx1"/>
                </a:solidFill>
                <a:effectLst/>
                <a:uLnTx/>
                <a:uFillTx/>
                <a:latin typeface="+mj-lt"/>
                <a:ea typeface="+mn-ea"/>
                <a:cs typeface="+mn-cs"/>
              </a:rPr>
              <a:t>xn</a:t>
            </a:r>
            <a:r>
              <a:rPr kumimoji="0" lang="en-US" sz="2800" b="0" i="0" u="none" strike="noStrike" kern="1200" cap="none" spc="0" normalizeH="0" baseline="0" noProof="0" dirty="0">
                <a:ln>
                  <a:noFill/>
                </a:ln>
                <a:solidFill>
                  <a:schemeClr val="tx1"/>
                </a:solidFill>
                <a:effectLst/>
                <a:uLnTx/>
                <a:uFillTx/>
                <a:latin typeface="+mj-lt"/>
                <a:ea typeface="+mn-ea"/>
                <a:cs typeface="+mn-cs"/>
              </a:rPr>
              <a:t>| x</a:t>
            </a:r>
            <a:r>
              <a:rPr kumimoji="0" lang="en-US" sz="2800" b="0" i="0" u="none" strike="noStrike" kern="1200" cap="none" spc="0" normalizeH="0" baseline="-25000" noProof="0" dirty="0">
                <a:ln>
                  <a:noFill/>
                </a:ln>
                <a:solidFill>
                  <a:schemeClr val="tx1"/>
                </a:solidFill>
                <a:effectLst/>
                <a:uLnTx/>
                <a:uFillTx/>
                <a:latin typeface="+mj-lt"/>
                <a:ea typeface="+mn-ea"/>
                <a:cs typeface="+mn-cs"/>
              </a:rPr>
              <a:t>1</a:t>
            </a:r>
            <a:r>
              <a:rPr kumimoji="0" lang="en-US" sz="2800" b="0" i="0" u="none" strike="noStrike" kern="1200" cap="none" spc="0" normalizeH="0" baseline="0" noProof="0" dirty="0">
                <a:ln>
                  <a:noFill/>
                </a:ln>
                <a:solidFill>
                  <a:schemeClr val="tx1"/>
                </a:solidFill>
                <a:effectLst/>
                <a:uLnTx/>
                <a:uFillTx/>
                <a:latin typeface="+mj-lt"/>
                <a:ea typeface="+mn-ea"/>
                <a:cs typeface="+mn-cs"/>
              </a:rPr>
              <a:t>,x</a:t>
            </a:r>
            <a:r>
              <a:rPr kumimoji="0" lang="en-US" sz="2800" b="0" i="0" u="none" strike="noStrike" kern="1200" cap="none" spc="0" normalizeH="0" baseline="-25000" noProof="0" dirty="0">
                <a:ln>
                  <a:noFill/>
                </a:ln>
                <a:solidFill>
                  <a:schemeClr val="tx1"/>
                </a:solidFill>
                <a:effectLst/>
                <a:uLnTx/>
                <a:uFillTx/>
                <a:latin typeface="+mj-lt"/>
                <a:ea typeface="+mn-ea"/>
                <a:cs typeface="+mn-cs"/>
              </a:rPr>
              <a:t>2</a:t>
            </a:r>
            <a:r>
              <a:rPr kumimoji="0" lang="en-US" sz="2800" b="0" i="0" u="none" strike="noStrike" kern="1200" cap="none" spc="0" normalizeH="0" baseline="0" noProof="0" dirty="0">
                <a:ln>
                  <a:noFill/>
                </a:ln>
                <a:solidFill>
                  <a:schemeClr val="tx1"/>
                </a:solidFill>
                <a:effectLst/>
                <a:uLnTx/>
                <a:uFillTx/>
                <a:latin typeface="+mj-lt"/>
                <a:ea typeface="+mn-ea"/>
                <a:cs typeface="+mn-cs"/>
              </a:rPr>
              <a:t>, …x</a:t>
            </a:r>
            <a:r>
              <a:rPr kumimoji="0" lang="en-US" sz="2800" b="0" i="0" u="none" strike="noStrike" kern="1200" cap="none" spc="0" normalizeH="0" baseline="-25000" noProof="0" dirty="0">
                <a:ln>
                  <a:noFill/>
                </a:ln>
                <a:solidFill>
                  <a:schemeClr val="tx1"/>
                </a:solidFill>
                <a:effectLst/>
                <a:uLnTx/>
                <a:uFillTx/>
                <a:latin typeface="+mj-lt"/>
                <a:ea typeface="+mn-ea"/>
                <a:cs typeface="+mn-cs"/>
              </a:rPr>
              <a:t>n-1</a:t>
            </a:r>
            <a:r>
              <a:rPr kumimoji="0" lang="en-US" sz="2800" b="0" i="0" u="none" strike="noStrike" kern="1200" cap="none" spc="0" normalizeH="0" baseline="0" noProof="0" dirty="0">
                <a:ln>
                  <a:noFill/>
                </a:ln>
                <a:solidFill>
                  <a:schemeClr val="tx1"/>
                </a:solidFill>
                <a:effectLst/>
                <a:uLnTx/>
                <a:uFillTx/>
                <a:latin typeface="+mj-lt"/>
                <a:ea typeface="+mn-ea"/>
                <a:cs typeface="+mn-cs"/>
              </a:rPr>
              <a:t>)</a:t>
            </a:r>
          </a:p>
          <a:p>
            <a:pPr marL="0" marR="0" lvl="0" indent="0" algn="l" defTabSz="914400" rtl="0" eaLnBrk="1" fontAlgn="base" latinLnBrk="0" hangingPunct="1">
              <a:lnSpc>
                <a:spcPct val="100000"/>
              </a:lnSpc>
              <a:spcBef>
                <a:spcPct val="20000"/>
              </a:spcBef>
              <a:spcAft>
                <a:spcPct val="0"/>
              </a:spcAft>
              <a:buClrTx/>
              <a:buSzTx/>
              <a:buFontTx/>
              <a:buNone/>
              <a:defRPr/>
            </a:pPr>
            <a:r>
              <a:rPr kumimoji="0" lang="zh-CN" sz="2800" b="0" i="0" u="none" strike="noStrike" kern="1200" cap="none" spc="0" normalizeH="0" baseline="0" noProof="0" dirty="0">
                <a:ln>
                  <a:noFill/>
                </a:ln>
                <a:solidFill>
                  <a:srgbClr val="FF3300"/>
                </a:solidFill>
                <a:effectLst/>
                <a:uLnTx/>
                <a:uFillTx/>
                <a:latin typeface="+mn-lt"/>
                <a:ea typeface="+mn-ea"/>
                <a:cs typeface="+mn-cs"/>
              </a:rPr>
              <a:t>条件独立</a:t>
            </a:r>
            <a:r>
              <a:rPr kumimoji="0" lang="zh-CN" sz="2800" b="0" i="0" u="none" strike="noStrike" kern="1200" cap="none" spc="0" normalizeH="0" baseline="0" noProof="0" dirty="0">
                <a:ln>
                  <a:noFill/>
                </a:ln>
                <a:solidFill>
                  <a:schemeClr val="tx1"/>
                </a:solidFill>
                <a:effectLst/>
                <a:uLnTx/>
                <a:uFillTx/>
                <a:latin typeface="+mn-lt"/>
                <a:ea typeface="+mn-ea"/>
                <a:cs typeface="+mn-cs"/>
              </a:rPr>
              <a:t>：</a:t>
            </a:r>
            <a:endParaRPr kumimoji="0" lang="en-US" altLang="zh-CN" sz="2800" b="0" i="0" u="none" strike="noStrike" kern="1200" cap="none" spc="0" normalizeH="0" baseline="0" noProof="0" dirty="0">
              <a:ln>
                <a:noFill/>
              </a:ln>
              <a:solidFill>
                <a:schemeClr val="tx1"/>
              </a:solidFill>
              <a:effectLst/>
              <a:uLnTx/>
              <a:uFillTx/>
              <a:latin typeface="+mn-lt"/>
              <a:ea typeface="+mn-ea"/>
              <a:cs typeface="+mn-cs"/>
            </a:endParaRPr>
          </a:p>
          <a:p>
            <a:pPr marL="0" marR="0" lvl="0" indent="0" algn="l" defTabSz="914400" rtl="0" eaLnBrk="1" fontAlgn="base" latinLnBrk="0" hangingPunct="1">
              <a:lnSpc>
                <a:spcPct val="100000"/>
              </a:lnSpc>
              <a:spcBef>
                <a:spcPct val="20000"/>
              </a:spcBef>
              <a:spcAft>
                <a:spcPct val="0"/>
              </a:spcAft>
              <a:buClrTx/>
              <a:buSzTx/>
              <a:buFontTx/>
              <a:buNone/>
              <a:defRPr/>
            </a:pPr>
            <a:r>
              <a:rPr kumimoji="0" lang="en-US" altLang="zh-CN" sz="2800" b="0" i="0" u="none" strike="noStrike" kern="1200" cap="none" spc="0" normalizeH="0" baseline="0" noProof="0" dirty="0">
                <a:ln>
                  <a:noFill/>
                </a:ln>
                <a:solidFill>
                  <a:schemeClr val="tx1"/>
                </a:solidFill>
                <a:effectLst/>
                <a:uLnTx/>
                <a:uFillTx/>
                <a:latin typeface="+mn-lt"/>
                <a:ea typeface="+mn-ea"/>
                <a:cs typeface="+mn-cs"/>
              </a:rPr>
              <a:t>      </a:t>
            </a:r>
            <a:r>
              <a:rPr kumimoji="0" lang="zh-CN" sz="2800" b="0" i="0" u="none" strike="noStrike" kern="1200" cap="none" spc="0" normalizeH="0" baseline="0" noProof="0" dirty="0">
                <a:ln>
                  <a:noFill/>
                </a:ln>
                <a:solidFill>
                  <a:schemeClr val="tx1"/>
                </a:solidFill>
                <a:effectLst/>
                <a:uLnTx/>
                <a:uFillTx/>
                <a:latin typeface="+mn-lt"/>
                <a:ea typeface="+mn-ea"/>
                <a:cs typeface="+mn-cs"/>
              </a:rPr>
              <a:t>贝叶斯网络中任一节点与它的非祖先节点和非后代节点都是条件独立的。</a:t>
            </a:r>
          </a:p>
        </p:txBody>
      </p:sp>
    </p:spTree>
    <p:extLst>
      <p:ext uri="{BB962C8B-B14F-4D97-AF65-F5344CB8AC3E}">
        <p14:creationId xmlns:p14="http://schemas.microsoft.com/office/powerpoint/2010/main" val="199651582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内容占位符 3"/>
          <p:cNvSpPr>
            <a:spLocks noGrp="1"/>
          </p:cNvSpPr>
          <p:nvPr>
            <p:ph idx="1"/>
          </p:nvPr>
        </p:nvSpPr>
        <p:spPr>
          <a:xfrm>
            <a:off x="107504" y="476672"/>
            <a:ext cx="8785225" cy="5643563"/>
          </a:xfrm>
          <a:ln/>
        </p:spPr>
        <p:txBody>
          <a:bodyPr vert="horz" wrap="square" lIns="91440" tIns="45720" rIns="91440" bIns="45720" anchor="t" anchorCtr="0"/>
          <a:lstStyle/>
          <a:p>
            <a:pPr latinLnBrk="1">
              <a:lnSpc>
                <a:spcPct val="150000"/>
              </a:lnSpc>
              <a:buNone/>
            </a:pPr>
            <a:r>
              <a:rPr lang="en-US" altLang="zh-CN" sz="2400" dirty="0"/>
              <a:t>  </a:t>
            </a:r>
            <a:r>
              <a:rPr lang="en-US" altLang="zh-CN" sz="2400" dirty="0">
                <a:latin typeface="黑体" panose="02010609060101010101" pitchFamily="49" charset="-122"/>
                <a:ea typeface="黑体" panose="02010609060101010101" pitchFamily="49" charset="-122"/>
              </a:rPr>
              <a:t> </a:t>
            </a:r>
            <a:r>
              <a:rPr lang="zh-CN" altLang="en-US" sz="2400" dirty="0">
                <a:latin typeface="黑体" panose="02010609060101010101" pitchFamily="49" charset="-122"/>
                <a:ea typeface="黑体" panose="02010609060101010101" pitchFamily="49" charset="-122"/>
              </a:rPr>
              <a:t>基于贝叶斯网络的概率推理</a:t>
            </a:r>
          </a:p>
          <a:p>
            <a:pPr>
              <a:lnSpc>
                <a:spcPct val="150000"/>
              </a:lnSpc>
              <a:spcBef>
                <a:spcPct val="0"/>
              </a:spcBef>
              <a:buNone/>
            </a:pPr>
            <a:r>
              <a:rPr lang="zh-CN" altLang="en-US" sz="2400" b="1" dirty="0">
                <a:latin typeface="楷体" panose="02010609060101010101" pitchFamily="49" charset="-122"/>
                <a:ea typeface="楷体" panose="02010609060101010101" pitchFamily="49" charset="-122"/>
              </a:rPr>
              <a:t>     因果推理</a:t>
            </a:r>
            <a:endParaRPr lang="zh-CN" altLang="en-US" sz="2400" dirty="0">
              <a:latin typeface="楷体" panose="02010609060101010101" pitchFamily="49" charset="-122"/>
              <a:ea typeface="楷体" panose="02010609060101010101" pitchFamily="49" charset="-122"/>
            </a:endParaRPr>
          </a:p>
          <a:p>
            <a:pPr algn="just" latinLnBrk="1">
              <a:lnSpc>
                <a:spcPct val="140000"/>
              </a:lnSpc>
              <a:spcBef>
                <a:spcPct val="0"/>
              </a:spcBef>
              <a:buNone/>
            </a:pPr>
            <a:r>
              <a:rPr lang="en-US" altLang="zh-CN" sz="2400" dirty="0"/>
              <a:t>          </a:t>
            </a:r>
            <a:r>
              <a:rPr lang="zh-CN" altLang="zh-CN" sz="2400" dirty="0"/>
              <a:t>因果推理</a:t>
            </a:r>
            <a:r>
              <a:rPr lang="zh-CN" altLang="en-US" sz="2400" dirty="0"/>
              <a:t>是</a:t>
            </a:r>
            <a:r>
              <a:rPr lang="zh-CN" altLang="zh-CN" sz="2400" dirty="0"/>
              <a:t>已知网络中的祖先节点而计算后代节点的条件概率，这种推理是一种自上而下的推理。</a:t>
            </a:r>
            <a:endParaRPr lang="en-US" altLang="zh-CN" sz="2400" dirty="0"/>
          </a:p>
          <a:p>
            <a:pPr algn="just" latinLnBrk="1">
              <a:lnSpc>
                <a:spcPct val="140000"/>
              </a:lnSpc>
              <a:spcBef>
                <a:spcPct val="0"/>
              </a:spcBef>
              <a:buNone/>
            </a:pPr>
            <a:r>
              <a:rPr lang="en-US" altLang="zh-CN" sz="2400" dirty="0"/>
              <a:t>   </a:t>
            </a:r>
            <a:r>
              <a:rPr lang="zh-CN" altLang="en-US" sz="2300" dirty="0"/>
              <a:t>以上图</a:t>
            </a:r>
            <a:r>
              <a:rPr lang="zh-CN" altLang="en-US" sz="2300" dirty="0">
                <a:latin typeface="Times New Roman" panose="02020603050405020304" pitchFamily="18" charset="0"/>
                <a:cs typeface="Times New Roman" panose="02020603050405020304" pitchFamily="18" charset="0"/>
              </a:rPr>
              <a:t>所示的贝叶斯网络为例</a:t>
            </a:r>
            <a:r>
              <a:rPr lang="en-US" altLang="zh-CN" sz="2300" dirty="0">
                <a:latin typeface="Times New Roman" panose="02020603050405020304" pitchFamily="18" charset="0"/>
                <a:cs typeface="Times New Roman" panose="02020603050405020304" pitchFamily="18" charset="0"/>
              </a:rPr>
              <a:t>: </a:t>
            </a:r>
            <a:r>
              <a:rPr lang="zh-CN" altLang="en-US" sz="2300" dirty="0">
                <a:latin typeface="Times New Roman" panose="02020603050405020304" pitchFamily="18" charset="0"/>
                <a:cs typeface="Times New Roman" panose="02020603050405020304" pitchFamily="18" charset="0"/>
              </a:rPr>
              <a:t>假设已知某人吸烟 </a:t>
            </a:r>
            <a:r>
              <a:rPr lang="en-US" altLang="zh-CN" sz="2300" dirty="0">
                <a:latin typeface="Times New Roman" panose="02020603050405020304" pitchFamily="18" charset="0"/>
                <a:cs typeface="Times New Roman" panose="02020603050405020304" pitchFamily="18" charset="0"/>
              </a:rPr>
              <a:t>(</a:t>
            </a:r>
            <a:r>
              <a:rPr lang="en-US" altLang="zh-CN" sz="2300" i="1" dirty="0">
                <a:latin typeface="Times New Roman" panose="02020603050405020304" pitchFamily="18" charset="0"/>
                <a:cs typeface="Times New Roman" panose="02020603050405020304" pitchFamily="18" charset="0"/>
              </a:rPr>
              <a:t>S</a:t>
            </a:r>
            <a:r>
              <a:rPr lang="en-US" altLang="zh-CN" sz="2300" dirty="0">
                <a:latin typeface="Times New Roman" panose="02020603050405020304" pitchFamily="18" charset="0"/>
                <a:cs typeface="Times New Roman" panose="02020603050405020304" pitchFamily="18" charset="0"/>
              </a:rPr>
              <a:t>)</a:t>
            </a:r>
            <a:r>
              <a:rPr lang="zh-CN" altLang="en-US" sz="2300" dirty="0">
                <a:latin typeface="Times New Roman" panose="02020603050405020304" pitchFamily="18" charset="0"/>
                <a:cs typeface="Times New Roman" panose="02020603050405020304" pitchFamily="18" charset="0"/>
              </a:rPr>
              <a:t>，计算他患气管炎</a:t>
            </a:r>
            <a:r>
              <a:rPr lang="en-US" altLang="zh-CN" sz="2300" dirty="0">
                <a:latin typeface="Times New Roman" panose="02020603050405020304" pitchFamily="18" charset="0"/>
                <a:cs typeface="Times New Roman" panose="02020603050405020304" pitchFamily="18" charset="0"/>
              </a:rPr>
              <a:t>(</a:t>
            </a:r>
            <a:r>
              <a:rPr lang="en-US" altLang="zh-CN" sz="2300" i="1" dirty="0">
                <a:latin typeface="Times New Roman" panose="02020603050405020304" pitchFamily="18" charset="0"/>
                <a:cs typeface="Times New Roman" panose="02020603050405020304" pitchFamily="18" charset="0"/>
              </a:rPr>
              <a:t>T</a:t>
            </a:r>
            <a:r>
              <a:rPr lang="en-US" altLang="zh-CN" sz="2300" dirty="0">
                <a:latin typeface="Times New Roman" panose="02020603050405020304" pitchFamily="18" charset="0"/>
                <a:cs typeface="Times New Roman" panose="02020603050405020304" pitchFamily="18" charset="0"/>
              </a:rPr>
              <a:t>)</a:t>
            </a:r>
            <a:r>
              <a:rPr lang="zh-CN" altLang="en-US" sz="2300" dirty="0">
                <a:latin typeface="Times New Roman" panose="02020603050405020304" pitchFamily="18" charset="0"/>
                <a:cs typeface="Times New Roman" panose="02020603050405020304" pitchFamily="18" charset="0"/>
              </a:rPr>
              <a:t>的概率</a:t>
            </a:r>
            <a:r>
              <a:rPr lang="en-US" altLang="zh-CN" sz="2300" i="1" dirty="0">
                <a:latin typeface="Times New Roman" panose="02020603050405020304" pitchFamily="18" charset="0"/>
                <a:cs typeface="Times New Roman" panose="02020603050405020304" pitchFamily="18" charset="0"/>
              </a:rPr>
              <a:t>P</a:t>
            </a:r>
            <a:r>
              <a:rPr lang="en-US" altLang="zh-CN" sz="2300" dirty="0">
                <a:latin typeface="Times New Roman" panose="02020603050405020304" pitchFamily="18" charset="0"/>
                <a:cs typeface="Times New Roman" panose="02020603050405020304" pitchFamily="18" charset="0"/>
              </a:rPr>
              <a:t>(</a:t>
            </a:r>
            <a:r>
              <a:rPr lang="en-US" altLang="zh-CN" sz="2300" i="1" dirty="0">
                <a:latin typeface="Times New Roman" panose="02020603050405020304" pitchFamily="18" charset="0"/>
                <a:cs typeface="Times New Roman" panose="02020603050405020304" pitchFamily="18" charset="0"/>
              </a:rPr>
              <a:t>T</a:t>
            </a:r>
            <a:r>
              <a:rPr lang="en-US" altLang="zh-CN" sz="2300" dirty="0">
                <a:latin typeface="Times New Roman" panose="02020603050405020304" pitchFamily="18" charset="0"/>
                <a:cs typeface="Times New Roman" panose="02020603050405020304" pitchFamily="18" charset="0"/>
              </a:rPr>
              <a:t>|</a:t>
            </a:r>
            <a:r>
              <a:rPr lang="en-US" altLang="zh-CN" sz="2300" i="1" dirty="0">
                <a:latin typeface="Times New Roman" panose="02020603050405020304" pitchFamily="18" charset="0"/>
                <a:cs typeface="Times New Roman" panose="02020603050405020304" pitchFamily="18" charset="0"/>
              </a:rPr>
              <a:t>S</a:t>
            </a:r>
            <a:r>
              <a:rPr lang="en-US" altLang="zh-CN" sz="2300" dirty="0">
                <a:latin typeface="Times New Roman" panose="02020603050405020304" pitchFamily="18" charset="0"/>
                <a:cs typeface="Times New Roman" panose="02020603050405020304" pitchFamily="18" charset="0"/>
              </a:rPr>
              <a:t>)</a:t>
            </a:r>
            <a:r>
              <a:rPr lang="zh-CN" altLang="en-US" sz="2300" dirty="0">
                <a:latin typeface="Times New Roman" panose="02020603050405020304" pitchFamily="18" charset="0"/>
                <a:cs typeface="Times New Roman" panose="02020603050405020304" pitchFamily="18" charset="0"/>
              </a:rPr>
              <a:t>。</a:t>
            </a:r>
          </a:p>
          <a:p>
            <a:pPr algn="just" latinLnBrk="1">
              <a:lnSpc>
                <a:spcPct val="140000"/>
              </a:lnSpc>
              <a:spcBef>
                <a:spcPct val="0"/>
              </a:spcBef>
              <a:buNone/>
            </a:pPr>
            <a:r>
              <a:rPr lang="zh-CN" altLang="en-US" sz="2300" dirty="0">
                <a:latin typeface="Times New Roman" panose="02020603050405020304" pitchFamily="18" charset="0"/>
                <a:cs typeface="Times New Roman" panose="02020603050405020304" pitchFamily="18" charset="0"/>
              </a:rPr>
              <a:t>             首先，由于</a:t>
            </a:r>
            <a:r>
              <a:rPr lang="en-US" altLang="zh-CN" sz="2300" i="1" dirty="0">
                <a:latin typeface="Times New Roman" panose="02020603050405020304" pitchFamily="18" charset="0"/>
                <a:cs typeface="Times New Roman" panose="02020603050405020304" pitchFamily="18" charset="0"/>
              </a:rPr>
              <a:t>T</a:t>
            </a:r>
            <a:r>
              <a:rPr lang="zh-CN" altLang="en-US" sz="2300" dirty="0">
                <a:latin typeface="Times New Roman" panose="02020603050405020304" pitchFamily="18" charset="0"/>
                <a:cs typeface="Times New Roman" panose="02020603050405020304" pitchFamily="18" charset="0"/>
              </a:rPr>
              <a:t>还有另一个因节点</a:t>
            </a:r>
            <a:r>
              <a:rPr lang="en-US" altLang="zh-CN" sz="2300" dirty="0">
                <a:latin typeface="Times New Roman" panose="02020603050405020304" pitchFamily="18" charset="0"/>
                <a:cs typeface="Times New Roman" panose="02020603050405020304" pitchFamily="18" charset="0"/>
              </a:rPr>
              <a:t>──</a:t>
            </a:r>
            <a:r>
              <a:rPr lang="zh-CN" altLang="en-US" sz="2300" dirty="0">
                <a:latin typeface="Times New Roman" panose="02020603050405020304" pitchFamily="18" charset="0"/>
                <a:cs typeface="Times New Roman" panose="02020603050405020304" pitchFamily="18" charset="0"/>
              </a:rPr>
              <a:t>感冒</a:t>
            </a:r>
            <a:r>
              <a:rPr lang="en-US" altLang="zh-CN" sz="2300" dirty="0">
                <a:latin typeface="Times New Roman" panose="02020603050405020304" pitchFamily="18" charset="0"/>
                <a:cs typeface="Times New Roman" panose="02020603050405020304" pitchFamily="18" charset="0"/>
              </a:rPr>
              <a:t>(</a:t>
            </a:r>
            <a:r>
              <a:rPr lang="en-US" altLang="zh-CN" sz="2300" i="1" dirty="0">
                <a:latin typeface="Times New Roman" panose="02020603050405020304" pitchFamily="18" charset="0"/>
                <a:cs typeface="Times New Roman" panose="02020603050405020304" pitchFamily="18" charset="0"/>
              </a:rPr>
              <a:t>C</a:t>
            </a:r>
            <a:r>
              <a:rPr lang="en-US" altLang="zh-CN" sz="2300" dirty="0">
                <a:latin typeface="Times New Roman" panose="02020603050405020304" pitchFamily="18" charset="0"/>
                <a:cs typeface="Times New Roman" panose="02020603050405020304" pitchFamily="18" charset="0"/>
              </a:rPr>
              <a:t>)</a:t>
            </a:r>
            <a:r>
              <a:rPr lang="zh-CN" altLang="en-US" sz="2300" dirty="0">
                <a:latin typeface="Times New Roman" panose="02020603050405020304" pitchFamily="18" charset="0"/>
                <a:cs typeface="Times New Roman" panose="02020603050405020304" pitchFamily="18" charset="0"/>
              </a:rPr>
              <a:t>，因此我们可以对概率</a:t>
            </a:r>
            <a:r>
              <a:rPr lang="en-US" altLang="zh-CN" sz="2300" i="1" dirty="0">
                <a:latin typeface="Times New Roman" panose="02020603050405020304" pitchFamily="18" charset="0"/>
                <a:cs typeface="Times New Roman" panose="02020603050405020304" pitchFamily="18" charset="0"/>
              </a:rPr>
              <a:t>P</a:t>
            </a:r>
            <a:r>
              <a:rPr lang="en-US" altLang="zh-CN" sz="2300" dirty="0">
                <a:latin typeface="Times New Roman" panose="02020603050405020304" pitchFamily="18" charset="0"/>
                <a:cs typeface="Times New Roman" panose="02020603050405020304" pitchFamily="18" charset="0"/>
              </a:rPr>
              <a:t>(</a:t>
            </a:r>
            <a:r>
              <a:rPr lang="en-US" altLang="zh-CN" sz="2300" i="1" dirty="0">
                <a:latin typeface="Times New Roman" panose="02020603050405020304" pitchFamily="18" charset="0"/>
                <a:cs typeface="Times New Roman" panose="02020603050405020304" pitchFamily="18" charset="0"/>
              </a:rPr>
              <a:t>T</a:t>
            </a:r>
            <a:r>
              <a:rPr lang="en-US" altLang="zh-CN" sz="2300" dirty="0">
                <a:latin typeface="Times New Roman" panose="02020603050405020304" pitchFamily="18" charset="0"/>
                <a:cs typeface="Times New Roman" panose="02020603050405020304" pitchFamily="18" charset="0"/>
              </a:rPr>
              <a:t>|</a:t>
            </a:r>
            <a:r>
              <a:rPr lang="en-US" altLang="zh-CN" sz="2300" i="1" dirty="0">
                <a:latin typeface="Times New Roman" panose="02020603050405020304" pitchFamily="18" charset="0"/>
                <a:cs typeface="Times New Roman" panose="02020603050405020304" pitchFamily="18" charset="0"/>
              </a:rPr>
              <a:t>S</a:t>
            </a:r>
            <a:r>
              <a:rPr lang="en-US" altLang="zh-CN" sz="2300" dirty="0">
                <a:latin typeface="Times New Roman" panose="02020603050405020304" pitchFamily="18" charset="0"/>
                <a:cs typeface="Times New Roman" panose="02020603050405020304" pitchFamily="18" charset="0"/>
              </a:rPr>
              <a:t>)</a:t>
            </a:r>
            <a:r>
              <a:rPr lang="zh-CN" altLang="en-US" sz="2300" dirty="0">
                <a:latin typeface="Times New Roman" panose="02020603050405020304" pitchFamily="18" charset="0"/>
                <a:cs typeface="Times New Roman" panose="02020603050405020304" pitchFamily="18" charset="0"/>
              </a:rPr>
              <a:t>进行扩展，得</a:t>
            </a:r>
          </a:p>
          <a:p>
            <a:pPr algn="just" latinLnBrk="1">
              <a:lnSpc>
                <a:spcPct val="140000"/>
              </a:lnSpc>
              <a:spcBef>
                <a:spcPct val="0"/>
              </a:spcBef>
              <a:buNone/>
            </a:pPr>
            <a:r>
              <a:rPr lang="en-US" altLang="zh-CN" sz="2300" dirty="0">
                <a:latin typeface="Times New Roman" panose="02020603050405020304" pitchFamily="18" charset="0"/>
                <a:cs typeface="Times New Roman" panose="02020603050405020304" pitchFamily="18" charset="0"/>
              </a:rPr>
              <a:t>                              </a:t>
            </a:r>
            <a:r>
              <a:rPr lang="en-US" altLang="zh-CN" sz="2300" i="1" dirty="0">
                <a:latin typeface="Times New Roman" panose="02020603050405020304" pitchFamily="18" charset="0"/>
                <a:cs typeface="Times New Roman" panose="02020603050405020304" pitchFamily="18" charset="0"/>
              </a:rPr>
              <a:t>P</a:t>
            </a:r>
            <a:r>
              <a:rPr lang="en-US" altLang="zh-CN" sz="2300" dirty="0">
                <a:latin typeface="Times New Roman" panose="02020603050405020304" pitchFamily="18" charset="0"/>
                <a:cs typeface="Times New Roman" panose="02020603050405020304" pitchFamily="18" charset="0"/>
              </a:rPr>
              <a:t>(</a:t>
            </a:r>
            <a:r>
              <a:rPr lang="en-US" altLang="zh-CN" sz="2300" i="1" dirty="0">
                <a:latin typeface="Times New Roman" panose="02020603050405020304" pitchFamily="18" charset="0"/>
                <a:cs typeface="Times New Roman" panose="02020603050405020304" pitchFamily="18" charset="0"/>
              </a:rPr>
              <a:t>T</a:t>
            </a:r>
            <a:r>
              <a:rPr lang="en-US" altLang="zh-CN" sz="2300" dirty="0">
                <a:latin typeface="Times New Roman" panose="02020603050405020304" pitchFamily="18" charset="0"/>
                <a:cs typeface="Times New Roman" panose="02020603050405020304" pitchFamily="18" charset="0"/>
              </a:rPr>
              <a:t>|</a:t>
            </a:r>
            <a:r>
              <a:rPr lang="en-US" altLang="zh-CN" sz="2300" i="1" dirty="0">
                <a:latin typeface="Times New Roman" panose="02020603050405020304" pitchFamily="18" charset="0"/>
                <a:cs typeface="Times New Roman" panose="02020603050405020304" pitchFamily="18" charset="0"/>
              </a:rPr>
              <a:t>S</a:t>
            </a:r>
            <a:r>
              <a:rPr lang="en-US" altLang="zh-CN" sz="2300" dirty="0">
                <a:latin typeface="Times New Roman" panose="02020603050405020304" pitchFamily="18" charset="0"/>
                <a:cs typeface="Times New Roman" panose="02020603050405020304" pitchFamily="18" charset="0"/>
              </a:rPr>
              <a:t>) =</a:t>
            </a:r>
            <a:r>
              <a:rPr lang="en-US" altLang="zh-CN" sz="2300" i="1" dirty="0">
                <a:latin typeface="Times New Roman" panose="02020603050405020304" pitchFamily="18" charset="0"/>
                <a:cs typeface="Times New Roman" panose="02020603050405020304" pitchFamily="18" charset="0"/>
              </a:rPr>
              <a:t> P</a:t>
            </a:r>
            <a:r>
              <a:rPr lang="en-US" altLang="zh-CN" sz="2300" dirty="0">
                <a:latin typeface="Times New Roman" panose="02020603050405020304" pitchFamily="18" charset="0"/>
                <a:cs typeface="Times New Roman" panose="02020603050405020304" pitchFamily="18" charset="0"/>
              </a:rPr>
              <a:t>(</a:t>
            </a:r>
            <a:r>
              <a:rPr lang="en-US" altLang="zh-CN" sz="2300" i="1" dirty="0">
                <a:latin typeface="Times New Roman" panose="02020603050405020304" pitchFamily="18" charset="0"/>
                <a:cs typeface="Times New Roman" panose="02020603050405020304" pitchFamily="18" charset="0"/>
              </a:rPr>
              <a:t>T</a:t>
            </a:r>
            <a:r>
              <a:rPr lang="en-US" altLang="zh-CN" sz="2300" dirty="0">
                <a:latin typeface="Times New Roman" panose="02020603050405020304" pitchFamily="18" charset="0"/>
                <a:cs typeface="Times New Roman" panose="02020603050405020304" pitchFamily="18" charset="0"/>
              </a:rPr>
              <a:t>, </a:t>
            </a:r>
            <a:r>
              <a:rPr lang="en-US" altLang="zh-CN" sz="2300" i="1" dirty="0">
                <a:latin typeface="Times New Roman" panose="02020603050405020304" pitchFamily="18" charset="0"/>
                <a:cs typeface="Times New Roman" panose="02020603050405020304" pitchFamily="18" charset="0"/>
              </a:rPr>
              <a:t>C</a:t>
            </a:r>
            <a:r>
              <a:rPr lang="en-US" altLang="zh-CN" sz="2300" dirty="0">
                <a:latin typeface="Times New Roman" panose="02020603050405020304" pitchFamily="18" charset="0"/>
                <a:cs typeface="Times New Roman" panose="02020603050405020304" pitchFamily="18" charset="0"/>
              </a:rPr>
              <a:t>|</a:t>
            </a:r>
            <a:r>
              <a:rPr lang="en-US" altLang="zh-CN" sz="2300" i="1" dirty="0">
                <a:latin typeface="Times New Roman" panose="02020603050405020304" pitchFamily="18" charset="0"/>
                <a:cs typeface="Times New Roman" panose="02020603050405020304" pitchFamily="18" charset="0"/>
              </a:rPr>
              <a:t>S</a:t>
            </a:r>
            <a:r>
              <a:rPr lang="en-US" altLang="zh-CN" sz="2300" dirty="0">
                <a:latin typeface="Times New Roman" panose="02020603050405020304" pitchFamily="18" charset="0"/>
                <a:cs typeface="Times New Roman" panose="02020603050405020304" pitchFamily="18" charset="0"/>
              </a:rPr>
              <a:t>)+</a:t>
            </a:r>
            <a:r>
              <a:rPr lang="en-US" altLang="zh-CN" sz="2300" i="1" dirty="0">
                <a:latin typeface="Times New Roman" panose="02020603050405020304" pitchFamily="18" charset="0"/>
                <a:cs typeface="Times New Roman" panose="02020603050405020304" pitchFamily="18" charset="0"/>
              </a:rPr>
              <a:t>P</a:t>
            </a:r>
            <a:r>
              <a:rPr lang="en-US" altLang="zh-CN" sz="2300" dirty="0">
                <a:latin typeface="Times New Roman" panose="02020603050405020304" pitchFamily="18" charset="0"/>
                <a:cs typeface="Times New Roman" panose="02020603050405020304" pitchFamily="18" charset="0"/>
              </a:rPr>
              <a:t>(</a:t>
            </a:r>
            <a:r>
              <a:rPr lang="en-US" altLang="zh-CN" sz="2300" i="1" dirty="0">
                <a:latin typeface="Times New Roman" panose="02020603050405020304" pitchFamily="18" charset="0"/>
                <a:cs typeface="Times New Roman" panose="02020603050405020304" pitchFamily="18" charset="0"/>
              </a:rPr>
              <a:t>T</a:t>
            </a:r>
            <a:r>
              <a:rPr lang="en-US" altLang="zh-CN" sz="2300" dirty="0">
                <a:latin typeface="Times New Roman" panose="02020603050405020304" pitchFamily="18" charset="0"/>
                <a:cs typeface="Times New Roman" panose="02020603050405020304" pitchFamily="18" charset="0"/>
              </a:rPr>
              <a:t>, ¬</a:t>
            </a:r>
            <a:r>
              <a:rPr lang="en-US" altLang="zh-CN" sz="2300" i="1" dirty="0">
                <a:latin typeface="Times New Roman" panose="02020603050405020304" pitchFamily="18" charset="0"/>
                <a:cs typeface="Times New Roman" panose="02020603050405020304" pitchFamily="18" charset="0"/>
              </a:rPr>
              <a:t>C</a:t>
            </a:r>
            <a:r>
              <a:rPr lang="en-US" altLang="zh-CN" sz="2300" dirty="0">
                <a:latin typeface="Times New Roman" panose="02020603050405020304" pitchFamily="18" charset="0"/>
                <a:cs typeface="Times New Roman" panose="02020603050405020304" pitchFamily="18" charset="0"/>
              </a:rPr>
              <a:t>|</a:t>
            </a:r>
            <a:r>
              <a:rPr lang="en-US" altLang="zh-CN" sz="2300" i="1" dirty="0">
                <a:latin typeface="Times New Roman" panose="02020603050405020304" pitchFamily="18" charset="0"/>
                <a:cs typeface="Times New Roman" panose="02020603050405020304" pitchFamily="18" charset="0"/>
              </a:rPr>
              <a:t>S</a:t>
            </a:r>
            <a:r>
              <a:rPr lang="en-US" altLang="zh-CN" sz="2300" dirty="0">
                <a:latin typeface="Times New Roman" panose="02020603050405020304" pitchFamily="18" charset="0"/>
                <a:cs typeface="Times New Roman" panose="02020603050405020304" pitchFamily="18" charset="0"/>
              </a:rPr>
              <a:t>)                   (8-30)</a:t>
            </a:r>
            <a:endParaRPr lang="zh-CN" altLang="en-US" sz="2300" dirty="0">
              <a:latin typeface="Times New Roman" panose="02020603050405020304" pitchFamily="18" charset="0"/>
              <a:cs typeface="Times New Roman" panose="02020603050405020304" pitchFamily="18" charset="0"/>
            </a:endParaRPr>
          </a:p>
          <a:p>
            <a:pPr algn="just" latinLnBrk="1">
              <a:lnSpc>
                <a:spcPct val="140000"/>
              </a:lnSpc>
              <a:buNone/>
            </a:pPr>
            <a:r>
              <a:rPr lang="zh-CN" altLang="en-US" sz="2300" dirty="0">
                <a:latin typeface="Times New Roman" panose="02020603050405020304" pitchFamily="18" charset="0"/>
                <a:cs typeface="Times New Roman" panose="02020603050405020304" pitchFamily="18" charset="0"/>
              </a:rPr>
              <a:t>     这是两个联合概率的和。意思是因吸烟而得气管炎的概率</a:t>
            </a:r>
            <a:r>
              <a:rPr lang="en-US" altLang="zh-CN" sz="2300" i="1" dirty="0">
                <a:latin typeface="Times New Roman" panose="02020603050405020304" pitchFamily="18" charset="0"/>
                <a:cs typeface="Times New Roman" panose="02020603050405020304" pitchFamily="18" charset="0"/>
              </a:rPr>
              <a:t>P</a:t>
            </a:r>
            <a:r>
              <a:rPr lang="en-US" altLang="zh-CN" sz="2300" dirty="0">
                <a:latin typeface="Times New Roman" panose="02020603050405020304" pitchFamily="18" charset="0"/>
                <a:cs typeface="Times New Roman" panose="02020603050405020304" pitchFamily="18" charset="0"/>
              </a:rPr>
              <a:t>(</a:t>
            </a:r>
            <a:r>
              <a:rPr lang="en-US" altLang="zh-CN" sz="2300" i="1" dirty="0">
                <a:latin typeface="Times New Roman" panose="02020603050405020304" pitchFamily="18" charset="0"/>
                <a:cs typeface="Times New Roman" panose="02020603050405020304" pitchFamily="18" charset="0"/>
              </a:rPr>
              <a:t>T</a:t>
            </a:r>
            <a:r>
              <a:rPr lang="en-US" altLang="zh-CN" sz="2300" dirty="0">
                <a:latin typeface="Times New Roman" panose="02020603050405020304" pitchFamily="18" charset="0"/>
                <a:cs typeface="Times New Roman" panose="02020603050405020304" pitchFamily="18" charset="0"/>
              </a:rPr>
              <a:t>|</a:t>
            </a:r>
            <a:r>
              <a:rPr lang="en-US" altLang="zh-CN" sz="2300" i="1" dirty="0">
                <a:latin typeface="Times New Roman" panose="02020603050405020304" pitchFamily="18" charset="0"/>
                <a:cs typeface="Times New Roman" panose="02020603050405020304" pitchFamily="18" charset="0"/>
              </a:rPr>
              <a:t>S</a:t>
            </a:r>
            <a:r>
              <a:rPr lang="en-US" altLang="zh-CN" sz="2300" dirty="0">
                <a:latin typeface="Times New Roman" panose="02020603050405020304" pitchFamily="18" charset="0"/>
                <a:cs typeface="Times New Roman" panose="02020603050405020304" pitchFamily="18" charset="0"/>
              </a:rPr>
              <a:t>)</a:t>
            </a:r>
            <a:r>
              <a:rPr lang="zh-CN" altLang="en-US" sz="2300" dirty="0">
                <a:latin typeface="Times New Roman" panose="02020603050405020304" pitchFamily="18" charset="0"/>
                <a:cs typeface="Times New Roman" panose="02020603050405020304" pitchFamily="18" charset="0"/>
              </a:rPr>
              <a:t>等于因吸烟而得气管炎且患感冒的概率</a:t>
            </a:r>
            <a:r>
              <a:rPr lang="en-US" altLang="zh-CN" sz="2300" i="1" dirty="0">
                <a:latin typeface="Times New Roman" panose="02020603050405020304" pitchFamily="18" charset="0"/>
                <a:cs typeface="Times New Roman" panose="02020603050405020304" pitchFamily="18" charset="0"/>
              </a:rPr>
              <a:t>P</a:t>
            </a:r>
            <a:r>
              <a:rPr lang="en-US" altLang="zh-CN" sz="2300" dirty="0">
                <a:latin typeface="Times New Roman" panose="02020603050405020304" pitchFamily="18" charset="0"/>
                <a:cs typeface="Times New Roman" panose="02020603050405020304" pitchFamily="18" charset="0"/>
              </a:rPr>
              <a:t>(</a:t>
            </a:r>
            <a:r>
              <a:rPr lang="en-US" altLang="zh-CN" sz="2300" i="1" dirty="0">
                <a:latin typeface="Times New Roman" panose="02020603050405020304" pitchFamily="18" charset="0"/>
                <a:cs typeface="Times New Roman" panose="02020603050405020304" pitchFamily="18" charset="0"/>
              </a:rPr>
              <a:t>T</a:t>
            </a:r>
            <a:r>
              <a:rPr lang="en-US" altLang="zh-CN" sz="2300" dirty="0">
                <a:latin typeface="Times New Roman" panose="02020603050405020304" pitchFamily="18" charset="0"/>
                <a:cs typeface="Times New Roman" panose="02020603050405020304" pitchFamily="18" charset="0"/>
              </a:rPr>
              <a:t>, </a:t>
            </a:r>
            <a:r>
              <a:rPr lang="en-US" altLang="zh-CN" sz="2300" i="1" dirty="0">
                <a:latin typeface="Times New Roman" panose="02020603050405020304" pitchFamily="18" charset="0"/>
                <a:cs typeface="Times New Roman" panose="02020603050405020304" pitchFamily="18" charset="0"/>
              </a:rPr>
              <a:t>C</a:t>
            </a:r>
            <a:r>
              <a:rPr lang="en-US" altLang="zh-CN" sz="2300" dirty="0">
                <a:latin typeface="Times New Roman" panose="02020603050405020304" pitchFamily="18" charset="0"/>
                <a:cs typeface="Times New Roman" panose="02020603050405020304" pitchFamily="18" charset="0"/>
              </a:rPr>
              <a:t>|</a:t>
            </a:r>
            <a:r>
              <a:rPr lang="en-US" altLang="zh-CN" sz="2300" i="1" dirty="0">
                <a:latin typeface="Times New Roman" panose="02020603050405020304" pitchFamily="18" charset="0"/>
                <a:cs typeface="Times New Roman" panose="02020603050405020304" pitchFamily="18" charset="0"/>
              </a:rPr>
              <a:t>S</a:t>
            </a:r>
            <a:r>
              <a:rPr lang="en-US" altLang="zh-CN" sz="2300" dirty="0">
                <a:latin typeface="Times New Roman" panose="02020603050405020304" pitchFamily="18" charset="0"/>
                <a:cs typeface="Times New Roman" panose="02020603050405020304" pitchFamily="18" charset="0"/>
              </a:rPr>
              <a:t>)</a:t>
            </a:r>
            <a:r>
              <a:rPr lang="zh-CN" altLang="en-US" sz="2300" dirty="0">
                <a:latin typeface="Times New Roman" panose="02020603050405020304" pitchFamily="18" charset="0"/>
                <a:cs typeface="Times New Roman" panose="02020603050405020304" pitchFamily="18" charset="0"/>
              </a:rPr>
              <a:t>与因吸烟而得气管炎且未患感冒的概率</a:t>
            </a:r>
            <a:r>
              <a:rPr lang="en-US" altLang="zh-CN" sz="2300" i="1" dirty="0">
                <a:latin typeface="Times New Roman" panose="02020603050405020304" pitchFamily="18" charset="0"/>
                <a:cs typeface="Times New Roman" panose="02020603050405020304" pitchFamily="18" charset="0"/>
              </a:rPr>
              <a:t>P</a:t>
            </a:r>
            <a:r>
              <a:rPr lang="en-US" altLang="zh-CN" sz="2300" dirty="0">
                <a:latin typeface="Times New Roman" panose="02020603050405020304" pitchFamily="18" charset="0"/>
                <a:cs typeface="Times New Roman" panose="02020603050405020304" pitchFamily="18" charset="0"/>
              </a:rPr>
              <a:t>(</a:t>
            </a:r>
            <a:r>
              <a:rPr lang="en-US" altLang="zh-CN" sz="2300" i="1" dirty="0">
                <a:latin typeface="Times New Roman" panose="02020603050405020304" pitchFamily="18" charset="0"/>
                <a:cs typeface="Times New Roman" panose="02020603050405020304" pitchFamily="18" charset="0"/>
              </a:rPr>
              <a:t>T</a:t>
            </a:r>
            <a:r>
              <a:rPr lang="en-US" altLang="zh-CN" sz="2300" dirty="0">
                <a:latin typeface="Times New Roman" panose="02020603050405020304" pitchFamily="18" charset="0"/>
                <a:cs typeface="Times New Roman" panose="02020603050405020304" pitchFamily="18" charset="0"/>
              </a:rPr>
              <a:t>, ¬</a:t>
            </a:r>
            <a:r>
              <a:rPr lang="en-US" altLang="zh-CN" sz="2300" i="1" dirty="0">
                <a:latin typeface="Times New Roman" panose="02020603050405020304" pitchFamily="18" charset="0"/>
                <a:cs typeface="Times New Roman" panose="02020603050405020304" pitchFamily="18" charset="0"/>
              </a:rPr>
              <a:t>C</a:t>
            </a:r>
            <a:r>
              <a:rPr lang="en-US" altLang="zh-CN" sz="2300" dirty="0">
                <a:latin typeface="Times New Roman" panose="02020603050405020304" pitchFamily="18" charset="0"/>
                <a:cs typeface="Times New Roman" panose="02020603050405020304" pitchFamily="18" charset="0"/>
              </a:rPr>
              <a:t>|</a:t>
            </a:r>
            <a:r>
              <a:rPr lang="en-US" altLang="zh-CN" sz="2300" i="1" dirty="0">
                <a:latin typeface="Times New Roman" panose="02020603050405020304" pitchFamily="18" charset="0"/>
                <a:cs typeface="Times New Roman" panose="02020603050405020304" pitchFamily="18" charset="0"/>
              </a:rPr>
              <a:t>S</a:t>
            </a:r>
            <a:r>
              <a:rPr lang="en-US" altLang="zh-CN" sz="2300" dirty="0">
                <a:latin typeface="Times New Roman" panose="02020603050405020304" pitchFamily="18" charset="0"/>
                <a:cs typeface="Times New Roman" panose="02020603050405020304" pitchFamily="18" charset="0"/>
              </a:rPr>
              <a:t>)</a:t>
            </a:r>
            <a:r>
              <a:rPr lang="zh-CN" altLang="en-US" sz="2300" dirty="0">
                <a:latin typeface="Times New Roman" panose="02020603050405020304" pitchFamily="18" charset="0"/>
                <a:cs typeface="Times New Roman" panose="02020603050405020304" pitchFamily="18" charset="0"/>
              </a:rPr>
              <a:t>之和。</a:t>
            </a:r>
          </a:p>
          <a:p>
            <a:pPr>
              <a:buNone/>
            </a:pPr>
            <a:endParaRPr lang="zh-CN" altLang="en-US" sz="2400" dirty="0"/>
          </a:p>
        </p:txBody>
      </p:sp>
    </p:spTree>
    <p:extLst>
      <p:ext uri="{BB962C8B-B14F-4D97-AF65-F5344CB8AC3E}">
        <p14:creationId xmlns:p14="http://schemas.microsoft.com/office/powerpoint/2010/main" val="2187967136"/>
      </p:ext>
    </p:extLst>
  </p:cSld>
  <p:clrMapOvr>
    <a:masterClrMapping/>
  </p:clrMapOvr>
  <p:transition/>
</p:sld>
</file>

<file path=ppt/slides/slide4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内容占位符 3"/>
          <p:cNvSpPr>
            <a:spLocks noGrp="1"/>
          </p:cNvSpPr>
          <p:nvPr>
            <p:ph idx="1"/>
          </p:nvPr>
        </p:nvSpPr>
        <p:spPr>
          <a:xfrm>
            <a:off x="107950" y="884238"/>
            <a:ext cx="8785225" cy="5713412"/>
          </a:xfrm>
          <a:ln/>
        </p:spPr>
        <p:txBody>
          <a:bodyPr vert="horz" wrap="square" lIns="91440" tIns="45720" rIns="91440" bIns="45720" anchor="t" anchorCtr="0"/>
          <a:lstStyle/>
          <a:p>
            <a:pPr latinLnBrk="1">
              <a:lnSpc>
                <a:spcPct val="150000"/>
              </a:lnSpc>
              <a:buNone/>
            </a:pPr>
            <a:r>
              <a:rPr lang="zh-CN" altLang="en-US" sz="2400" dirty="0">
                <a:latin typeface="Times New Roman" panose="02020603050405020304" pitchFamily="18" charset="0"/>
                <a:cs typeface="Times New Roman" panose="02020603050405020304" pitchFamily="18" charset="0"/>
              </a:rPr>
              <a:t>     </a:t>
            </a:r>
            <a:r>
              <a:rPr lang="zh-CN" altLang="en-US" sz="2200" dirty="0">
                <a:latin typeface="Times New Roman" panose="02020603050405020304" pitchFamily="18" charset="0"/>
                <a:cs typeface="Times New Roman" panose="02020603050405020304" pitchFamily="18" charset="0"/>
              </a:rPr>
              <a:t>接着，对</a:t>
            </a:r>
            <a:r>
              <a:rPr lang="en-US" altLang="zh-CN" sz="2200" dirty="0">
                <a:latin typeface="Times New Roman" panose="02020603050405020304" pitchFamily="18" charset="0"/>
                <a:cs typeface="Times New Roman" panose="02020603050405020304" pitchFamily="18" charset="0"/>
              </a:rPr>
              <a:t>8-30</a:t>
            </a:r>
            <a:r>
              <a:rPr lang="zh-CN" altLang="en-US" sz="2200" dirty="0">
                <a:latin typeface="Times New Roman" panose="02020603050405020304" pitchFamily="18" charset="0"/>
                <a:cs typeface="Times New Roman" panose="02020603050405020304" pitchFamily="18" charset="0"/>
              </a:rPr>
              <a:t>式中的第一项</a:t>
            </a:r>
            <a:r>
              <a:rPr lang="en-US" altLang="zh-CN" sz="2200" i="1" dirty="0">
                <a:latin typeface="Times New Roman" panose="02020603050405020304" pitchFamily="18" charset="0"/>
                <a:cs typeface="Times New Roman" panose="02020603050405020304" pitchFamily="18" charset="0"/>
              </a:rPr>
              <a:t>P</a:t>
            </a:r>
            <a:r>
              <a:rPr lang="en-US" altLang="zh-CN" sz="2200" dirty="0">
                <a:latin typeface="Times New Roman" panose="02020603050405020304" pitchFamily="18" charset="0"/>
                <a:cs typeface="Times New Roman" panose="02020603050405020304" pitchFamily="18" charset="0"/>
              </a:rPr>
              <a:t>(</a:t>
            </a:r>
            <a:r>
              <a:rPr lang="en-US" altLang="zh-CN" sz="2200" i="1" dirty="0">
                <a:latin typeface="Times New Roman" panose="02020603050405020304" pitchFamily="18" charset="0"/>
                <a:cs typeface="Times New Roman" panose="02020603050405020304" pitchFamily="18" charset="0"/>
              </a:rPr>
              <a:t>T</a:t>
            </a:r>
            <a:r>
              <a:rPr lang="en-US" altLang="zh-CN" sz="2200" dirty="0">
                <a:latin typeface="Times New Roman" panose="02020603050405020304" pitchFamily="18" charset="0"/>
                <a:cs typeface="Times New Roman" panose="02020603050405020304" pitchFamily="18" charset="0"/>
              </a:rPr>
              <a:t>, </a:t>
            </a:r>
            <a:r>
              <a:rPr lang="en-US" altLang="zh-CN" sz="2200" i="1" dirty="0">
                <a:latin typeface="Times New Roman" panose="02020603050405020304" pitchFamily="18" charset="0"/>
                <a:cs typeface="Times New Roman" panose="02020603050405020304" pitchFamily="18" charset="0"/>
              </a:rPr>
              <a:t>C</a:t>
            </a:r>
            <a:r>
              <a:rPr lang="en-US" altLang="zh-CN" sz="2200" dirty="0">
                <a:latin typeface="Times New Roman" panose="02020603050405020304" pitchFamily="18" charset="0"/>
                <a:cs typeface="Times New Roman" panose="02020603050405020304" pitchFamily="18" charset="0"/>
              </a:rPr>
              <a:t>|</a:t>
            </a:r>
            <a:r>
              <a:rPr lang="en-US" altLang="zh-CN" sz="2200" i="1" dirty="0">
                <a:latin typeface="Times New Roman" panose="02020603050405020304" pitchFamily="18" charset="0"/>
                <a:cs typeface="Times New Roman" panose="02020603050405020304" pitchFamily="18" charset="0"/>
              </a:rPr>
              <a:t>S</a:t>
            </a:r>
            <a:r>
              <a:rPr lang="en-US" altLang="zh-CN" sz="2200" dirty="0">
                <a:latin typeface="Times New Roman" panose="02020603050405020304" pitchFamily="18" charset="0"/>
                <a:cs typeface="Times New Roman" panose="02020603050405020304" pitchFamily="18" charset="0"/>
              </a:rPr>
              <a:t>)</a:t>
            </a:r>
            <a:r>
              <a:rPr lang="zh-CN" altLang="en-US" sz="2200" dirty="0">
                <a:latin typeface="Times New Roman" panose="02020603050405020304" pitchFamily="18" charset="0"/>
                <a:cs typeface="Times New Roman" panose="02020603050405020304" pitchFamily="18" charset="0"/>
              </a:rPr>
              <a:t>作如下变形：</a:t>
            </a:r>
          </a:p>
          <a:p>
            <a:pPr latinLnBrk="1">
              <a:buNone/>
            </a:pPr>
            <a:r>
              <a:rPr lang="en-US" altLang="zh-CN" sz="2200" dirty="0">
                <a:latin typeface="Times New Roman" panose="02020603050405020304" pitchFamily="18" charset="0"/>
                <a:cs typeface="Times New Roman" panose="02020603050405020304" pitchFamily="18" charset="0"/>
              </a:rPr>
              <a:t>           </a:t>
            </a:r>
            <a:r>
              <a:rPr lang="en-US" altLang="zh-CN" sz="2200" i="1" dirty="0">
                <a:latin typeface="Times New Roman" panose="02020603050405020304" pitchFamily="18" charset="0"/>
                <a:cs typeface="Times New Roman" panose="02020603050405020304" pitchFamily="18" charset="0"/>
              </a:rPr>
              <a:t>P</a:t>
            </a:r>
            <a:r>
              <a:rPr lang="en-US" altLang="zh-CN" sz="2200" dirty="0">
                <a:latin typeface="Times New Roman" panose="02020603050405020304" pitchFamily="18" charset="0"/>
                <a:cs typeface="Times New Roman" panose="02020603050405020304" pitchFamily="18" charset="0"/>
              </a:rPr>
              <a:t>(</a:t>
            </a:r>
            <a:r>
              <a:rPr lang="en-US" altLang="zh-CN" sz="2200" i="1" dirty="0">
                <a:latin typeface="Times New Roman" panose="02020603050405020304" pitchFamily="18" charset="0"/>
                <a:cs typeface="Times New Roman" panose="02020603050405020304" pitchFamily="18" charset="0"/>
              </a:rPr>
              <a:t>T</a:t>
            </a:r>
            <a:r>
              <a:rPr lang="en-US" altLang="zh-CN" sz="2200" dirty="0">
                <a:latin typeface="Times New Roman" panose="02020603050405020304" pitchFamily="18" charset="0"/>
                <a:cs typeface="Times New Roman" panose="02020603050405020304" pitchFamily="18" charset="0"/>
              </a:rPr>
              <a:t>, </a:t>
            </a:r>
            <a:r>
              <a:rPr lang="en-US" altLang="zh-CN" sz="2200" i="1" dirty="0">
                <a:latin typeface="Times New Roman" panose="02020603050405020304" pitchFamily="18" charset="0"/>
                <a:cs typeface="Times New Roman" panose="02020603050405020304" pitchFamily="18" charset="0"/>
              </a:rPr>
              <a:t>C</a:t>
            </a:r>
            <a:r>
              <a:rPr lang="en-US" altLang="zh-CN" sz="2200" dirty="0">
                <a:latin typeface="Times New Roman" panose="02020603050405020304" pitchFamily="18" charset="0"/>
                <a:cs typeface="Times New Roman" panose="02020603050405020304" pitchFamily="18" charset="0"/>
              </a:rPr>
              <a:t>|</a:t>
            </a:r>
            <a:r>
              <a:rPr lang="en-US" altLang="zh-CN" sz="2200" i="1" dirty="0">
                <a:latin typeface="Times New Roman" panose="02020603050405020304" pitchFamily="18" charset="0"/>
                <a:cs typeface="Times New Roman" panose="02020603050405020304" pitchFamily="18" charset="0"/>
              </a:rPr>
              <a:t>S</a:t>
            </a:r>
            <a:r>
              <a:rPr lang="en-US" altLang="zh-CN" sz="2200" dirty="0">
                <a:latin typeface="Times New Roman" panose="02020603050405020304" pitchFamily="18" charset="0"/>
                <a:cs typeface="Times New Roman" panose="02020603050405020304" pitchFamily="18" charset="0"/>
              </a:rPr>
              <a:t>) =</a:t>
            </a:r>
            <a:r>
              <a:rPr lang="en-US" altLang="zh-CN" sz="2200" i="1" dirty="0">
                <a:latin typeface="Times New Roman" panose="02020603050405020304" pitchFamily="18" charset="0"/>
                <a:cs typeface="Times New Roman" panose="02020603050405020304" pitchFamily="18" charset="0"/>
              </a:rPr>
              <a:t> P</a:t>
            </a:r>
            <a:r>
              <a:rPr lang="en-US" altLang="zh-CN" sz="2200" dirty="0">
                <a:latin typeface="Times New Roman" panose="02020603050405020304" pitchFamily="18" charset="0"/>
                <a:cs typeface="Times New Roman" panose="02020603050405020304" pitchFamily="18" charset="0"/>
              </a:rPr>
              <a:t>(</a:t>
            </a:r>
            <a:r>
              <a:rPr lang="en-US" altLang="zh-CN" sz="2200" i="1" dirty="0">
                <a:latin typeface="Times New Roman" panose="02020603050405020304" pitchFamily="18" charset="0"/>
                <a:cs typeface="Times New Roman" panose="02020603050405020304" pitchFamily="18" charset="0"/>
              </a:rPr>
              <a:t>T</a:t>
            </a:r>
            <a:r>
              <a:rPr lang="en-US" altLang="zh-CN" sz="2200" dirty="0">
                <a:latin typeface="Times New Roman" panose="02020603050405020304" pitchFamily="18" charset="0"/>
                <a:cs typeface="Times New Roman" panose="02020603050405020304" pitchFamily="18" charset="0"/>
              </a:rPr>
              <a:t>, </a:t>
            </a:r>
            <a:r>
              <a:rPr lang="en-US" altLang="zh-CN" sz="2200" i="1" dirty="0">
                <a:latin typeface="Times New Roman" panose="02020603050405020304" pitchFamily="18" charset="0"/>
                <a:cs typeface="Times New Roman" panose="02020603050405020304" pitchFamily="18" charset="0"/>
              </a:rPr>
              <a:t>C</a:t>
            </a:r>
            <a:r>
              <a:rPr lang="en-US" altLang="zh-CN" sz="2200" dirty="0">
                <a:latin typeface="Times New Roman" panose="02020603050405020304" pitchFamily="18" charset="0"/>
                <a:cs typeface="Times New Roman" panose="02020603050405020304" pitchFamily="18" charset="0"/>
              </a:rPr>
              <a:t>, </a:t>
            </a:r>
            <a:r>
              <a:rPr lang="en-US" altLang="zh-CN" sz="2200" i="1" dirty="0">
                <a:latin typeface="Times New Roman" panose="02020603050405020304" pitchFamily="18" charset="0"/>
                <a:cs typeface="Times New Roman" panose="02020603050405020304" pitchFamily="18" charset="0"/>
              </a:rPr>
              <a:t>S</a:t>
            </a:r>
            <a:r>
              <a:rPr lang="en-US" altLang="zh-CN" sz="2200" dirty="0">
                <a:latin typeface="Times New Roman" panose="02020603050405020304" pitchFamily="18" charset="0"/>
                <a:cs typeface="Times New Roman" panose="02020603050405020304" pitchFamily="18" charset="0"/>
              </a:rPr>
              <a:t>)/</a:t>
            </a:r>
            <a:r>
              <a:rPr lang="en-US" altLang="zh-CN" sz="2200" i="1" dirty="0">
                <a:latin typeface="Times New Roman" panose="02020603050405020304" pitchFamily="18" charset="0"/>
                <a:cs typeface="Times New Roman" panose="02020603050405020304" pitchFamily="18" charset="0"/>
              </a:rPr>
              <a:t>P</a:t>
            </a:r>
            <a:r>
              <a:rPr lang="en-US" altLang="zh-CN" sz="2200" dirty="0">
                <a:latin typeface="Times New Roman" panose="02020603050405020304" pitchFamily="18" charset="0"/>
                <a:cs typeface="Times New Roman" panose="02020603050405020304" pitchFamily="18" charset="0"/>
              </a:rPr>
              <a:t>(</a:t>
            </a:r>
            <a:r>
              <a:rPr lang="en-US" altLang="zh-CN" sz="2200" i="1" dirty="0">
                <a:latin typeface="Times New Roman" panose="02020603050405020304" pitchFamily="18" charset="0"/>
                <a:cs typeface="Times New Roman" panose="02020603050405020304" pitchFamily="18" charset="0"/>
              </a:rPr>
              <a:t>S</a:t>
            </a:r>
            <a:r>
              <a:rPr lang="en-US" altLang="zh-CN" sz="2000" dirty="0">
                <a:latin typeface="Times New Roman" panose="02020603050405020304" pitchFamily="18" charset="0"/>
                <a:cs typeface="Times New Roman" panose="02020603050405020304" pitchFamily="18" charset="0"/>
              </a:rPr>
              <a:t>)   (</a:t>
            </a:r>
            <a:r>
              <a:rPr lang="zh-CN" altLang="en-US" sz="2000" dirty="0">
                <a:latin typeface="Times New Roman" panose="02020603050405020304" pitchFamily="18" charset="0"/>
                <a:cs typeface="Times New Roman" panose="02020603050405020304" pitchFamily="18" charset="0"/>
              </a:rPr>
              <a:t>对</a:t>
            </a:r>
            <a:r>
              <a:rPr lang="en-US" altLang="zh-CN" sz="2000" i="1" dirty="0">
                <a:latin typeface="Times New Roman" panose="02020603050405020304" pitchFamily="18" charset="0"/>
                <a:cs typeface="Times New Roman" panose="02020603050405020304" pitchFamily="18" charset="0"/>
              </a:rPr>
              <a:t>P</a:t>
            </a:r>
            <a:r>
              <a:rPr lang="en-US" altLang="zh-CN" sz="2000" dirty="0">
                <a:latin typeface="Times New Roman" panose="02020603050405020304" pitchFamily="18" charset="0"/>
                <a:cs typeface="Times New Roman" panose="02020603050405020304" pitchFamily="18" charset="0"/>
              </a:rPr>
              <a:t>(</a:t>
            </a:r>
            <a:r>
              <a:rPr lang="en-US" altLang="zh-CN" sz="2000" i="1" dirty="0">
                <a:latin typeface="Times New Roman" panose="02020603050405020304" pitchFamily="18" charset="0"/>
                <a:cs typeface="Times New Roman" panose="02020603050405020304" pitchFamily="18" charset="0"/>
              </a:rPr>
              <a:t>T</a:t>
            </a:r>
            <a:r>
              <a:rPr lang="en-US" altLang="zh-CN" sz="2000" dirty="0">
                <a:latin typeface="Times New Roman" panose="02020603050405020304" pitchFamily="18" charset="0"/>
                <a:cs typeface="Times New Roman" panose="02020603050405020304" pitchFamily="18" charset="0"/>
              </a:rPr>
              <a:t>, </a:t>
            </a:r>
            <a:r>
              <a:rPr lang="en-US" altLang="zh-CN" sz="2000" i="1" dirty="0">
                <a:latin typeface="Times New Roman" panose="02020603050405020304" pitchFamily="18" charset="0"/>
                <a:cs typeface="Times New Roman" panose="02020603050405020304" pitchFamily="18" charset="0"/>
              </a:rPr>
              <a:t>C</a:t>
            </a:r>
            <a:r>
              <a:rPr lang="en-US" altLang="zh-CN" sz="2000" dirty="0">
                <a:latin typeface="Times New Roman" panose="02020603050405020304" pitchFamily="18" charset="0"/>
                <a:cs typeface="Times New Roman" panose="02020603050405020304" pitchFamily="18" charset="0"/>
              </a:rPr>
              <a:t>|</a:t>
            </a:r>
            <a:r>
              <a:rPr lang="en-US" altLang="zh-CN" sz="2000" i="1" dirty="0">
                <a:latin typeface="Times New Roman" panose="02020603050405020304" pitchFamily="18" charset="0"/>
                <a:cs typeface="Times New Roman" panose="02020603050405020304" pitchFamily="18" charset="0"/>
              </a:rPr>
              <a:t>S</a:t>
            </a:r>
            <a:r>
              <a:rPr lang="en-US" altLang="zh-CN" sz="2000" dirty="0">
                <a:latin typeface="Times New Roman" panose="02020603050405020304" pitchFamily="18" charset="0"/>
                <a:cs typeface="Times New Roman" panose="02020603050405020304" pitchFamily="18" charset="0"/>
              </a:rPr>
              <a:t>)</a:t>
            </a:r>
            <a:r>
              <a:rPr lang="zh-CN" altLang="en-US" sz="2000" dirty="0">
                <a:latin typeface="Times New Roman" panose="02020603050405020304" pitchFamily="18" charset="0"/>
                <a:cs typeface="Times New Roman" panose="02020603050405020304" pitchFamily="18" charset="0"/>
              </a:rPr>
              <a:t>逆向使用概率乘法公式</a:t>
            </a:r>
            <a:r>
              <a:rPr lang="en-US" altLang="zh-CN" sz="2000" dirty="0">
                <a:latin typeface="Times New Roman" panose="02020603050405020304" pitchFamily="18" charset="0"/>
                <a:cs typeface="Times New Roman" panose="02020603050405020304" pitchFamily="18" charset="0"/>
              </a:rPr>
              <a:t>)</a:t>
            </a:r>
            <a:endParaRPr lang="zh-CN" altLang="en-US" sz="2000" dirty="0">
              <a:latin typeface="Times New Roman" panose="02020603050405020304" pitchFamily="18" charset="0"/>
              <a:cs typeface="Times New Roman" panose="02020603050405020304" pitchFamily="18" charset="0"/>
            </a:endParaRPr>
          </a:p>
          <a:p>
            <a:pPr latinLnBrk="1">
              <a:buNone/>
            </a:pPr>
            <a:r>
              <a:rPr lang="en-US" altLang="zh-CN" sz="2200" dirty="0">
                <a:latin typeface="Times New Roman" panose="02020603050405020304" pitchFamily="18" charset="0"/>
                <a:cs typeface="Times New Roman" panose="02020603050405020304" pitchFamily="18" charset="0"/>
              </a:rPr>
              <a:t>                          =</a:t>
            </a:r>
            <a:r>
              <a:rPr lang="en-US" altLang="zh-CN" sz="2200" i="1" dirty="0">
                <a:latin typeface="Times New Roman" panose="02020603050405020304" pitchFamily="18" charset="0"/>
                <a:cs typeface="Times New Roman" panose="02020603050405020304" pitchFamily="18" charset="0"/>
              </a:rPr>
              <a:t> P</a:t>
            </a:r>
            <a:r>
              <a:rPr lang="en-US" altLang="zh-CN" sz="2200" dirty="0">
                <a:latin typeface="Times New Roman" panose="02020603050405020304" pitchFamily="18" charset="0"/>
                <a:cs typeface="Times New Roman" panose="02020603050405020304" pitchFamily="18" charset="0"/>
              </a:rPr>
              <a:t>(</a:t>
            </a:r>
            <a:r>
              <a:rPr lang="en-US" altLang="zh-CN" sz="2200" i="1" dirty="0">
                <a:latin typeface="Times New Roman" panose="02020603050405020304" pitchFamily="18" charset="0"/>
                <a:cs typeface="Times New Roman" panose="02020603050405020304" pitchFamily="18" charset="0"/>
              </a:rPr>
              <a:t>T</a:t>
            </a:r>
            <a:r>
              <a:rPr lang="en-US" altLang="zh-CN" sz="2200" dirty="0">
                <a:latin typeface="Times New Roman" panose="02020603050405020304" pitchFamily="18" charset="0"/>
                <a:cs typeface="Times New Roman" panose="02020603050405020304" pitchFamily="18" charset="0"/>
              </a:rPr>
              <a:t>|</a:t>
            </a:r>
            <a:r>
              <a:rPr lang="en-US" altLang="zh-CN" sz="2200" i="1" dirty="0">
                <a:latin typeface="Times New Roman" panose="02020603050405020304" pitchFamily="18" charset="0"/>
                <a:cs typeface="Times New Roman" panose="02020603050405020304" pitchFamily="18" charset="0"/>
              </a:rPr>
              <a:t>C</a:t>
            </a:r>
            <a:r>
              <a:rPr lang="en-US" altLang="zh-CN" sz="2200" dirty="0">
                <a:latin typeface="Times New Roman" panose="02020603050405020304" pitchFamily="18" charset="0"/>
                <a:cs typeface="Times New Roman" panose="02020603050405020304" pitchFamily="18" charset="0"/>
              </a:rPr>
              <a:t>, </a:t>
            </a:r>
            <a:r>
              <a:rPr lang="en-US" altLang="zh-CN" sz="2200" i="1" dirty="0">
                <a:latin typeface="Times New Roman" panose="02020603050405020304" pitchFamily="18" charset="0"/>
                <a:cs typeface="Times New Roman" panose="02020603050405020304" pitchFamily="18" charset="0"/>
              </a:rPr>
              <a:t>S</a:t>
            </a:r>
            <a:r>
              <a:rPr lang="en-US" altLang="zh-CN" sz="2200" dirty="0">
                <a:latin typeface="Times New Roman" panose="02020603050405020304" pitchFamily="18" charset="0"/>
                <a:cs typeface="Times New Roman" panose="02020603050405020304" pitchFamily="18" charset="0"/>
              </a:rPr>
              <a:t>)</a:t>
            </a:r>
            <a:r>
              <a:rPr lang="en-US" altLang="zh-CN" sz="2200" i="1" dirty="0">
                <a:latin typeface="Times New Roman" panose="02020603050405020304" pitchFamily="18" charset="0"/>
                <a:cs typeface="Times New Roman" panose="02020603050405020304" pitchFamily="18" charset="0"/>
              </a:rPr>
              <a:t>P</a:t>
            </a:r>
            <a:r>
              <a:rPr lang="en-US" altLang="zh-CN" sz="2200" dirty="0">
                <a:latin typeface="Times New Roman" panose="02020603050405020304" pitchFamily="18" charset="0"/>
                <a:cs typeface="Times New Roman" panose="02020603050405020304" pitchFamily="18" charset="0"/>
              </a:rPr>
              <a:t>(</a:t>
            </a:r>
            <a:r>
              <a:rPr lang="en-US" altLang="zh-CN" sz="2200" i="1" dirty="0">
                <a:latin typeface="Times New Roman" panose="02020603050405020304" pitchFamily="18" charset="0"/>
                <a:cs typeface="Times New Roman" panose="02020603050405020304" pitchFamily="18" charset="0"/>
              </a:rPr>
              <a:t>C</a:t>
            </a:r>
            <a:r>
              <a:rPr lang="en-US" altLang="zh-CN" sz="2200" dirty="0">
                <a:latin typeface="Times New Roman" panose="02020603050405020304" pitchFamily="18" charset="0"/>
                <a:cs typeface="Times New Roman" panose="02020603050405020304" pitchFamily="18" charset="0"/>
              </a:rPr>
              <a:t>, </a:t>
            </a:r>
            <a:r>
              <a:rPr lang="en-US" altLang="zh-CN" sz="2200" i="1" dirty="0">
                <a:latin typeface="Times New Roman" panose="02020603050405020304" pitchFamily="18" charset="0"/>
                <a:cs typeface="Times New Roman" panose="02020603050405020304" pitchFamily="18" charset="0"/>
              </a:rPr>
              <a:t>S</a:t>
            </a:r>
            <a:r>
              <a:rPr lang="en-US" altLang="zh-CN" sz="2200" dirty="0">
                <a:latin typeface="Times New Roman" panose="02020603050405020304" pitchFamily="18" charset="0"/>
                <a:cs typeface="Times New Roman" panose="02020603050405020304" pitchFamily="18" charset="0"/>
              </a:rPr>
              <a:t>)/</a:t>
            </a:r>
            <a:r>
              <a:rPr lang="en-US" altLang="zh-CN" sz="2200" i="1" dirty="0">
                <a:latin typeface="Times New Roman" panose="02020603050405020304" pitchFamily="18" charset="0"/>
                <a:cs typeface="Times New Roman" panose="02020603050405020304" pitchFamily="18" charset="0"/>
              </a:rPr>
              <a:t>P</a:t>
            </a:r>
            <a:r>
              <a:rPr lang="en-US" altLang="zh-CN" sz="2200" dirty="0">
                <a:latin typeface="Times New Roman" panose="02020603050405020304" pitchFamily="18" charset="0"/>
                <a:cs typeface="Times New Roman" panose="02020603050405020304" pitchFamily="18" charset="0"/>
              </a:rPr>
              <a:t>(</a:t>
            </a:r>
            <a:r>
              <a:rPr lang="en-US" altLang="zh-CN" sz="2200" i="1" dirty="0">
                <a:latin typeface="Times New Roman" panose="02020603050405020304" pitchFamily="18" charset="0"/>
                <a:cs typeface="Times New Roman" panose="02020603050405020304" pitchFamily="18" charset="0"/>
              </a:rPr>
              <a:t>S</a:t>
            </a:r>
            <a:r>
              <a:rPr lang="en-US" altLang="zh-CN" sz="2200" dirty="0">
                <a:latin typeface="Times New Roman" panose="02020603050405020304" pitchFamily="18" charset="0"/>
                <a:cs typeface="Times New Roman" panose="02020603050405020304" pitchFamily="18" charset="0"/>
              </a:rPr>
              <a:t>)   (</a:t>
            </a:r>
            <a:r>
              <a:rPr lang="zh-CN" altLang="en-US" sz="2200" dirty="0">
                <a:latin typeface="Times New Roman" panose="02020603050405020304" pitchFamily="18" charset="0"/>
                <a:cs typeface="Times New Roman" panose="02020603050405020304" pitchFamily="18" charset="0"/>
              </a:rPr>
              <a:t>对</a:t>
            </a:r>
            <a:r>
              <a:rPr lang="en-US" altLang="zh-CN" sz="2200" i="1" dirty="0">
                <a:latin typeface="Times New Roman" panose="02020603050405020304" pitchFamily="18" charset="0"/>
                <a:cs typeface="Times New Roman" panose="02020603050405020304" pitchFamily="18" charset="0"/>
              </a:rPr>
              <a:t>P</a:t>
            </a:r>
            <a:r>
              <a:rPr lang="en-US" altLang="zh-CN" sz="2200" dirty="0">
                <a:latin typeface="Times New Roman" panose="02020603050405020304" pitchFamily="18" charset="0"/>
                <a:cs typeface="Times New Roman" panose="02020603050405020304" pitchFamily="18" charset="0"/>
              </a:rPr>
              <a:t>(</a:t>
            </a:r>
            <a:r>
              <a:rPr lang="en-US" altLang="zh-CN" sz="2200" i="1" dirty="0">
                <a:latin typeface="Times New Roman" panose="02020603050405020304" pitchFamily="18" charset="0"/>
                <a:cs typeface="Times New Roman" panose="02020603050405020304" pitchFamily="18" charset="0"/>
              </a:rPr>
              <a:t>T</a:t>
            </a:r>
            <a:r>
              <a:rPr lang="en-US" altLang="zh-CN" sz="2200" dirty="0">
                <a:latin typeface="Times New Roman" panose="02020603050405020304" pitchFamily="18" charset="0"/>
                <a:cs typeface="Times New Roman" panose="02020603050405020304" pitchFamily="18" charset="0"/>
              </a:rPr>
              <a:t>, </a:t>
            </a:r>
            <a:r>
              <a:rPr lang="en-US" altLang="zh-CN" sz="2200" i="1" dirty="0">
                <a:latin typeface="Times New Roman" panose="02020603050405020304" pitchFamily="18" charset="0"/>
                <a:cs typeface="Times New Roman" panose="02020603050405020304" pitchFamily="18" charset="0"/>
              </a:rPr>
              <a:t>C</a:t>
            </a:r>
            <a:r>
              <a:rPr lang="en-US" altLang="zh-CN" sz="2200" dirty="0">
                <a:latin typeface="Times New Roman" panose="02020603050405020304" pitchFamily="18" charset="0"/>
                <a:cs typeface="Times New Roman" panose="02020603050405020304" pitchFamily="18" charset="0"/>
              </a:rPr>
              <a:t>, </a:t>
            </a:r>
            <a:r>
              <a:rPr lang="en-US" altLang="zh-CN" sz="2200" i="1" dirty="0">
                <a:latin typeface="Times New Roman" panose="02020603050405020304" pitchFamily="18" charset="0"/>
                <a:cs typeface="Times New Roman" panose="02020603050405020304" pitchFamily="18" charset="0"/>
              </a:rPr>
              <a:t>S</a:t>
            </a:r>
            <a:r>
              <a:rPr lang="en-US" altLang="zh-CN" sz="2200" dirty="0">
                <a:latin typeface="Times New Roman" panose="02020603050405020304" pitchFamily="18" charset="0"/>
                <a:cs typeface="Times New Roman" panose="02020603050405020304" pitchFamily="18" charset="0"/>
              </a:rPr>
              <a:t>)</a:t>
            </a:r>
            <a:r>
              <a:rPr lang="zh-CN" altLang="en-US" sz="2200" dirty="0">
                <a:latin typeface="Times New Roman" panose="02020603050405020304" pitchFamily="18" charset="0"/>
                <a:cs typeface="Times New Roman" panose="02020603050405020304" pitchFamily="18" charset="0"/>
              </a:rPr>
              <a:t>使用乘法公式</a:t>
            </a:r>
            <a:r>
              <a:rPr lang="en-US" altLang="zh-CN" sz="2200" dirty="0">
                <a:latin typeface="Times New Roman" panose="02020603050405020304" pitchFamily="18" charset="0"/>
                <a:cs typeface="Times New Roman" panose="02020603050405020304" pitchFamily="18" charset="0"/>
              </a:rPr>
              <a:t>)</a:t>
            </a:r>
            <a:endParaRPr lang="zh-CN" altLang="en-US" sz="2200" dirty="0">
              <a:latin typeface="Times New Roman" panose="02020603050405020304" pitchFamily="18" charset="0"/>
              <a:cs typeface="Times New Roman" panose="02020603050405020304" pitchFamily="18" charset="0"/>
            </a:endParaRPr>
          </a:p>
          <a:p>
            <a:pPr latinLnBrk="1">
              <a:buNone/>
            </a:pPr>
            <a:r>
              <a:rPr lang="en-US" altLang="zh-CN" sz="2200" dirty="0">
                <a:latin typeface="Times New Roman" panose="02020603050405020304" pitchFamily="18" charset="0"/>
                <a:cs typeface="Times New Roman" panose="02020603050405020304" pitchFamily="18" charset="0"/>
              </a:rPr>
              <a:t>                          =</a:t>
            </a:r>
            <a:r>
              <a:rPr lang="en-US" altLang="zh-CN" sz="2200" i="1" dirty="0">
                <a:latin typeface="Times New Roman" panose="02020603050405020304" pitchFamily="18" charset="0"/>
                <a:cs typeface="Times New Roman" panose="02020603050405020304" pitchFamily="18" charset="0"/>
              </a:rPr>
              <a:t> P</a:t>
            </a:r>
            <a:r>
              <a:rPr lang="en-US" altLang="zh-CN" sz="2200" dirty="0">
                <a:latin typeface="Times New Roman" panose="02020603050405020304" pitchFamily="18" charset="0"/>
                <a:cs typeface="Times New Roman" panose="02020603050405020304" pitchFamily="18" charset="0"/>
              </a:rPr>
              <a:t>(</a:t>
            </a:r>
            <a:r>
              <a:rPr lang="en-US" altLang="zh-CN" sz="2200" i="1" dirty="0">
                <a:latin typeface="Times New Roman" panose="02020603050405020304" pitchFamily="18" charset="0"/>
                <a:cs typeface="Times New Roman" panose="02020603050405020304" pitchFamily="18" charset="0"/>
              </a:rPr>
              <a:t>T</a:t>
            </a:r>
            <a:r>
              <a:rPr lang="en-US" altLang="zh-CN" sz="2200" dirty="0">
                <a:latin typeface="Times New Roman" panose="02020603050405020304" pitchFamily="18" charset="0"/>
                <a:cs typeface="Times New Roman" panose="02020603050405020304" pitchFamily="18" charset="0"/>
              </a:rPr>
              <a:t>|</a:t>
            </a:r>
            <a:r>
              <a:rPr lang="en-US" altLang="zh-CN" sz="2200" i="1" dirty="0">
                <a:latin typeface="Times New Roman" panose="02020603050405020304" pitchFamily="18" charset="0"/>
                <a:cs typeface="Times New Roman" panose="02020603050405020304" pitchFamily="18" charset="0"/>
              </a:rPr>
              <a:t>C</a:t>
            </a:r>
            <a:r>
              <a:rPr lang="en-US" altLang="zh-CN" sz="2200" dirty="0">
                <a:latin typeface="Times New Roman" panose="02020603050405020304" pitchFamily="18" charset="0"/>
                <a:cs typeface="Times New Roman" panose="02020603050405020304" pitchFamily="18" charset="0"/>
              </a:rPr>
              <a:t>, </a:t>
            </a:r>
            <a:r>
              <a:rPr lang="en-US" altLang="zh-CN" sz="2200" i="1" dirty="0">
                <a:latin typeface="Times New Roman" panose="02020603050405020304" pitchFamily="18" charset="0"/>
                <a:cs typeface="Times New Roman" panose="02020603050405020304" pitchFamily="18" charset="0"/>
              </a:rPr>
              <a:t>S</a:t>
            </a:r>
            <a:r>
              <a:rPr lang="en-US" altLang="zh-CN" sz="2200" dirty="0">
                <a:latin typeface="Times New Roman" panose="02020603050405020304" pitchFamily="18" charset="0"/>
                <a:cs typeface="Times New Roman" panose="02020603050405020304" pitchFamily="18" charset="0"/>
              </a:rPr>
              <a:t>)</a:t>
            </a:r>
            <a:r>
              <a:rPr lang="en-US" altLang="zh-CN" sz="2200" i="1" dirty="0">
                <a:latin typeface="Times New Roman" panose="02020603050405020304" pitchFamily="18" charset="0"/>
                <a:cs typeface="Times New Roman" panose="02020603050405020304" pitchFamily="18" charset="0"/>
              </a:rPr>
              <a:t>P</a:t>
            </a:r>
            <a:r>
              <a:rPr lang="en-US" altLang="zh-CN" sz="2200" dirty="0">
                <a:latin typeface="Times New Roman" panose="02020603050405020304" pitchFamily="18" charset="0"/>
                <a:cs typeface="Times New Roman" panose="02020603050405020304" pitchFamily="18" charset="0"/>
              </a:rPr>
              <a:t>(</a:t>
            </a:r>
            <a:r>
              <a:rPr lang="en-US" altLang="zh-CN" sz="2200" i="1" dirty="0">
                <a:latin typeface="Times New Roman" panose="02020603050405020304" pitchFamily="18" charset="0"/>
                <a:cs typeface="Times New Roman" panose="02020603050405020304" pitchFamily="18" charset="0"/>
              </a:rPr>
              <a:t>C</a:t>
            </a:r>
            <a:r>
              <a:rPr lang="en-US" altLang="zh-CN" sz="2200" dirty="0">
                <a:latin typeface="Times New Roman" panose="02020603050405020304" pitchFamily="18" charset="0"/>
                <a:cs typeface="Times New Roman" panose="02020603050405020304" pitchFamily="18" charset="0"/>
              </a:rPr>
              <a:t>|</a:t>
            </a:r>
            <a:r>
              <a:rPr lang="en-US" altLang="zh-CN" sz="2200" i="1" dirty="0">
                <a:latin typeface="Times New Roman" panose="02020603050405020304" pitchFamily="18" charset="0"/>
                <a:cs typeface="Times New Roman" panose="02020603050405020304" pitchFamily="18" charset="0"/>
              </a:rPr>
              <a:t>S</a:t>
            </a:r>
            <a:r>
              <a:rPr lang="en-US" altLang="zh-CN" sz="2200" dirty="0">
                <a:latin typeface="Times New Roman" panose="02020603050405020304" pitchFamily="18" charset="0"/>
                <a:cs typeface="Times New Roman" panose="02020603050405020304" pitchFamily="18" charset="0"/>
              </a:rPr>
              <a:t>)       (</a:t>
            </a:r>
            <a:r>
              <a:rPr lang="zh-CN" altLang="en-US" sz="2200" dirty="0">
                <a:latin typeface="Times New Roman" panose="02020603050405020304" pitchFamily="18" charset="0"/>
                <a:cs typeface="Times New Roman" panose="02020603050405020304" pitchFamily="18" charset="0"/>
              </a:rPr>
              <a:t>对</a:t>
            </a:r>
            <a:r>
              <a:rPr lang="en-US" altLang="zh-CN" sz="2200" i="1" dirty="0">
                <a:latin typeface="Times New Roman" panose="02020603050405020304" pitchFamily="18" charset="0"/>
                <a:cs typeface="Times New Roman" panose="02020603050405020304" pitchFamily="18" charset="0"/>
              </a:rPr>
              <a:t>P</a:t>
            </a:r>
            <a:r>
              <a:rPr lang="en-US" altLang="zh-CN" sz="2200" dirty="0">
                <a:latin typeface="Times New Roman" panose="02020603050405020304" pitchFamily="18" charset="0"/>
                <a:cs typeface="Times New Roman" panose="02020603050405020304" pitchFamily="18" charset="0"/>
              </a:rPr>
              <a:t>(</a:t>
            </a:r>
            <a:r>
              <a:rPr lang="en-US" altLang="zh-CN" sz="2200" i="1" dirty="0">
                <a:latin typeface="Times New Roman" panose="02020603050405020304" pitchFamily="18" charset="0"/>
                <a:cs typeface="Times New Roman" panose="02020603050405020304" pitchFamily="18" charset="0"/>
              </a:rPr>
              <a:t>C</a:t>
            </a:r>
            <a:r>
              <a:rPr lang="en-US" altLang="zh-CN" sz="2200" dirty="0">
                <a:latin typeface="Times New Roman" panose="02020603050405020304" pitchFamily="18" charset="0"/>
                <a:cs typeface="Times New Roman" panose="02020603050405020304" pitchFamily="18" charset="0"/>
              </a:rPr>
              <a:t>, </a:t>
            </a:r>
            <a:r>
              <a:rPr lang="en-US" altLang="zh-CN" sz="2200" i="1" dirty="0">
                <a:latin typeface="Times New Roman" panose="02020603050405020304" pitchFamily="18" charset="0"/>
                <a:cs typeface="Times New Roman" panose="02020603050405020304" pitchFamily="18" charset="0"/>
              </a:rPr>
              <a:t>S</a:t>
            </a:r>
            <a:r>
              <a:rPr lang="en-US" altLang="zh-CN" sz="2200" dirty="0">
                <a:latin typeface="Times New Roman" panose="02020603050405020304" pitchFamily="18" charset="0"/>
                <a:cs typeface="Times New Roman" panose="02020603050405020304" pitchFamily="18" charset="0"/>
              </a:rPr>
              <a:t>)/</a:t>
            </a:r>
            <a:r>
              <a:rPr lang="en-US" altLang="zh-CN" sz="2200" i="1" dirty="0">
                <a:latin typeface="Times New Roman" panose="02020603050405020304" pitchFamily="18" charset="0"/>
                <a:cs typeface="Times New Roman" panose="02020603050405020304" pitchFamily="18" charset="0"/>
              </a:rPr>
              <a:t>P</a:t>
            </a:r>
            <a:r>
              <a:rPr lang="en-US" altLang="zh-CN" sz="2200" dirty="0">
                <a:latin typeface="Times New Roman" panose="02020603050405020304" pitchFamily="18" charset="0"/>
                <a:cs typeface="Times New Roman" panose="02020603050405020304" pitchFamily="18" charset="0"/>
              </a:rPr>
              <a:t>(</a:t>
            </a:r>
            <a:r>
              <a:rPr lang="en-US" altLang="zh-CN" sz="2200" i="1" dirty="0">
                <a:latin typeface="Times New Roman" panose="02020603050405020304" pitchFamily="18" charset="0"/>
                <a:cs typeface="Times New Roman" panose="02020603050405020304" pitchFamily="18" charset="0"/>
              </a:rPr>
              <a:t>S</a:t>
            </a:r>
            <a:r>
              <a:rPr lang="en-US" altLang="zh-CN" sz="2200" dirty="0">
                <a:latin typeface="Times New Roman" panose="02020603050405020304" pitchFamily="18" charset="0"/>
                <a:cs typeface="Times New Roman" panose="02020603050405020304" pitchFamily="18" charset="0"/>
              </a:rPr>
              <a:t>)</a:t>
            </a:r>
            <a:r>
              <a:rPr lang="zh-CN" altLang="en-US" sz="2200" dirty="0">
                <a:latin typeface="Times New Roman" panose="02020603050405020304" pitchFamily="18" charset="0"/>
                <a:cs typeface="Times New Roman" panose="02020603050405020304" pitchFamily="18" charset="0"/>
              </a:rPr>
              <a:t>使用乘法公式</a:t>
            </a:r>
            <a:r>
              <a:rPr lang="en-US" altLang="zh-CN" sz="2200" dirty="0">
                <a:latin typeface="Times New Roman" panose="02020603050405020304" pitchFamily="18" charset="0"/>
                <a:cs typeface="Times New Roman" panose="02020603050405020304" pitchFamily="18" charset="0"/>
              </a:rPr>
              <a:t>)</a:t>
            </a:r>
            <a:endParaRPr lang="zh-CN" altLang="en-US" sz="2200" dirty="0">
              <a:latin typeface="Times New Roman" panose="02020603050405020304" pitchFamily="18" charset="0"/>
              <a:cs typeface="Times New Roman" panose="02020603050405020304" pitchFamily="18" charset="0"/>
            </a:endParaRPr>
          </a:p>
          <a:p>
            <a:pPr latinLnBrk="1">
              <a:buNone/>
            </a:pPr>
            <a:r>
              <a:rPr lang="en-US" altLang="zh-CN" sz="2200" dirty="0">
                <a:latin typeface="Times New Roman" panose="02020603050405020304" pitchFamily="18" charset="0"/>
                <a:cs typeface="Times New Roman" panose="02020603050405020304" pitchFamily="18" charset="0"/>
              </a:rPr>
              <a:t>                          =</a:t>
            </a:r>
            <a:r>
              <a:rPr lang="en-US" altLang="zh-CN" sz="2200" i="1" dirty="0">
                <a:latin typeface="Times New Roman" panose="02020603050405020304" pitchFamily="18" charset="0"/>
                <a:cs typeface="Times New Roman" panose="02020603050405020304" pitchFamily="18" charset="0"/>
              </a:rPr>
              <a:t> P</a:t>
            </a:r>
            <a:r>
              <a:rPr lang="en-US" altLang="zh-CN" sz="2200" dirty="0">
                <a:latin typeface="Times New Roman" panose="02020603050405020304" pitchFamily="18" charset="0"/>
                <a:cs typeface="Times New Roman" panose="02020603050405020304" pitchFamily="18" charset="0"/>
              </a:rPr>
              <a:t>(</a:t>
            </a:r>
            <a:r>
              <a:rPr lang="en-US" altLang="zh-CN" sz="2200" i="1" dirty="0">
                <a:latin typeface="Times New Roman" panose="02020603050405020304" pitchFamily="18" charset="0"/>
                <a:cs typeface="Times New Roman" panose="02020603050405020304" pitchFamily="18" charset="0"/>
              </a:rPr>
              <a:t>T</a:t>
            </a:r>
            <a:r>
              <a:rPr lang="en-US" altLang="zh-CN" sz="2200" dirty="0">
                <a:latin typeface="Times New Roman" panose="02020603050405020304" pitchFamily="18" charset="0"/>
                <a:cs typeface="Times New Roman" panose="02020603050405020304" pitchFamily="18" charset="0"/>
              </a:rPr>
              <a:t>|</a:t>
            </a:r>
            <a:r>
              <a:rPr lang="en-US" altLang="zh-CN" sz="2200" i="1" dirty="0">
                <a:latin typeface="Times New Roman" panose="02020603050405020304" pitchFamily="18" charset="0"/>
                <a:cs typeface="Times New Roman" panose="02020603050405020304" pitchFamily="18" charset="0"/>
              </a:rPr>
              <a:t>C</a:t>
            </a:r>
            <a:r>
              <a:rPr lang="en-US" altLang="zh-CN" sz="2200" dirty="0">
                <a:latin typeface="Times New Roman" panose="02020603050405020304" pitchFamily="18" charset="0"/>
                <a:cs typeface="Times New Roman" panose="02020603050405020304" pitchFamily="18" charset="0"/>
              </a:rPr>
              <a:t>, </a:t>
            </a:r>
            <a:r>
              <a:rPr lang="en-US" altLang="zh-CN" sz="2200" i="1" dirty="0">
                <a:latin typeface="Times New Roman" panose="02020603050405020304" pitchFamily="18" charset="0"/>
                <a:cs typeface="Times New Roman" panose="02020603050405020304" pitchFamily="18" charset="0"/>
              </a:rPr>
              <a:t>S</a:t>
            </a:r>
            <a:r>
              <a:rPr lang="en-US" altLang="zh-CN" sz="2200" dirty="0">
                <a:latin typeface="Times New Roman" panose="02020603050405020304" pitchFamily="18" charset="0"/>
                <a:cs typeface="Times New Roman" panose="02020603050405020304" pitchFamily="18" charset="0"/>
              </a:rPr>
              <a:t>)</a:t>
            </a:r>
            <a:r>
              <a:rPr lang="en-US" altLang="zh-CN" sz="2200" i="1" dirty="0">
                <a:latin typeface="Times New Roman" panose="02020603050405020304" pitchFamily="18" charset="0"/>
                <a:cs typeface="Times New Roman" panose="02020603050405020304" pitchFamily="18" charset="0"/>
              </a:rPr>
              <a:t>P</a:t>
            </a:r>
            <a:r>
              <a:rPr lang="en-US" altLang="zh-CN" sz="2200" dirty="0">
                <a:latin typeface="Times New Roman" panose="02020603050405020304" pitchFamily="18" charset="0"/>
                <a:cs typeface="Times New Roman" panose="02020603050405020304" pitchFamily="18" charset="0"/>
              </a:rPr>
              <a:t>(</a:t>
            </a:r>
            <a:r>
              <a:rPr lang="en-US" altLang="zh-CN" sz="2200" i="1" dirty="0">
                <a:latin typeface="Times New Roman" panose="02020603050405020304" pitchFamily="18" charset="0"/>
                <a:cs typeface="Times New Roman" panose="02020603050405020304" pitchFamily="18" charset="0"/>
              </a:rPr>
              <a:t>C</a:t>
            </a:r>
            <a:r>
              <a:rPr lang="en-US" altLang="zh-CN" sz="2200" dirty="0">
                <a:latin typeface="Times New Roman" panose="02020603050405020304" pitchFamily="18" charset="0"/>
                <a:cs typeface="Times New Roman" panose="02020603050405020304" pitchFamily="18" charset="0"/>
              </a:rPr>
              <a:t>)       (</a:t>
            </a:r>
            <a:r>
              <a:rPr lang="zh-CN" altLang="en-US" sz="2200" dirty="0">
                <a:latin typeface="Times New Roman" panose="02020603050405020304" pitchFamily="18" charset="0"/>
                <a:cs typeface="Times New Roman" panose="02020603050405020304" pitchFamily="18" charset="0"/>
              </a:rPr>
              <a:t>因为</a:t>
            </a:r>
            <a:r>
              <a:rPr lang="en-US" altLang="zh-CN" sz="2200" i="1" dirty="0">
                <a:latin typeface="Times New Roman" panose="02020603050405020304" pitchFamily="18" charset="0"/>
                <a:cs typeface="Times New Roman" panose="02020603050405020304" pitchFamily="18" charset="0"/>
              </a:rPr>
              <a:t>C</a:t>
            </a:r>
            <a:r>
              <a:rPr lang="zh-CN" altLang="en-US" sz="2200" dirty="0">
                <a:latin typeface="Times New Roman" panose="02020603050405020304" pitchFamily="18" charset="0"/>
                <a:cs typeface="Times New Roman" panose="02020603050405020304" pitchFamily="18" charset="0"/>
              </a:rPr>
              <a:t>与</a:t>
            </a:r>
            <a:r>
              <a:rPr lang="en-US" altLang="zh-CN" sz="2200" i="1" dirty="0">
                <a:latin typeface="Times New Roman" panose="02020603050405020304" pitchFamily="18" charset="0"/>
                <a:cs typeface="Times New Roman" panose="02020603050405020304" pitchFamily="18" charset="0"/>
              </a:rPr>
              <a:t>S</a:t>
            </a:r>
            <a:r>
              <a:rPr lang="zh-CN" altLang="en-US" sz="2200" dirty="0">
                <a:latin typeface="Times New Roman" panose="02020603050405020304" pitchFamily="18" charset="0"/>
                <a:cs typeface="Times New Roman" panose="02020603050405020304" pitchFamily="18" charset="0"/>
              </a:rPr>
              <a:t>条件独立</a:t>
            </a:r>
            <a:r>
              <a:rPr lang="en-US" altLang="zh-CN" sz="2200" dirty="0">
                <a:latin typeface="Times New Roman" panose="02020603050405020304" pitchFamily="18" charset="0"/>
                <a:cs typeface="Times New Roman" panose="02020603050405020304" pitchFamily="18" charset="0"/>
              </a:rPr>
              <a:t>)</a:t>
            </a:r>
            <a:endParaRPr lang="zh-CN" altLang="en-US" sz="2200" dirty="0">
              <a:latin typeface="Times New Roman" panose="02020603050405020304" pitchFamily="18" charset="0"/>
              <a:cs typeface="Times New Roman" panose="02020603050405020304" pitchFamily="18" charset="0"/>
            </a:endParaRPr>
          </a:p>
          <a:p>
            <a:pPr latinLnBrk="1">
              <a:lnSpc>
                <a:spcPct val="150000"/>
              </a:lnSpc>
              <a:buNone/>
            </a:pPr>
            <a:r>
              <a:rPr lang="zh-CN" altLang="en-US" sz="2200" dirty="0">
                <a:latin typeface="Times New Roman" panose="02020603050405020304" pitchFamily="18" charset="0"/>
                <a:cs typeface="Times New Roman" panose="02020603050405020304" pitchFamily="18" charset="0"/>
              </a:rPr>
              <a:t>     同理可得</a:t>
            </a:r>
            <a:r>
              <a:rPr lang="en-US" altLang="zh-CN" sz="2200" dirty="0">
                <a:latin typeface="Times New Roman" panose="02020603050405020304" pitchFamily="18" charset="0"/>
                <a:cs typeface="Times New Roman" panose="02020603050405020304" pitchFamily="18" charset="0"/>
              </a:rPr>
              <a:t>8-30</a:t>
            </a:r>
            <a:r>
              <a:rPr lang="zh-CN" altLang="en-US" sz="2200" dirty="0">
                <a:latin typeface="Times New Roman" panose="02020603050405020304" pitchFamily="18" charset="0"/>
                <a:cs typeface="Times New Roman" panose="02020603050405020304" pitchFamily="18" charset="0"/>
              </a:rPr>
              <a:t>式中的第二项</a:t>
            </a:r>
          </a:p>
          <a:p>
            <a:pPr latinLnBrk="1">
              <a:buNone/>
            </a:pPr>
            <a:r>
              <a:rPr lang="en-US" altLang="zh-CN" sz="2200" i="1" dirty="0">
                <a:latin typeface="Times New Roman" panose="02020603050405020304" pitchFamily="18" charset="0"/>
                <a:cs typeface="Times New Roman" panose="02020603050405020304" pitchFamily="18" charset="0"/>
              </a:rPr>
              <a:t>                                   P</a:t>
            </a:r>
            <a:r>
              <a:rPr lang="en-US" altLang="zh-CN" sz="2200" dirty="0">
                <a:latin typeface="Times New Roman" panose="02020603050405020304" pitchFamily="18" charset="0"/>
                <a:cs typeface="Times New Roman" panose="02020603050405020304" pitchFamily="18" charset="0"/>
              </a:rPr>
              <a:t>(</a:t>
            </a:r>
            <a:r>
              <a:rPr lang="en-US" altLang="zh-CN" sz="2200" i="1" dirty="0">
                <a:latin typeface="Times New Roman" panose="02020603050405020304" pitchFamily="18" charset="0"/>
                <a:cs typeface="Times New Roman" panose="02020603050405020304" pitchFamily="18" charset="0"/>
              </a:rPr>
              <a:t>T</a:t>
            </a:r>
            <a:r>
              <a:rPr lang="en-US" altLang="zh-CN" sz="2200" dirty="0">
                <a:latin typeface="Times New Roman" panose="02020603050405020304" pitchFamily="18" charset="0"/>
                <a:cs typeface="Times New Roman" panose="02020603050405020304" pitchFamily="18" charset="0"/>
              </a:rPr>
              <a:t>, ¬</a:t>
            </a:r>
            <a:r>
              <a:rPr lang="en-US" altLang="zh-CN" sz="2200" i="1" dirty="0">
                <a:latin typeface="Times New Roman" panose="02020603050405020304" pitchFamily="18" charset="0"/>
                <a:cs typeface="Times New Roman" panose="02020603050405020304" pitchFamily="18" charset="0"/>
              </a:rPr>
              <a:t>C</a:t>
            </a:r>
            <a:r>
              <a:rPr lang="en-US" altLang="zh-CN" sz="2200" dirty="0">
                <a:latin typeface="Times New Roman" panose="02020603050405020304" pitchFamily="18" charset="0"/>
                <a:cs typeface="Times New Roman" panose="02020603050405020304" pitchFamily="18" charset="0"/>
              </a:rPr>
              <a:t>|</a:t>
            </a:r>
            <a:r>
              <a:rPr lang="en-US" altLang="zh-CN" sz="2200" i="1" dirty="0">
                <a:latin typeface="Times New Roman" panose="02020603050405020304" pitchFamily="18" charset="0"/>
                <a:cs typeface="Times New Roman" panose="02020603050405020304" pitchFamily="18" charset="0"/>
              </a:rPr>
              <a:t>S</a:t>
            </a:r>
            <a:r>
              <a:rPr lang="en-US" altLang="zh-CN" sz="2200" dirty="0">
                <a:latin typeface="Times New Roman" panose="02020603050405020304" pitchFamily="18" charset="0"/>
                <a:cs typeface="Times New Roman" panose="02020603050405020304" pitchFamily="18" charset="0"/>
              </a:rPr>
              <a:t>) =</a:t>
            </a:r>
            <a:r>
              <a:rPr lang="en-US" altLang="zh-CN" sz="2200" i="1" dirty="0">
                <a:latin typeface="Times New Roman" panose="02020603050405020304" pitchFamily="18" charset="0"/>
                <a:cs typeface="Times New Roman" panose="02020603050405020304" pitchFamily="18" charset="0"/>
              </a:rPr>
              <a:t> P</a:t>
            </a:r>
            <a:r>
              <a:rPr lang="en-US" altLang="zh-CN" sz="2200" dirty="0">
                <a:latin typeface="Times New Roman" panose="02020603050405020304" pitchFamily="18" charset="0"/>
                <a:cs typeface="Times New Roman" panose="02020603050405020304" pitchFamily="18" charset="0"/>
              </a:rPr>
              <a:t>(</a:t>
            </a:r>
            <a:r>
              <a:rPr lang="en-US" altLang="zh-CN" sz="2200" i="1" dirty="0">
                <a:latin typeface="Times New Roman" panose="02020603050405020304" pitchFamily="18" charset="0"/>
                <a:cs typeface="Times New Roman" panose="02020603050405020304" pitchFamily="18" charset="0"/>
              </a:rPr>
              <a:t>T</a:t>
            </a:r>
            <a:r>
              <a:rPr lang="en-US" altLang="zh-CN" sz="2200" dirty="0">
                <a:latin typeface="Times New Roman" panose="02020603050405020304" pitchFamily="18" charset="0"/>
                <a:cs typeface="Times New Roman" panose="02020603050405020304" pitchFamily="18" charset="0"/>
              </a:rPr>
              <a:t>|¬</a:t>
            </a:r>
            <a:r>
              <a:rPr lang="en-US" altLang="zh-CN" sz="2200" i="1" dirty="0">
                <a:latin typeface="Times New Roman" panose="02020603050405020304" pitchFamily="18" charset="0"/>
                <a:cs typeface="Times New Roman" panose="02020603050405020304" pitchFamily="18" charset="0"/>
              </a:rPr>
              <a:t>C</a:t>
            </a:r>
            <a:r>
              <a:rPr lang="en-US" altLang="zh-CN" sz="2200" dirty="0">
                <a:latin typeface="Times New Roman" panose="02020603050405020304" pitchFamily="18" charset="0"/>
                <a:cs typeface="Times New Roman" panose="02020603050405020304" pitchFamily="18" charset="0"/>
              </a:rPr>
              <a:t>, </a:t>
            </a:r>
            <a:r>
              <a:rPr lang="en-US" altLang="zh-CN" sz="2200" i="1" dirty="0">
                <a:latin typeface="Times New Roman" panose="02020603050405020304" pitchFamily="18" charset="0"/>
                <a:cs typeface="Times New Roman" panose="02020603050405020304" pitchFamily="18" charset="0"/>
              </a:rPr>
              <a:t>S</a:t>
            </a:r>
            <a:r>
              <a:rPr lang="en-US" altLang="zh-CN" sz="2200" dirty="0">
                <a:latin typeface="Times New Roman" panose="02020603050405020304" pitchFamily="18" charset="0"/>
                <a:cs typeface="Times New Roman" panose="02020603050405020304" pitchFamily="18" charset="0"/>
              </a:rPr>
              <a:t>)</a:t>
            </a:r>
            <a:r>
              <a:rPr lang="en-US" altLang="zh-CN" sz="2200" i="1" dirty="0">
                <a:latin typeface="Times New Roman" panose="02020603050405020304" pitchFamily="18" charset="0"/>
                <a:cs typeface="Times New Roman" panose="02020603050405020304" pitchFamily="18" charset="0"/>
              </a:rPr>
              <a:t>P</a:t>
            </a:r>
            <a:r>
              <a:rPr lang="en-US" altLang="zh-CN" sz="2200" dirty="0">
                <a:latin typeface="Times New Roman" panose="02020603050405020304" pitchFamily="18" charset="0"/>
                <a:cs typeface="Times New Roman" panose="02020603050405020304" pitchFamily="18" charset="0"/>
              </a:rPr>
              <a:t>(¬</a:t>
            </a:r>
            <a:r>
              <a:rPr lang="en-US" altLang="zh-CN" sz="2200" i="1" dirty="0">
                <a:latin typeface="Times New Roman" panose="02020603050405020304" pitchFamily="18" charset="0"/>
                <a:cs typeface="Times New Roman" panose="02020603050405020304" pitchFamily="18" charset="0"/>
              </a:rPr>
              <a:t>C</a:t>
            </a:r>
            <a:r>
              <a:rPr lang="en-US" altLang="zh-CN" sz="2200" dirty="0">
                <a:latin typeface="Times New Roman" panose="02020603050405020304" pitchFamily="18" charset="0"/>
                <a:cs typeface="Times New Roman" panose="02020603050405020304" pitchFamily="18" charset="0"/>
              </a:rPr>
              <a:t>)</a:t>
            </a:r>
            <a:endParaRPr lang="zh-CN" altLang="en-US" sz="2200" dirty="0">
              <a:latin typeface="Times New Roman" panose="02020603050405020304" pitchFamily="18" charset="0"/>
              <a:cs typeface="Times New Roman" panose="02020603050405020304" pitchFamily="18" charset="0"/>
            </a:endParaRPr>
          </a:p>
          <a:p>
            <a:pPr latinLnBrk="1">
              <a:buNone/>
            </a:pPr>
            <a:r>
              <a:rPr lang="zh-CN" altLang="en-US" sz="2200" dirty="0">
                <a:latin typeface="Times New Roman" panose="02020603050405020304" pitchFamily="18" charset="0"/>
                <a:cs typeface="Times New Roman" panose="02020603050405020304" pitchFamily="18" charset="0"/>
              </a:rPr>
              <a:t>     于是，</a:t>
            </a:r>
          </a:p>
          <a:p>
            <a:pPr latinLnBrk="1">
              <a:buNone/>
            </a:pPr>
            <a:r>
              <a:rPr lang="en-US" altLang="zh-CN" sz="2200" i="1" dirty="0">
                <a:latin typeface="Times New Roman" panose="02020603050405020304" pitchFamily="18" charset="0"/>
                <a:cs typeface="Times New Roman" panose="02020603050405020304" pitchFamily="18" charset="0"/>
              </a:rPr>
              <a:t>                          P</a:t>
            </a:r>
            <a:r>
              <a:rPr lang="en-US" altLang="zh-CN" sz="2200" dirty="0">
                <a:latin typeface="Times New Roman" panose="02020603050405020304" pitchFamily="18" charset="0"/>
                <a:cs typeface="Times New Roman" panose="02020603050405020304" pitchFamily="18" charset="0"/>
              </a:rPr>
              <a:t>(</a:t>
            </a:r>
            <a:r>
              <a:rPr lang="en-US" altLang="zh-CN" sz="2200" i="1" dirty="0">
                <a:latin typeface="Times New Roman" panose="02020603050405020304" pitchFamily="18" charset="0"/>
                <a:cs typeface="Times New Roman" panose="02020603050405020304" pitchFamily="18" charset="0"/>
              </a:rPr>
              <a:t>T</a:t>
            </a:r>
            <a:r>
              <a:rPr lang="en-US" altLang="zh-CN" sz="2200" dirty="0">
                <a:latin typeface="Times New Roman" panose="02020603050405020304" pitchFamily="18" charset="0"/>
                <a:cs typeface="Times New Roman" panose="02020603050405020304" pitchFamily="18" charset="0"/>
              </a:rPr>
              <a:t>|</a:t>
            </a:r>
            <a:r>
              <a:rPr lang="en-US" altLang="zh-CN" sz="2200" i="1" dirty="0">
                <a:latin typeface="Times New Roman" panose="02020603050405020304" pitchFamily="18" charset="0"/>
                <a:cs typeface="Times New Roman" panose="02020603050405020304" pitchFamily="18" charset="0"/>
              </a:rPr>
              <a:t>S</a:t>
            </a:r>
            <a:r>
              <a:rPr lang="en-US" altLang="zh-CN" sz="2200" dirty="0">
                <a:latin typeface="Times New Roman" panose="02020603050405020304" pitchFamily="18" charset="0"/>
                <a:cs typeface="Times New Roman" panose="02020603050405020304" pitchFamily="18" charset="0"/>
              </a:rPr>
              <a:t>) =</a:t>
            </a:r>
            <a:r>
              <a:rPr lang="en-US" altLang="zh-CN" sz="2200" i="1" dirty="0">
                <a:latin typeface="Times New Roman" panose="02020603050405020304" pitchFamily="18" charset="0"/>
                <a:cs typeface="Times New Roman" panose="02020603050405020304" pitchFamily="18" charset="0"/>
              </a:rPr>
              <a:t> P</a:t>
            </a:r>
            <a:r>
              <a:rPr lang="en-US" altLang="zh-CN" sz="2200" dirty="0">
                <a:latin typeface="Times New Roman" panose="02020603050405020304" pitchFamily="18" charset="0"/>
                <a:cs typeface="Times New Roman" panose="02020603050405020304" pitchFamily="18" charset="0"/>
              </a:rPr>
              <a:t>(</a:t>
            </a:r>
            <a:r>
              <a:rPr lang="en-US" altLang="zh-CN" sz="2200" i="1" dirty="0">
                <a:latin typeface="Times New Roman" panose="02020603050405020304" pitchFamily="18" charset="0"/>
                <a:cs typeface="Times New Roman" panose="02020603050405020304" pitchFamily="18" charset="0"/>
              </a:rPr>
              <a:t>T</a:t>
            </a:r>
            <a:r>
              <a:rPr lang="en-US" altLang="zh-CN" sz="2200" dirty="0">
                <a:latin typeface="Times New Roman" panose="02020603050405020304" pitchFamily="18" charset="0"/>
                <a:cs typeface="Times New Roman" panose="02020603050405020304" pitchFamily="18" charset="0"/>
              </a:rPr>
              <a:t>|</a:t>
            </a:r>
            <a:r>
              <a:rPr lang="en-US" altLang="zh-CN" sz="2200" i="1" dirty="0">
                <a:latin typeface="Times New Roman" panose="02020603050405020304" pitchFamily="18" charset="0"/>
                <a:cs typeface="Times New Roman" panose="02020603050405020304" pitchFamily="18" charset="0"/>
              </a:rPr>
              <a:t>C</a:t>
            </a:r>
            <a:r>
              <a:rPr lang="en-US" altLang="zh-CN" sz="2200" dirty="0">
                <a:latin typeface="Times New Roman" panose="02020603050405020304" pitchFamily="18" charset="0"/>
                <a:cs typeface="Times New Roman" panose="02020603050405020304" pitchFamily="18" charset="0"/>
              </a:rPr>
              <a:t>, </a:t>
            </a:r>
            <a:r>
              <a:rPr lang="en-US" altLang="zh-CN" sz="2200" i="1" dirty="0">
                <a:latin typeface="Times New Roman" panose="02020603050405020304" pitchFamily="18" charset="0"/>
                <a:cs typeface="Times New Roman" panose="02020603050405020304" pitchFamily="18" charset="0"/>
              </a:rPr>
              <a:t>S</a:t>
            </a:r>
            <a:r>
              <a:rPr lang="en-US" altLang="zh-CN" sz="2200" dirty="0">
                <a:latin typeface="Times New Roman" panose="02020603050405020304" pitchFamily="18" charset="0"/>
                <a:cs typeface="Times New Roman" panose="02020603050405020304" pitchFamily="18" charset="0"/>
              </a:rPr>
              <a:t>)</a:t>
            </a:r>
            <a:r>
              <a:rPr lang="en-US" altLang="zh-CN" sz="2200" i="1" dirty="0">
                <a:latin typeface="Times New Roman" panose="02020603050405020304" pitchFamily="18" charset="0"/>
                <a:cs typeface="Times New Roman" panose="02020603050405020304" pitchFamily="18" charset="0"/>
              </a:rPr>
              <a:t>P</a:t>
            </a:r>
            <a:r>
              <a:rPr lang="en-US" altLang="zh-CN" sz="2200" dirty="0">
                <a:latin typeface="Times New Roman" panose="02020603050405020304" pitchFamily="18" charset="0"/>
                <a:cs typeface="Times New Roman" panose="02020603050405020304" pitchFamily="18" charset="0"/>
              </a:rPr>
              <a:t>(</a:t>
            </a:r>
            <a:r>
              <a:rPr lang="en-US" altLang="zh-CN" sz="2200" i="1" dirty="0">
                <a:latin typeface="Times New Roman" panose="02020603050405020304" pitchFamily="18" charset="0"/>
                <a:cs typeface="Times New Roman" panose="02020603050405020304" pitchFamily="18" charset="0"/>
              </a:rPr>
              <a:t>C</a:t>
            </a:r>
            <a:r>
              <a:rPr lang="en-US" altLang="zh-CN" sz="2200" dirty="0">
                <a:latin typeface="Times New Roman" panose="02020603050405020304" pitchFamily="18" charset="0"/>
                <a:cs typeface="Times New Roman" panose="02020603050405020304" pitchFamily="18" charset="0"/>
              </a:rPr>
              <a:t>)+</a:t>
            </a:r>
            <a:r>
              <a:rPr lang="en-US" altLang="zh-CN" sz="2200" i="1" dirty="0">
                <a:latin typeface="Times New Roman" panose="02020603050405020304" pitchFamily="18" charset="0"/>
                <a:cs typeface="Times New Roman" panose="02020603050405020304" pitchFamily="18" charset="0"/>
              </a:rPr>
              <a:t> P</a:t>
            </a:r>
            <a:r>
              <a:rPr lang="en-US" altLang="zh-CN" sz="2200" dirty="0">
                <a:latin typeface="Times New Roman" panose="02020603050405020304" pitchFamily="18" charset="0"/>
                <a:cs typeface="Times New Roman" panose="02020603050405020304" pitchFamily="18" charset="0"/>
              </a:rPr>
              <a:t>(</a:t>
            </a:r>
            <a:r>
              <a:rPr lang="en-US" altLang="zh-CN" sz="2200" i="1" dirty="0">
                <a:latin typeface="Times New Roman" panose="02020603050405020304" pitchFamily="18" charset="0"/>
                <a:cs typeface="Times New Roman" panose="02020603050405020304" pitchFamily="18" charset="0"/>
              </a:rPr>
              <a:t>T</a:t>
            </a:r>
            <a:r>
              <a:rPr lang="en-US" altLang="zh-CN" sz="2200" dirty="0">
                <a:latin typeface="Times New Roman" panose="02020603050405020304" pitchFamily="18" charset="0"/>
                <a:cs typeface="Times New Roman" panose="02020603050405020304" pitchFamily="18" charset="0"/>
              </a:rPr>
              <a:t>|¬</a:t>
            </a:r>
            <a:r>
              <a:rPr lang="en-US" altLang="zh-CN" sz="2200" i="1" dirty="0">
                <a:latin typeface="Times New Roman" panose="02020603050405020304" pitchFamily="18" charset="0"/>
                <a:cs typeface="Times New Roman" panose="02020603050405020304" pitchFamily="18" charset="0"/>
              </a:rPr>
              <a:t>C</a:t>
            </a:r>
            <a:r>
              <a:rPr lang="en-US" altLang="zh-CN" sz="2200" dirty="0">
                <a:latin typeface="Times New Roman" panose="02020603050405020304" pitchFamily="18" charset="0"/>
                <a:cs typeface="Times New Roman" panose="02020603050405020304" pitchFamily="18" charset="0"/>
              </a:rPr>
              <a:t>, </a:t>
            </a:r>
            <a:r>
              <a:rPr lang="en-US" altLang="zh-CN" sz="2200" i="1" dirty="0">
                <a:latin typeface="Times New Roman" panose="02020603050405020304" pitchFamily="18" charset="0"/>
                <a:cs typeface="Times New Roman" panose="02020603050405020304" pitchFamily="18" charset="0"/>
              </a:rPr>
              <a:t>S</a:t>
            </a:r>
            <a:r>
              <a:rPr lang="en-US" altLang="zh-CN" sz="2200" dirty="0">
                <a:latin typeface="Times New Roman" panose="02020603050405020304" pitchFamily="18" charset="0"/>
                <a:cs typeface="Times New Roman" panose="02020603050405020304" pitchFamily="18" charset="0"/>
              </a:rPr>
              <a:t>)</a:t>
            </a:r>
            <a:r>
              <a:rPr lang="en-US" altLang="zh-CN" sz="2200" i="1" dirty="0">
                <a:latin typeface="Times New Roman" panose="02020603050405020304" pitchFamily="18" charset="0"/>
                <a:cs typeface="Times New Roman" panose="02020603050405020304" pitchFamily="18" charset="0"/>
              </a:rPr>
              <a:t>P</a:t>
            </a:r>
            <a:r>
              <a:rPr lang="en-US" altLang="zh-CN" sz="2200" dirty="0">
                <a:latin typeface="Times New Roman" panose="02020603050405020304" pitchFamily="18" charset="0"/>
                <a:cs typeface="Times New Roman" panose="02020603050405020304" pitchFamily="18" charset="0"/>
              </a:rPr>
              <a:t>(¬</a:t>
            </a:r>
            <a:r>
              <a:rPr lang="en-US" altLang="zh-CN" sz="2200" i="1" dirty="0">
                <a:latin typeface="Times New Roman" panose="02020603050405020304" pitchFamily="18" charset="0"/>
                <a:cs typeface="Times New Roman" panose="02020603050405020304" pitchFamily="18" charset="0"/>
              </a:rPr>
              <a:t>C</a:t>
            </a:r>
            <a:r>
              <a:rPr lang="en-US" altLang="zh-CN" sz="2200" dirty="0">
                <a:latin typeface="Times New Roman" panose="02020603050405020304" pitchFamily="18" charset="0"/>
                <a:cs typeface="Times New Roman" panose="02020603050405020304" pitchFamily="18" charset="0"/>
              </a:rPr>
              <a:t>)         (8-31)</a:t>
            </a:r>
          </a:p>
          <a:p>
            <a:pPr latinLnBrk="1">
              <a:lnSpc>
                <a:spcPct val="150000"/>
              </a:lnSpc>
              <a:spcBef>
                <a:spcPct val="0"/>
              </a:spcBef>
              <a:buNone/>
            </a:pPr>
            <a:r>
              <a:rPr lang="zh-CN" altLang="en-US" sz="2200" dirty="0"/>
              <a:t>     将</a:t>
            </a:r>
            <a:r>
              <a:rPr lang="zh-CN" altLang="en-US" sz="2200" dirty="0">
                <a:latin typeface="Times New Roman" panose="02020603050405020304" pitchFamily="18" charset="0"/>
                <a:cs typeface="Times New Roman" panose="02020603050405020304" pitchFamily="18" charset="0"/>
              </a:rPr>
              <a:t>这些概率值代入</a:t>
            </a:r>
            <a:r>
              <a:rPr lang="en-US" altLang="zh-CN" sz="2200" dirty="0">
                <a:latin typeface="Times New Roman" panose="02020603050405020304" pitchFamily="18" charset="0"/>
                <a:cs typeface="Times New Roman" panose="02020603050405020304" pitchFamily="18" charset="0"/>
              </a:rPr>
              <a:t>(8-31)</a:t>
            </a:r>
            <a:r>
              <a:rPr lang="zh-CN" altLang="en-US" sz="2200" dirty="0">
                <a:latin typeface="Times New Roman" panose="02020603050405020304" pitchFamily="18" charset="0"/>
                <a:cs typeface="Times New Roman" panose="02020603050405020304" pitchFamily="18" charset="0"/>
              </a:rPr>
              <a:t>式右端便得</a:t>
            </a:r>
          </a:p>
          <a:p>
            <a:pPr latinLnBrk="1">
              <a:buNone/>
            </a:pPr>
            <a:r>
              <a:rPr lang="en-US" altLang="zh-CN" sz="2200" dirty="0">
                <a:latin typeface="Times New Roman" panose="02020603050405020304" pitchFamily="18" charset="0"/>
                <a:cs typeface="Times New Roman" panose="02020603050405020304" pitchFamily="18" charset="0"/>
              </a:rPr>
              <a:t>                            </a:t>
            </a:r>
            <a:r>
              <a:rPr lang="en-US" altLang="zh-CN" sz="2200" i="1" dirty="0">
                <a:latin typeface="Times New Roman" panose="02020603050405020304" pitchFamily="18" charset="0"/>
                <a:cs typeface="Times New Roman" panose="02020603050405020304" pitchFamily="18" charset="0"/>
              </a:rPr>
              <a:t>P</a:t>
            </a:r>
            <a:r>
              <a:rPr lang="en-US" altLang="zh-CN" sz="2200" dirty="0">
                <a:latin typeface="Times New Roman" panose="02020603050405020304" pitchFamily="18" charset="0"/>
                <a:cs typeface="Times New Roman" panose="02020603050405020304" pitchFamily="18" charset="0"/>
              </a:rPr>
              <a:t>(</a:t>
            </a:r>
            <a:r>
              <a:rPr lang="en-US" altLang="zh-CN" sz="2200" i="1" dirty="0">
                <a:latin typeface="Times New Roman" panose="02020603050405020304" pitchFamily="18" charset="0"/>
                <a:cs typeface="Times New Roman" panose="02020603050405020304" pitchFamily="18" charset="0"/>
              </a:rPr>
              <a:t>T</a:t>
            </a:r>
            <a:r>
              <a:rPr lang="en-US" altLang="zh-CN" sz="2200" dirty="0">
                <a:latin typeface="Times New Roman" panose="02020603050405020304" pitchFamily="18" charset="0"/>
                <a:cs typeface="Times New Roman" panose="02020603050405020304" pitchFamily="18" charset="0"/>
              </a:rPr>
              <a:t>|</a:t>
            </a:r>
            <a:r>
              <a:rPr lang="en-US" altLang="zh-CN" sz="2200" i="1" dirty="0">
                <a:latin typeface="Times New Roman" panose="02020603050405020304" pitchFamily="18" charset="0"/>
                <a:cs typeface="Times New Roman" panose="02020603050405020304" pitchFamily="18" charset="0"/>
              </a:rPr>
              <a:t>S</a:t>
            </a:r>
            <a:r>
              <a:rPr lang="en-US" altLang="zh-CN" sz="2200" dirty="0">
                <a:latin typeface="Times New Roman" panose="02020603050405020304" pitchFamily="18" charset="0"/>
                <a:cs typeface="Times New Roman" panose="02020603050405020304" pitchFamily="18" charset="0"/>
              </a:rPr>
              <a:t>) =0.35* 0.8+0.011* 0.2=0.2822</a:t>
            </a:r>
            <a:endParaRPr lang="zh-CN" altLang="en-US" sz="2200" dirty="0">
              <a:latin typeface="Times New Roman" panose="02020603050405020304" pitchFamily="18" charset="0"/>
              <a:cs typeface="Times New Roman" panose="02020603050405020304" pitchFamily="18" charset="0"/>
            </a:endParaRPr>
          </a:p>
          <a:p>
            <a:pPr latinLnBrk="1">
              <a:lnSpc>
                <a:spcPct val="150000"/>
              </a:lnSpc>
              <a:buNone/>
            </a:pPr>
            <a:r>
              <a:rPr lang="zh-CN" altLang="en-US" sz="2200" dirty="0">
                <a:latin typeface="Times New Roman" panose="02020603050405020304" pitchFamily="18" charset="0"/>
                <a:cs typeface="Times New Roman" panose="02020603050405020304" pitchFamily="18" charset="0"/>
              </a:rPr>
              <a:t>     即吸烟可引起气管炎的概率为</a:t>
            </a:r>
            <a:r>
              <a:rPr lang="en-US" altLang="zh-CN" sz="2200" dirty="0">
                <a:latin typeface="Times New Roman" panose="02020603050405020304" pitchFamily="18" charset="0"/>
                <a:cs typeface="Times New Roman" panose="02020603050405020304" pitchFamily="18" charset="0"/>
              </a:rPr>
              <a:t>0.2822</a:t>
            </a:r>
            <a:r>
              <a:rPr lang="zh-CN" altLang="en-US" sz="2200" dirty="0">
                <a:latin typeface="Times New Roman" panose="02020603050405020304" pitchFamily="18" charset="0"/>
                <a:cs typeface="Times New Roman" panose="02020603050405020304" pitchFamily="18" charset="0"/>
              </a:rPr>
              <a:t>。</a:t>
            </a:r>
          </a:p>
          <a:p>
            <a:pPr latinLnBrk="1">
              <a:buNone/>
            </a:pPr>
            <a:endParaRPr lang="zh-CN" altLang="en-US" sz="2400" dirty="0">
              <a:latin typeface="Times New Roman" panose="02020603050405020304" pitchFamily="18" charset="0"/>
              <a:cs typeface="Times New Roman" panose="02020603050405020304" pitchFamily="18" charset="0"/>
            </a:endParaRPr>
          </a:p>
          <a:p>
            <a:pPr>
              <a:lnSpc>
                <a:spcPct val="150000"/>
              </a:lnSpc>
              <a:buNone/>
            </a:pPr>
            <a:endParaRPr lang="zh-CN" altLang="en-US" sz="2400" dirty="0"/>
          </a:p>
        </p:txBody>
      </p:sp>
    </p:spTree>
    <p:extLst>
      <p:ext uri="{BB962C8B-B14F-4D97-AF65-F5344CB8AC3E}">
        <p14:creationId xmlns:p14="http://schemas.microsoft.com/office/powerpoint/2010/main" val="2664300740"/>
      </p:ext>
    </p:extLst>
  </p:cSld>
  <p:clrMapOvr>
    <a:masterClrMapping/>
  </p:clrMapOvr>
  <p:transition/>
</p:sld>
</file>

<file path=ppt/slides/slide4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内容占位符 3"/>
          <p:cNvSpPr>
            <a:spLocks noGrp="1"/>
          </p:cNvSpPr>
          <p:nvPr>
            <p:ph idx="1"/>
          </p:nvPr>
        </p:nvSpPr>
        <p:spPr>
          <a:xfrm>
            <a:off x="428596" y="571480"/>
            <a:ext cx="8215370" cy="2000264"/>
          </a:xfrm>
        </p:spPr>
        <p:txBody>
          <a:bodyPr/>
          <a:lstStyle/>
          <a:p>
            <a:pPr latinLnBrk="1">
              <a:lnSpc>
                <a:spcPct val="150000"/>
              </a:lnSpc>
              <a:buNone/>
            </a:pPr>
            <a:r>
              <a:rPr lang="en-US" sz="2400" dirty="0"/>
              <a:t>    2.</a:t>
            </a:r>
            <a:r>
              <a:rPr lang="en-US" sz="2400" b="1" dirty="0"/>
              <a:t> </a:t>
            </a:r>
            <a:r>
              <a:rPr lang="zh-CN" altLang="en-US" sz="2400" b="1" dirty="0">
                <a:latin typeface="楷体" pitchFamily="49" charset="-122"/>
                <a:ea typeface="楷体" pitchFamily="49" charset="-122"/>
              </a:rPr>
              <a:t>诊断推理</a:t>
            </a:r>
            <a:endParaRPr lang="en-US" altLang="zh-CN" sz="2400" b="1" dirty="0">
              <a:latin typeface="楷体" pitchFamily="49" charset="-122"/>
              <a:ea typeface="楷体" pitchFamily="49" charset="-122"/>
            </a:endParaRPr>
          </a:p>
          <a:p>
            <a:pPr latinLnBrk="1">
              <a:lnSpc>
                <a:spcPct val="140000"/>
              </a:lnSpc>
              <a:spcBef>
                <a:spcPts val="0"/>
              </a:spcBef>
              <a:buNone/>
            </a:pPr>
            <a:r>
              <a:rPr lang="zh-CN" altLang="en-US" sz="2300" dirty="0">
                <a:latin typeface="Times New Roman" pitchFamily="18" charset="0"/>
                <a:cs typeface="Times New Roman" pitchFamily="18" charset="0"/>
              </a:rPr>
              <a:t>            仍以图</a:t>
            </a:r>
            <a:r>
              <a:rPr lang="en-US" sz="2300" dirty="0">
                <a:latin typeface="Times New Roman" pitchFamily="18" charset="0"/>
                <a:cs typeface="Times New Roman" pitchFamily="18" charset="0"/>
              </a:rPr>
              <a:t>8-3</a:t>
            </a:r>
            <a:r>
              <a:rPr lang="zh-CN" altLang="en-US" sz="2300" dirty="0">
                <a:latin typeface="Times New Roman" pitchFamily="18" charset="0"/>
                <a:cs typeface="Times New Roman" pitchFamily="18" charset="0"/>
              </a:rPr>
              <a:t>所示的贝叶斯网络为例，介绍自下而上的诊断推理。假设已知某人患了气管炎</a:t>
            </a:r>
            <a:r>
              <a:rPr lang="en-US" sz="2300" dirty="0">
                <a:latin typeface="Times New Roman" pitchFamily="18" charset="0"/>
                <a:cs typeface="Times New Roman" pitchFamily="18" charset="0"/>
              </a:rPr>
              <a:t>(</a:t>
            </a:r>
            <a:r>
              <a:rPr lang="en-US" sz="2300" i="1" dirty="0">
                <a:latin typeface="Times New Roman" pitchFamily="18" charset="0"/>
                <a:cs typeface="Times New Roman" pitchFamily="18" charset="0"/>
              </a:rPr>
              <a:t>T</a:t>
            </a:r>
            <a:r>
              <a:rPr lang="en-US" sz="2300" dirty="0">
                <a:latin typeface="Times New Roman" pitchFamily="18" charset="0"/>
                <a:cs typeface="Times New Roman" pitchFamily="18" charset="0"/>
              </a:rPr>
              <a:t>)</a:t>
            </a:r>
            <a:r>
              <a:rPr lang="zh-CN" altLang="en-US" sz="2300" dirty="0">
                <a:latin typeface="Times New Roman" pitchFamily="18" charset="0"/>
                <a:cs typeface="Times New Roman" pitchFamily="18" charset="0"/>
              </a:rPr>
              <a:t>，计算他吸烟</a:t>
            </a:r>
            <a:r>
              <a:rPr lang="en-US" sz="2300" dirty="0">
                <a:latin typeface="Times New Roman" pitchFamily="18" charset="0"/>
                <a:cs typeface="Times New Roman" pitchFamily="18" charset="0"/>
              </a:rPr>
              <a:t>(</a:t>
            </a:r>
            <a:r>
              <a:rPr lang="en-US" sz="2300" i="1" dirty="0">
                <a:latin typeface="Times New Roman" pitchFamily="18" charset="0"/>
                <a:cs typeface="Times New Roman" pitchFamily="18" charset="0"/>
              </a:rPr>
              <a:t>S</a:t>
            </a:r>
            <a:r>
              <a:rPr lang="en-US" sz="2300" dirty="0">
                <a:latin typeface="Times New Roman" pitchFamily="18" charset="0"/>
                <a:cs typeface="Times New Roman" pitchFamily="18" charset="0"/>
              </a:rPr>
              <a:t>)</a:t>
            </a:r>
            <a:r>
              <a:rPr lang="zh-CN" altLang="en-US" sz="2300" dirty="0">
                <a:latin typeface="Times New Roman" pitchFamily="18" charset="0"/>
                <a:cs typeface="Times New Roman" pitchFamily="18" charset="0"/>
              </a:rPr>
              <a:t>的后验概率</a:t>
            </a:r>
            <a:r>
              <a:rPr lang="en-US" sz="2300" i="1" dirty="0">
                <a:latin typeface="Times New Roman" pitchFamily="18" charset="0"/>
                <a:cs typeface="Times New Roman" pitchFamily="18" charset="0"/>
              </a:rPr>
              <a:t>P</a:t>
            </a:r>
            <a:r>
              <a:rPr lang="en-US" sz="2300" dirty="0">
                <a:latin typeface="Times New Roman" pitchFamily="18" charset="0"/>
                <a:cs typeface="Times New Roman" pitchFamily="18" charset="0"/>
              </a:rPr>
              <a:t>(</a:t>
            </a:r>
            <a:r>
              <a:rPr lang="en-US" sz="2300" i="1" dirty="0">
                <a:latin typeface="Times New Roman" pitchFamily="18" charset="0"/>
                <a:cs typeface="Times New Roman" pitchFamily="18" charset="0"/>
              </a:rPr>
              <a:t>S</a:t>
            </a:r>
            <a:r>
              <a:rPr lang="en-US" sz="2300" dirty="0">
                <a:latin typeface="Times New Roman" pitchFamily="18" charset="0"/>
                <a:cs typeface="Times New Roman" pitchFamily="18" charset="0"/>
              </a:rPr>
              <a:t>|</a:t>
            </a:r>
            <a:r>
              <a:rPr lang="en-US" sz="2300" i="1" dirty="0">
                <a:latin typeface="Times New Roman" pitchFamily="18" charset="0"/>
                <a:cs typeface="Times New Roman" pitchFamily="18" charset="0"/>
              </a:rPr>
              <a:t>T</a:t>
            </a:r>
            <a:r>
              <a:rPr lang="en-US" sz="2300" dirty="0">
                <a:latin typeface="Times New Roman" pitchFamily="18" charset="0"/>
                <a:cs typeface="Times New Roman" pitchFamily="18" charset="0"/>
              </a:rPr>
              <a:t>)</a:t>
            </a:r>
            <a:r>
              <a:rPr lang="zh-CN" altLang="en-US" sz="2300" dirty="0">
                <a:latin typeface="Times New Roman" pitchFamily="18" charset="0"/>
                <a:cs typeface="Times New Roman" pitchFamily="18" charset="0"/>
              </a:rPr>
              <a:t>。</a:t>
            </a:r>
          </a:p>
          <a:p>
            <a:pPr latinLnBrk="1">
              <a:lnSpc>
                <a:spcPct val="140000"/>
              </a:lnSpc>
              <a:spcBef>
                <a:spcPts val="0"/>
              </a:spcBef>
              <a:buNone/>
            </a:pPr>
            <a:r>
              <a:rPr lang="zh-CN" altLang="en-US" sz="2300" dirty="0">
                <a:latin typeface="Times New Roman" pitchFamily="18" charset="0"/>
                <a:cs typeface="Times New Roman" pitchFamily="18" charset="0"/>
              </a:rPr>
              <a:t>            由贝叶斯公式，有</a:t>
            </a:r>
          </a:p>
          <a:p>
            <a:pPr latinLnBrk="1">
              <a:buNone/>
            </a:pPr>
            <a:endParaRPr lang="zh-CN" altLang="en-US" sz="2400" dirty="0"/>
          </a:p>
        </p:txBody>
      </p:sp>
      <p:pic>
        <p:nvPicPr>
          <p:cNvPr id="540673" name="Picture 1"/>
          <p:cNvPicPr>
            <a:picLocks noChangeAspect="1" noChangeArrowheads="1"/>
          </p:cNvPicPr>
          <p:nvPr/>
        </p:nvPicPr>
        <p:blipFill>
          <a:blip r:embed="rId2"/>
          <a:srcRect/>
          <a:stretch>
            <a:fillRect/>
          </a:stretch>
        </p:blipFill>
        <p:spPr bwMode="auto">
          <a:xfrm>
            <a:off x="251520" y="2902262"/>
            <a:ext cx="8316386" cy="1053476"/>
          </a:xfrm>
          <a:prstGeom prst="rect">
            <a:avLst/>
          </a:prstGeom>
          <a:noFill/>
          <a:ln w="9525">
            <a:noFill/>
            <a:miter lim="800000"/>
            <a:headEnd/>
            <a:tailEnd/>
          </a:ln>
          <a:effectLst/>
        </p:spPr>
      </p:pic>
      <p:graphicFrame>
        <p:nvGraphicFramePr>
          <p:cNvPr id="540675" name="Object 3"/>
          <p:cNvGraphicFramePr>
            <a:graphicFrameLocks noChangeAspect="1"/>
          </p:cNvGraphicFramePr>
          <p:nvPr/>
        </p:nvGraphicFramePr>
        <p:xfrm>
          <a:off x="0" y="457200"/>
          <a:ext cx="114300" cy="123825"/>
        </p:xfrm>
        <a:graphic>
          <a:graphicData uri="http://schemas.openxmlformats.org/presentationml/2006/ole">
            <mc:AlternateContent xmlns:mc="http://schemas.openxmlformats.org/markup-compatibility/2006">
              <mc:Choice xmlns:v="urn:schemas-microsoft-com:vml" Requires="v">
                <p:oleObj name="公式" r:id="rId3" imgW="114102" imgH="126780" progId="Equation.3">
                  <p:embed/>
                </p:oleObj>
              </mc:Choice>
              <mc:Fallback>
                <p:oleObj name="公式" r:id="rId3" imgW="114102" imgH="126780" progId="Equation.3">
                  <p:embed/>
                  <p:pic>
                    <p:nvPicPr>
                      <p:cNvPr id="540675"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457200"/>
                        <a:ext cx="114300" cy="1238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540676" name="Rectangle 4"/>
          <p:cNvSpPr>
            <a:spLocks noChangeArrowheads="1"/>
          </p:cNvSpPr>
          <p:nvPr/>
        </p:nvSpPr>
        <p:spPr bwMode="auto">
          <a:xfrm>
            <a:off x="411134" y="3598419"/>
            <a:ext cx="7313220" cy="2208297"/>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266700" algn="l" defTabSz="914400" rtl="0" eaLnBrk="1" fontAlgn="base" latinLnBrk="0" hangingPunct="1">
              <a:lnSpc>
                <a:spcPct val="150000"/>
              </a:lnSpc>
              <a:spcBef>
                <a:spcPct val="0"/>
              </a:spcBef>
              <a:spcAft>
                <a:spcPct val="0"/>
              </a:spcAft>
              <a:buClrTx/>
              <a:buSzTx/>
              <a:buFontTx/>
              <a:buNone/>
              <a:tabLst/>
            </a:pPr>
            <a:r>
              <a:rPr kumimoji="0" lang="en-US" altLang="zh-CN" sz="23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  </a:t>
            </a:r>
            <a:r>
              <a:rPr kumimoji="0" lang="zh-CN" sz="23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由上面的因果推理知，</a:t>
            </a:r>
            <a:endParaRPr kumimoji="0" lang="zh-CN" sz="2300" b="0" i="0" u="none" strike="noStrike" cap="none" normalizeH="0" baseline="0" dirty="0">
              <a:ln>
                <a:noFill/>
              </a:ln>
              <a:solidFill>
                <a:schemeClr val="tx1"/>
              </a:solidFill>
              <a:effectLst/>
              <a:latin typeface="Arial" pitchFamily="34" charset="0"/>
              <a:ea typeface="宋体" pitchFamily="2" charset="-122"/>
              <a:cs typeface="宋体" pitchFamily="2" charset="-122"/>
            </a:endParaRPr>
          </a:p>
          <a:p>
            <a:pPr marL="0" marR="0" lvl="0" indent="266700" algn="l" defTabSz="914400" rtl="0" eaLnBrk="0" fontAlgn="base" latinLnBrk="0" hangingPunct="0">
              <a:lnSpc>
                <a:spcPct val="100000"/>
              </a:lnSpc>
              <a:spcBef>
                <a:spcPts val="600"/>
              </a:spcBef>
              <a:spcAft>
                <a:spcPct val="0"/>
              </a:spcAft>
              <a:buClrTx/>
              <a:buSzTx/>
              <a:buFontTx/>
              <a:buNone/>
              <a:tabLst/>
            </a:pPr>
            <a:r>
              <a:rPr kumimoji="0" lang="en-US" altLang="zh-CN" sz="2300" b="0" i="1"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                P</a:t>
            </a:r>
            <a:r>
              <a:rPr kumimoji="0" lang="en-US" altLang="zh-CN" sz="23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a:t>
            </a:r>
            <a:r>
              <a:rPr kumimoji="0" lang="en-US" altLang="zh-CN" sz="2300" b="0" i="1"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T</a:t>
            </a:r>
            <a:r>
              <a:rPr kumimoji="0" lang="en-US" altLang="zh-CN" sz="23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a:t>
            </a:r>
            <a:r>
              <a:rPr kumimoji="0" lang="en-US" altLang="zh-CN" sz="2300" b="0" i="1"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S</a:t>
            </a:r>
            <a:r>
              <a:rPr kumimoji="0" lang="en-US" altLang="zh-CN" sz="23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 =</a:t>
            </a:r>
            <a:r>
              <a:rPr kumimoji="0" lang="en-US" altLang="zh-CN" sz="2300" b="0" i="1"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 </a:t>
            </a:r>
            <a:r>
              <a:rPr kumimoji="0" lang="en-US" altLang="zh-CN" sz="2300" b="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0.2822</a:t>
            </a:r>
          </a:p>
          <a:p>
            <a:pPr marL="0" marR="0" lvl="0" indent="266700" algn="l" defTabSz="914400" rtl="0" eaLnBrk="0" fontAlgn="base" latinLnBrk="0" hangingPunct="0">
              <a:lnSpc>
                <a:spcPct val="100000"/>
              </a:lnSpc>
              <a:spcBef>
                <a:spcPts val="600"/>
              </a:spcBef>
              <a:spcAft>
                <a:spcPct val="0"/>
              </a:spcAft>
              <a:buClrTx/>
              <a:buSzTx/>
              <a:buFontTx/>
              <a:buNone/>
              <a:tabLst/>
            </a:pPr>
            <a:r>
              <a:rPr lang="zh-CN" altLang="en-US" sz="2300" dirty="0"/>
              <a:t>又</a:t>
            </a:r>
          </a:p>
          <a:p>
            <a:pPr latinLnBrk="1"/>
            <a:r>
              <a:rPr lang="en-US" sz="2300" dirty="0">
                <a:latin typeface="Times New Roman" pitchFamily="18" charset="0"/>
                <a:cs typeface="Times New Roman" pitchFamily="18" charset="0"/>
              </a:rPr>
              <a:t>                             </a:t>
            </a:r>
            <a:r>
              <a:rPr lang="en-US" sz="2300" i="1" dirty="0">
                <a:latin typeface="Times New Roman" pitchFamily="18" charset="0"/>
                <a:cs typeface="Times New Roman" pitchFamily="18" charset="0"/>
              </a:rPr>
              <a:t>P</a:t>
            </a:r>
            <a:r>
              <a:rPr lang="en-US" sz="2300" dirty="0">
                <a:latin typeface="Times New Roman" pitchFamily="18" charset="0"/>
                <a:cs typeface="Times New Roman" pitchFamily="18" charset="0"/>
              </a:rPr>
              <a:t>(</a:t>
            </a:r>
            <a:r>
              <a:rPr lang="en-US" sz="2300" i="1" dirty="0">
                <a:latin typeface="Times New Roman" pitchFamily="18" charset="0"/>
                <a:cs typeface="Times New Roman" pitchFamily="18" charset="0"/>
              </a:rPr>
              <a:t>S</a:t>
            </a:r>
            <a:r>
              <a:rPr lang="en-US" sz="2300" dirty="0">
                <a:latin typeface="Times New Roman" pitchFamily="18" charset="0"/>
                <a:cs typeface="Times New Roman" pitchFamily="18" charset="0"/>
              </a:rPr>
              <a:t>)=0.4        </a:t>
            </a:r>
            <a:r>
              <a:rPr lang="zh-CN" altLang="en-US" sz="2300" dirty="0">
                <a:latin typeface="Times New Roman" pitchFamily="18" charset="0"/>
                <a:cs typeface="Times New Roman" pitchFamily="18" charset="0"/>
              </a:rPr>
              <a:t>（由图</a:t>
            </a:r>
            <a:r>
              <a:rPr lang="en-US" sz="2300" dirty="0">
                <a:latin typeface="Times New Roman" pitchFamily="18" charset="0"/>
                <a:cs typeface="Times New Roman" pitchFamily="18" charset="0"/>
              </a:rPr>
              <a:t>8-3</a:t>
            </a:r>
            <a:r>
              <a:rPr lang="zh-CN" altLang="en-US" sz="2300" dirty="0">
                <a:latin typeface="Times New Roman" pitchFamily="18" charset="0"/>
                <a:cs typeface="Times New Roman" pitchFamily="18" charset="0"/>
              </a:rPr>
              <a:t>的条件概率</a:t>
            </a:r>
            <a:r>
              <a:rPr lang="zh-CN" altLang="en-US" sz="2300" dirty="0"/>
              <a:t>表）</a:t>
            </a:r>
          </a:p>
          <a:p>
            <a:pPr marL="0" marR="0" lvl="0" indent="266700" algn="l" defTabSz="914400" rtl="0" eaLnBrk="0" fontAlgn="base" latinLnBrk="0" hangingPunct="0">
              <a:lnSpc>
                <a:spcPct val="100000"/>
              </a:lnSpc>
              <a:spcBef>
                <a:spcPct val="0"/>
              </a:spcBef>
              <a:spcAft>
                <a:spcPct val="0"/>
              </a:spcAft>
              <a:buClrTx/>
              <a:buSzTx/>
              <a:buFontTx/>
              <a:buNone/>
              <a:tabLst/>
            </a:pPr>
            <a:endParaRPr kumimoji="0" lang="en-US" altLang="zh-CN" sz="2400" b="0" i="0" u="none" strike="noStrike" cap="none" normalizeH="0" baseline="0" dirty="0">
              <a:ln>
                <a:noFill/>
              </a:ln>
              <a:solidFill>
                <a:schemeClr val="tx1"/>
              </a:solidFill>
              <a:effectLst/>
              <a:latin typeface="宋体" pitchFamily="2" charset="-122"/>
              <a:ea typeface="宋体" pitchFamily="2" charset="-122"/>
              <a:cs typeface="Times New Roman" pitchFamily="18" charset="0"/>
              <a:sym typeface="Symbol" pitchFamily="18" charset="2"/>
            </a:endParaRPr>
          </a:p>
        </p:txBody>
      </p:sp>
    </p:spTree>
    <p:extLst>
      <p:ext uri="{BB962C8B-B14F-4D97-AF65-F5344CB8AC3E}">
        <p14:creationId xmlns:p14="http://schemas.microsoft.com/office/powerpoint/2010/main" val="2146358303"/>
      </p:ext>
    </p:extLst>
  </p:cSld>
  <p:clrMapOvr>
    <a:masterClrMapping/>
  </p:clrMapOvr>
  <p:transition/>
</p:sld>
</file>

<file path=ppt/slides/slide4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591873" name="Picture 1"/>
          <p:cNvPicPr>
            <a:picLocks noChangeAspect="1" noChangeArrowheads="1"/>
          </p:cNvPicPr>
          <p:nvPr/>
        </p:nvPicPr>
        <p:blipFill>
          <a:blip r:embed="rId2"/>
          <a:srcRect/>
          <a:stretch>
            <a:fillRect/>
          </a:stretch>
        </p:blipFill>
        <p:spPr bwMode="auto">
          <a:xfrm>
            <a:off x="579410" y="857232"/>
            <a:ext cx="8072494" cy="4857784"/>
          </a:xfrm>
          <a:prstGeom prst="rect">
            <a:avLst/>
          </a:prstGeom>
          <a:noFill/>
          <a:ln w="9525">
            <a:noFill/>
            <a:miter lim="800000"/>
            <a:headEnd/>
            <a:tailEnd/>
          </a:ln>
          <a:effectLst/>
        </p:spPr>
      </p:pic>
      <p:pic>
        <p:nvPicPr>
          <p:cNvPr id="3" name="图片 2">
            <a:extLst>
              <a:ext uri="{FF2B5EF4-FFF2-40B4-BE49-F238E27FC236}">
                <a16:creationId xmlns:a16="http://schemas.microsoft.com/office/drawing/2014/main" id="{32E64B6D-419F-6309-0A97-7EE5E4A79F62}"/>
              </a:ext>
            </a:extLst>
          </p:cNvPr>
          <p:cNvPicPr>
            <a:picLocks noChangeAspect="1"/>
          </p:cNvPicPr>
          <p:nvPr/>
        </p:nvPicPr>
        <p:blipFill>
          <a:blip r:embed="rId3"/>
          <a:stretch>
            <a:fillRect/>
          </a:stretch>
        </p:blipFill>
        <p:spPr>
          <a:xfrm>
            <a:off x="5580112" y="1196752"/>
            <a:ext cx="360040" cy="456839"/>
          </a:xfrm>
          <a:prstGeom prst="rect">
            <a:avLst/>
          </a:prstGeom>
        </p:spPr>
      </p:pic>
      <p:sp>
        <p:nvSpPr>
          <p:cNvPr id="4" name="文本框 3">
            <a:extLst>
              <a:ext uri="{FF2B5EF4-FFF2-40B4-BE49-F238E27FC236}">
                <a16:creationId xmlns:a16="http://schemas.microsoft.com/office/drawing/2014/main" id="{BCA103D0-B698-9D69-33C7-0AD8F9A85FE5}"/>
              </a:ext>
            </a:extLst>
          </p:cNvPr>
          <p:cNvSpPr txBox="1"/>
          <p:nvPr/>
        </p:nvSpPr>
        <p:spPr>
          <a:xfrm>
            <a:off x="5508104" y="1340768"/>
            <a:ext cx="576064" cy="369332"/>
          </a:xfrm>
          <a:prstGeom prst="rect">
            <a:avLst/>
          </a:prstGeom>
          <a:noFill/>
        </p:spPr>
        <p:txBody>
          <a:bodyPr wrap="square" rtlCol="0">
            <a:spAutoFit/>
          </a:bodyPr>
          <a:lstStyle/>
          <a:p>
            <a:r>
              <a:rPr lang="en-US" altLang="zh-CN" dirty="0">
                <a:solidFill>
                  <a:schemeClr val="accent1">
                    <a:lumMod val="10000"/>
                  </a:schemeClr>
                </a:solidFill>
              </a:rPr>
              <a:t>0.4</a:t>
            </a:r>
            <a:endParaRPr lang="zh-CN" altLang="en-US" dirty="0">
              <a:solidFill>
                <a:schemeClr val="accent1">
                  <a:lumMod val="10000"/>
                </a:schemeClr>
              </a:solidFill>
            </a:endParaRPr>
          </a:p>
        </p:txBody>
      </p:sp>
      <p:pic>
        <p:nvPicPr>
          <p:cNvPr id="6" name="图片 5">
            <a:extLst>
              <a:ext uri="{FF2B5EF4-FFF2-40B4-BE49-F238E27FC236}">
                <a16:creationId xmlns:a16="http://schemas.microsoft.com/office/drawing/2014/main" id="{F7379E8F-7190-1C9B-5770-E27456403D78}"/>
              </a:ext>
            </a:extLst>
          </p:cNvPr>
          <p:cNvPicPr>
            <a:picLocks noChangeAspect="1"/>
          </p:cNvPicPr>
          <p:nvPr/>
        </p:nvPicPr>
        <p:blipFill>
          <a:blip r:embed="rId4"/>
          <a:stretch>
            <a:fillRect/>
          </a:stretch>
        </p:blipFill>
        <p:spPr>
          <a:xfrm>
            <a:off x="6084168" y="1142984"/>
            <a:ext cx="976483" cy="504762"/>
          </a:xfrm>
          <a:prstGeom prst="rect">
            <a:avLst/>
          </a:prstGeom>
        </p:spPr>
      </p:pic>
      <p:sp>
        <p:nvSpPr>
          <p:cNvPr id="7" name="文本框 6">
            <a:extLst>
              <a:ext uri="{FF2B5EF4-FFF2-40B4-BE49-F238E27FC236}">
                <a16:creationId xmlns:a16="http://schemas.microsoft.com/office/drawing/2014/main" id="{14EF690A-800B-DA7C-DDE1-162AD81C93D7}"/>
              </a:ext>
            </a:extLst>
          </p:cNvPr>
          <p:cNvSpPr txBox="1"/>
          <p:nvPr/>
        </p:nvSpPr>
        <p:spPr>
          <a:xfrm>
            <a:off x="6012160" y="1340768"/>
            <a:ext cx="1008112" cy="369332"/>
          </a:xfrm>
          <a:prstGeom prst="rect">
            <a:avLst/>
          </a:prstGeom>
          <a:noFill/>
        </p:spPr>
        <p:txBody>
          <a:bodyPr wrap="square" rtlCol="0">
            <a:spAutoFit/>
          </a:bodyPr>
          <a:lstStyle/>
          <a:p>
            <a:r>
              <a:rPr lang="en-US" altLang="zh-CN" dirty="0">
                <a:solidFill>
                  <a:schemeClr val="accent1">
                    <a:lumMod val="10000"/>
                  </a:schemeClr>
                </a:solidFill>
              </a:rPr>
              <a:t>0.11288</a:t>
            </a:r>
            <a:endParaRPr lang="zh-CN" altLang="en-US" dirty="0">
              <a:solidFill>
                <a:schemeClr val="accent1">
                  <a:lumMod val="10000"/>
                </a:schemeClr>
              </a:solidFill>
            </a:endParaRPr>
          </a:p>
        </p:txBody>
      </p:sp>
      <p:pic>
        <p:nvPicPr>
          <p:cNvPr id="10" name="图片 9">
            <a:extLst>
              <a:ext uri="{FF2B5EF4-FFF2-40B4-BE49-F238E27FC236}">
                <a16:creationId xmlns:a16="http://schemas.microsoft.com/office/drawing/2014/main" id="{10DD5975-926F-BD79-AAEA-0B62E74EF121}"/>
              </a:ext>
            </a:extLst>
          </p:cNvPr>
          <p:cNvPicPr>
            <a:picLocks noChangeAspect="1"/>
          </p:cNvPicPr>
          <p:nvPr/>
        </p:nvPicPr>
        <p:blipFill>
          <a:blip r:embed="rId5"/>
          <a:stretch>
            <a:fillRect/>
          </a:stretch>
        </p:blipFill>
        <p:spPr>
          <a:xfrm>
            <a:off x="6118806" y="4820150"/>
            <a:ext cx="429094" cy="289085"/>
          </a:xfrm>
          <a:prstGeom prst="rect">
            <a:avLst/>
          </a:prstGeom>
        </p:spPr>
      </p:pic>
      <p:sp>
        <p:nvSpPr>
          <p:cNvPr id="8" name="文本框 7">
            <a:extLst>
              <a:ext uri="{FF2B5EF4-FFF2-40B4-BE49-F238E27FC236}">
                <a16:creationId xmlns:a16="http://schemas.microsoft.com/office/drawing/2014/main" id="{E108E120-8553-0CCF-003D-0918BD625A24}"/>
              </a:ext>
            </a:extLst>
          </p:cNvPr>
          <p:cNvSpPr txBox="1"/>
          <p:nvPr/>
        </p:nvSpPr>
        <p:spPr>
          <a:xfrm>
            <a:off x="6084168" y="4780026"/>
            <a:ext cx="576064" cy="369332"/>
          </a:xfrm>
          <a:prstGeom prst="rect">
            <a:avLst/>
          </a:prstGeom>
          <a:noFill/>
        </p:spPr>
        <p:txBody>
          <a:bodyPr wrap="square" rtlCol="0">
            <a:spAutoFit/>
          </a:bodyPr>
          <a:lstStyle/>
          <a:p>
            <a:r>
              <a:rPr lang="en-US" altLang="zh-CN" dirty="0">
                <a:solidFill>
                  <a:schemeClr val="accent1">
                    <a:lumMod val="10000"/>
                  </a:schemeClr>
                </a:solidFill>
              </a:rPr>
              <a:t>0.6</a:t>
            </a:r>
            <a:endParaRPr lang="zh-CN" altLang="en-US" dirty="0">
              <a:solidFill>
                <a:schemeClr val="accent1">
                  <a:lumMod val="10000"/>
                </a:schemeClr>
              </a:solidFill>
            </a:endParaRPr>
          </a:p>
        </p:txBody>
      </p:sp>
      <p:pic>
        <p:nvPicPr>
          <p:cNvPr id="12" name="图片 11">
            <a:extLst>
              <a:ext uri="{FF2B5EF4-FFF2-40B4-BE49-F238E27FC236}">
                <a16:creationId xmlns:a16="http://schemas.microsoft.com/office/drawing/2014/main" id="{C24B0194-CE9D-985D-5395-78D612CD6DED}"/>
              </a:ext>
            </a:extLst>
          </p:cNvPr>
          <p:cNvPicPr>
            <a:picLocks noChangeAspect="1"/>
          </p:cNvPicPr>
          <p:nvPr/>
        </p:nvPicPr>
        <p:blipFill>
          <a:blip r:embed="rId6"/>
          <a:stretch>
            <a:fillRect/>
          </a:stretch>
        </p:blipFill>
        <p:spPr>
          <a:xfrm>
            <a:off x="6585684" y="4739903"/>
            <a:ext cx="869176" cy="369332"/>
          </a:xfrm>
          <a:prstGeom prst="rect">
            <a:avLst/>
          </a:prstGeom>
        </p:spPr>
      </p:pic>
      <p:sp>
        <p:nvSpPr>
          <p:cNvPr id="13" name="文本框 12">
            <a:extLst>
              <a:ext uri="{FF2B5EF4-FFF2-40B4-BE49-F238E27FC236}">
                <a16:creationId xmlns:a16="http://schemas.microsoft.com/office/drawing/2014/main" id="{E837F7F0-7803-932A-7C19-72434FE8ABF7}"/>
              </a:ext>
            </a:extLst>
          </p:cNvPr>
          <p:cNvSpPr txBox="1"/>
          <p:nvPr/>
        </p:nvSpPr>
        <p:spPr>
          <a:xfrm>
            <a:off x="6562195" y="4780026"/>
            <a:ext cx="1296144" cy="369332"/>
          </a:xfrm>
          <a:prstGeom prst="rect">
            <a:avLst/>
          </a:prstGeom>
          <a:noFill/>
        </p:spPr>
        <p:txBody>
          <a:bodyPr wrap="square" rtlCol="0">
            <a:spAutoFit/>
          </a:bodyPr>
          <a:lstStyle/>
          <a:p>
            <a:r>
              <a:rPr lang="en-US" altLang="zh-CN" dirty="0">
                <a:solidFill>
                  <a:schemeClr val="accent1">
                    <a:lumMod val="10000"/>
                  </a:schemeClr>
                </a:solidFill>
              </a:rPr>
              <a:t>0.12024</a:t>
            </a:r>
            <a:endParaRPr lang="zh-CN" altLang="en-US" dirty="0">
              <a:solidFill>
                <a:schemeClr val="accent1">
                  <a:lumMod val="10000"/>
                </a:schemeClr>
              </a:solidFill>
            </a:endParaRPr>
          </a:p>
        </p:txBody>
      </p:sp>
    </p:spTree>
    <p:extLst>
      <p:ext uri="{BB962C8B-B14F-4D97-AF65-F5344CB8AC3E}">
        <p14:creationId xmlns:p14="http://schemas.microsoft.com/office/powerpoint/2010/main" val="134047050"/>
      </p:ext>
    </p:extLst>
  </p:cSld>
  <p:clrMapOvr>
    <a:masterClrMapping/>
  </p:clrMapOvr>
  <p:transition/>
</p:sld>
</file>

<file path=ppt/slides/slide4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542721" name="Picture 1"/>
          <p:cNvPicPr>
            <a:picLocks noChangeAspect="1" noChangeArrowheads="1"/>
          </p:cNvPicPr>
          <p:nvPr/>
        </p:nvPicPr>
        <p:blipFill>
          <a:blip r:embed="rId2"/>
          <a:srcRect/>
          <a:stretch>
            <a:fillRect/>
          </a:stretch>
        </p:blipFill>
        <p:spPr bwMode="auto">
          <a:xfrm>
            <a:off x="790547" y="928670"/>
            <a:ext cx="8429653" cy="4714908"/>
          </a:xfrm>
          <a:prstGeom prst="rect">
            <a:avLst/>
          </a:prstGeom>
          <a:noFill/>
          <a:ln w="9525">
            <a:noFill/>
            <a:miter lim="800000"/>
            <a:headEnd/>
            <a:tailEnd/>
          </a:ln>
          <a:effectLst/>
        </p:spPr>
      </p:pic>
      <p:sp>
        <p:nvSpPr>
          <p:cNvPr id="3" name="动作按钮: 后退或前一项 2">
            <a:hlinkClick r:id="rId3" action="ppaction://hlinksldjump" highlightClick="1"/>
          </p:cNvPr>
          <p:cNvSpPr/>
          <p:nvPr/>
        </p:nvSpPr>
        <p:spPr>
          <a:xfrm>
            <a:off x="8001024" y="6215082"/>
            <a:ext cx="720000" cy="142876"/>
          </a:xfrm>
          <a:prstGeom prst="actionButtonBackPreviou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7" name="图片 6">
            <a:extLst>
              <a:ext uri="{FF2B5EF4-FFF2-40B4-BE49-F238E27FC236}">
                <a16:creationId xmlns:a16="http://schemas.microsoft.com/office/drawing/2014/main" id="{784605B1-E4F5-7C20-8379-F683CE05DD83}"/>
              </a:ext>
            </a:extLst>
          </p:cNvPr>
          <p:cNvPicPr>
            <a:picLocks noChangeAspect="1"/>
          </p:cNvPicPr>
          <p:nvPr/>
        </p:nvPicPr>
        <p:blipFill>
          <a:blip r:embed="rId4"/>
          <a:stretch>
            <a:fillRect/>
          </a:stretch>
        </p:blipFill>
        <p:spPr>
          <a:xfrm>
            <a:off x="3103205" y="1916832"/>
            <a:ext cx="2836948" cy="526601"/>
          </a:xfrm>
          <a:prstGeom prst="rect">
            <a:avLst/>
          </a:prstGeom>
        </p:spPr>
      </p:pic>
      <p:sp>
        <p:nvSpPr>
          <p:cNvPr id="2" name="文本框 1">
            <a:extLst>
              <a:ext uri="{FF2B5EF4-FFF2-40B4-BE49-F238E27FC236}">
                <a16:creationId xmlns:a16="http://schemas.microsoft.com/office/drawing/2014/main" id="{6D3C2073-F59F-5145-2EAE-8413B84D43B9}"/>
              </a:ext>
            </a:extLst>
          </p:cNvPr>
          <p:cNvSpPr txBox="1"/>
          <p:nvPr/>
        </p:nvSpPr>
        <p:spPr>
          <a:xfrm>
            <a:off x="3419872" y="2122198"/>
            <a:ext cx="1008112" cy="369332"/>
          </a:xfrm>
          <a:prstGeom prst="rect">
            <a:avLst/>
          </a:prstGeom>
          <a:noFill/>
        </p:spPr>
        <p:txBody>
          <a:bodyPr wrap="square" rtlCol="0">
            <a:spAutoFit/>
          </a:bodyPr>
          <a:lstStyle/>
          <a:p>
            <a:r>
              <a:rPr lang="en-US" altLang="zh-CN" dirty="0">
                <a:solidFill>
                  <a:schemeClr val="accent1">
                    <a:lumMod val="10000"/>
                  </a:schemeClr>
                </a:solidFill>
              </a:rPr>
              <a:t>0.11288</a:t>
            </a:r>
            <a:endParaRPr lang="zh-CN" altLang="en-US" dirty="0">
              <a:solidFill>
                <a:schemeClr val="accent1">
                  <a:lumMod val="10000"/>
                </a:schemeClr>
              </a:solidFill>
            </a:endParaRPr>
          </a:p>
        </p:txBody>
      </p:sp>
      <p:sp>
        <p:nvSpPr>
          <p:cNvPr id="4" name="文本框 3">
            <a:extLst>
              <a:ext uri="{FF2B5EF4-FFF2-40B4-BE49-F238E27FC236}">
                <a16:creationId xmlns:a16="http://schemas.microsoft.com/office/drawing/2014/main" id="{242D4C2C-7AFD-916B-9FCD-9E20D3BA3BD2}"/>
              </a:ext>
            </a:extLst>
          </p:cNvPr>
          <p:cNvSpPr txBox="1"/>
          <p:nvPr/>
        </p:nvSpPr>
        <p:spPr>
          <a:xfrm>
            <a:off x="4427984" y="2122198"/>
            <a:ext cx="1296144" cy="369332"/>
          </a:xfrm>
          <a:prstGeom prst="rect">
            <a:avLst/>
          </a:prstGeom>
          <a:noFill/>
        </p:spPr>
        <p:txBody>
          <a:bodyPr wrap="square" rtlCol="0">
            <a:spAutoFit/>
          </a:bodyPr>
          <a:lstStyle/>
          <a:p>
            <a:r>
              <a:rPr lang="en-US" altLang="zh-CN" dirty="0">
                <a:solidFill>
                  <a:schemeClr val="accent1">
                    <a:lumMod val="10000"/>
                  </a:schemeClr>
                </a:solidFill>
              </a:rPr>
              <a:t>0.12024</a:t>
            </a:r>
            <a:endParaRPr lang="zh-CN" altLang="en-US" dirty="0">
              <a:solidFill>
                <a:schemeClr val="accent1">
                  <a:lumMod val="10000"/>
                </a:schemeClr>
              </a:solidFill>
            </a:endParaRPr>
          </a:p>
        </p:txBody>
      </p:sp>
      <p:pic>
        <p:nvPicPr>
          <p:cNvPr id="9" name="图片 8">
            <a:extLst>
              <a:ext uri="{FF2B5EF4-FFF2-40B4-BE49-F238E27FC236}">
                <a16:creationId xmlns:a16="http://schemas.microsoft.com/office/drawing/2014/main" id="{D04E9D74-49BA-6BD8-D151-61234725DFA3}"/>
              </a:ext>
            </a:extLst>
          </p:cNvPr>
          <p:cNvPicPr>
            <a:picLocks noChangeAspect="1"/>
          </p:cNvPicPr>
          <p:nvPr/>
        </p:nvPicPr>
        <p:blipFill>
          <a:blip r:embed="rId4"/>
          <a:stretch>
            <a:fillRect/>
          </a:stretch>
        </p:blipFill>
        <p:spPr>
          <a:xfrm>
            <a:off x="4283968" y="3429000"/>
            <a:ext cx="1080120" cy="526601"/>
          </a:xfrm>
          <a:prstGeom prst="rect">
            <a:avLst/>
          </a:prstGeom>
        </p:spPr>
      </p:pic>
      <p:sp>
        <p:nvSpPr>
          <p:cNvPr id="8" name="文本框 7">
            <a:extLst>
              <a:ext uri="{FF2B5EF4-FFF2-40B4-BE49-F238E27FC236}">
                <a16:creationId xmlns:a16="http://schemas.microsoft.com/office/drawing/2014/main" id="{B38F6C34-5833-01E6-2F58-218823916E33}"/>
              </a:ext>
            </a:extLst>
          </p:cNvPr>
          <p:cNvSpPr txBox="1"/>
          <p:nvPr/>
        </p:nvSpPr>
        <p:spPr>
          <a:xfrm>
            <a:off x="4283968" y="3419341"/>
            <a:ext cx="1296144" cy="369332"/>
          </a:xfrm>
          <a:prstGeom prst="rect">
            <a:avLst/>
          </a:prstGeom>
          <a:noFill/>
        </p:spPr>
        <p:txBody>
          <a:bodyPr wrap="square" rtlCol="0">
            <a:spAutoFit/>
          </a:bodyPr>
          <a:lstStyle/>
          <a:p>
            <a:r>
              <a:rPr lang="en-US" altLang="zh-CN" dirty="0">
                <a:solidFill>
                  <a:schemeClr val="accent1">
                    <a:lumMod val="10000"/>
                  </a:schemeClr>
                </a:solidFill>
              </a:rPr>
              <a:t>0.23312</a:t>
            </a:r>
            <a:endParaRPr lang="zh-CN" altLang="en-US" dirty="0">
              <a:solidFill>
                <a:schemeClr val="accent1">
                  <a:lumMod val="10000"/>
                </a:schemeClr>
              </a:solidFill>
            </a:endParaRPr>
          </a:p>
        </p:txBody>
      </p:sp>
      <p:pic>
        <p:nvPicPr>
          <p:cNvPr id="10" name="图片 9">
            <a:extLst>
              <a:ext uri="{FF2B5EF4-FFF2-40B4-BE49-F238E27FC236}">
                <a16:creationId xmlns:a16="http://schemas.microsoft.com/office/drawing/2014/main" id="{B0A712AD-706F-4021-2980-8C90A65B6146}"/>
              </a:ext>
            </a:extLst>
          </p:cNvPr>
          <p:cNvPicPr>
            <a:picLocks noChangeAspect="1"/>
          </p:cNvPicPr>
          <p:nvPr/>
        </p:nvPicPr>
        <p:blipFill>
          <a:blip r:embed="rId4"/>
          <a:stretch>
            <a:fillRect/>
          </a:stretch>
        </p:blipFill>
        <p:spPr>
          <a:xfrm>
            <a:off x="5184068" y="4740802"/>
            <a:ext cx="1080120" cy="526601"/>
          </a:xfrm>
          <a:prstGeom prst="rect">
            <a:avLst/>
          </a:prstGeom>
        </p:spPr>
      </p:pic>
      <p:pic>
        <p:nvPicPr>
          <p:cNvPr id="11" name="图片 10">
            <a:extLst>
              <a:ext uri="{FF2B5EF4-FFF2-40B4-BE49-F238E27FC236}">
                <a16:creationId xmlns:a16="http://schemas.microsoft.com/office/drawing/2014/main" id="{1259E3F2-0A15-FF4D-5720-7C5A1C81E721}"/>
              </a:ext>
            </a:extLst>
          </p:cNvPr>
          <p:cNvPicPr>
            <a:picLocks noChangeAspect="1"/>
          </p:cNvPicPr>
          <p:nvPr/>
        </p:nvPicPr>
        <p:blipFill>
          <a:blip r:embed="rId4"/>
          <a:stretch>
            <a:fillRect/>
          </a:stretch>
        </p:blipFill>
        <p:spPr>
          <a:xfrm>
            <a:off x="6372200" y="4365104"/>
            <a:ext cx="1080120" cy="526601"/>
          </a:xfrm>
          <a:prstGeom prst="rect">
            <a:avLst/>
          </a:prstGeom>
        </p:spPr>
      </p:pic>
      <p:sp>
        <p:nvSpPr>
          <p:cNvPr id="12" name="文本框 11">
            <a:extLst>
              <a:ext uri="{FF2B5EF4-FFF2-40B4-BE49-F238E27FC236}">
                <a16:creationId xmlns:a16="http://schemas.microsoft.com/office/drawing/2014/main" id="{E48EC307-4C98-516D-52D9-7B4C405C700B}"/>
              </a:ext>
            </a:extLst>
          </p:cNvPr>
          <p:cNvSpPr txBox="1"/>
          <p:nvPr/>
        </p:nvSpPr>
        <p:spPr>
          <a:xfrm>
            <a:off x="5076056" y="4658450"/>
            <a:ext cx="1296144" cy="369332"/>
          </a:xfrm>
          <a:prstGeom prst="rect">
            <a:avLst/>
          </a:prstGeom>
          <a:noFill/>
        </p:spPr>
        <p:txBody>
          <a:bodyPr wrap="square" rtlCol="0">
            <a:spAutoFit/>
          </a:bodyPr>
          <a:lstStyle/>
          <a:p>
            <a:r>
              <a:rPr lang="en-US" altLang="zh-CN" dirty="0">
                <a:solidFill>
                  <a:schemeClr val="accent1">
                    <a:lumMod val="10000"/>
                  </a:schemeClr>
                </a:solidFill>
              </a:rPr>
              <a:t>0.23312</a:t>
            </a:r>
            <a:endParaRPr lang="zh-CN" altLang="en-US" dirty="0">
              <a:solidFill>
                <a:schemeClr val="accent1">
                  <a:lumMod val="10000"/>
                </a:schemeClr>
              </a:solidFill>
            </a:endParaRPr>
          </a:p>
        </p:txBody>
      </p:sp>
      <p:pic>
        <p:nvPicPr>
          <p:cNvPr id="13" name="图片 12">
            <a:extLst>
              <a:ext uri="{FF2B5EF4-FFF2-40B4-BE49-F238E27FC236}">
                <a16:creationId xmlns:a16="http://schemas.microsoft.com/office/drawing/2014/main" id="{1ADF7C06-BE11-5AE5-9982-173F0ADD40AB}"/>
              </a:ext>
            </a:extLst>
          </p:cNvPr>
          <p:cNvPicPr>
            <a:picLocks noChangeAspect="1"/>
          </p:cNvPicPr>
          <p:nvPr/>
        </p:nvPicPr>
        <p:blipFill>
          <a:blip r:embed="rId4"/>
          <a:stretch>
            <a:fillRect/>
          </a:stretch>
        </p:blipFill>
        <p:spPr>
          <a:xfrm>
            <a:off x="5852744" y="4327111"/>
            <a:ext cx="411444" cy="369332"/>
          </a:xfrm>
          <a:prstGeom prst="rect">
            <a:avLst/>
          </a:prstGeom>
        </p:spPr>
      </p:pic>
      <p:sp>
        <p:nvSpPr>
          <p:cNvPr id="14" name="文本框 13">
            <a:extLst>
              <a:ext uri="{FF2B5EF4-FFF2-40B4-BE49-F238E27FC236}">
                <a16:creationId xmlns:a16="http://schemas.microsoft.com/office/drawing/2014/main" id="{990EBFD9-AD7E-0329-981D-F84C0687C65C}"/>
              </a:ext>
            </a:extLst>
          </p:cNvPr>
          <p:cNvSpPr txBox="1"/>
          <p:nvPr/>
        </p:nvSpPr>
        <p:spPr>
          <a:xfrm>
            <a:off x="5832140" y="4349291"/>
            <a:ext cx="1296144" cy="369332"/>
          </a:xfrm>
          <a:prstGeom prst="rect">
            <a:avLst/>
          </a:prstGeom>
          <a:noFill/>
        </p:spPr>
        <p:txBody>
          <a:bodyPr wrap="square" rtlCol="0">
            <a:spAutoFit/>
          </a:bodyPr>
          <a:lstStyle/>
          <a:p>
            <a:r>
              <a:rPr lang="en-US" altLang="zh-CN" dirty="0">
                <a:solidFill>
                  <a:schemeClr val="accent1">
                    <a:lumMod val="10000"/>
                  </a:schemeClr>
                </a:solidFill>
              </a:rPr>
              <a:t>0.4</a:t>
            </a:r>
            <a:endParaRPr lang="zh-CN" altLang="en-US" dirty="0">
              <a:solidFill>
                <a:schemeClr val="accent1">
                  <a:lumMod val="10000"/>
                </a:schemeClr>
              </a:solidFill>
            </a:endParaRPr>
          </a:p>
        </p:txBody>
      </p:sp>
      <p:sp>
        <p:nvSpPr>
          <p:cNvPr id="16" name="文本框 15">
            <a:extLst>
              <a:ext uri="{FF2B5EF4-FFF2-40B4-BE49-F238E27FC236}">
                <a16:creationId xmlns:a16="http://schemas.microsoft.com/office/drawing/2014/main" id="{3A432FFA-D1DE-958B-C4DC-FA4C3A4B02ED}"/>
              </a:ext>
            </a:extLst>
          </p:cNvPr>
          <p:cNvSpPr txBox="1"/>
          <p:nvPr/>
        </p:nvSpPr>
        <p:spPr>
          <a:xfrm>
            <a:off x="4535996" y="5322394"/>
            <a:ext cx="1296144" cy="369332"/>
          </a:xfrm>
          <a:prstGeom prst="rect">
            <a:avLst/>
          </a:prstGeom>
          <a:noFill/>
        </p:spPr>
        <p:txBody>
          <a:bodyPr wrap="square" rtlCol="0">
            <a:spAutoFit/>
          </a:bodyPr>
          <a:lstStyle/>
          <a:p>
            <a:r>
              <a:rPr lang="en-US" altLang="zh-CN" dirty="0">
                <a:solidFill>
                  <a:schemeClr val="accent1">
                    <a:lumMod val="10000"/>
                  </a:schemeClr>
                </a:solidFill>
              </a:rPr>
              <a:t>0.4842</a:t>
            </a:r>
            <a:endParaRPr lang="zh-CN" altLang="en-US" dirty="0">
              <a:solidFill>
                <a:schemeClr val="accent1">
                  <a:lumMod val="10000"/>
                </a:schemeClr>
              </a:solidFill>
            </a:endParaRPr>
          </a:p>
        </p:txBody>
      </p:sp>
      <p:pic>
        <p:nvPicPr>
          <p:cNvPr id="17" name="图片 16">
            <a:extLst>
              <a:ext uri="{FF2B5EF4-FFF2-40B4-BE49-F238E27FC236}">
                <a16:creationId xmlns:a16="http://schemas.microsoft.com/office/drawing/2014/main" id="{4FEFCBDE-BB5A-50C4-CDC5-D919E091AC57}"/>
              </a:ext>
            </a:extLst>
          </p:cNvPr>
          <p:cNvPicPr>
            <a:picLocks noChangeAspect="1"/>
          </p:cNvPicPr>
          <p:nvPr/>
        </p:nvPicPr>
        <p:blipFill>
          <a:blip r:embed="rId4"/>
          <a:stretch>
            <a:fillRect/>
          </a:stretch>
        </p:blipFill>
        <p:spPr>
          <a:xfrm>
            <a:off x="4427984" y="5284113"/>
            <a:ext cx="1080120" cy="526601"/>
          </a:xfrm>
          <a:prstGeom prst="rect">
            <a:avLst/>
          </a:prstGeom>
        </p:spPr>
      </p:pic>
      <p:sp>
        <p:nvSpPr>
          <p:cNvPr id="15" name="文本框 14">
            <a:extLst>
              <a:ext uri="{FF2B5EF4-FFF2-40B4-BE49-F238E27FC236}">
                <a16:creationId xmlns:a16="http://schemas.microsoft.com/office/drawing/2014/main" id="{736D4026-77E7-86D3-823F-0FCDA94403D8}"/>
              </a:ext>
            </a:extLst>
          </p:cNvPr>
          <p:cNvSpPr txBox="1"/>
          <p:nvPr/>
        </p:nvSpPr>
        <p:spPr>
          <a:xfrm>
            <a:off x="4373978" y="5267616"/>
            <a:ext cx="1296144" cy="369332"/>
          </a:xfrm>
          <a:prstGeom prst="rect">
            <a:avLst/>
          </a:prstGeom>
          <a:noFill/>
        </p:spPr>
        <p:txBody>
          <a:bodyPr wrap="square" rtlCol="0">
            <a:spAutoFit/>
          </a:bodyPr>
          <a:lstStyle/>
          <a:p>
            <a:r>
              <a:rPr lang="en-US" altLang="zh-CN" dirty="0">
                <a:solidFill>
                  <a:schemeClr val="accent1">
                    <a:lumMod val="10000"/>
                  </a:schemeClr>
                </a:solidFill>
              </a:rPr>
              <a:t>0.4842</a:t>
            </a:r>
            <a:endParaRPr lang="zh-CN" altLang="en-US" dirty="0">
              <a:solidFill>
                <a:schemeClr val="accent1">
                  <a:lumMod val="10000"/>
                </a:schemeClr>
              </a:solidFill>
            </a:endParaRPr>
          </a:p>
        </p:txBody>
      </p:sp>
      <p:sp>
        <p:nvSpPr>
          <p:cNvPr id="18" name="文本框 17">
            <a:extLst>
              <a:ext uri="{FF2B5EF4-FFF2-40B4-BE49-F238E27FC236}">
                <a16:creationId xmlns:a16="http://schemas.microsoft.com/office/drawing/2014/main" id="{E0BADC04-3775-4353-71C9-57EFA87DF79D}"/>
              </a:ext>
            </a:extLst>
          </p:cNvPr>
          <p:cNvSpPr txBox="1"/>
          <p:nvPr/>
        </p:nvSpPr>
        <p:spPr>
          <a:xfrm>
            <a:off x="6372200" y="4503871"/>
            <a:ext cx="1296144" cy="369332"/>
          </a:xfrm>
          <a:prstGeom prst="rect">
            <a:avLst/>
          </a:prstGeom>
          <a:noFill/>
        </p:spPr>
        <p:txBody>
          <a:bodyPr wrap="square" rtlCol="0">
            <a:spAutoFit/>
          </a:bodyPr>
          <a:lstStyle/>
          <a:p>
            <a:r>
              <a:rPr lang="en-US" altLang="zh-CN" dirty="0">
                <a:solidFill>
                  <a:schemeClr val="accent1">
                    <a:lumMod val="10000"/>
                  </a:schemeClr>
                </a:solidFill>
              </a:rPr>
              <a:t>0.4842</a:t>
            </a:r>
            <a:endParaRPr lang="zh-CN" altLang="en-US" dirty="0">
              <a:solidFill>
                <a:schemeClr val="accent1">
                  <a:lumMod val="10000"/>
                </a:schemeClr>
              </a:solidFill>
            </a:endParaRPr>
          </a:p>
        </p:txBody>
      </p:sp>
    </p:spTree>
    <p:extLst>
      <p:ext uri="{BB962C8B-B14F-4D97-AF65-F5344CB8AC3E}">
        <p14:creationId xmlns:p14="http://schemas.microsoft.com/office/powerpoint/2010/main" val="3739423216"/>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theme/theme1.xml><?xml version="1.0" encoding="utf-8"?>
<a:theme xmlns:a="http://schemas.openxmlformats.org/drawingml/2006/main" name="古瓶荷花">
  <a:themeElements>
    <a:clrScheme name="古瓶荷花 1">
      <a:dk1>
        <a:srgbClr val="0033CC"/>
      </a:dk1>
      <a:lt1>
        <a:srgbClr val="FFFFFF"/>
      </a:lt1>
      <a:dk2>
        <a:srgbClr val="007572"/>
      </a:dk2>
      <a:lt2>
        <a:srgbClr val="C0C0C0"/>
      </a:lt2>
      <a:accent1>
        <a:srgbClr val="CCECFF"/>
      </a:accent1>
      <a:accent2>
        <a:srgbClr val="3399FF"/>
      </a:accent2>
      <a:accent3>
        <a:srgbClr val="FFFFFF"/>
      </a:accent3>
      <a:accent4>
        <a:srgbClr val="002AAE"/>
      </a:accent4>
      <a:accent5>
        <a:srgbClr val="E2F4FF"/>
      </a:accent5>
      <a:accent6>
        <a:srgbClr val="2D8AE7"/>
      </a:accent6>
      <a:hlink>
        <a:srgbClr val="CC0066"/>
      </a:hlink>
      <a:folHlink>
        <a:srgbClr val="7D7DA9"/>
      </a:folHlink>
    </a:clrScheme>
    <a:fontScheme name="古瓶荷花">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古瓶荷花 1">
        <a:dk1>
          <a:srgbClr val="0033CC"/>
        </a:dk1>
        <a:lt1>
          <a:srgbClr val="FFFFFF"/>
        </a:lt1>
        <a:dk2>
          <a:srgbClr val="007572"/>
        </a:dk2>
        <a:lt2>
          <a:srgbClr val="C0C0C0"/>
        </a:lt2>
        <a:accent1>
          <a:srgbClr val="CCECFF"/>
        </a:accent1>
        <a:accent2>
          <a:srgbClr val="3399FF"/>
        </a:accent2>
        <a:accent3>
          <a:srgbClr val="FFFFFF"/>
        </a:accent3>
        <a:accent4>
          <a:srgbClr val="002AAE"/>
        </a:accent4>
        <a:accent5>
          <a:srgbClr val="E2F4FF"/>
        </a:accent5>
        <a:accent6>
          <a:srgbClr val="2D8AE7"/>
        </a:accent6>
        <a:hlink>
          <a:srgbClr val="CC0066"/>
        </a:hlink>
        <a:folHlink>
          <a:srgbClr val="7D7DA9"/>
        </a:folHlink>
      </a:clrScheme>
      <a:clrMap bg1="lt1" tx1="dk1" bg2="lt2" tx2="dk2" accent1="accent1" accent2="accent2" accent3="accent3" accent4="accent4" accent5="accent5" accent6="accent6" hlink="hlink" folHlink="folHlink"/>
    </a:extraClrScheme>
    <a:extraClrScheme>
      <a:clrScheme name="古瓶荷花 2">
        <a:dk1>
          <a:srgbClr val="007A77"/>
        </a:dk1>
        <a:lt1>
          <a:srgbClr val="EFF6EE"/>
        </a:lt1>
        <a:dk2>
          <a:srgbClr val="0066CC"/>
        </a:dk2>
        <a:lt2>
          <a:srgbClr val="C0C0C0"/>
        </a:lt2>
        <a:accent1>
          <a:srgbClr val="E7EEE6"/>
        </a:accent1>
        <a:accent2>
          <a:srgbClr val="FF9933"/>
        </a:accent2>
        <a:accent3>
          <a:srgbClr val="F6FAF5"/>
        </a:accent3>
        <a:accent4>
          <a:srgbClr val="006765"/>
        </a:accent4>
        <a:accent5>
          <a:srgbClr val="F1F5F0"/>
        </a:accent5>
        <a:accent6>
          <a:srgbClr val="E78A2D"/>
        </a:accent6>
        <a:hlink>
          <a:srgbClr val="636395"/>
        </a:hlink>
        <a:folHlink>
          <a:srgbClr val="CC3300"/>
        </a:folHlink>
      </a:clrScheme>
      <a:clrMap bg1="lt1" tx1="dk1" bg2="lt2" tx2="dk2" accent1="accent1" accent2="accent2" accent3="accent3" accent4="accent4" accent5="accent5" accent6="accent6" hlink="hlink" folHlink="folHlink"/>
    </a:extraClrScheme>
    <a:extraClrScheme>
      <a:clrScheme name="古瓶荷花 3">
        <a:dk1>
          <a:srgbClr val="000000"/>
        </a:dk1>
        <a:lt1>
          <a:srgbClr val="CCFFCC"/>
        </a:lt1>
        <a:dk2>
          <a:srgbClr val="E88A00"/>
        </a:dk2>
        <a:lt2>
          <a:srgbClr val="C0C0C0"/>
        </a:lt2>
        <a:accent1>
          <a:srgbClr val="CCECFF"/>
        </a:accent1>
        <a:accent2>
          <a:srgbClr val="336600"/>
        </a:accent2>
        <a:accent3>
          <a:srgbClr val="E2FFE2"/>
        </a:accent3>
        <a:accent4>
          <a:srgbClr val="000000"/>
        </a:accent4>
        <a:accent5>
          <a:srgbClr val="E2F4FF"/>
        </a:accent5>
        <a:accent6>
          <a:srgbClr val="2D5C00"/>
        </a:accent6>
        <a:hlink>
          <a:srgbClr val="3333CC"/>
        </a:hlink>
        <a:folHlink>
          <a:srgbClr val="3399FF"/>
        </a:folHlink>
      </a:clrScheme>
      <a:clrMap bg1="lt1" tx1="dk1" bg2="lt2" tx2="dk2" accent1="accent1" accent2="accent2" accent3="accent3" accent4="accent4" accent5="accent5" accent6="accent6" hlink="hlink" folHlink="folHlink"/>
    </a:extraClrScheme>
    <a:extraClrScheme>
      <a:clrScheme name="古瓶荷花 4">
        <a:dk1>
          <a:srgbClr val="000000"/>
        </a:dk1>
        <a:lt1>
          <a:srgbClr val="FFFFCC"/>
        </a:lt1>
        <a:dk2>
          <a:srgbClr val="CC3300"/>
        </a:dk2>
        <a:lt2>
          <a:srgbClr val="C0C0C0"/>
        </a:lt2>
        <a:accent1>
          <a:srgbClr val="FFFFCC"/>
        </a:accent1>
        <a:accent2>
          <a:srgbClr val="339933"/>
        </a:accent2>
        <a:accent3>
          <a:srgbClr val="FFFFE2"/>
        </a:accent3>
        <a:accent4>
          <a:srgbClr val="000000"/>
        </a:accent4>
        <a:accent5>
          <a:srgbClr val="FFFFE2"/>
        </a:accent5>
        <a:accent6>
          <a:srgbClr val="2D8A2D"/>
        </a:accent6>
        <a:hlink>
          <a:srgbClr val="0066FF"/>
        </a:hlink>
        <a:folHlink>
          <a:srgbClr val="6F6F9F"/>
        </a:folHlink>
      </a:clrScheme>
      <a:clrMap bg1="lt1" tx1="dk1" bg2="lt2" tx2="dk2" accent1="accent1" accent2="accent2" accent3="accent3" accent4="accent4" accent5="accent5" accent6="accent6" hlink="hlink" folHlink="folHlink"/>
    </a:extraClrScheme>
    <a:extraClrScheme>
      <a:clrScheme name="古瓶荷花 5">
        <a:dk1>
          <a:srgbClr val="636395"/>
        </a:dk1>
        <a:lt1>
          <a:srgbClr val="FFE2C5"/>
        </a:lt1>
        <a:dk2>
          <a:srgbClr val="000000"/>
        </a:dk2>
        <a:lt2>
          <a:srgbClr val="C0C0C0"/>
        </a:lt2>
        <a:accent1>
          <a:srgbClr val="FFE1E1"/>
        </a:accent1>
        <a:accent2>
          <a:srgbClr val="FF9933"/>
        </a:accent2>
        <a:accent3>
          <a:srgbClr val="FFEEDF"/>
        </a:accent3>
        <a:accent4>
          <a:srgbClr val="53537E"/>
        </a:accent4>
        <a:accent5>
          <a:srgbClr val="FFEEEE"/>
        </a:accent5>
        <a:accent6>
          <a:srgbClr val="E78A2D"/>
        </a:accent6>
        <a:hlink>
          <a:srgbClr val="008080"/>
        </a:hlink>
        <a:folHlink>
          <a:srgbClr val="3399FF"/>
        </a:folHlink>
      </a:clrScheme>
      <a:clrMap bg1="lt1" tx1="dk1" bg2="lt2" tx2="dk2" accent1="accent1" accent2="accent2" accent3="accent3" accent4="accent4" accent5="accent5" accent6="accent6" hlink="hlink" folHlink="folHlink"/>
    </a:extraClrScheme>
    <a:extraClrScheme>
      <a:clrScheme name="古瓶荷花 6">
        <a:dk1>
          <a:srgbClr val="626292"/>
        </a:dk1>
        <a:lt1>
          <a:srgbClr val="CCECFF"/>
        </a:lt1>
        <a:dk2>
          <a:srgbClr val="3333CC"/>
        </a:dk2>
        <a:lt2>
          <a:srgbClr val="C0C0C0"/>
        </a:lt2>
        <a:accent1>
          <a:srgbClr val="D9F1FF"/>
        </a:accent1>
        <a:accent2>
          <a:srgbClr val="FF9900"/>
        </a:accent2>
        <a:accent3>
          <a:srgbClr val="E2F4FF"/>
        </a:accent3>
        <a:accent4>
          <a:srgbClr val="53537C"/>
        </a:accent4>
        <a:accent5>
          <a:srgbClr val="E9F7FF"/>
        </a:accent5>
        <a:accent6>
          <a:srgbClr val="E78A00"/>
        </a:accent6>
        <a:hlink>
          <a:srgbClr val="CC0066"/>
        </a:hlink>
        <a:folHlink>
          <a:srgbClr val="009999"/>
        </a:folHlink>
      </a:clrScheme>
      <a:clrMap bg1="lt1" tx1="dk1" bg2="lt2" tx2="dk2" accent1="accent1" accent2="accent2" accent3="accent3" accent4="accent4" accent5="accent5" accent6="accent6" hlink="hlink" folHlink="folHlink"/>
    </a:extraClrScheme>
    <a:extraClrScheme>
      <a:clrScheme name="古瓶荷花 7">
        <a:dk1>
          <a:srgbClr val="0066CC"/>
        </a:dk1>
        <a:lt1>
          <a:srgbClr val="FFE1E1"/>
        </a:lt1>
        <a:dk2>
          <a:srgbClr val="006600"/>
        </a:dk2>
        <a:lt2>
          <a:srgbClr val="C0C0C0"/>
        </a:lt2>
        <a:accent1>
          <a:srgbClr val="FFFFCC"/>
        </a:accent1>
        <a:accent2>
          <a:srgbClr val="009999"/>
        </a:accent2>
        <a:accent3>
          <a:srgbClr val="FFEEEE"/>
        </a:accent3>
        <a:accent4>
          <a:srgbClr val="0056AE"/>
        </a:accent4>
        <a:accent5>
          <a:srgbClr val="FFFFE2"/>
        </a:accent5>
        <a:accent6>
          <a:srgbClr val="008A8A"/>
        </a:accent6>
        <a:hlink>
          <a:srgbClr val="EC0000"/>
        </a:hlink>
        <a:folHlink>
          <a:srgbClr val="0099FF"/>
        </a:folHlink>
      </a:clrScheme>
      <a:clrMap bg1="lt1" tx1="dk1" bg2="lt2" tx2="dk2" accent1="accent1" accent2="accent2" accent3="accent3" accent4="accent4" accent5="accent5" accent6="accent6" hlink="hlink" folHlink="folHlink"/>
    </a:extraClrScheme>
    <a:extraClrScheme>
      <a:clrScheme name="古瓶荷花 8">
        <a:dk1>
          <a:srgbClr val="292929"/>
        </a:dk1>
        <a:lt1>
          <a:srgbClr val="DDDDDD"/>
        </a:lt1>
        <a:dk2>
          <a:srgbClr val="0066CC"/>
        </a:dk2>
        <a:lt2>
          <a:srgbClr val="B2B2B2"/>
        </a:lt2>
        <a:accent1>
          <a:srgbClr val="CACADC"/>
        </a:accent1>
        <a:accent2>
          <a:srgbClr val="FFCC00"/>
        </a:accent2>
        <a:accent3>
          <a:srgbClr val="EBEBEB"/>
        </a:accent3>
        <a:accent4>
          <a:srgbClr val="212121"/>
        </a:accent4>
        <a:accent5>
          <a:srgbClr val="E1E1EB"/>
        </a:accent5>
        <a:accent6>
          <a:srgbClr val="E7B900"/>
        </a:accent6>
        <a:hlink>
          <a:srgbClr val="008080"/>
        </a:hlink>
        <a:folHlink>
          <a:srgbClr val="7D7DA9"/>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CDESIGNK</Template>
  <TotalTime>16633</TotalTime>
  <Words>3958</Words>
  <Application>Microsoft Office PowerPoint</Application>
  <PresentationFormat>全屏显示(4:3)</PresentationFormat>
  <Paragraphs>317</Paragraphs>
  <Slides>44</Slides>
  <Notes>6</Notes>
  <HiddenSlides>0</HiddenSlides>
  <MMClips>0</MMClips>
  <ScaleCrop>false</ScaleCrop>
  <HeadingPairs>
    <vt:vector size="8" baseType="variant">
      <vt:variant>
        <vt:lpstr>已用的字体</vt:lpstr>
      </vt:variant>
      <vt:variant>
        <vt:i4>14</vt:i4>
      </vt:variant>
      <vt:variant>
        <vt:lpstr>主题</vt:lpstr>
      </vt:variant>
      <vt:variant>
        <vt:i4>1</vt:i4>
      </vt:variant>
      <vt:variant>
        <vt:lpstr>嵌入 OLE 服务器</vt:lpstr>
      </vt:variant>
      <vt:variant>
        <vt:i4>1</vt:i4>
      </vt:variant>
      <vt:variant>
        <vt:lpstr>幻灯片标题</vt:lpstr>
      </vt:variant>
      <vt:variant>
        <vt:i4>44</vt:i4>
      </vt:variant>
    </vt:vector>
  </HeadingPairs>
  <TitlesOfParts>
    <vt:vector size="60" baseType="lpstr">
      <vt:lpstr>方正姚体</vt:lpstr>
      <vt:lpstr>仿宋_GB2312</vt:lpstr>
      <vt:lpstr>黑体</vt:lpstr>
      <vt:lpstr>华文行楷</vt:lpstr>
      <vt:lpstr>楷体</vt:lpstr>
      <vt:lpstr>隶书</vt:lpstr>
      <vt:lpstr>宋体</vt:lpstr>
      <vt:lpstr>Arial</vt:lpstr>
      <vt:lpstr>Calibri</vt:lpstr>
      <vt:lpstr>Cambria Math</vt:lpstr>
      <vt:lpstr>Courier New</vt:lpstr>
      <vt:lpstr>Symbol</vt:lpstr>
      <vt:lpstr>Times New Roman</vt:lpstr>
      <vt:lpstr>Wingdings</vt:lpstr>
      <vt:lpstr>古瓶荷花</vt:lpstr>
      <vt:lpstr>公式</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8.3 基于贝叶斯网络的概率推理</vt:lpstr>
      <vt:lpstr>PowerPoint 演示文稿</vt:lpstr>
      <vt:lpstr>PowerPoint 演示文稿</vt:lpstr>
      <vt:lpstr>8.3.2.用贝叶斯网络表示不确定性知识</vt:lpstr>
      <vt:lpstr>8.3.3.基于贝叶斯网络的概率推理</vt:lpstr>
      <vt:lpstr>PowerPoint 演示文稿</vt:lpstr>
      <vt:lpstr>PowerPoint 演示文稿</vt:lpstr>
      <vt:lpstr>PowerPoint 演示文稿</vt:lpstr>
      <vt:lpstr>PowerPoint 演示文稿</vt:lpstr>
      <vt:lpstr>PowerPoint 演示文稿</vt:lpstr>
    </vt:vector>
  </TitlesOfParts>
  <Company>西安电子科技大学出版社</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第3章  基于谓词逻辑的机器推理 </dc:title>
  <dc:creator>李林娜</dc:creator>
  <cp:lastModifiedBy>WEI SUO</cp:lastModifiedBy>
  <cp:revision>459</cp:revision>
  <dcterms:created xsi:type="dcterms:W3CDTF">2002-11-05T01:05:02Z</dcterms:created>
  <dcterms:modified xsi:type="dcterms:W3CDTF">2026-05-10T17:20:06Z</dcterms:modified>
</cp:coreProperties>
</file>