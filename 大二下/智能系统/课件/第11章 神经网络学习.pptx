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sldIdLst>
    <p:sldId id="257" r:id="rId2"/>
    <p:sldId id="296" r:id="rId3"/>
    <p:sldId id="297" r:id="rId4"/>
    <p:sldId id="298" r:id="rId5"/>
    <p:sldId id="299" r:id="rId6"/>
    <p:sldId id="336" r:id="rId7"/>
    <p:sldId id="337" r:id="rId8"/>
    <p:sldId id="300" r:id="rId9"/>
    <p:sldId id="301" r:id="rId10"/>
    <p:sldId id="303" r:id="rId11"/>
    <p:sldId id="338" r:id="rId12"/>
    <p:sldId id="339" r:id="rId13"/>
    <p:sldId id="350" r:id="rId14"/>
    <p:sldId id="359" r:id="rId15"/>
    <p:sldId id="353" r:id="rId16"/>
    <p:sldId id="352" r:id="rId17"/>
    <p:sldId id="365" r:id="rId18"/>
    <p:sldId id="358" r:id="rId19"/>
    <p:sldId id="354" r:id="rId20"/>
    <p:sldId id="360" r:id="rId21"/>
    <p:sldId id="357" r:id="rId22"/>
    <p:sldId id="304" r:id="rId23"/>
    <p:sldId id="364" r:id="rId24"/>
    <p:sldId id="305" r:id="rId25"/>
    <p:sldId id="307" r:id="rId26"/>
    <p:sldId id="340" r:id="rId27"/>
    <p:sldId id="341" r:id="rId28"/>
    <p:sldId id="342" r:id="rId29"/>
    <p:sldId id="344" r:id="rId30"/>
    <p:sldId id="343" r:id="rId31"/>
    <p:sldId id="345" r:id="rId32"/>
    <p:sldId id="346" r:id="rId33"/>
    <p:sldId id="347" r:id="rId34"/>
    <p:sldId id="309" r:id="rId35"/>
    <p:sldId id="361" r:id="rId36"/>
    <p:sldId id="310" r:id="rId37"/>
    <p:sldId id="363" r:id="rId38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4" autoAdjust="0"/>
    <p:restoredTop sz="94620" autoAdjust="0"/>
  </p:normalViewPr>
  <p:slideViewPr>
    <p:cSldViewPr>
      <p:cViewPr varScale="1">
        <p:scale>
          <a:sx n="107" d="100"/>
          <a:sy n="107" d="100"/>
        </p:scale>
        <p:origin x="1728" y="45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Freeform 2"/>
          <p:cNvSpPr>
            <a:spLocks/>
          </p:cNvSpPr>
          <p:nvPr/>
        </p:nvSpPr>
        <p:spPr bwMode="auto">
          <a:xfrm>
            <a:off x="4760913" y="20638"/>
            <a:ext cx="4438650" cy="4038600"/>
          </a:xfrm>
          <a:custGeom>
            <a:avLst/>
            <a:gdLst/>
            <a:ahLst/>
            <a:cxnLst>
              <a:cxn ang="0">
                <a:pos x="23" y="4"/>
              </a:cxn>
              <a:cxn ang="0">
                <a:pos x="11" y="71"/>
              </a:cxn>
              <a:cxn ang="0">
                <a:pos x="25" y="393"/>
              </a:cxn>
              <a:cxn ang="0">
                <a:pos x="54" y="457"/>
              </a:cxn>
              <a:cxn ang="0">
                <a:pos x="158" y="482"/>
              </a:cxn>
              <a:cxn ang="0">
                <a:pos x="204" y="495"/>
              </a:cxn>
              <a:cxn ang="0">
                <a:pos x="520" y="475"/>
              </a:cxn>
              <a:cxn ang="0">
                <a:pos x="533" y="167"/>
              </a:cxn>
              <a:cxn ang="0">
                <a:pos x="369" y="16"/>
              </a:cxn>
              <a:cxn ang="0">
                <a:pos x="249" y="29"/>
              </a:cxn>
              <a:cxn ang="0">
                <a:pos x="198" y="11"/>
              </a:cxn>
              <a:cxn ang="0">
                <a:pos x="151" y="2"/>
              </a:cxn>
              <a:cxn ang="0">
                <a:pos x="23" y="4"/>
              </a:cxn>
            </a:cxnLst>
            <a:rect l="0" t="0" r="r" b="b"/>
            <a:pathLst>
              <a:path w="546" h="497">
                <a:moveTo>
                  <a:pt x="23" y="4"/>
                </a:moveTo>
                <a:cubicBezTo>
                  <a:pt x="23" y="4"/>
                  <a:pt x="0" y="34"/>
                  <a:pt x="11" y="71"/>
                </a:cubicBezTo>
                <a:cubicBezTo>
                  <a:pt x="19" y="100"/>
                  <a:pt x="25" y="393"/>
                  <a:pt x="25" y="393"/>
                </a:cubicBezTo>
                <a:cubicBezTo>
                  <a:pt x="25" y="393"/>
                  <a:pt x="42" y="452"/>
                  <a:pt x="54" y="457"/>
                </a:cubicBezTo>
                <a:cubicBezTo>
                  <a:pt x="66" y="462"/>
                  <a:pt x="158" y="482"/>
                  <a:pt x="158" y="482"/>
                </a:cubicBezTo>
                <a:cubicBezTo>
                  <a:pt x="158" y="482"/>
                  <a:pt x="191" y="497"/>
                  <a:pt x="204" y="495"/>
                </a:cubicBezTo>
                <a:cubicBezTo>
                  <a:pt x="217" y="494"/>
                  <a:pt x="506" y="487"/>
                  <a:pt x="520" y="475"/>
                </a:cubicBezTo>
                <a:cubicBezTo>
                  <a:pt x="533" y="463"/>
                  <a:pt x="546" y="218"/>
                  <a:pt x="533" y="167"/>
                </a:cubicBezTo>
                <a:cubicBezTo>
                  <a:pt x="520" y="117"/>
                  <a:pt x="404" y="14"/>
                  <a:pt x="369" y="16"/>
                </a:cubicBezTo>
                <a:cubicBezTo>
                  <a:pt x="335" y="17"/>
                  <a:pt x="249" y="29"/>
                  <a:pt x="249" y="29"/>
                </a:cubicBezTo>
                <a:lnTo>
                  <a:pt x="198" y="11"/>
                </a:lnTo>
                <a:lnTo>
                  <a:pt x="151" y="2"/>
                </a:lnTo>
                <a:cubicBezTo>
                  <a:pt x="151" y="2"/>
                  <a:pt x="79" y="0"/>
                  <a:pt x="23" y="4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84995" name="Group 3"/>
          <p:cNvGrpSpPr>
            <a:grpSpLocks/>
          </p:cNvGrpSpPr>
          <p:nvPr/>
        </p:nvGrpSpPr>
        <p:grpSpPr bwMode="auto">
          <a:xfrm>
            <a:off x="4572000" y="28575"/>
            <a:ext cx="4756150" cy="4338638"/>
            <a:chOff x="2918" y="18"/>
            <a:chExt cx="2958" cy="2699"/>
          </a:xfrm>
        </p:grpSpPr>
        <p:sp>
          <p:nvSpPr>
            <p:cNvPr id="84996" name="Freeform 4"/>
            <p:cNvSpPr>
              <a:spLocks/>
            </p:cNvSpPr>
            <p:nvPr/>
          </p:nvSpPr>
          <p:spPr bwMode="auto">
            <a:xfrm>
              <a:off x="3060" y="18"/>
              <a:ext cx="490" cy="187"/>
            </a:xfrm>
            <a:custGeom>
              <a:avLst/>
              <a:gdLst/>
              <a:ahLst/>
              <a:cxnLst>
                <a:cxn ang="0">
                  <a:pos x="71" y="25"/>
                </a:cxn>
                <a:cxn ang="0">
                  <a:pos x="91" y="20"/>
                </a:cxn>
                <a:cxn ang="0">
                  <a:pos x="92" y="17"/>
                </a:cxn>
                <a:cxn ang="0">
                  <a:pos x="88" y="0"/>
                </a:cxn>
                <a:cxn ang="0">
                  <a:pos x="25" y="0"/>
                </a:cxn>
                <a:cxn ang="0">
                  <a:pos x="10" y="22"/>
                </a:cxn>
                <a:cxn ang="0">
                  <a:pos x="71" y="25"/>
                </a:cxn>
              </a:cxnLst>
              <a:rect l="0" t="0" r="r" b="b"/>
              <a:pathLst>
                <a:path w="97" h="37">
                  <a:moveTo>
                    <a:pt x="71" y="25"/>
                  </a:moveTo>
                  <a:cubicBezTo>
                    <a:pt x="81" y="22"/>
                    <a:pt x="87" y="21"/>
                    <a:pt x="91" y="20"/>
                  </a:cubicBezTo>
                  <a:cubicBezTo>
                    <a:pt x="91" y="19"/>
                    <a:pt x="91" y="19"/>
                    <a:pt x="92" y="17"/>
                  </a:cubicBezTo>
                  <a:cubicBezTo>
                    <a:pt x="97" y="11"/>
                    <a:pt x="95" y="4"/>
                    <a:pt x="88" y="0"/>
                  </a:cubicBezTo>
                  <a:lnTo>
                    <a:pt x="25" y="0"/>
                  </a:lnTo>
                  <a:cubicBezTo>
                    <a:pt x="10" y="3"/>
                    <a:pt x="0" y="10"/>
                    <a:pt x="10" y="22"/>
                  </a:cubicBezTo>
                  <a:cubicBezTo>
                    <a:pt x="10" y="22"/>
                    <a:pt x="28" y="37"/>
                    <a:pt x="71" y="25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997" name="Freeform 5"/>
            <p:cNvSpPr>
              <a:spLocks noEditPoints="1"/>
            </p:cNvSpPr>
            <p:nvPr/>
          </p:nvSpPr>
          <p:spPr bwMode="auto">
            <a:xfrm>
              <a:off x="2918" y="18"/>
              <a:ext cx="2958" cy="2699"/>
            </a:xfrm>
            <a:custGeom>
              <a:avLst/>
              <a:gdLst/>
              <a:ahLst/>
              <a:cxnLst>
                <a:cxn ang="0">
                  <a:pos x="504" y="1"/>
                </a:cxn>
                <a:cxn ang="0">
                  <a:pos x="157" y="0"/>
                </a:cxn>
                <a:cxn ang="0">
                  <a:pos x="225" y="21"/>
                </a:cxn>
                <a:cxn ang="0">
                  <a:pos x="174" y="39"/>
                </a:cxn>
                <a:cxn ang="0">
                  <a:pos x="207" y="71"/>
                </a:cxn>
                <a:cxn ang="0">
                  <a:pos x="74" y="60"/>
                </a:cxn>
                <a:cxn ang="0">
                  <a:pos x="26" y="63"/>
                </a:cxn>
                <a:cxn ang="0">
                  <a:pos x="199" y="487"/>
                </a:cxn>
                <a:cxn ang="0">
                  <a:pos x="144" y="341"/>
                </a:cxn>
                <a:cxn ang="0">
                  <a:pos x="105" y="376"/>
                </a:cxn>
                <a:cxn ang="0">
                  <a:pos x="94" y="435"/>
                </a:cxn>
                <a:cxn ang="0">
                  <a:pos x="124" y="265"/>
                </a:cxn>
                <a:cxn ang="0">
                  <a:pos x="153" y="228"/>
                </a:cxn>
                <a:cxn ang="0">
                  <a:pos x="209" y="237"/>
                </a:cxn>
                <a:cxn ang="0">
                  <a:pos x="188" y="306"/>
                </a:cxn>
                <a:cxn ang="0">
                  <a:pos x="192" y="395"/>
                </a:cxn>
                <a:cxn ang="0">
                  <a:pos x="515" y="483"/>
                </a:cxn>
                <a:cxn ang="0">
                  <a:pos x="454" y="427"/>
                </a:cxn>
                <a:cxn ang="0">
                  <a:pos x="425" y="345"/>
                </a:cxn>
                <a:cxn ang="0">
                  <a:pos x="396" y="270"/>
                </a:cxn>
                <a:cxn ang="0">
                  <a:pos x="460" y="256"/>
                </a:cxn>
                <a:cxn ang="0">
                  <a:pos x="407" y="223"/>
                </a:cxn>
                <a:cxn ang="0">
                  <a:pos x="439" y="226"/>
                </a:cxn>
                <a:cxn ang="0">
                  <a:pos x="438" y="209"/>
                </a:cxn>
                <a:cxn ang="0">
                  <a:pos x="376" y="211"/>
                </a:cxn>
                <a:cxn ang="0">
                  <a:pos x="357" y="343"/>
                </a:cxn>
                <a:cxn ang="0">
                  <a:pos x="347" y="230"/>
                </a:cxn>
                <a:cxn ang="0">
                  <a:pos x="331" y="182"/>
                </a:cxn>
                <a:cxn ang="0">
                  <a:pos x="347" y="136"/>
                </a:cxn>
                <a:cxn ang="0">
                  <a:pos x="339" y="99"/>
                </a:cxn>
                <a:cxn ang="0">
                  <a:pos x="331" y="62"/>
                </a:cxn>
                <a:cxn ang="0">
                  <a:pos x="369" y="103"/>
                </a:cxn>
                <a:cxn ang="0">
                  <a:pos x="415" y="47"/>
                </a:cxn>
                <a:cxn ang="0">
                  <a:pos x="409" y="95"/>
                </a:cxn>
                <a:cxn ang="0">
                  <a:pos x="401" y="130"/>
                </a:cxn>
                <a:cxn ang="0">
                  <a:pos x="401" y="181"/>
                </a:cxn>
                <a:cxn ang="0">
                  <a:pos x="558" y="181"/>
                </a:cxn>
                <a:cxn ang="0">
                  <a:pos x="554" y="76"/>
                </a:cxn>
                <a:cxn ang="0">
                  <a:pos x="249" y="69"/>
                </a:cxn>
                <a:cxn ang="0">
                  <a:pos x="293" y="93"/>
                </a:cxn>
                <a:cxn ang="0">
                  <a:pos x="171" y="195"/>
                </a:cxn>
                <a:cxn ang="0">
                  <a:pos x="69" y="98"/>
                </a:cxn>
                <a:cxn ang="0">
                  <a:pos x="191" y="106"/>
                </a:cxn>
                <a:cxn ang="0">
                  <a:pos x="220" y="105"/>
                </a:cxn>
                <a:cxn ang="0">
                  <a:pos x="302" y="121"/>
                </a:cxn>
                <a:cxn ang="0">
                  <a:pos x="276" y="256"/>
                </a:cxn>
                <a:cxn ang="0">
                  <a:pos x="260" y="137"/>
                </a:cxn>
                <a:cxn ang="0">
                  <a:pos x="171" y="195"/>
                </a:cxn>
                <a:cxn ang="0">
                  <a:pos x="223" y="225"/>
                </a:cxn>
                <a:cxn ang="0">
                  <a:pos x="247" y="158"/>
                </a:cxn>
                <a:cxn ang="0">
                  <a:pos x="326" y="292"/>
                </a:cxn>
                <a:cxn ang="0">
                  <a:pos x="215" y="321"/>
                </a:cxn>
                <a:cxn ang="0">
                  <a:pos x="309" y="277"/>
                </a:cxn>
                <a:cxn ang="0">
                  <a:pos x="318" y="133"/>
                </a:cxn>
                <a:cxn ang="0">
                  <a:pos x="313" y="213"/>
                </a:cxn>
                <a:cxn ang="0">
                  <a:pos x="299" y="144"/>
                </a:cxn>
                <a:cxn ang="0">
                  <a:pos x="507" y="179"/>
                </a:cxn>
                <a:cxn ang="0">
                  <a:pos x="461" y="162"/>
                </a:cxn>
              </a:cxnLst>
              <a:rect l="0" t="0" r="r" b="b"/>
              <a:pathLst>
                <a:path w="585" h="534">
                  <a:moveTo>
                    <a:pt x="554" y="76"/>
                  </a:moveTo>
                  <a:cubicBezTo>
                    <a:pt x="551" y="32"/>
                    <a:pt x="543" y="9"/>
                    <a:pt x="504" y="1"/>
                  </a:cubicBezTo>
                  <a:cubicBezTo>
                    <a:pt x="500" y="1"/>
                    <a:pt x="494" y="0"/>
                    <a:pt x="486" y="0"/>
                  </a:cubicBezTo>
                  <a:lnTo>
                    <a:pt x="157" y="0"/>
                  </a:lnTo>
                  <a:cubicBezTo>
                    <a:pt x="156" y="5"/>
                    <a:pt x="153" y="17"/>
                    <a:pt x="158" y="17"/>
                  </a:cubicBezTo>
                  <a:cubicBezTo>
                    <a:pt x="171" y="17"/>
                    <a:pt x="223" y="21"/>
                    <a:pt x="225" y="21"/>
                  </a:cubicBezTo>
                  <a:cubicBezTo>
                    <a:pt x="226" y="21"/>
                    <a:pt x="250" y="16"/>
                    <a:pt x="237" y="28"/>
                  </a:cubicBezTo>
                  <a:cubicBezTo>
                    <a:pt x="223" y="41"/>
                    <a:pt x="192" y="41"/>
                    <a:pt x="174" y="39"/>
                  </a:cubicBezTo>
                  <a:cubicBezTo>
                    <a:pt x="131" y="36"/>
                    <a:pt x="152" y="56"/>
                    <a:pt x="168" y="56"/>
                  </a:cubicBezTo>
                  <a:cubicBezTo>
                    <a:pt x="218" y="56"/>
                    <a:pt x="228" y="68"/>
                    <a:pt x="207" y="71"/>
                  </a:cubicBezTo>
                  <a:cubicBezTo>
                    <a:pt x="186" y="74"/>
                    <a:pt x="182" y="73"/>
                    <a:pt x="162" y="76"/>
                  </a:cubicBezTo>
                  <a:cubicBezTo>
                    <a:pt x="7" y="101"/>
                    <a:pt x="59" y="60"/>
                    <a:pt x="74" y="60"/>
                  </a:cubicBezTo>
                  <a:cubicBezTo>
                    <a:pt x="139" y="59"/>
                    <a:pt x="123" y="37"/>
                    <a:pt x="107" y="42"/>
                  </a:cubicBezTo>
                  <a:cubicBezTo>
                    <a:pt x="91" y="46"/>
                    <a:pt x="34" y="27"/>
                    <a:pt x="26" y="63"/>
                  </a:cubicBezTo>
                  <a:cubicBezTo>
                    <a:pt x="19" y="100"/>
                    <a:pt x="42" y="282"/>
                    <a:pt x="36" y="317"/>
                  </a:cubicBezTo>
                  <a:cubicBezTo>
                    <a:pt x="0" y="534"/>
                    <a:pt x="199" y="487"/>
                    <a:pt x="199" y="487"/>
                  </a:cubicBezTo>
                  <a:cubicBezTo>
                    <a:pt x="156" y="453"/>
                    <a:pt x="174" y="421"/>
                    <a:pt x="171" y="403"/>
                  </a:cubicBezTo>
                  <a:cubicBezTo>
                    <a:pt x="161" y="345"/>
                    <a:pt x="154" y="337"/>
                    <a:pt x="144" y="341"/>
                  </a:cubicBezTo>
                  <a:cubicBezTo>
                    <a:pt x="121" y="352"/>
                    <a:pt x="123" y="358"/>
                    <a:pt x="126" y="367"/>
                  </a:cubicBezTo>
                  <a:cubicBezTo>
                    <a:pt x="142" y="416"/>
                    <a:pt x="105" y="376"/>
                    <a:pt x="105" y="376"/>
                  </a:cubicBezTo>
                  <a:cubicBezTo>
                    <a:pt x="98" y="380"/>
                    <a:pt x="95" y="390"/>
                    <a:pt x="99" y="399"/>
                  </a:cubicBezTo>
                  <a:cubicBezTo>
                    <a:pt x="131" y="463"/>
                    <a:pt x="101" y="446"/>
                    <a:pt x="94" y="435"/>
                  </a:cubicBezTo>
                  <a:cubicBezTo>
                    <a:pt x="61" y="390"/>
                    <a:pt x="92" y="366"/>
                    <a:pt x="88" y="352"/>
                  </a:cubicBezTo>
                  <a:cubicBezTo>
                    <a:pt x="75" y="295"/>
                    <a:pt x="118" y="274"/>
                    <a:pt x="124" y="265"/>
                  </a:cubicBezTo>
                  <a:cubicBezTo>
                    <a:pt x="130" y="256"/>
                    <a:pt x="127" y="253"/>
                    <a:pt x="129" y="234"/>
                  </a:cubicBezTo>
                  <a:cubicBezTo>
                    <a:pt x="136" y="195"/>
                    <a:pt x="155" y="216"/>
                    <a:pt x="153" y="228"/>
                  </a:cubicBezTo>
                  <a:cubicBezTo>
                    <a:pt x="148" y="274"/>
                    <a:pt x="176" y="242"/>
                    <a:pt x="186" y="228"/>
                  </a:cubicBezTo>
                  <a:cubicBezTo>
                    <a:pt x="218" y="186"/>
                    <a:pt x="214" y="229"/>
                    <a:pt x="209" y="237"/>
                  </a:cubicBezTo>
                  <a:cubicBezTo>
                    <a:pt x="203" y="244"/>
                    <a:pt x="198" y="255"/>
                    <a:pt x="200" y="260"/>
                  </a:cubicBezTo>
                  <a:cubicBezTo>
                    <a:pt x="208" y="283"/>
                    <a:pt x="193" y="305"/>
                    <a:pt x="188" y="306"/>
                  </a:cubicBezTo>
                  <a:cubicBezTo>
                    <a:pt x="184" y="308"/>
                    <a:pt x="170" y="314"/>
                    <a:pt x="170" y="332"/>
                  </a:cubicBezTo>
                  <a:cubicBezTo>
                    <a:pt x="171" y="350"/>
                    <a:pt x="192" y="382"/>
                    <a:pt x="192" y="395"/>
                  </a:cubicBezTo>
                  <a:cubicBezTo>
                    <a:pt x="193" y="492"/>
                    <a:pt x="236" y="499"/>
                    <a:pt x="255" y="497"/>
                  </a:cubicBezTo>
                  <a:cubicBezTo>
                    <a:pt x="275" y="496"/>
                    <a:pt x="445" y="490"/>
                    <a:pt x="515" y="483"/>
                  </a:cubicBezTo>
                  <a:cubicBezTo>
                    <a:pt x="585" y="477"/>
                    <a:pt x="538" y="458"/>
                    <a:pt x="518" y="458"/>
                  </a:cubicBezTo>
                  <a:cubicBezTo>
                    <a:pt x="467" y="458"/>
                    <a:pt x="454" y="427"/>
                    <a:pt x="454" y="427"/>
                  </a:cubicBezTo>
                  <a:cubicBezTo>
                    <a:pt x="454" y="427"/>
                    <a:pt x="453" y="405"/>
                    <a:pt x="431" y="400"/>
                  </a:cubicBezTo>
                  <a:cubicBezTo>
                    <a:pt x="376" y="385"/>
                    <a:pt x="411" y="353"/>
                    <a:pt x="425" y="345"/>
                  </a:cubicBezTo>
                  <a:cubicBezTo>
                    <a:pt x="438" y="338"/>
                    <a:pt x="430" y="335"/>
                    <a:pt x="420" y="329"/>
                  </a:cubicBezTo>
                  <a:cubicBezTo>
                    <a:pt x="398" y="316"/>
                    <a:pt x="394" y="300"/>
                    <a:pt x="396" y="270"/>
                  </a:cubicBezTo>
                  <a:cubicBezTo>
                    <a:pt x="397" y="240"/>
                    <a:pt x="416" y="249"/>
                    <a:pt x="416" y="249"/>
                  </a:cubicBezTo>
                  <a:cubicBezTo>
                    <a:pt x="416" y="249"/>
                    <a:pt x="448" y="262"/>
                    <a:pt x="460" y="256"/>
                  </a:cubicBezTo>
                  <a:cubicBezTo>
                    <a:pt x="472" y="250"/>
                    <a:pt x="467" y="239"/>
                    <a:pt x="461" y="244"/>
                  </a:cubicBezTo>
                  <a:cubicBezTo>
                    <a:pt x="455" y="248"/>
                    <a:pt x="412" y="244"/>
                    <a:pt x="407" y="223"/>
                  </a:cubicBezTo>
                  <a:cubicBezTo>
                    <a:pt x="403" y="202"/>
                    <a:pt x="418" y="213"/>
                    <a:pt x="422" y="214"/>
                  </a:cubicBezTo>
                  <a:cubicBezTo>
                    <a:pt x="427" y="216"/>
                    <a:pt x="427" y="220"/>
                    <a:pt x="439" y="226"/>
                  </a:cubicBezTo>
                  <a:cubicBezTo>
                    <a:pt x="468" y="241"/>
                    <a:pt x="454" y="224"/>
                    <a:pt x="454" y="224"/>
                  </a:cubicBezTo>
                  <a:cubicBezTo>
                    <a:pt x="454" y="224"/>
                    <a:pt x="454" y="224"/>
                    <a:pt x="438" y="209"/>
                  </a:cubicBezTo>
                  <a:cubicBezTo>
                    <a:pt x="423" y="194"/>
                    <a:pt x="406" y="199"/>
                    <a:pt x="389" y="199"/>
                  </a:cubicBezTo>
                  <a:cubicBezTo>
                    <a:pt x="373" y="199"/>
                    <a:pt x="376" y="211"/>
                    <a:pt x="376" y="211"/>
                  </a:cubicBezTo>
                  <a:cubicBezTo>
                    <a:pt x="376" y="211"/>
                    <a:pt x="373" y="242"/>
                    <a:pt x="370" y="291"/>
                  </a:cubicBezTo>
                  <a:cubicBezTo>
                    <a:pt x="368" y="341"/>
                    <a:pt x="360" y="347"/>
                    <a:pt x="357" y="343"/>
                  </a:cubicBezTo>
                  <a:cubicBezTo>
                    <a:pt x="354" y="338"/>
                    <a:pt x="350" y="313"/>
                    <a:pt x="350" y="305"/>
                  </a:cubicBezTo>
                  <a:cubicBezTo>
                    <a:pt x="350" y="298"/>
                    <a:pt x="345" y="264"/>
                    <a:pt x="347" y="230"/>
                  </a:cubicBezTo>
                  <a:cubicBezTo>
                    <a:pt x="350" y="195"/>
                    <a:pt x="356" y="210"/>
                    <a:pt x="334" y="201"/>
                  </a:cubicBezTo>
                  <a:cubicBezTo>
                    <a:pt x="311" y="192"/>
                    <a:pt x="323" y="182"/>
                    <a:pt x="331" y="182"/>
                  </a:cubicBezTo>
                  <a:cubicBezTo>
                    <a:pt x="338" y="182"/>
                    <a:pt x="350" y="189"/>
                    <a:pt x="352" y="181"/>
                  </a:cubicBezTo>
                  <a:cubicBezTo>
                    <a:pt x="356" y="160"/>
                    <a:pt x="359" y="141"/>
                    <a:pt x="347" y="136"/>
                  </a:cubicBezTo>
                  <a:cubicBezTo>
                    <a:pt x="322" y="127"/>
                    <a:pt x="332" y="121"/>
                    <a:pt x="341" y="118"/>
                  </a:cubicBezTo>
                  <a:cubicBezTo>
                    <a:pt x="350" y="115"/>
                    <a:pt x="352" y="94"/>
                    <a:pt x="339" y="99"/>
                  </a:cubicBezTo>
                  <a:cubicBezTo>
                    <a:pt x="313" y="107"/>
                    <a:pt x="316" y="85"/>
                    <a:pt x="321" y="82"/>
                  </a:cubicBezTo>
                  <a:cubicBezTo>
                    <a:pt x="325" y="79"/>
                    <a:pt x="334" y="83"/>
                    <a:pt x="331" y="62"/>
                  </a:cubicBezTo>
                  <a:cubicBezTo>
                    <a:pt x="328" y="41"/>
                    <a:pt x="347" y="34"/>
                    <a:pt x="351" y="53"/>
                  </a:cubicBezTo>
                  <a:cubicBezTo>
                    <a:pt x="354" y="73"/>
                    <a:pt x="363" y="112"/>
                    <a:pt x="369" y="103"/>
                  </a:cubicBezTo>
                  <a:cubicBezTo>
                    <a:pt x="375" y="94"/>
                    <a:pt x="385" y="57"/>
                    <a:pt x="395" y="41"/>
                  </a:cubicBezTo>
                  <a:cubicBezTo>
                    <a:pt x="406" y="24"/>
                    <a:pt x="418" y="38"/>
                    <a:pt x="415" y="47"/>
                  </a:cubicBezTo>
                  <a:cubicBezTo>
                    <a:pt x="401" y="88"/>
                    <a:pt x="426" y="90"/>
                    <a:pt x="426" y="90"/>
                  </a:cubicBezTo>
                  <a:cubicBezTo>
                    <a:pt x="426" y="90"/>
                    <a:pt x="423" y="96"/>
                    <a:pt x="409" y="95"/>
                  </a:cubicBezTo>
                  <a:cubicBezTo>
                    <a:pt x="382" y="92"/>
                    <a:pt x="393" y="110"/>
                    <a:pt x="405" y="115"/>
                  </a:cubicBezTo>
                  <a:cubicBezTo>
                    <a:pt x="431" y="124"/>
                    <a:pt x="414" y="130"/>
                    <a:pt x="401" y="130"/>
                  </a:cubicBezTo>
                  <a:cubicBezTo>
                    <a:pt x="387" y="130"/>
                    <a:pt x="381" y="134"/>
                    <a:pt x="378" y="148"/>
                  </a:cubicBezTo>
                  <a:cubicBezTo>
                    <a:pt x="369" y="191"/>
                    <a:pt x="401" y="181"/>
                    <a:pt x="401" y="181"/>
                  </a:cubicBezTo>
                  <a:cubicBezTo>
                    <a:pt x="452" y="195"/>
                    <a:pt x="528" y="188"/>
                    <a:pt x="528" y="188"/>
                  </a:cubicBezTo>
                  <a:cubicBezTo>
                    <a:pt x="543" y="192"/>
                    <a:pt x="552" y="189"/>
                    <a:pt x="558" y="181"/>
                  </a:cubicBezTo>
                  <a:lnTo>
                    <a:pt x="558" y="103"/>
                  </a:lnTo>
                  <a:cubicBezTo>
                    <a:pt x="556" y="93"/>
                    <a:pt x="555" y="84"/>
                    <a:pt x="554" y="76"/>
                  </a:cubicBezTo>
                  <a:close/>
                  <a:moveTo>
                    <a:pt x="231" y="77"/>
                  </a:moveTo>
                  <a:cubicBezTo>
                    <a:pt x="233" y="65"/>
                    <a:pt x="249" y="69"/>
                    <a:pt x="249" y="69"/>
                  </a:cubicBezTo>
                  <a:cubicBezTo>
                    <a:pt x="249" y="69"/>
                    <a:pt x="278" y="79"/>
                    <a:pt x="290" y="78"/>
                  </a:cubicBezTo>
                  <a:cubicBezTo>
                    <a:pt x="301" y="76"/>
                    <a:pt x="318" y="93"/>
                    <a:pt x="293" y="93"/>
                  </a:cubicBezTo>
                  <a:cubicBezTo>
                    <a:pt x="267" y="93"/>
                    <a:pt x="228" y="104"/>
                    <a:pt x="231" y="77"/>
                  </a:cubicBezTo>
                  <a:close/>
                  <a:moveTo>
                    <a:pt x="171" y="195"/>
                  </a:moveTo>
                  <a:cubicBezTo>
                    <a:pt x="153" y="195"/>
                    <a:pt x="46" y="237"/>
                    <a:pt x="45" y="128"/>
                  </a:cubicBezTo>
                  <a:cubicBezTo>
                    <a:pt x="45" y="104"/>
                    <a:pt x="39" y="83"/>
                    <a:pt x="69" y="98"/>
                  </a:cubicBezTo>
                  <a:cubicBezTo>
                    <a:pt x="99" y="112"/>
                    <a:pt x="72" y="111"/>
                    <a:pt x="137" y="108"/>
                  </a:cubicBezTo>
                  <a:cubicBezTo>
                    <a:pt x="137" y="108"/>
                    <a:pt x="184" y="110"/>
                    <a:pt x="191" y="106"/>
                  </a:cubicBezTo>
                  <a:cubicBezTo>
                    <a:pt x="199" y="101"/>
                    <a:pt x="192" y="91"/>
                    <a:pt x="207" y="91"/>
                  </a:cubicBezTo>
                  <a:cubicBezTo>
                    <a:pt x="222" y="90"/>
                    <a:pt x="220" y="105"/>
                    <a:pt x="220" y="105"/>
                  </a:cubicBezTo>
                  <a:cubicBezTo>
                    <a:pt x="220" y="105"/>
                    <a:pt x="207" y="124"/>
                    <a:pt x="305" y="111"/>
                  </a:cubicBezTo>
                  <a:cubicBezTo>
                    <a:pt x="317" y="109"/>
                    <a:pt x="327" y="121"/>
                    <a:pt x="302" y="121"/>
                  </a:cubicBezTo>
                  <a:cubicBezTo>
                    <a:pt x="290" y="122"/>
                    <a:pt x="272" y="128"/>
                    <a:pt x="278" y="143"/>
                  </a:cubicBezTo>
                  <a:cubicBezTo>
                    <a:pt x="284" y="158"/>
                    <a:pt x="276" y="256"/>
                    <a:pt x="276" y="256"/>
                  </a:cubicBezTo>
                  <a:cubicBezTo>
                    <a:pt x="276" y="256"/>
                    <a:pt x="271" y="274"/>
                    <a:pt x="262" y="245"/>
                  </a:cubicBezTo>
                  <a:cubicBezTo>
                    <a:pt x="259" y="235"/>
                    <a:pt x="262" y="144"/>
                    <a:pt x="260" y="137"/>
                  </a:cubicBezTo>
                  <a:cubicBezTo>
                    <a:pt x="259" y="129"/>
                    <a:pt x="217" y="122"/>
                    <a:pt x="215" y="154"/>
                  </a:cubicBezTo>
                  <a:cubicBezTo>
                    <a:pt x="214" y="185"/>
                    <a:pt x="205" y="195"/>
                    <a:pt x="171" y="195"/>
                  </a:cubicBezTo>
                  <a:close/>
                  <a:moveTo>
                    <a:pt x="237" y="231"/>
                  </a:moveTo>
                  <a:cubicBezTo>
                    <a:pt x="230" y="240"/>
                    <a:pt x="219" y="247"/>
                    <a:pt x="223" y="225"/>
                  </a:cubicBezTo>
                  <a:cubicBezTo>
                    <a:pt x="228" y="202"/>
                    <a:pt x="232" y="170"/>
                    <a:pt x="232" y="155"/>
                  </a:cubicBezTo>
                  <a:cubicBezTo>
                    <a:pt x="232" y="155"/>
                    <a:pt x="244" y="135"/>
                    <a:pt x="247" y="158"/>
                  </a:cubicBezTo>
                  <a:cubicBezTo>
                    <a:pt x="250" y="181"/>
                    <a:pt x="244" y="221"/>
                    <a:pt x="237" y="231"/>
                  </a:cubicBezTo>
                  <a:close/>
                  <a:moveTo>
                    <a:pt x="326" y="292"/>
                  </a:moveTo>
                  <a:cubicBezTo>
                    <a:pt x="327" y="320"/>
                    <a:pt x="355" y="400"/>
                    <a:pt x="286" y="399"/>
                  </a:cubicBezTo>
                  <a:cubicBezTo>
                    <a:pt x="217" y="398"/>
                    <a:pt x="214" y="409"/>
                    <a:pt x="215" y="321"/>
                  </a:cubicBezTo>
                  <a:cubicBezTo>
                    <a:pt x="216" y="236"/>
                    <a:pt x="225" y="253"/>
                    <a:pt x="230" y="264"/>
                  </a:cubicBezTo>
                  <a:cubicBezTo>
                    <a:pt x="230" y="264"/>
                    <a:pt x="253" y="318"/>
                    <a:pt x="309" y="277"/>
                  </a:cubicBezTo>
                  <a:cubicBezTo>
                    <a:pt x="319" y="269"/>
                    <a:pt x="324" y="263"/>
                    <a:pt x="326" y="292"/>
                  </a:cubicBezTo>
                  <a:close/>
                  <a:moveTo>
                    <a:pt x="318" y="133"/>
                  </a:moveTo>
                  <a:cubicBezTo>
                    <a:pt x="338" y="148"/>
                    <a:pt x="316" y="165"/>
                    <a:pt x="316" y="165"/>
                  </a:cubicBezTo>
                  <a:cubicBezTo>
                    <a:pt x="316" y="165"/>
                    <a:pt x="302" y="189"/>
                    <a:pt x="313" y="213"/>
                  </a:cubicBezTo>
                  <a:cubicBezTo>
                    <a:pt x="324" y="237"/>
                    <a:pt x="324" y="265"/>
                    <a:pt x="301" y="239"/>
                  </a:cubicBezTo>
                  <a:cubicBezTo>
                    <a:pt x="279" y="214"/>
                    <a:pt x="293" y="156"/>
                    <a:pt x="299" y="144"/>
                  </a:cubicBezTo>
                  <a:cubicBezTo>
                    <a:pt x="299" y="144"/>
                    <a:pt x="299" y="118"/>
                    <a:pt x="318" y="133"/>
                  </a:cubicBezTo>
                  <a:close/>
                  <a:moveTo>
                    <a:pt x="507" y="179"/>
                  </a:moveTo>
                  <a:cubicBezTo>
                    <a:pt x="498" y="185"/>
                    <a:pt x="507" y="179"/>
                    <a:pt x="465" y="177"/>
                  </a:cubicBezTo>
                  <a:cubicBezTo>
                    <a:pt x="423" y="176"/>
                    <a:pt x="461" y="162"/>
                    <a:pt x="461" y="162"/>
                  </a:cubicBezTo>
                  <a:cubicBezTo>
                    <a:pt x="565" y="166"/>
                    <a:pt x="516" y="173"/>
                    <a:pt x="507" y="179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998" name="Freeform 6"/>
            <p:cNvSpPr>
              <a:spLocks/>
            </p:cNvSpPr>
            <p:nvPr/>
          </p:nvSpPr>
          <p:spPr bwMode="auto">
            <a:xfrm>
              <a:off x="3621" y="1287"/>
              <a:ext cx="238" cy="283"/>
            </a:xfrm>
            <a:custGeom>
              <a:avLst/>
              <a:gdLst/>
              <a:ahLst/>
              <a:cxnLst>
                <a:cxn ang="0">
                  <a:pos x="40" y="15"/>
                </a:cxn>
                <a:cxn ang="0">
                  <a:pos x="27" y="56"/>
                </a:cxn>
                <a:cxn ang="0">
                  <a:pos x="40" y="15"/>
                </a:cxn>
              </a:cxnLst>
              <a:rect l="0" t="0" r="r" b="b"/>
              <a:pathLst>
                <a:path w="47" h="56">
                  <a:moveTo>
                    <a:pt x="40" y="15"/>
                  </a:moveTo>
                  <a:cubicBezTo>
                    <a:pt x="37" y="0"/>
                    <a:pt x="0" y="23"/>
                    <a:pt x="27" y="56"/>
                  </a:cubicBezTo>
                  <a:cubicBezTo>
                    <a:pt x="27" y="56"/>
                    <a:pt x="47" y="49"/>
                    <a:pt x="40" y="15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999" name="Freeform 7"/>
            <p:cNvSpPr>
              <a:spLocks/>
            </p:cNvSpPr>
            <p:nvPr/>
          </p:nvSpPr>
          <p:spPr bwMode="auto">
            <a:xfrm>
              <a:off x="3403" y="1403"/>
              <a:ext cx="208" cy="379"/>
            </a:xfrm>
            <a:custGeom>
              <a:avLst/>
              <a:gdLst/>
              <a:ahLst/>
              <a:cxnLst>
                <a:cxn ang="0">
                  <a:pos x="19" y="27"/>
                </a:cxn>
                <a:cxn ang="0">
                  <a:pos x="12" y="69"/>
                </a:cxn>
                <a:cxn ang="0">
                  <a:pos x="40" y="45"/>
                </a:cxn>
                <a:cxn ang="0">
                  <a:pos x="37" y="24"/>
                </a:cxn>
                <a:cxn ang="0">
                  <a:pos x="19" y="27"/>
                </a:cxn>
              </a:cxnLst>
              <a:rect l="0" t="0" r="r" b="b"/>
              <a:pathLst>
                <a:path w="41" h="75">
                  <a:moveTo>
                    <a:pt x="19" y="27"/>
                  </a:moveTo>
                  <a:cubicBezTo>
                    <a:pt x="0" y="54"/>
                    <a:pt x="6" y="63"/>
                    <a:pt x="12" y="69"/>
                  </a:cubicBezTo>
                  <a:cubicBezTo>
                    <a:pt x="18" y="75"/>
                    <a:pt x="30" y="74"/>
                    <a:pt x="40" y="45"/>
                  </a:cubicBezTo>
                  <a:cubicBezTo>
                    <a:pt x="40" y="45"/>
                    <a:pt x="32" y="31"/>
                    <a:pt x="37" y="24"/>
                  </a:cubicBezTo>
                  <a:cubicBezTo>
                    <a:pt x="41" y="16"/>
                    <a:pt x="38" y="0"/>
                    <a:pt x="19" y="27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00" name="Freeform 8"/>
            <p:cNvSpPr>
              <a:spLocks/>
            </p:cNvSpPr>
            <p:nvPr/>
          </p:nvSpPr>
          <p:spPr bwMode="auto">
            <a:xfrm>
              <a:off x="3272" y="645"/>
              <a:ext cx="683" cy="318"/>
            </a:xfrm>
            <a:custGeom>
              <a:avLst/>
              <a:gdLst/>
              <a:ahLst/>
              <a:cxnLst>
                <a:cxn ang="0">
                  <a:pos x="112" y="4"/>
                </a:cxn>
                <a:cxn ang="0">
                  <a:pos x="24" y="4"/>
                </a:cxn>
                <a:cxn ang="0">
                  <a:pos x="2" y="25"/>
                </a:cxn>
                <a:cxn ang="0">
                  <a:pos x="60" y="58"/>
                </a:cxn>
                <a:cxn ang="0">
                  <a:pos x="96" y="54"/>
                </a:cxn>
                <a:cxn ang="0">
                  <a:pos x="113" y="53"/>
                </a:cxn>
                <a:cxn ang="0">
                  <a:pos x="112" y="4"/>
                </a:cxn>
              </a:cxnLst>
              <a:rect l="0" t="0" r="r" b="b"/>
              <a:pathLst>
                <a:path w="135" h="63">
                  <a:moveTo>
                    <a:pt x="112" y="4"/>
                  </a:moveTo>
                  <a:cubicBezTo>
                    <a:pt x="105" y="9"/>
                    <a:pt x="24" y="4"/>
                    <a:pt x="24" y="4"/>
                  </a:cubicBezTo>
                  <a:cubicBezTo>
                    <a:pt x="15" y="4"/>
                    <a:pt x="3" y="1"/>
                    <a:pt x="2" y="25"/>
                  </a:cubicBezTo>
                  <a:cubicBezTo>
                    <a:pt x="0" y="63"/>
                    <a:pt x="48" y="58"/>
                    <a:pt x="60" y="58"/>
                  </a:cubicBezTo>
                  <a:cubicBezTo>
                    <a:pt x="72" y="58"/>
                    <a:pt x="84" y="48"/>
                    <a:pt x="96" y="54"/>
                  </a:cubicBezTo>
                  <a:cubicBezTo>
                    <a:pt x="96" y="54"/>
                    <a:pt x="107" y="63"/>
                    <a:pt x="113" y="53"/>
                  </a:cubicBezTo>
                  <a:cubicBezTo>
                    <a:pt x="135" y="13"/>
                    <a:pt x="120" y="0"/>
                    <a:pt x="112" y="4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01" name="Freeform 9"/>
            <p:cNvSpPr>
              <a:spLocks/>
            </p:cNvSpPr>
            <p:nvPr/>
          </p:nvSpPr>
          <p:spPr bwMode="auto">
            <a:xfrm>
              <a:off x="4046" y="1545"/>
              <a:ext cx="490" cy="515"/>
            </a:xfrm>
            <a:custGeom>
              <a:avLst/>
              <a:gdLst/>
              <a:ahLst/>
              <a:cxnLst>
                <a:cxn ang="0">
                  <a:pos x="67" y="5"/>
                </a:cxn>
                <a:cxn ang="0">
                  <a:pos x="31" y="5"/>
                </a:cxn>
                <a:cxn ang="0">
                  <a:pos x="12" y="57"/>
                </a:cxn>
                <a:cxn ang="0">
                  <a:pos x="79" y="62"/>
                </a:cxn>
                <a:cxn ang="0">
                  <a:pos x="67" y="5"/>
                </a:cxn>
              </a:cxnLst>
              <a:rect l="0" t="0" r="r" b="b"/>
              <a:pathLst>
                <a:path w="97" h="102">
                  <a:moveTo>
                    <a:pt x="67" y="5"/>
                  </a:moveTo>
                  <a:cubicBezTo>
                    <a:pt x="55" y="10"/>
                    <a:pt x="31" y="5"/>
                    <a:pt x="31" y="5"/>
                  </a:cubicBezTo>
                  <a:cubicBezTo>
                    <a:pt x="0" y="6"/>
                    <a:pt x="16" y="39"/>
                    <a:pt x="12" y="57"/>
                  </a:cubicBezTo>
                  <a:cubicBezTo>
                    <a:pt x="8" y="76"/>
                    <a:pt x="63" y="102"/>
                    <a:pt x="79" y="62"/>
                  </a:cubicBezTo>
                  <a:cubicBezTo>
                    <a:pt x="97" y="20"/>
                    <a:pt x="79" y="0"/>
                    <a:pt x="67" y="5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02" name="Freeform 10"/>
            <p:cNvSpPr>
              <a:spLocks/>
            </p:cNvSpPr>
            <p:nvPr/>
          </p:nvSpPr>
          <p:spPr bwMode="auto">
            <a:xfrm>
              <a:off x="5173" y="1024"/>
              <a:ext cx="501" cy="96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40" y="15"/>
                </a:cxn>
                <a:cxn ang="0">
                  <a:pos x="15" y="0"/>
                </a:cxn>
              </a:cxnLst>
              <a:rect l="0" t="0" r="r" b="b"/>
              <a:pathLst>
                <a:path w="99" h="19">
                  <a:moveTo>
                    <a:pt x="15" y="0"/>
                  </a:moveTo>
                  <a:cubicBezTo>
                    <a:pt x="0" y="0"/>
                    <a:pt x="19" y="19"/>
                    <a:pt x="40" y="15"/>
                  </a:cubicBezTo>
                  <a:cubicBezTo>
                    <a:pt x="99" y="1"/>
                    <a:pt x="15" y="0"/>
                    <a:pt x="15" y="0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03" name="Freeform 11"/>
            <p:cNvSpPr>
              <a:spLocks/>
            </p:cNvSpPr>
            <p:nvPr/>
          </p:nvSpPr>
          <p:spPr bwMode="auto">
            <a:xfrm>
              <a:off x="5340" y="1004"/>
              <a:ext cx="385" cy="237"/>
            </a:xfrm>
            <a:custGeom>
              <a:avLst/>
              <a:gdLst/>
              <a:ahLst/>
              <a:cxnLst>
                <a:cxn ang="0">
                  <a:pos x="21" y="37"/>
                </a:cxn>
                <a:cxn ang="0">
                  <a:pos x="70" y="17"/>
                </a:cxn>
                <a:cxn ang="0">
                  <a:pos x="48" y="3"/>
                </a:cxn>
                <a:cxn ang="0">
                  <a:pos x="19" y="32"/>
                </a:cxn>
                <a:cxn ang="0">
                  <a:pos x="21" y="37"/>
                </a:cxn>
              </a:cxnLst>
              <a:rect l="0" t="0" r="r" b="b"/>
              <a:pathLst>
                <a:path w="76" h="47">
                  <a:moveTo>
                    <a:pt x="21" y="37"/>
                  </a:moveTo>
                  <a:cubicBezTo>
                    <a:pt x="21" y="37"/>
                    <a:pt x="50" y="47"/>
                    <a:pt x="70" y="17"/>
                  </a:cubicBezTo>
                  <a:cubicBezTo>
                    <a:pt x="76" y="7"/>
                    <a:pt x="65" y="0"/>
                    <a:pt x="48" y="3"/>
                  </a:cubicBezTo>
                  <a:cubicBezTo>
                    <a:pt x="39" y="5"/>
                    <a:pt x="39" y="32"/>
                    <a:pt x="19" y="32"/>
                  </a:cubicBezTo>
                  <a:cubicBezTo>
                    <a:pt x="0" y="32"/>
                    <a:pt x="21" y="37"/>
                    <a:pt x="21" y="37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04" name="Freeform 12"/>
            <p:cNvSpPr>
              <a:spLocks/>
            </p:cNvSpPr>
            <p:nvPr/>
          </p:nvSpPr>
          <p:spPr bwMode="auto">
            <a:xfrm>
              <a:off x="5325" y="1201"/>
              <a:ext cx="415" cy="187"/>
            </a:xfrm>
            <a:custGeom>
              <a:avLst/>
              <a:gdLst/>
              <a:ahLst/>
              <a:cxnLst>
                <a:cxn ang="0">
                  <a:pos x="72" y="6"/>
                </a:cxn>
                <a:cxn ang="0">
                  <a:pos x="24" y="17"/>
                </a:cxn>
                <a:cxn ang="0">
                  <a:pos x="17" y="26"/>
                </a:cxn>
                <a:cxn ang="0">
                  <a:pos x="76" y="23"/>
                </a:cxn>
                <a:cxn ang="0">
                  <a:pos x="82" y="20"/>
                </a:cxn>
                <a:cxn ang="0">
                  <a:pos x="82" y="0"/>
                </a:cxn>
                <a:cxn ang="0">
                  <a:pos x="72" y="6"/>
                </a:cxn>
              </a:cxnLst>
              <a:rect l="0" t="0" r="r" b="b"/>
              <a:pathLst>
                <a:path w="82" h="37">
                  <a:moveTo>
                    <a:pt x="72" y="6"/>
                  </a:moveTo>
                  <a:cubicBezTo>
                    <a:pt x="57" y="23"/>
                    <a:pt x="24" y="17"/>
                    <a:pt x="24" y="17"/>
                  </a:cubicBezTo>
                  <a:cubicBezTo>
                    <a:pt x="24" y="17"/>
                    <a:pt x="0" y="16"/>
                    <a:pt x="17" y="26"/>
                  </a:cubicBezTo>
                  <a:cubicBezTo>
                    <a:pt x="33" y="37"/>
                    <a:pt x="53" y="32"/>
                    <a:pt x="76" y="23"/>
                  </a:cubicBezTo>
                  <a:cubicBezTo>
                    <a:pt x="78" y="22"/>
                    <a:pt x="80" y="21"/>
                    <a:pt x="82" y="20"/>
                  </a:cubicBezTo>
                  <a:lnTo>
                    <a:pt x="82" y="0"/>
                  </a:lnTo>
                  <a:cubicBezTo>
                    <a:pt x="79" y="1"/>
                    <a:pt x="75" y="2"/>
                    <a:pt x="72" y="6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05" name="Freeform 13"/>
            <p:cNvSpPr>
              <a:spLocks/>
            </p:cNvSpPr>
            <p:nvPr/>
          </p:nvSpPr>
          <p:spPr bwMode="auto">
            <a:xfrm>
              <a:off x="5001" y="1378"/>
              <a:ext cx="698" cy="167"/>
            </a:xfrm>
            <a:custGeom>
              <a:avLst/>
              <a:gdLst/>
              <a:ahLst/>
              <a:cxnLst>
                <a:cxn ang="0">
                  <a:pos x="21" y="1"/>
                </a:cxn>
                <a:cxn ang="0">
                  <a:pos x="8" y="14"/>
                </a:cxn>
                <a:cxn ang="0">
                  <a:pos x="57" y="22"/>
                </a:cxn>
                <a:cxn ang="0">
                  <a:pos x="117" y="23"/>
                </a:cxn>
                <a:cxn ang="0">
                  <a:pos x="114" y="8"/>
                </a:cxn>
                <a:cxn ang="0">
                  <a:pos x="82" y="3"/>
                </a:cxn>
                <a:cxn ang="0">
                  <a:pos x="21" y="1"/>
                </a:cxn>
              </a:cxnLst>
              <a:rect l="0" t="0" r="r" b="b"/>
              <a:pathLst>
                <a:path w="138" h="33">
                  <a:moveTo>
                    <a:pt x="21" y="1"/>
                  </a:moveTo>
                  <a:cubicBezTo>
                    <a:pt x="21" y="1"/>
                    <a:pt x="0" y="8"/>
                    <a:pt x="8" y="14"/>
                  </a:cubicBezTo>
                  <a:cubicBezTo>
                    <a:pt x="15" y="20"/>
                    <a:pt x="48" y="22"/>
                    <a:pt x="57" y="22"/>
                  </a:cubicBezTo>
                  <a:cubicBezTo>
                    <a:pt x="66" y="22"/>
                    <a:pt x="96" y="33"/>
                    <a:pt x="117" y="23"/>
                  </a:cubicBezTo>
                  <a:cubicBezTo>
                    <a:pt x="138" y="12"/>
                    <a:pt x="123" y="9"/>
                    <a:pt x="114" y="8"/>
                  </a:cubicBezTo>
                  <a:cubicBezTo>
                    <a:pt x="105" y="6"/>
                    <a:pt x="102" y="0"/>
                    <a:pt x="82" y="3"/>
                  </a:cubicBezTo>
                  <a:cubicBezTo>
                    <a:pt x="37" y="11"/>
                    <a:pt x="21" y="1"/>
                    <a:pt x="21" y="1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06" name="Freeform 14"/>
            <p:cNvSpPr>
              <a:spLocks/>
            </p:cNvSpPr>
            <p:nvPr/>
          </p:nvSpPr>
          <p:spPr bwMode="auto">
            <a:xfrm>
              <a:off x="5077" y="1540"/>
              <a:ext cx="567" cy="146"/>
            </a:xfrm>
            <a:custGeom>
              <a:avLst/>
              <a:gdLst/>
              <a:ahLst/>
              <a:cxnLst>
                <a:cxn ang="0">
                  <a:pos x="98" y="19"/>
                </a:cxn>
                <a:cxn ang="0">
                  <a:pos x="103" y="4"/>
                </a:cxn>
                <a:cxn ang="0">
                  <a:pos x="74" y="10"/>
                </a:cxn>
                <a:cxn ang="0">
                  <a:pos x="36" y="6"/>
                </a:cxn>
                <a:cxn ang="0">
                  <a:pos x="2" y="4"/>
                </a:cxn>
                <a:cxn ang="0">
                  <a:pos x="98" y="19"/>
                </a:cxn>
              </a:cxnLst>
              <a:rect l="0" t="0" r="r" b="b"/>
              <a:pathLst>
                <a:path w="112" h="29">
                  <a:moveTo>
                    <a:pt x="98" y="19"/>
                  </a:moveTo>
                  <a:cubicBezTo>
                    <a:pt x="112" y="13"/>
                    <a:pt x="111" y="0"/>
                    <a:pt x="103" y="4"/>
                  </a:cubicBezTo>
                  <a:cubicBezTo>
                    <a:pt x="96" y="9"/>
                    <a:pt x="83" y="10"/>
                    <a:pt x="74" y="10"/>
                  </a:cubicBezTo>
                  <a:cubicBezTo>
                    <a:pt x="65" y="11"/>
                    <a:pt x="45" y="3"/>
                    <a:pt x="36" y="6"/>
                  </a:cubicBezTo>
                  <a:cubicBezTo>
                    <a:pt x="27" y="9"/>
                    <a:pt x="2" y="4"/>
                    <a:pt x="2" y="4"/>
                  </a:cubicBezTo>
                  <a:cubicBezTo>
                    <a:pt x="0" y="29"/>
                    <a:pt x="83" y="25"/>
                    <a:pt x="98" y="19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07" name="Freeform 15"/>
            <p:cNvSpPr>
              <a:spLocks/>
            </p:cNvSpPr>
            <p:nvPr/>
          </p:nvSpPr>
          <p:spPr bwMode="auto">
            <a:xfrm>
              <a:off x="5042" y="1656"/>
              <a:ext cx="581" cy="480"/>
            </a:xfrm>
            <a:custGeom>
              <a:avLst/>
              <a:gdLst/>
              <a:ahLst/>
              <a:cxnLst>
                <a:cxn ang="0">
                  <a:pos x="3" y="53"/>
                </a:cxn>
                <a:cxn ang="0">
                  <a:pos x="26" y="54"/>
                </a:cxn>
                <a:cxn ang="0">
                  <a:pos x="50" y="77"/>
                </a:cxn>
                <a:cxn ang="0">
                  <a:pos x="59" y="84"/>
                </a:cxn>
                <a:cxn ang="0">
                  <a:pos x="81" y="52"/>
                </a:cxn>
                <a:cxn ang="0">
                  <a:pos x="111" y="52"/>
                </a:cxn>
                <a:cxn ang="0">
                  <a:pos x="79" y="27"/>
                </a:cxn>
                <a:cxn ang="0">
                  <a:pos x="37" y="16"/>
                </a:cxn>
                <a:cxn ang="0">
                  <a:pos x="12" y="41"/>
                </a:cxn>
                <a:cxn ang="0">
                  <a:pos x="3" y="53"/>
                </a:cxn>
              </a:cxnLst>
              <a:rect l="0" t="0" r="r" b="b"/>
              <a:pathLst>
                <a:path w="115" h="95">
                  <a:moveTo>
                    <a:pt x="3" y="53"/>
                  </a:moveTo>
                  <a:cubicBezTo>
                    <a:pt x="5" y="60"/>
                    <a:pt x="14" y="68"/>
                    <a:pt x="26" y="54"/>
                  </a:cubicBezTo>
                  <a:cubicBezTo>
                    <a:pt x="48" y="29"/>
                    <a:pt x="48" y="72"/>
                    <a:pt x="50" y="77"/>
                  </a:cubicBezTo>
                  <a:cubicBezTo>
                    <a:pt x="51" y="81"/>
                    <a:pt x="54" y="95"/>
                    <a:pt x="59" y="84"/>
                  </a:cubicBezTo>
                  <a:cubicBezTo>
                    <a:pt x="63" y="74"/>
                    <a:pt x="70" y="39"/>
                    <a:pt x="81" y="52"/>
                  </a:cubicBezTo>
                  <a:cubicBezTo>
                    <a:pt x="100" y="76"/>
                    <a:pt x="115" y="54"/>
                    <a:pt x="111" y="52"/>
                  </a:cubicBezTo>
                  <a:cubicBezTo>
                    <a:pt x="106" y="51"/>
                    <a:pt x="79" y="37"/>
                    <a:pt x="79" y="27"/>
                  </a:cubicBezTo>
                  <a:cubicBezTo>
                    <a:pt x="79" y="16"/>
                    <a:pt x="42" y="0"/>
                    <a:pt x="37" y="16"/>
                  </a:cubicBezTo>
                  <a:cubicBezTo>
                    <a:pt x="33" y="33"/>
                    <a:pt x="12" y="41"/>
                    <a:pt x="12" y="41"/>
                  </a:cubicBezTo>
                  <a:cubicBezTo>
                    <a:pt x="0" y="44"/>
                    <a:pt x="2" y="45"/>
                    <a:pt x="3" y="53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08" name="Freeform 16"/>
            <p:cNvSpPr>
              <a:spLocks/>
            </p:cNvSpPr>
            <p:nvPr/>
          </p:nvSpPr>
          <p:spPr bwMode="auto">
            <a:xfrm>
              <a:off x="5421" y="1464"/>
              <a:ext cx="329" cy="854"/>
            </a:xfrm>
            <a:custGeom>
              <a:avLst/>
              <a:gdLst/>
              <a:ahLst/>
              <a:cxnLst>
                <a:cxn ang="0">
                  <a:pos x="51" y="40"/>
                </a:cxn>
                <a:cxn ang="0">
                  <a:pos x="22" y="49"/>
                </a:cxn>
                <a:cxn ang="0">
                  <a:pos x="22" y="59"/>
                </a:cxn>
                <a:cxn ang="0">
                  <a:pos x="50" y="90"/>
                </a:cxn>
                <a:cxn ang="0">
                  <a:pos x="34" y="118"/>
                </a:cxn>
                <a:cxn ang="0">
                  <a:pos x="0" y="148"/>
                </a:cxn>
                <a:cxn ang="0">
                  <a:pos x="17" y="155"/>
                </a:cxn>
                <a:cxn ang="0">
                  <a:pos x="47" y="166"/>
                </a:cxn>
                <a:cxn ang="0">
                  <a:pos x="63" y="162"/>
                </a:cxn>
                <a:cxn ang="0">
                  <a:pos x="65" y="0"/>
                </a:cxn>
                <a:cxn ang="0">
                  <a:pos x="51" y="40"/>
                </a:cxn>
              </a:cxnLst>
              <a:rect l="0" t="0" r="r" b="b"/>
              <a:pathLst>
                <a:path w="65" h="169">
                  <a:moveTo>
                    <a:pt x="51" y="40"/>
                  </a:moveTo>
                  <a:cubicBezTo>
                    <a:pt x="44" y="46"/>
                    <a:pt x="30" y="49"/>
                    <a:pt x="22" y="49"/>
                  </a:cubicBezTo>
                  <a:cubicBezTo>
                    <a:pt x="13" y="48"/>
                    <a:pt x="14" y="56"/>
                    <a:pt x="22" y="59"/>
                  </a:cubicBezTo>
                  <a:cubicBezTo>
                    <a:pt x="30" y="62"/>
                    <a:pt x="49" y="75"/>
                    <a:pt x="50" y="90"/>
                  </a:cubicBezTo>
                  <a:cubicBezTo>
                    <a:pt x="50" y="104"/>
                    <a:pt x="51" y="115"/>
                    <a:pt x="34" y="118"/>
                  </a:cubicBezTo>
                  <a:cubicBezTo>
                    <a:pt x="18" y="122"/>
                    <a:pt x="3" y="124"/>
                    <a:pt x="0" y="148"/>
                  </a:cubicBezTo>
                  <a:cubicBezTo>
                    <a:pt x="0" y="148"/>
                    <a:pt x="10" y="154"/>
                    <a:pt x="17" y="155"/>
                  </a:cubicBezTo>
                  <a:cubicBezTo>
                    <a:pt x="23" y="155"/>
                    <a:pt x="42" y="163"/>
                    <a:pt x="47" y="166"/>
                  </a:cubicBezTo>
                  <a:cubicBezTo>
                    <a:pt x="51" y="169"/>
                    <a:pt x="58" y="167"/>
                    <a:pt x="63" y="162"/>
                  </a:cubicBezTo>
                  <a:lnTo>
                    <a:pt x="65" y="0"/>
                  </a:lnTo>
                  <a:cubicBezTo>
                    <a:pt x="64" y="8"/>
                    <a:pt x="58" y="36"/>
                    <a:pt x="51" y="40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5009" name="Group 17"/>
          <p:cNvGrpSpPr>
            <a:grpSpLocks/>
          </p:cNvGrpSpPr>
          <p:nvPr/>
        </p:nvGrpSpPr>
        <p:grpSpPr bwMode="auto">
          <a:xfrm>
            <a:off x="554038" y="36513"/>
            <a:ext cx="7891462" cy="6821487"/>
            <a:chOff x="349" y="23"/>
            <a:chExt cx="4971" cy="4297"/>
          </a:xfrm>
        </p:grpSpPr>
        <p:sp>
          <p:nvSpPr>
            <p:cNvPr id="85010" name="Rectangle 18"/>
            <p:cNvSpPr>
              <a:spLocks noChangeArrowheads="1"/>
            </p:cNvSpPr>
            <p:nvPr/>
          </p:nvSpPr>
          <p:spPr bwMode="auto">
            <a:xfrm>
              <a:off x="384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11" name="Freeform 19"/>
            <p:cNvSpPr>
              <a:spLocks noEditPoints="1"/>
            </p:cNvSpPr>
            <p:nvPr/>
          </p:nvSpPr>
          <p:spPr bwMode="auto">
            <a:xfrm>
              <a:off x="384" y="225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12" name="Freeform 20"/>
            <p:cNvSpPr>
              <a:spLocks noEditPoints="1"/>
            </p:cNvSpPr>
            <p:nvPr/>
          </p:nvSpPr>
          <p:spPr bwMode="auto">
            <a:xfrm>
              <a:off x="384" y="630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13" name="Freeform 21"/>
            <p:cNvSpPr>
              <a:spLocks noEditPoints="1"/>
            </p:cNvSpPr>
            <p:nvPr/>
          </p:nvSpPr>
          <p:spPr bwMode="auto">
            <a:xfrm>
              <a:off x="384" y="1034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14" name="Freeform 22"/>
            <p:cNvSpPr>
              <a:spLocks noEditPoints="1"/>
            </p:cNvSpPr>
            <p:nvPr/>
          </p:nvSpPr>
          <p:spPr bwMode="auto">
            <a:xfrm>
              <a:off x="384" y="1438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15" name="Freeform 23"/>
            <p:cNvSpPr>
              <a:spLocks noEditPoints="1"/>
            </p:cNvSpPr>
            <p:nvPr/>
          </p:nvSpPr>
          <p:spPr bwMode="auto">
            <a:xfrm>
              <a:off x="384" y="1843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16" name="Freeform 24"/>
            <p:cNvSpPr>
              <a:spLocks noEditPoints="1"/>
            </p:cNvSpPr>
            <p:nvPr/>
          </p:nvSpPr>
          <p:spPr bwMode="auto">
            <a:xfrm>
              <a:off x="384" y="2247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17" name="Freeform 25"/>
            <p:cNvSpPr>
              <a:spLocks noEditPoints="1"/>
            </p:cNvSpPr>
            <p:nvPr/>
          </p:nvSpPr>
          <p:spPr bwMode="auto">
            <a:xfrm>
              <a:off x="384" y="2652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18" name="Freeform 26"/>
            <p:cNvSpPr>
              <a:spLocks noEditPoints="1"/>
            </p:cNvSpPr>
            <p:nvPr/>
          </p:nvSpPr>
          <p:spPr bwMode="auto">
            <a:xfrm>
              <a:off x="384" y="3056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19" name="Freeform 27"/>
            <p:cNvSpPr>
              <a:spLocks noEditPoints="1"/>
            </p:cNvSpPr>
            <p:nvPr/>
          </p:nvSpPr>
          <p:spPr bwMode="auto">
            <a:xfrm>
              <a:off x="384" y="3461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20" name="Freeform 28"/>
            <p:cNvSpPr>
              <a:spLocks noEditPoints="1"/>
            </p:cNvSpPr>
            <p:nvPr/>
          </p:nvSpPr>
          <p:spPr bwMode="auto">
            <a:xfrm>
              <a:off x="384" y="3865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21" name="Rectangle 29"/>
            <p:cNvSpPr>
              <a:spLocks noChangeArrowheads="1"/>
            </p:cNvSpPr>
            <p:nvPr/>
          </p:nvSpPr>
          <p:spPr bwMode="auto">
            <a:xfrm>
              <a:off x="384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22" name="Rectangle 30"/>
            <p:cNvSpPr>
              <a:spLocks noChangeArrowheads="1"/>
            </p:cNvSpPr>
            <p:nvPr/>
          </p:nvSpPr>
          <p:spPr bwMode="auto">
            <a:xfrm>
              <a:off x="829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23" name="Freeform 31"/>
            <p:cNvSpPr>
              <a:spLocks noEditPoints="1"/>
            </p:cNvSpPr>
            <p:nvPr/>
          </p:nvSpPr>
          <p:spPr bwMode="auto">
            <a:xfrm>
              <a:off x="829" y="225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24" name="Freeform 32"/>
            <p:cNvSpPr>
              <a:spLocks noEditPoints="1"/>
            </p:cNvSpPr>
            <p:nvPr/>
          </p:nvSpPr>
          <p:spPr bwMode="auto">
            <a:xfrm>
              <a:off x="829" y="630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25" name="Freeform 33"/>
            <p:cNvSpPr>
              <a:spLocks noEditPoints="1"/>
            </p:cNvSpPr>
            <p:nvPr/>
          </p:nvSpPr>
          <p:spPr bwMode="auto">
            <a:xfrm>
              <a:off x="829" y="1034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26" name="Freeform 34"/>
            <p:cNvSpPr>
              <a:spLocks noEditPoints="1"/>
            </p:cNvSpPr>
            <p:nvPr/>
          </p:nvSpPr>
          <p:spPr bwMode="auto">
            <a:xfrm>
              <a:off x="829" y="1438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27" name="Freeform 35"/>
            <p:cNvSpPr>
              <a:spLocks noEditPoints="1"/>
            </p:cNvSpPr>
            <p:nvPr/>
          </p:nvSpPr>
          <p:spPr bwMode="auto">
            <a:xfrm>
              <a:off x="829" y="1843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28" name="Freeform 36"/>
            <p:cNvSpPr>
              <a:spLocks noEditPoints="1"/>
            </p:cNvSpPr>
            <p:nvPr/>
          </p:nvSpPr>
          <p:spPr bwMode="auto">
            <a:xfrm>
              <a:off x="829" y="2247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29" name="Freeform 37"/>
            <p:cNvSpPr>
              <a:spLocks noEditPoints="1"/>
            </p:cNvSpPr>
            <p:nvPr/>
          </p:nvSpPr>
          <p:spPr bwMode="auto">
            <a:xfrm>
              <a:off x="829" y="2652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30" name="Freeform 38"/>
            <p:cNvSpPr>
              <a:spLocks noEditPoints="1"/>
            </p:cNvSpPr>
            <p:nvPr/>
          </p:nvSpPr>
          <p:spPr bwMode="auto">
            <a:xfrm>
              <a:off x="829" y="3056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31" name="Freeform 39"/>
            <p:cNvSpPr>
              <a:spLocks noEditPoints="1"/>
            </p:cNvSpPr>
            <p:nvPr/>
          </p:nvSpPr>
          <p:spPr bwMode="auto">
            <a:xfrm>
              <a:off x="829" y="3461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32" name="Freeform 40"/>
            <p:cNvSpPr>
              <a:spLocks noEditPoints="1"/>
            </p:cNvSpPr>
            <p:nvPr/>
          </p:nvSpPr>
          <p:spPr bwMode="auto">
            <a:xfrm>
              <a:off x="829" y="3865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33" name="Rectangle 41"/>
            <p:cNvSpPr>
              <a:spLocks noChangeArrowheads="1"/>
            </p:cNvSpPr>
            <p:nvPr/>
          </p:nvSpPr>
          <p:spPr bwMode="auto">
            <a:xfrm>
              <a:off x="829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34" name="Rectangle 42"/>
            <p:cNvSpPr>
              <a:spLocks noChangeArrowheads="1"/>
            </p:cNvSpPr>
            <p:nvPr/>
          </p:nvSpPr>
          <p:spPr bwMode="auto">
            <a:xfrm>
              <a:off x="1279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35" name="Freeform 43"/>
            <p:cNvSpPr>
              <a:spLocks noEditPoints="1"/>
            </p:cNvSpPr>
            <p:nvPr/>
          </p:nvSpPr>
          <p:spPr bwMode="auto">
            <a:xfrm>
              <a:off x="1279" y="225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36" name="Freeform 44"/>
            <p:cNvSpPr>
              <a:spLocks noEditPoints="1"/>
            </p:cNvSpPr>
            <p:nvPr/>
          </p:nvSpPr>
          <p:spPr bwMode="auto">
            <a:xfrm>
              <a:off x="1279" y="630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37" name="Freeform 45"/>
            <p:cNvSpPr>
              <a:spLocks noEditPoints="1"/>
            </p:cNvSpPr>
            <p:nvPr/>
          </p:nvSpPr>
          <p:spPr bwMode="auto">
            <a:xfrm>
              <a:off x="1279" y="1034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38" name="Freeform 46"/>
            <p:cNvSpPr>
              <a:spLocks noEditPoints="1"/>
            </p:cNvSpPr>
            <p:nvPr/>
          </p:nvSpPr>
          <p:spPr bwMode="auto">
            <a:xfrm>
              <a:off x="1279" y="1438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39" name="Freeform 47"/>
            <p:cNvSpPr>
              <a:spLocks noEditPoints="1"/>
            </p:cNvSpPr>
            <p:nvPr/>
          </p:nvSpPr>
          <p:spPr bwMode="auto">
            <a:xfrm>
              <a:off x="1279" y="1843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40" name="Freeform 48"/>
            <p:cNvSpPr>
              <a:spLocks noEditPoints="1"/>
            </p:cNvSpPr>
            <p:nvPr/>
          </p:nvSpPr>
          <p:spPr bwMode="auto">
            <a:xfrm>
              <a:off x="1279" y="2247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41" name="Freeform 49"/>
            <p:cNvSpPr>
              <a:spLocks noEditPoints="1"/>
            </p:cNvSpPr>
            <p:nvPr/>
          </p:nvSpPr>
          <p:spPr bwMode="auto">
            <a:xfrm>
              <a:off x="1279" y="2652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42" name="Freeform 50"/>
            <p:cNvSpPr>
              <a:spLocks noEditPoints="1"/>
            </p:cNvSpPr>
            <p:nvPr/>
          </p:nvSpPr>
          <p:spPr bwMode="auto">
            <a:xfrm>
              <a:off x="1279" y="3056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43" name="Freeform 51"/>
            <p:cNvSpPr>
              <a:spLocks noEditPoints="1"/>
            </p:cNvSpPr>
            <p:nvPr/>
          </p:nvSpPr>
          <p:spPr bwMode="auto">
            <a:xfrm>
              <a:off x="1279" y="3461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44" name="Freeform 52"/>
            <p:cNvSpPr>
              <a:spLocks noEditPoints="1"/>
            </p:cNvSpPr>
            <p:nvPr/>
          </p:nvSpPr>
          <p:spPr bwMode="auto">
            <a:xfrm>
              <a:off x="1279" y="3865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45" name="Rectangle 53"/>
            <p:cNvSpPr>
              <a:spLocks noChangeArrowheads="1"/>
            </p:cNvSpPr>
            <p:nvPr/>
          </p:nvSpPr>
          <p:spPr bwMode="auto">
            <a:xfrm>
              <a:off x="1279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46" name="Rectangle 54"/>
            <p:cNvSpPr>
              <a:spLocks noChangeArrowheads="1"/>
            </p:cNvSpPr>
            <p:nvPr/>
          </p:nvSpPr>
          <p:spPr bwMode="auto">
            <a:xfrm>
              <a:off x="1724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47" name="Freeform 55"/>
            <p:cNvSpPr>
              <a:spLocks noEditPoints="1"/>
            </p:cNvSpPr>
            <p:nvPr/>
          </p:nvSpPr>
          <p:spPr bwMode="auto">
            <a:xfrm>
              <a:off x="1724" y="225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48" name="Freeform 56"/>
            <p:cNvSpPr>
              <a:spLocks noEditPoints="1"/>
            </p:cNvSpPr>
            <p:nvPr/>
          </p:nvSpPr>
          <p:spPr bwMode="auto">
            <a:xfrm>
              <a:off x="1724" y="630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49" name="Freeform 57"/>
            <p:cNvSpPr>
              <a:spLocks noEditPoints="1"/>
            </p:cNvSpPr>
            <p:nvPr/>
          </p:nvSpPr>
          <p:spPr bwMode="auto">
            <a:xfrm>
              <a:off x="1724" y="1034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50" name="Freeform 58"/>
            <p:cNvSpPr>
              <a:spLocks noEditPoints="1"/>
            </p:cNvSpPr>
            <p:nvPr/>
          </p:nvSpPr>
          <p:spPr bwMode="auto">
            <a:xfrm>
              <a:off x="1724" y="1438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51" name="Freeform 59"/>
            <p:cNvSpPr>
              <a:spLocks noEditPoints="1"/>
            </p:cNvSpPr>
            <p:nvPr/>
          </p:nvSpPr>
          <p:spPr bwMode="auto">
            <a:xfrm>
              <a:off x="1724" y="1843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52" name="Freeform 60"/>
            <p:cNvSpPr>
              <a:spLocks noEditPoints="1"/>
            </p:cNvSpPr>
            <p:nvPr/>
          </p:nvSpPr>
          <p:spPr bwMode="auto">
            <a:xfrm>
              <a:off x="1724" y="2247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53" name="Freeform 61"/>
            <p:cNvSpPr>
              <a:spLocks noEditPoints="1"/>
            </p:cNvSpPr>
            <p:nvPr/>
          </p:nvSpPr>
          <p:spPr bwMode="auto">
            <a:xfrm>
              <a:off x="1724" y="2652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54" name="Freeform 62"/>
            <p:cNvSpPr>
              <a:spLocks noEditPoints="1"/>
            </p:cNvSpPr>
            <p:nvPr/>
          </p:nvSpPr>
          <p:spPr bwMode="auto">
            <a:xfrm>
              <a:off x="1724" y="3056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55" name="Freeform 63"/>
            <p:cNvSpPr>
              <a:spLocks noEditPoints="1"/>
            </p:cNvSpPr>
            <p:nvPr/>
          </p:nvSpPr>
          <p:spPr bwMode="auto">
            <a:xfrm>
              <a:off x="1724" y="3461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56" name="Freeform 64"/>
            <p:cNvSpPr>
              <a:spLocks noEditPoints="1"/>
            </p:cNvSpPr>
            <p:nvPr/>
          </p:nvSpPr>
          <p:spPr bwMode="auto">
            <a:xfrm>
              <a:off x="1724" y="3865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57" name="Rectangle 65"/>
            <p:cNvSpPr>
              <a:spLocks noChangeArrowheads="1"/>
            </p:cNvSpPr>
            <p:nvPr/>
          </p:nvSpPr>
          <p:spPr bwMode="auto">
            <a:xfrm>
              <a:off x="1724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58" name="Rectangle 66"/>
            <p:cNvSpPr>
              <a:spLocks noChangeArrowheads="1"/>
            </p:cNvSpPr>
            <p:nvPr/>
          </p:nvSpPr>
          <p:spPr bwMode="auto">
            <a:xfrm>
              <a:off x="2169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59" name="Freeform 67"/>
            <p:cNvSpPr>
              <a:spLocks noEditPoints="1"/>
            </p:cNvSpPr>
            <p:nvPr/>
          </p:nvSpPr>
          <p:spPr bwMode="auto">
            <a:xfrm>
              <a:off x="2169" y="225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60" name="Freeform 68"/>
            <p:cNvSpPr>
              <a:spLocks noEditPoints="1"/>
            </p:cNvSpPr>
            <p:nvPr/>
          </p:nvSpPr>
          <p:spPr bwMode="auto">
            <a:xfrm>
              <a:off x="2169" y="630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61" name="Freeform 69"/>
            <p:cNvSpPr>
              <a:spLocks noEditPoints="1"/>
            </p:cNvSpPr>
            <p:nvPr/>
          </p:nvSpPr>
          <p:spPr bwMode="auto">
            <a:xfrm>
              <a:off x="2169" y="1034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62" name="Freeform 70"/>
            <p:cNvSpPr>
              <a:spLocks noEditPoints="1"/>
            </p:cNvSpPr>
            <p:nvPr/>
          </p:nvSpPr>
          <p:spPr bwMode="auto">
            <a:xfrm>
              <a:off x="2169" y="1438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63" name="Freeform 71"/>
            <p:cNvSpPr>
              <a:spLocks noEditPoints="1"/>
            </p:cNvSpPr>
            <p:nvPr/>
          </p:nvSpPr>
          <p:spPr bwMode="auto">
            <a:xfrm>
              <a:off x="2169" y="1843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64" name="Freeform 72"/>
            <p:cNvSpPr>
              <a:spLocks noEditPoints="1"/>
            </p:cNvSpPr>
            <p:nvPr/>
          </p:nvSpPr>
          <p:spPr bwMode="auto">
            <a:xfrm>
              <a:off x="2169" y="2247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65" name="Freeform 73"/>
            <p:cNvSpPr>
              <a:spLocks noEditPoints="1"/>
            </p:cNvSpPr>
            <p:nvPr/>
          </p:nvSpPr>
          <p:spPr bwMode="auto">
            <a:xfrm>
              <a:off x="2169" y="2652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66" name="Freeform 74"/>
            <p:cNvSpPr>
              <a:spLocks noEditPoints="1"/>
            </p:cNvSpPr>
            <p:nvPr/>
          </p:nvSpPr>
          <p:spPr bwMode="auto">
            <a:xfrm>
              <a:off x="2169" y="3056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67" name="Freeform 75"/>
            <p:cNvSpPr>
              <a:spLocks noEditPoints="1"/>
            </p:cNvSpPr>
            <p:nvPr/>
          </p:nvSpPr>
          <p:spPr bwMode="auto">
            <a:xfrm>
              <a:off x="2169" y="3461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68" name="Freeform 76"/>
            <p:cNvSpPr>
              <a:spLocks noEditPoints="1"/>
            </p:cNvSpPr>
            <p:nvPr/>
          </p:nvSpPr>
          <p:spPr bwMode="auto">
            <a:xfrm>
              <a:off x="2169" y="3865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69" name="Rectangle 77"/>
            <p:cNvSpPr>
              <a:spLocks noChangeArrowheads="1"/>
            </p:cNvSpPr>
            <p:nvPr/>
          </p:nvSpPr>
          <p:spPr bwMode="auto">
            <a:xfrm>
              <a:off x="2169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70" name="Rectangle 78"/>
            <p:cNvSpPr>
              <a:spLocks noChangeArrowheads="1"/>
            </p:cNvSpPr>
            <p:nvPr/>
          </p:nvSpPr>
          <p:spPr bwMode="auto">
            <a:xfrm>
              <a:off x="262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71" name="Freeform 79"/>
            <p:cNvSpPr>
              <a:spLocks noEditPoints="1"/>
            </p:cNvSpPr>
            <p:nvPr/>
          </p:nvSpPr>
          <p:spPr bwMode="auto">
            <a:xfrm>
              <a:off x="2620" y="225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72" name="Freeform 80"/>
            <p:cNvSpPr>
              <a:spLocks noEditPoints="1"/>
            </p:cNvSpPr>
            <p:nvPr/>
          </p:nvSpPr>
          <p:spPr bwMode="auto">
            <a:xfrm>
              <a:off x="2620" y="630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73" name="Freeform 81"/>
            <p:cNvSpPr>
              <a:spLocks noEditPoints="1"/>
            </p:cNvSpPr>
            <p:nvPr/>
          </p:nvSpPr>
          <p:spPr bwMode="auto">
            <a:xfrm>
              <a:off x="2620" y="1034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74" name="Freeform 82"/>
            <p:cNvSpPr>
              <a:spLocks noEditPoints="1"/>
            </p:cNvSpPr>
            <p:nvPr/>
          </p:nvSpPr>
          <p:spPr bwMode="auto">
            <a:xfrm>
              <a:off x="2620" y="1438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75" name="Freeform 83"/>
            <p:cNvSpPr>
              <a:spLocks noEditPoints="1"/>
            </p:cNvSpPr>
            <p:nvPr/>
          </p:nvSpPr>
          <p:spPr bwMode="auto">
            <a:xfrm>
              <a:off x="2620" y="1843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76" name="Freeform 84"/>
            <p:cNvSpPr>
              <a:spLocks noEditPoints="1"/>
            </p:cNvSpPr>
            <p:nvPr/>
          </p:nvSpPr>
          <p:spPr bwMode="auto">
            <a:xfrm>
              <a:off x="2620" y="2247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77" name="Freeform 85"/>
            <p:cNvSpPr>
              <a:spLocks noEditPoints="1"/>
            </p:cNvSpPr>
            <p:nvPr/>
          </p:nvSpPr>
          <p:spPr bwMode="auto">
            <a:xfrm>
              <a:off x="2620" y="2652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78" name="Freeform 86"/>
            <p:cNvSpPr>
              <a:spLocks noEditPoints="1"/>
            </p:cNvSpPr>
            <p:nvPr/>
          </p:nvSpPr>
          <p:spPr bwMode="auto">
            <a:xfrm>
              <a:off x="2620" y="3056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79" name="Freeform 87"/>
            <p:cNvSpPr>
              <a:spLocks noEditPoints="1"/>
            </p:cNvSpPr>
            <p:nvPr/>
          </p:nvSpPr>
          <p:spPr bwMode="auto">
            <a:xfrm>
              <a:off x="2620" y="3461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80" name="Freeform 88"/>
            <p:cNvSpPr>
              <a:spLocks noEditPoints="1"/>
            </p:cNvSpPr>
            <p:nvPr/>
          </p:nvSpPr>
          <p:spPr bwMode="auto">
            <a:xfrm>
              <a:off x="2620" y="3865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81" name="Rectangle 89"/>
            <p:cNvSpPr>
              <a:spLocks noChangeArrowheads="1"/>
            </p:cNvSpPr>
            <p:nvPr/>
          </p:nvSpPr>
          <p:spPr bwMode="auto">
            <a:xfrm>
              <a:off x="262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82" name="Rectangle 90"/>
            <p:cNvSpPr>
              <a:spLocks noChangeArrowheads="1"/>
            </p:cNvSpPr>
            <p:nvPr/>
          </p:nvSpPr>
          <p:spPr bwMode="auto">
            <a:xfrm>
              <a:off x="3065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83" name="Freeform 91"/>
            <p:cNvSpPr>
              <a:spLocks noEditPoints="1"/>
            </p:cNvSpPr>
            <p:nvPr/>
          </p:nvSpPr>
          <p:spPr bwMode="auto">
            <a:xfrm>
              <a:off x="3065" y="225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84" name="Freeform 92"/>
            <p:cNvSpPr>
              <a:spLocks noEditPoints="1"/>
            </p:cNvSpPr>
            <p:nvPr/>
          </p:nvSpPr>
          <p:spPr bwMode="auto">
            <a:xfrm>
              <a:off x="3065" y="630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85" name="Freeform 93"/>
            <p:cNvSpPr>
              <a:spLocks noEditPoints="1"/>
            </p:cNvSpPr>
            <p:nvPr/>
          </p:nvSpPr>
          <p:spPr bwMode="auto">
            <a:xfrm>
              <a:off x="3065" y="1034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86" name="Freeform 94"/>
            <p:cNvSpPr>
              <a:spLocks noEditPoints="1"/>
            </p:cNvSpPr>
            <p:nvPr/>
          </p:nvSpPr>
          <p:spPr bwMode="auto">
            <a:xfrm>
              <a:off x="3065" y="1438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87" name="Freeform 95"/>
            <p:cNvSpPr>
              <a:spLocks noEditPoints="1"/>
            </p:cNvSpPr>
            <p:nvPr/>
          </p:nvSpPr>
          <p:spPr bwMode="auto">
            <a:xfrm>
              <a:off x="3065" y="1843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88" name="Freeform 96"/>
            <p:cNvSpPr>
              <a:spLocks noEditPoints="1"/>
            </p:cNvSpPr>
            <p:nvPr/>
          </p:nvSpPr>
          <p:spPr bwMode="auto">
            <a:xfrm>
              <a:off x="3065" y="2247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89" name="Freeform 97"/>
            <p:cNvSpPr>
              <a:spLocks noEditPoints="1"/>
            </p:cNvSpPr>
            <p:nvPr/>
          </p:nvSpPr>
          <p:spPr bwMode="auto">
            <a:xfrm>
              <a:off x="3065" y="2652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90" name="Freeform 98"/>
            <p:cNvSpPr>
              <a:spLocks noEditPoints="1"/>
            </p:cNvSpPr>
            <p:nvPr/>
          </p:nvSpPr>
          <p:spPr bwMode="auto">
            <a:xfrm>
              <a:off x="3065" y="3056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91" name="Freeform 99"/>
            <p:cNvSpPr>
              <a:spLocks noEditPoints="1"/>
            </p:cNvSpPr>
            <p:nvPr/>
          </p:nvSpPr>
          <p:spPr bwMode="auto">
            <a:xfrm>
              <a:off x="3065" y="3461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92" name="Freeform 100"/>
            <p:cNvSpPr>
              <a:spLocks noEditPoints="1"/>
            </p:cNvSpPr>
            <p:nvPr/>
          </p:nvSpPr>
          <p:spPr bwMode="auto">
            <a:xfrm>
              <a:off x="3065" y="3865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93" name="Rectangle 101"/>
            <p:cNvSpPr>
              <a:spLocks noChangeArrowheads="1"/>
            </p:cNvSpPr>
            <p:nvPr/>
          </p:nvSpPr>
          <p:spPr bwMode="auto">
            <a:xfrm>
              <a:off x="3065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94" name="Rectangle 102"/>
            <p:cNvSpPr>
              <a:spLocks noChangeArrowheads="1"/>
            </p:cNvSpPr>
            <p:nvPr/>
          </p:nvSpPr>
          <p:spPr bwMode="auto">
            <a:xfrm>
              <a:off x="351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95" name="Freeform 103"/>
            <p:cNvSpPr>
              <a:spLocks noEditPoints="1"/>
            </p:cNvSpPr>
            <p:nvPr/>
          </p:nvSpPr>
          <p:spPr bwMode="auto">
            <a:xfrm>
              <a:off x="3510" y="225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96" name="Freeform 104"/>
            <p:cNvSpPr>
              <a:spLocks noEditPoints="1"/>
            </p:cNvSpPr>
            <p:nvPr/>
          </p:nvSpPr>
          <p:spPr bwMode="auto">
            <a:xfrm>
              <a:off x="3510" y="630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97" name="Freeform 105"/>
            <p:cNvSpPr>
              <a:spLocks noEditPoints="1"/>
            </p:cNvSpPr>
            <p:nvPr/>
          </p:nvSpPr>
          <p:spPr bwMode="auto">
            <a:xfrm>
              <a:off x="3510" y="1034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98" name="Freeform 106"/>
            <p:cNvSpPr>
              <a:spLocks noEditPoints="1"/>
            </p:cNvSpPr>
            <p:nvPr/>
          </p:nvSpPr>
          <p:spPr bwMode="auto">
            <a:xfrm>
              <a:off x="3510" y="1438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99" name="Freeform 107"/>
            <p:cNvSpPr>
              <a:spLocks noEditPoints="1"/>
            </p:cNvSpPr>
            <p:nvPr/>
          </p:nvSpPr>
          <p:spPr bwMode="auto">
            <a:xfrm>
              <a:off x="3510" y="1843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00" name="Freeform 108"/>
            <p:cNvSpPr>
              <a:spLocks noEditPoints="1"/>
            </p:cNvSpPr>
            <p:nvPr/>
          </p:nvSpPr>
          <p:spPr bwMode="auto">
            <a:xfrm>
              <a:off x="3510" y="2247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01" name="Freeform 109"/>
            <p:cNvSpPr>
              <a:spLocks noEditPoints="1"/>
            </p:cNvSpPr>
            <p:nvPr/>
          </p:nvSpPr>
          <p:spPr bwMode="auto">
            <a:xfrm>
              <a:off x="3510" y="2652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02" name="Freeform 110"/>
            <p:cNvSpPr>
              <a:spLocks noEditPoints="1"/>
            </p:cNvSpPr>
            <p:nvPr/>
          </p:nvSpPr>
          <p:spPr bwMode="auto">
            <a:xfrm>
              <a:off x="3510" y="3056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03" name="Freeform 111"/>
            <p:cNvSpPr>
              <a:spLocks noEditPoints="1"/>
            </p:cNvSpPr>
            <p:nvPr/>
          </p:nvSpPr>
          <p:spPr bwMode="auto">
            <a:xfrm>
              <a:off x="3510" y="3461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04" name="Freeform 112"/>
            <p:cNvSpPr>
              <a:spLocks noEditPoints="1"/>
            </p:cNvSpPr>
            <p:nvPr/>
          </p:nvSpPr>
          <p:spPr bwMode="auto">
            <a:xfrm>
              <a:off x="3510" y="3865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05" name="Rectangle 113"/>
            <p:cNvSpPr>
              <a:spLocks noChangeArrowheads="1"/>
            </p:cNvSpPr>
            <p:nvPr/>
          </p:nvSpPr>
          <p:spPr bwMode="auto">
            <a:xfrm>
              <a:off x="351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06" name="Rectangle 114"/>
            <p:cNvSpPr>
              <a:spLocks noChangeArrowheads="1"/>
            </p:cNvSpPr>
            <p:nvPr/>
          </p:nvSpPr>
          <p:spPr bwMode="auto">
            <a:xfrm>
              <a:off x="396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07" name="Freeform 115"/>
            <p:cNvSpPr>
              <a:spLocks noEditPoints="1"/>
            </p:cNvSpPr>
            <p:nvPr/>
          </p:nvSpPr>
          <p:spPr bwMode="auto">
            <a:xfrm>
              <a:off x="3960" y="225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08" name="Freeform 116"/>
            <p:cNvSpPr>
              <a:spLocks noEditPoints="1"/>
            </p:cNvSpPr>
            <p:nvPr/>
          </p:nvSpPr>
          <p:spPr bwMode="auto">
            <a:xfrm>
              <a:off x="3960" y="630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09" name="Freeform 117"/>
            <p:cNvSpPr>
              <a:spLocks noEditPoints="1"/>
            </p:cNvSpPr>
            <p:nvPr/>
          </p:nvSpPr>
          <p:spPr bwMode="auto">
            <a:xfrm>
              <a:off x="3960" y="1034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10" name="Freeform 118"/>
            <p:cNvSpPr>
              <a:spLocks noEditPoints="1"/>
            </p:cNvSpPr>
            <p:nvPr/>
          </p:nvSpPr>
          <p:spPr bwMode="auto">
            <a:xfrm>
              <a:off x="3960" y="1438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11" name="Freeform 119"/>
            <p:cNvSpPr>
              <a:spLocks noEditPoints="1"/>
            </p:cNvSpPr>
            <p:nvPr/>
          </p:nvSpPr>
          <p:spPr bwMode="auto">
            <a:xfrm>
              <a:off x="3960" y="1843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12" name="Freeform 120"/>
            <p:cNvSpPr>
              <a:spLocks noEditPoints="1"/>
            </p:cNvSpPr>
            <p:nvPr/>
          </p:nvSpPr>
          <p:spPr bwMode="auto">
            <a:xfrm>
              <a:off x="3960" y="2247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13" name="Freeform 121"/>
            <p:cNvSpPr>
              <a:spLocks noEditPoints="1"/>
            </p:cNvSpPr>
            <p:nvPr/>
          </p:nvSpPr>
          <p:spPr bwMode="auto">
            <a:xfrm>
              <a:off x="3960" y="2652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14" name="Freeform 122"/>
            <p:cNvSpPr>
              <a:spLocks noEditPoints="1"/>
            </p:cNvSpPr>
            <p:nvPr/>
          </p:nvSpPr>
          <p:spPr bwMode="auto">
            <a:xfrm>
              <a:off x="3960" y="3056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15" name="Freeform 123"/>
            <p:cNvSpPr>
              <a:spLocks noEditPoints="1"/>
            </p:cNvSpPr>
            <p:nvPr/>
          </p:nvSpPr>
          <p:spPr bwMode="auto">
            <a:xfrm>
              <a:off x="3960" y="3461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16" name="Freeform 124"/>
            <p:cNvSpPr>
              <a:spLocks noEditPoints="1"/>
            </p:cNvSpPr>
            <p:nvPr/>
          </p:nvSpPr>
          <p:spPr bwMode="auto">
            <a:xfrm>
              <a:off x="3960" y="3865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17" name="Rectangle 125"/>
            <p:cNvSpPr>
              <a:spLocks noChangeArrowheads="1"/>
            </p:cNvSpPr>
            <p:nvPr/>
          </p:nvSpPr>
          <p:spPr bwMode="auto">
            <a:xfrm>
              <a:off x="396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18" name="Rectangle 126"/>
            <p:cNvSpPr>
              <a:spLocks noChangeArrowheads="1"/>
            </p:cNvSpPr>
            <p:nvPr/>
          </p:nvSpPr>
          <p:spPr bwMode="auto">
            <a:xfrm>
              <a:off x="4405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19" name="Freeform 127"/>
            <p:cNvSpPr>
              <a:spLocks noEditPoints="1"/>
            </p:cNvSpPr>
            <p:nvPr/>
          </p:nvSpPr>
          <p:spPr bwMode="auto">
            <a:xfrm>
              <a:off x="4405" y="225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20" name="Freeform 128"/>
            <p:cNvSpPr>
              <a:spLocks noEditPoints="1"/>
            </p:cNvSpPr>
            <p:nvPr/>
          </p:nvSpPr>
          <p:spPr bwMode="auto">
            <a:xfrm>
              <a:off x="4405" y="630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21" name="Freeform 129"/>
            <p:cNvSpPr>
              <a:spLocks noEditPoints="1"/>
            </p:cNvSpPr>
            <p:nvPr/>
          </p:nvSpPr>
          <p:spPr bwMode="auto">
            <a:xfrm>
              <a:off x="4405" y="1034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22" name="Freeform 130"/>
            <p:cNvSpPr>
              <a:spLocks noEditPoints="1"/>
            </p:cNvSpPr>
            <p:nvPr/>
          </p:nvSpPr>
          <p:spPr bwMode="auto">
            <a:xfrm>
              <a:off x="4405" y="1438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23" name="Freeform 131"/>
            <p:cNvSpPr>
              <a:spLocks noEditPoints="1"/>
            </p:cNvSpPr>
            <p:nvPr/>
          </p:nvSpPr>
          <p:spPr bwMode="auto">
            <a:xfrm>
              <a:off x="4405" y="1843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24" name="Freeform 132"/>
            <p:cNvSpPr>
              <a:spLocks noEditPoints="1"/>
            </p:cNvSpPr>
            <p:nvPr/>
          </p:nvSpPr>
          <p:spPr bwMode="auto">
            <a:xfrm>
              <a:off x="4405" y="2247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25" name="Freeform 133"/>
            <p:cNvSpPr>
              <a:spLocks noEditPoints="1"/>
            </p:cNvSpPr>
            <p:nvPr/>
          </p:nvSpPr>
          <p:spPr bwMode="auto">
            <a:xfrm>
              <a:off x="4405" y="2652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26" name="Freeform 134"/>
            <p:cNvSpPr>
              <a:spLocks noEditPoints="1"/>
            </p:cNvSpPr>
            <p:nvPr/>
          </p:nvSpPr>
          <p:spPr bwMode="auto">
            <a:xfrm>
              <a:off x="4405" y="3056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27" name="Freeform 135"/>
            <p:cNvSpPr>
              <a:spLocks noEditPoints="1"/>
            </p:cNvSpPr>
            <p:nvPr/>
          </p:nvSpPr>
          <p:spPr bwMode="auto">
            <a:xfrm>
              <a:off x="4405" y="3461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28" name="Freeform 136"/>
            <p:cNvSpPr>
              <a:spLocks noEditPoints="1"/>
            </p:cNvSpPr>
            <p:nvPr/>
          </p:nvSpPr>
          <p:spPr bwMode="auto">
            <a:xfrm>
              <a:off x="4405" y="3865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29" name="Rectangle 137"/>
            <p:cNvSpPr>
              <a:spLocks noChangeArrowheads="1"/>
            </p:cNvSpPr>
            <p:nvPr/>
          </p:nvSpPr>
          <p:spPr bwMode="auto">
            <a:xfrm>
              <a:off x="4405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30" name="Rectangle 138"/>
            <p:cNvSpPr>
              <a:spLocks noChangeArrowheads="1"/>
            </p:cNvSpPr>
            <p:nvPr/>
          </p:nvSpPr>
          <p:spPr bwMode="auto">
            <a:xfrm>
              <a:off x="485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31" name="Freeform 139"/>
            <p:cNvSpPr>
              <a:spLocks noEditPoints="1"/>
            </p:cNvSpPr>
            <p:nvPr/>
          </p:nvSpPr>
          <p:spPr bwMode="auto">
            <a:xfrm>
              <a:off x="4850" y="225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32" name="Freeform 140"/>
            <p:cNvSpPr>
              <a:spLocks noEditPoints="1"/>
            </p:cNvSpPr>
            <p:nvPr/>
          </p:nvSpPr>
          <p:spPr bwMode="auto">
            <a:xfrm>
              <a:off x="4850" y="630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33" name="Freeform 141"/>
            <p:cNvSpPr>
              <a:spLocks noEditPoints="1"/>
            </p:cNvSpPr>
            <p:nvPr/>
          </p:nvSpPr>
          <p:spPr bwMode="auto">
            <a:xfrm>
              <a:off x="4850" y="1034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34" name="Freeform 142"/>
            <p:cNvSpPr>
              <a:spLocks noEditPoints="1"/>
            </p:cNvSpPr>
            <p:nvPr/>
          </p:nvSpPr>
          <p:spPr bwMode="auto">
            <a:xfrm>
              <a:off x="4850" y="1438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35" name="Freeform 143"/>
            <p:cNvSpPr>
              <a:spLocks noEditPoints="1"/>
            </p:cNvSpPr>
            <p:nvPr/>
          </p:nvSpPr>
          <p:spPr bwMode="auto">
            <a:xfrm>
              <a:off x="4850" y="1843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36" name="Freeform 144"/>
            <p:cNvSpPr>
              <a:spLocks noEditPoints="1"/>
            </p:cNvSpPr>
            <p:nvPr/>
          </p:nvSpPr>
          <p:spPr bwMode="auto">
            <a:xfrm>
              <a:off x="4850" y="2247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37" name="Freeform 145"/>
            <p:cNvSpPr>
              <a:spLocks noEditPoints="1"/>
            </p:cNvSpPr>
            <p:nvPr/>
          </p:nvSpPr>
          <p:spPr bwMode="auto">
            <a:xfrm>
              <a:off x="4850" y="2652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38" name="Freeform 146"/>
            <p:cNvSpPr>
              <a:spLocks noEditPoints="1"/>
            </p:cNvSpPr>
            <p:nvPr/>
          </p:nvSpPr>
          <p:spPr bwMode="auto">
            <a:xfrm>
              <a:off x="4850" y="3056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39" name="Freeform 147"/>
            <p:cNvSpPr>
              <a:spLocks noEditPoints="1"/>
            </p:cNvSpPr>
            <p:nvPr/>
          </p:nvSpPr>
          <p:spPr bwMode="auto">
            <a:xfrm>
              <a:off x="4850" y="3461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40" name="Freeform 148"/>
            <p:cNvSpPr>
              <a:spLocks noEditPoints="1"/>
            </p:cNvSpPr>
            <p:nvPr/>
          </p:nvSpPr>
          <p:spPr bwMode="auto">
            <a:xfrm>
              <a:off x="4850" y="3865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41" name="Rectangle 149"/>
            <p:cNvSpPr>
              <a:spLocks noChangeArrowheads="1"/>
            </p:cNvSpPr>
            <p:nvPr/>
          </p:nvSpPr>
          <p:spPr bwMode="auto">
            <a:xfrm>
              <a:off x="485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42" name="Rectangle 150"/>
            <p:cNvSpPr>
              <a:spLocks noChangeArrowheads="1"/>
            </p:cNvSpPr>
            <p:nvPr/>
          </p:nvSpPr>
          <p:spPr bwMode="auto">
            <a:xfrm>
              <a:off x="530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43" name="Freeform 151"/>
            <p:cNvSpPr>
              <a:spLocks noEditPoints="1"/>
            </p:cNvSpPr>
            <p:nvPr/>
          </p:nvSpPr>
          <p:spPr bwMode="auto">
            <a:xfrm>
              <a:off x="5300" y="225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44" name="Freeform 152"/>
            <p:cNvSpPr>
              <a:spLocks noEditPoints="1"/>
            </p:cNvSpPr>
            <p:nvPr/>
          </p:nvSpPr>
          <p:spPr bwMode="auto">
            <a:xfrm>
              <a:off x="5300" y="630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45" name="Freeform 153"/>
            <p:cNvSpPr>
              <a:spLocks noEditPoints="1"/>
            </p:cNvSpPr>
            <p:nvPr/>
          </p:nvSpPr>
          <p:spPr bwMode="auto">
            <a:xfrm>
              <a:off x="5300" y="1034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46" name="Freeform 154"/>
            <p:cNvSpPr>
              <a:spLocks noEditPoints="1"/>
            </p:cNvSpPr>
            <p:nvPr/>
          </p:nvSpPr>
          <p:spPr bwMode="auto">
            <a:xfrm>
              <a:off x="5300" y="1438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47" name="Freeform 155"/>
            <p:cNvSpPr>
              <a:spLocks noEditPoints="1"/>
            </p:cNvSpPr>
            <p:nvPr/>
          </p:nvSpPr>
          <p:spPr bwMode="auto">
            <a:xfrm>
              <a:off x="5300" y="1843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48" name="Freeform 156"/>
            <p:cNvSpPr>
              <a:spLocks noEditPoints="1"/>
            </p:cNvSpPr>
            <p:nvPr/>
          </p:nvSpPr>
          <p:spPr bwMode="auto">
            <a:xfrm>
              <a:off x="5300" y="2247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49" name="Freeform 157"/>
            <p:cNvSpPr>
              <a:spLocks noEditPoints="1"/>
            </p:cNvSpPr>
            <p:nvPr/>
          </p:nvSpPr>
          <p:spPr bwMode="auto">
            <a:xfrm>
              <a:off x="5300" y="2652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50" name="Freeform 158"/>
            <p:cNvSpPr>
              <a:spLocks noEditPoints="1"/>
            </p:cNvSpPr>
            <p:nvPr/>
          </p:nvSpPr>
          <p:spPr bwMode="auto">
            <a:xfrm>
              <a:off x="5300" y="3056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51" name="Freeform 159"/>
            <p:cNvSpPr>
              <a:spLocks noEditPoints="1"/>
            </p:cNvSpPr>
            <p:nvPr/>
          </p:nvSpPr>
          <p:spPr bwMode="auto">
            <a:xfrm>
              <a:off x="5300" y="3461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52" name="Freeform 160"/>
            <p:cNvSpPr>
              <a:spLocks noEditPoints="1"/>
            </p:cNvSpPr>
            <p:nvPr/>
          </p:nvSpPr>
          <p:spPr bwMode="auto">
            <a:xfrm>
              <a:off x="5300" y="3865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53" name="Rectangle 161"/>
            <p:cNvSpPr>
              <a:spLocks noChangeArrowheads="1"/>
            </p:cNvSpPr>
            <p:nvPr/>
          </p:nvSpPr>
          <p:spPr bwMode="auto">
            <a:xfrm>
              <a:off x="530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54" name="Freeform 162"/>
            <p:cNvSpPr>
              <a:spLocks/>
            </p:cNvSpPr>
            <p:nvPr/>
          </p:nvSpPr>
          <p:spPr bwMode="auto">
            <a:xfrm>
              <a:off x="349" y="3304"/>
              <a:ext cx="20" cy="1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4" h="2">
                  <a:moveTo>
                    <a:pt x="0" y="1"/>
                  </a:moveTo>
                  <a:cubicBezTo>
                    <a:pt x="1" y="2"/>
                    <a:pt x="4" y="0"/>
                    <a:pt x="0" y="1"/>
                  </a:cubicBez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5155" name="Rectangle 163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0574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5156" name="Rectangle 164"/>
          <p:cNvSpPr>
            <a:spLocks noGrp="1" noChangeArrowheads="1"/>
          </p:cNvSpPr>
          <p:nvPr>
            <p:ph type="dt" sz="half" idx="2"/>
          </p:nvPr>
        </p:nvSpPr>
        <p:spPr>
          <a:xfrm>
            <a:off x="301625" y="624840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5157" name="Rectangle 16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5158" name="Rectangle 16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fld id="{87B09D19-C004-41B6-AAF3-C2F91998F0D6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85159" name="Rectangle 167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505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grpSp>
        <p:nvGrpSpPr>
          <p:cNvPr id="85160" name="Group 168"/>
          <p:cNvGrpSpPr>
            <a:grpSpLocks/>
          </p:cNvGrpSpPr>
          <p:nvPr/>
        </p:nvGrpSpPr>
        <p:grpSpPr bwMode="auto">
          <a:xfrm>
            <a:off x="152400" y="4724400"/>
            <a:ext cx="1685925" cy="1557338"/>
            <a:chOff x="96" y="2784"/>
            <a:chExt cx="1062" cy="981"/>
          </a:xfrm>
        </p:grpSpPr>
        <p:sp>
          <p:nvSpPr>
            <p:cNvPr id="85161" name="Freeform 169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/>
              <a:ahLst/>
              <a:cxnLst>
                <a:cxn ang="0">
                  <a:pos x="30" y="12"/>
                </a:cxn>
                <a:cxn ang="0">
                  <a:pos x="37" y="10"/>
                </a:cxn>
                <a:cxn ang="0">
                  <a:pos x="38" y="9"/>
                </a:cxn>
                <a:cxn ang="0">
                  <a:pos x="31" y="1"/>
                </a:cxn>
                <a:cxn ang="0">
                  <a:pos x="8" y="11"/>
                </a:cxn>
                <a:cxn ang="0">
                  <a:pos x="30" y="12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folHlink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62" name="Freeform 170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/>
              <a:ahLst/>
              <a:cxnLst>
                <a:cxn ang="0">
                  <a:pos x="163" y="155"/>
                </a:cxn>
                <a:cxn ang="0">
                  <a:pos x="152" y="125"/>
                </a:cxn>
                <a:cxn ang="0">
                  <a:pos x="142" y="99"/>
                </a:cxn>
                <a:cxn ang="0">
                  <a:pos x="165" y="93"/>
                </a:cxn>
                <a:cxn ang="0">
                  <a:pos x="146" y="82"/>
                </a:cxn>
                <a:cxn ang="0">
                  <a:pos x="157" y="83"/>
                </a:cxn>
                <a:cxn ang="0">
                  <a:pos x="157" y="77"/>
                </a:cxn>
                <a:cxn ang="0">
                  <a:pos x="135" y="78"/>
                </a:cxn>
                <a:cxn ang="0">
                  <a:pos x="128" y="125"/>
                </a:cxn>
                <a:cxn ang="0">
                  <a:pos x="124" y="84"/>
                </a:cxn>
                <a:cxn ang="0">
                  <a:pos x="118" y="67"/>
                </a:cxn>
                <a:cxn ang="0">
                  <a:pos x="124" y="51"/>
                </a:cxn>
                <a:cxn ang="0">
                  <a:pos x="121" y="37"/>
                </a:cxn>
                <a:cxn ang="0">
                  <a:pos x="119" y="24"/>
                </a:cxn>
                <a:cxn ang="0">
                  <a:pos x="132" y="39"/>
                </a:cxn>
                <a:cxn ang="0">
                  <a:pos x="149" y="18"/>
                </a:cxn>
                <a:cxn ang="0">
                  <a:pos x="147" y="36"/>
                </a:cxn>
                <a:cxn ang="0">
                  <a:pos x="143" y="48"/>
                </a:cxn>
                <a:cxn ang="0">
                  <a:pos x="144" y="67"/>
                </a:cxn>
                <a:cxn ang="0">
                  <a:pos x="199" y="29"/>
                </a:cxn>
                <a:cxn ang="0">
                  <a:pos x="90" y="1"/>
                </a:cxn>
                <a:cxn ang="0">
                  <a:pos x="56" y="8"/>
                </a:cxn>
                <a:cxn ang="0">
                  <a:pos x="85" y="12"/>
                </a:cxn>
                <a:cxn ang="0">
                  <a:pos x="60" y="22"/>
                </a:cxn>
                <a:cxn ang="0">
                  <a:pos x="58" y="29"/>
                </a:cxn>
                <a:cxn ang="0">
                  <a:pos x="38" y="17"/>
                </a:cxn>
                <a:cxn ang="0">
                  <a:pos x="13" y="115"/>
                </a:cxn>
                <a:cxn ang="0">
                  <a:pos x="61" y="146"/>
                </a:cxn>
                <a:cxn ang="0">
                  <a:pos x="45" y="133"/>
                </a:cxn>
                <a:cxn ang="0">
                  <a:pos x="35" y="145"/>
                </a:cxn>
                <a:cxn ang="0">
                  <a:pos x="32" y="128"/>
                </a:cxn>
                <a:cxn ang="0">
                  <a:pos x="46" y="86"/>
                </a:cxn>
                <a:cxn ang="0">
                  <a:pos x="67" y="83"/>
                </a:cxn>
                <a:cxn ang="0">
                  <a:pos x="71" y="95"/>
                </a:cxn>
                <a:cxn ang="0">
                  <a:pos x="61" y="121"/>
                </a:cxn>
                <a:cxn ang="0">
                  <a:pos x="91" y="180"/>
                </a:cxn>
                <a:cxn ang="0">
                  <a:pos x="186" y="166"/>
                </a:cxn>
                <a:cxn ang="0">
                  <a:pos x="182" y="66"/>
                </a:cxn>
                <a:cxn ang="0">
                  <a:pos x="165" y="60"/>
                </a:cxn>
                <a:cxn ang="0">
                  <a:pos x="113" y="61"/>
                </a:cxn>
                <a:cxn ang="0">
                  <a:pos x="108" y="87"/>
                </a:cxn>
                <a:cxn ang="0">
                  <a:pos x="114" y="50"/>
                </a:cxn>
                <a:cxn ang="0">
                  <a:pos x="89" y="26"/>
                </a:cxn>
                <a:cxn ang="0">
                  <a:pos x="105" y="35"/>
                </a:cxn>
                <a:cxn ang="0">
                  <a:pos x="61" y="72"/>
                </a:cxn>
                <a:cxn ang="0">
                  <a:pos x="24" y="37"/>
                </a:cxn>
                <a:cxn ang="0">
                  <a:pos x="68" y="40"/>
                </a:cxn>
                <a:cxn ang="0">
                  <a:pos x="79" y="40"/>
                </a:cxn>
                <a:cxn ang="0">
                  <a:pos x="108" y="45"/>
                </a:cxn>
                <a:cxn ang="0">
                  <a:pos x="99" y="93"/>
                </a:cxn>
                <a:cxn ang="0">
                  <a:pos x="93" y="51"/>
                </a:cxn>
                <a:cxn ang="0">
                  <a:pos x="61" y="72"/>
                </a:cxn>
                <a:cxn ang="0">
                  <a:pos x="80" y="82"/>
                </a:cxn>
                <a:cxn ang="0">
                  <a:pos x="88" y="58"/>
                </a:cxn>
                <a:cxn ang="0">
                  <a:pos x="102" y="145"/>
                </a:cxn>
                <a:cxn ang="0">
                  <a:pos x="82" y="96"/>
                </a:cxn>
                <a:cxn ang="0">
                  <a:pos x="117" y="106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folHlink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63" name="Freeform 171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/>
              <a:ahLst/>
              <a:cxnLst>
                <a:cxn ang="0">
                  <a:pos x="14" y="5"/>
                </a:cxn>
                <a:cxn ang="0">
                  <a:pos x="9" y="20"/>
                </a:cxn>
                <a:cxn ang="0">
                  <a:pos x="14" y="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folHlink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64" name="Freeform 172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/>
              <a:ahLst/>
              <a:cxnLst>
                <a:cxn ang="0">
                  <a:pos x="7" y="10"/>
                </a:cxn>
                <a:cxn ang="0">
                  <a:pos x="4" y="25"/>
                </a:cxn>
                <a:cxn ang="0">
                  <a:pos x="15" y="16"/>
                </a:cxn>
                <a:cxn ang="0">
                  <a:pos x="13" y="8"/>
                </a:cxn>
                <a:cxn ang="0">
                  <a:pos x="7" y="10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folHlink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65" name="Freeform 173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/>
              <a:ahLst/>
              <a:cxnLst>
                <a:cxn ang="0">
                  <a:pos x="40" y="2"/>
                </a:cxn>
                <a:cxn ang="0">
                  <a:pos x="9" y="1"/>
                </a:cxn>
                <a:cxn ang="0">
                  <a:pos x="1" y="9"/>
                </a:cxn>
                <a:cxn ang="0">
                  <a:pos x="22" y="21"/>
                </a:cxn>
                <a:cxn ang="0">
                  <a:pos x="34" y="20"/>
                </a:cxn>
                <a:cxn ang="0">
                  <a:pos x="40" y="19"/>
                </a:cxn>
                <a:cxn ang="0">
                  <a:pos x="40" y="2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folHlink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66" name="Freeform 174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/>
              <a:ahLst/>
              <a:cxnLst>
                <a:cxn ang="0">
                  <a:pos x="24" y="2"/>
                </a:cxn>
                <a:cxn ang="0">
                  <a:pos x="11" y="2"/>
                </a:cxn>
                <a:cxn ang="0">
                  <a:pos x="4" y="20"/>
                </a:cxn>
                <a:cxn ang="0">
                  <a:pos x="28" y="22"/>
                </a:cxn>
                <a:cxn ang="0">
                  <a:pos x="24" y="2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folHlink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67" name="Freeform 175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4" y="5"/>
                </a:cxn>
                <a:cxn ang="0">
                  <a:pos x="5" y="0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folHlink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68" name="Freeform 176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/>
              <a:ahLst/>
              <a:cxnLst>
                <a:cxn ang="0">
                  <a:pos x="7" y="13"/>
                </a:cxn>
                <a:cxn ang="0">
                  <a:pos x="25" y="6"/>
                </a:cxn>
                <a:cxn ang="0">
                  <a:pos x="17" y="1"/>
                </a:cxn>
                <a:cxn ang="0">
                  <a:pos x="7" y="11"/>
                </a:cxn>
                <a:cxn ang="0">
                  <a:pos x="7" y="13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folHlink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69" name="Freeform 177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/>
              <a:ahLst/>
              <a:cxnLst>
                <a:cxn ang="0">
                  <a:pos x="25" y="6"/>
                </a:cxn>
                <a:cxn ang="0">
                  <a:pos x="8" y="10"/>
                </a:cxn>
                <a:cxn ang="0">
                  <a:pos x="6" y="13"/>
                </a:cxn>
                <a:cxn ang="0">
                  <a:pos x="27" y="12"/>
                </a:cxn>
                <a:cxn ang="0">
                  <a:pos x="25" y="6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folHlink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70" name="Freeform 178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/>
              <a:ahLst/>
              <a:cxnLst>
                <a:cxn ang="0">
                  <a:pos x="40" y="3"/>
                </a:cxn>
                <a:cxn ang="0">
                  <a:pos x="29" y="1"/>
                </a:cxn>
                <a:cxn ang="0">
                  <a:pos x="7" y="0"/>
                </a:cxn>
                <a:cxn ang="0">
                  <a:pos x="2" y="5"/>
                </a:cxn>
                <a:cxn ang="0">
                  <a:pos x="20" y="8"/>
                </a:cxn>
                <a:cxn ang="0">
                  <a:pos x="41" y="8"/>
                </a:cxn>
                <a:cxn ang="0">
                  <a:pos x="40" y="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folHlink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71" name="Freeform 179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/>
              <a:ahLst/>
              <a:cxnLst>
                <a:cxn ang="0">
                  <a:pos x="37" y="2"/>
                </a:cxn>
                <a:cxn ang="0">
                  <a:pos x="26" y="4"/>
                </a:cxn>
                <a:cxn ang="0">
                  <a:pos x="13" y="3"/>
                </a:cxn>
                <a:cxn ang="0">
                  <a:pos x="1" y="2"/>
                </a:cxn>
                <a:cxn ang="0">
                  <a:pos x="35" y="8"/>
                </a:cxn>
                <a:cxn ang="0">
                  <a:pos x="37" y="2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folHlink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72" name="Freeform 180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/>
              <a:ahLst/>
              <a:cxnLst>
                <a:cxn ang="0">
                  <a:pos x="28" y="9"/>
                </a:cxn>
                <a:cxn ang="0">
                  <a:pos x="13" y="6"/>
                </a:cxn>
                <a:cxn ang="0">
                  <a:pos x="4" y="15"/>
                </a:cxn>
                <a:cxn ang="0">
                  <a:pos x="1" y="19"/>
                </a:cxn>
                <a:cxn ang="0">
                  <a:pos x="9" y="19"/>
                </a:cxn>
                <a:cxn ang="0">
                  <a:pos x="17" y="27"/>
                </a:cxn>
                <a:cxn ang="0">
                  <a:pos x="21" y="30"/>
                </a:cxn>
                <a:cxn ang="0">
                  <a:pos x="29" y="19"/>
                </a:cxn>
                <a:cxn ang="0">
                  <a:pos x="39" y="19"/>
                </a:cxn>
                <a:cxn ang="0">
                  <a:pos x="28" y="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folHlink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173" name="Freeform 181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/>
              <a:ahLst/>
              <a:cxnLst>
                <a:cxn ang="0">
                  <a:pos x="22" y="2"/>
                </a:cxn>
                <a:cxn ang="0">
                  <a:pos x="18" y="17"/>
                </a:cxn>
                <a:cxn ang="0">
                  <a:pos x="7" y="20"/>
                </a:cxn>
                <a:cxn ang="0">
                  <a:pos x="7" y="23"/>
                </a:cxn>
                <a:cxn ang="0">
                  <a:pos x="17" y="34"/>
                </a:cxn>
                <a:cxn ang="0">
                  <a:pos x="12" y="45"/>
                </a:cxn>
                <a:cxn ang="0">
                  <a:pos x="0" y="55"/>
                </a:cxn>
                <a:cxn ang="0">
                  <a:pos x="5" y="58"/>
                </a:cxn>
                <a:cxn ang="0">
                  <a:pos x="16" y="62"/>
                </a:cxn>
                <a:cxn ang="0">
                  <a:pos x="23" y="57"/>
                </a:cxn>
                <a:cxn ang="0">
                  <a:pos x="25" y="14"/>
                </a:cxn>
                <a:cxn ang="0">
                  <a:pos x="25" y="2"/>
                </a:cxn>
                <a:cxn ang="0">
                  <a:pos x="22" y="2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folHlink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A61D50-144C-461A-93AF-22448373D0A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B85932-580B-4B68-8946-1A7AAA05378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4000500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62500" y="1600200"/>
            <a:ext cx="4000500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73E475-6698-450D-8148-B2FDE82ABE6B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6D98F9-B58D-4310-98C9-8CE02EB55F6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311E57-E7E5-4CE7-8192-C6990729F05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2FC34F-5949-41F2-A1E0-7AAF0B765E6C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F79CA1-EC13-4734-B277-6AB3D055489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F2A8AF-E866-493D-BA37-1A35532AB8B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B20F39-17F1-4BD9-ADBC-FD5ABC1F5EE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4013" y="228600"/>
            <a:ext cx="2135187" cy="58705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98450" y="228600"/>
            <a:ext cx="6253163" cy="58705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A73B76-EFF5-4F45-8EFE-07CE4CE077A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8450" y="228600"/>
            <a:ext cx="854075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4000500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62500" y="1600200"/>
            <a:ext cx="4000500" cy="21732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762500" y="3925888"/>
            <a:ext cx="4000500" cy="21732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298450" y="6245225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121025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550025" y="6245225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fld id="{96966C7A-7503-46D2-89FE-8E5FFF7BE9F3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8450" y="228600"/>
            <a:ext cx="854075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4000500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62500" y="1600200"/>
            <a:ext cx="4000500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298450" y="6245225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1025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0025" y="6245225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fld id="{86390C9C-3B06-4959-8452-7B4943098E10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970" name="Group 2"/>
          <p:cNvGrpSpPr>
            <a:grpSpLocks/>
          </p:cNvGrpSpPr>
          <p:nvPr/>
        </p:nvGrpSpPr>
        <p:grpSpPr bwMode="auto">
          <a:xfrm>
            <a:off x="566738" y="0"/>
            <a:ext cx="7891462" cy="6821488"/>
            <a:chOff x="349" y="23"/>
            <a:chExt cx="4971" cy="4297"/>
          </a:xfrm>
        </p:grpSpPr>
        <p:sp>
          <p:nvSpPr>
            <p:cNvPr id="83971" name="Rectangle 3"/>
            <p:cNvSpPr>
              <a:spLocks noChangeArrowheads="1"/>
            </p:cNvSpPr>
            <p:nvPr/>
          </p:nvSpPr>
          <p:spPr bwMode="auto">
            <a:xfrm>
              <a:off x="384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72" name="Freeform 4"/>
            <p:cNvSpPr>
              <a:spLocks noEditPoints="1"/>
            </p:cNvSpPr>
            <p:nvPr/>
          </p:nvSpPr>
          <p:spPr bwMode="auto">
            <a:xfrm>
              <a:off x="384" y="225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73" name="Freeform 5"/>
            <p:cNvSpPr>
              <a:spLocks noEditPoints="1"/>
            </p:cNvSpPr>
            <p:nvPr/>
          </p:nvSpPr>
          <p:spPr bwMode="auto">
            <a:xfrm>
              <a:off x="384" y="630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74" name="Freeform 6"/>
            <p:cNvSpPr>
              <a:spLocks noEditPoints="1"/>
            </p:cNvSpPr>
            <p:nvPr/>
          </p:nvSpPr>
          <p:spPr bwMode="auto">
            <a:xfrm>
              <a:off x="384" y="1034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75" name="Freeform 7"/>
            <p:cNvSpPr>
              <a:spLocks noEditPoints="1"/>
            </p:cNvSpPr>
            <p:nvPr/>
          </p:nvSpPr>
          <p:spPr bwMode="auto">
            <a:xfrm>
              <a:off x="384" y="1438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76" name="Freeform 8"/>
            <p:cNvSpPr>
              <a:spLocks noEditPoints="1"/>
            </p:cNvSpPr>
            <p:nvPr/>
          </p:nvSpPr>
          <p:spPr bwMode="auto">
            <a:xfrm>
              <a:off x="384" y="1843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77" name="Freeform 9"/>
            <p:cNvSpPr>
              <a:spLocks noEditPoints="1"/>
            </p:cNvSpPr>
            <p:nvPr/>
          </p:nvSpPr>
          <p:spPr bwMode="auto">
            <a:xfrm>
              <a:off x="384" y="2247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78" name="Freeform 10"/>
            <p:cNvSpPr>
              <a:spLocks noEditPoints="1"/>
            </p:cNvSpPr>
            <p:nvPr/>
          </p:nvSpPr>
          <p:spPr bwMode="auto">
            <a:xfrm>
              <a:off x="384" y="2652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79" name="Freeform 11"/>
            <p:cNvSpPr>
              <a:spLocks noEditPoints="1"/>
            </p:cNvSpPr>
            <p:nvPr/>
          </p:nvSpPr>
          <p:spPr bwMode="auto">
            <a:xfrm>
              <a:off x="384" y="3056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80" name="Freeform 12"/>
            <p:cNvSpPr>
              <a:spLocks noEditPoints="1"/>
            </p:cNvSpPr>
            <p:nvPr/>
          </p:nvSpPr>
          <p:spPr bwMode="auto">
            <a:xfrm>
              <a:off x="384" y="3461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81" name="Freeform 13"/>
            <p:cNvSpPr>
              <a:spLocks noEditPoints="1"/>
            </p:cNvSpPr>
            <p:nvPr/>
          </p:nvSpPr>
          <p:spPr bwMode="auto">
            <a:xfrm>
              <a:off x="384" y="3865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82" name="Rectangle 14"/>
            <p:cNvSpPr>
              <a:spLocks noChangeArrowheads="1"/>
            </p:cNvSpPr>
            <p:nvPr/>
          </p:nvSpPr>
          <p:spPr bwMode="auto">
            <a:xfrm>
              <a:off x="384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83" name="Rectangle 15"/>
            <p:cNvSpPr>
              <a:spLocks noChangeArrowheads="1"/>
            </p:cNvSpPr>
            <p:nvPr/>
          </p:nvSpPr>
          <p:spPr bwMode="auto">
            <a:xfrm>
              <a:off x="829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84" name="Freeform 16"/>
            <p:cNvSpPr>
              <a:spLocks noEditPoints="1"/>
            </p:cNvSpPr>
            <p:nvPr/>
          </p:nvSpPr>
          <p:spPr bwMode="auto">
            <a:xfrm>
              <a:off x="829" y="225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85" name="Freeform 17"/>
            <p:cNvSpPr>
              <a:spLocks noEditPoints="1"/>
            </p:cNvSpPr>
            <p:nvPr/>
          </p:nvSpPr>
          <p:spPr bwMode="auto">
            <a:xfrm>
              <a:off x="829" y="630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86" name="Freeform 18"/>
            <p:cNvSpPr>
              <a:spLocks noEditPoints="1"/>
            </p:cNvSpPr>
            <p:nvPr/>
          </p:nvSpPr>
          <p:spPr bwMode="auto">
            <a:xfrm>
              <a:off x="829" y="1034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87" name="Freeform 19"/>
            <p:cNvSpPr>
              <a:spLocks noEditPoints="1"/>
            </p:cNvSpPr>
            <p:nvPr/>
          </p:nvSpPr>
          <p:spPr bwMode="auto">
            <a:xfrm>
              <a:off x="829" y="1438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88" name="Freeform 20"/>
            <p:cNvSpPr>
              <a:spLocks noEditPoints="1"/>
            </p:cNvSpPr>
            <p:nvPr/>
          </p:nvSpPr>
          <p:spPr bwMode="auto">
            <a:xfrm>
              <a:off x="829" y="1843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89" name="Freeform 21"/>
            <p:cNvSpPr>
              <a:spLocks noEditPoints="1"/>
            </p:cNvSpPr>
            <p:nvPr/>
          </p:nvSpPr>
          <p:spPr bwMode="auto">
            <a:xfrm>
              <a:off x="829" y="2247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90" name="Freeform 22"/>
            <p:cNvSpPr>
              <a:spLocks noEditPoints="1"/>
            </p:cNvSpPr>
            <p:nvPr/>
          </p:nvSpPr>
          <p:spPr bwMode="auto">
            <a:xfrm>
              <a:off x="829" y="2652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91" name="Freeform 23"/>
            <p:cNvSpPr>
              <a:spLocks noEditPoints="1"/>
            </p:cNvSpPr>
            <p:nvPr/>
          </p:nvSpPr>
          <p:spPr bwMode="auto">
            <a:xfrm>
              <a:off x="829" y="3056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92" name="Freeform 24"/>
            <p:cNvSpPr>
              <a:spLocks noEditPoints="1"/>
            </p:cNvSpPr>
            <p:nvPr/>
          </p:nvSpPr>
          <p:spPr bwMode="auto">
            <a:xfrm>
              <a:off x="829" y="3461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93" name="Freeform 25"/>
            <p:cNvSpPr>
              <a:spLocks noEditPoints="1"/>
            </p:cNvSpPr>
            <p:nvPr/>
          </p:nvSpPr>
          <p:spPr bwMode="auto">
            <a:xfrm>
              <a:off x="829" y="3865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94" name="Rectangle 26"/>
            <p:cNvSpPr>
              <a:spLocks noChangeArrowheads="1"/>
            </p:cNvSpPr>
            <p:nvPr/>
          </p:nvSpPr>
          <p:spPr bwMode="auto">
            <a:xfrm>
              <a:off x="829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95" name="Rectangle 27"/>
            <p:cNvSpPr>
              <a:spLocks noChangeArrowheads="1"/>
            </p:cNvSpPr>
            <p:nvPr/>
          </p:nvSpPr>
          <p:spPr bwMode="auto">
            <a:xfrm>
              <a:off x="1279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96" name="Freeform 28"/>
            <p:cNvSpPr>
              <a:spLocks noEditPoints="1"/>
            </p:cNvSpPr>
            <p:nvPr/>
          </p:nvSpPr>
          <p:spPr bwMode="auto">
            <a:xfrm>
              <a:off x="1279" y="225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97" name="Freeform 29"/>
            <p:cNvSpPr>
              <a:spLocks noEditPoints="1"/>
            </p:cNvSpPr>
            <p:nvPr/>
          </p:nvSpPr>
          <p:spPr bwMode="auto">
            <a:xfrm>
              <a:off x="1279" y="630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98" name="Freeform 30"/>
            <p:cNvSpPr>
              <a:spLocks noEditPoints="1"/>
            </p:cNvSpPr>
            <p:nvPr/>
          </p:nvSpPr>
          <p:spPr bwMode="auto">
            <a:xfrm>
              <a:off x="1279" y="1034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99" name="Freeform 31"/>
            <p:cNvSpPr>
              <a:spLocks noEditPoints="1"/>
            </p:cNvSpPr>
            <p:nvPr/>
          </p:nvSpPr>
          <p:spPr bwMode="auto">
            <a:xfrm>
              <a:off x="1279" y="1438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00" name="Freeform 32"/>
            <p:cNvSpPr>
              <a:spLocks noEditPoints="1"/>
            </p:cNvSpPr>
            <p:nvPr/>
          </p:nvSpPr>
          <p:spPr bwMode="auto">
            <a:xfrm>
              <a:off x="1279" y="1843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01" name="Freeform 33"/>
            <p:cNvSpPr>
              <a:spLocks noEditPoints="1"/>
            </p:cNvSpPr>
            <p:nvPr/>
          </p:nvSpPr>
          <p:spPr bwMode="auto">
            <a:xfrm>
              <a:off x="1279" y="2247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02" name="Freeform 34"/>
            <p:cNvSpPr>
              <a:spLocks noEditPoints="1"/>
            </p:cNvSpPr>
            <p:nvPr/>
          </p:nvSpPr>
          <p:spPr bwMode="auto">
            <a:xfrm>
              <a:off x="1279" y="2652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03" name="Freeform 35"/>
            <p:cNvSpPr>
              <a:spLocks noEditPoints="1"/>
            </p:cNvSpPr>
            <p:nvPr/>
          </p:nvSpPr>
          <p:spPr bwMode="auto">
            <a:xfrm>
              <a:off x="1279" y="3056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04" name="Freeform 36"/>
            <p:cNvSpPr>
              <a:spLocks noEditPoints="1"/>
            </p:cNvSpPr>
            <p:nvPr/>
          </p:nvSpPr>
          <p:spPr bwMode="auto">
            <a:xfrm>
              <a:off x="1279" y="3461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05" name="Freeform 37"/>
            <p:cNvSpPr>
              <a:spLocks noEditPoints="1"/>
            </p:cNvSpPr>
            <p:nvPr/>
          </p:nvSpPr>
          <p:spPr bwMode="auto">
            <a:xfrm>
              <a:off x="1279" y="3865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06" name="Rectangle 38"/>
            <p:cNvSpPr>
              <a:spLocks noChangeArrowheads="1"/>
            </p:cNvSpPr>
            <p:nvPr/>
          </p:nvSpPr>
          <p:spPr bwMode="auto">
            <a:xfrm>
              <a:off x="1279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07" name="Rectangle 39"/>
            <p:cNvSpPr>
              <a:spLocks noChangeArrowheads="1"/>
            </p:cNvSpPr>
            <p:nvPr/>
          </p:nvSpPr>
          <p:spPr bwMode="auto">
            <a:xfrm>
              <a:off x="1724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08" name="Freeform 40"/>
            <p:cNvSpPr>
              <a:spLocks noEditPoints="1"/>
            </p:cNvSpPr>
            <p:nvPr/>
          </p:nvSpPr>
          <p:spPr bwMode="auto">
            <a:xfrm>
              <a:off x="1724" y="225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09" name="Freeform 41"/>
            <p:cNvSpPr>
              <a:spLocks noEditPoints="1"/>
            </p:cNvSpPr>
            <p:nvPr/>
          </p:nvSpPr>
          <p:spPr bwMode="auto">
            <a:xfrm>
              <a:off x="1724" y="630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10" name="Freeform 42"/>
            <p:cNvSpPr>
              <a:spLocks noEditPoints="1"/>
            </p:cNvSpPr>
            <p:nvPr/>
          </p:nvSpPr>
          <p:spPr bwMode="auto">
            <a:xfrm>
              <a:off x="1724" y="1034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11" name="Freeform 43"/>
            <p:cNvSpPr>
              <a:spLocks noEditPoints="1"/>
            </p:cNvSpPr>
            <p:nvPr/>
          </p:nvSpPr>
          <p:spPr bwMode="auto">
            <a:xfrm>
              <a:off x="1724" y="1438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12" name="Freeform 44"/>
            <p:cNvSpPr>
              <a:spLocks noEditPoints="1"/>
            </p:cNvSpPr>
            <p:nvPr/>
          </p:nvSpPr>
          <p:spPr bwMode="auto">
            <a:xfrm>
              <a:off x="1724" y="1843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13" name="Freeform 45"/>
            <p:cNvSpPr>
              <a:spLocks noEditPoints="1"/>
            </p:cNvSpPr>
            <p:nvPr/>
          </p:nvSpPr>
          <p:spPr bwMode="auto">
            <a:xfrm>
              <a:off x="1724" y="2247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14" name="Freeform 46"/>
            <p:cNvSpPr>
              <a:spLocks noEditPoints="1"/>
            </p:cNvSpPr>
            <p:nvPr/>
          </p:nvSpPr>
          <p:spPr bwMode="auto">
            <a:xfrm>
              <a:off x="1724" y="2652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15" name="Freeform 47"/>
            <p:cNvSpPr>
              <a:spLocks noEditPoints="1"/>
            </p:cNvSpPr>
            <p:nvPr/>
          </p:nvSpPr>
          <p:spPr bwMode="auto">
            <a:xfrm>
              <a:off x="1724" y="3056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16" name="Freeform 48"/>
            <p:cNvSpPr>
              <a:spLocks noEditPoints="1"/>
            </p:cNvSpPr>
            <p:nvPr/>
          </p:nvSpPr>
          <p:spPr bwMode="auto">
            <a:xfrm>
              <a:off x="1724" y="3461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17" name="Freeform 49"/>
            <p:cNvSpPr>
              <a:spLocks noEditPoints="1"/>
            </p:cNvSpPr>
            <p:nvPr/>
          </p:nvSpPr>
          <p:spPr bwMode="auto">
            <a:xfrm>
              <a:off x="1724" y="3865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18" name="Rectangle 50"/>
            <p:cNvSpPr>
              <a:spLocks noChangeArrowheads="1"/>
            </p:cNvSpPr>
            <p:nvPr/>
          </p:nvSpPr>
          <p:spPr bwMode="auto">
            <a:xfrm>
              <a:off x="1724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19" name="Rectangle 51"/>
            <p:cNvSpPr>
              <a:spLocks noChangeArrowheads="1"/>
            </p:cNvSpPr>
            <p:nvPr/>
          </p:nvSpPr>
          <p:spPr bwMode="auto">
            <a:xfrm>
              <a:off x="2169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20" name="Freeform 52"/>
            <p:cNvSpPr>
              <a:spLocks noEditPoints="1"/>
            </p:cNvSpPr>
            <p:nvPr/>
          </p:nvSpPr>
          <p:spPr bwMode="auto">
            <a:xfrm>
              <a:off x="2169" y="225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21" name="Freeform 53"/>
            <p:cNvSpPr>
              <a:spLocks noEditPoints="1"/>
            </p:cNvSpPr>
            <p:nvPr/>
          </p:nvSpPr>
          <p:spPr bwMode="auto">
            <a:xfrm>
              <a:off x="2169" y="630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22" name="Freeform 54"/>
            <p:cNvSpPr>
              <a:spLocks noEditPoints="1"/>
            </p:cNvSpPr>
            <p:nvPr/>
          </p:nvSpPr>
          <p:spPr bwMode="auto">
            <a:xfrm>
              <a:off x="2169" y="1034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23" name="Freeform 55"/>
            <p:cNvSpPr>
              <a:spLocks noEditPoints="1"/>
            </p:cNvSpPr>
            <p:nvPr/>
          </p:nvSpPr>
          <p:spPr bwMode="auto">
            <a:xfrm>
              <a:off x="2169" y="1438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24" name="Freeform 56"/>
            <p:cNvSpPr>
              <a:spLocks noEditPoints="1"/>
            </p:cNvSpPr>
            <p:nvPr/>
          </p:nvSpPr>
          <p:spPr bwMode="auto">
            <a:xfrm>
              <a:off x="2169" y="1843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25" name="Freeform 57"/>
            <p:cNvSpPr>
              <a:spLocks noEditPoints="1"/>
            </p:cNvSpPr>
            <p:nvPr/>
          </p:nvSpPr>
          <p:spPr bwMode="auto">
            <a:xfrm>
              <a:off x="2169" y="2247"/>
              <a:ext cx="21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26" name="Freeform 58"/>
            <p:cNvSpPr>
              <a:spLocks noEditPoints="1"/>
            </p:cNvSpPr>
            <p:nvPr/>
          </p:nvSpPr>
          <p:spPr bwMode="auto">
            <a:xfrm>
              <a:off x="2169" y="2652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27" name="Freeform 59"/>
            <p:cNvSpPr>
              <a:spLocks noEditPoints="1"/>
            </p:cNvSpPr>
            <p:nvPr/>
          </p:nvSpPr>
          <p:spPr bwMode="auto">
            <a:xfrm>
              <a:off x="2169" y="3056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28" name="Freeform 60"/>
            <p:cNvSpPr>
              <a:spLocks noEditPoints="1"/>
            </p:cNvSpPr>
            <p:nvPr/>
          </p:nvSpPr>
          <p:spPr bwMode="auto">
            <a:xfrm>
              <a:off x="2169" y="3461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29" name="Freeform 61"/>
            <p:cNvSpPr>
              <a:spLocks noEditPoints="1"/>
            </p:cNvSpPr>
            <p:nvPr/>
          </p:nvSpPr>
          <p:spPr bwMode="auto">
            <a:xfrm>
              <a:off x="2169" y="3865"/>
              <a:ext cx="21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30" name="Rectangle 62"/>
            <p:cNvSpPr>
              <a:spLocks noChangeArrowheads="1"/>
            </p:cNvSpPr>
            <p:nvPr/>
          </p:nvSpPr>
          <p:spPr bwMode="auto">
            <a:xfrm>
              <a:off x="2169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31" name="Rectangle 63"/>
            <p:cNvSpPr>
              <a:spLocks noChangeArrowheads="1"/>
            </p:cNvSpPr>
            <p:nvPr/>
          </p:nvSpPr>
          <p:spPr bwMode="auto">
            <a:xfrm>
              <a:off x="262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32" name="Freeform 64"/>
            <p:cNvSpPr>
              <a:spLocks noEditPoints="1"/>
            </p:cNvSpPr>
            <p:nvPr/>
          </p:nvSpPr>
          <p:spPr bwMode="auto">
            <a:xfrm>
              <a:off x="2620" y="225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33" name="Freeform 65"/>
            <p:cNvSpPr>
              <a:spLocks noEditPoints="1"/>
            </p:cNvSpPr>
            <p:nvPr/>
          </p:nvSpPr>
          <p:spPr bwMode="auto">
            <a:xfrm>
              <a:off x="2620" y="630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34" name="Freeform 66"/>
            <p:cNvSpPr>
              <a:spLocks noEditPoints="1"/>
            </p:cNvSpPr>
            <p:nvPr/>
          </p:nvSpPr>
          <p:spPr bwMode="auto">
            <a:xfrm>
              <a:off x="2620" y="1034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35" name="Freeform 67"/>
            <p:cNvSpPr>
              <a:spLocks noEditPoints="1"/>
            </p:cNvSpPr>
            <p:nvPr/>
          </p:nvSpPr>
          <p:spPr bwMode="auto">
            <a:xfrm>
              <a:off x="2620" y="1438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36" name="Freeform 68"/>
            <p:cNvSpPr>
              <a:spLocks noEditPoints="1"/>
            </p:cNvSpPr>
            <p:nvPr/>
          </p:nvSpPr>
          <p:spPr bwMode="auto">
            <a:xfrm>
              <a:off x="2620" y="1843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37" name="Freeform 69"/>
            <p:cNvSpPr>
              <a:spLocks noEditPoints="1"/>
            </p:cNvSpPr>
            <p:nvPr/>
          </p:nvSpPr>
          <p:spPr bwMode="auto">
            <a:xfrm>
              <a:off x="2620" y="2247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38" name="Freeform 70"/>
            <p:cNvSpPr>
              <a:spLocks noEditPoints="1"/>
            </p:cNvSpPr>
            <p:nvPr/>
          </p:nvSpPr>
          <p:spPr bwMode="auto">
            <a:xfrm>
              <a:off x="2620" y="2652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39" name="Freeform 71"/>
            <p:cNvSpPr>
              <a:spLocks noEditPoints="1"/>
            </p:cNvSpPr>
            <p:nvPr/>
          </p:nvSpPr>
          <p:spPr bwMode="auto">
            <a:xfrm>
              <a:off x="2620" y="3056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40" name="Freeform 72"/>
            <p:cNvSpPr>
              <a:spLocks noEditPoints="1"/>
            </p:cNvSpPr>
            <p:nvPr/>
          </p:nvSpPr>
          <p:spPr bwMode="auto">
            <a:xfrm>
              <a:off x="2620" y="3461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41" name="Freeform 73"/>
            <p:cNvSpPr>
              <a:spLocks noEditPoints="1"/>
            </p:cNvSpPr>
            <p:nvPr/>
          </p:nvSpPr>
          <p:spPr bwMode="auto">
            <a:xfrm>
              <a:off x="2620" y="3865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42" name="Rectangle 74"/>
            <p:cNvSpPr>
              <a:spLocks noChangeArrowheads="1"/>
            </p:cNvSpPr>
            <p:nvPr/>
          </p:nvSpPr>
          <p:spPr bwMode="auto">
            <a:xfrm>
              <a:off x="262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43" name="Rectangle 75"/>
            <p:cNvSpPr>
              <a:spLocks noChangeArrowheads="1"/>
            </p:cNvSpPr>
            <p:nvPr/>
          </p:nvSpPr>
          <p:spPr bwMode="auto">
            <a:xfrm>
              <a:off x="3065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44" name="Freeform 76"/>
            <p:cNvSpPr>
              <a:spLocks noEditPoints="1"/>
            </p:cNvSpPr>
            <p:nvPr/>
          </p:nvSpPr>
          <p:spPr bwMode="auto">
            <a:xfrm>
              <a:off x="3065" y="225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45" name="Freeform 77"/>
            <p:cNvSpPr>
              <a:spLocks noEditPoints="1"/>
            </p:cNvSpPr>
            <p:nvPr/>
          </p:nvSpPr>
          <p:spPr bwMode="auto">
            <a:xfrm>
              <a:off x="3065" y="630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46" name="Freeform 78"/>
            <p:cNvSpPr>
              <a:spLocks noEditPoints="1"/>
            </p:cNvSpPr>
            <p:nvPr/>
          </p:nvSpPr>
          <p:spPr bwMode="auto">
            <a:xfrm>
              <a:off x="3065" y="1034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47" name="Freeform 79"/>
            <p:cNvSpPr>
              <a:spLocks noEditPoints="1"/>
            </p:cNvSpPr>
            <p:nvPr/>
          </p:nvSpPr>
          <p:spPr bwMode="auto">
            <a:xfrm>
              <a:off x="3065" y="1438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48" name="Freeform 80"/>
            <p:cNvSpPr>
              <a:spLocks noEditPoints="1"/>
            </p:cNvSpPr>
            <p:nvPr/>
          </p:nvSpPr>
          <p:spPr bwMode="auto">
            <a:xfrm>
              <a:off x="3065" y="1843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49" name="Freeform 81"/>
            <p:cNvSpPr>
              <a:spLocks noEditPoints="1"/>
            </p:cNvSpPr>
            <p:nvPr/>
          </p:nvSpPr>
          <p:spPr bwMode="auto">
            <a:xfrm>
              <a:off x="3065" y="2247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50" name="Freeform 82"/>
            <p:cNvSpPr>
              <a:spLocks noEditPoints="1"/>
            </p:cNvSpPr>
            <p:nvPr/>
          </p:nvSpPr>
          <p:spPr bwMode="auto">
            <a:xfrm>
              <a:off x="3065" y="2652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51" name="Freeform 83"/>
            <p:cNvSpPr>
              <a:spLocks noEditPoints="1"/>
            </p:cNvSpPr>
            <p:nvPr/>
          </p:nvSpPr>
          <p:spPr bwMode="auto">
            <a:xfrm>
              <a:off x="3065" y="3056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52" name="Freeform 84"/>
            <p:cNvSpPr>
              <a:spLocks noEditPoints="1"/>
            </p:cNvSpPr>
            <p:nvPr/>
          </p:nvSpPr>
          <p:spPr bwMode="auto">
            <a:xfrm>
              <a:off x="3065" y="3461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53" name="Freeform 85"/>
            <p:cNvSpPr>
              <a:spLocks noEditPoints="1"/>
            </p:cNvSpPr>
            <p:nvPr/>
          </p:nvSpPr>
          <p:spPr bwMode="auto">
            <a:xfrm>
              <a:off x="3065" y="3865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54" name="Rectangle 86"/>
            <p:cNvSpPr>
              <a:spLocks noChangeArrowheads="1"/>
            </p:cNvSpPr>
            <p:nvPr/>
          </p:nvSpPr>
          <p:spPr bwMode="auto">
            <a:xfrm>
              <a:off x="3065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55" name="Rectangle 87"/>
            <p:cNvSpPr>
              <a:spLocks noChangeArrowheads="1"/>
            </p:cNvSpPr>
            <p:nvPr/>
          </p:nvSpPr>
          <p:spPr bwMode="auto">
            <a:xfrm>
              <a:off x="351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56" name="Freeform 88"/>
            <p:cNvSpPr>
              <a:spLocks noEditPoints="1"/>
            </p:cNvSpPr>
            <p:nvPr/>
          </p:nvSpPr>
          <p:spPr bwMode="auto">
            <a:xfrm>
              <a:off x="3510" y="225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57" name="Freeform 89"/>
            <p:cNvSpPr>
              <a:spLocks noEditPoints="1"/>
            </p:cNvSpPr>
            <p:nvPr/>
          </p:nvSpPr>
          <p:spPr bwMode="auto">
            <a:xfrm>
              <a:off x="3510" y="630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58" name="Freeform 90"/>
            <p:cNvSpPr>
              <a:spLocks noEditPoints="1"/>
            </p:cNvSpPr>
            <p:nvPr/>
          </p:nvSpPr>
          <p:spPr bwMode="auto">
            <a:xfrm>
              <a:off x="3510" y="1034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59" name="Freeform 91"/>
            <p:cNvSpPr>
              <a:spLocks noEditPoints="1"/>
            </p:cNvSpPr>
            <p:nvPr/>
          </p:nvSpPr>
          <p:spPr bwMode="auto">
            <a:xfrm>
              <a:off x="3510" y="1438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60" name="Freeform 92"/>
            <p:cNvSpPr>
              <a:spLocks noEditPoints="1"/>
            </p:cNvSpPr>
            <p:nvPr/>
          </p:nvSpPr>
          <p:spPr bwMode="auto">
            <a:xfrm>
              <a:off x="3510" y="1843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61" name="Freeform 93"/>
            <p:cNvSpPr>
              <a:spLocks noEditPoints="1"/>
            </p:cNvSpPr>
            <p:nvPr/>
          </p:nvSpPr>
          <p:spPr bwMode="auto">
            <a:xfrm>
              <a:off x="3510" y="2247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62" name="Freeform 94"/>
            <p:cNvSpPr>
              <a:spLocks noEditPoints="1"/>
            </p:cNvSpPr>
            <p:nvPr/>
          </p:nvSpPr>
          <p:spPr bwMode="auto">
            <a:xfrm>
              <a:off x="3510" y="2652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63" name="Freeform 95"/>
            <p:cNvSpPr>
              <a:spLocks noEditPoints="1"/>
            </p:cNvSpPr>
            <p:nvPr/>
          </p:nvSpPr>
          <p:spPr bwMode="auto">
            <a:xfrm>
              <a:off x="3510" y="3056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64" name="Freeform 96"/>
            <p:cNvSpPr>
              <a:spLocks noEditPoints="1"/>
            </p:cNvSpPr>
            <p:nvPr/>
          </p:nvSpPr>
          <p:spPr bwMode="auto">
            <a:xfrm>
              <a:off x="3510" y="3461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65" name="Freeform 97"/>
            <p:cNvSpPr>
              <a:spLocks noEditPoints="1"/>
            </p:cNvSpPr>
            <p:nvPr/>
          </p:nvSpPr>
          <p:spPr bwMode="auto">
            <a:xfrm>
              <a:off x="3510" y="3865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66" name="Rectangle 98"/>
            <p:cNvSpPr>
              <a:spLocks noChangeArrowheads="1"/>
            </p:cNvSpPr>
            <p:nvPr/>
          </p:nvSpPr>
          <p:spPr bwMode="auto">
            <a:xfrm>
              <a:off x="351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67" name="Rectangle 99"/>
            <p:cNvSpPr>
              <a:spLocks noChangeArrowheads="1"/>
            </p:cNvSpPr>
            <p:nvPr/>
          </p:nvSpPr>
          <p:spPr bwMode="auto">
            <a:xfrm>
              <a:off x="396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68" name="Freeform 100"/>
            <p:cNvSpPr>
              <a:spLocks noEditPoints="1"/>
            </p:cNvSpPr>
            <p:nvPr/>
          </p:nvSpPr>
          <p:spPr bwMode="auto">
            <a:xfrm>
              <a:off x="3960" y="225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69" name="Freeform 101"/>
            <p:cNvSpPr>
              <a:spLocks noEditPoints="1"/>
            </p:cNvSpPr>
            <p:nvPr/>
          </p:nvSpPr>
          <p:spPr bwMode="auto">
            <a:xfrm>
              <a:off x="3960" y="630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70" name="Freeform 102"/>
            <p:cNvSpPr>
              <a:spLocks noEditPoints="1"/>
            </p:cNvSpPr>
            <p:nvPr/>
          </p:nvSpPr>
          <p:spPr bwMode="auto">
            <a:xfrm>
              <a:off x="3960" y="1034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71" name="Freeform 103"/>
            <p:cNvSpPr>
              <a:spLocks noEditPoints="1"/>
            </p:cNvSpPr>
            <p:nvPr/>
          </p:nvSpPr>
          <p:spPr bwMode="auto">
            <a:xfrm>
              <a:off x="3960" y="1438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72" name="Freeform 104"/>
            <p:cNvSpPr>
              <a:spLocks noEditPoints="1"/>
            </p:cNvSpPr>
            <p:nvPr/>
          </p:nvSpPr>
          <p:spPr bwMode="auto">
            <a:xfrm>
              <a:off x="3960" y="1843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73" name="Freeform 105"/>
            <p:cNvSpPr>
              <a:spLocks noEditPoints="1"/>
            </p:cNvSpPr>
            <p:nvPr/>
          </p:nvSpPr>
          <p:spPr bwMode="auto">
            <a:xfrm>
              <a:off x="3960" y="2247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74" name="Freeform 106"/>
            <p:cNvSpPr>
              <a:spLocks noEditPoints="1"/>
            </p:cNvSpPr>
            <p:nvPr/>
          </p:nvSpPr>
          <p:spPr bwMode="auto">
            <a:xfrm>
              <a:off x="3960" y="2652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75" name="Freeform 107"/>
            <p:cNvSpPr>
              <a:spLocks noEditPoints="1"/>
            </p:cNvSpPr>
            <p:nvPr/>
          </p:nvSpPr>
          <p:spPr bwMode="auto">
            <a:xfrm>
              <a:off x="3960" y="3056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76" name="Freeform 108"/>
            <p:cNvSpPr>
              <a:spLocks noEditPoints="1"/>
            </p:cNvSpPr>
            <p:nvPr/>
          </p:nvSpPr>
          <p:spPr bwMode="auto">
            <a:xfrm>
              <a:off x="3960" y="3461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77" name="Freeform 109"/>
            <p:cNvSpPr>
              <a:spLocks noEditPoints="1"/>
            </p:cNvSpPr>
            <p:nvPr/>
          </p:nvSpPr>
          <p:spPr bwMode="auto">
            <a:xfrm>
              <a:off x="3960" y="3865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78" name="Rectangle 110"/>
            <p:cNvSpPr>
              <a:spLocks noChangeArrowheads="1"/>
            </p:cNvSpPr>
            <p:nvPr/>
          </p:nvSpPr>
          <p:spPr bwMode="auto">
            <a:xfrm>
              <a:off x="396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79" name="Rectangle 111"/>
            <p:cNvSpPr>
              <a:spLocks noChangeArrowheads="1"/>
            </p:cNvSpPr>
            <p:nvPr/>
          </p:nvSpPr>
          <p:spPr bwMode="auto">
            <a:xfrm>
              <a:off x="4405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80" name="Freeform 112"/>
            <p:cNvSpPr>
              <a:spLocks noEditPoints="1"/>
            </p:cNvSpPr>
            <p:nvPr/>
          </p:nvSpPr>
          <p:spPr bwMode="auto">
            <a:xfrm>
              <a:off x="4405" y="225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81" name="Freeform 113"/>
            <p:cNvSpPr>
              <a:spLocks noEditPoints="1"/>
            </p:cNvSpPr>
            <p:nvPr/>
          </p:nvSpPr>
          <p:spPr bwMode="auto">
            <a:xfrm>
              <a:off x="4405" y="630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82" name="Freeform 114"/>
            <p:cNvSpPr>
              <a:spLocks noEditPoints="1"/>
            </p:cNvSpPr>
            <p:nvPr/>
          </p:nvSpPr>
          <p:spPr bwMode="auto">
            <a:xfrm>
              <a:off x="4405" y="1034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83" name="Freeform 115"/>
            <p:cNvSpPr>
              <a:spLocks noEditPoints="1"/>
            </p:cNvSpPr>
            <p:nvPr/>
          </p:nvSpPr>
          <p:spPr bwMode="auto">
            <a:xfrm>
              <a:off x="4405" y="1438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84" name="Freeform 116"/>
            <p:cNvSpPr>
              <a:spLocks noEditPoints="1"/>
            </p:cNvSpPr>
            <p:nvPr/>
          </p:nvSpPr>
          <p:spPr bwMode="auto">
            <a:xfrm>
              <a:off x="4405" y="1843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85" name="Freeform 117"/>
            <p:cNvSpPr>
              <a:spLocks noEditPoints="1"/>
            </p:cNvSpPr>
            <p:nvPr/>
          </p:nvSpPr>
          <p:spPr bwMode="auto">
            <a:xfrm>
              <a:off x="4405" y="2247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86" name="Freeform 118"/>
            <p:cNvSpPr>
              <a:spLocks noEditPoints="1"/>
            </p:cNvSpPr>
            <p:nvPr/>
          </p:nvSpPr>
          <p:spPr bwMode="auto">
            <a:xfrm>
              <a:off x="4405" y="2652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87" name="Freeform 119"/>
            <p:cNvSpPr>
              <a:spLocks noEditPoints="1"/>
            </p:cNvSpPr>
            <p:nvPr/>
          </p:nvSpPr>
          <p:spPr bwMode="auto">
            <a:xfrm>
              <a:off x="4405" y="3056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88" name="Freeform 120"/>
            <p:cNvSpPr>
              <a:spLocks noEditPoints="1"/>
            </p:cNvSpPr>
            <p:nvPr/>
          </p:nvSpPr>
          <p:spPr bwMode="auto">
            <a:xfrm>
              <a:off x="4405" y="3461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89" name="Freeform 121"/>
            <p:cNvSpPr>
              <a:spLocks noEditPoints="1"/>
            </p:cNvSpPr>
            <p:nvPr/>
          </p:nvSpPr>
          <p:spPr bwMode="auto">
            <a:xfrm>
              <a:off x="4405" y="3865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90" name="Rectangle 122"/>
            <p:cNvSpPr>
              <a:spLocks noChangeArrowheads="1"/>
            </p:cNvSpPr>
            <p:nvPr/>
          </p:nvSpPr>
          <p:spPr bwMode="auto">
            <a:xfrm>
              <a:off x="4405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91" name="Rectangle 123"/>
            <p:cNvSpPr>
              <a:spLocks noChangeArrowheads="1"/>
            </p:cNvSpPr>
            <p:nvPr/>
          </p:nvSpPr>
          <p:spPr bwMode="auto">
            <a:xfrm>
              <a:off x="485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92" name="Freeform 124"/>
            <p:cNvSpPr>
              <a:spLocks noEditPoints="1"/>
            </p:cNvSpPr>
            <p:nvPr/>
          </p:nvSpPr>
          <p:spPr bwMode="auto">
            <a:xfrm>
              <a:off x="4850" y="225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93" name="Freeform 125"/>
            <p:cNvSpPr>
              <a:spLocks noEditPoints="1"/>
            </p:cNvSpPr>
            <p:nvPr/>
          </p:nvSpPr>
          <p:spPr bwMode="auto">
            <a:xfrm>
              <a:off x="4850" y="630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94" name="Freeform 126"/>
            <p:cNvSpPr>
              <a:spLocks noEditPoints="1"/>
            </p:cNvSpPr>
            <p:nvPr/>
          </p:nvSpPr>
          <p:spPr bwMode="auto">
            <a:xfrm>
              <a:off x="4850" y="1034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95" name="Freeform 127"/>
            <p:cNvSpPr>
              <a:spLocks noEditPoints="1"/>
            </p:cNvSpPr>
            <p:nvPr/>
          </p:nvSpPr>
          <p:spPr bwMode="auto">
            <a:xfrm>
              <a:off x="4850" y="1438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96" name="Freeform 128"/>
            <p:cNvSpPr>
              <a:spLocks noEditPoints="1"/>
            </p:cNvSpPr>
            <p:nvPr/>
          </p:nvSpPr>
          <p:spPr bwMode="auto">
            <a:xfrm>
              <a:off x="4850" y="1843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97" name="Freeform 129"/>
            <p:cNvSpPr>
              <a:spLocks noEditPoints="1"/>
            </p:cNvSpPr>
            <p:nvPr/>
          </p:nvSpPr>
          <p:spPr bwMode="auto">
            <a:xfrm>
              <a:off x="4850" y="2247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98" name="Freeform 130"/>
            <p:cNvSpPr>
              <a:spLocks noEditPoints="1"/>
            </p:cNvSpPr>
            <p:nvPr/>
          </p:nvSpPr>
          <p:spPr bwMode="auto">
            <a:xfrm>
              <a:off x="4850" y="2652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99" name="Freeform 131"/>
            <p:cNvSpPr>
              <a:spLocks noEditPoints="1"/>
            </p:cNvSpPr>
            <p:nvPr/>
          </p:nvSpPr>
          <p:spPr bwMode="auto">
            <a:xfrm>
              <a:off x="4850" y="3056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00" name="Freeform 132"/>
            <p:cNvSpPr>
              <a:spLocks noEditPoints="1"/>
            </p:cNvSpPr>
            <p:nvPr/>
          </p:nvSpPr>
          <p:spPr bwMode="auto">
            <a:xfrm>
              <a:off x="4850" y="3461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01" name="Freeform 133"/>
            <p:cNvSpPr>
              <a:spLocks noEditPoints="1"/>
            </p:cNvSpPr>
            <p:nvPr/>
          </p:nvSpPr>
          <p:spPr bwMode="auto">
            <a:xfrm>
              <a:off x="4850" y="3865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02" name="Rectangle 134"/>
            <p:cNvSpPr>
              <a:spLocks noChangeArrowheads="1"/>
            </p:cNvSpPr>
            <p:nvPr/>
          </p:nvSpPr>
          <p:spPr bwMode="auto">
            <a:xfrm>
              <a:off x="485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03" name="Rectangle 135"/>
            <p:cNvSpPr>
              <a:spLocks noChangeArrowheads="1"/>
            </p:cNvSpPr>
            <p:nvPr/>
          </p:nvSpPr>
          <p:spPr bwMode="auto">
            <a:xfrm>
              <a:off x="530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04" name="Freeform 136"/>
            <p:cNvSpPr>
              <a:spLocks noEditPoints="1"/>
            </p:cNvSpPr>
            <p:nvPr/>
          </p:nvSpPr>
          <p:spPr bwMode="auto">
            <a:xfrm>
              <a:off x="5300" y="225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05" name="Freeform 137"/>
            <p:cNvSpPr>
              <a:spLocks noEditPoints="1"/>
            </p:cNvSpPr>
            <p:nvPr/>
          </p:nvSpPr>
          <p:spPr bwMode="auto">
            <a:xfrm>
              <a:off x="5300" y="630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06" name="Freeform 138"/>
            <p:cNvSpPr>
              <a:spLocks noEditPoints="1"/>
            </p:cNvSpPr>
            <p:nvPr/>
          </p:nvSpPr>
          <p:spPr bwMode="auto">
            <a:xfrm>
              <a:off x="5300" y="1034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07" name="Freeform 139"/>
            <p:cNvSpPr>
              <a:spLocks noEditPoints="1"/>
            </p:cNvSpPr>
            <p:nvPr/>
          </p:nvSpPr>
          <p:spPr bwMode="auto">
            <a:xfrm>
              <a:off x="5300" y="1438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08" name="Freeform 140"/>
            <p:cNvSpPr>
              <a:spLocks noEditPoints="1"/>
            </p:cNvSpPr>
            <p:nvPr/>
          </p:nvSpPr>
          <p:spPr bwMode="auto">
            <a:xfrm>
              <a:off x="5300" y="1843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09" name="Freeform 141"/>
            <p:cNvSpPr>
              <a:spLocks noEditPoints="1"/>
            </p:cNvSpPr>
            <p:nvPr/>
          </p:nvSpPr>
          <p:spPr bwMode="auto">
            <a:xfrm>
              <a:off x="5300" y="2247"/>
              <a:ext cx="20" cy="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10" name="Freeform 142"/>
            <p:cNvSpPr>
              <a:spLocks noEditPoints="1"/>
            </p:cNvSpPr>
            <p:nvPr/>
          </p:nvSpPr>
          <p:spPr bwMode="auto">
            <a:xfrm>
              <a:off x="5300" y="2652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11" name="Freeform 143"/>
            <p:cNvSpPr>
              <a:spLocks noEditPoints="1"/>
            </p:cNvSpPr>
            <p:nvPr/>
          </p:nvSpPr>
          <p:spPr bwMode="auto">
            <a:xfrm>
              <a:off x="5300" y="3056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12" name="Freeform 144"/>
            <p:cNvSpPr>
              <a:spLocks noEditPoints="1"/>
            </p:cNvSpPr>
            <p:nvPr/>
          </p:nvSpPr>
          <p:spPr bwMode="auto">
            <a:xfrm>
              <a:off x="5300" y="3461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13" name="Freeform 145"/>
            <p:cNvSpPr>
              <a:spLocks noEditPoints="1"/>
            </p:cNvSpPr>
            <p:nvPr/>
          </p:nvSpPr>
          <p:spPr bwMode="auto">
            <a:xfrm>
              <a:off x="5300" y="3865"/>
              <a:ext cx="20" cy="3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0"/>
                </a:cxn>
                <a:cxn ang="0">
                  <a:pos x="4" y="20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40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4" y="40"/>
                </a:cxn>
                <a:cxn ang="0">
                  <a:pos x="0" y="40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14" name="Rectangle 146"/>
            <p:cNvSpPr>
              <a:spLocks noChangeArrowheads="1"/>
            </p:cNvSpPr>
            <p:nvPr/>
          </p:nvSpPr>
          <p:spPr bwMode="auto">
            <a:xfrm>
              <a:off x="530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15" name="Freeform 147"/>
            <p:cNvSpPr>
              <a:spLocks/>
            </p:cNvSpPr>
            <p:nvPr/>
          </p:nvSpPr>
          <p:spPr bwMode="auto">
            <a:xfrm>
              <a:off x="349" y="3304"/>
              <a:ext cx="20" cy="1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4" h="2">
                  <a:moveTo>
                    <a:pt x="0" y="1"/>
                  </a:moveTo>
                  <a:cubicBezTo>
                    <a:pt x="1" y="2"/>
                    <a:pt x="4" y="0"/>
                    <a:pt x="0" y="1"/>
                  </a:cubicBez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4116" name="Group 148"/>
          <p:cNvGrpSpPr>
            <a:grpSpLocks/>
          </p:cNvGrpSpPr>
          <p:nvPr/>
        </p:nvGrpSpPr>
        <p:grpSpPr bwMode="auto">
          <a:xfrm>
            <a:off x="1066800" y="3444875"/>
            <a:ext cx="533400" cy="492125"/>
            <a:chOff x="96" y="2784"/>
            <a:chExt cx="1062" cy="981"/>
          </a:xfrm>
        </p:grpSpPr>
        <p:sp>
          <p:nvSpPr>
            <p:cNvPr id="84117" name="Freeform 149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/>
              <a:ahLst/>
              <a:cxnLst>
                <a:cxn ang="0">
                  <a:pos x="30" y="12"/>
                </a:cxn>
                <a:cxn ang="0">
                  <a:pos x="37" y="10"/>
                </a:cxn>
                <a:cxn ang="0">
                  <a:pos x="38" y="9"/>
                </a:cxn>
                <a:cxn ang="0">
                  <a:pos x="31" y="1"/>
                </a:cxn>
                <a:cxn ang="0">
                  <a:pos x="8" y="11"/>
                </a:cxn>
                <a:cxn ang="0">
                  <a:pos x="30" y="12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18" name="Freeform 150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/>
              <a:ahLst/>
              <a:cxnLst>
                <a:cxn ang="0">
                  <a:pos x="163" y="155"/>
                </a:cxn>
                <a:cxn ang="0">
                  <a:pos x="152" y="125"/>
                </a:cxn>
                <a:cxn ang="0">
                  <a:pos x="142" y="99"/>
                </a:cxn>
                <a:cxn ang="0">
                  <a:pos x="165" y="93"/>
                </a:cxn>
                <a:cxn ang="0">
                  <a:pos x="146" y="82"/>
                </a:cxn>
                <a:cxn ang="0">
                  <a:pos x="157" y="83"/>
                </a:cxn>
                <a:cxn ang="0">
                  <a:pos x="157" y="77"/>
                </a:cxn>
                <a:cxn ang="0">
                  <a:pos x="135" y="78"/>
                </a:cxn>
                <a:cxn ang="0">
                  <a:pos x="128" y="125"/>
                </a:cxn>
                <a:cxn ang="0">
                  <a:pos x="124" y="84"/>
                </a:cxn>
                <a:cxn ang="0">
                  <a:pos x="118" y="67"/>
                </a:cxn>
                <a:cxn ang="0">
                  <a:pos x="124" y="51"/>
                </a:cxn>
                <a:cxn ang="0">
                  <a:pos x="121" y="37"/>
                </a:cxn>
                <a:cxn ang="0">
                  <a:pos x="119" y="24"/>
                </a:cxn>
                <a:cxn ang="0">
                  <a:pos x="132" y="39"/>
                </a:cxn>
                <a:cxn ang="0">
                  <a:pos x="149" y="18"/>
                </a:cxn>
                <a:cxn ang="0">
                  <a:pos x="147" y="36"/>
                </a:cxn>
                <a:cxn ang="0">
                  <a:pos x="143" y="48"/>
                </a:cxn>
                <a:cxn ang="0">
                  <a:pos x="144" y="67"/>
                </a:cxn>
                <a:cxn ang="0">
                  <a:pos x="199" y="29"/>
                </a:cxn>
                <a:cxn ang="0">
                  <a:pos x="90" y="1"/>
                </a:cxn>
                <a:cxn ang="0">
                  <a:pos x="56" y="8"/>
                </a:cxn>
                <a:cxn ang="0">
                  <a:pos x="85" y="12"/>
                </a:cxn>
                <a:cxn ang="0">
                  <a:pos x="60" y="22"/>
                </a:cxn>
                <a:cxn ang="0">
                  <a:pos x="58" y="29"/>
                </a:cxn>
                <a:cxn ang="0">
                  <a:pos x="38" y="17"/>
                </a:cxn>
                <a:cxn ang="0">
                  <a:pos x="13" y="115"/>
                </a:cxn>
                <a:cxn ang="0">
                  <a:pos x="61" y="146"/>
                </a:cxn>
                <a:cxn ang="0">
                  <a:pos x="45" y="133"/>
                </a:cxn>
                <a:cxn ang="0">
                  <a:pos x="35" y="145"/>
                </a:cxn>
                <a:cxn ang="0">
                  <a:pos x="32" y="128"/>
                </a:cxn>
                <a:cxn ang="0">
                  <a:pos x="46" y="86"/>
                </a:cxn>
                <a:cxn ang="0">
                  <a:pos x="67" y="83"/>
                </a:cxn>
                <a:cxn ang="0">
                  <a:pos x="71" y="95"/>
                </a:cxn>
                <a:cxn ang="0">
                  <a:pos x="61" y="121"/>
                </a:cxn>
                <a:cxn ang="0">
                  <a:pos x="91" y="180"/>
                </a:cxn>
                <a:cxn ang="0">
                  <a:pos x="186" y="166"/>
                </a:cxn>
                <a:cxn ang="0">
                  <a:pos x="182" y="66"/>
                </a:cxn>
                <a:cxn ang="0">
                  <a:pos x="165" y="60"/>
                </a:cxn>
                <a:cxn ang="0">
                  <a:pos x="113" y="61"/>
                </a:cxn>
                <a:cxn ang="0">
                  <a:pos x="108" y="87"/>
                </a:cxn>
                <a:cxn ang="0">
                  <a:pos x="114" y="50"/>
                </a:cxn>
                <a:cxn ang="0">
                  <a:pos x="89" y="26"/>
                </a:cxn>
                <a:cxn ang="0">
                  <a:pos x="105" y="35"/>
                </a:cxn>
                <a:cxn ang="0">
                  <a:pos x="61" y="72"/>
                </a:cxn>
                <a:cxn ang="0">
                  <a:pos x="24" y="37"/>
                </a:cxn>
                <a:cxn ang="0">
                  <a:pos x="68" y="40"/>
                </a:cxn>
                <a:cxn ang="0">
                  <a:pos x="79" y="40"/>
                </a:cxn>
                <a:cxn ang="0">
                  <a:pos x="108" y="45"/>
                </a:cxn>
                <a:cxn ang="0">
                  <a:pos x="99" y="93"/>
                </a:cxn>
                <a:cxn ang="0">
                  <a:pos x="93" y="51"/>
                </a:cxn>
                <a:cxn ang="0">
                  <a:pos x="61" y="72"/>
                </a:cxn>
                <a:cxn ang="0">
                  <a:pos x="80" y="82"/>
                </a:cxn>
                <a:cxn ang="0">
                  <a:pos x="88" y="58"/>
                </a:cxn>
                <a:cxn ang="0">
                  <a:pos x="102" y="145"/>
                </a:cxn>
                <a:cxn ang="0">
                  <a:pos x="82" y="96"/>
                </a:cxn>
                <a:cxn ang="0">
                  <a:pos x="117" y="106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19" name="Freeform 151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/>
              <a:ahLst/>
              <a:cxnLst>
                <a:cxn ang="0">
                  <a:pos x="14" y="5"/>
                </a:cxn>
                <a:cxn ang="0">
                  <a:pos x="9" y="20"/>
                </a:cxn>
                <a:cxn ang="0">
                  <a:pos x="14" y="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20" name="Freeform 152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/>
              <a:ahLst/>
              <a:cxnLst>
                <a:cxn ang="0">
                  <a:pos x="7" y="10"/>
                </a:cxn>
                <a:cxn ang="0">
                  <a:pos x="4" y="25"/>
                </a:cxn>
                <a:cxn ang="0">
                  <a:pos x="15" y="16"/>
                </a:cxn>
                <a:cxn ang="0">
                  <a:pos x="13" y="8"/>
                </a:cxn>
                <a:cxn ang="0">
                  <a:pos x="7" y="10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21" name="Freeform 153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/>
              <a:ahLst/>
              <a:cxnLst>
                <a:cxn ang="0">
                  <a:pos x="40" y="2"/>
                </a:cxn>
                <a:cxn ang="0">
                  <a:pos x="9" y="1"/>
                </a:cxn>
                <a:cxn ang="0">
                  <a:pos x="1" y="9"/>
                </a:cxn>
                <a:cxn ang="0">
                  <a:pos x="22" y="21"/>
                </a:cxn>
                <a:cxn ang="0">
                  <a:pos x="34" y="20"/>
                </a:cxn>
                <a:cxn ang="0">
                  <a:pos x="40" y="19"/>
                </a:cxn>
                <a:cxn ang="0">
                  <a:pos x="40" y="2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22" name="Freeform 154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/>
              <a:ahLst/>
              <a:cxnLst>
                <a:cxn ang="0">
                  <a:pos x="24" y="2"/>
                </a:cxn>
                <a:cxn ang="0">
                  <a:pos x="11" y="2"/>
                </a:cxn>
                <a:cxn ang="0">
                  <a:pos x="4" y="20"/>
                </a:cxn>
                <a:cxn ang="0">
                  <a:pos x="28" y="22"/>
                </a:cxn>
                <a:cxn ang="0">
                  <a:pos x="24" y="2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23" name="Freeform 155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4" y="5"/>
                </a:cxn>
                <a:cxn ang="0">
                  <a:pos x="5" y="0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24" name="Freeform 156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/>
              <a:ahLst/>
              <a:cxnLst>
                <a:cxn ang="0">
                  <a:pos x="7" y="13"/>
                </a:cxn>
                <a:cxn ang="0">
                  <a:pos x="25" y="6"/>
                </a:cxn>
                <a:cxn ang="0">
                  <a:pos x="17" y="1"/>
                </a:cxn>
                <a:cxn ang="0">
                  <a:pos x="7" y="11"/>
                </a:cxn>
                <a:cxn ang="0">
                  <a:pos x="7" y="13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25" name="Freeform 157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/>
              <a:ahLst/>
              <a:cxnLst>
                <a:cxn ang="0">
                  <a:pos x="25" y="6"/>
                </a:cxn>
                <a:cxn ang="0">
                  <a:pos x="8" y="10"/>
                </a:cxn>
                <a:cxn ang="0">
                  <a:pos x="6" y="13"/>
                </a:cxn>
                <a:cxn ang="0">
                  <a:pos x="27" y="12"/>
                </a:cxn>
                <a:cxn ang="0">
                  <a:pos x="25" y="6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26" name="Freeform 158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/>
              <a:ahLst/>
              <a:cxnLst>
                <a:cxn ang="0">
                  <a:pos x="40" y="3"/>
                </a:cxn>
                <a:cxn ang="0">
                  <a:pos x="29" y="1"/>
                </a:cxn>
                <a:cxn ang="0">
                  <a:pos x="7" y="0"/>
                </a:cxn>
                <a:cxn ang="0">
                  <a:pos x="2" y="5"/>
                </a:cxn>
                <a:cxn ang="0">
                  <a:pos x="20" y="8"/>
                </a:cxn>
                <a:cxn ang="0">
                  <a:pos x="41" y="8"/>
                </a:cxn>
                <a:cxn ang="0">
                  <a:pos x="40" y="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27" name="Freeform 159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/>
              <a:ahLst/>
              <a:cxnLst>
                <a:cxn ang="0">
                  <a:pos x="37" y="2"/>
                </a:cxn>
                <a:cxn ang="0">
                  <a:pos x="26" y="4"/>
                </a:cxn>
                <a:cxn ang="0">
                  <a:pos x="13" y="3"/>
                </a:cxn>
                <a:cxn ang="0">
                  <a:pos x="1" y="2"/>
                </a:cxn>
                <a:cxn ang="0">
                  <a:pos x="35" y="8"/>
                </a:cxn>
                <a:cxn ang="0">
                  <a:pos x="37" y="2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28" name="Freeform 160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/>
              <a:ahLst/>
              <a:cxnLst>
                <a:cxn ang="0">
                  <a:pos x="28" y="9"/>
                </a:cxn>
                <a:cxn ang="0">
                  <a:pos x="13" y="6"/>
                </a:cxn>
                <a:cxn ang="0">
                  <a:pos x="4" y="15"/>
                </a:cxn>
                <a:cxn ang="0">
                  <a:pos x="1" y="19"/>
                </a:cxn>
                <a:cxn ang="0">
                  <a:pos x="9" y="19"/>
                </a:cxn>
                <a:cxn ang="0">
                  <a:pos x="17" y="27"/>
                </a:cxn>
                <a:cxn ang="0">
                  <a:pos x="21" y="30"/>
                </a:cxn>
                <a:cxn ang="0">
                  <a:pos x="29" y="19"/>
                </a:cxn>
                <a:cxn ang="0">
                  <a:pos x="39" y="19"/>
                </a:cxn>
                <a:cxn ang="0">
                  <a:pos x="28" y="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29" name="Freeform 161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/>
              <a:ahLst/>
              <a:cxnLst>
                <a:cxn ang="0">
                  <a:pos x="22" y="2"/>
                </a:cxn>
                <a:cxn ang="0">
                  <a:pos x="18" y="17"/>
                </a:cxn>
                <a:cxn ang="0">
                  <a:pos x="7" y="20"/>
                </a:cxn>
                <a:cxn ang="0">
                  <a:pos x="7" y="23"/>
                </a:cxn>
                <a:cxn ang="0">
                  <a:pos x="17" y="34"/>
                </a:cxn>
                <a:cxn ang="0">
                  <a:pos x="12" y="45"/>
                </a:cxn>
                <a:cxn ang="0">
                  <a:pos x="0" y="55"/>
                </a:cxn>
                <a:cxn ang="0">
                  <a:pos x="5" y="58"/>
                </a:cxn>
                <a:cxn ang="0">
                  <a:pos x="16" y="62"/>
                </a:cxn>
                <a:cxn ang="0">
                  <a:pos x="23" y="57"/>
                </a:cxn>
                <a:cxn ang="0">
                  <a:pos x="25" y="14"/>
                </a:cxn>
                <a:cxn ang="0">
                  <a:pos x="25" y="2"/>
                </a:cxn>
                <a:cxn ang="0">
                  <a:pos x="22" y="2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4130" name="Group 162"/>
          <p:cNvGrpSpPr>
            <a:grpSpLocks/>
          </p:cNvGrpSpPr>
          <p:nvPr/>
        </p:nvGrpSpPr>
        <p:grpSpPr bwMode="auto">
          <a:xfrm>
            <a:off x="1066800" y="4552950"/>
            <a:ext cx="533400" cy="492125"/>
            <a:chOff x="96" y="2784"/>
            <a:chExt cx="1062" cy="981"/>
          </a:xfrm>
        </p:grpSpPr>
        <p:sp>
          <p:nvSpPr>
            <p:cNvPr id="84131" name="Freeform 163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/>
              <a:ahLst/>
              <a:cxnLst>
                <a:cxn ang="0">
                  <a:pos x="30" y="12"/>
                </a:cxn>
                <a:cxn ang="0">
                  <a:pos x="37" y="10"/>
                </a:cxn>
                <a:cxn ang="0">
                  <a:pos x="38" y="9"/>
                </a:cxn>
                <a:cxn ang="0">
                  <a:pos x="31" y="1"/>
                </a:cxn>
                <a:cxn ang="0">
                  <a:pos x="8" y="11"/>
                </a:cxn>
                <a:cxn ang="0">
                  <a:pos x="30" y="12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32" name="Freeform 164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/>
              <a:ahLst/>
              <a:cxnLst>
                <a:cxn ang="0">
                  <a:pos x="163" y="155"/>
                </a:cxn>
                <a:cxn ang="0">
                  <a:pos x="152" y="125"/>
                </a:cxn>
                <a:cxn ang="0">
                  <a:pos x="142" y="99"/>
                </a:cxn>
                <a:cxn ang="0">
                  <a:pos x="165" y="93"/>
                </a:cxn>
                <a:cxn ang="0">
                  <a:pos x="146" y="82"/>
                </a:cxn>
                <a:cxn ang="0">
                  <a:pos x="157" y="83"/>
                </a:cxn>
                <a:cxn ang="0">
                  <a:pos x="157" y="77"/>
                </a:cxn>
                <a:cxn ang="0">
                  <a:pos x="135" y="78"/>
                </a:cxn>
                <a:cxn ang="0">
                  <a:pos x="128" y="125"/>
                </a:cxn>
                <a:cxn ang="0">
                  <a:pos x="124" y="84"/>
                </a:cxn>
                <a:cxn ang="0">
                  <a:pos x="118" y="67"/>
                </a:cxn>
                <a:cxn ang="0">
                  <a:pos x="124" y="51"/>
                </a:cxn>
                <a:cxn ang="0">
                  <a:pos x="121" y="37"/>
                </a:cxn>
                <a:cxn ang="0">
                  <a:pos x="119" y="24"/>
                </a:cxn>
                <a:cxn ang="0">
                  <a:pos x="132" y="39"/>
                </a:cxn>
                <a:cxn ang="0">
                  <a:pos x="149" y="18"/>
                </a:cxn>
                <a:cxn ang="0">
                  <a:pos x="147" y="36"/>
                </a:cxn>
                <a:cxn ang="0">
                  <a:pos x="143" y="48"/>
                </a:cxn>
                <a:cxn ang="0">
                  <a:pos x="144" y="67"/>
                </a:cxn>
                <a:cxn ang="0">
                  <a:pos x="199" y="29"/>
                </a:cxn>
                <a:cxn ang="0">
                  <a:pos x="90" y="1"/>
                </a:cxn>
                <a:cxn ang="0">
                  <a:pos x="56" y="8"/>
                </a:cxn>
                <a:cxn ang="0">
                  <a:pos x="85" y="12"/>
                </a:cxn>
                <a:cxn ang="0">
                  <a:pos x="60" y="22"/>
                </a:cxn>
                <a:cxn ang="0">
                  <a:pos x="58" y="29"/>
                </a:cxn>
                <a:cxn ang="0">
                  <a:pos x="38" y="17"/>
                </a:cxn>
                <a:cxn ang="0">
                  <a:pos x="13" y="115"/>
                </a:cxn>
                <a:cxn ang="0">
                  <a:pos x="61" y="146"/>
                </a:cxn>
                <a:cxn ang="0">
                  <a:pos x="45" y="133"/>
                </a:cxn>
                <a:cxn ang="0">
                  <a:pos x="35" y="145"/>
                </a:cxn>
                <a:cxn ang="0">
                  <a:pos x="32" y="128"/>
                </a:cxn>
                <a:cxn ang="0">
                  <a:pos x="46" y="86"/>
                </a:cxn>
                <a:cxn ang="0">
                  <a:pos x="67" y="83"/>
                </a:cxn>
                <a:cxn ang="0">
                  <a:pos x="71" y="95"/>
                </a:cxn>
                <a:cxn ang="0">
                  <a:pos x="61" y="121"/>
                </a:cxn>
                <a:cxn ang="0">
                  <a:pos x="91" y="180"/>
                </a:cxn>
                <a:cxn ang="0">
                  <a:pos x="186" y="166"/>
                </a:cxn>
                <a:cxn ang="0">
                  <a:pos x="182" y="66"/>
                </a:cxn>
                <a:cxn ang="0">
                  <a:pos x="165" y="60"/>
                </a:cxn>
                <a:cxn ang="0">
                  <a:pos x="113" y="61"/>
                </a:cxn>
                <a:cxn ang="0">
                  <a:pos x="108" y="87"/>
                </a:cxn>
                <a:cxn ang="0">
                  <a:pos x="114" y="50"/>
                </a:cxn>
                <a:cxn ang="0">
                  <a:pos x="89" y="26"/>
                </a:cxn>
                <a:cxn ang="0">
                  <a:pos x="105" y="35"/>
                </a:cxn>
                <a:cxn ang="0">
                  <a:pos x="61" y="72"/>
                </a:cxn>
                <a:cxn ang="0">
                  <a:pos x="24" y="37"/>
                </a:cxn>
                <a:cxn ang="0">
                  <a:pos x="68" y="40"/>
                </a:cxn>
                <a:cxn ang="0">
                  <a:pos x="79" y="40"/>
                </a:cxn>
                <a:cxn ang="0">
                  <a:pos x="108" y="45"/>
                </a:cxn>
                <a:cxn ang="0">
                  <a:pos x="99" y="93"/>
                </a:cxn>
                <a:cxn ang="0">
                  <a:pos x="93" y="51"/>
                </a:cxn>
                <a:cxn ang="0">
                  <a:pos x="61" y="72"/>
                </a:cxn>
                <a:cxn ang="0">
                  <a:pos x="80" y="82"/>
                </a:cxn>
                <a:cxn ang="0">
                  <a:pos x="88" y="58"/>
                </a:cxn>
                <a:cxn ang="0">
                  <a:pos x="102" y="145"/>
                </a:cxn>
                <a:cxn ang="0">
                  <a:pos x="82" y="96"/>
                </a:cxn>
                <a:cxn ang="0">
                  <a:pos x="117" y="106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33" name="Freeform 165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/>
              <a:ahLst/>
              <a:cxnLst>
                <a:cxn ang="0">
                  <a:pos x="14" y="5"/>
                </a:cxn>
                <a:cxn ang="0">
                  <a:pos x="9" y="20"/>
                </a:cxn>
                <a:cxn ang="0">
                  <a:pos x="14" y="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34" name="Freeform 166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/>
              <a:ahLst/>
              <a:cxnLst>
                <a:cxn ang="0">
                  <a:pos x="7" y="10"/>
                </a:cxn>
                <a:cxn ang="0">
                  <a:pos x="4" y="25"/>
                </a:cxn>
                <a:cxn ang="0">
                  <a:pos x="15" y="16"/>
                </a:cxn>
                <a:cxn ang="0">
                  <a:pos x="13" y="8"/>
                </a:cxn>
                <a:cxn ang="0">
                  <a:pos x="7" y="10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35" name="Freeform 167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/>
              <a:ahLst/>
              <a:cxnLst>
                <a:cxn ang="0">
                  <a:pos x="40" y="2"/>
                </a:cxn>
                <a:cxn ang="0">
                  <a:pos x="9" y="1"/>
                </a:cxn>
                <a:cxn ang="0">
                  <a:pos x="1" y="9"/>
                </a:cxn>
                <a:cxn ang="0">
                  <a:pos x="22" y="21"/>
                </a:cxn>
                <a:cxn ang="0">
                  <a:pos x="34" y="20"/>
                </a:cxn>
                <a:cxn ang="0">
                  <a:pos x="40" y="19"/>
                </a:cxn>
                <a:cxn ang="0">
                  <a:pos x="40" y="2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36" name="Freeform 168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/>
              <a:ahLst/>
              <a:cxnLst>
                <a:cxn ang="0">
                  <a:pos x="24" y="2"/>
                </a:cxn>
                <a:cxn ang="0">
                  <a:pos x="11" y="2"/>
                </a:cxn>
                <a:cxn ang="0">
                  <a:pos x="4" y="20"/>
                </a:cxn>
                <a:cxn ang="0">
                  <a:pos x="28" y="22"/>
                </a:cxn>
                <a:cxn ang="0">
                  <a:pos x="24" y="2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37" name="Freeform 169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4" y="5"/>
                </a:cxn>
                <a:cxn ang="0">
                  <a:pos x="5" y="0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38" name="Freeform 170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/>
              <a:ahLst/>
              <a:cxnLst>
                <a:cxn ang="0">
                  <a:pos x="7" y="13"/>
                </a:cxn>
                <a:cxn ang="0">
                  <a:pos x="25" y="6"/>
                </a:cxn>
                <a:cxn ang="0">
                  <a:pos x="17" y="1"/>
                </a:cxn>
                <a:cxn ang="0">
                  <a:pos x="7" y="11"/>
                </a:cxn>
                <a:cxn ang="0">
                  <a:pos x="7" y="13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39" name="Freeform 171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/>
              <a:ahLst/>
              <a:cxnLst>
                <a:cxn ang="0">
                  <a:pos x="25" y="6"/>
                </a:cxn>
                <a:cxn ang="0">
                  <a:pos x="8" y="10"/>
                </a:cxn>
                <a:cxn ang="0">
                  <a:pos x="6" y="13"/>
                </a:cxn>
                <a:cxn ang="0">
                  <a:pos x="27" y="12"/>
                </a:cxn>
                <a:cxn ang="0">
                  <a:pos x="25" y="6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40" name="Freeform 172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/>
              <a:ahLst/>
              <a:cxnLst>
                <a:cxn ang="0">
                  <a:pos x="40" y="3"/>
                </a:cxn>
                <a:cxn ang="0">
                  <a:pos x="29" y="1"/>
                </a:cxn>
                <a:cxn ang="0">
                  <a:pos x="7" y="0"/>
                </a:cxn>
                <a:cxn ang="0">
                  <a:pos x="2" y="5"/>
                </a:cxn>
                <a:cxn ang="0">
                  <a:pos x="20" y="8"/>
                </a:cxn>
                <a:cxn ang="0">
                  <a:pos x="41" y="8"/>
                </a:cxn>
                <a:cxn ang="0">
                  <a:pos x="40" y="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41" name="Freeform 173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/>
              <a:ahLst/>
              <a:cxnLst>
                <a:cxn ang="0">
                  <a:pos x="37" y="2"/>
                </a:cxn>
                <a:cxn ang="0">
                  <a:pos x="26" y="4"/>
                </a:cxn>
                <a:cxn ang="0">
                  <a:pos x="13" y="3"/>
                </a:cxn>
                <a:cxn ang="0">
                  <a:pos x="1" y="2"/>
                </a:cxn>
                <a:cxn ang="0">
                  <a:pos x="35" y="8"/>
                </a:cxn>
                <a:cxn ang="0">
                  <a:pos x="37" y="2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42" name="Freeform 174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/>
              <a:ahLst/>
              <a:cxnLst>
                <a:cxn ang="0">
                  <a:pos x="28" y="9"/>
                </a:cxn>
                <a:cxn ang="0">
                  <a:pos x="13" y="6"/>
                </a:cxn>
                <a:cxn ang="0">
                  <a:pos x="4" y="15"/>
                </a:cxn>
                <a:cxn ang="0">
                  <a:pos x="1" y="19"/>
                </a:cxn>
                <a:cxn ang="0">
                  <a:pos x="9" y="19"/>
                </a:cxn>
                <a:cxn ang="0">
                  <a:pos x="17" y="27"/>
                </a:cxn>
                <a:cxn ang="0">
                  <a:pos x="21" y="30"/>
                </a:cxn>
                <a:cxn ang="0">
                  <a:pos x="29" y="19"/>
                </a:cxn>
                <a:cxn ang="0">
                  <a:pos x="39" y="19"/>
                </a:cxn>
                <a:cxn ang="0">
                  <a:pos x="28" y="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43" name="Freeform 175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/>
              <a:ahLst/>
              <a:cxnLst>
                <a:cxn ang="0">
                  <a:pos x="22" y="2"/>
                </a:cxn>
                <a:cxn ang="0">
                  <a:pos x="18" y="17"/>
                </a:cxn>
                <a:cxn ang="0">
                  <a:pos x="7" y="20"/>
                </a:cxn>
                <a:cxn ang="0">
                  <a:pos x="7" y="23"/>
                </a:cxn>
                <a:cxn ang="0">
                  <a:pos x="17" y="34"/>
                </a:cxn>
                <a:cxn ang="0">
                  <a:pos x="12" y="45"/>
                </a:cxn>
                <a:cxn ang="0">
                  <a:pos x="0" y="55"/>
                </a:cxn>
                <a:cxn ang="0">
                  <a:pos x="5" y="58"/>
                </a:cxn>
                <a:cxn ang="0">
                  <a:pos x="16" y="62"/>
                </a:cxn>
                <a:cxn ang="0">
                  <a:pos x="23" y="57"/>
                </a:cxn>
                <a:cxn ang="0">
                  <a:pos x="25" y="14"/>
                </a:cxn>
                <a:cxn ang="0">
                  <a:pos x="25" y="2"/>
                </a:cxn>
                <a:cxn ang="0">
                  <a:pos x="22" y="2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4144" name="Group 176"/>
          <p:cNvGrpSpPr>
            <a:grpSpLocks/>
          </p:cNvGrpSpPr>
          <p:nvPr/>
        </p:nvGrpSpPr>
        <p:grpSpPr bwMode="auto">
          <a:xfrm>
            <a:off x="1066800" y="5562600"/>
            <a:ext cx="533400" cy="492125"/>
            <a:chOff x="96" y="2784"/>
            <a:chExt cx="1062" cy="981"/>
          </a:xfrm>
        </p:grpSpPr>
        <p:sp>
          <p:nvSpPr>
            <p:cNvPr id="84145" name="Freeform 177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/>
              <a:ahLst/>
              <a:cxnLst>
                <a:cxn ang="0">
                  <a:pos x="30" y="12"/>
                </a:cxn>
                <a:cxn ang="0">
                  <a:pos x="37" y="10"/>
                </a:cxn>
                <a:cxn ang="0">
                  <a:pos x="38" y="9"/>
                </a:cxn>
                <a:cxn ang="0">
                  <a:pos x="31" y="1"/>
                </a:cxn>
                <a:cxn ang="0">
                  <a:pos x="8" y="11"/>
                </a:cxn>
                <a:cxn ang="0">
                  <a:pos x="30" y="12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46" name="Freeform 178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/>
              <a:ahLst/>
              <a:cxnLst>
                <a:cxn ang="0">
                  <a:pos x="163" y="155"/>
                </a:cxn>
                <a:cxn ang="0">
                  <a:pos x="152" y="125"/>
                </a:cxn>
                <a:cxn ang="0">
                  <a:pos x="142" y="99"/>
                </a:cxn>
                <a:cxn ang="0">
                  <a:pos x="165" y="93"/>
                </a:cxn>
                <a:cxn ang="0">
                  <a:pos x="146" y="82"/>
                </a:cxn>
                <a:cxn ang="0">
                  <a:pos x="157" y="83"/>
                </a:cxn>
                <a:cxn ang="0">
                  <a:pos x="157" y="77"/>
                </a:cxn>
                <a:cxn ang="0">
                  <a:pos x="135" y="78"/>
                </a:cxn>
                <a:cxn ang="0">
                  <a:pos x="128" y="125"/>
                </a:cxn>
                <a:cxn ang="0">
                  <a:pos x="124" y="84"/>
                </a:cxn>
                <a:cxn ang="0">
                  <a:pos x="118" y="67"/>
                </a:cxn>
                <a:cxn ang="0">
                  <a:pos x="124" y="51"/>
                </a:cxn>
                <a:cxn ang="0">
                  <a:pos x="121" y="37"/>
                </a:cxn>
                <a:cxn ang="0">
                  <a:pos x="119" y="24"/>
                </a:cxn>
                <a:cxn ang="0">
                  <a:pos x="132" y="39"/>
                </a:cxn>
                <a:cxn ang="0">
                  <a:pos x="149" y="18"/>
                </a:cxn>
                <a:cxn ang="0">
                  <a:pos x="147" y="36"/>
                </a:cxn>
                <a:cxn ang="0">
                  <a:pos x="143" y="48"/>
                </a:cxn>
                <a:cxn ang="0">
                  <a:pos x="144" y="67"/>
                </a:cxn>
                <a:cxn ang="0">
                  <a:pos x="199" y="29"/>
                </a:cxn>
                <a:cxn ang="0">
                  <a:pos x="90" y="1"/>
                </a:cxn>
                <a:cxn ang="0">
                  <a:pos x="56" y="8"/>
                </a:cxn>
                <a:cxn ang="0">
                  <a:pos x="85" y="12"/>
                </a:cxn>
                <a:cxn ang="0">
                  <a:pos x="60" y="22"/>
                </a:cxn>
                <a:cxn ang="0">
                  <a:pos x="58" y="29"/>
                </a:cxn>
                <a:cxn ang="0">
                  <a:pos x="38" y="17"/>
                </a:cxn>
                <a:cxn ang="0">
                  <a:pos x="13" y="115"/>
                </a:cxn>
                <a:cxn ang="0">
                  <a:pos x="61" y="146"/>
                </a:cxn>
                <a:cxn ang="0">
                  <a:pos x="45" y="133"/>
                </a:cxn>
                <a:cxn ang="0">
                  <a:pos x="35" y="145"/>
                </a:cxn>
                <a:cxn ang="0">
                  <a:pos x="32" y="128"/>
                </a:cxn>
                <a:cxn ang="0">
                  <a:pos x="46" y="86"/>
                </a:cxn>
                <a:cxn ang="0">
                  <a:pos x="67" y="83"/>
                </a:cxn>
                <a:cxn ang="0">
                  <a:pos x="71" y="95"/>
                </a:cxn>
                <a:cxn ang="0">
                  <a:pos x="61" y="121"/>
                </a:cxn>
                <a:cxn ang="0">
                  <a:pos x="91" y="180"/>
                </a:cxn>
                <a:cxn ang="0">
                  <a:pos x="186" y="166"/>
                </a:cxn>
                <a:cxn ang="0">
                  <a:pos x="182" y="66"/>
                </a:cxn>
                <a:cxn ang="0">
                  <a:pos x="165" y="60"/>
                </a:cxn>
                <a:cxn ang="0">
                  <a:pos x="113" y="61"/>
                </a:cxn>
                <a:cxn ang="0">
                  <a:pos x="108" y="87"/>
                </a:cxn>
                <a:cxn ang="0">
                  <a:pos x="114" y="50"/>
                </a:cxn>
                <a:cxn ang="0">
                  <a:pos x="89" y="26"/>
                </a:cxn>
                <a:cxn ang="0">
                  <a:pos x="105" y="35"/>
                </a:cxn>
                <a:cxn ang="0">
                  <a:pos x="61" y="72"/>
                </a:cxn>
                <a:cxn ang="0">
                  <a:pos x="24" y="37"/>
                </a:cxn>
                <a:cxn ang="0">
                  <a:pos x="68" y="40"/>
                </a:cxn>
                <a:cxn ang="0">
                  <a:pos x="79" y="40"/>
                </a:cxn>
                <a:cxn ang="0">
                  <a:pos x="108" y="45"/>
                </a:cxn>
                <a:cxn ang="0">
                  <a:pos x="99" y="93"/>
                </a:cxn>
                <a:cxn ang="0">
                  <a:pos x="93" y="51"/>
                </a:cxn>
                <a:cxn ang="0">
                  <a:pos x="61" y="72"/>
                </a:cxn>
                <a:cxn ang="0">
                  <a:pos x="80" y="82"/>
                </a:cxn>
                <a:cxn ang="0">
                  <a:pos x="88" y="58"/>
                </a:cxn>
                <a:cxn ang="0">
                  <a:pos x="102" y="145"/>
                </a:cxn>
                <a:cxn ang="0">
                  <a:pos x="82" y="96"/>
                </a:cxn>
                <a:cxn ang="0">
                  <a:pos x="117" y="106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47" name="Freeform 179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/>
              <a:ahLst/>
              <a:cxnLst>
                <a:cxn ang="0">
                  <a:pos x="14" y="5"/>
                </a:cxn>
                <a:cxn ang="0">
                  <a:pos x="9" y="20"/>
                </a:cxn>
                <a:cxn ang="0">
                  <a:pos x="14" y="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48" name="Freeform 180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/>
              <a:ahLst/>
              <a:cxnLst>
                <a:cxn ang="0">
                  <a:pos x="7" y="10"/>
                </a:cxn>
                <a:cxn ang="0">
                  <a:pos x="4" y="25"/>
                </a:cxn>
                <a:cxn ang="0">
                  <a:pos x="15" y="16"/>
                </a:cxn>
                <a:cxn ang="0">
                  <a:pos x="13" y="8"/>
                </a:cxn>
                <a:cxn ang="0">
                  <a:pos x="7" y="10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49" name="Freeform 181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/>
              <a:ahLst/>
              <a:cxnLst>
                <a:cxn ang="0">
                  <a:pos x="40" y="2"/>
                </a:cxn>
                <a:cxn ang="0">
                  <a:pos x="9" y="1"/>
                </a:cxn>
                <a:cxn ang="0">
                  <a:pos x="1" y="9"/>
                </a:cxn>
                <a:cxn ang="0">
                  <a:pos x="22" y="21"/>
                </a:cxn>
                <a:cxn ang="0">
                  <a:pos x="34" y="20"/>
                </a:cxn>
                <a:cxn ang="0">
                  <a:pos x="40" y="19"/>
                </a:cxn>
                <a:cxn ang="0">
                  <a:pos x="40" y="2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50" name="Freeform 182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/>
              <a:ahLst/>
              <a:cxnLst>
                <a:cxn ang="0">
                  <a:pos x="24" y="2"/>
                </a:cxn>
                <a:cxn ang="0">
                  <a:pos x="11" y="2"/>
                </a:cxn>
                <a:cxn ang="0">
                  <a:pos x="4" y="20"/>
                </a:cxn>
                <a:cxn ang="0">
                  <a:pos x="28" y="22"/>
                </a:cxn>
                <a:cxn ang="0">
                  <a:pos x="24" y="2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51" name="Freeform 183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4" y="5"/>
                </a:cxn>
                <a:cxn ang="0">
                  <a:pos x="5" y="0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52" name="Freeform 184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/>
              <a:ahLst/>
              <a:cxnLst>
                <a:cxn ang="0">
                  <a:pos x="7" y="13"/>
                </a:cxn>
                <a:cxn ang="0">
                  <a:pos x="25" y="6"/>
                </a:cxn>
                <a:cxn ang="0">
                  <a:pos x="17" y="1"/>
                </a:cxn>
                <a:cxn ang="0">
                  <a:pos x="7" y="11"/>
                </a:cxn>
                <a:cxn ang="0">
                  <a:pos x="7" y="13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53" name="Freeform 185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/>
              <a:ahLst/>
              <a:cxnLst>
                <a:cxn ang="0">
                  <a:pos x="25" y="6"/>
                </a:cxn>
                <a:cxn ang="0">
                  <a:pos x="8" y="10"/>
                </a:cxn>
                <a:cxn ang="0">
                  <a:pos x="6" y="13"/>
                </a:cxn>
                <a:cxn ang="0">
                  <a:pos x="27" y="12"/>
                </a:cxn>
                <a:cxn ang="0">
                  <a:pos x="25" y="6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54" name="Freeform 186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/>
              <a:ahLst/>
              <a:cxnLst>
                <a:cxn ang="0">
                  <a:pos x="40" y="3"/>
                </a:cxn>
                <a:cxn ang="0">
                  <a:pos x="29" y="1"/>
                </a:cxn>
                <a:cxn ang="0">
                  <a:pos x="7" y="0"/>
                </a:cxn>
                <a:cxn ang="0">
                  <a:pos x="2" y="5"/>
                </a:cxn>
                <a:cxn ang="0">
                  <a:pos x="20" y="8"/>
                </a:cxn>
                <a:cxn ang="0">
                  <a:pos x="41" y="8"/>
                </a:cxn>
                <a:cxn ang="0">
                  <a:pos x="40" y="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55" name="Freeform 187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/>
              <a:ahLst/>
              <a:cxnLst>
                <a:cxn ang="0">
                  <a:pos x="37" y="2"/>
                </a:cxn>
                <a:cxn ang="0">
                  <a:pos x="26" y="4"/>
                </a:cxn>
                <a:cxn ang="0">
                  <a:pos x="13" y="3"/>
                </a:cxn>
                <a:cxn ang="0">
                  <a:pos x="1" y="2"/>
                </a:cxn>
                <a:cxn ang="0">
                  <a:pos x="35" y="8"/>
                </a:cxn>
                <a:cxn ang="0">
                  <a:pos x="37" y="2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56" name="Freeform 188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/>
              <a:ahLst/>
              <a:cxnLst>
                <a:cxn ang="0">
                  <a:pos x="28" y="9"/>
                </a:cxn>
                <a:cxn ang="0">
                  <a:pos x="13" y="6"/>
                </a:cxn>
                <a:cxn ang="0">
                  <a:pos x="4" y="15"/>
                </a:cxn>
                <a:cxn ang="0">
                  <a:pos x="1" y="19"/>
                </a:cxn>
                <a:cxn ang="0">
                  <a:pos x="9" y="19"/>
                </a:cxn>
                <a:cxn ang="0">
                  <a:pos x="17" y="27"/>
                </a:cxn>
                <a:cxn ang="0">
                  <a:pos x="21" y="30"/>
                </a:cxn>
                <a:cxn ang="0">
                  <a:pos x="29" y="19"/>
                </a:cxn>
                <a:cxn ang="0">
                  <a:pos x="39" y="19"/>
                </a:cxn>
                <a:cxn ang="0">
                  <a:pos x="28" y="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57" name="Freeform 189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/>
              <a:ahLst/>
              <a:cxnLst>
                <a:cxn ang="0">
                  <a:pos x="22" y="2"/>
                </a:cxn>
                <a:cxn ang="0">
                  <a:pos x="18" y="17"/>
                </a:cxn>
                <a:cxn ang="0">
                  <a:pos x="7" y="20"/>
                </a:cxn>
                <a:cxn ang="0">
                  <a:pos x="7" y="23"/>
                </a:cxn>
                <a:cxn ang="0">
                  <a:pos x="17" y="34"/>
                </a:cxn>
                <a:cxn ang="0">
                  <a:pos x="12" y="45"/>
                </a:cxn>
                <a:cxn ang="0">
                  <a:pos x="0" y="55"/>
                </a:cxn>
                <a:cxn ang="0">
                  <a:pos x="5" y="58"/>
                </a:cxn>
                <a:cxn ang="0">
                  <a:pos x="16" y="62"/>
                </a:cxn>
                <a:cxn ang="0">
                  <a:pos x="23" y="57"/>
                </a:cxn>
                <a:cxn ang="0">
                  <a:pos x="25" y="14"/>
                </a:cxn>
                <a:cxn ang="0">
                  <a:pos x="25" y="2"/>
                </a:cxn>
                <a:cxn ang="0">
                  <a:pos x="22" y="2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4158" name="Group 190"/>
          <p:cNvGrpSpPr>
            <a:grpSpLocks/>
          </p:cNvGrpSpPr>
          <p:nvPr/>
        </p:nvGrpSpPr>
        <p:grpSpPr bwMode="auto">
          <a:xfrm>
            <a:off x="381000" y="3962400"/>
            <a:ext cx="533400" cy="492125"/>
            <a:chOff x="96" y="2784"/>
            <a:chExt cx="1062" cy="981"/>
          </a:xfrm>
        </p:grpSpPr>
        <p:sp>
          <p:nvSpPr>
            <p:cNvPr id="84159" name="Freeform 191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/>
              <a:ahLst/>
              <a:cxnLst>
                <a:cxn ang="0">
                  <a:pos x="30" y="12"/>
                </a:cxn>
                <a:cxn ang="0">
                  <a:pos x="37" y="10"/>
                </a:cxn>
                <a:cxn ang="0">
                  <a:pos x="38" y="9"/>
                </a:cxn>
                <a:cxn ang="0">
                  <a:pos x="31" y="1"/>
                </a:cxn>
                <a:cxn ang="0">
                  <a:pos x="8" y="11"/>
                </a:cxn>
                <a:cxn ang="0">
                  <a:pos x="30" y="12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60" name="Freeform 192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/>
              <a:ahLst/>
              <a:cxnLst>
                <a:cxn ang="0">
                  <a:pos x="163" y="155"/>
                </a:cxn>
                <a:cxn ang="0">
                  <a:pos x="152" y="125"/>
                </a:cxn>
                <a:cxn ang="0">
                  <a:pos x="142" y="99"/>
                </a:cxn>
                <a:cxn ang="0">
                  <a:pos x="165" y="93"/>
                </a:cxn>
                <a:cxn ang="0">
                  <a:pos x="146" y="82"/>
                </a:cxn>
                <a:cxn ang="0">
                  <a:pos x="157" y="83"/>
                </a:cxn>
                <a:cxn ang="0">
                  <a:pos x="157" y="77"/>
                </a:cxn>
                <a:cxn ang="0">
                  <a:pos x="135" y="78"/>
                </a:cxn>
                <a:cxn ang="0">
                  <a:pos x="128" y="125"/>
                </a:cxn>
                <a:cxn ang="0">
                  <a:pos x="124" y="84"/>
                </a:cxn>
                <a:cxn ang="0">
                  <a:pos x="118" y="67"/>
                </a:cxn>
                <a:cxn ang="0">
                  <a:pos x="124" y="51"/>
                </a:cxn>
                <a:cxn ang="0">
                  <a:pos x="121" y="37"/>
                </a:cxn>
                <a:cxn ang="0">
                  <a:pos x="119" y="24"/>
                </a:cxn>
                <a:cxn ang="0">
                  <a:pos x="132" y="39"/>
                </a:cxn>
                <a:cxn ang="0">
                  <a:pos x="149" y="18"/>
                </a:cxn>
                <a:cxn ang="0">
                  <a:pos x="147" y="36"/>
                </a:cxn>
                <a:cxn ang="0">
                  <a:pos x="143" y="48"/>
                </a:cxn>
                <a:cxn ang="0">
                  <a:pos x="144" y="67"/>
                </a:cxn>
                <a:cxn ang="0">
                  <a:pos x="199" y="29"/>
                </a:cxn>
                <a:cxn ang="0">
                  <a:pos x="90" y="1"/>
                </a:cxn>
                <a:cxn ang="0">
                  <a:pos x="56" y="8"/>
                </a:cxn>
                <a:cxn ang="0">
                  <a:pos x="85" y="12"/>
                </a:cxn>
                <a:cxn ang="0">
                  <a:pos x="60" y="22"/>
                </a:cxn>
                <a:cxn ang="0">
                  <a:pos x="58" y="29"/>
                </a:cxn>
                <a:cxn ang="0">
                  <a:pos x="38" y="17"/>
                </a:cxn>
                <a:cxn ang="0">
                  <a:pos x="13" y="115"/>
                </a:cxn>
                <a:cxn ang="0">
                  <a:pos x="61" y="146"/>
                </a:cxn>
                <a:cxn ang="0">
                  <a:pos x="45" y="133"/>
                </a:cxn>
                <a:cxn ang="0">
                  <a:pos x="35" y="145"/>
                </a:cxn>
                <a:cxn ang="0">
                  <a:pos x="32" y="128"/>
                </a:cxn>
                <a:cxn ang="0">
                  <a:pos x="46" y="86"/>
                </a:cxn>
                <a:cxn ang="0">
                  <a:pos x="67" y="83"/>
                </a:cxn>
                <a:cxn ang="0">
                  <a:pos x="71" y="95"/>
                </a:cxn>
                <a:cxn ang="0">
                  <a:pos x="61" y="121"/>
                </a:cxn>
                <a:cxn ang="0">
                  <a:pos x="91" y="180"/>
                </a:cxn>
                <a:cxn ang="0">
                  <a:pos x="186" y="166"/>
                </a:cxn>
                <a:cxn ang="0">
                  <a:pos x="182" y="66"/>
                </a:cxn>
                <a:cxn ang="0">
                  <a:pos x="165" y="60"/>
                </a:cxn>
                <a:cxn ang="0">
                  <a:pos x="113" y="61"/>
                </a:cxn>
                <a:cxn ang="0">
                  <a:pos x="108" y="87"/>
                </a:cxn>
                <a:cxn ang="0">
                  <a:pos x="114" y="50"/>
                </a:cxn>
                <a:cxn ang="0">
                  <a:pos x="89" y="26"/>
                </a:cxn>
                <a:cxn ang="0">
                  <a:pos x="105" y="35"/>
                </a:cxn>
                <a:cxn ang="0">
                  <a:pos x="61" y="72"/>
                </a:cxn>
                <a:cxn ang="0">
                  <a:pos x="24" y="37"/>
                </a:cxn>
                <a:cxn ang="0">
                  <a:pos x="68" y="40"/>
                </a:cxn>
                <a:cxn ang="0">
                  <a:pos x="79" y="40"/>
                </a:cxn>
                <a:cxn ang="0">
                  <a:pos x="108" y="45"/>
                </a:cxn>
                <a:cxn ang="0">
                  <a:pos x="99" y="93"/>
                </a:cxn>
                <a:cxn ang="0">
                  <a:pos x="93" y="51"/>
                </a:cxn>
                <a:cxn ang="0">
                  <a:pos x="61" y="72"/>
                </a:cxn>
                <a:cxn ang="0">
                  <a:pos x="80" y="82"/>
                </a:cxn>
                <a:cxn ang="0">
                  <a:pos x="88" y="58"/>
                </a:cxn>
                <a:cxn ang="0">
                  <a:pos x="102" y="145"/>
                </a:cxn>
                <a:cxn ang="0">
                  <a:pos x="82" y="96"/>
                </a:cxn>
                <a:cxn ang="0">
                  <a:pos x="117" y="106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61" name="Freeform 193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/>
              <a:ahLst/>
              <a:cxnLst>
                <a:cxn ang="0">
                  <a:pos x="14" y="5"/>
                </a:cxn>
                <a:cxn ang="0">
                  <a:pos x="9" y="20"/>
                </a:cxn>
                <a:cxn ang="0">
                  <a:pos x="14" y="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62" name="Freeform 194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/>
              <a:ahLst/>
              <a:cxnLst>
                <a:cxn ang="0">
                  <a:pos x="7" y="10"/>
                </a:cxn>
                <a:cxn ang="0">
                  <a:pos x="4" y="25"/>
                </a:cxn>
                <a:cxn ang="0">
                  <a:pos x="15" y="16"/>
                </a:cxn>
                <a:cxn ang="0">
                  <a:pos x="13" y="8"/>
                </a:cxn>
                <a:cxn ang="0">
                  <a:pos x="7" y="10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63" name="Freeform 195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/>
              <a:ahLst/>
              <a:cxnLst>
                <a:cxn ang="0">
                  <a:pos x="40" y="2"/>
                </a:cxn>
                <a:cxn ang="0">
                  <a:pos x="9" y="1"/>
                </a:cxn>
                <a:cxn ang="0">
                  <a:pos x="1" y="9"/>
                </a:cxn>
                <a:cxn ang="0">
                  <a:pos x="22" y="21"/>
                </a:cxn>
                <a:cxn ang="0">
                  <a:pos x="34" y="20"/>
                </a:cxn>
                <a:cxn ang="0">
                  <a:pos x="40" y="19"/>
                </a:cxn>
                <a:cxn ang="0">
                  <a:pos x="40" y="2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64" name="Freeform 196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/>
              <a:ahLst/>
              <a:cxnLst>
                <a:cxn ang="0">
                  <a:pos x="24" y="2"/>
                </a:cxn>
                <a:cxn ang="0">
                  <a:pos x="11" y="2"/>
                </a:cxn>
                <a:cxn ang="0">
                  <a:pos x="4" y="20"/>
                </a:cxn>
                <a:cxn ang="0">
                  <a:pos x="28" y="22"/>
                </a:cxn>
                <a:cxn ang="0">
                  <a:pos x="24" y="2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65" name="Freeform 197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4" y="5"/>
                </a:cxn>
                <a:cxn ang="0">
                  <a:pos x="5" y="0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66" name="Freeform 198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/>
              <a:ahLst/>
              <a:cxnLst>
                <a:cxn ang="0">
                  <a:pos x="7" y="13"/>
                </a:cxn>
                <a:cxn ang="0">
                  <a:pos x="25" y="6"/>
                </a:cxn>
                <a:cxn ang="0">
                  <a:pos x="17" y="1"/>
                </a:cxn>
                <a:cxn ang="0">
                  <a:pos x="7" y="11"/>
                </a:cxn>
                <a:cxn ang="0">
                  <a:pos x="7" y="13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67" name="Freeform 199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/>
              <a:ahLst/>
              <a:cxnLst>
                <a:cxn ang="0">
                  <a:pos x="25" y="6"/>
                </a:cxn>
                <a:cxn ang="0">
                  <a:pos x="8" y="10"/>
                </a:cxn>
                <a:cxn ang="0">
                  <a:pos x="6" y="13"/>
                </a:cxn>
                <a:cxn ang="0">
                  <a:pos x="27" y="12"/>
                </a:cxn>
                <a:cxn ang="0">
                  <a:pos x="25" y="6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68" name="Freeform 200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/>
              <a:ahLst/>
              <a:cxnLst>
                <a:cxn ang="0">
                  <a:pos x="40" y="3"/>
                </a:cxn>
                <a:cxn ang="0">
                  <a:pos x="29" y="1"/>
                </a:cxn>
                <a:cxn ang="0">
                  <a:pos x="7" y="0"/>
                </a:cxn>
                <a:cxn ang="0">
                  <a:pos x="2" y="5"/>
                </a:cxn>
                <a:cxn ang="0">
                  <a:pos x="20" y="8"/>
                </a:cxn>
                <a:cxn ang="0">
                  <a:pos x="41" y="8"/>
                </a:cxn>
                <a:cxn ang="0">
                  <a:pos x="40" y="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69" name="Freeform 201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/>
              <a:ahLst/>
              <a:cxnLst>
                <a:cxn ang="0">
                  <a:pos x="37" y="2"/>
                </a:cxn>
                <a:cxn ang="0">
                  <a:pos x="26" y="4"/>
                </a:cxn>
                <a:cxn ang="0">
                  <a:pos x="13" y="3"/>
                </a:cxn>
                <a:cxn ang="0">
                  <a:pos x="1" y="2"/>
                </a:cxn>
                <a:cxn ang="0">
                  <a:pos x="35" y="8"/>
                </a:cxn>
                <a:cxn ang="0">
                  <a:pos x="37" y="2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70" name="Freeform 202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/>
              <a:ahLst/>
              <a:cxnLst>
                <a:cxn ang="0">
                  <a:pos x="28" y="9"/>
                </a:cxn>
                <a:cxn ang="0">
                  <a:pos x="13" y="6"/>
                </a:cxn>
                <a:cxn ang="0">
                  <a:pos x="4" y="15"/>
                </a:cxn>
                <a:cxn ang="0">
                  <a:pos x="1" y="19"/>
                </a:cxn>
                <a:cxn ang="0">
                  <a:pos x="9" y="19"/>
                </a:cxn>
                <a:cxn ang="0">
                  <a:pos x="17" y="27"/>
                </a:cxn>
                <a:cxn ang="0">
                  <a:pos x="21" y="30"/>
                </a:cxn>
                <a:cxn ang="0">
                  <a:pos x="29" y="19"/>
                </a:cxn>
                <a:cxn ang="0">
                  <a:pos x="39" y="19"/>
                </a:cxn>
                <a:cxn ang="0">
                  <a:pos x="28" y="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71" name="Freeform 203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/>
              <a:ahLst/>
              <a:cxnLst>
                <a:cxn ang="0">
                  <a:pos x="22" y="2"/>
                </a:cxn>
                <a:cxn ang="0">
                  <a:pos x="18" y="17"/>
                </a:cxn>
                <a:cxn ang="0">
                  <a:pos x="7" y="20"/>
                </a:cxn>
                <a:cxn ang="0">
                  <a:pos x="7" y="23"/>
                </a:cxn>
                <a:cxn ang="0">
                  <a:pos x="17" y="34"/>
                </a:cxn>
                <a:cxn ang="0">
                  <a:pos x="12" y="45"/>
                </a:cxn>
                <a:cxn ang="0">
                  <a:pos x="0" y="55"/>
                </a:cxn>
                <a:cxn ang="0">
                  <a:pos x="5" y="58"/>
                </a:cxn>
                <a:cxn ang="0">
                  <a:pos x="16" y="62"/>
                </a:cxn>
                <a:cxn ang="0">
                  <a:pos x="23" y="57"/>
                </a:cxn>
                <a:cxn ang="0">
                  <a:pos x="25" y="14"/>
                </a:cxn>
                <a:cxn ang="0">
                  <a:pos x="25" y="2"/>
                </a:cxn>
                <a:cxn ang="0">
                  <a:pos x="22" y="2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4172" name="Group 204"/>
          <p:cNvGrpSpPr>
            <a:grpSpLocks/>
          </p:cNvGrpSpPr>
          <p:nvPr/>
        </p:nvGrpSpPr>
        <p:grpSpPr bwMode="auto">
          <a:xfrm>
            <a:off x="381000" y="5070475"/>
            <a:ext cx="533400" cy="492125"/>
            <a:chOff x="96" y="2784"/>
            <a:chExt cx="1062" cy="981"/>
          </a:xfrm>
        </p:grpSpPr>
        <p:sp>
          <p:nvSpPr>
            <p:cNvPr id="84173" name="Freeform 205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/>
              <a:ahLst/>
              <a:cxnLst>
                <a:cxn ang="0">
                  <a:pos x="30" y="12"/>
                </a:cxn>
                <a:cxn ang="0">
                  <a:pos x="37" y="10"/>
                </a:cxn>
                <a:cxn ang="0">
                  <a:pos x="38" y="9"/>
                </a:cxn>
                <a:cxn ang="0">
                  <a:pos x="31" y="1"/>
                </a:cxn>
                <a:cxn ang="0">
                  <a:pos x="8" y="11"/>
                </a:cxn>
                <a:cxn ang="0">
                  <a:pos x="30" y="12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74" name="Freeform 206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/>
              <a:ahLst/>
              <a:cxnLst>
                <a:cxn ang="0">
                  <a:pos x="163" y="155"/>
                </a:cxn>
                <a:cxn ang="0">
                  <a:pos x="152" y="125"/>
                </a:cxn>
                <a:cxn ang="0">
                  <a:pos x="142" y="99"/>
                </a:cxn>
                <a:cxn ang="0">
                  <a:pos x="165" y="93"/>
                </a:cxn>
                <a:cxn ang="0">
                  <a:pos x="146" y="82"/>
                </a:cxn>
                <a:cxn ang="0">
                  <a:pos x="157" y="83"/>
                </a:cxn>
                <a:cxn ang="0">
                  <a:pos x="157" y="77"/>
                </a:cxn>
                <a:cxn ang="0">
                  <a:pos x="135" y="78"/>
                </a:cxn>
                <a:cxn ang="0">
                  <a:pos x="128" y="125"/>
                </a:cxn>
                <a:cxn ang="0">
                  <a:pos x="124" y="84"/>
                </a:cxn>
                <a:cxn ang="0">
                  <a:pos x="118" y="67"/>
                </a:cxn>
                <a:cxn ang="0">
                  <a:pos x="124" y="51"/>
                </a:cxn>
                <a:cxn ang="0">
                  <a:pos x="121" y="37"/>
                </a:cxn>
                <a:cxn ang="0">
                  <a:pos x="119" y="24"/>
                </a:cxn>
                <a:cxn ang="0">
                  <a:pos x="132" y="39"/>
                </a:cxn>
                <a:cxn ang="0">
                  <a:pos x="149" y="18"/>
                </a:cxn>
                <a:cxn ang="0">
                  <a:pos x="147" y="36"/>
                </a:cxn>
                <a:cxn ang="0">
                  <a:pos x="143" y="48"/>
                </a:cxn>
                <a:cxn ang="0">
                  <a:pos x="144" y="67"/>
                </a:cxn>
                <a:cxn ang="0">
                  <a:pos x="199" y="29"/>
                </a:cxn>
                <a:cxn ang="0">
                  <a:pos x="90" y="1"/>
                </a:cxn>
                <a:cxn ang="0">
                  <a:pos x="56" y="8"/>
                </a:cxn>
                <a:cxn ang="0">
                  <a:pos x="85" y="12"/>
                </a:cxn>
                <a:cxn ang="0">
                  <a:pos x="60" y="22"/>
                </a:cxn>
                <a:cxn ang="0">
                  <a:pos x="58" y="29"/>
                </a:cxn>
                <a:cxn ang="0">
                  <a:pos x="38" y="17"/>
                </a:cxn>
                <a:cxn ang="0">
                  <a:pos x="13" y="115"/>
                </a:cxn>
                <a:cxn ang="0">
                  <a:pos x="61" y="146"/>
                </a:cxn>
                <a:cxn ang="0">
                  <a:pos x="45" y="133"/>
                </a:cxn>
                <a:cxn ang="0">
                  <a:pos x="35" y="145"/>
                </a:cxn>
                <a:cxn ang="0">
                  <a:pos x="32" y="128"/>
                </a:cxn>
                <a:cxn ang="0">
                  <a:pos x="46" y="86"/>
                </a:cxn>
                <a:cxn ang="0">
                  <a:pos x="67" y="83"/>
                </a:cxn>
                <a:cxn ang="0">
                  <a:pos x="71" y="95"/>
                </a:cxn>
                <a:cxn ang="0">
                  <a:pos x="61" y="121"/>
                </a:cxn>
                <a:cxn ang="0">
                  <a:pos x="91" y="180"/>
                </a:cxn>
                <a:cxn ang="0">
                  <a:pos x="186" y="166"/>
                </a:cxn>
                <a:cxn ang="0">
                  <a:pos x="182" y="66"/>
                </a:cxn>
                <a:cxn ang="0">
                  <a:pos x="165" y="60"/>
                </a:cxn>
                <a:cxn ang="0">
                  <a:pos x="113" y="61"/>
                </a:cxn>
                <a:cxn ang="0">
                  <a:pos x="108" y="87"/>
                </a:cxn>
                <a:cxn ang="0">
                  <a:pos x="114" y="50"/>
                </a:cxn>
                <a:cxn ang="0">
                  <a:pos x="89" y="26"/>
                </a:cxn>
                <a:cxn ang="0">
                  <a:pos x="105" y="35"/>
                </a:cxn>
                <a:cxn ang="0">
                  <a:pos x="61" y="72"/>
                </a:cxn>
                <a:cxn ang="0">
                  <a:pos x="24" y="37"/>
                </a:cxn>
                <a:cxn ang="0">
                  <a:pos x="68" y="40"/>
                </a:cxn>
                <a:cxn ang="0">
                  <a:pos x="79" y="40"/>
                </a:cxn>
                <a:cxn ang="0">
                  <a:pos x="108" y="45"/>
                </a:cxn>
                <a:cxn ang="0">
                  <a:pos x="99" y="93"/>
                </a:cxn>
                <a:cxn ang="0">
                  <a:pos x="93" y="51"/>
                </a:cxn>
                <a:cxn ang="0">
                  <a:pos x="61" y="72"/>
                </a:cxn>
                <a:cxn ang="0">
                  <a:pos x="80" y="82"/>
                </a:cxn>
                <a:cxn ang="0">
                  <a:pos x="88" y="58"/>
                </a:cxn>
                <a:cxn ang="0">
                  <a:pos x="102" y="145"/>
                </a:cxn>
                <a:cxn ang="0">
                  <a:pos x="82" y="96"/>
                </a:cxn>
                <a:cxn ang="0">
                  <a:pos x="117" y="106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75" name="Freeform 207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/>
              <a:ahLst/>
              <a:cxnLst>
                <a:cxn ang="0">
                  <a:pos x="14" y="5"/>
                </a:cxn>
                <a:cxn ang="0">
                  <a:pos x="9" y="20"/>
                </a:cxn>
                <a:cxn ang="0">
                  <a:pos x="14" y="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76" name="Freeform 208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/>
              <a:ahLst/>
              <a:cxnLst>
                <a:cxn ang="0">
                  <a:pos x="7" y="10"/>
                </a:cxn>
                <a:cxn ang="0">
                  <a:pos x="4" y="25"/>
                </a:cxn>
                <a:cxn ang="0">
                  <a:pos x="15" y="16"/>
                </a:cxn>
                <a:cxn ang="0">
                  <a:pos x="13" y="8"/>
                </a:cxn>
                <a:cxn ang="0">
                  <a:pos x="7" y="10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77" name="Freeform 209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/>
              <a:ahLst/>
              <a:cxnLst>
                <a:cxn ang="0">
                  <a:pos x="40" y="2"/>
                </a:cxn>
                <a:cxn ang="0">
                  <a:pos x="9" y="1"/>
                </a:cxn>
                <a:cxn ang="0">
                  <a:pos x="1" y="9"/>
                </a:cxn>
                <a:cxn ang="0">
                  <a:pos x="22" y="21"/>
                </a:cxn>
                <a:cxn ang="0">
                  <a:pos x="34" y="20"/>
                </a:cxn>
                <a:cxn ang="0">
                  <a:pos x="40" y="19"/>
                </a:cxn>
                <a:cxn ang="0">
                  <a:pos x="40" y="2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78" name="Freeform 210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/>
              <a:ahLst/>
              <a:cxnLst>
                <a:cxn ang="0">
                  <a:pos x="24" y="2"/>
                </a:cxn>
                <a:cxn ang="0">
                  <a:pos x="11" y="2"/>
                </a:cxn>
                <a:cxn ang="0">
                  <a:pos x="4" y="20"/>
                </a:cxn>
                <a:cxn ang="0">
                  <a:pos x="28" y="22"/>
                </a:cxn>
                <a:cxn ang="0">
                  <a:pos x="24" y="2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79" name="Freeform 211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4" y="5"/>
                </a:cxn>
                <a:cxn ang="0">
                  <a:pos x="5" y="0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80" name="Freeform 212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/>
              <a:ahLst/>
              <a:cxnLst>
                <a:cxn ang="0">
                  <a:pos x="7" y="13"/>
                </a:cxn>
                <a:cxn ang="0">
                  <a:pos x="25" y="6"/>
                </a:cxn>
                <a:cxn ang="0">
                  <a:pos x="17" y="1"/>
                </a:cxn>
                <a:cxn ang="0">
                  <a:pos x="7" y="11"/>
                </a:cxn>
                <a:cxn ang="0">
                  <a:pos x="7" y="13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81" name="Freeform 213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/>
              <a:ahLst/>
              <a:cxnLst>
                <a:cxn ang="0">
                  <a:pos x="25" y="6"/>
                </a:cxn>
                <a:cxn ang="0">
                  <a:pos x="8" y="10"/>
                </a:cxn>
                <a:cxn ang="0">
                  <a:pos x="6" y="13"/>
                </a:cxn>
                <a:cxn ang="0">
                  <a:pos x="27" y="12"/>
                </a:cxn>
                <a:cxn ang="0">
                  <a:pos x="25" y="6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82" name="Freeform 214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/>
              <a:ahLst/>
              <a:cxnLst>
                <a:cxn ang="0">
                  <a:pos x="40" y="3"/>
                </a:cxn>
                <a:cxn ang="0">
                  <a:pos x="29" y="1"/>
                </a:cxn>
                <a:cxn ang="0">
                  <a:pos x="7" y="0"/>
                </a:cxn>
                <a:cxn ang="0">
                  <a:pos x="2" y="5"/>
                </a:cxn>
                <a:cxn ang="0">
                  <a:pos x="20" y="8"/>
                </a:cxn>
                <a:cxn ang="0">
                  <a:pos x="41" y="8"/>
                </a:cxn>
                <a:cxn ang="0">
                  <a:pos x="40" y="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83" name="Freeform 215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/>
              <a:ahLst/>
              <a:cxnLst>
                <a:cxn ang="0">
                  <a:pos x="37" y="2"/>
                </a:cxn>
                <a:cxn ang="0">
                  <a:pos x="26" y="4"/>
                </a:cxn>
                <a:cxn ang="0">
                  <a:pos x="13" y="3"/>
                </a:cxn>
                <a:cxn ang="0">
                  <a:pos x="1" y="2"/>
                </a:cxn>
                <a:cxn ang="0">
                  <a:pos x="35" y="8"/>
                </a:cxn>
                <a:cxn ang="0">
                  <a:pos x="37" y="2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84" name="Freeform 216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/>
              <a:ahLst/>
              <a:cxnLst>
                <a:cxn ang="0">
                  <a:pos x="28" y="9"/>
                </a:cxn>
                <a:cxn ang="0">
                  <a:pos x="13" y="6"/>
                </a:cxn>
                <a:cxn ang="0">
                  <a:pos x="4" y="15"/>
                </a:cxn>
                <a:cxn ang="0">
                  <a:pos x="1" y="19"/>
                </a:cxn>
                <a:cxn ang="0">
                  <a:pos x="9" y="19"/>
                </a:cxn>
                <a:cxn ang="0">
                  <a:pos x="17" y="27"/>
                </a:cxn>
                <a:cxn ang="0">
                  <a:pos x="21" y="30"/>
                </a:cxn>
                <a:cxn ang="0">
                  <a:pos x="29" y="19"/>
                </a:cxn>
                <a:cxn ang="0">
                  <a:pos x="39" y="19"/>
                </a:cxn>
                <a:cxn ang="0">
                  <a:pos x="28" y="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85" name="Freeform 217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/>
              <a:ahLst/>
              <a:cxnLst>
                <a:cxn ang="0">
                  <a:pos x="22" y="2"/>
                </a:cxn>
                <a:cxn ang="0">
                  <a:pos x="18" y="17"/>
                </a:cxn>
                <a:cxn ang="0">
                  <a:pos x="7" y="20"/>
                </a:cxn>
                <a:cxn ang="0">
                  <a:pos x="7" y="23"/>
                </a:cxn>
                <a:cxn ang="0">
                  <a:pos x="17" y="34"/>
                </a:cxn>
                <a:cxn ang="0">
                  <a:pos x="12" y="45"/>
                </a:cxn>
                <a:cxn ang="0">
                  <a:pos x="0" y="55"/>
                </a:cxn>
                <a:cxn ang="0">
                  <a:pos x="5" y="58"/>
                </a:cxn>
                <a:cxn ang="0">
                  <a:pos x="16" y="62"/>
                </a:cxn>
                <a:cxn ang="0">
                  <a:pos x="23" y="57"/>
                </a:cxn>
                <a:cxn ang="0">
                  <a:pos x="25" y="14"/>
                </a:cxn>
                <a:cxn ang="0">
                  <a:pos x="25" y="2"/>
                </a:cxn>
                <a:cxn ang="0">
                  <a:pos x="22" y="2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4186" name="Group 218"/>
          <p:cNvGrpSpPr>
            <a:grpSpLocks/>
          </p:cNvGrpSpPr>
          <p:nvPr/>
        </p:nvGrpSpPr>
        <p:grpSpPr bwMode="auto">
          <a:xfrm>
            <a:off x="381000" y="6121400"/>
            <a:ext cx="533400" cy="492125"/>
            <a:chOff x="96" y="2784"/>
            <a:chExt cx="1062" cy="981"/>
          </a:xfrm>
        </p:grpSpPr>
        <p:sp>
          <p:nvSpPr>
            <p:cNvPr id="84187" name="Freeform 219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/>
              <a:ahLst/>
              <a:cxnLst>
                <a:cxn ang="0">
                  <a:pos x="30" y="12"/>
                </a:cxn>
                <a:cxn ang="0">
                  <a:pos x="37" y="10"/>
                </a:cxn>
                <a:cxn ang="0">
                  <a:pos x="38" y="9"/>
                </a:cxn>
                <a:cxn ang="0">
                  <a:pos x="31" y="1"/>
                </a:cxn>
                <a:cxn ang="0">
                  <a:pos x="8" y="11"/>
                </a:cxn>
                <a:cxn ang="0">
                  <a:pos x="30" y="12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88" name="Freeform 220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/>
              <a:ahLst/>
              <a:cxnLst>
                <a:cxn ang="0">
                  <a:pos x="163" y="155"/>
                </a:cxn>
                <a:cxn ang="0">
                  <a:pos x="152" y="125"/>
                </a:cxn>
                <a:cxn ang="0">
                  <a:pos x="142" y="99"/>
                </a:cxn>
                <a:cxn ang="0">
                  <a:pos x="165" y="93"/>
                </a:cxn>
                <a:cxn ang="0">
                  <a:pos x="146" y="82"/>
                </a:cxn>
                <a:cxn ang="0">
                  <a:pos x="157" y="83"/>
                </a:cxn>
                <a:cxn ang="0">
                  <a:pos x="157" y="77"/>
                </a:cxn>
                <a:cxn ang="0">
                  <a:pos x="135" y="78"/>
                </a:cxn>
                <a:cxn ang="0">
                  <a:pos x="128" y="125"/>
                </a:cxn>
                <a:cxn ang="0">
                  <a:pos x="124" y="84"/>
                </a:cxn>
                <a:cxn ang="0">
                  <a:pos x="118" y="67"/>
                </a:cxn>
                <a:cxn ang="0">
                  <a:pos x="124" y="51"/>
                </a:cxn>
                <a:cxn ang="0">
                  <a:pos x="121" y="37"/>
                </a:cxn>
                <a:cxn ang="0">
                  <a:pos x="119" y="24"/>
                </a:cxn>
                <a:cxn ang="0">
                  <a:pos x="132" y="39"/>
                </a:cxn>
                <a:cxn ang="0">
                  <a:pos x="149" y="18"/>
                </a:cxn>
                <a:cxn ang="0">
                  <a:pos x="147" y="36"/>
                </a:cxn>
                <a:cxn ang="0">
                  <a:pos x="143" y="48"/>
                </a:cxn>
                <a:cxn ang="0">
                  <a:pos x="144" y="67"/>
                </a:cxn>
                <a:cxn ang="0">
                  <a:pos x="199" y="29"/>
                </a:cxn>
                <a:cxn ang="0">
                  <a:pos x="90" y="1"/>
                </a:cxn>
                <a:cxn ang="0">
                  <a:pos x="56" y="8"/>
                </a:cxn>
                <a:cxn ang="0">
                  <a:pos x="85" y="12"/>
                </a:cxn>
                <a:cxn ang="0">
                  <a:pos x="60" y="22"/>
                </a:cxn>
                <a:cxn ang="0">
                  <a:pos x="58" y="29"/>
                </a:cxn>
                <a:cxn ang="0">
                  <a:pos x="38" y="17"/>
                </a:cxn>
                <a:cxn ang="0">
                  <a:pos x="13" y="115"/>
                </a:cxn>
                <a:cxn ang="0">
                  <a:pos x="61" y="146"/>
                </a:cxn>
                <a:cxn ang="0">
                  <a:pos x="45" y="133"/>
                </a:cxn>
                <a:cxn ang="0">
                  <a:pos x="35" y="145"/>
                </a:cxn>
                <a:cxn ang="0">
                  <a:pos x="32" y="128"/>
                </a:cxn>
                <a:cxn ang="0">
                  <a:pos x="46" y="86"/>
                </a:cxn>
                <a:cxn ang="0">
                  <a:pos x="67" y="83"/>
                </a:cxn>
                <a:cxn ang="0">
                  <a:pos x="71" y="95"/>
                </a:cxn>
                <a:cxn ang="0">
                  <a:pos x="61" y="121"/>
                </a:cxn>
                <a:cxn ang="0">
                  <a:pos x="91" y="180"/>
                </a:cxn>
                <a:cxn ang="0">
                  <a:pos x="186" y="166"/>
                </a:cxn>
                <a:cxn ang="0">
                  <a:pos x="182" y="66"/>
                </a:cxn>
                <a:cxn ang="0">
                  <a:pos x="165" y="60"/>
                </a:cxn>
                <a:cxn ang="0">
                  <a:pos x="113" y="61"/>
                </a:cxn>
                <a:cxn ang="0">
                  <a:pos x="108" y="87"/>
                </a:cxn>
                <a:cxn ang="0">
                  <a:pos x="114" y="50"/>
                </a:cxn>
                <a:cxn ang="0">
                  <a:pos x="89" y="26"/>
                </a:cxn>
                <a:cxn ang="0">
                  <a:pos x="105" y="35"/>
                </a:cxn>
                <a:cxn ang="0">
                  <a:pos x="61" y="72"/>
                </a:cxn>
                <a:cxn ang="0">
                  <a:pos x="24" y="37"/>
                </a:cxn>
                <a:cxn ang="0">
                  <a:pos x="68" y="40"/>
                </a:cxn>
                <a:cxn ang="0">
                  <a:pos x="79" y="40"/>
                </a:cxn>
                <a:cxn ang="0">
                  <a:pos x="108" y="45"/>
                </a:cxn>
                <a:cxn ang="0">
                  <a:pos x="99" y="93"/>
                </a:cxn>
                <a:cxn ang="0">
                  <a:pos x="93" y="51"/>
                </a:cxn>
                <a:cxn ang="0">
                  <a:pos x="61" y="72"/>
                </a:cxn>
                <a:cxn ang="0">
                  <a:pos x="80" y="82"/>
                </a:cxn>
                <a:cxn ang="0">
                  <a:pos x="88" y="58"/>
                </a:cxn>
                <a:cxn ang="0">
                  <a:pos x="102" y="145"/>
                </a:cxn>
                <a:cxn ang="0">
                  <a:pos x="82" y="96"/>
                </a:cxn>
                <a:cxn ang="0">
                  <a:pos x="117" y="106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89" name="Freeform 221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/>
              <a:ahLst/>
              <a:cxnLst>
                <a:cxn ang="0">
                  <a:pos x="14" y="5"/>
                </a:cxn>
                <a:cxn ang="0">
                  <a:pos x="9" y="20"/>
                </a:cxn>
                <a:cxn ang="0">
                  <a:pos x="14" y="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90" name="Freeform 222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/>
              <a:ahLst/>
              <a:cxnLst>
                <a:cxn ang="0">
                  <a:pos x="7" y="10"/>
                </a:cxn>
                <a:cxn ang="0">
                  <a:pos x="4" y="25"/>
                </a:cxn>
                <a:cxn ang="0">
                  <a:pos x="15" y="16"/>
                </a:cxn>
                <a:cxn ang="0">
                  <a:pos x="13" y="8"/>
                </a:cxn>
                <a:cxn ang="0">
                  <a:pos x="7" y="10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91" name="Freeform 223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/>
              <a:ahLst/>
              <a:cxnLst>
                <a:cxn ang="0">
                  <a:pos x="40" y="2"/>
                </a:cxn>
                <a:cxn ang="0">
                  <a:pos x="9" y="1"/>
                </a:cxn>
                <a:cxn ang="0">
                  <a:pos x="1" y="9"/>
                </a:cxn>
                <a:cxn ang="0">
                  <a:pos x="22" y="21"/>
                </a:cxn>
                <a:cxn ang="0">
                  <a:pos x="34" y="20"/>
                </a:cxn>
                <a:cxn ang="0">
                  <a:pos x="40" y="19"/>
                </a:cxn>
                <a:cxn ang="0">
                  <a:pos x="40" y="2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92" name="Freeform 224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/>
              <a:ahLst/>
              <a:cxnLst>
                <a:cxn ang="0">
                  <a:pos x="24" y="2"/>
                </a:cxn>
                <a:cxn ang="0">
                  <a:pos x="11" y="2"/>
                </a:cxn>
                <a:cxn ang="0">
                  <a:pos x="4" y="20"/>
                </a:cxn>
                <a:cxn ang="0">
                  <a:pos x="28" y="22"/>
                </a:cxn>
                <a:cxn ang="0">
                  <a:pos x="24" y="2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93" name="Freeform 225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4" y="5"/>
                </a:cxn>
                <a:cxn ang="0">
                  <a:pos x="5" y="0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94" name="Freeform 226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/>
              <a:ahLst/>
              <a:cxnLst>
                <a:cxn ang="0">
                  <a:pos x="7" y="13"/>
                </a:cxn>
                <a:cxn ang="0">
                  <a:pos x="25" y="6"/>
                </a:cxn>
                <a:cxn ang="0">
                  <a:pos x="17" y="1"/>
                </a:cxn>
                <a:cxn ang="0">
                  <a:pos x="7" y="11"/>
                </a:cxn>
                <a:cxn ang="0">
                  <a:pos x="7" y="13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95" name="Freeform 227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/>
              <a:ahLst/>
              <a:cxnLst>
                <a:cxn ang="0">
                  <a:pos x="25" y="6"/>
                </a:cxn>
                <a:cxn ang="0">
                  <a:pos x="8" y="10"/>
                </a:cxn>
                <a:cxn ang="0">
                  <a:pos x="6" y="13"/>
                </a:cxn>
                <a:cxn ang="0">
                  <a:pos x="27" y="12"/>
                </a:cxn>
                <a:cxn ang="0">
                  <a:pos x="25" y="6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96" name="Freeform 228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/>
              <a:ahLst/>
              <a:cxnLst>
                <a:cxn ang="0">
                  <a:pos x="40" y="3"/>
                </a:cxn>
                <a:cxn ang="0">
                  <a:pos x="29" y="1"/>
                </a:cxn>
                <a:cxn ang="0">
                  <a:pos x="7" y="0"/>
                </a:cxn>
                <a:cxn ang="0">
                  <a:pos x="2" y="5"/>
                </a:cxn>
                <a:cxn ang="0">
                  <a:pos x="20" y="8"/>
                </a:cxn>
                <a:cxn ang="0">
                  <a:pos x="41" y="8"/>
                </a:cxn>
                <a:cxn ang="0">
                  <a:pos x="40" y="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97" name="Freeform 229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/>
              <a:ahLst/>
              <a:cxnLst>
                <a:cxn ang="0">
                  <a:pos x="37" y="2"/>
                </a:cxn>
                <a:cxn ang="0">
                  <a:pos x="26" y="4"/>
                </a:cxn>
                <a:cxn ang="0">
                  <a:pos x="13" y="3"/>
                </a:cxn>
                <a:cxn ang="0">
                  <a:pos x="1" y="2"/>
                </a:cxn>
                <a:cxn ang="0">
                  <a:pos x="35" y="8"/>
                </a:cxn>
                <a:cxn ang="0">
                  <a:pos x="37" y="2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98" name="Freeform 230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/>
              <a:ahLst/>
              <a:cxnLst>
                <a:cxn ang="0">
                  <a:pos x="28" y="9"/>
                </a:cxn>
                <a:cxn ang="0">
                  <a:pos x="13" y="6"/>
                </a:cxn>
                <a:cxn ang="0">
                  <a:pos x="4" y="15"/>
                </a:cxn>
                <a:cxn ang="0">
                  <a:pos x="1" y="19"/>
                </a:cxn>
                <a:cxn ang="0">
                  <a:pos x="9" y="19"/>
                </a:cxn>
                <a:cxn ang="0">
                  <a:pos x="17" y="27"/>
                </a:cxn>
                <a:cxn ang="0">
                  <a:pos x="21" y="30"/>
                </a:cxn>
                <a:cxn ang="0">
                  <a:pos x="29" y="19"/>
                </a:cxn>
                <a:cxn ang="0">
                  <a:pos x="39" y="19"/>
                </a:cxn>
                <a:cxn ang="0">
                  <a:pos x="28" y="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199" name="Freeform 231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/>
              <a:ahLst/>
              <a:cxnLst>
                <a:cxn ang="0">
                  <a:pos x="22" y="2"/>
                </a:cxn>
                <a:cxn ang="0">
                  <a:pos x="18" y="17"/>
                </a:cxn>
                <a:cxn ang="0">
                  <a:pos x="7" y="20"/>
                </a:cxn>
                <a:cxn ang="0">
                  <a:pos x="7" y="23"/>
                </a:cxn>
                <a:cxn ang="0">
                  <a:pos x="17" y="34"/>
                </a:cxn>
                <a:cxn ang="0">
                  <a:pos x="12" y="45"/>
                </a:cxn>
                <a:cxn ang="0">
                  <a:pos x="0" y="55"/>
                </a:cxn>
                <a:cxn ang="0">
                  <a:pos x="5" y="58"/>
                </a:cxn>
                <a:cxn ang="0">
                  <a:pos x="16" y="62"/>
                </a:cxn>
                <a:cxn ang="0">
                  <a:pos x="23" y="57"/>
                </a:cxn>
                <a:cxn ang="0">
                  <a:pos x="25" y="14"/>
                </a:cxn>
                <a:cxn ang="0">
                  <a:pos x="25" y="2"/>
                </a:cxn>
                <a:cxn ang="0">
                  <a:pos x="22" y="2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4200" name="Group 232"/>
          <p:cNvGrpSpPr>
            <a:grpSpLocks/>
          </p:cNvGrpSpPr>
          <p:nvPr/>
        </p:nvGrpSpPr>
        <p:grpSpPr bwMode="auto">
          <a:xfrm>
            <a:off x="6934200" y="-7938"/>
            <a:ext cx="2317750" cy="2063751"/>
            <a:chOff x="4080" y="-5"/>
            <a:chExt cx="1748" cy="1556"/>
          </a:xfrm>
        </p:grpSpPr>
        <p:sp>
          <p:nvSpPr>
            <p:cNvPr id="84201" name="Freeform 233"/>
            <p:cNvSpPr>
              <a:spLocks/>
            </p:cNvSpPr>
            <p:nvPr userDrawn="1"/>
          </p:nvSpPr>
          <p:spPr bwMode="auto">
            <a:xfrm>
              <a:off x="4161" y="-5"/>
              <a:ext cx="1586" cy="1443"/>
            </a:xfrm>
            <a:custGeom>
              <a:avLst/>
              <a:gdLst/>
              <a:ahLst/>
              <a:cxnLst>
                <a:cxn ang="0">
                  <a:pos x="23" y="4"/>
                </a:cxn>
                <a:cxn ang="0">
                  <a:pos x="11" y="71"/>
                </a:cxn>
                <a:cxn ang="0">
                  <a:pos x="25" y="393"/>
                </a:cxn>
                <a:cxn ang="0">
                  <a:pos x="54" y="457"/>
                </a:cxn>
                <a:cxn ang="0">
                  <a:pos x="158" y="482"/>
                </a:cxn>
                <a:cxn ang="0">
                  <a:pos x="204" y="495"/>
                </a:cxn>
                <a:cxn ang="0">
                  <a:pos x="520" y="475"/>
                </a:cxn>
                <a:cxn ang="0">
                  <a:pos x="533" y="167"/>
                </a:cxn>
                <a:cxn ang="0">
                  <a:pos x="369" y="16"/>
                </a:cxn>
                <a:cxn ang="0">
                  <a:pos x="249" y="29"/>
                </a:cxn>
                <a:cxn ang="0">
                  <a:pos x="198" y="11"/>
                </a:cxn>
                <a:cxn ang="0">
                  <a:pos x="151" y="2"/>
                </a:cxn>
                <a:cxn ang="0">
                  <a:pos x="23" y="4"/>
                </a:cxn>
              </a:cxnLst>
              <a:rect l="0" t="0" r="r" b="b"/>
              <a:pathLst>
                <a:path w="546" h="497">
                  <a:moveTo>
                    <a:pt x="23" y="4"/>
                  </a:moveTo>
                  <a:cubicBezTo>
                    <a:pt x="23" y="4"/>
                    <a:pt x="0" y="34"/>
                    <a:pt x="11" y="71"/>
                  </a:cubicBezTo>
                  <a:cubicBezTo>
                    <a:pt x="19" y="100"/>
                    <a:pt x="25" y="393"/>
                    <a:pt x="25" y="393"/>
                  </a:cubicBezTo>
                  <a:cubicBezTo>
                    <a:pt x="25" y="393"/>
                    <a:pt x="42" y="452"/>
                    <a:pt x="54" y="457"/>
                  </a:cubicBezTo>
                  <a:cubicBezTo>
                    <a:pt x="66" y="462"/>
                    <a:pt x="158" y="482"/>
                    <a:pt x="158" y="482"/>
                  </a:cubicBezTo>
                  <a:cubicBezTo>
                    <a:pt x="158" y="482"/>
                    <a:pt x="191" y="497"/>
                    <a:pt x="204" y="495"/>
                  </a:cubicBezTo>
                  <a:cubicBezTo>
                    <a:pt x="217" y="494"/>
                    <a:pt x="506" y="487"/>
                    <a:pt x="520" y="475"/>
                  </a:cubicBezTo>
                  <a:cubicBezTo>
                    <a:pt x="533" y="463"/>
                    <a:pt x="546" y="218"/>
                    <a:pt x="533" y="167"/>
                  </a:cubicBezTo>
                  <a:cubicBezTo>
                    <a:pt x="520" y="117"/>
                    <a:pt x="404" y="14"/>
                    <a:pt x="369" y="16"/>
                  </a:cubicBezTo>
                  <a:cubicBezTo>
                    <a:pt x="335" y="17"/>
                    <a:pt x="249" y="29"/>
                    <a:pt x="249" y="29"/>
                  </a:cubicBezTo>
                  <a:lnTo>
                    <a:pt x="198" y="11"/>
                  </a:lnTo>
                  <a:lnTo>
                    <a:pt x="151" y="2"/>
                  </a:lnTo>
                  <a:cubicBezTo>
                    <a:pt x="151" y="2"/>
                    <a:pt x="79" y="0"/>
                    <a:pt x="23" y="4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4202" name="Group 234"/>
            <p:cNvGrpSpPr>
              <a:grpSpLocks/>
            </p:cNvGrpSpPr>
            <p:nvPr userDrawn="1"/>
          </p:nvGrpSpPr>
          <p:grpSpPr bwMode="auto">
            <a:xfrm>
              <a:off x="4080" y="0"/>
              <a:ext cx="1748" cy="1551"/>
              <a:chOff x="2918" y="18"/>
              <a:chExt cx="2958" cy="2699"/>
            </a:xfrm>
          </p:grpSpPr>
          <p:sp>
            <p:nvSpPr>
              <p:cNvPr id="84203" name="Freeform 235"/>
              <p:cNvSpPr>
                <a:spLocks/>
              </p:cNvSpPr>
              <p:nvPr/>
            </p:nvSpPr>
            <p:spPr bwMode="auto">
              <a:xfrm>
                <a:off x="3060" y="18"/>
                <a:ext cx="490" cy="187"/>
              </a:xfrm>
              <a:custGeom>
                <a:avLst/>
                <a:gdLst/>
                <a:ahLst/>
                <a:cxnLst>
                  <a:cxn ang="0">
                    <a:pos x="71" y="25"/>
                  </a:cxn>
                  <a:cxn ang="0">
                    <a:pos x="91" y="20"/>
                  </a:cxn>
                  <a:cxn ang="0">
                    <a:pos x="92" y="17"/>
                  </a:cxn>
                  <a:cxn ang="0">
                    <a:pos x="88" y="0"/>
                  </a:cxn>
                  <a:cxn ang="0">
                    <a:pos x="25" y="0"/>
                  </a:cxn>
                  <a:cxn ang="0">
                    <a:pos x="10" y="22"/>
                  </a:cxn>
                  <a:cxn ang="0">
                    <a:pos x="71" y="25"/>
                  </a:cxn>
                </a:cxnLst>
                <a:rect l="0" t="0" r="r" b="b"/>
                <a:pathLst>
                  <a:path w="97" h="37">
                    <a:moveTo>
                      <a:pt x="71" y="25"/>
                    </a:moveTo>
                    <a:cubicBezTo>
                      <a:pt x="81" y="22"/>
                      <a:pt x="87" y="21"/>
                      <a:pt x="91" y="20"/>
                    </a:cubicBezTo>
                    <a:cubicBezTo>
                      <a:pt x="91" y="19"/>
                      <a:pt x="91" y="19"/>
                      <a:pt x="92" y="17"/>
                    </a:cubicBezTo>
                    <a:cubicBezTo>
                      <a:pt x="97" y="11"/>
                      <a:pt x="95" y="4"/>
                      <a:pt x="88" y="0"/>
                    </a:cubicBezTo>
                    <a:lnTo>
                      <a:pt x="25" y="0"/>
                    </a:lnTo>
                    <a:cubicBezTo>
                      <a:pt x="10" y="3"/>
                      <a:pt x="0" y="10"/>
                      <a:pt x="10" y="22"/>
                    </a:cubicBezTo>
                    <a:cubicBezTo>
                      <a:pt x="10" y="22"/>
                      <a:pt x="28" y="37"/>
                      <a:pt x="71" y="25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204" name="Freeform 236"/>
              <p:cNvSpPr>
                <a:spLocks noEditPoints="1"/>
              </p:cNvSpPr>
              <p:nvPr/>
            </p:nvSpPr>
            <p:spPr bwMode="auto">
              <a:xfrm>
                <a:off x="2918" y="18"/>
                <a:ext cx="2958" cy="2699"/>
              </a:xfrm>
              <a:custGeom>
                <a:avLst/>
                <a:gdLst/>
                <a:ahLst/>
                <a:cxnLst>
                  <a:cxn ang="0">
                    <a:pos x="504" y="1"/>
                  </a:cxn>
                  <a:cxn ang="0">
                    <a:pos x="157" y="0"/>
                  </a:cxn>
                  <a:cxn ang="0">
                    <a:pos x="225" y="21"/>
                  </a:cxn>
                  <a:cxn ang="0">
                    <a:pos x="174" y="39"/>
                  </a:cxn>
                  <a:cxn ang="0">
                    <a:pos x="207" y="71"/>
                  </a:cxn>
                  <a:cxn ang="0">
                    <a:pos x="74" y="60"/>
                  </a:cxn>
                  <a:cxn ang="0">
                    <a:pos x="26" y="63"/>
                  </a:cxn>
                  <a:cxn ang="0">
                    <a:pos x="199" y="487"/>
                  </a:cxn>
                  <a:cxn ang="0">
                    <a:pos x="144" y="341"/>
                  </a:cxn>
                  <a:cxn ang="0">
                    <a:pos x="105" y="376"/>
                  </a:cxn>
                  <a:cxn ang="0">
                    <a:pos x="94" y="435"/>
                  </a:cxn>
                  <a:cxn ang="0">
                    <a:pos x="124" y="265"/>
                  </a:cxn>
                  <a:cxn ang="0">
                    <a:pos x="153" y="228"/>
                  </a:cxn>
                  <a:cxn ang="0">
                    <a:pos x="209" y="237"/>
                  </a:cxn>
                  <a:cxn ang="0">
                    <a:pos x="188" y="306"/>
                  </a:cxn>
                  <a:cxn ang="0">
                    <a:pos x="192" y="395"/>
                  </a:cxn>
                  <a:cxn ang="0">
                    <a:pos x="515" y="483"/>
                  </a:cxn>
                  <a:cxn ang="0">
                    <a:pos x="454" y="427"/>
                  </a:cxn>
                  <a:cxn ang="0">
                    <a:pos x="425" y="345"/>
                  </a:cxn>
                  <a:cxn ang="0">
                    <a:pos x="396" y="270"/>
                  </a:cxn>
                  <a:cxn ang="0">
                    <a:pos x="460" y="256"/>
                  </a:cxn>
                  <a:cxn ang="0">
                    <a:pos x="407" y="223"/>
                  </a:cxn>
                  <a:cxn ang="0">
                    <a:pos x="439" y="226"/>
                  </a:cxn>
                  <a:cxn ang="0">
                    <a:pos x="438" y="209"/>
                  </a:cxn>
                  <a:cxn ang="0">
                    <a:pos x="376" y="211"/>
                  </a:cxn>
                  <a:cxn ang="0">
                    <a:pos x="357" y="343"/>
                  </a:cxn>
                  <a:cxn ang="0">
                    <a:pos x="347" y="230"/>
                  </a:cxn>
                  <a:cxn ang="0">
                    <a:pos x="331" y="182"/>
                  </a:cxn>
                  <a:cxn ang="0">
                    <a:pos x="347" y="136"/>
                  </a:cxn>
                  <a:cxn ang="0">
                    <a:pos x="339" y="99"/>
                  </a:cxn>
                  <a:cxn ang="0">
                    <a:pos x="331" y="62"/>
                  </a:cxn>
                  <a:cxn ang="0">
                    <a:pos x="369" y="103"/>
                  </a:cxn>
                  <a:cxn ang="0">
                    <a:pos x="415" y="47"/>
                  </a:cxn>
                  <a:cxn ang="0">
                    <a:pos x="409" y="95"/>
                  </a:cxn>
                  <a:cxn ang="0">
                    <a:pos x="401" y="130"/>
                  </a:cxn>
                  <a:cxn ang="0">
                    <a:pos x="401" y="181"/>
                  </a:cxn>
                  <a:cxn ang="0">
                    <a:pos x="558" y="181"/>
                  </a:cxn>
                  <a:cxn ang="0">
                    <a:pos x="554" y="76"/>
                  </a:cxn>
                  <a:cxn ang="0">
                    <a:pos x="249" y="69"/>
                  </a:cxn>
                  <a:cxn ang="0">
                    <a:pos x="293" y="93"/>
                  </a:cxn>
                  <a:cxn ang="0">
                    <a:pos x="171" y="195"/>
                  </a:cxn>
                  <a:cxn ang="0">
                    <a:pos x="69" y="98"/>
                  </a:cxn>
                  <a:cxn ang="0">
                    <a:pos x="191" y="106"/>
                  </a:cxn>
                  <a:cxn ang="0">
                    <a:pos x="220" y="105"/>
                  </a:cxn>
                  <a:cxn ang="0">
                    <a:pos x="302" y="121"/>
                  </a:cxn>
                  <a:cxn ang="0">
                    <a:pos x="276" y="256"/>
                  </a:cxn>
                  <a:cxn ang="0">
                    <a:pos x="260" y="137"/>
                  </a:cxn>
                  <a:cxn ang="0">
                    <a:pos x="171" y="195"/>
                  </a:cxn>
                  <a:cxn ang="0">
                    <a:pos x="223" y="225"/>
                  </a:cxn>
                  <a:cxn ang="0">
                    <a:pos x="247" y="158"/>
                  </a:cxn>
                  <a:cxn ang="0">
                    <a:pos x="326" y="292"/>
                  </a:cxn>
                  <a:cxn ang="0">
                    <a:pos x="215" y="321"/>
                  </a:cxn>
                  <a:cxn ang="0">
                    <a:pos x="309" y="277"/>
                  </a:cxn>
                  <a:cxn ang="0">
                    <a:pos x="318" y="133"/>
                  </a:cxn>
                  <a:cxn ang="0">
                    <a:pos x="313" y="213"/>
                  </a:cxn>
                  <a:cxn ang="0">
                    <a:pos x="299" y="144"/>
                  </a:cxn>
                  <a:cxn ang="0">
                    <a:pos x="507" y="179"/>
                  </a:cxn>
                  <a:cxn ang="0">
                    <a:pos x="461" y="162"/>
                  </a:cxn>
                </a:cxnLst>
                <a:rect l="0" t="0" r="r" b="b"/>
                <a:pathLst>
                  <a:path w="585" h="534">
                    <a:moveTo>
                      <a:pt x="554" y="76"/>
                    </a:moveTo>
                    <a:cubicBezTo>
                      <a:pt x="551" y="32"/>
                      <a:pt x="543" y="9"/>
                      <a:pt x="504" y="1"/>
                    </a:cubicBezTo>
                    <a:cubicBezTo>
                      <a:pt x="500" y="1"/>
                      <a:pt x="494" y="0"/>
                      <a:pt x="486" y="0"/>
                    </a:cubicBezTo>
                    <a:lnTo>
                      <a:pt x="157" y="0"/>
                    </a:lnTo>
                    <a:cubicBezTo>
                      <a:pt x="156" y="5"/>
                      <a:pt x="153" y="17"/>
                      <a:pt x="158" y="17"/>
                    </a:cubicBezTo>
                    <a:cubicBezTo>
                      <a:pt x="171" y="17"/>
                      <a:pt x="223" y="21"/>
                      <a:pt x="225" y="21"/>
                    </a:cubicBezTo>
                    <a:cubicBezTo>
                      <a:pt x="226" y="21"/>
                      <a:pt x="250" y="16"/>
                      <a:pt x="237" y="28"/>
                    </a:cubicBezTo>
                    <a:cubicBezTo>
                      <a:pt x="223" y="41"/>
                      <a:pt x="192" y="41"/>
                      <a:pt x="174" y="39"/>
                    </a:cubicBezTo>
                    <a:cubicBezTo>
                      <a:pt x="131" y="36"/>
                      <a:pt x="152" y="56"/>
                      <a:pt x="168" y="56"/>
                    </a:cubicBezTo>
                    <a:cubicBezTo>
                      <a:pt x="218" y="56"/>
                      <a:pt x="228" y="68"/>
                      <a:pt x="207" y="71"/>
                    </a:cubicBezTo>
                    <a:cubicBezTo>
                      <a:pt x="186" y="74"/>
                      <a:pt x="182" y="73"/>
                      <a:pt x="162" y="76"/>
                    </a:cubicBezTo>
                    <a:cubicBezTo>
                      <a:pt x="7" y="101"/>
                      <a:pt x="59" y="60"/>
                      <a:pt x="74" y="60"/>
                    </a:cubicBezTo>
                    <a:cubicBezTo>
                      <a:pt x="139" y="59"/>
                      <a:pt x="123" y="37"/>
                      <a:pt x="107" y="42"/>
                    </a:cubicBezTo>
                    <a:cubicBezTo>
                      <a:pt x="91" y="46"/>
                      <a:pt x="34" y="27"/>
                      <a:pt x="26" y="63"/>
                    </a:cubicBezTo>
                    <a:cubicBezTo>
                      <a:pt x="19" y="100"/>
                      <a:pt x="42" y="282"/>
                      <a:pt x="36" y="317"/>
                    </a:cubicBezTo>
                    <a:cubicBezTo>
                      <a:pt x="0" y="534"/>
                      <a:pt x="199" y="487"/>
                      <a:pt x="199" y="487"/>
                    </a:cubicBezTo>
                    <a:cubicBezTo>
                      <a:pt x="156" y="453"/>
                      <a:pt x="174" y="421"/>
                      <a:pt x="171" y="403"/>
                    </a:cubicBezTo>
                    <a:cubicBezTo>
                      <a:pt x="161" y="345"/>
                      <a:pt x="154" y="337"/>
                      <a:pt x="144" y="341"/>
                    </a:cubicBezTo>
                    <a:cubicBezTo>
                      <a:pt x="121" y="352"/>
                      <a:pt x="123" y="358"/>
                      <a:pt x="126" y="367"/>
                    </a:cubicBezTo>
                    <a:cubicBezTo>
                      <a:pt x="142" y="416"/>
                      <a:pt x="105" y="376"/>
                      <a:pt x="105" y="376"/>
                    </a:cubicBezTo>
                    <a:cubicBezTo>
                      <a:pt x="98" y="380"/>
                      <a:pt x="95" y="390"/>
                      <a:pt x="99" y="399"/>
                    </a:cubicBezTo>
                    <a:cubicBezTo>
                      <a:pt x="131" y="463"/>
                      <a:pt x="101" y="446"/>
                      <a:pt x="94" y="435"/>
                    </a:cubicBezTo>
                    <a:cubicBezTo>
                      <a:pt x="61" y="390"/>
                      <a:pt x="92" y="366"/>
                      <a:pt x="88" y="352"/>
                    </a:cubicBezTo>
                    <a:cubicBezTo>
                      <a:pt x="75" y="295"/>
                      <a:pt x="118" y="274"/>
                      <a:pt x="124" y="265"/>
                    </a:cubicBezTo>
                    <a:cubicBezTo>
                      <a:pt x="130" y="256"/>
                      <a:pt x="127" y="253"/>
                      <a:pt x="129" y="234"/>
                    </a:cubicBezTo>
                    <a:cubicBezTo>
                      <a:pt x="136" y="195"/>
                      <a:pt x="155" y="216"/>
                      <a:pt x="153" y="228"/>
                    </a:cubicBezTo>
                    <a:cubicBezTo>
                      <a:pt x="148" y="274"/>
                      <a:pt x="176" y="242"/>
                      <a:pt x="186" y="228"/>
                    </a:cubicBezTo>
                    <a:cubicBezTo>
                      <a:pt x="218" y="186"/>
                      <a:pt x="214" y="229"/>
                      <a:pt x="209" y="237"/>
                    </a:cubicBezTo>
                    <a:cubicBezTo>
                      <a:pt x="203" y="244"/>
                      <a:pt x="198" y="255"/>
                      <a:pt x="200" y="260"/>
                    </a:cubicBezTo>
                    <a:cubicBezTo>
                      <a:pt x="208" y="283"/>
                      <a:pt x="193" y="305"/>
                      <a:pt x="188" y="306"/>
                    </a:cubicBezTo>
                    <a:cubicBezTo>
                      <a:pt x="184" y="308"/>
                      <a:pt x="170" y="314"/>
                      <a:pt x="170" y="332"/>
                    </a:cubicBezTo>
                    <a:cubicBezTo>
                      <a:pt x="171" y="350"/>
                      <a:pt x="192" y="382"/>
                      <a:pt x="192" y="395"/>
                    </a:cubicBezTo>
                    <a:cubicBezTo>
                      <a:pt x="193" y="492"/>
                      <a:pt x="236" y="499"/>
                      <a:pt x="255" y="497"/>
                    </a:cubicBezTo>
                    <a:cubicBezTo>
                      <a:pt x="275" y="496"/>
                      <a:pt x="445" y="490"/>
                      <a:pt x="515" y="483"/>
                    </a:cubicBezTo>
                    <a:cubicBezTo>
                      <a:pt x="585" y="477"/>
                      <a:pt x="538" y="458"/>
                      <a:pt x="518" y="458"/>
                    </a:cubicBezTo>
                    <a:cubicBezTo>
                      <a:pt x="467" y="458"/>
                      <a:pt x="454" y="427"/>
                      <a:pt x="454" y="427"/>
                    </a:cubicBezTo>
                    <a:cubicBezTo>
                      <a:pt x="454" y="427"/>
                      <a:pt x="453" y="405"/>
                      <a:pt x="431" y="400"/>
                    </a:cubicBezTo>
                    <a:cubicBezTo>
                      <a:pt x="376" y="385"/>
                      <a:pt x="411" y="353"/>
                      <a:pt x="425" y="345"/>
                    </a:cubicBezTo>
                    <a:cubicBezTo>
                      <a:pt x="438" y="338"/>
                      <a:pt x="430" y="335"/>
                      <a:pt x="420" y="329"/>
                    </a:cubicBezTo>
                    <a:cubicBezTo>
                      <a:pt x="398" y="316"/>
                      <a:pt x="394" y="300"/>
                      <a:pt x="396" y="270"/>
                    </a:cubicBezTo>
                    <a:cubicBezTo>
                      <a:pt x="397" y="240"/>
                      <a:pt x="416" y="249"/>
                      <a:pt x="416" y="249"/>
                    </a:cubicBezTo>
                    <a:cubicBezTo>
                      <a:pt x="416" y="249"/>
                      <a:pt x="448" y="262"/>
                      <a:pt x="460" y="256"/>
                    </a:cubicBezTo>
                    <a:cubicBezTo>
                      <a:pt x="472" y="250"/>
                      <a:pt x="467" y="239"/>
                      <a:pt x="461" y="244"/>
                    </a:cubicBezTo>
                    <a:cubicBezTo>
                      <a:pt x="455" y="248"/>
                      <a:pt x="412" y="244"/>
                      <a:pt x="407" y="223"/>
                    </a:cubicBezTo>
                    <a:cubicBezTo>
                      <a:pt x="403" y="202"/>
                      <a:pt x="418" y="213"/>
                      <a:pt x="422" y="214"/>
                    </a:cubicBezTo>
                    <a:cubicBezTo>
                      <a:pt x="427" y="216"/>
                      <a:pt x="427" y="220"/>
                      <a:pt x="439" y="226"/>
                    </a:cubicBezTo>
                    <a:cubicBezTo>
                      <a:pt x="468" y="241"/>
                      <a:pt x="454" y="224"/>
                      <a:pt x="454" y="224"/>
                    </a:cubicBezTo>
                    <a:cubicBezTo>
                      <a:pt x="454" y="224"/>
                      <a:pt x="454" y="224"/>
                      <a:pt x="438" y="209"/>
                    </a:cubicBezTo>
                    <a:cubicBezTo>
                      <a:pt x="423" y="194"/>
                      <a:pt x="406" y="199"/>
                      <a:pt x="389" y="199"/>
                    </a:cubicBezTo>
                    <a:cubicBezTo>
                      <a:pt x="373" y="199"/>
                      <a:pt x="376" y="211"/>
                      <a:pt x="376" y="211"/>
                    </a:cubicBezTo>
                    <a:cubicBezTo>
                      <a:pt x="376" y="211"/>
                      <a:pt x="373" y="242"/>
                      <a:pt x="370" y="291"/>
                    </a:cubicBezTo>
                    <a:cubicBezTo>
                      <a:pt x="368" y="341"/>
                      <a:pt x="360" y="347"/>
                      <a:pt x="357" y="343"/>
                    </a:cubicBezTo>
                    <a:cubicBezTo>
                      <a:pt x="354" y="338"/>
                      <a:pt x="350" y="313"/>
                      <a:pt x="350" y="305"/>
                    </a:cubicBezTo>
                    <a:cubicBezTo>
                      <a:pt x="350" y="298"/>
                      <a:pt x="345" y="264"/>
                      <a:pt x="347" y="230"/>
                    </a:cubicBezTo>
                    <a:cubicBezTo>
                      <a:pt x="350" y="195"/>
                      <a:pt x="356" y="210"/>
                      <a:pt x="334" y="201"/>
                    </a:cubicBezTo>
                    <a:cubicBezTo>
                      <a:pt x="311" y="192"/>
                      <a:pt x="323" y="182"/>
                      <a:pt x="331" y="182"/>
                    </a:cubicBezTo>
                    <a:cubicBezTo>
                      <a:pt x="338" y="182"/>
                      <a:pt x="350" y="189"/>
                      <a:pt x="352" y="181"/>
                    </a:cubicBezTo>
                    <a:cubicBezTo>
                      <a:pt x="356" y="160"/>
                      <a:pt x="359" y="141"/>
                      <a:pt x="347" y="136"/>
                    </a:cubicBezTo>
                    <a:cubicBezTo>
                      <a:pt x="322" y="127"/>
                      <a:pt x="332" y="121"/>
                      <a:pt x="341" y="118"/>
                    </a:cubicBezTo>
                    <a:cubicBezTo>
                      <a:pt x="350" y="115"/>
                      <a:pt x="352" y="94"/>
                      <a:pt x="339" y="99"/>
                    </a:cubicBezTo>
                    <a:cubicBezTo>
                      <a:pt x="313" y="107"/>
                      <a:pt x="316" y="85"/>
                      <a:pt x="321" y="82"/>
                    </a:cubicBezTo>
                    <a:cubicBezTo>
                      <a:pt x="325" y="79"/>
                      <a:pt x="334" y="83"/>
                      <a:pt x="331" y="62"/>
                    </a:cubicBezTo>
                    <a:cubicBezTo>
                      <a:pt x="328" y="41"/>
                      <a:pt x="347" y="34"/>
                      <a:pt x="351" y="53"/>
                    </a:cubicBezTo>
                    <a:cubicBezTo>
                      <a:pt x="354" y="73"/>
                      <a:pt x="363" y="112"/>
                      <a:pt x="369" y="103"/>
                    </a:cubicBezTo>
                    <a:cubicBezTo>
                      <a:pt x="375" y="94"/>
                      <a:pt x="385" y="57"/>
                      <a:pt x="395" y="41"/>
                    </a:cubicBezTo>
                    <a:cubicBezTo>
                      <a:pt x="406" y="24"/>
                      <a:pt x="418" y="38"/>
                      <a:pt x="415" y="47"/>
                    </a:cubicBezTo>
                    <a:cubicBezTo>
                      <a:pt x="401" y="88"/>
                      <a:pt x="426" y="90"/>
                      <a:pt x="426" y="90"/>
                    </a:cubicBezTo>
                    <a:cubicBezTo>
                      <a:pt x="426" y="90"/>
                      <a:pt x="423" y="96"/>
                      <a:pt x="409" y="95"/>
                    </a:cubicBezTo>
                    <a:cubicBezTo>
                      <a:pt x="382" y="92"/>
                      <a:pt x="393" y="110"/>
                      <a:pt x="405" y="115"/>
                    </a:cubicBezTo>
                    <a:cubicBezTo>
                      <a:pt x="431" y="124"/>
                      <a:pt x="414" y="130"/>
                      <a:pt x="401" y="130"/>
                    </a:cubicBezTo>
                    <a:cubicBezTo>
                      <a:pt x="387" y="130"/>
                      <a:pt x="381" y="134"/>
                      <a:pt x="378" y="148"/>
                    </a:cubicBezTo>
                    <a:cubicBezTo>
                      <a:pt x="369" y="191"/>
                      <a:pt x="401" y="181"/>
                      <a:pt x="401" y="181"/>
                    </a:cubicBezTo>
                    <a:cubicBezTo>
                      <a:pt x="452" y="195"/>
                      <a:pt x="528" y="188"/>
                      <a:pt x="528" y="188"/>
                    </a:cubicBezTo>
                    <a:cubicBezTo>
                      <a:pt x="543" y="192"/>
                      <a:pt x="552" y="189"/>
                      <a:pt x="558" y="181"/>
                    </a:cubicBezTo>
                    <a:lnTo>
                      <a:pt x="558" y="103"/>
                    </a:lnTo>
                    <a:cubicBezTo>
                      <a:pt x="556" y="93"/>
                      <a:pt x="555" y="84"/>
                      <a:pt x="554" y="76"/>
                    </a:cubicBezTo>
                    <a:close/>
                    <a:moveTo>
                      <a:pt x="231" y="77"/>
                    </a:moveTo>
                    <a:cubicBezTo>
                      <a:pt x="233" y="65"/>
                      <a:pt x="249" y="69"/>
                      <a:pt x="249" y="69"/>
                    </a:cubicBezTo>
                    <a:cubicBezTo>
                      <a:pt x="249" y="69"/>
                      <a:pt x="278" y="79"/>
                      <a:pt x="290" y="78"/>
                    </a:cubicBezTo>
                    <a:cubicBezTo>
                      <a:pt x="301" y="76"/>
                      <a:pt x="318" y="93"/>
                      <a:pt x="293" y="93"/>
                    </a:cubicBezTo>
                    <a:cubicBezTo>
                      <a:pt x="267" y="93"/>
                      <a:pt x="228" y="104"/>
                      <a:pt x="231" y="77"/>
                    </a:cubicBezTo>
                    <a:close/>
                    <a:moveTo>
                      <a:pt x="171" y="195"/>
                    </a:moveTo>
                    <a:cubicBezTo>
                      <a:pt x="153" y="195"/>
                      <a:pt x="46" y="237"/>
                      <a:pt x="45" y="128"/>
                    </a:cubicBezTo>
                    <a:cubicBezTo>
                      <a:pt x="45" y="104"/>
                      <a:pt x="39" y="83"/>
                      <a:pt x="69" y="98"/>
                    </a:cubicBezTo>
                    <a:cubicBezTo>
                      <a:pt x="99" y="112"/>
                      <a:pt x="72" y="111"/>
                      <a:pt x="137" y="108"/>
                    </a:cubicBezTo>
                    <a:cubicBezTo>
                      <a:pt x="137" y="108"/>
                      <a:pt x="184" y="110"/>
                      <a:pt x="191" y="106"/>
                    </a:cubicBezTo>
                    <a:cubicBezTo>
                      <a:pt x="199" y="101"/>
                      <a:pt x="192" y="91"/>
                      <a:pt x="207" y="91"/>
                    </a:cubicBezTo>
                    <a:cubicBezTo>
                      <a:pt x="222" y="90"/>
                      <a:pt x="220" y="105"/>
                      <a:pt x="220" y="105"/>
                    </a:cubicBezTo>
                    <a:cubicBezTo>
                      <a:pt x="220" y="105"/>
                      <a:pt x="207" y="124"/>
                      <a:pt x="305" y="111"/>
                    </a:cubicBezTo>
                    <a:cubicBezTo>
                      <a:pt x="317" y="109"/>
                      <a:pt x="327" y="121"/>
                      <a:pt x="302" y="121"/>
                    </a:cubicBezTo>
                    <a:cubicBezTo>
                      <a:pt x="290" y="122"/>
                      <a:pt x="272" y="128"/>
                      <a:pt x="278" y="143"/>
                    </a:cubicBezTo>
                    <a:cubicBezTo>
                      <a:pt x="284" y="158"/>
                      <a:pt x="276" y="256"/>
                      <a:pt x="276" y="256"/>
                    </a:cubicBezTo>
                    <a:cubicBezTo>
                      <a:pt x="276" y="256"/>
                      <a:pt x="271" y="274"/>
                      <a:pt x="262" y="245"/>
                    </a:cubicBezTo>
                    <a:cubicBezTo>
                      <a:pt x="259" y="235"/>
                      <a:pt x="262" y="144"/>
                      <a:pt x="260" y="137"/>
                    </a:cubicBezTo>
                    <a:cubicBezTo>
                      <a:pt x="259" y="129"/>
                      <a:pt x="217" y="122"/>
                      <a:pt x="215" y="154"/>
                    </a:cubicBezTo>
                    <a:cubicBezTo>
                      <a:pt x="214" y="185"/>
                      <a:pt x="205" y="195"/>
                      <a:pt x="171" y="195"/>
                    </a:cubicBezTo>
                    <a:close/>
                    <a:moveTo>
                      <a:pt x="237" y="231"/>
                    </a:moveTo>
                    <a:cubicBezTo>
                      <a:pt x="230" y="240"/>
                      <a:pt x="219" y="247"/>
                      <a:pt x="223" y="225"/>
                    </a:cubicBezTo>
                    <a:cubicBezTo>
                      <a:pt x="228" y="202"/>
                      <a:pt x="232" y="170"/>
                      <a:pt x="232" y="155"/>
                    </a:cubicBezTo>
                    <a:cubicBezTo>
                      <a:pt x="232" y="155"/>
                      <a:pt x="244" y="135"/>
                      <a:pt x="247" y="158"/>
                    </a:cubicBezTo>
                    <a:cubicBezTo>
                      <a:pt x="250" y="181"/>
                      <a:pt x="244" y="221"/>
                      <a:pt x="237" y="231"/>
                    </a:cubicBezTo>
                    <a:close/>
                    <a:moveTo>
                      <a:pt x="326" y="292"/>
                    </a:moveTo>
                    <a:cubicBezTo>
                      <a:pt x="327" y="320"/>
                      <a:pt x="355" y="400"/>
                      <a:pt x="286" y="399"/>
                    </a:cubicBezTo>
                    <a:cubicBezTo>
                      <a:pt x="217" y="398"/>
                      <a:pt x="214" y="409"/>
                      <a:pt x="215" y="321"/>
                    </a:cubicBezTo>
                    <a:cubicBezTo>
                      <a:pt x="216" y="236"/>
                      <a:pt x="225" y="253"/>
                      <a:pt x="230" y="264"/>
                    </a:cubicBezTo>
                    <a:cubicBezTo>
                      <a:pt x="230" y="264"/>
                      <a:pt x="253" y="318"/>
                      <a:pt x="309" y="277"/>
                    </a:cubicBezTo>
                    <a:cubicBezTo>
                      <a:pt x="319" y="269"/>
                      <a:pt x="324" y="263"/>
                      <a:pt x="326" y="292"/>
                    </a:cubicBezTo>
                    <a:close/>
                    <a:moveTo>
                      <a:pt x="318" y="133"/>
                    </a:moveTo>
                    <a:cubicBezTo>
                      <a:pt x="338" y="148"/>
                      <a:pt x="316" y="165"/>
                      <a:pt x="316" y="165"/>
                    </a:cubicBezTo>
                    <a:cubicBezTo>
                      <a:pt x="316" y="165"/>
                      <a:pt x="302" y="189"/>
                      <a:pt x="313" y="213"/>
                    </a:cubicBezTo>
                    <a:cubicBezTo>
                      <a:pt x="324" y="237"/>
                      <a:pt x="324" y="265"/>
                      <a:pt x="301" y="239"/>
                    </a:cubicBezTo>
                    <a:cubicBezTo>
                      <a:pt x="279" y="214"/>
                      <a:pt x="293" y="156"/>
                      <a:pt x="299" y="144"/>
                    </a:cubicBezTo>
                    <a:cubicBezTo>
                      <a:pt x="299" y="144"/>
                      <a:pt x="299" y="118"/>
                      <a:pt x="318" y="133"/>
                    </a:cubicBezTo>
                    <a:close/>
                    <a:moveTo>
                      <a:pt x="507" y="179"/>
                    </a:moveTo>
                    <a:cubicBezTo>
                      <a:pt x="498" y="185"/>
                      <a:pt x="507" y="179"/>
                      <a:pt x="465" y="177"/>
                    </a:cubicBezTo>
                    <a:cubicBezTo>
                      <a:pt x="423" y="176"/>
                      <a:pt x="461" y="162"/>
                      <a:pt x="461" y="162"/>
                    </a:cubicBezTo>
                    <a:cubicBezTo>
                      <a:pt x="565" y="166"/>
                      <a:pt x="516" y="173"/>
                      <a:pt x="507" y="179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205" name="Freeform 237"/>
              <p:cNvSpPr>
                <a:spLocks/>
              </p:cNvSpPr>
              <p:nvPr/>
            </p:nvSpPr>
            <p:spPr bwMode="auto">
              <a:xfrm>
                <a:off x="3621" y="1287"/>
                <a:ext cx="238" cy="283"/>
              </a:xfrm>
              <a:custGeom>
                <a:avLst/>
                <a:gdLst/>
                <a:ahLst/>
                <a:cxnLst>
                  <a:cxn ang="0">
                    <a:pos x="40" y="15"/>
                  </a:cxn>
                  <a:cxn ang="0">
                    <a:pos x="27" y="56"/>
                  </a:cxn>
                  <a:cxn ang="0">
                    <a:pos x="40" y="15"/>
                  </a:cxn>
                </a:cxnLst>
                <a:rect l="0" t="0" r="r" b="b"/>
                <a:pathLst>
                  <a:path w="47" h="56">
                    <a:moveTo>
                      <a:pt x="40" y="15"/>
                    </a:moveTo>
                    <a:cubicBezTo>
                      <a:pt x="37" y="0"/>
                      <a:pt x="0" y="23"/>
                      <a:pt x="27" y="56"/>
                    </a:cubicBezTo>
                    <a:cubicBezTo>
                      <a:pt x="27" y="56"/>
                      <a:pt x="47" y="49"/>
                      <a:pt x="40" y="15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206" name="Freeform 238"/>
              <p:cNvSpPr>
                <a:spLocks/>
              </p:cNvSpPr>
              <p:nvPr/>
            </p:nvSpPr>
            <p:spPr bwMode="auto">
              <a:xfrm>
                <a:off x="3403" y="1403"/>
                <a:ext cx="208" cy="379"/>
              </a:xfrm>
              <a:custGeom>
                <a:avLst/>
                <a:gdLst/>
                <a:ahLst/>
                <a:cxnLst>
                  <a:cxn ang="0">
                    <a:pos x="19" y="27"/>
                  </a:cxn>
                  <a:cxn ang="0">
                    <a:pos x="12" y="69"/>
                  </a:cxn>
                  <a:cxn ang="0">
                    <a:pos x="40" y="45"/>
                  </a:cxn>
                  <a:cxn ang="0">
                    <a:pos x="37" y="24"/>
                  </a:cxn>
                  <a:cxn ang="0">
                    <a:pos x="19" y="27"/>
                  </a:cxn>
                </a:cxnLst>
                <a:rect l="0" t="0" r="r" b="b"/>
                <a:pathLst>
                  <a:path w="41" h="75">
                    <a:moveTo>
                      <a:pt x="19" y="27"/>
                    </a:moveTo>
                    <a:cubicBezTo>
                      <a:pt x="0" y="54"/>
                      <a:pt x="6" y="63"/>
                      <a:pt x="12" y="69"/>
                    </a:cubicBezTo>
                    <a:cubicBezTo>
                      <a:pt x="18" y="75"/>
                      <a:pt x="30" y="74"/>
                      <a:pt x="40" y="45"/>
                    </a:cubicBezTo>
                    <a:cubicBezTo>
                      <a:pt x="40" y="45"/>
                      <a:pt x="32" y="31"/>
                      <a:pt x="37" y="24"/>
                    </a:cubicBezTo>
                    <a:cubicBezTo>
                      <a:pt x="41" y="16"/>
                      <a:pt x="38" y="0"/>
                      <a:pt x="19" y="27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207" name="Freeform 239"/>
              <p:cNvSpPr>
                <a:spLocks/>
              </p:cNvSpPr>
              <p:nvPr/>
            </p:nvSpPr>
            <p:spPr bwMode="auto">
              <a:xfrm>
                <a:off x="3272" y="645"/>
                <a:ext cx="683" cy="318"/>
              </a:xfrm>
              <a:custGeom>
                <a:avLst/>
                <a:gdLst/>
                <a:ahLst/>
                <a:cxnLst>
                  <a:cxn ang="0">
                    <a:pos x="112" y="4"/>
                  </a:cxn>
                  <a:cxn ang="0">
                    <a:pos x="24" y="4"/>
                  </a:cxn>
                  <a:cxn ang="0">
                    <a:pos x="2" y="25"/>
                  </a:cxn>
                  <a:cxn ang="0">
                    <a:pos x="60" y="58"/>
                  </a:cxn>
                  <a:cxn ang="0">
                    <a:pos x="96" y="54"/>
                  </a:cxn>
                  <a:cxn ang="0">
                    <a:pos x="113" y="53"/>
                  </a:cxn>
                  <a:cxn ang="0">
                    <a:pos x="112" y="4"/>
                  </a:cxn>
                </a:cxnLst>
                <a:rect l="0" t="0" r="r" b="b"/>
                <a:pathLst>
                  <a:path w="135" h="63">
                    <a:moveTo>
                      <a:pt x="112" y="4"/>
                    </a:moveTo>
                    <a:cubicBezTo>
                      <a:pt x="105" y="9"/>
                      <a:pt x="24" y="4"/>
                      <a:pt x="24" y="4"/>
                    </a:cubicBezTo>
                    <a:cubicBezTo>
                      <a:pt x="15" y="4"/>
                      <a:pt x="3" y="1"/>
                      <a:pt x="2" y="25"/>
                    </a:cubicBezTo>
                    <a:cubicBezTo>
                      <a:pt x="0" y="63"/>
                      <a:pt x="48" y="58"/>
                      <a:pt x="60" y="58"/>
                    </a:cubicBezTo>
                    <a:cubicBezTo>
                      <a:pt x="72" y="58"/>
                      <a:pt x="84" y="48"/>
                      <a:pt x="96" y="54"/>
                    </a:cubicBezTo>
                    <a:cubicBezTo>
                      <a:pt x="96" y="54"/>
                      <a:pt x="107" y="63"/>
                      <a:pt x="113" y="53"/>
                    </a:cubicBezTo>
                    <a:cubicBezTo>
                      <a:pt x="135" y="13"/>
                      <a:pt x="120" y="0"/>
                      <a:pt x="112" y="4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208" name="Freeform 240"/>
              <p:cNvSpPr>
                <a:spLocks/>
              </p:cNvSpPr>
              <p:nvPr/>
            </p:nvSpPr>
            <p:spPr bwMode="auto">
              <a:xfrm>
                <a:off x="4046" y="1545"/>
                <a:ext cx="490" cy="515"/>
              </a:xfrm>
              <a:custGeom>
                <a:avLst/>
                <a:gdLst/>
                <a:ahLst/>
                <a:cxnLst>
                  <a:cxn ang="0">
                    <a:pos x="67" y="5"/>
                  </a:cxn>
                  <a:cxn ang="0">
                    <a:pos x="31" y="5"/>
                  </a:cxn>
                  <a:cxn ang="0">
                    <a:pos x="12" y="57"/>
                  </a:cxn>
                  <a:cxn ang="0">
                    <a:pos x="79" y="62"/>
                  </a:cxn>
                  <a:cxn ang="0">
                    <a:pos x="67" y="5"/>
                  </a:cxn>
                </a:cxnLst>
                <a:rect l="0" t="0" r="r" b="b"/>
                <a:pathLst>
                  <a:path w="97" h="102">
                    <a:moveTo>
                      <a:pt x="67" y="5"/>
                    </a:moveTo>
                    <a:cubicBezTo>
                      <a:pt x="55" y="10"/>
                      <a:pt x="31" y="5"/>
                      <a:pt x="31" y="5"/>
                    </a:cubicBezTo>
                    <a:cubicBezTo>
                      <a:pt x="0" y="6"/>
                      <a:pt x="16" y="39"/>
                      <a:pt x="12" y="57"/>
                    </a:cubicBezTo>
                    <a:cubicBezTo>
                      <a:pt x="8" y="76"/>
                      <a:pt x="63" y="102"/>
                      <a:pt x="79" y="62"/>
                    </a:cubicBezTo>
                    <a:cubicBezTo>
                      <a:pt x="97" y="20"/>
                      <a:pt x="79" y="0"/>
                      <a:pt x="67" y="5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209" name="Freeform 241"/>
              <p:cNvSpPr>
                <a:spLocks/>
              </p:cNvSpPr>
              <p:nvPr/>
            </p:nvSpPr>
            <p:spPr bwMode="auto">
              <a:xfrm>
                <a:off x="5173" y="1024"/>
                <a:ext cx="501" cy="96"/>
              </a:xfrm>
              <a:custGeom>
                <a:avLst/>
                <a:gdLst/>
                <a:ahLst/>
                <a:cxnLst>
                  <a:cxn ang="0">
                    <a:pos x="15" y="0"/>
                  </a:cxn>
                  <a:cxn ang="0">
                    <a:pos x="40" y="15"/>
                  </a:cxn>
                  <a:cxn ang="0">
                    <a:pos x="15" y="0"/>
                  </a:cxn>
                </a:cxnLst>
                <a:rect l="0" t="0" r="r" b="b"/>
                <a:pathLst>
                  <a:path w="99" h="19">
                    <a:moveTo>
                      <a:pt x="15" y="0"/>
                    </a:moveTo>
                    <a:cubicBezTo>
                      <a:pt x="0" y="0"/>
                      <a:pt x="19" y="19"/>
                      <a:pt x="40" y="15"/>
                    </a:cubicBezTo>
                    <a:cubicBezTo>
                      <a:pt x="99" y="1"/>
                      <a:pt x="15" y="0"/>
                      <a:pt x="1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210" name="Freeform 242"/>
              <p:cNvSpPr>
                <a:spLocks/>
              </p:cNvSpPr>
              <p:nvPr/>
            </p:nvSpPr>
            <p:spPr bwMode="auto">
              <a:xfrm>
                <a:off x="5340" y="1004"/>
                <a:ext cx="385" cy="237"/>
              </a:xfrm>
              <a:custGeom>
                <a:avLst/>
                <a:gdLst/>
                <a:ahLst/>
                <a:cxnLst>
                  <a:cxn ang="0">
                    <a:pos x="21" y="37"/>
                  </a:cxn>
                  <a:cxn ang="0">
                    <a:pos x="70" y="17"/>
                  </a:cxn>
                  <a:cxn ang="0">
                    <a:pos x="48" y="3"/>
                  </a:cxn>
                  <a:cxn ang="0">
                    <a:pos x="19" y="32"/>
                  </a:cxn>
                  <a:cxn ang="0">
                    <a:pos x="21" y="37"/>
                  </a:cxn>
                </a:cxnLst>
                <a:rect l="0" t="0" r="r" b="b"/>
                <a:pathLst>
                  <a:path w="76" h="47">
                    <a:moveTo>
                      <a:pt x="21" y="37"/>
                    </a:moveTo>
                    <a:cubicBezTo>
                      <a:pt x="21" y="37"/>
                      <a:pt x="50" y="47"/>
                      <a:pt x="70" y="17"/>
                    </a:cubicBezTo>
                    <a:cubicBezTo>
                      <a:pt x="76" y="7"/>
                      <a:pt x="65" y="0"/>
                      <a:pt x="48" y="3"/>
                    </a:cubicBezTo>
                    <a:cubicBezTo>
                      <a:pt x="39" y="5"/>
                      <a:pt x="39" y="32"/>
                      <a:pt x="19" y="32"/>
                    </a:cubicBezTo>
                    <a:cubicBezTo>
                      <a:pt x="0" y="32"/>
                      <a:pt x="21" y="37"/>
                      <a:pt x="21" y="37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211" name="Freeform 243"/>
              <p:cNvSpPr>
                <a:spLocks/>
              </p:cNvSpPr>
              <p:nvPr/>
            </p:nvSpPr>
            <p:spPr bwMode="auto">
              <a:xfrm>
                <a:off x="5325" y="1201"/>
                <a:ext cx="415" cy="187"/>
              </a:xfrm>
              <a:custGeom>
                <a:avLst/>
                <a:gdLst/>
                <a:ahLst/>
                <a:cxnLst>
                  <a:cxn ang="0">
                    <a:pos x="72" y="6"/>
                  </a:cxn>
                  <a:cxn ang="0">
                    <a:pos x="24" y="17"/>
                  </a:cxn>
                  <a:cxn ang="0">
                    <a:pos x="17" y="26"/>
                  </a:cxn>
                  <a:cxn ang="0">
                    <a:pos x="76" y="23"/>
                  </a:cxn>
                  <a:cxn ang="0">
                    <a:pos x="82" y="20"/>
                  </a:cxn>
                  <a:cxn ang="0">
                    <a:pos x="82" y="0"/>
                  </a:cxn>
                  <a:cxn ang="0">
                    <a:pos x="72" y="6"/>
                  </a:cxn>
                </a:cxnLst>
                <a:rect l="0" t="0" r="r" b="b"/>
                <a:pathLst>
                  <a:path w="82" h="37">
                    <a:moveTo>
                      <a:pt x="72" y="6"/>
                    </a:moveTo>
                    <a:cubicBezTo>
                      <a:pt x="57" y="23"/>
                      <a:pt x="24" y="17"/>
                      <a:pt x="24" y="17"/>
                    </a:cubicBezTo>
                    <a:cubicBezTo>
                      <a:pt x="24" y="17"/>
                      <a:pt x="0" y="16"/>
                      <a:pt x="17" y="26"/>
                    </a:cubicBezTo>
                    <a:cubicBezTo>
                      <a:pt x="33" y="37"/>
                      <a:pt x="53" y="32"/>
                      <a:pt x="76" y="23"/>
                    </a:cubicBezTo>
                    <a:cubicBezTo>
                      <a:pt x="78" y="22"/>
                      <a:pt x="80" y="21"/>
                      <a:pt x="82" y="20"/>
                    </a:cubicBezTo>
                    <a:lnTo>
                      <a:pt x="82" y="0"/>
                    </a:lnTo>
                    <a:cubicBezTo>
                      <a:pt x="79" y="1"/>
                      <a:pt x="75" y="2"/>
                      <a:pt x="72" y="6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212" name="Freeform 244"/>
              <p:cNvSpPr>
                <a:spLocks/>
              </p:cNvSpPr>
              <p:nvPr/>
            </p:nvSpPr>
            <p:spPr bwMode="auto">
              <a:xfrm>
                <a:off x="5001" y="1378"/>
                <a:ext cx="698" cy="167"/>
              </a:xfrm>
              <a:custGeom>
                <a:avLst/>
                <a:gdLst/>
                <a:ahLst/>
                <a:cxnLst>
                  <a:cxn ang="0">
                    <a:pos x="21" y="1"/>
                  </a:cxn>
                  <a:cxn ang="0">
                    <a:pos x="8" y="14"/>
                  </a:cxn>
                  <a:cxn ang="0">
                    <a:pos x="57" y="22"/>
                  </a:cxn>
                  <a:cxn ang="0">
                    <a:pos x="117" y="23"/>
                  </a:cxn>
                  <a:cxn ang="0">
                    <a:pos x="114" y="8"/>
                  </a:cxn>
                  <a:cxn ang="0">
                    <a:pos x="82" y="3"/>
                  </a:cxn>
                  <a:cxn ang="0">
                    <a:pos x="21" y="1"/>
                  </a:cxn>
                </a:cxnLst>
                <a:rect l="0" t="0" r="r" b="b"/>
                <a:pathLst>
                  <a:path w="138" h="33">
                    <a:moveTo>
                      <a:pt x="21" y="1"/>
                    </a:moveTo>
                    <a:cubicBezTo>
                      <a:pt x="21" y="1"/>
                      <a:pt x="0" y="8"/>
                      <a:pt x="8" y="14"/>
                    </a:cubicBezTo>
                    <a:cubicBezTo>
                      <a:pt x="15" y="20"/>
                      <a:pt x="48" y="22"/>
                      <a:pt x="57" y="22"/>
                    </a:cubicBezTo>
                    <a:cubicBezTo>
                      <a:pt x="66" y="22"/>
                      <a:pt x="96" y="33"/>
                      <a:pt x="117" y="23"/>
                    </a:cubicBezTo>
                    <a:cubicBezTo>
                      <a:pt x="138" y="12"/>
                      <a:pt x="123" y="9"/>
                      <a:pt x="114" y="8"/>
                    </a:cubicBezTo>
                    <a:cubicBezTo>
                      <a:pt x="105" y="6"/>
                      <a:pt x="102" y="0"/>
                      <a:pt x="82" y="3"/>
                    </a:cubicBezTo>
                    <a:cubicBezTo>
                      <a:pt x="37" y="11"/>
                      <a:pt x="21" y="1"/>
                      <a:pt x="21" y="1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213" name="Freeform 245"/>
              <p:cNvSpPr>
                <a:spLocks/>
              </p:cNvSpPr>
              <p:nvPr/>
            </p:nvSpPr>
            <p:spPr bwMode="auto">
              <a:xfrm>
                <a:off x="5077" y="1540"/>
                <a:ext cx="567" cy="146"/>
              </a:xfrm>
              <a:custGeom>
                <a:avLst/>
                <a:gdLst/>
                <a:ahLst/>
                <a:cxnLst>
                  <a:cxn ang="0">
                    <a:pos x="98" y="19"/>
                  </a:cxn>
                  <a:cxn ang="0">
                    <a:pos x="103" y="4"/>
                  </a:cxn>
                  <a:cxn ang="0">
                    <a:pos x="74" y="10"/>
                  </a:cxn>
                  <a:cxn ang="0">
                    <a:pos x="36" y="6"/>
                  </a:cxn>
                  <a:cxn ang="0">
                    <a:pos x="2" y="4"/>
                  </a:cxn>
                  <a:cxn ang="0">
                    <a:pos x="98" y="19"/>
                  </a:cxn>
                </a:cxnLst>
                <a:rect l="0" t="0" r="r" b="b"/>
                <a:pathLst>
                  <a:path w="112" h="29">
                    <a:moveTo>
                      <a:pt x="98" y="19"/>
                    </a:moveTo>
                    <a:cubicBezTo>
                      <a:pt x="112" y="13"/>
                      <a:pt x="111" y="0"/>
                      <a:pt x="103" y="4"/>
                    </a:cubicBezTo>
                    <a:cubicBezTo>
                      <a:pt x="96" y="9"/>
                      <a:pt x="83" y="10"/>
                      <a:pt x="74" y="10"/>
                    </a:cubicBezTo>
                    <a:cubicBezTo>
                      <a:pt x="65" y="11"/>
                      <a:pt x="45" y="3"/>
                      <a:pt x="36" y="6"/>
                    </a:cubicBezTo>
                    <a:cubicBezTo>
                      <a:pt x="27" y="9"/>
                      <a:pt x="2" y="4"/>
                      <a:pt x="2" y="4"/>
                    </a:cubicBezTo>
                    <a:cubicBezTo>
                      <a:pt x="0" y="29"/>
                      <a:pt x="83" y="25"/>
                      <a:pt x="98" y="19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214" name="Freeform 246"/>
              <p:cNvSpPr>
                <a:spLocks/>
              </p:cNvSpPr>
              <p:nvPr/>
            </p:nvSpPr>
            <p:spPr bwMode="auto">
              <a:xfrm>
                <a:off x="5042" y="1656"/>
                <a:ext cx="581" cy="480"/>
              </a:xfrm>
              <a:custGeom>
                <a:avLst/>
                <a:gdLst/>
                <a:ahLst/>
                <a:cxnLst>
                  <a:cxn ang="0">
                    <a:pos x="3" y="53"/>
                  </a:cxn>
                  <a:cxn ang="0">
                    <a:pos x="26" y="54"/>
                  </a:cxn>
                  <a:cxn ang="0">
                    <a:pos x="50" y="77"/>
                  </a:cxn>
                  <a:cxn ang="0">
                    <a:pos x="59" y="84"/>
                  </a:cxn>
                  <a:cxn ang="0">
                    <a:pos x="81" y="52"/>
                  </a:cxn>
                  <a:cxn ang="0">
                    <a:pos x="111" y="52"/>
                  </a:cxn>
                  <a:cxn ang="0">
                    <a:pos x="79" y="27"/>
                  </a:cxn>
                  <a:cxn ang="0">
                    <a:pos x="37" y="16"/>
                  </a:cxn>
                  <a:cxn ang="0">
                    <a:pos x="12" y="41"/>
                  </a:cxn>
                  <a:cxn ang="0">
                    <a:pos x="3" y="53"/>
                  </a:cxn>
                </a:cxnLst>
                <a:rect l="0" t="0" r="r" b="b"/>
                <a:pathLst>
                  <a:path w="115" h="95">
                    <a:moveTo>
                      <a:pt x="3" y="53"/>
                    </a:moveTo>
                    <a:cubicBezTo>
                      <a:pt x="5" y="60"/>
                      <a:pt x="14" y="68"/>
                      <a:pt x="26" y="54"/>
                    </a:cubicBezTo>
                    <a:cubicBezTo>
                      <a:pt x="48" y="29"/>
                      <a:pt x="48" y="72"/>
                      <a:pt x="50" y="77"/>
                    </a:cubicBezTo>
                    <a:cubicBezTo>
                      <a:pt x="51" y="81"/>
                      <a:pt x="54" y="95"/>
                      <a:pt x="59" y="84"/>
                    </a:cubicBezTo>
                    <a:cubicBezTo>
                      <a:pt x="63" y="74"/>
                      <a:pt x="70" y="39"/>
                      <a:pt x="81" y="52"/>
                    </a:cubicBezTo>
                    <a:cubicBezTo>
                      <a:pt x="100" y="76"/>
                      <a:pt x="115" y="54"/>
                      <a:pt x="111" y="52"/>
                    </a:cubicBezTo>
                    <a:cubicBezTo>
                      <a:pt x="106" y="51"/>
                      <a:pt x="79" y="37"/>
                      <a:pt x="79" y="27"/>
                    </a:cubicBezTo>
                    <a:cubicBezTo>
                      <a:pt x="79" y="16"/>
                      <a:pt x="42" y="0"/>
                      <a:pt x="37" y="16"/>
                    </a:cubicBezTo>
                    <a:cubicBezTo>
                      <a:pt x="33" y="33"/>
                      <a:pt x="12" y="41"/>
                      <a:pt x="12" y="41"/>
                    </a:cubicBezTo>
                    <a:cubicBezTo>
                      <a:pt x="0" y="44"/>
                      <a:pt x="2" y="45"/>
                      <a:pt x="3" y="53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215" name="Freeform 247"/>
              <p:cNvSpPr>
                <a:spLocks/>
              </p:cNvSpPr>
              <p:nvPr/>
            </p:nvSpPr>
            <p:spPr bwMode="auto">
              <a:xfrm>
                <a:off x="5421" y="1464"/>
                <a:ext cx="329" cy="854"/>
              </a:xfrm>
              <a:custGeom>
                <a:avLst/>
                <a:gdLst/>
                <a:ahLst/>
                <a:cxnLst>
                  <a:cxn ang="0">
                    <a:pos x="51" y="40"/>
                  </a:cxn>
                  <a:cxn ang="0">
                    <a:pos x="22" y="49"/>
                  </a:cxn>
                  <a:cxn ang="0">
                    <a:pos x="22" y="59"/>
                  </a:cxn>
                  <a:cxn ang="0">
                    <a:pos x="50" y="90"/>
                  </a:cxn>
                  <a:cxn ang="0">
                    <a:pos x="34" y="118"/>
                  </a:cxn>
                  <a:cxn ang="0">
                    <a:pos x="0" y="148"/>
                  </a:cxn>
                  <a:cxn ang="0">
                    <a:pos x="17" y="155"/>
                  </a:cxn>
                  <a:cxn ang="0">
                    <a:pos x="47" y="166"/>
                  </a:cxn>
                  <a:cxn ang="0">
                    <a:pos x="63" y="162"/>
                  </a:cxn>
                  <a:cxn ang="0">
                    <a:pos x="65" y="0"/>
                  </a:cxn>
                  <a:cxn ang="0">
                    <a:pos x="51" y="40"/>
                  </a:cxn>
                </a:cxnLst>
                <a:rect l="0" t="0" r="r" b="b"/>
                <a:pathLst>
                  <a:path w="65" h="169">
                    <a:moveTo>
                      <a:pt x="51" y="40"/>
                    </a:moveTo>
                    <a:cubicBezTo>
                      <a:pt x="44" y="46"/>
                      <a:pt x="30" y="49"/>
                      <a:pt x="22" y="49"/>
                    </a:cubicBezTo>
                    <a:cubicBezTo>
                      <a:pt x="13" y="48"/>
                      <a:pt x="14" y="56"/>
                      <a:pt x="22" y="59"/>
                    </a:cubicBezTo>
                    <a:cubicBezTo>
                      <a:pt x="30" y="62"/>
                      <a:pt x="49" y="75"/>
                      <a:pt x="50" y="90"/>
                    </a:cubicBezTo>
                    <a:cubicBezTo>
                      <a:pt x="50" y="104"/>
                      <a:pt x="51" y="115"/>
                      <a:pt x="34" y="118"/>
                    </a:cubicBezTo>
                    <a:cubicBezTo>
                      <a:pt x="18" y="122"/>
                      <a:pt x="3" y="124"/>
                      <a:pt x="0" y="148"/>
                    </a:cubicBezTo>
                    <a:cubicBezTo>
                      <a:pt x="0" y="148"/>
                      <a:pt x="10" y="154"/>
                      <a:pt x="17" y="155"/>
                    </a:cubicBezTo>
                    <a:cubicBezTo>
                      <a:pt x="23" y="155"/>
                      <a:pt x="42" y="163"/>
                      <a:pt x="47" y="166"/>
                    </a:cubicBezTo>
                    <a:cubicBezTo>
                      <a:pt x="51" y="169"/>
                      <a:pt x="58" y="167"/>
                      <a:pt x="63" y="162"/>
                    </a:cubicBezTo>
                    <a:lnTo>
                      <a:pt x="65" y="0"/>
                    </a:lnTo>
                    <a:cubicBezTo>
                      <a:pt x="64" y="8"/>
                      <a:pt x="58" y="36"/>
                      <a:pt x="51" y="40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84216" name="Rectangle 248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298450" y="228600"/>
            <a:ext cx="85407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84217" name="Rectangle 249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609600" y="1600200"/>
            <a:ext cx="8153400" cy="449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4218" name="Rectangle 25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98450" y="6245225"/>
            <a:ext cx="2289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84219" name="Rectangle 25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1025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84220" name="Rectangle 25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0025" y="6245225"/>
            <a:ext cx="2289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22FFA49-D06F-4496-8BBD-017C761ACF7B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2"/>
        </a:buClr>
        <a:buSzPct val="85000"/>
        <a:buFont typeface="Wingdings" pitchFamily="2" charset="2"/>
        <a:buChar char="Ø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 2" pitchFamily="18" charset="2"/>
        <a:buChar char="¡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90000"/>
        <a:buFont typeface="Wingdings" pitchFamily="2" charset="2"/>
        <a:buChar char="Ø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7" Type="http://schemas.openxmlformats.org/officeDocument/2006/relationships/slide" Target="slide3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6.xml"/><Relationship Id="rId5" Type="http://schemas.openxmlformats.org/officeDocument/2006/relationships/slide" Target="slide22.xml"/><Relationship Id="rId4" Type="http://schemas.openxmlformats.org/officeDocument/2006/relationships/slide" Target="slide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6.png"/><Relationship Id="rId9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9.wmf"/><Relationship Id="rId7" Type="http://schemas.openxmlformats.org/officeDocument/2006/relationships/image" Target="../media/image36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3" Type="http://schemas.openxmlformats.org/officeDocument/2006/relationships/image" Target="../media/image46.png"/><Relationship Id="rId7" Type="http://schemas.openxmlformats.org/officeDocument/2006/relationships/image" Target="../media/image48.png"/><Relationship Id="rId12" Type="http://schemas.openxmlformats.org/officeDocument/2006/relationships/image" Target="../media/image40.png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wmf"/><Relationship Id="rId11" Type="http://schemas.openxmlformats.org/officeDocument/2006/relationships/image" Target="../media/image52.png"/><Relationship Id="rId5" Type="http://schemas.openxmlformats.org/officeDocument/2006/relationships/oleObject" Target="../embeddings/oleObject1.bin"/><Relationship Id="rId15" Type="http://schemas.openxmlformats.org/officeDocument/2006/relationships/image" Target="../media/image42.png"/><Relationship Id="rId10" Type="http://schemas.openxmlformats.org/officeDocument/2006/relationships/image" Target="../media/image51.png"/><Relationship Id="rId4" Type="http://schemas.openxmlformats.org/officeDocument/2006/relationships/image" Target="../media/image47.png"/><Relationship Id="rId9" Type="http://schemas.openxmlformats.org/officeDocument/2006/relationships/image" Target="../media/image50.png"/><Relationship Id="rId1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95288" y="260350"/>
            <a:ext cx="8497887" cy="5597542"/>
          </a:xfrm>
        </p:spPr>
        <p:txBody>
          <a:bodyPr/>
          <a:lstStyle/>
          <a:p>
            <a:pPr>
              <a:lnSpc>
                <a:spcPct val="200000"/>
              </a:lnSpc>
              <a:buFont typeface="Wingdings" pitchFamily="2" charset="2"/>
              <a:buNone/>
            </a:pPr>
            <a:r>
              <a:rPr lang="en-US" altLang="zh-CN" sz="4000" dirty="0">
                <a:latin typeface="黑体" pitchFamily="49" charset="-122"/>
                <a:ea typeface="黑体" pitchFamily="49" charset="-122"/>
              </a:rPr>
              <a:t>        </a:t>
            </a:r>
            <a:r>
              <a:rPr lang="zh-CN" altLang="en-US" sz="360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第</a:t>
            </a:r>
            <a:r>
              <a:rPr lang="en-US" altLang="zh-CN" sz="360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11</a:t>
            </a:r>
            <a:r>
              <a:rPr lang="zh-CN" altLang="en-US" sz="360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章 神经网络学习</a:t>
            </a: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           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  <a:hlinkClick r:id="rId2" action="ppaction://hlinksldjump"/>
              </a:rPr>
              <a:t>11.1 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  <a:hlinkClick r:id="rId2" action="ppaction://hlinksldjump"/>
              </a:rPr>
              <a:t>从生物神经元到人工神经元</a:t>
            </a:r>
            <a:endParaRPr lang="zh-CN" altLang="en-US" sz="2800" dirty="0">
              <a:latin typeface="黑体" pitchFamily="49" charset="-122"/>
              <a:ea typeface="黑体" pitchFamily="49" charset="-122"/>
            </a:endParaRPr>
          </a:p>
          <a:p>
            <a:pPr>
              <a:buFont typeface="Wingdings" pitchFamily="2" charset="2"/>
              <a:buNone/>
            </a:pP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           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  <a:hlinkClick r:id="rId3" action="ppaction://hlinksldjump"/>
              </a:rPr>
              <a:t>11.2 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  <a:hlinkClick r:id="rId3" action="ppaction://hlinksldjump"/>
              </a:rPr>
              <a:t>神经网络及其学习</a:t>
            </a:r>
            <a:endParaRPr lang="zh-CN" altLang="en-US" sz="2800" dirty="0">
              <a:latin typeface="黑体" pitchFamily="49" charset="-122"/>
              <a:ea typeface="黑体" pitchFamily="49" charset="-122"/>
            </a:endParaRPr>
          </a:p>
          <a:p>
            <a:pPr>
              <a:buFont typeface="Wingdings" pitchFamily="2" charset="2"/>
              <a:buNone/>
            </a:pP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           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  <a:hlinkClick r:id="rId4" action="ppaction://hlinksldjump"/>
              </a:rPr>
              <a:t>11.3 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  <a:hlinkClick r:id="rId4" action="ppaction://hlinksldjump"/>
              </a:rPr>
              <a:t>感知器及其学习举例</a:t>
            </a:r>
            <a:endParaRPr lang="en-US" altLang="zh-CN" sz="2800" dirty="0">
              <a:latin typeface="黑体" pitchFamily="49" charset="-122"/>
              <a:ea typeface="黑体" pitchFamily="49" charset="-122"/>
            </a:endParaRPr>
          </a:p>
          <a:p>
            <a:pPr>
              <a:buNone/>
            </a:pP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           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  <a:hlinkClick r:id="rId5" action="ppaction://hlinksldjump"/>
              </a:rPr>
              <a:t>11.4 BP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  <a:hlinkClick r:id="rId5" action="ppaction://hlinksldjump"/>
              </a:rPr>
              <a:t>网络及其学习举例</a:t>
            </a:r>
            <a:endParaRPr lang="zh-CN" altLang="en-US" sz="2800" dirty="0">
              <a:latin typeface="黑体" pitchFamily="49" charset="-122"/>
              <a:ea typeface="黑体" pitchFamily="49" charset="-122"/>
            </a:endParaRPr>
          </a:p>
          <a:p>
            <a:pPr>
              <a:buFont typeface="Wingdings" pitchFamily="2" charset="2"/>
              <a:buNone/>
            </a:pP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           </a:t>
            </a:r>
            <a:r>
              <a:rPr lang="en-US" altLang="zh-CN" sz="2800" dirty="0">
                <a:latin typeface="黑体" pitchFamily="49" charset="-122"/>
                <a:ea typeface="黑体" pitchFamily="49" charset="-122"/>
                <a:hlinkClick r:id="rId6" action="ppaction://hlinksldjump"/>
              </a:rPr>
              <a:t>11.5 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  <a:hlinkClick r:id="rId6" action="ppaction://hlinksldjump"/>
              </a:rPr>
              <a:t>深度学习</a:t>
            </a:r>
            <a:endParaRPr lang="zh-CN" altLang="en-US" sz="2800" dirty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           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  <a:hlinkClick r:id="rId7" action="ppaction://hlinksldjump"/>
              </a:rPr>
              <a:t>延伸学习导引</a:t>
            </a:r>
            <a:endParaRPr lang="en-US" altLang="zh-CN" sz="2800" dirty="0"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57200" y="404813"/>
            <a:ext cx="8229600" cy="5726112"/>
          </a:xfrm>
        </p:spPr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        </a:t>
            </a:r>
            <a:r>
              <a:rPr lang="en-US" altLang="zh-CN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11.1 </a:t>
            </a:r>
            <a:r>
              <a:rPr lang="zh-CN" altLang="en-US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从生物神经元到人工神经元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    1. </a:t>
            </a:r>
            <a:r>
              <a:rPr lang="zh-CN" altLang="en-US" sz="2400" b="1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生物神经元</a:t>
            </a:r>
            <a:endParaRPr lang="zh-CN" altLang="en-US" sz="2400" dirty="0">
              <a:solidFill>
                <a:srgbClr val="0070C0"/>
              </a:solidFill>
              <a:latin typeface="楷体" pitchFamily="49" charset="-122"/>
              <a:ea typeface="楷体" pitchFamily="49" charset="-122"/>
            </a:endParaRPr>
          </a:p>
          <a:p>
            <a:pPr>
              <a:buFont typeface="Wingdings" pitchFamily="2" charset="2"/>
              <a:buNone/>
            </a:pPr>
            <a:endParaRPr lang="zh-CN" altLang="en-US" dirty="0"/>
          </a:p>
        </p:txBody>
      </p:sp>
      <p:sp>
        <p:nvSpPr>
          <p:cNvPr id="53253" name="Rectangle 5"/>
          <p:cNvSpPr>
            <a:spLocks noChangeArrowheads="1"/>
          </p:cNvSpPr>
          <p:nvPr/>
        </p:nvSpPr>
        <p:spPr bwMode="auto">
          <a:xfrm>
            <a:off x="3286116" y="5214950"/>
            <a:ext cx="28940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dirty="0">
                <a:latin typeface="Verdana" pitchFamily="34" charset="0"/>
              </a:rPr>
              <a:t> </a:t>
            </a:r>
            <a:r>
              <a:rPr kumimoji="1" lang="zh-CN" altLang="en-US" sz="2000" dirty="0">
                <a:solidFill>
                  <a:srgbClr val="0070C0"/>
                </a:solidFill>
                <a:latin typeface="Verdana" pitchFamily="34" charset="0"/>
              </a:rPr>
              <a:t>生物神经元的基本结构 </a:t>
            </a:r>
          </a:p>
        </p:txBody>
      </p:sp>
      <p:pic>
        <p:nvPicPr>
          <p:cNvPr id="70658" name="Picture 2" descr="E:\人工智能导论\085054-01 人工智能导论(图)\tu\RG10-1.tif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1928794" y="2143116"/>
            <a:ext cx="5724000" cy="240124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809170" y="428604"/>
            <a:ext cx="3455987" cy="576263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sz="2400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2.</a:t>
            </a:r>
            <a:r>
              <a:rPr lang="zh-CN" altLang="en-US" sz="2400" b="1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人工神经元</a:t>
            </a:r>
          </a:p>
        </p:txBody>
      </p:sp>
      <p:sp>
        <p:nvSpPr>
          <p:cNvPr id="54277" name="Rectangle 5"/>
          <p:cNvSpPr>
            <a:spLocks noChangeArrowheads="1"/>
          </p:cNvSpPr>
          <p:nvPr/>
        </p:nvSpPr>
        <p:spPr bwMode="auto">
          <a:xfrm>
            <a:off x="3428992" y="3141085"/>
            <a:ext cx="25511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dirty="0">
                <a:latin typeface="Verdana" pitchFamily="34" charset="0"/>
              </a:rPr>
              <a:t> </a:t>
            </a:r>
            <a:r>
              <a:rPr kumimoji="1" lang="zh-CN" altLang="en-US" sz="2000" dirty="0">
                <a:solidFill>
                  <a:srgbClr val="0070C0"/>
                </a:solidFill>
                <a:latin typeface="Verdana" pitchFamily="34" charset="0"/>
              </a:rPr>
              <a:t>人工神经元结构模型</a:t>
            </a:r>
          </a:p>
        </p:txBody>
      </p:sp>
      <p:sp>
        <p:nvSpPr>
          <p:cNvPr id="54278" name="Rectangle 6"/>
          <p:cNvSpPr>
            <a:spLocks noChangeArrowheads="1"/>
          </p:cNvSpPr>
          <p:nvPr/>
        </p:nvSpPr>
        <p:spPr bwMode="auto">
          <a:xfrm>
            <a:off x="785786" y="3714752"/>
            <a:ext cx="5570756" cy="559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kumimoji="1" lang="zh-CN" altLang="en-US" sz="2400" dirty="0">
                <a:solidFill>
                  <a:srgbClr val="0070C0"/>
                </a:solidFill>
                <a:latin typeface="+mn-ea"/>
                <a:ea typeface="+mn-ea"/>
              </a:rPr>
              <a:t>人工神经元的输入输出关系可描述为： </a:t>
            </a:r>
          </a:p>
        </p:txBody>
      </p:sp>
      <p:pic>
        <p:nvPicPr>
          <p:cNvPr id="7" name="Picture 1" descr="E:\人工智能导论\085054-01 人工智能导论(图)\tu\RG10-2.tif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2214546" y="1142984"/>
            <a:ext cx="4786346" cy="1956536"/>
          </a:xfrm>
          <a:prstGeom prst="rect">
            <a:avLst/>
          </a:prstGeom>
          <a:noFill/>
        </p:spPr>
      </p:pic>
      <p:pic>
        <p:nvPicPr>
          <p:cNvPr id="69633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87556" y="4373712"/>
            <a:ext cx="7488000" cy="142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AA57D35-776F-9B41-9D7D-4186AD2928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453" y="5661248"/>
            <a:ext cx="238095" cy="35238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26F4FAD-7FC3-0038-3628-7D8D869D2539}"/>
              </a:ext>
            </a:extLst>
          </p:cNvPr>
          <p:cNvSpPr txBox="1"/>
          <p:nvPr/>
        </p:nvSpPr>
        <p:spPr>
          <a:xfrm>
            <a:off x="4540605" y="5661248"/>
            <a:ext cx="1359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表示阈值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10" name="Rectangle 14"/>
          <p:cNvSpPr>
            <a:spLocks noGrp="1" noRot="1" noChangeArrowheads="1"/>
          </p:cNvSpPr>
          <p:nvPr>
            <p:ph type="title"/>
          </p:nvPr>
        </p:nvSpPr>
        <p:spPr>
          <a:xfrm>
            <a:off x="298450" y="325585"/>
            <a:ext cx="8540750" cy="628632"/>
          </a:xfrm>
        </p:spPr>
        <p:txBody>
          <a:bodyPr/>
          <a:lstStyle/>
          <a:p>
            <a:r>
              <a:rPr lang="zh-CN" altLang="en-US" sz="2800" b="1" dirty="0">
                <a:solidFill>
                  <a:srgbClr val="0070C0"/>
                </a:solidFill>
                <a:latin typeface="仿宋" pitchFamily="49" charset="-122"/>
                <a:ea typeface="仿宋" pitchFamily="49" charset="-122"/>
              </a:rPr>
              <a:t>常见的几种神经元激活函数 </a:t>
            </a:r>
          </a:p>
        </p:txBody>
      </p:sp>
      <p:sp>
        <p:nvSpPr>
          <p:cNvPr id="55299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755650" y="1157573"/>
            <a:ext cx="4038600" cy="4530725"/>
          </a:xfrm>
        </p:spPr>
        <p:txBody>
          <a:bodyPr/>
          <a:lstStyle/>
          <a:p>
            <a:pPr marL="609600" indent="-609600">
              <a:buFont typeface="Wingdings" pitchFamily="2" charset="2"/>
              <a:buNone/>
            </a:pPr>
            <a:r>
              <a:rPr lang="en-US" altLang="zh-CN" sz="2400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1. </a:t>
            </a:r>
            <a:r>
              <a:rPr lang="zh-CN" altLang="en-US" sz="2400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阶跃函数</a:t>
            </a:r>
          </a:p>
          <a:p>
            <a:pPr marL="609600" indent="-609600">
              <a:buFont typeface="Wingdings" pitchFamily="2" charset="2"/>
              <a:buNone/>
            </a:pP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>
              <a:buFont typeface="Wingdings" pitchFamily="2" charset="2"/>
              <a:buNone/>
            </a:pP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>
              <a:buFont typeface="Wingdings" pitchFamily="2" charset="2"/>
              <a:buNone/>
            </a:pP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>
              <a:buFont typeface="Wingdings" pitchFamily="2" charset="2"/>
              <a:buNone/>
            </a:pPr>
            <a:r>
              <a:rPr lang="en-US" altLang="zh-CN" sz="2400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2. Sigmoid</a:t>
            </a:r>
            <a:r>
              <a:rPr lang="zh-CN" altLang="en-US" sz="2400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函数 </a:t>
            </a:r>
          </a:p>
          <a:p>
            <a:pPr marL="609600" indent="-609600">
              <a:buFont typeface="Wingdings" pitchFamily="2" charset="2"/>
              <a:buNone/>
            </a:pPr>
            <a:endParaRPr lang="zh-CN" altLang="en-US" sz="2400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>
              <a:buFont typeface="Wingdings" pitchFamily="2" charset="2"/>
              <a:buNone/>
            </a:pPr>
            <a:endParaRPr lang="zh-CN" altLang="en-US" sz="2400" dirty="0">
              <a:latin typeface="楷体_GB2312" pitchFamily="49" charset="-122"/>
              <a:ea typeface="楷体_GB2312" pitchFamily="49" charset="-122"/>
            </a:endParaRPr>
          </a:p>
          <a:p>
            <a:pPr marL="609600" indent="-609600">
              <a:buFont typeface="Wingdings" pitchFamily="2" charset="2"/>
              <a:buNone/>
            </a:pPr>
            <a:r>
              <a:rPr lang="en-US" altLang="zh-CN" sz="2400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3. </a:t>
            </a:r>
            <a:r>
              <a:rPr lang="zh-CN" altLang="en-US" sz="2400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分段线性函数</a:t>
            </a:r>
          </a:p>
          <a:p>
            <a:pPr marL="609600" indent="-609600">
              <a:buFont typeface="Wingdings" pitchFamily="2" charset="2"/>
              <a:buNone/>
            </a:pPr>
            <a:r>
              <a:rPr lang="zh-CN" altLang="en-US" sz="2800" dirty="0"/>
              <a:t> </a:t>
            </a:r>
          </a:p>
        </p:txBody>
      </p:sp>
      <p:pic>
        <p:nvPicPr>
          <p:cNvPr id="6860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1" y="1490643"/>
            <a:ext cx="7848000" cy="1500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1537" y="3389598"/>
            <a:ext cx="7704000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861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5720" y="4746920"/>
            <a:ext cx="8496000" cy="1143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500043"/>
            <a:ext cx="8072494" cy="5643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00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285728"/>
            <a:ext cx="9144000" cy="6000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动作按钮: 后退或前一项 3">
            <a:hlinkClick r:id="" action="ppaction://hlinkshowjump?jump=firstslide" highlightClick="1"/>
          </p:cNvPr>
          <p:cNvSpPr/>
          <p:nvPr/>
        </p:nvSpPr>
        <p:spPr>
          <a:xfrm>
            <a:off x="7715272" y="6286520"/>
            <a:ext cx="720000" cy="144000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9BF16F5-D3BF-CB30-BFD8-59C6F5BE817F}"/>
              </a:ext>
            </a:extLst>
          </p:cNvPr>
          <p:cNvSpPr txBox="1"/>
          <p:nvPr/>
        </p:nvSpPr>
        <p:spPr>
          <a:xfrm>
            <a:off x="1979712" y="2708920"/>
            <a:ext cx="1152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阶跃函数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58774D0-CF08-185F-B289-0958A7D959AD}"/>
              </a:ext>
            </a:extLst>
          </p:cNvPr>
          <p:cNvSpPr txBox="1"/>
          <p:nvPr/>
        </p:nvSpPr>
        <p:spPr>
          <a:xfrm>
            <a:off x="4572000" y="2679121"/>
            <a:ext cx="1563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Sigmoid</a:t>
            </a:r>
            <a:r>
              <a:rPr lang="zh-CN" altLang="en-US" sz="1800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函数 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171616F-4E34-2BA3-40BD-7BFE5F5CDB67}"/>
              </a:ext>
            </a:extLst>
          </p:cNvPr>
          <p:cNvSpPr txBox="1"/>
          <p:nvPr/>
        </p:nvSpPr>
        <p:spPr>
          <a:xfrm>
            <a:off x="7257423" y="2683582"/>
            <a:ext cx="1635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600" indent="-609600">
              <a:buFont typeface="Wingdings" pitchFamily="2" charset="2"/>
              <a:buNone/>
            </a:pPr>
            <a:r>
              <a:rPr lang="zh-CN" altLang="en-US" sz="1800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分段线性函数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11C3562-50A5-FB3F-15DC-0F78348A579F}"/>
              </a:ext>
            </a:extLst>
          </p:cNvPr>
          <p:cNvSpPr txBox="1"/>
          <p:nvPr/>
        </p:nvSpPr>
        <p:spPr>
          <a:xfrm>
            <a:off x="7164288" y="5576345"/>
            <a:ext cx="15822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ReLU</a:t>
            </a:r>
            <a:r>
              <a:rPr lang="zh-CN" altLang="en-US" sz="1800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函数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50F1947-5573-7D4A-B75A-06668B23F6A3}"/>
              </a:ext>
            </a:extLst>
          </p:cNvPr>
          <p:cNvSpPr txBox="1"/>
          <p:nvPr/>
        </p:nvSpPr>
        <p:spPr>
          <a:xfrm>
            <a:off x="1979712" y="5501444"/>
            <a:ext cx="1152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符号函数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B9D5143-A0B5-9A45-114E-628270CA94FD}"/>
              </a:ext>
            </a:extLst>
          </p:cNvPr>
          <p:cNvSpPr txBox="1"/>
          <p:nvPr/>
        </p:nvSpPr>
        <p:spPr>
          <a:xfrm>
            <a:off x="4572000" y="5576345"/>
            <a:ext cx="15822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双曲正切</a:t>
            </a:r>
            <a:r>
              <a:rPr lang="zh-CN" altLang="en-US" sz="1800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函数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357166"/>
            <a:ext cx="8153400" cy="5742009"/>
          </a:xfrm>
        </p:spPr>
        <p:txBody>
          <a:bodyPr/>
          <a:lstStyle/>
          <a:p>
            <a:pPr algn="ctr">
              <a:lnSpc>
                <a:spcPct val="150000"/>
              </a:lnSpc>
              <a:buNone/>
            </a:pPr>
            <a:r>
              <a:rPr lang="en-US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11.2 </a:t>
            </a:r>
            <a:r>
              <a:rPr lang="zh-CN" altLang="en-US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神经网络及其学习</a:t>
            </a:r>
          </a:p>
          <a:p>
            <a:pPr>
              <a:buNone/>
            </a:pPr>
            <a:r>
              <a:rPr lang="en-US" dirty="0"/>
              <a:t>   </a:t>
            </a:r>
            <a:r>
              <a:rPr lang="en-US" sz="24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11.2.1 </a:t>
            </a:r>
            <a:r>
              <a:rPr lang="zh-CN" altLang="en-US" sz="24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神经网络的拓扑结构与功能</a:t>
            </a:r>
          </a:p>
          <a:p>
            <a:pPr marL="514350" indent="-514350">
              <a:lnSpc>
                <a:spcPct val="150000"/>
              </a:lnSpc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    (1) </a:t>
            </a:r>
            <a:r>
              <a:rPr lang="zh-CN" altLang="en-US" sz="2400" b="1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分层前向网络</a:t>
            </a:r>
            <a:endParaRPr lang="en-US" altLang="zh-CN" sz="2400" b="1" dirty="0">
              <a:solidFill>
                <a:srgbClr val="0070C0"/>
              </a:solidFill>
              <a:latin typeface="楷体" pitchFamily="49" charset="-122"/>
              <a:ea typeface="楷体" pitchFamily="49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    (2) </a:t>
            </a:r>
            <a:r>
              <a:rPr lang="zh-CN" altLang="en-US" sz="2400" b="1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反馈前向网络</a:t>
            </a:r>
            <a:endParaRPr lang="zh-CN" altLang="en-US" sz="2400" dirty="0">
              <a:solidFill>
                <a:srgbClr val="0070C0"/>
              </a:solidFill>
              <a:latin typeface="楷体" pitchFamily="49" charset="-122"/>
              <a:ea typeface="楷体" pitchFamily="49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    (3) </a:t>
            </a:r>
            <a:r>
              <a:rPr lang="zh-CN" altLang="en-US" sz="2400" b="1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互连前向网络</a:t>
            </a:r>
            <a:endParaRPr lang="zh-CN" altLang="en-US" sz="2400" dirty="0">
              <a:solidFill>
                <a:srgbClr val="0070C0"/>
              </a:solidFill>
              <a:latin typeface="楷体" pitchFamily="49" charset="-122"/>
              <a:ea typeface="楷体" pitchFamily="49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    (4) </a:t>
            </a:r>
            <a:r>
              <a:rPr lang="zh-CN" altLang="en-US" sz="2400" b="1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广泛互连网络</a:t>
            </a:r>
            <a:endParaRPr lang="zh-CN" altLang="en-US" sz="2400" dirty="0">
              <a:solidFill>
                <a:srgbClr val="0070C0"/>
              </a:solidFill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ChangeArrowheads="1"/>
          </p:cNvSpPr>
          <p:nvPr/>
        </p:nvSpPr>
        <p:spPr bwMode="auto">
          <a:xfrm>
            <a:off x="2734956" y="5689469"/>
            <a:ext cx="321471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kumimoji="1" lang="en-US" altLang="zh-CN" sz="2000" dirty="0">
                <a:solidFill>
                  <a:srgbClr val="0070C0"/>
                </a:solidFill>
                <a:latin typeface="Verdana" pitchFamily="34" charset="0"/>
              </a:rPr>
              <a:t>       </a:t>
            </a:r>
            <a:r>
              <a:rPr kumimoji="1" lang="zh-CN" altLang="en-US" sz="2000" dirty="0">
                <a:solidFill>
                  <a:srgbClr val="0070C0"/>
                </a:solidFill>
                <a:latin typeface="Verdana" pitchFamily="34" charset="0"/>
              </a:rPr>
              <a:t>神经网络结构模型 </a:t>
            </a:r>
          </a:p>
        </p:txBody>
      </p:sp>
      <p:pic>
        <p:nvPicPr>
          <p:cNvPr id="64513" name="Picture 1" descr="E:\人工智能导论\085054-01 人工智能导论(图)\tu\RG10-4.tif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1214414" y="1002272"/>
            <a:ext cx="6369189" cy="4404896"/>
          </a:xfrm>
          <a:prstGeom prst="rect">
            <a:avLst/>
          </a:prstGeom>
          <a:noFill/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8B45F6F-3535-C7AC-E613-0509A99C3A3A}"/>
              </a:ext>
            </a:extLst>
          </p:cNvPr>
          <p:cNvSpPr txBox="1"/>
          <p:nvPr/>
        </p:nvSpPr>
        <p:spPr>
          <a:xfrm>
            <a:off x="2627784" y="3020054"/>
            <a:ext cx="1656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分层前向网络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87371F4-A91D-74D6-A502-6814E7396727}"/>
              </a:ext>
            </a:extLst>
          </p:cNvPr>
          <p:cNvSpPr txBox="1"/>
          <p:nvPr/>
        </p:nvSpPr>
        <p:spPr>
          <a:xfrm>
            <a:off x="6156176" y="3020054"/>
            <a:ext cx="1656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反馈前向网络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DF6F7E-2AA2-594D-C490-35CAEA28B963}"/>
              </a:ext>
            </a:extLst>
          </p:cNvPr>
          <p:cNvSpPr txBox="1"/>
          <p:nvPr/>
        </p:nvSpPr>
        <p:spPr>
          <a:xfrm>
            <a:off x="2699792" y="5085184"/>
            <a:ext cx="1656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互连前向网络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9260597-604E-2985-4968-B5FD714EE58D}"/>
              </a:ext>
            </a:extLst>
          </p:cNvPr>
          <p:cNvSpPr txBox="1"/>
          <p:nvPr/>
        </p:nvSpPr>
        <p:spPr>
          <a:xfrm>
            <a:off x="6156176" y="5085184"/>
            <a:ext cx="1656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广泛互连网络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414911" y="765175"/>
            <a:ext cx="6672284" cy="4968875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70C0"/>
                </a:solidFill>
                <a:ea typeface="楷体_GB2312" pitchFamily="49" charset="-122"/>
              </a:rPr>
              <a:t>神经网络至少可以实现如下功能</a:t>
            </a:r>
            <a:r>
              <a:rPr lang="zh-CN" altLang="en-US" sz="2400" b="1" dirty="0">
                <a:solidFill>
                  <a:srgbClr val="0070C0"/>
                </a:solidFill>
              </a:rPr>
              <a:t>：</a:t>
            </a:r>
          </a:p>
          <a:p>
            <a:pPr>
              <a:spcBef>
                <a:spcPct val="50000"/>
              </a:spcBef>
              <a:buNone/>
            </a:pPr>
            <a:r>
              <a:rPr lang="en-US" sz="2800" dirty="0">
                <a:solidFill>
                  <a:srgbClr val="0070C0"/>
                </a:solidFill>
                <a:latin typeface="方正姚体" pitchFamily="2" charset="-122"/>
                <a:ea typeface="方正姚体" pitchFamily="2" charset="-122"/>
                <a:sym typeface="Symbol"/>
              </a:rPr>
              <a:t> </a:t>
            </a:r>
            <a:r>
              <a:rPr lang="zh-CN" altLang="en-US" sz="2400" dirty="0">
                <a:solidFill>
                  <a:srgbClr val="0070C0"/>
                </a:solidFill>
                <a:latin typeface="方正姚体" pitchFamily="2" charset="-122"/>
                <a:ea typeface="方正姚体" pitchFamily="2" charset="-122"/>
              </a:rPr>
              <a:t>数学上的映射逼近 </a:t>
            </a:r>
          </a:p>
          <a:p>
            <a:pPr>
              <a:buNone/>
            </a:pPr>
            <a:r>
              <a:rPr lang="en-US" sz="2800" dirty="0">
                <a:solidFill>
                  <a:srgbClr val="0070C0"/>
                </a:solidFill>
                <a:latin typeface="方正姚体" pitchFamily="2" charset="-122"/>
                <a:ea typeface="方正姚体" pitchFamily="2" charset="-122"/>
                <a:sym typeface="Symbol"/>
              </a:rPr>
              <a:t> </a:t>
            </a:r>
            <a:r>
              <a:rPr lang="zh-CN" altLang="en-US" sz="2400" dirty="0">
                <a:solidFill>
                  <a:srgbClr val="0070C0"/>
                </a:solidFill>
                <a:latin typeface="方正姚体" pitchFamily="2" charset="-122"/>
                <a:ea typeface="方正姚体" pitchFamily="2" charset="-122"/>
              </a:rPr>
              <a:t>数据聚类、压缩</a:t>
            </a:r>
            <a:endParaRPr lang="en-US" altLang="zh-CN" sz="2400" dirty="0">
              <a:solidFill>
                <a:srgbClr val="0070C0"/>
              </a:solidFill>
              <a:latin typeface="方正姚体" pitchFamily="2" charset="-122"/>
              <a:ea typeface="方正姚体" pitchFamily="2" charset="-122"/>
            </a:endParaRPr>
          </a:p>
          <a:p>
            <a:pPr>
              <a:buNone/>
            </a:pPr>
            <a:r>
              <a:rPr lang="en-US" sz="2800" dirty="0">
                <a:solidFill>
                  <a:srgbClr val="0070C0"/>
                </a:solidFill>
                <a:latin typeface="方正姚体" pitchFamily="2" charset="-122"/>
                <a:ea typeface="方正姚体" pitchFamily="2" charset="-122"/>
                <a:sym typeface="Symbol"/>
              </a:rPr>
              <a:t></a:t>
            </a:r>
            <a:r>
              <a:rPr lang="en-US" sz="2800" dirty="0">
                <a:solidFill>
                  <a:srgbClr val="0070C0"/>
                </a:solidFill>
                <a:latin typeface="方正姚体" pitchFamily="2" charset="-122"/>
                <a:ea typeface="方正姚体" pitchFamily="2" charset="-122"/>
              </a:rPr>
              <a:t> </a:t>
            </a:r>
            <a:r>
              <a:rPr lang="zh-CN" altLang="en-US" sz="2400" dirty="0">
                <a:solidFill>
                  <a:srgbClr val="0070C0"/>
                </a:solidFill>
                <a:latin typeface="方正姚体" pitchFamily="2" charset="-122"/>
                <a:ea typeface="方正姚体" pitchFamily="2" charset="-122"/>
              </a:rPr>
              <a:t>联想记忆</a:t>
            </a:r>
          </a:p>
          <a:p>
            <a:pPr>
              <a:buFont typeface="Wingdings" pitchFamily="2" charset="2"/>
              <a:buNone/>
            </a:pPr>
            <a:r>
              <a:rPr lang="en-US" dirty="0">
                <a:solidFill>
                  <a:srgbClr val="0070C0"/>
                </a:solidFill>
                <a:latin typeface="方正姚体" pitchFamily="2" charset="-122"/>
                <a:ea typeface="方正姚体" pitchFamily="2" charset="-122"/>
                <a:sym typeface="Symbol"/>
              </a:rPr>
              <a:t></a:t>
            </a:r>
            <a:r>
              <a:rPr lang="en-US" dirty="0">
                <a:solidFill>
                  <a:srgbClr val="0070C0"/>
                </a:solidFill>
                <a:latin typeface="方正姚体" pitchFamily="2" charset="-122"/>
                <a:ea typeface="方正姚体" pitchFamily="2" charset="-122"/>
              </a:rPr>
              <a:t> </a:t>
            </a:r>
            <a:r>
              <a:rPr lang="zh-CN" altLang="en-US" sz="2400" dirty="0">
                <a:solidFill>
                  <a:srgbClr val="0070C0"/>
                </a:solidFill>
                <a:latin typeface="方正姚体" pitchFamily="2" charset="-122"/>
                <a:ea typeface="方正姚体" pitchFamily="2" charset="-122"/>
              </a:rPr>
              <a:t>优化计算和组合优化问题求解</a:t>
            </a:r>
          </a:p>
          <a:p>
            <a:pPr>
              <a:buFont typeface="Wingdings" pitchFamily="2" charset="2"/>
              <a:buNone/>
            </a:pPr>
            <a:r>
              <a:rPr lang="en-US" dirty="0">
                <a:solidFill>
                  <a:srgbClr val="0070C0"/>
                </a:solidFill>
                <a:latin typeface="方正姚体" pitchFamily="2" charset="-122"/>
                <a:ea typeface="方正姚体" pitchFamily="2" charset="-122"/>
                <a:sym typeface="Symbol"/>
              </a:rPr>
              <a:t></a:t>
            </a:r>
            <a:r>
              <a:rPr lang="en-US" dirty="0">
                <a:solidFill>
                  <a:srgbClr val="0070C0"/>
                </a:solidFill>
                <a:latin typeface="方正姚体" pitchFamily="2" charset="-122"/>
                <a:ea typeface="方正姚体" pitchFamily="2" charset="-122"/>
              </a:rPr>
              <a:t> </a:t>
            </a:r>
            <a:r>
              <a:rPr lang="zh-CN" altLang="en-US" sz="2400" dirty="0">
                <a:solidFill>
                  <a:srgbClr val="0070C0"/>
                </a:solidFill>
                <a:latin typeface="方正姚体" pitchFamily="2" charset="-122"/>
                <a:ea typeface="方正姚体" pitchFamily="2" charset="-122"/>
              </a:rPr>
              <a:t>模式分类 </a:t>
            </a:r>
          </a:p>
          <a:p>
            <a:pPr>
              <a:buFont typeface="Wingdings" pitchFamily="2" charset="2"/>
              <a:buNone/>
            </a:pPr>
            <a:r>
              <a:rPr lang="en-US" dirty="0">
                <a:solidFill>
                  <a:srgbClr val="0070C0"/>
                </a:solidFill>
                <a:latin typeface="方正姚体" pitchFamily="2" charset="-122"/>
                <a:ea typeface="方正姚体" pitchFamily="2" charset="-122"/>
                <a:sym typeface="Symbol"/>
              </a:rPr>
              <a:t></a:t>
            </a:r>
            <a:r>
              <a:rPr lang="en-US" dirty="0">
                <a:solidFill>
                  <a:srgbClr val="0070C0"/>
                </a:solidFill>
                <a:latin typeface="方正姚体" pitchFamily="2" charset="-122"/>
                <a:ea typeface="方正姚体" pitchFamily="2" charset="-122"/>
              </a:rPr>
              <a:t> </a:t>
            </a:r>
            <a:r>
              <a:rPr lang="zh-CN" altLang="en-US" sz="2400" dirty="0">
                <a:solidFill>
                  <a:srgbClr val="0070C0"/>
                </a:solidFill>
                <a:latin typeface="方正姚体" pitchFamily="2" charset="-122"/>
                <a:ea typeface="方正姚体" pitchFamily="2" charset="-122"/>
              </a:rPr>
              <a:t>概率密度函数的估计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half" idx="1"/>
          </p:nvPr>
        </p:nvSpPr>
        <p:spPr>
          <a:xfrm>
            <a:off x="470161" y="357166"/>
            <a:ext cx="8072494" cy="6072230"/>
          </a:xfrm>
        </p:spPr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solidFill>
                  <a:srgbClr val="0070C0"/>
                </a:solidFill>
              </a:rPr>
              <a:t>     </a:t>
            </a:r>
            <a:r>
              <a:rPr lang="en-US" sz="2400" dirty="0">
                <a:solidFill>
                  <a:srgbClr val="0070C0"/>
                </a:solidFill>
              </a:rPr>
              <a:t>2. </a:t>
            </a:r>
            <a:r>
              <a:rPr lang="zh-CN" altLang="en-US" sz="2400" b="1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学习方法</a:t>
            </a:r>
            <a:endParaRPr lang="en-US" altLang="zh-CN" sz="2400" b="1" dirty="0">
              <a:solidFill>
                <a:srgbClr val="0070C0"/>
              </a:solidFill>
              <a:latin typeface="楷体" pitchFamily="49" charset="-122"/>
              <a:ea typeface="楷体" pitchFamily="49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rgbClr val="0070C0"/>
                </a:solidFill>
                <a:latin typeface="+mn-ea"/>
              </a:rPr>
              <a:t> </a:t>
            </a:r>
            <a:r>
              <a:rPr lang="zh-CN" altLang="en-US" sz="2400" dirty="0">
                <a:solidFill>
                  <a:srgbClr val="0070C0"/>
                </a:solidFill>
                <a:latin typeface="+mn-ea"/>
                <a:sym typeface="Symbol"/>
              </a:rPr>
              <a:t> </a:t>
            </a:r>
            <a:r>
              <a:rPr lang="zh-CN" altLang="en-US" sz="2400" dirty="0">
                <a:solidFill>
                  <a:srgbClr val="0070C0"/>
                </a:solidFill>
                <a:latin typeface="+mn-ea"/>
              </a:rPr>
              <a:t>根据样例数据的特点神经网络学习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有监督学习</a:t>
            </a:r>
            <a:r>
              <a:rPr lang="zh-CN" altLang="en-US" sz="2400" dirty="0">
                <a:solidFill>
                  <a:srgbClr val="0070C0"/>
                </a:solidFill>
                <a:latin typeface="+mn-ea"/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无监督学习</a:t>
            </a:r>
            <a:r>
              <a:rPr lang="zh-CN" altLang="en-US" sz="2400" dirty="0">
                <a:solidFill>
                  <a:srgbClr val="0070C0"/>
                </a:solidFill>
                <a:latin typeface="+mn-ea"/>
              </a:rPr>
              <a:t>之分。</a:t>
            </a:r>
            <a:endParaRPr lang="en-US" altLang="zh-CN" sz="2400" dirty="0">
              <a:solidFill>
                <a:srgbClr val="0070C0"/>
              </a:solidFill>
              <a:latin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rgbClr val="0070C0"/>
                </a:solidFill>
                <a:latin typeface="+mn-ea"/>
              </a:rPr>
              <a:t> </a:t>
            </a:r>
            <a:r>
              <a:rPr lang="zh-CN" altLang="en-US" sz="2400" dirty="0">
                <a:solidFill>
                  <a:srgbClr val="0070C0"/>
                </a:solidFill>
                <a:latin typeface="+mn-ea"/>
                <a:sym typeface="Symbol"/>
              </a:rPr>
              <a:t> </a:t>
            </a:r>
            <a:r>
              <a:rPr lang="zh-CN" altLang="en-US" sz="2400" dirty="0">
                <a:solidFill>
                  <a:srgbClr val="0070C0"/>
                </a:solidFill>
                <a:latin typeface="+mn-ea"/>
              </a:rPr>
              <a:t>从神经网络内部状态变化的角度来分，神经网络学习可分为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权值修正</a:t>
            </a:r>
            <a:r>
              <a:rPr lang="zh-CN" altLang="en-US" sz="2400" dirty="0">
                <a:solidFill>
                  <a:srgbClr val="0070C0"/>
                </a:solidFill>
                <a:latin typeface="+mn-ea"/>
              </a:rPr>
              <a:t>、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拓扑变化</a:t>
            </a:r>
            <a:r>
              <a:rPr lang="zh-CN" altLang="en-US" sz="2400" dirty="0">
                <a:solidFill>
                  <a:srgbClr val="0070C0"/>
                </a:solidFill>
                <a:latin typeface="+mn-ea"/>
              </a:rPr>
              <a:t>、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权值与拓扑修正</a:t>
            </a:r>
            <a:r>
              <a:rPr lang="zh-CN" altLang="en-US" sz="2400" dirty="0">
                <a:solidFill>
                  <a:srgbClr val="0070C0"/>
                </a:solidFill>
                <a:latin typeface="+mn-ea"/>
              </a:rPr>
              <a:t>三种。</a:t>
            </a:r>
            <a:endParaRPr lang="en-US" altLang="zh-CN" sz="2400" dirty="0">
              <a:solidFill>
                <a:srgbClr val="0070C0"/>
              </a:solidFill>
              <a:latin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rgbClr val="0070C0"/>
                </a:solidFill>
                <a:latin typeface="+mn-ea"/>
              </a:rPr>
              <a:t> </a:t>
            </a:r>
            <a:r>
              <a:rPr lang="zh-CN" altLang="en-US" sz="2400" dirty="0">
                <a:solidFill>
                  <a:srgbClr val="0070C0"/>
                </a:solidFill>
                <a:latin typeface="+mn-ea"/>
                <a:sym typeface="Symbol"/>
              </a:rPr>
              <a:t> </a:t>
            </a:r>
            <a:r>
              <a:rPr lang="zh-CN" altLang="en-US" sz="2400" dirty="0">
                <a:solidFill>
                  <a:srgbClr val="0070C0"/>
                </a:solidFill>
                <a:latin typeface="+mn-ea"/>
              </a:rPr>
              <a:t>此外，神经网络学习还有竞争学习、</a:t>
            </a:r>
            <a:r>
              <a:rPr lang="en-US" sz="2400" dirty="0">
                <a:solidFill>
                  <a:srgbClr val="0070C0"/>
                </a:solidFill>
                <a:latin typeface="+mn-ea"/>
              </a:rPr>
              <a:t>BP</a:t>
            </a:r>
            <a:r>
              <a:rPr lang="zh-CN" altLang="en-US" sz="2400" dirty="0">
                <a:solidFill>
                  <a:srgbClr val="0070C0"/>
                </a:solidFill>
                <a:latin typeface="+mn-ea"/>
              </a:rPr>
              <a:t>学习、玻尔兹曼学习、迁移学习、深度学习等提法。</a:t>
            </a:r>
          </a:p>
          <a:p>
            <a:pPr>
              <a:buNone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half" idx="1"/>
          </p:nvPr>
        </p:nvSpPr>
        <p:spPr>
          <a:xfrm>
            <a:off x="1203599" y="260181"/>
            <a:ext cx="7643866" cy="6072230"/>
          </a:xfrm>
        </p:spPr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4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11.2.3 </a:t>
            </a:r>
            <a:r>
              <a:rPr lang="zh-CN" altLang="en-US" sz="24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神经网络模型及其分类</a:t>
            </a:r>
          </a:p>
          <a:p>
            <a:pPr marL="514350" indent="-514350">
              <a:buNone/>
            </a:pPr>
            <a:r>
              <a:rPr lang="en-US" altLang="zh-CN" sz="2400" b="1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 </a:t>
            </a:r>
            <a:r>
              <a:rPr lang="en-US" altLang="zh-CN" sz="2300" b="1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1.</a:t>
            </a:r>
            <a:r>
              <a:rPr lang="zh-CN" altLang="en-US" sz="2300" b="1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按网络结构分类</a:t>
            </a:r>
            <a:endParaRPr lang="en-US" altLang="zh-CN" sz="2300" b="1" dirty="0">
              <a:solidFill>
                <a:srgbClr val="0070C0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2300" dirty="0">
                <a:solidFill>
                  <a:srgbClr val="0070C0"/>
                </a:solidFill>
              </a:rPr>
              <a:t>前向（馈）网络</a:t>
            </a:r>
          </a:p>
          <a:p>
            <a:r>
              <a:rPr lang="zh-CN" altLang="en-US" sz="2300" dirty="0">
                <a:solidFill>
                  <a:srgbClr val="0070C0"/>
                </a:solidFill>
              </a:rPr>
              <a:t>反馈网络</a:t>
            </a:r>
          </a:p>
          <a:p>
            <a:pPr marL="514350" indent="-514350">
              <a:buNone/>
            </a:pPr>
            <a:r>
              <a:rPr lang="en-US" sz="2300" dirty="0">
                <a:solidFill>
                  <a:srgbClr val="0070C0"/>
                </a:solidFill>
              </a:rPr>
              <a:t>  2. </a:t>
            </a:r>
            <a:r>
              <a:rPr lang="zh-CN" altLang="en-US" sz="2300" b="1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按学习方式分类</a:t>
            </a:r>
            <a:endParaRPr lang="en-US" altLang="zh-CN" sz="2300" b="1" dirty="0">
              <a:solidFill>
                <a:srgbClr val="0070C0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2300" dirty="0">
                <a:solidFill>
                  <a:srgbClr val="0070C0"/>
                </a:solidFill>
              </a:rPr>
              <a:t>有监督（导师）学习网络</a:t>
            </a:r>
          </a:p>
          <a:p>
            <a:r>
              <a:rPr lang="zh-CN" altLang="en-US" sz="2300" dirty="0">
                <a:solidFill>
                  <a:srgbClr val="0070C0"/>
                </a:solidFill>
              </a:rPr>
              <a:t>无监督（导师）学习网络</a:t>
            </a:r>
          </a:p>
          <a:p>
            <a:pPr marL="514350" indent="-514350">
              <a:buNone/>
            </a:pPr>
            <a:r>
              <a:rPr lang="en-US" sz="2300" dirty="0">
                <a:solidFill>
                  <a:srgbClr val="0070C0"/>
                </a:solidFill>
              </a:rPr>
              <a:t>  3. </a:t>
            </a:r>
            <a:r>
              <a:rPr lang="zh-CN" altLang="en-US" sz="2300" b="1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按网络的状态分类</a:t>
            </a:r>
            <a:endParaRPr lang="zh-CN" altLang="en-US" sz="2300" dirty="0">
              <a:solidFill>
                <a:srgbClr val="0070C0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2300" dirty="0">
                <a:solidFill>
                  <a:srgbClr val="0070C0"/>
                </a:solidFill>
              </a:rPr>
              <a:t>连续型网络</a:t>
            </a:r>
          </a:p>
          <a:p>
            <a:r>
              <a:rPr lang="zh-CN" altLang="en-US" sz="2300" dirty="0">
                <a:solidFill>
                  <a:srgbClr val="0070C0"/>
                </a:solidFill>
              </a:rPr>
              <a:t>离散型网络</a:t>
            </a:r>
          </a:p>
          <a:p>
            <a:pPr marL="514350" indent="-514350">
              <a:buNone/>
            </a:pPr>
            <a:r>
              <a:rPr lang="en-US" sz="2300" dirty="0">
                <a:solidFill>
                  <a:srgbClr val="0070C0"/>
                </a:solidFill>
              </a:rPr>
              <a:t>  4. </a:t>
            </a:r>
            <a:r>
              <a:rPr lang="zh-CN" altLang="en-US" sz="2300" b="1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按网络的活动方式分类</a:t>
            </a:r>
            <a:endParaRPr lang="en-US" altLang="zh-CN" sz="2300" b="1" dirty="0">
              <a:solidFill>
                <a:srgbClr val="0070C0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2300" dirty="0">
                <a:solidFill>
                  <a:srgbClr val="0070C0"/>
                </a:solidFill>
              </a:rPr>
              <a:t>确定性网络</a:t>
            </a:r>
          </a:p>
          <a:p>
            <a:r>
              <a:rPr lang="zh-CN" altLang="en-US" sz="2300" dirty="0">
                <a:solidFill>
                  <a:srgbClr val="0070C0"/>
                </a:solidFill>
              </a:rPr>
              <a:t>随机性网络</a:t>
            </a:r>
          </a:p>
          <a:p>
            <a:pPr marL="514350" indent="-514350">
              <a:buNone/>
            </a:pP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6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285728"/>
            <a:ext cx="8358246" cy="6286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动作按钮: 后退或前一项 2">
            <a:hlinkClick r:id="" action="ppaction://hlinkshowjump?jump=firstslide" highlightClick="1"/>
          </p:cNvPr>
          <p:cNvSpPr/>
          <p:nvPr/>
        </p:nvSpPr>
        <p:spPr>
          <a:xfrm>
            <a:off x="7897550" y="6429396"/>
            <a:ext cx="720000" cy="144000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09" name="Rectangle 1"/>
          <p:cNvSpPr>
            <a:spLocks noChangeArrowheads="1"/>
          </p:cNvSpPr>
          <p:nvPr/>
        </p:nvSpPr>
        <p:spPr bwMode="auto">
          <a:xfrm>
            <a:off x="642910" y="642918"/>
            <a:ext cx="413446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11.3 </a:t>
            </a: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黑体" pitchFamily="49" charset="-122"/>
                <a:ea typeface="黑体" pitchFamily="49" charset="-122"/>
                <a:cs typeface="Times New Roman" pitchFamily="18" charset="0"/>
              </a:rPr>
              <a:t>感知器及其学习举例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9113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3438" y="1714488"/>
            <a:ext cx="3929090" cy="3643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矩形 4"/>
          <p:cNvSpPr/>
          <p:nvPr/>
        </p:nvSpPr>
        <p:spPr>
          <a:xfrm>
            <a:off x="714348" y="1375479"/>
            <a:ext cx="378621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感知器（</a:t>
            </a:r>
            <a:r>
              <a:rPr lang="en-US" sz="24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perceptron</a:t>
            </a:r>
            <a:r>
              <a:rPr lang="zh-CN" alt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）最初是指仅有一个神经元的最简单的神经网络，由</a:t>
            </a:r>
            <a:r>
              <a:rPr 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Frank Rosenblatt</a:t>
            </a:r>
            <a:r>
              <a:rPr lang="zh-CN" alt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于</a:t>
            </a:r>
            <a:r>
              <a:rPr 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1957</a:t>
            </a:r>
            <a:r>
              <a:rPr lang="zh-CN" alt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年提出。这种感知器与</a:t>
            </a:r>
            <a:r>
              <a:rPr 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MP</a:t>
            </a:r>
            <a:r>
              <a:rPr lang="zh-CN" alt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模型并无本质区别，只是它已经有了学习算法。一般将感知器图示为如图</a:t>
            </a:r>
            <a:r>
              <a:rPr 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11-5</a:t>
            </a:r>
            <a:r>
              <a:rPr lang="zh-CN" alt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的形式。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4001A9CC-575D-E0D1-2927-6D515DF0171A}"/>
              </a:ext>
            </a:extLst>
          </p:cNvPr>
          <p:cNvSpPr/>
          <p:nvPr/>
        </p:nvSpPr>
        <p:spPr>
          <a:xfrm>
            <a:off x="5538163" y="4221996"/>
            <a:ext cx="333980" cy="2880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11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9552" y="1977233"/>
            <a:ext cx="7858180" cy="3786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7281" name="Rectangle 1"/>
          <p:cNvSpPr>
            <a:spLocks noChangeArrowheads="1"/>
          </p:cNvSpPr>
          <p:nvPr/>
        </p:nvSpPr>
        <p:spPr bwMode="auto">
          <a:xfrm>
            <a:off x="642910" y="339008"/>
            <a:ext cx="7848000" cy="1682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    </a:t>
            </a:r>
            <a:r>
              <a:rPr kumimoji="0" lang="zh-CN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感知器的激活函数通常取阶跃函数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（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负数为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0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，正数为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1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）</a:t>
            </a:r>
            <a:r>
              <a:rPr kumimoji="0" lang="zh-CN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或符号函数（也可以取其它函数）。感知器的输出</a:t>
            </a:r>
            <a:r>
              <a:rPr kumimoji="0" lang="en-US" altLang="zh-CN" sz="2400" b="0" i="1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y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与输入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x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之间的关系为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7ED2752-978F-60A9-5890-037297ECA6C5}"/>
              </a:ext>
            </a:extLst>
          </p:cNvPr>
          <p:cNvGrpSpPr/>
          <p:nvPr/>
        </p:nvGrpSpPr>
        <p:grpSpPr>
          <a:xfrm>
            <a:off x="4566910" y="2708920"/>
            <a:ext cx="1323481" cy="648980"/>
            <a:chOff x="3528169" y="2419980"/>
            <a:chExt cx="1323481" cy="648980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4C073DC1-B4D1-B193-A17A-CB6F2B067700}"/>
                </a:ext>
              </a:extLst>
            </p:cNvPr>
            <p:cNvSpPr/>
            <p:nvPr/>
          </p:nvSpPr>
          <p:spPr>
            <a:xfrm>
              <a:off x="3563888" y="2636912"/>
              <a:ext cx="288032" cy="28803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C55551E8-A67B-C5D2-E448-484B2C983506}"/>
                </a:ext>
              </a:extLst>
            </p:cNvPr>
            <p:cNvSpPr/>
            <p:nvPr/>
          </p:nvSpPr>
          <p:spPr>
            <a:xfrm>
              <a:off x="3851920" y="2636912"/>
              <a:ext cx="288032" cy="28803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DD92331-65A5-CBD2-478C-CFFC3B9B5153}"/>
                </a:ext>
              </a:extLst>
            </p:cNvPr>
            <p:cNvSpPr/>
            <p:nvPr/>
          </p:nvSpPr>
          <p:spPr>
            <a:xfrm>
              <a:off x="4563618" y="2780928"/>
              <a:ext cx="288032" cy="28803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1737632F-E1D4-2D76-6DC0-8F03054C2C6A}"/>
                </a:ext>
              </a:extLst>
            </p:cNvPr>
            <p:cNvSpPr/>
            <p:nvPr/>
          </p:nvSpPr>
          <p:spPr>
            <a:xfrm>
              <a:off x="4563618" y="2501280"/>
              <a:ext cx="288032" cy="28803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C34164EE-74E2-7B25-45AB-B480B0716987}"/>
                    </a:ext>
                  </a:extLst>
                </p:cNvPr>
                <p:cNvSpPr txBox="1"/>
                <p:nvPr/>
              </p:nvSpPr>
              <p:spPr>
                <a:xfrm>
                  <a:off x="3528169" y="2572318"/>
                  <a:ext cx="2880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C34164EE-74E2-7B25-45AB-B480B07169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8169" y="2572318"/>
                  <a:ext cx="288032" cy="369332"/>
                </a:xfrm>
                <a:prstGeom prst="rect">
                  <a:avLst/>
                </a:prstGeom>
                <a:blipFill>
                  <a:blip r:embed="rId3"/>
                  <a:stretch>
                    <a:fillRect r="-255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88A20E10-91E1-2743-DD9F-EBBC818EC47F}"/>
                    </a:ext>
                  </a:extLst>
                </p:cNvPr>
                <p:cNvSpPr txBox="1"/>
                <p:nvPr/>
              </p:nvSpPr>
              <p:spPr>
                <a:xfrm>
                  <a:off x="3818755" y="2581642"/>
                  <a:ext cx="2880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88A20E10-91E1-2743-DD9F-EBBC818EC4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8755" y="2581642"/>
                  <a:ext cx="288032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2766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79AA5031-483C-BCF5-65EC-DA1208029A54}"/>
                    </a:ext>
                  </a:extLst>
                </p:cNvPr>
                <p:cNvSpPr txBox="1"/>
                <p:nvPr/>
              </p:nvSpPr>
              <p:spPr>
                <a:xfrm>
                  <a:off x="4499422" y="2419980"/>
                  <a:ext cx="2880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79AA5031-483C-BCF5-65EC-DA1208029A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9422" y="2419980"/>
                  <a:ext cx="288032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37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2D0DFE6C-81CE-6940-2F47-601B4EE661F2}"/>
                    </a:ext>
                  </a:extLst>
                </p:cNvPr>
                <p:cNvSpPr txBox="1"/>
                <p:nvPr/>
              </p:nvSpPr>
              <p:spPr>
                <a:xfrm>
                  <a:off x="4499422" y="2699628"/>
                  <a:ext cx="2880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2D0DFE6C-81CE-6940-2F47-601B4EE661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9422" y="2699628"/>
                  <a:ext cx="288032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3958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DE4E8230-EEE5-CAA6-32E7-429BEBE85197}"/>
              </a:ext>
            </a:extLst>
          </p:cNvPr>
          <p:cNvGrpSpPr/>
          <p:nvPr/>
        </p:nvGrpSpPr>
        <p:grpSpPr>
          <a:xfrm>
            <a:off x="5838978" y="4005064"/>
            <a:ext cx="1323481" cy="648980"/>
            <a:chOff x="3528169" y="2419980"/>
            <a:chExt cx="1323481" cy="648980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BC67E6C6-2CDB-3D3D-FFFD-FB049929D158}"/>
                </a:ext>
              </a:extLst>
            </p:cNvPr>
            <p:cNvSpPr/>
            <p:nvPr/>
          </p:nvSpPr>
          <p:spPr>
            <a:xfrm>
              <a:off x="3563888" y="2636912"/>
              <a:ext cx="288032" cy="28803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C3FE7EC-102B-03D5-5835-C873D11ECC95}"/>
                </a:ext>
              </a:extLst>
            </p:cNvPr>
            <p:cNvSpPr/>
            <p:nvPr/>
          </p:nvSpPr>
          <p:spPr>
            <a:xfrm>
              <a:off x="3851920" y="2636912"/>
              <a:ext cx="288032" cy="28803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41C69268-1B87-C9DB-FB99-44D7BADE0BA0}"/>
                </a:ext>
              </a:extLst>
            </p:cNvPr>
            <p:cNvSpPr/>
            <p:nvPr/>
          </p:nvSpPr>
          <p:spPr>
            <a:xfrm>
              <a:off x="4563618" y="2780928"/>
              <a:ext cx="288032" cy="28803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553093BC-D481-F186-A899-8C711B9D08C4}"/>
                </a:ext>
              </a:extLst>
            </p:cNvPr>
            <p:cNvSpPr/>
            <p:nvPr/>
          </p:nvSpPr>
          <p:spPr>
            <a:xfrm>
              <a:off x="4563618" y="2501280"/>
              <a:ext cx="288032" cy="28803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96D1080B-8F4E-F2AD-4E47-E931451FADB9}"/>
                    </a:ext>
                  </a:extLst>
                </p:cNvPr>
                <p:cNvSpPr txBox="1"/>
                <p:nvPr/>
              </p:nvSpPr>
              <p:spPr>
                <a:xfrm>
                  <a:off x="3528169" y="2572318"/>
                  <a:ext cx="2880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96D1080B-8F4E-F2AD-4E47-E931451FAD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8169" y="2572318"/>
                  <a:ext cx="288032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255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E2BDB03C-558C-B698-86F5-A800B12486DB}"/>
                    </a:ext>
                  </a:extLst>
                </p:cNvPr>
                <p:cNvSpPr txBox="1"/>
                <p:nvPr/>
              </p:nvSpPr>
              <p:spPr>
                <a:xfrm>
                  <a:off x="3818755" y="2581642"/>
                  <a:ext cx="2880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E2BDB03C-558C-B698-86F5-A800B12486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8755" y="2581642"/>
                  <a:ext cx="288032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2766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C4530871-C45C-D8E3-3D01-A826159BD00F}"/>
                    </a:ext>
                  </a:extLst>
                </p:cNvPr>
                <p:cNvSpPr txBox="1"/>
                <p:nvPr/>
              </p:nvSpPr>
              <p:spPr>
                <a:xfrm>
                  <a:off x="4499422" y="2419980"/>
                  <a:ext cx="2880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C4530871-C45C-D8E3-3D01-A826159BD0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9422" y="2419980"/>
                  <a:ext cx="288032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404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0B86D6BF-EFCD-DB71-AE05-437B3B79D7EF}"/>
                    </a:ext>
                  </a:extLst>
                </p:cNvPr>
                <p:cNvSpPr txBox="1"/>
                <p:nvPr/>
              </p:nvSpPr>
              <p:spPr>
                <a:xfrm>
                  <a:off x="4499422" y="2699628"/>
                  <a:ext cx="28803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0B86D6BF-EFCD-DB71-AE05-437B3B79D7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9422" y="2699628"/>
                  <a:ext cx="288032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425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43C38B05-C777-DDFD-8016-C49BF133755F}"/>
                  </a:ext>
                </a:extLst>
              </p:cNvPr>
              <p:cNvSpPr txBox="1"/>
              <p:nvPr/>
            </p:nvSpPr>
            <p:spPr>
              <a:xfrm>
                <a:off x="5540596" y="4154428"/>
                <a:ext cx="2263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43C38B05-C777-DDFD-8016-C49BF1337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596" y="4154428"/>
                <a:ext cx="226390" cy="369332"/>
              </a:xfrm>
              <a:prstGeom prst="rect">
                <a:avLst/>
              </a:prstGeom>
              <a:blipFill>
                <a:blip r:embed="rId11"/>
                <a:stretch>
                  <a:fillRect r="-621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矩形 23">
            <a:extLst>
              <a:ext uri="{FF2B5EF4-FFF2-40B4-BE49-F238E27FC236}">
                <a16:creationId xmlns:a16="http://schemas.microsoft.com/office/drawing/2014/main" id="{EA02AD06-9CF7-11AC-6472-D1F56C685364}"/>
              </a:ext>
            </a:extLst>
          </p:cNvPr>
          <p:cNvSpPr/>
          <p:nvPr/>
        </p:nvSpPr>
        <p:spPr>
          <a:xfrm>
            <a:off x="6874427" y="3789040"/>
            <a:ext cx="288032" cy="2880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C64A3123-2313-9ACE-98EB-1DFD2039B0B4}"/>
                  </a:ext>
                </a:extLst>
              </p:cNvPr>
              <p:cNvSpPr txBox="1"/>
              <p:nvPr/>
            </p:nvSpPr>
            <p:spPr>
              <a:xfrm>
                <a:off x="6805267" y="3720089"/>
                <a:ext cx="2263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C64A3123-2313-9ACE-98EB-1DFD2039B0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5267" y="3720089"/>
                <a:ext cx="226390" cy="369332"/>
              </a:xfrm>
              <a:prstGeom prst="rect">
                <a:avLst/>
              </a:prstGeom>
              <a:blipFill>
                <a:blip r:embed="rId12"/>
                <a:stretch>
                  <a:fillRect r="-810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7937" name="Rectangle 1"/>
              <p:cNvSpPr>
                <a:spLocks noChangeArrowheads="1"/>
              </p:cNvSpPr>
              <p:nvPr/>
            </p:nvSpPr>
            <p:spPr bwMode="auto">
              <a:xfrm>
                <a:off x="297412" y="571480"/>
                <a:ext cx="8715436" cy="56323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2667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4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黑体" pitchFamily="49" charset="-122"/>
                    <a:ea typeface="黑体" pitchFamily="49" charset="-122"/>
                    <a:cs typeface="宋体" pitchFamily="2" charset="-122"/>
                  </a:rPr>
                  <a:t>  </a:t>
                </a:r>
                <a:r>
                  <a:rPr kumimoji="0" lang="zh-CN" sz="24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黑体" pitchFamily="49" charset="-122"/>
                    <a:ea typeface="黑体" pitchFamily="49" charset="-122"/>
                    <a:cs typeface="宋体" pitchFamily="2" charset="-122"/>
                  </a:rPr>
                  <a:t>感知器学习算法</a:t>
                </a:r>
                <a:endParaRPr lang="en-US" altLang="zh-CN" sz="2400" dirty="0">
                  <a:solidFill>
                    <a:srgbClr val="0070C0"/>
                  </a:solidFill>
                  <a:cs typeface="宋体" pitchFamily="2" charset="-122"/>
                </a:endParaRPr>
              </a:p>
              <a:p>
                <a:pPr marL="0" marR="0" lvl="0" indent="2667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4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Arial"/>
                    <a:ea typeface="宋体" pitchFamily="2" charset="-122"/>
                    <a:cs typeface="Times New Roman" pitchFamily="18" charset="0"/>
                  </a:rPr>
                  <a:t>  </a:t>
                </a:r>
                <a:r>
                  <a:rPr kumimoji="0" lang="en-US" altLang="zh-CN" sz="24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cs typeface="Times New Roman" pitchFamily="18" charset="0"/>
                  </a:rPr>
                  <a:t>——————————————————————————</a:t>
                </a:r>
              </a:p>
              <a:p>
                <a:pPr marL="0" marR="0" lvl="0" indent="595313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4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  </a:t>
                </a:r>
                <a:r>
                  <a:rPr kumimoji="0" lang="en-US" altLang="zh-CN" sz="24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</a:rPr>
                  <a:t>(1) </a:t>
                </a:r>
                <a:r>
                  <a:rPr kumimoji="0" lang="zh-CN" altLang="en-US" sz="2400" b="0" i="0" u="none" strike="noStrike" cap="none" spc="-150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</a:rPr>
                  <a:t>给权向量</a:t>
                </a:r>
                <a:r>
                  <a:rPr kumimoji="0" lang="en-US" altLang="zh-CN" sz="2400" b="1" i="1" u="none" strike="noStrike" cap="none" spc="-150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</a:rPr>
                  <a:t>w</a:t>
                </a:r>
                <a:r>
                  <a:rPr kumimoji="0" lang="zh-CN" altLang="en-US" sz="2400" b="0" i="0" u="none" strike="noStrike" cap="none" spc="-150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</a:rPr>
                  <a:t>赋初值，并设置一个合适的学习率</a:t>
                </a:r>
                <a:r>
                  <a:rPr kumimoji="0" lang="zh-CN" altLang="en-US" sz="2400" b="0" i="1" u="none" strike="noStrike" cap="none" spc="-150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</a:t>
                </a:r>
                <a:r>
                  <a:rPr kumimoji="0" lang="zh-CN" altLang="en-US" sz="2400" b="0" i="0" u="none" strike="noStrike" cap="none" spc="-150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</a:t>
                </a:r>
                <a:r>
                  <a:rPr kumimoji="0" lang="en-US" altLang="zh-CN" sz="2400" b="0" i="0" u="none" strike="noStrike" cap="none" spc="-150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</a:rPr>
                  <a:t>(0,1]</a:t>
                </a:r>
                <a:r>
                  <a:rPr kumimoji="0" lang="zh-CN" altLang="en-US" sz="2400" b="0" i="0" u="none" strike="noStrike" cap="none" spc="-150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；</a:t>
                </a:r>
              </a:p>
              <a:p>
                <a:pPr marL="0" marR="0" lvl="0" indent="595313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4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  </a:t>
                </a:r>
                <a:r>
                  <a:rPr kumimoji="0" lang="en-US" altLang="zh-CN" sz="24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(2) </a:t>
                </a:r>
                <a:r>
                  <a:rPr kumimoji="0" lang="zh-CN" altLang="en-US" sz="24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对训练样例</a:t>
                </a:r>
                <a:r>
                  <a:rPr kumimoji="0" lang="en-US" altLang="zh-CN" sz="24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(</a:t>
                </a:r>
                <a:r>
                  <a:rPr kumimoji="0" lang="en-US" altLang="zh-CN" sz="2400" b="1" i="1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x</a:t>
                </a:r>
                <a:r>
                  <a:rPr kumimoji="0" lang="en-US" altLang="zh-CN" sz="2400" b="0" i="1" u="none" strike="noStrike" cap="none" normalizeH="0" baseline="-3000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i</a:t>
                </a:r>
                <a:r>
                  <a:rPr kumimoji="0" lang="en-US" altLang="zh-CN" sz="24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, </a:t>
                </a:r>
                <a:r>
                  <a:rPr kumimoji="0" lang="en-US" altLang="zh-CN" sz="2400" b="0" i="1" u="none" strike="noStrike" cap="none" normalizeH="0" baseline="0" dirty="0" err="1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y</a:t>
                </a:r>
                <a:r>
                  <a:rPr kumimoji="0" lang="en-US" altLang="zh-CN" sz="2400" b="0" i="1" u="none" strike="noStrike" cap="none" normalizeH="0" baseline="-30000" dirty="0" err="1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i</a:t>
                </a:r>
                <a:r>
                  <a:rPr kumimoji="0" lang="en-US" altLang="zh-CN" sz="24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) (</a:t>
                </a:r>
                <a:r>
                  <a:rPr kumimoji="0" lang="en-US" altLang="zh-CN" sz="2400" b="0" i="1" u="none" strike="noStrike" cap="none" normalizeH="0" baseline="0" dirty="0" err="1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i</a:t>
                </a:r>
                <a:r>
                  <a:rPr kumimoji="0" lang="en-US" altLang="zh-CN" sz="24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=1,2,…,</a:t>
                </a:r>
                <a:r>
                  <a:rPr kumimoji="0" lang="en-US" altLang="zh-CN" sz="2400" b="0" i="1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n</a:t>
                </a:r>
                <a:r>
                  <a:rPr kumimoji="0" lang="en-US" altLang="zh-CN" sz="24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)</a:t>
                </a:r>
                <a:r>
                  <a:rPr kumimoji="0" lang="zh-CN" altLang="en-US" sz="24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：</a:t>
                </a:r>
              </a:p>
              <a:p>
                <a:pPr marL="0" marR="0" lvl="0" indent="595313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4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         计算</a:t>
                </a:r>
                <a:r>
                  <a:rPr kumimoji="0" lang="en-US" altLang="zh-CN" sz="2400" b="0" i="1" u="none" strike="noStrike" cap="none" normalizeH="0" baseline="0" dirty="0" err="1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y</a:t>
                </a:r>
                <a:r>
                  <a:rPr kumimoji="0" lang="en-US" altLang="zh-CN" sz="2400" b="0" i="1" u="none" strike="noStrike" cap="none" normalizeH="0" baseline="-30000" dirty="0" err="1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i</a:t>
                </a:r>
                <a:r>
                  <a:rPr kumimoji="0" lang="en-US" altLang="zh-CN" sz="2400" b="0" i="1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’</a:t>
                </a:r>
                <a:r>
                  <a:rPr kumimoji="0" lang="en-US" altLang="zh-CN" sz="24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=</a:t>
                </a:r>
                <a:r>
                  <a:rPr kumimoji="0" lang="en-US" altLang="zh-CN" sz="2400" b="0" i="1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 f</a:t>
                </a:r>
                <a:r>
                  <a:rPr kumimoji="0" lang="en-US" altLang="zh-CN" sz="24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(</a:t>
                </a:r>
                <a:r>
                  <a:rPr kumimoji="0" lang="en-US" altLang="zh-CN" sz="2400" b="1" i="1" u="none" strike="noStrike" cap="none" normalizeH="0" baseline="0" dirty="0" err="1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w</a:t>
                </a:r>
                <a:r>
                  <a:rPr kumimoji="0" lang="en-US" altLang="zh-CN" sz="2400" b="0" i="0" u="none" strike="noStrike" cap="none" normalizeH="0" baseline="30000" dirty="0" err="1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T</a:t>
                </a:r>
                <a:r>
                  <a:rPr kumimoji="0" lang="en-US" altLang="zh-CN" sz="2400" b="1" i="1" u="none" strike="noStrike" cap="none" normalizeH="0" baseline="0" dirty="0" err="1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x</a:t>
                </a:r>
                <a:r>
                  <a:rPr kumimoji="0" lang="en-US" altLang="zh-CN" sz="2400" b="0" i="1" u="none" strike="noStrike" cap="none" normalizeH="0" baseline="-30000" dirty="0" err="1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i</a:t>
                </a:r>
                <a:r>
                  <a:rPr kumimoji="0" lang="en-US" altLang="zh-CN" sz="24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 )</a:t>
                </a:r>
                <a:r>
                  <a:rPr kumimoji="0" lang="zh-CN" altLang="en-US" sz="24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；</a:t>
                </a:r>
              </a:p>
              <a:p>
                <a:pPr marL="0" marR="0" lvl="0" indent="595313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4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         计算误差</a:t>
                </a:r>
                <a:r>
                  <a:rPr kumimoji="0" lang="en-US" altLang="zh-CN" sz="2400" b="0" i="1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e</a:t>
                </a:r>
                <a:r>
                  <a:rPr kumimoji="0" lang="en-US" altLang="zh-CN" sz="24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=</a:t>
                </a:r>
                <a:r>
                  <a:rPr kumimoji="0" lang="en-US" altLang="zh-CN" sz="2400" b="0" i="1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 </a:t>
                </a:r>
                <a:r>
                  <a:rPr kumimoji="0" lang="en-US" altLang="zh-CN" sz="2400" b="0" i="1" u="none" strike="noStrike" cap="none" normalizeH="0" baseline="0" dirty="0" err="1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y</a:t>
                </a:r>
                <a:r>
                  <a:rPr kumimoji="0" lang="en-US" altLang="zh-CN" sz="2400" b="0" i="1" u="none" strike="noStrike" cap="none" normalizeH="0" baseline="-30000" dirty="0" err="1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i</a:t>
                </a:r>
                <a:r>
                  <a:rPr kumimoji="0" lang="en-US" altLang="zh-CN" sz="24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</a:t>
                </a:r>
                <a:r>
                  <a:rPr kumimoji="0" lang="en-US" altLang="zh-CN" sz="2400" b="0" i="1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</a:rPr>
                  <a:t> </a:t>
                </a:r>
                <a:r>
                  <a:rPr kumimoji="0" lang="en-US" altLang="zh-CN" sz="2400" b="0" i="1" u="none" strike="noStrike" cap="none" normalizeH="0" baseline="0" dirty="0" err="1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</a:rPr>
                  <a:t>y</a:t>
                </a:r>
                <a:r>
                  <a:rPr kumimoji="0" lang="en-US" altLang="zh-CN" sz="2400" b="0" i="1" u="none" strike="noStrike" cap="none" normalizeH="0" baseline="-30000" dirty="0" err="1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i</a:t>
                </a:r>
                <a:r>
                  <a:rPr kumimoji="0" lang="en-US" altLang="zh-CN" sz="2400" b="0" i="1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’</a:t>
                </a:r>
                <a:r>
                  <a:rPr kumimoji="0" lang="zh-CN" altLang="en-US" sz="24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；</a:t>
                </a:r>
              </a:p>
              <a:p>
                <a:pPr lvl="0" indent="595313" eaLnBrk="0" hangingPunct="0">
                  <a:lnSpc>
                    <a:spcPct val="150000"/>
                  </a:lnSpc>
                </a:pPr>
                <a:r>
                  <a:rPr kumimoji="0" lang="zh-CN" altLang="en-US" sz="24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   更新权值：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kumimoji="0" lang="en-US" altLang="zh-CN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  <m:t>𝒘</m:t>
                        </m:r>
                      </m:e>
                      <m:sub>
                        <m:r>
                          <a:rPr kumimoji="0" lang="en-US" altLang="zh-CN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  <m:t>𝒊</m:t>
                        </m:r>
                      </m:sub>
                    </m:sSub>
                  </m:oMath>
                </a14:m>
                <a:r>
                  <a:rPr kumimoji="0" lang="en-US" altLang="zh-CN" sz="24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=</a:t>
                </a:r>
                <a:r>
                  <a:rPr kumimoji="0" lang="en-US" altLang="zh-CN" sz="2400" b="0" i="1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  <m:t>𝒘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  <m:t>𝒊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方正姚体" pitchFamily="2" charset="-122"/>
                        <a:cs typeface="Times New Roman" pitchFamily="18" charset="0"/>
                        <a:sym typeface="Symbol" pitchFamily="18" charset="2"/>
                      </a:rPr>
                      <m:t> </m:t>
                    </m:r>
                  </m:oMath>
                </a14:m>
                <a:r>
                  <a:rPr kumimoji="0" lang="en-US" altLang="zh-CN" sz="24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+</a:t>
                </a:r>
                <a:r>
                  <a:rPr kumimoji="0" lang="en-US" altLang="zh-CN" sz="2400" b="0" i="1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</a:t>
                </a:r>
                <a:r>
                  <a:rPr kumimoji="0" lang="en-US" altLang="zh-CN" sz="2400" b="0" u="none" strike="noStrike" cap="none" normalizeH="0" baseline="0" dirty="0" err="1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</a:rPr>
                  <a:t>e</a:t>
                </a:r>
                <a:r>
                  <a:rPr kumimoji="0" lang="en-US" altLang="zh-CN" sz="2400" b="1" u="none" strike="noStrike" cap="none" normalizeH="0" baseline="0" dirty="0" err="1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x</a:t>
                </a:r>
                <a:r>
                  <a:rPr kumimoji="0" lang="en-US" altLang="zh-CN" sz="2400" b="0" u="none" strike="noStrike" cap="none" normalizeH="0" baseline="-30000" dirty="0" err="1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i</a:t>
                </a:r>
                <a:r>
                  <a:rPr kumimoji="0" lang="en-US" altLang="zh-CN" sz="2400" b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                                             (11-13)</a:t>
                </a:r>
              </a:p>
              <a:p>
                <a:pPr marL="0" marR="0" lvl="0" indent="595313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400" b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   (3) </a:t>
                </a:r>
                <a:r>
                  <a:rPr kumimoji="0" lang="zh-CN" altLang="en-US" sz="2400" b="0" u="none" strike="noStrike" cap="none" spc="-150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直到对所有训练样例都有</a:t>
                </a:r>
                <a:r>
                  <a:rPr kumimoji="0" lang="en-US" altLang="zh-CN" sz="2400" b="0" u="none" strike="noStrike" cap="none" spc="-150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e=0</a:t>
                </a:r>
                <a:r>
                  <a:rPr kumimoji="0" lang="zh-CN" altLang="en-US" sz="2400" b="0" u="none" strike="noStrike" cap="none" spc="-150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，则当前权向量</a:t>
                </a:r>
                <a:r>
                  <a:rPr kumimoji="0" lang="en-US" altLang="zh-CN" sz="2400" b="1" u="none" strike="noStrike" cap="none" spc="-150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w</a:t>
                </a:r>
                <a:r>
                  <a:rPr kumimoji="0" lang="zh-CN" altLang="en-US" sz="2400" b="0" u="none" strike="noStrike" cap="none" spc="-150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即为所求，训练结束。</a:t>
                </a:r>
              </a:p>
              <a:p>
                <a:pPr marL="0" marR="0" lvl="0" indent="595313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400" b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  否则转</a:t>
                </a:r>
                <a:r>
                  <a:rPr kumimoji="0" lang="en-US" altLang="zh-CN" sz="2400" b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(2)</a:t>
                </a:r>
                <a:r>
                  <a:rPr kumimoji="0" lang="zh-CN" altLang="en-US" sz="2400" b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；</a:t>
                </a:r>
              </a:p>
              <a:p>
                <a:pPr marL="0" marR="0" lvl="0" indent="595313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400" b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 </a:t>
                </a:r>
                <a:r>
                  <a:rPr kumimoji="0" lang="en-US" altLang="zh-CN" sz="2400" b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———————</a:t>
                </a:r>
                <a:r>
                  <a:rPr kumimoji="0" lang="en-US" altLang="zh-CN" sz="240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itchFamily="18" charset="0"/>
                    <a:cs typeface="Times New Roman" pitchFamily="18" charset="0"/>
                    <a:sym typeface="Symbol" pitchFamily="18" charset="2"/>
                  </a:rPr>
                  <a:t>——————————————————</a:t>
                </a:r>
              </a:p>
            </p:txBody>
          </p:sp>
        </mc:Choice>
        <mc:Fallback xmlns="">
          <p:sp>
            <p:nvSpPr>
              <p:cNvPr id="167937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7412" y="571480"/>
                <a:ext cx="8715436" cy="5632311"/>
              </a:xfrm>
              <a:prstGeom prst="rect">
                <a:avLst/>
              </a:prstGeom>
              <a:blipFill>
                <a:blip r:embed="rId2"/>
                <a:stretch>
                  <a:fillRect l="-1120" t="-758" r="-140" b="-194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1" name="Rectangle 1"/>
          <p:cNvSpPr>
            <a:spLocks noChangeArrowheads="1"/>
          </p:cNvSpPr>
          <p:nvPr/>
        </p:nvSpPr>
        <p:spPr bwMode="auto">
          <a:xfrm>
            <a:off x="428596" y="484024"/>
            <a:ext cx="856959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黑体" pitchFamily="49" charset="-122"/>
                <a:ea typeface="黑体" pitchFamily="49" charset="-122"/>
                <a:cs typeface="宋体" pitchFamily="2" charset="-122"/>
              </a:rPr>
              <a:t>  </a:t>
            </a:r>
            <a:r>
              <a:rPr kumimoji="0" lang="zh-CN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黑体" pitchFamily="49" charset="-122"/>
                <a:ea typeface="黑体" pitchFamily="49" charset="-122"/>
                <a:cs typeface="宋体" pitchFamily="2" charset="-122"/>
              </a:rPr>
              <a:t>例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11-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1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试用下面表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11-2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所示的样例数据训练一个感知器。</a:t>
            </a:r>
          </a:p>
        </p:txBody>
      </p:sp>
      <p:sp>
        <p:nvSpPr>
          <p:cNvPr id="168963" name="Rectangle 3"/>
          <p:cNvSpPr>
            <a:spLocks noChangeArrowheads="1"/>
          </p:cNvSpPr>
          <p:nvPr/>
        </p:nvSpPr>
        <p:spPr bwMode="auto">
          <a:xfrm>
            <a:off x="785786" y="3424674"/>
            <a:ext cx="7643866" cy="25699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just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3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由样例数据知，所训练的感知器为一个二输入、单输出感知器。首先取阶跃函数为该网络的激活函数，并令</a:t>
            </a:r>
            <a:r>
              <a:rPr kumimoji="0" lang="en-US" altLang="zh-CN" sz="2300" b="0" i="1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x</a:t>
            </a:r>
            <a:r>
              <a:rPr kumimoji="0" lang="en-US" altLang="zh-CN" sz="2300" b="0" i="0" u="none" strike="noStrike" cap="none" normalizeH="0" baseline="-3000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0</a:t>
            </a:r>
            <a:r>
              <a:rPr kumimoji="0" lang="en-US" altLang="zh-CN" sz="23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=</a:t>
            </a:r>
            <a:r>
              <a:rPr kumimoji="0" lang="en-US" altLang="zh-CN" sz="23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</a:t>
            </a:r>
            <a:r>
              <a:rPr kumimoji="0" lang="en-US" altLang="zh-CN" sz="23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r>
              <a:rPr kumimoji="0" lang="zh-CN" altLang="en-US" sz="23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，于是所求函数的模型为</a:t>
            </a:r>
            <a:r>
              <a:rPr kumimoji="0" lang="en-US" altLang="zh-CN" sz="2300" b="0" i="1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y</a:t>
            </a:r>
            <a:r>
              <a:rPr kumimoji="0" lang="en-US" altLang="zh-CN" sz="23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=step(</a:t>
            </a:r>
            <a:r>
              <a:rPr kumimoji="0" lang="en-US" altLang="zh-CN" sz="2300" b="0" i="1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w</a:t>
            </a:r>
            <a:r>
              <a:rPr kumimoji="0" lang="en-US" altLang="zh-CN" sz="2300" b="0" i="0" u="none" strike="noStrike" cap="none" normalizeH="0" baseline="-30000" dirty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  <a:sym typeface="Symbol" pitchFamily="18" charset="2"/>
              </a:rPr>
              <a:t>1</a:t>
            </a:r>
            <a:r>
              <a:rPr kumimoji="0" lang="en-US" altLang="zh-CN" sz="2300" b="0" i="1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x</a:t>
            </a:r>
            <a:r>
              <a:rPr kumimoji="0" lang="en-US" altLang="zh-CN" sz="2300" b="0" i="0" u="none" strike="noStrike" cap="none" normalizeH="0" baseline="-3000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1</a:t>
            </a:r>
            <a:r>
              <a:rPr kumimoji="0" lang="en-US" altLang="zh-CN" sz="23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+</a:t>
            </a:r>
            <a:r>
              <a:rPr kumimoji="0" lang="en-US" altLang="zh-CN" sz="2300" b="0" i="1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w</a:t>
            </a:r>
            <a:r>
              <a:rPr kumimoji="0" lang="en-US" altLang="zh-CN" sz="2300" b="0" i="0" u="none" strike="noStrike" cap="none" normalizeH="0" baseline="-30000" dirty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  <a:sym typeface="Symbol" pitchFamily="18" charset="2"/>
              </a:rPr>
              <a:t>2</a:t>
            </a:r>
            <a:r>
              <a:rPr kumimoji="0" lang="en-US" altLang="zh-CN" sz="2300" b="0" i="1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x</a:t>
            </a:r>
            <a:r>
              <a:rPr kumimoji="0" lang="en-US" altLang="zh-CN" sz="2300" b="0" i="0" u="none" strike="noStrike" cap="none" normalizeH="0" baseline="-3000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2</a:t>
            </a:r>
            <a:r>
              <a:rPr kumimoji="0" lang="en-US" altLang="zh-CN" sz="23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</a:t>
            </a:r>
            <a:r>
              <a:rPr kumimoji="0" lang="en-US" altLang="zh-CN" sz="2300" b="0" i="1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w</a:t>
            </a:r>
            <a:r>
              <a:rPr kumimoji="0" lang="en-US" altLang="zh-CN" sz="2300" b="0" i="0" u="none" strike="noStrike" cap="none" normalizeH="0" baseline="-30000" dirty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  <a:sym typeface="Symbol" pitchFamily="18" charset="2"/>
              </a:rPr>
              <a:t>0</a:t>
            </a:r>
            <a:r>
              <a:rPr kumimoji="0" lang="en-US" altLang="zh-CN" sz="23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)</a:t>
            </a:r>
            <a:r>
              <a:rPr kumimoji="0" lang="zh-CN" altLang="en-US" sz="23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；然后</a:t>
            </a:r>
            <a:r>
              <a:rPr kumimoji="0" lang="zh-CN" altLang="en-US" sz="23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  <a:sym typeface="Symbol" pitchFamily="18" charset="2"/>
              </a:rPr>
              <a:t>置初值：</a:t>
            </a:r>
            <a:r>
              <a:rPr kumimoji="0" lang="en-US" altLang="zh-CN" sz="2300" b="0" i="1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w</a:t>
            </a:r>
            <a:r>
              <a:rPr kumimoji="0" lang="en-US" altLang="zh-CN" sz="2300" b="0" i="0" u="none" strike="noStrike" cap="none" normalizeH="0" baseline="-30000" dirty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  <a:sym typeface="Symbol" pitchFamily="18" charset="2"/>
              </a:rPr>
              <a:t>0</a:t>
            </a:r>
            <a:r>
              <a:rPr kumimoji="0" lang="en-US" altLang="zh-CN" sz="23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=0.6</a:t>
            </a:r>
            <a:r>
              <a:rPr kumimoji="0" lang="zh-CN" altLang="en-US" sz="23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，</a:t>
            </a:r>
            <a:r>
              <a:rPr kumimoji="0" lang="en-US" altLang="zh-CN" sz="2300" b="0" i="1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w</a:t>
            </a:r>
            <a:r>
              <a:rPr kumimoji="0" lang="en-US" altLang="zh-CN" sz="2300" b="0" i="0" u="none" strike="noStrike" cap="none" normalizeH="0" baseline="-30000" dirty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  <a:sym typeface="Symbol" pitchFamily="18" charset="2"/>
              </a:rPr>
              <a:t>1</a:t>
            </a:r>
            <a:r>
              <a:rPr kumimoji="0" lang="en-US" altLang="zh-CN" sz="23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=0.4</a:t>
            </a:r>
            <a:r>
              <a:rPr kumimoji="0" lang="zh-CN" altLang="en-US" sz="23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，</a:t>
            </a:r>
            <a:r>
              <a:rPr kumimoji="0" lang="en-US" altLang="zh-CN" sz="2300" b="0" i="1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w</a:t>
            </a:r>
            <a:r>
              <a:rPr kumimoji="0" lang="en-US" altLang="zh-CN" sz="2300" b="0" i="0" u="none" strike="noStrike" cap="none" normalizeH="0" baseline="-30000" dirty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  <a:sym typeface="Symbol" pitchFamily="18" charset="2"/>
              </a:rPr>
              <a:t>2</a:t>
            </a:r>
            <a:r>
              <a:rPr kumimoji="0" lang="en-US" altLang="zh-CN" sz="23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=0.8</a:t>
            </a:r>
            <a:r>
              <a:rPr kumimoji="0" lang="zh-CN" altLang="en-US" sz="23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；</a:t>
            </a:r>
            <a:r>
              <a:rPr kumimoji="0" lang="zh-CN" altLang="en-US" sz="23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  <a:sym typeface="Symbol" pitchFamily="18" charset="2"/>
              </a:rPr>
              <a:t>取学习率</a:t>
            </a:r>
            <a:r>
              <a:rPr kumimoji="0" lang="zh-CN" altLang="en-US" sz="2300" b="0" i="1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</a:t>
            </a:r>
            <a:r>
              <a:rPr kumimoji="0" lang="en-US" altLang="zh-CN" sz="23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=0.4</a:t>
            </a:r>
            <a:r>
              <a:rPr kumimoji="0" lang="zh-CN" altLang="en-US" sz="2300" b="0" i="1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；</a:t>
            </a:r>
            <a:r>
              <a:rPr kumimoji="0" lang="zh-CN" altLang="en-US" sz="2300" b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执行学习算法，该感知器的训练过程如表</a:t>
            </a:r>
            <a:r>
              <a:rPr kumimoji="0" lang="en-US" altLang="zh-CN" sz="2300" b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11-3</a:t>
            </a:r>
            <a:r>
              <a:rPr kumimoji="0" lang="zh-CN" altLang="en-US" sz="2300" b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所示。</a:t>
            </a:r>
          </a:p>
        </p:txBody>
      </p:sp>
      <p:pic>
        <p:nvPicPr>
          <p:cNvPr id="8908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142984"/>
            <a:ext cx="9144000" cy="2500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9A263E3-DEF3-CA08-D2E0-C188BC4E9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92" name="Picture 4">
            <a:extLst>
              <a:ext uri="{FF2B5EF4-FFF2-40B4-BE49-F238E27FC236}">
                <a16:creationId xmlns:a16="http://schemas.microsoft.com/office/drawing/2014/main" id="{06656ED7-A49F-93DD-5901-10AF4E257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b="65999"/>
          <a:stretch>
            <a:fillRect/>
          </a:stretch>
        </p:blipFill>
        <p:spPr bwMode="auto">
          <a:xfrm>
            <a:off x="-1" y="357114"/>
            <a:ext cx="9072000" cy="1991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58F4114-B142-B055-7C64-9BE4BA16DF3A}"/>
              </a:ext>
            </a:extLst>
          </p:cNvPr>
          <p:cNvSpPr txBox="1"/>
          <p:nvPr/>
        </p:nvSpPr>
        <p:spPr>
          <a:xfrm>
            <a:off x="1619672" y="275082"/>
            <a:ext cx="1656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800" b="0" i="1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w</a:t>
            </a:r>
            <a:r>
              <a:rPr kumimoji="0" lang="en-US" altLang="zh-CN" sz="1800" b="0" i="0" u="none" strike="noStrike" cap="none" normalizeH="0" baseline="-30000" dirty="0">
                <a:ln>
                  <a:noFill/>
                </a:ln>
                <a:solidFill>
                  <a:schemeClr val="tx2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  <a:sym typeface="Symbol" pitchFamily="18" charset="2"/>
              </a:rPr>
              <a:t>1</a:t>
            </a:r>
            <a:r>
              <a:rPr kumimoji="0" lang="en-US" altLang="zh-CN" sz="1800" b="0" i="1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x</a:t>
            </a:r>
            <a:r>
              <a:rPr kumimoji="0" lang="en-US" altLang="zh-CN" sz="1800" b="0" i="0" u="none" strike="noStrike" cap="none" normalizeH="0" baseline="-30000" dirty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1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+</a:t>
            </a:r>
            <a:r>
              <a:rPr kumimoji="0" lang="en-US" altLang="zh-CN" sz="1800" b="0" i="1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w</a:t>
            </a:r>
            <a:r>
              <a:rPr kumimoji="0" lang="en-US" altLang="zh-CN" sz="1800" b="0" i="0" u="none" strike="noStrike" cap="none" normalizeH="0" baseline="-30000" dirty="0">
                <a:ln>
                  <a:noFill/>
                </a:ln>
                <a:solidFill>
                  <a:schemeClr val="tx2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  <a:sym typeface="Symbol" pitchFamily="18" charset="2"/>
              </a:rPr>
              <a:t>2</a:t>
            </a:r>
            <a:r>
              <a:rPr kumimoji="0" lang="en-US" altLang="zh-CN" sz="1800" b="0" i="1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x</a:t>
            </a:r>
            <a:r>
              <a:rPr kumimoji="0" lang="en-US" altLang="zh-CN" sz="1800" b="0" i="0" u="none" strike="noStrike" cap="none" normalizeH="0" baseline="-30000" dirty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2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</a:t>
            </a:r>
            <a:r>
              <a:rPr kumimoji="0" lang="en-US" altLang="zh-CN" sz="1800" b="0" i="1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w</a:t>
            </a:r>
            <a:r>
              <a:rPr kumimoji="0" lang="en-US" altLang="zh-CN" sz="1800" b="0" i="0" u="none" strike="noStrike" cap="none" normalizeH="0" baseline="-30000" dirty="0">
                <a:ln>
                  <a:noFill/>
                </a:ln>
                <a:solidFill>
                  <a:schemeClr val="tx2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  <a:sym typeface="Symbol" pitchFamily="18" charset="2"/>
              </a:rPr>
              <a:t>0</a:t>
            </a:r>
            <a:endParaRPr lang="zh-CN" altLang="en-US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644F40C-3942-0ABC-D2EF-EB403FF9E708}"/>
                  </a:ext>
                </a:extLst>
              </p:cNvPr>
              <p:cNvSpPr txBox="1"/>
              <p:nvPr/>
            </p:nvSpPr>
            <p:spPr>
              <a:xfrm>
                <a:off x="5796136" y="275082"/>
                <a:ext cx="251098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  <m:t>𝒘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=</a:t>
                </a:r>
                <a:r>
                  <a:rPr lang="en-US" altLang="zh-CN" i="1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  <m:t>𝒘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  <m:t>𝒊</m:t>
                        </m:r>
                      </m:sub>
                    </m:sSub>
                    <m:r>
                      <a:rPr lang="en-US" altLang="zh-CN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方正姚体" pitchFamily="2" charset="-122"/>
                        <a:cs typeface="Times New Roman" pitchFamily="18" charset="0"/>
                        <a:sym typeface="Symbol" pitchFamily="18" charset="2"/>
                      </a:rPr>
                      <m:t> </m:t>
                    </m:r>
                  </m:oMath>
                </a14:m>
                <a:r>
                  <a:rPr lang="en-US" altLang="zh-CN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+</a:t>
                </a:r>
                <a:r>
                  <a:rPr lang="en-US" altLang="zh-CN" i="1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</a:t>
                </a:r>
                <a:r>
                  <a:rPr lang="en-US" altLang="zh-CN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(</a:t>
                </a:r>
                <a:r>
                  <a:rPr lang="en-US" altLang="zh-CN" i="1" dirty="0" err="1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y</a:t>
                </a:r>
                <a:r>
                  <a:rPr lang="en-US" altLang="zh-CN" i="1" baseline="-30000" dirty="0" err="1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i</a:t>
                </a:r>
                <a:r>
                  <a:rPr lang="en-US" altLang="zh-CN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</a:t>
                </a:r>
                <a:r>
                  <a:rPr lang="en-US" altLang="zh-CN" i="1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</a:rPr>
                  <a:t> </a:t>
                </a:r>
                <a:r>
                  <a:rPr lang="en-US" altLang="zh-CN" i="1" dirty="0" err="1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</a:rPr>
                  <a:t>y</a:t>
                </a:r>
                <a:r>
                  <a:rPr lang="en-US" altLang="zh-CN" i="1" baseline="-30000" dirty="0" err="1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i</a:t>
                </a:r>
                <a:r>
                  <a:rPr lang="en-US" altLang="zh-CN" i="1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’</a:t>
                </a:r>
                <a:r>
                  <a:rPr lang="en-US" altLang="zh-CN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)</a:t>
                </a:r>
                <a:r>
                  <a:rPr lang="en-US" altLang="zh-CN" b="1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x</a:t>
                </a:r>
                <a:r>
                  <a:rPr lang="en-US" altLang="zh-CN" baseline="-30000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i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85D4C9B-9DE1-9CB6-3A2B-AC50FA70E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136" y="275082"/>
                <a:ext cx="2510983" cy="369332"/>
              </a:xfrm>
              <a:prstGeom prst="rect">
                <a:avLst/>
              </a:prstGeom>
              <a:blipFill>
                <a:blip r:embed="rId3"/>
                <a:stretch>
                  <a:fillRect t="-9836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BD84CD74-87E1-79CE-161D-6D7F02B64425}"/>
              </a:ext>
            </a:extLst>
          </p:cNvPr>
          <p:cNvSpPr txBox="1"/>
          <p:nvPr/>
        </p:nvSpPr>
        <p:spPr>
          <a:xfrm>
            <a:off x="1619672" y="2636912"/>
            <a:ext cx="1656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800" b="0" i="1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w</a:t>
            </a:r>
            <a:r>
              <a:rPr kumimoji="0" lang="en-US" altLang="zh-CN" sz="1800" b="0" i="0" u="none" strike="noStrike" cap="none" normalizeH="0" baseline="-30000" dirty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宋体" pitchFamily="2" charset="-122"/>
                <a:sym typeface="Symbol" pitchFamily="18" charset="2"/>
              </a:rPr>
              <a:t>1</a:t>
            </a:r>
            <a:r>
              <a:rPr kumimoji="0" lang="en-US" altLang="zh-CN" sz="1800" b="0" i="1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x</a:t>
            </a:r>
            <a:r>
              <a:rPr kumimoji="0" lang="en-US" altLang="zh-CN" sz="1800" b="0" i="0" u="none" strike="noStrike" cap="none" normalizeH="0" baseline="-3000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1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+</a:t>
            </a:r>
            <a:r>
              <a:rPr kumimoji="0" lang="en-US" altLang="zh-CN" sz="1800" b="0" i="1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w</a:t>
            </a:r>
            <a:r>
              <a:rPr kumimoji="0" lang="en-US" altLang="zh-CN" sz="1800" b="0" i="0" u="none" strike="noStrike" cap="none" normalizeH="0" baseline="-30000" dirty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宋体" pitchFamily="2" charset="-122"/>
                <a:sym typeface="Symbol" pitchFamily="18" charset="2"/>
              </a:rPr>
              <a:t>2</a:t>
            </a:r>
            <a:r>
              <a:rPr kumimoji="0" lang="en-US" altLang="zh-CN" sz="1800" b="0" i="1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x</a:t>
            </a:r>
            <a:r>
              <a:rPr kumimoji="0" lang="en-US" altLang="zh-CN" sz="1800" b="0" i="0" u="none" strike="noStrike" cap="none" normalizeH="0" baseline="-3000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2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</a:t>
            </a:r>
            <a:r>
              <a:rPr kumimoji="0" lang="en-US" altLang="zh-CN" sz="1800" b="0" i="1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w</a:t>
            </a:r>
            <a:r>
              <a:rPr kumimoji="0" lang="en-US" altLang="zh-CN" sz="1800" b="0" i="0" u="none" strike="noStrike" cap="none" normalizeH="0" baseline="-30000" dirty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宋体" pitchFamily="2" charset="-122"/>
                <a:sym typeface="Symbol" pitchFamily="18" charset="2"/>
              </a:rPr>
              <a:t>0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903FE6B-AE7C-9DC5-5940-B936901B601C}"/>
              </a:ext>
            </a:extLst>
          </p:cNvPr>
          <p:cNvSpPr txBox="1"/>
          <p:nvPr/>
        </p:nvSpPr>
        <p:spPr>
          <a:xfrm>
            <a:off x="267198" y="2655179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第一个样本：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40CF069-E86D-D39B-9E64-56298A223BC2}"/>
                  </a:ext>
                </a:extLst>
              </p:cNvPr>
              <p:cNvSpPr txBox="1"/>
              <p:nvPr/>
            </p:nvSpPr>
            <p:spPr>
              <a:xfrm>
                <a:off x="3114135" y="2701346"/>
                <a:ext cx="29206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=0.4∗0+0.8∗0−0.</m:t>
                    </m:r>
                  </m:oMath>
                </a14:m>
                <a:r>
                  <a:rPr lang="en-US" altLang="zh-CN" dirty="0"/>
                  <a:t>6=-0.6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40CF069-E86D-D39B-9E64-56298A223B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135" y="2701346"/>
                <a:ext cx="2920671" cy="276999"/>
              </a:xfrm>
              <a:prstGeom prst="rect">
                <a:avLst/>
              </a:prstGeom>
              <a:blipFill>
                <a:blip r:embed="rId4"/>
                <a:stretch>
                  <a:fillRect l="-1879" t="-28261" r="-4175" b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箭头: 右 6">
            <a:extLst>
              <a:ext uri="{FF2B5EF4-FFF2-40B4-BE49-F238E27FC236}">
                <a16:creationId xmlns:a16="http://schemas.microsoft.com/office/drawing/2014/main" id="{0E6E2284-F107-C8F5-4883-5148CF0BAB03}"/>
              </a:ext>
            </a:extLst>
          </p:cNvPr>
          <p:cNvSpPr/>
          <p:nvPr/>
        </p:nvSpPr>
        <p:spPr>
          <a:xfrm>
            <a:off x="6084168" y="2780928"/>
            <a:ext cx="288032" cy="1440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A787DDC-99B1-8BA9-6FFA-7A8E45B1A923}"/>
              </a:ext>
            </a:extLst>
          </p:cNvPr>
          <p:cNvSpPr txBox="1"/>
          <p:nvPr/>
        </p:nvSpPr>
        <p:spPr>
          <a:xfrm>
            <a:off x="6403555" y="2655179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阶跃函数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A2793D5D-752E-26B5-89E4-3DF8CF984E88}"/>
              </a:ext>
            </a:extLst>
          </p:cNvPr>
          <p:cNvSpPr/>
          <p:nvPr/>
        </p:nvSpPr>
        <p:spPr>
          <a:xfrm>
            <a:off x="7524328" y="2780928"/>
            <a:ext cx="288032" cy="1440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C989868-99F8-9424-54A6-0AD0DED9A907}"/>
              </a:ext>
            </a:extLst>
          </p:cNvPr>
          <p:cNvSpPr txBox="1"/>
          <p:nvPr/>
        </p:nvSpPr>
        <p:spPr>
          <a:xfrm>
            <a:off x="7968685" y="3241918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25FD88-AD54-B586-C6EE-2DAF433DD00E}"/>
              </a:ext>
            </a:extLst>
          </p:cNvPr>
          <p:cNvSpPr txBox="1"/>
          <p:nvPr/>
        </p:nvSpPr>
        <p:spPr>
          <a:xfrm>
            <a:off x="272814" y="3244334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第二个样本：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3A4B48A-B9E3-0383-0B9A-18D58348DCCF}"/>
              </a:ext>
            </a:extLst>
          </p:cNvPr>
          <p:cNvSpPr txBox="1"/>
          <p:nvPr/>
        </p:nvSpPr>
        <p:spPr>
          <a:xfrm>
            <a:off x="1619672" y="3244334"/>
            <a:ext cx="1656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800" b="0" i="1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w</a:t>
            </a:r>
            <a:r>
              <a:rPr kumimoji="0" lang="en-US" altLang="zh-CN" sz="1800" b="0" i="0" u="none" strike="noStrike" cap="none" normalizeH="0" baseline="-30000" dirty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宋体" pitchFamily="2" charset="-122"/>
                <a:sym typeface="Symbol" pitchFamily="18" charset="2"/>
              </a:rPr>
              <a:t>1</a:t>
            </a:r>
            <a:r>
              <a:rPr kumimoji="0" lang="en-US" altLang="zh-CN" sz="1800" b="0" i="1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x</a:t>
            </a:r>
            <a:r>
              <a:rPr kumimoji="0" lang="en-US" altLang="zh-CN" sz="1800" b="0" i="0" u="none" strike="noStrike" cap="none" normalizeH="0" baseline="-3000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1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+</a:t>
            </a:r>
            <a:r>
              <a:rPr kumimoji="0" lang="en-US" altLang="zh-CN" sz="1800" b="0" i="1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w</a:t>
            </a:r>
            <a:r>
              <a:rPr kumimoji="0" lang="en-US" altLang="zh-CN" sz="1800" b="0" i="0" u="none" strike="noStrike" cap="none" normalizeH="0" baseline="-30000" dirty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宋体" pitchFamily="2" charset="-122"/>
                <a:sym typeface="Symbol" pitchFamily="18" charset="2"/>
              </a:rPr>
              <a:t>2</a:t>
            </a:r>
            <a:r>
              <a:rPr kumimoji="0" lang="en-US" altLang="zh-CN" sz="1800" b="0" i="1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x</a:t>
            </a:r>
            <a:r>
              <a:rPr kumimoji="0" lang="en-US" altLang="zh-CN" sz="1800" b="0" i="0" u="none" strike="noStrike" cap="none" normalizeH="0" baseline="-3000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2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</a:t>
            </a:r>
            <a:r>
              <a:rPr kumimoji="0" lang="en-US" altLang="zh-CN" sz="1800" b="0" i="1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w</a:t>
            </a:r>
            <a:r>
              <a:rPr kumimoji="0" lang="en-US" altLang="zh-CN" sz="1800" b="0" i="0" u="none" strike="noStrike" cap="none" normalizeH="0" baseline="-30000" dirty="0">
                <a:ln>
                  <a:noFill/>
                </a:ln>
                <a:effectLst/>
                <a:latin typeface="Arial" pitchFamily="34" charset="0"/>
                <a:ea typeface="宋体" pitchFamily="2" charset="-122"/>
                <a:cs typeface="宋体" pitchFamily="2" charset="-122"/>
                <a:sym typeface="Symbol" pitchFamily="18" charset="2"/>
              </a:rPr>
              <a:t>0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450AEA4-FEC0-D999-EF88-60626BF3D7F3}"/>
                  </a:ext>
                </a:extLst>
              </p:cNvPr>
              <p:cNvSpPr txBox="1"/>
              <p:nvPr/>
            </p:nvSpPr>
            <p:spPr>
              <a:xfrm>
                <a:off x="3114135" y="3336667"/>
                <a:ext cx="28437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=0.4∗0+0.8∗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−0.</m:t>
                    </m:r>
                  </m:oMath>
                </a14:m>
                <a:r>
                  <a:rPr lang="en-US" altLang="zh-CN" dirty="0"/>
                  <a:t>6=0.2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450AEA4-FEC0-D999-EF88-60626BF3D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135" y="3336667"/>
                <a:ext cx="2843727" cy="276999"/>
              </a:xfrm>
              <a:prstGeom prst="rect">
                <a:avLst/>
              </a:prstGeom>
              <a:blipFill>
                <a:blip r:embed="rId5"/>
                <a:stretch>
                  <a:fillRect l="-1931" t="-28261" r="-4292" b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箭头: 右 14">
            <a:extLst>
              <a:ext uri="{FF2B5EF4-FFF2-40B4-BE49-F238E27FC236}">
                <a16:creationId xmlns:a16="http://schemas.microsoft.com/office/drawing/2014/main" id="{655C35BD-6457-5177-3A9E-CBB7CAE05F75}"/>
              </a:ext>
            </a:extLst>
          </p:cNvPr>
          <p:cNvSpPr/>
          <p:nvPr/>
        </p:nvSpPr>
        <p:spPr>
          <a:xfrm>
            <a:off x="6084168" y="3397642"/>
            <a:ext cx="288032" cy="1440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FDC15C6-8BFD-B1C9-FFF7-BE3C7ED8FE81}"/>
              </a:ext>
            </a:extLst>
          </p:cNvPr>
          <p:cNvSpPr txBox="1"/>
          <p:nvPr/>
        </p:nvSpPr>
        <p:spPr>
          <a:xfrm>
            <a:off x="6403555" y="3271893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阶跃函数</a:t>
            </a: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F1C32F0D-0C88-BE99-5628-768489D55E4E}"/>
              </a:ext>
            </a:extLst>
          </p:cNvPr>
          <p:cNvSpPr/>
          <p:nvPr/>
        </p:nvSpPr>
        <p:spPr>
          <a:xfrm>
            <a:off x="7524328" y="3397642"/>
            <a:ext cx="288032" cy="1440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5BE5568-3DA5-F00F-E489-C5BA9CE5527B}"/>
              </a:ext>
            </a:extLst>
          </p:cNvPr>
          <p:cNvSpPr txBox="1"/>
          <p:nvPr/>
        </p:nvSpPr>
        <p:spPr>
          <a:xfrm>
            <a:off x="7968685" y="2807579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9" name="箭头: 下 18">
            <a:extLst>
              <a:ext uri="{FF2B5EF4-FFF2-40B4-BE49-F238E27FC236}">
                <a16:creationId xmlns:a16="http://schemas.microsoft.com/office/drawing/2014/main" id="{8800651C-27A6-38F0-1A72-C12A5E30219A}"/>
              </a:ext>
            </a:extLst>
          </p:cNvPr>
          <p:cNvSpPr/>
          <p:nvPr/>
        </p:nvSpPr>
        <p:spPr>
          <a:xfrm>
            <a:off x="3923928" y="3705999"/>
            <a:ext cx="1152128" cy="21602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A3E783FD-7D81-22D0-5E45-3FA98964193B}"/>
                  </a:ext>
                </a:extLst>
              </p:cNvPr>
              <p:cNvSpPr txBox="1"/>
              <p:nvPr/>
            </p:nvSpPr>
            <p:spPr>
              <a:xfrm>
                <a:off x="3480028" y="3941121"/>
                <a:ext cx="46322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  <m:t>𝒘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=</a:t>
                </a:r>
                <a:r>
                  <a:rPr lang="en-US" altLang="zh-CN" i="1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  <m:t>𝒘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  <m:t>𝒊</m:t>
                        </m:r>
                      </m:sub>
                    </m:sSub>
                    <m:r>
                      <a:rPr lang="en-US" altLang="zh-CN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方正姚体" pitchFamily="2" charset="-122"/>
                        <a:cs typeface="Times New Roman" pitchFamily="18" charset="0"/>
                        <a:sym typeface="Symbol" pitchFamily="18" charset="2"/>
                      </a:rPr>
                      <m:t> </m:t>
                    </m:r>
                  </m:oMath>
                </a14:m>
                <a:r>
                  <a:rPr lang="en-US" altLang="zh-CN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+</a:t>
                </a:r>
                <a:r>
                  <a:rPr lang="en-US" altLang="zh-CN" i="1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</a:t>
                </a:r>
                <a:r>
                  <a:rPr lang="en-US" altLang="zh-CN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(</a:t>
                </a:r>
                <a:r>
                  <a:rPr lang="en-US" altLang="zh-CN" i="1" dirty="0" err="1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y</a:t>
                </a:r>
                <a:r>
                  <a:rPr lang="en-US" altLang="zh-CN" i="1" baseline="-30000" dirty="0" err="1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i</a:t>
                </a:r>
                <a:r>
                  <a:rPr lang="en-US" altLang="zh-CN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</a:t>
                </a:r>
                <a:r>
                  <a:rPr lang="en-US" altLang="zh-CN" i="1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</a:rPr>
                  <a:t> </a:t>
                </a:r>
                <a:r>
                  <a:rPr lang="en-US" altLang="zh-CN" i="1" dirty="0" err="1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</a:rPr>
                  <a:t>y</a:t>
                </a:r>
                <a:r>
                  <a:rPr lang="en-US" altLang="zh-CN" i="1" baseline="-30000" dirty="0" err="1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i</a:t>
                </a:r>
                <a:r>
                  <a:rPr lang="en-US" altLang="zh-CN" i="1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’</a:t>
                </a:r>
                <a:r>
                  <a:rPr lang="en-US" altLang="zh-CN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)</a:t>
                </a:r>
                <a:r>
                  <a:rPr lang="en-US" altLang="zh-CN" b="1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x</a:t>
                </a:r>
                <a:r>
                  <a:rPr lang="en-US" altLang="zh-CN" baseline="-30000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i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A3E783FD-7D81-22D0-5E45-3FA9896419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0028" y="3941121"/>
                <a:ext cx="4632216" cy="369332"/>
              </a:xfrm>
              <a:prstGeom prst="rect">
                <a:avLst/>
              </a:prstGeom>
              <a:blipFill>
                <a:blip r:embed="rId6"/>
                <a:stretch>
                  <a:fillRect t="-11667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708FC38D-CAFE-8E12-65BB-CD6DF889A83D}"/>
                  </a:ext>
                </a:extLst>
              </p:cNvPr>
              <p:cNvSpPr txBox="1"/>
              <p:nvPr/>
            </p:nvSpPr>
            <p:spPr>
              <a:xfrm>
                <a:off x="827584" y="4453242"/>
                <a:ext cx="561662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  <m:t>𝒘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=</a:t>
                </a:r>
                <a:r>
                  <a:rPr lang="en-US" altLang="zh-CN" i="1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  <m:t>𝒘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  <m:t>𝟎</m:t>
                        </m:r>
                      </m:sub>
                    </m:sSub>
                    <m:r>
                      <a:rPr lang="en-US" altLang="zh-CN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方正姚体" pitchFamily="2" charset="-122"/>
                        <a:cs typeface="Times New Roman" pitchFamily="18" charset="0"/>
                        <a:sym typeface="Symbol" pitchFamily="18" charset="2"/>
                      </a:rPr>
                      <m:t> </m:t>
                    </m:r>
                  </m:oMath>
                </a14:m>
                <a:r>
                  <a:rPr lang="en-US" altLang="zh-CN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+</a:t>
                </a:r>
                <a:r>
                  <a:rPr lang="en-US" altLang="zh-CN" i="1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</a:t>
                </a:r>
                <a:r>
                  <a:rPr lang="en-US" altLang="zh-CN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(</a:t>
                </a:r>
                <a:r>
                  <a:rPr lang="en-US" altLang="zh-CN" i="1" dirty="0" err="1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y</a:t>
                </a:r>
                <a:r>
                  <a:rPr lang="en-US" altLang="zh-CN" i="1" baseline="-30000" dirty="0" err="1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i</a:t>
                </a:r>
                <a:r>
                  <a:rPr lang="en-US" altLang="zh-CN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</a:t>
                </a:r>
                <a:r>
                  <a:rPr lang="en-US" altLang="zh-CN" i="1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</a:rPr>
                  <a:t> </a:t>
                </a:r>
                <a:r>
                  <a:rPr lang="en-US" altLang="zh-CN" i="1" dirty="0" err="1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</a:rPr>
                  <a:t>y</a:t>
                </a:r>
                <a:r>
                  <a:rPr lang="en-US" altLang="zh-CN" i="1" baseline="-30000" dirty="0" err="1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i</a:t>
                </a:r>
                <a:r>
                  <a:rPr lang="en-US" altLang="zh-CN" i="1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’</a:t>
                </a:r>
                <a:r>
                  <a:rPr lang="en-US" altLang="zh-CN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)</a:t>
                </a:r>
                <a:r>
                  <a:rPr lang="en-US" altLang="zh-CN" b="1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x</a:t>
                </a:r>
                <a:r>
                  <a:rPr lang="en-US" altLang="zh-CN" baseline="-30000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0</a:t>
                </a:r>
                <a:r>
                  <a:rPr lang="en-US" altLang="zh-CN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 = 0.6+0.4</a:t>
                </a:r>
                <a:r>
                  <a:rPr lang="zh-CN" altLang="en-US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（</a:t>
                </a:r>
                <a:r>
                  <a:rPr lang="en-US" altLang="zh-CN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-1</a:t>
                </a:r>
                <a:r>
                  <a:rPr lang="zh-CN" altLang="en-US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）（</a:t>
                </a:r>
                <a:r>
                  <a:rPr lang="en-US" altLang="zh-CN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-1</a:t>
                </a:r>
                <a:r>
                  <a:rPr lang="zh-CN" altLang="en-US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）</a:t>
                </a:r>
                <a:r>
                  <a:rPr lang="en-US" altLang="zh-CN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=1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708FC38D-CAFE-8E12-65BB-CD6DF889A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4453242"/>
                <a:ext cx="5616624" cy="369332"/>
              </a:xfrm>
              <a:prstGeom prst="rect">
                <a:avLst/>
              </a:prstGeom>
              <a:blipFill>
                <a:blip r:embed="rId7"/>
                <a:stretch>
                  <a:fillRect t="-15000" b="-2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EE1A8241-71C4-475E-4246-50F8211AC7B2}"/>
                  </a:ext>
                </a:extLst>
              </p:cNvPr>
              <p:cNvSpPr txBox="1"/>
              <p:nvPr/>
            </p:nvSpPr>
            <p:spPr>
              <a:xfrm>
                <a:off x="827584" y="4965363"/>
                <a:ext cx="561662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  <m:t>𝒘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=</a:t>
                </a:r>
                <a:r>
                  <a:rPr lang="en-US" altLang="zh-CN" i="1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  <m:t>𝒘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  <m:t>𝟏</m:t>
                        </m:r>
                      </m:sub>
                    </m:sSub>
                    <m:r>
                      <a:rPr lang="en-US" altLang="zh-CN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方正姚体" pitchFamily="2" charset="-122"/>
                        <a:cs typeface="Times New Roman" pitchFamily="18" charset="0"/>
                        <a:sym typeface="Symbol" pitchFamily="18" charset="2"/>
                      </a:rPr>
                      <m:t> </m:t>
                    </m:r>
                  </m:oMath>
                </a14:m>
                <a:r>
                  <a:rPr lang="en-US" altLang="zh-CN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+</a:t>
                </a:r>
                <a:r>
                  <a:rPr lang="en-US" altLang="zh-CN" i="1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</a:t>
                </a:r>
                <a:r>
                  <a:rPr lang="en-US" altLang="zh-CN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(</a:t>
                </a:r>
                <a:r>
                  <a:rPr lang="en-US" altLang="zh-CN" i="1" dirty="0" err="1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y</a:t>
                </a:r>
                <a:r>
                  <a:rPr lang="en-US" altLang="zh-CN" i="1" baseline="-30000" dirty="0" err="1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i</a:t>
                </a:r>
                <a:r>
                  <a:rPr lang="en-US" altLang="zh-CN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</a:t>
                </a:r>
                <a:r>
                  <a:rPr lang="en-US" altLang="zh-CN" i="1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</a:rPr>
                  <a:t> </a:t>
                </a:r>
                <a:r>
                  <a:rPr lang="en-US" altLang="zh-CN" i="1" dirty="0" err="1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</a:rPr>
                  <a:t>y</a:t>
                </a:r>
                <a:r>
                  <a:rPr lang="en-US" altLang="zh-CN" i="1" baseline="-30000" dirty="0" err="1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i</a:t>
                </a:r>
                <a:r>
                  <a:rPr lang="en-US" altLang="zh-CN" i="1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’</a:t>
                </a:r>
                <a:r>
                  <a:rPr lang="en-US" altLang="zh-CN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)</a:t>
                </a:r>
                <a:r>
                  <a:rPr lang="en-US" altLang="zh-CN" b="1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x</a:t>
                </a:r>
                <a:r>
                  <a:rPr lang="en-US" altLang="zh-CN" baseline="-30000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0</a:t>
                </a:r>
                <a:r>
                  <a:rPr lang="en-US" altLang="zh-CN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 = 0.4+0.4</a:t>
                </a:r>
                <a:r>
                  <a:rPr lang="zh-CN" altLang="en-US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（</a:t>
                </a:r>
                <a:r>
                  <a:rPr lang="en-US" altLang="zh-CN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-1</a:t>
                </a:r>
                <a:r>
                  <a:rPr lang="zh-CN" altLang="en-US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）（</a:t>
                </a:r>
                <a:r>
                  <a:rPr lang="en-US" altLang="zh-CN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0</a:t>
                </a:r>
                <a:r>
                  <a:rPr lang="zh-CN" altLang="en-US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）</a:t>
                </a:r>
                <a:r>
                  <a:rPr lang="en-US" altLang="zh-CN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=0.4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EE1A8241-71C4-475E-4246-50F8211AC7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4965363"/>
                <a:ext cx="5616624" cy="369332"/>
              </a:xfrm>
              <a:prstGeom prst="rect">
                <a:avLst/>
              </a:prstGeom>
              <a:blipFill>
                <a:blip r:embed="rId8"/>
                <a:stretch>
                  <a:fillRect t="-15000" b="-2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46047EA7-50D7-79AE-0D54-C93050850D84}"/>
                  </a:ext>
                </a:extLst>
              </p:cNvPr>
              <p:cNvSpPr txBox="1"/>
              <p:nvPr/>
            </p:nvSpPr>
            <p:spPr>
              <a:xfrm>
                <a:off x="834626" y="5514264"/>
                <a:ext cx="561662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  <m:t>𝒘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=</a:t>
                </a:r>
                <a:r>
                  <a:rPr lang="en-US" altLang="zh-CN" i="1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  <m:t>𝒘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  <m:t>𝟐</m:t>
                        </m:r>
                      </m:sub>
                    </m:sSub>
                    <m:r>
                      <a:rPr lang="en-US" altLang="zh-CN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方正姚体" pitchFamily="2" charset="-122"/>
                        <a:cs typeface="Times New Roman" pitchFamily="18" charset="0"/>
                        <a:sym typeface="Symbol" pitchFamily="18" charset="2"/>
                      </a:rPr>
                      <m:t> </m:t>
                    </m:r>
                  </m:oMath>
                </a14:m>
                <a:r>
                  <a:rPr lang="en-US" altLang="zh-CN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+</a:t>
                </a:r>
                <a:r>
                  <a:rPr lang="en-US" altLang="zh-CN" i="1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</a:t>
                </a:r>
                <a:r>
                  <a:rPr lang="en-US" altLang="zh-CN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(</a:t>
                </a:r>
                <a:r>
                  <a:rPr lang="en-US" altLang="zh-CN" i="1" dirty="0" err="1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y</a:t>
                </a:r>
                <a:r>
                  <a:rPr lang="en-US" altLang="zh-CN" i="1" baseline="-30000" dirty="0" err="1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i</a:t>
                </a:r>
                <a:r>
                  <a:rPr lang="en-US" altLang="zh-CN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</a:t>
                </a:r>
                <a:r>
                  <a:rPr lang="en-US" altLang="zh-CN" i="1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</a:rPr>
                  <a:t> </a:t>
                </a:r>
                <a:r>
                  <a:rPr lang="en-US" altLang="zh-CN" i="1" dirty="0" err="1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</a:rPr>
                  <a:t>y</a:t>
                </a:r>
                <a:r>
                  <a:rPr lang="en-US" altLang="zh-CN" i="1" baseline="-30000" dirty="0" err="1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i</a:t>
                </a:r>
                <a:r>
                  <a:rPr lang="en-US" altLang="zh-CN" i="1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’</a:t>
                </a:r>
                <a:r>
                  <a:rPr lang="en-US" altLang="zh-CN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)</a:t>
                </a:r>
                <a:r>
                  <a:rPr lang="en-US" altLang="zh-CN" b="1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x</a:t>
                </a:r>
                <a:r>
                  <a:rPr lang="en-US" altLang="zh-CN" baseline="-30000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0</a:t>
                </a:r>
                <a:r>
                  <a:rPr lang="en-US" altLang="zh-CN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 = 0.8+0.4</a:t>
                </a:r>
                <a:r>
                  <a:rPr lang="zh-CN" altLang="en-US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（</a:t>
                </a:r>
                <a:r>
                  <a:rPr lang="en-US" altLang="zh-CN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-1</a:t>
                </a:r>
                <a:r>
                  <a:rPr lang="zh-CN" altLang="en-US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）（</a:t>
                </a:r>
                <a:r>
                  <a:rPr lang="en-US" altLang="zh-CN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1</a:t>
                </a:r>
                <a:r>
                  <a:rPr lang="zh-CN" altLang="en-US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）</a:t>
                </a:r>
                <a:r>
                  <a:rPr lang="en-US" altLang="zh-CN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=0.4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46047EA7-50D7-79AE-0D54-C93050850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626" y="5514264"/>
                <a:ext cx="5616624" cy="369332"/>
              </a:xfrm>
              <a:prstGeom prst="rect">
                <a:avLst/>
              </a:prstGeom>
              <a:blipFill>
                <a:blip r:embed="rId9"/>
                <a:stretch>
                  <a:fillRect t="-15000" b="-2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箭头: 下 24">
            <a:extLst>
              <a:ext uri="{FF2B5EF4-FFF2-40B4-BE49-F238E27FC236}">
                <a16:creationId xmlns:a16="http://schemas.microsoft.com/office/drawing/2014/main" id="{FDA07BF8-E606-7A50-124F-BA3CE19C7DB9}"/>
              </a:ext>
            </a:extLst>
          </p:cNvPr>
          <p:cNvSpPr/>
          <p:nvPr/>
        </p:nvSpPr>
        <p:spPr>
          <a:xfrm>
            <a:off x="3923928" y="5955153"/>
            <a:ext cx="1152128" cy="21602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9D12FD7-7B73-05DE-5EAF-408A3A40D238}"/>
                  </a:ext>
                </a:extLst>
              </p:cNvPr>
              <p:cNvSpPr txBox="1"/>
              <p:nvPr/>
            </p:nvSpPr>
            <p:spPr>
              <a:xfrm>
                <a:off x="2759948" y="6242734"/>
                <a:ext cx="46322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  <m:t>𝒘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=1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  <m:t>         </m:t>
                        </m:r>
                        <m:r>
                          <a:rPr lang="en-US" altLang="zh-CN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  <m:t>𝒘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方正姚体" pitchFamily="2" charset="-122"/>
                        <a:cs typeface="Times New Roman" pitchFamily="18" charset="0"/>
                        <a:sym typeface="Symbol" pitchFamily="18" charset="2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方正姚体" pitchFamily="2" charset="-122"/>
                        <a:cs typeface="Times New Roman" pitchFamily="18" charset="0"/>
                        <a:sym typeface="Symbol" pitchFamily="18" charset="2"/>
                      </a:rPr>
                      <m:t>𝟎</m:t>
                    </m:r>
                    <m:r>
                      <a:rPr lang="en-US" altLang="zh-CN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方正姚体" pitchFamily="2" charset="-122"/>
                        <a:cs typeface="Times New Roman" pitchFamily="18" charset="0"/>
                        <a:sym typeface="Symbol" pitchFamily="18" charset="2"/>
                      </a:rPr>
                      <m:t>.</m:t>
                    </m:r>
                    <m:r>
                      <a:rPr lang="en-US" altLang="zh-CN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方正姚体" pitchFamily="2" charset="-122"/>
                        <a:cs typeface="Times New Roman" pitchFamily="18" charset="0"/>
                        <a:sym typeface="Symbol" pitchFamily="18" charset="2"/>
                      </a:rPr>
                      <m:t>𝟒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  <m:t>           </m:t>
                        </m:r>
                        <m:r>
                          <a:rPr lang="en-US" altLang="zh-CN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  <m:t>𝒘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方正姚体" pitchFamily="2" charset="-122"/>
                        <a:cs typeface="Times New Roman" pitchFamily="18" charset="0"/>
                        <a:sym typeface="Symbol" pitchFamily="18" charset="2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方正姚体" pitchFamily="2" charset="-122"/>
                        <a:cs typeface="Times New Roman" pitchFamily="18" charset="0"/>
                        <a:sym typeface="Symbol" pitchFamily="18" charset="2"/>
                      </a:rPr>
                      <m:t>𝟎</m:t>
                    </m:r>
                    <m:r>
                      <a:rPr lang="en-US" altLang="zh-CN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方正姚体" pitchFamily="2" charset="-122"/>
                        <a:cs typeface="Times New Roman" pitchFamily="18" charset="0"/>
                        <a:sym typeface="Symbol" pitchFamily="18" charset="2"/>
                      </a:rPr>
                      <m:t>.</m:t>
                    </m:r>
                    <m:r>
                      <a:rPr lang="en-US" altLang="zh-CN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方正姚体" pitchFamily="2" charset="-122"/>
                        <a:cs typeface="Times New Roman" pitchFamily="18" charset="0"/>
                        <a:sym typeface="Symbol" pitchFamily="18" charset="2"/>
                      </a:rPr>
                      <m:t>𝟒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9D12FD7-7B73-05DE-5EAF-408A3A40D2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9948" y="6242734"/>
                <a:ext cx="4632216" cy="369332"/>
              </a:xfrm>
              <a:prstGeom prst="rect">
                <a:avLst/>
              </a:prstGeom>
              <a:blipFill>
                <a:blip r:embed="rId10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69761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2E1072B-3098-8CC8-8F51-7E4036FB2924}"/>
              </a:ext>
            </a:extLst>
          </p:cNvPr>
          <p:cNvSpPr/>
          <p:nvPr/>
        </p:nvSpPr>
        <p:spPr>
          <a:xfrm>
            <a:off x="1259632" y="2348880"/>
            <a:ext cx="7488832" cy="288032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909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357114"/>
            <a:ext cx="9072000" cy="58579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0C14229-8A97-F7C2-B68B-B6D1A4BC3DAB}"/>
              </a:ext>
            </a:extLst>
          </p:cNvPr>
          <p:cNvSpPr txBox="1"/>
          <p:nvPr/>
        </p:nvSpPr>
        <p:spPr>
          <a:xfrm>
            <a:off x="1619672" y="275082"/>
            <a:ext cx="1656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800" b="0" i="1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w</a:t>
            </a:r>
            <a:r>
              <a:rPr kumimoji="0" lang="en-US" altLang="zh-CN" sz="1800" b="0" i="0" u="none" strike="noStrike" cap="none" normalizeH="0" baseline="-30000" dirty="0">
                <a:ln>
                  <a:noFill/>
                </a:ln>
                <a:solidFill>
                  <a:schemeClr val="tx2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  <a:sym typeface="Symbol" pitchFamily="18" charset="2"/>
              </a:rPr>
              <a:t>1</a:t>
            </a:r>
            <a:r>
              <a:rPr kumimoji="0" lang="en-US" altLang="zh-CN" sz="1800" b="0" i="1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x</a:t>
            </a:r>
            <a:r>
              <a:rPr kumimoji="0" lang="en-US" altLang="zh-CN" sz="1800" b="0" i="0" u="none" strike="noStrike" cap="none" normalizeH="0" baseline="-30000" dirty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1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+</a:t>
            </a:r>
            <a:r>
              <a:rPr kumimoji="0" lang="en-US" altLang="zh-CN" sz="1800" b="0" i="1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w</a:t>
            </a:r>
            <a:r>
              <a:rPr kumimoji="0" lang="en-US" altLang="zh-CN" sz="1800" b="0" i="0" u="none" strike="noStrike" cap="none" normalizeH="0" baseline="-30000" dirty="0">
                <a:ln>
                  <a:noFill/>
                </a:ln>
                <a:solidFill>
                  <a:schemeClr val="tx2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  <a:sym typeface="Symbol" pitchFamily="18" charset="2"/>
              </a:rPr>
              <a:t>2</a:t>
            </a:r>
            <a:r>
              <a:rPr kumimoji="0" lang="en-US" altLang="zh-CN" sz="1800" b="0" i="1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x</a:t>
            </a:r>
            <a:r>
              <a:rPr kumimoji="0" lang="en-US" altLang="zh-CN" sz="1800" b="0" i="0" u="none" strike="noStrike" cap="none" normalizeH="0" baseline="-30000" dirty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2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</a:t>
            </a:r>
            <a:r>
              <a:rPr kumimoji="0" lang="en-US" altLang="zh-CN" sz="1800" b="0" i="1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w</a:t>
            </a:r>
            <a:r>
              <a:rPr kumimoji="0" lang="en-US" altLang="zh-CN" sz="1800" b="0" i="0" u="none" strike="noStrike" cap="none" normalizeH="0" baseline="-30000" dirty="0">
                <a:ln>
                  <a:noFill/>
                </a:ln>
                <a:solidFill>
                  <a:schemeClr val="tx2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  <a:sym typeface="Symbol" pitchFamily="18" charset="2"/>
              </a:rPr>
              <a:t>0</a:t>
            </a:r>
            <a:endParaRPr lang="zh-CN" altLang="en-US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85D4C9B-9DE1-9CB6-3A2B-AC50FA70E9A0}"/>
                  </a:ext>
                </a:extLst>
              </p:cNvPr>
              <p:cNvSpPr txBox="1"/>
              <p:nvPr/>
            </p:nvSpPr>
            <p:spPr>
              <a:xfrm>
                <a:off x="5796136" y="275082"/>
                <a:ext cx="251098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  <m:t>𝒘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=</a:t>
                </a:r>
                <a:r>
                  <a:rPr lang="en-US" altLang="zh-CN" i="1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  <m:t>𝒘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方正姚体" pitchFamily="2" charset="-122"/>
                            <a:cs typeface="Times New Roman" pitchFamily="18" charset="0"/>
                            <a:sym typeface="Symbol" pitchFamily="18" charset="2"/>
                          </a:rPr>
                          <m:t>𝒊</m:t>
                        </m:r>
                      </m:sub>
                    </m:sSub>
                    <m:r>
                      <a:rPr lang="en-US" altLang="zh-CN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方正姚体" pitchFamily="2" charset="-122"/>
                        <a:cs typeface="Times New Roman" pitchFamily="18" charset="0"/>
                        <a:sym typeface="Symbol" pitchFamily="18" charset="2"/>
                      </a:rPr>
                      <m:t> </m:t>
                    </m:r>
                  </m:oMath>
                </a14:m>
                <a:r>
                  <a:rPr lang="en-US" altLang="zh-CN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+</a:t>
                </a:r>
                <a:r>
                  <a:rPr lang="en-US" altLang="zh-CN" i="1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</a:t>
                </a:r>
                <a:r>
                  <a:rPr lang="en-US" altLang="zh-CN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(</a:t>
                </a:r>
                <a:r>
                  <a:rPr lang="en-US" altLang="zh-CN" i="1" dirty="0" err="1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y</a:t>
                </a:r>
                <a:r>
                  <a:rPr lang="en-US" altLang="zh-CN" i="1" baseline="-30000" dirty="0" err="1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i</a:t>
                </a:r>
                <a:r>
                  <a:rPr lang="en-US" altLang="zh-CN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</a:t>
                </a:r>
                <a:r>
                  <a:rPr lang="en-US" altLang="zh-CN" i="1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</a:rPr>
                  <a:t> </a:t>
                </a:r>
                <a:r>
                  <a:rPr lang="en-US" altLang="zh-CN" i="1" dirty="0" err="1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</a:rPr>
                  <a:t>y</a:t>
                </a:r>
                <a:r>
                  <a:rPr lang="en-US" altLang="zh-CN" i="1" baseline="-30000" dirty="0" err="1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i</a:t>
                </a:r>
                <a:r>
                  <a:rPr lang="en-US" altLang="zh-CN" i="1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’</a:t>
                </a:r>
                <a:r>
                  <a:rPr lang="en-US" altLang="zh-CN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)</a:t>
                </a:r>
                <a:r>
                  <a:rPr lang="en-US" altLang="zh-CN" b="1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x</a:t>
                </a:r>
                <a:r>
                  <a:rPr lang="en-US" altLang="zh-CN" baseline="-30000" dirty="0">
                    <a:solidFill>
                      <a:schemeClr val="tx2"/>
                    </a:solidFill>
                    <a:latin typeface="Times New Roman" pitchFamily="18" charset="0"/>
                    <a:ea typeface="方正姚体" pitchFamily="2" charset="-122"/>
                    <a:cs typeface="Times New Roman" pitchFamily="18" charset="0"/>
                    <a:sym typeface="Symbol" pitchFamily="18" charset="2"/>
                  </a:rPr>
                  <a:t>i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85D4C9B-9DE1-9CB6-3A2B-AC50FA70E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136" y="275082"/>
                <a:ext cx="2510983" cy="369332"/>
              </a:xfrm>
              <a:prstGeom prst="rect">
                <a:avLst/>
              </a:prstGeom>
              <a:blipFill>
                <a:blip r:embed="rId3"/>
                <a:stretch>
                  <a:fillRect t="-9836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836275"/>
            <a:ext cx="9000000" cy="31389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8065" name="Rectangle 1"/>
          <p:cNvSpPr>
            <a:spLocks noChangeArrowheads="1"/>
          </p:cNvSpPr>
          <p:nvPr/>
        </p:nvSpPr>
        <p:spPr bwMode="auto">
          <a:xfrm>
            <a:off x="624729" y="541607"/>
            <a:ext cx="8388000" cy="2037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  </a:t>
            </a:r>
            <a:r>
              <a:rPr kumimoji="0" lang="zh-CN" sz="23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可以看出，网络训练结束于第三轮，最终的权值为：</a:t>
            </a:r>
            <a:r>
              <a:rPr kumimoji="0" lang="en-US" altLang="zh-CN" sz="2300" b="0" i="1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w</a:t>
            </a:r>
            <a:r>
              <a:rPr kumimoji="0" lang="en-US" altLang="zh-CN" sz="2300" b="0" i="0" u="none" strike="noStrike" cap="none" normalizeH="0" baseline="-30000" dirty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0</a:t>
            </a:r>
            <a:r>
              <a:rPr kumimoji="0" lang="en-US" altLang="zh-CN" sz="23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=1</a:t>
            </a:r>
            <a:r>
              <a:rPr kumimoji="0" lang="zh-CN" altLang="en-US" sz="23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 </a:t>
            </a:r>
            <a:r>
              <a:rPr kumimoji="0" lang="en-US" altLang="zh-CN" sz="2300" b="0" i="1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w</a:t>
            </a:r>
            <a:r>
              <a:rPr kumimoji="0" lang="en-US" altLang="zh-CN" sz="2300" b="0" i="0" u="none" strike="noStrike" cap="none" normalizeH="0" baseline="-30000" dirty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1</a:t>
            </a:r>
            <a:r>
              <a:rPr kumimoji="0" lang="en-US" altLang="zh-CN" sz="23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=0.8</a:t>
            </a:r>
            <a:r>
              <a:rPr kumimoji="0" lang="zh-CN" altLang="en-US" sz="23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kumimoji="0" lang="en-US" altLang="zh-CN" sz="2300" b="0" i="1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w</a:t>
            </a:r>
            <a:r>
              <a:rPr kumimoji="0" lang="en-US" altLang="zh-CN" sz="2300" b="0" i="0" u="none" strike="noStrike" cap="none" normalizeH="0" baseline="-30000" dirty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2</a:t>
            </a:r>
            <a:r>
              <a:rPr kumimoji="0" lang="en-US" altLang="zh-CN" sz="23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=0.4</a:t>
            </a:r>
            <a:r>
              <a:rPr kumimoji="0" lang="zh-CN" altLang="en-US" sz="23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。于是，相应的激活函数表达式就是</a:t>
            </a:r>
            <a:endParaRPr kumimoji="0" lang="zh-CN" altLang="en-US" sz="23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300" b="0" i="1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                     y </a:t>
            </a:r>
            <a:r>
              <a:rPr kumimoji="0" lang="en-US" altLang="zh-CN" sz="23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= step(0.8</a:t>
            </a:r>
            <a:r>
              <a:rPr kumimoji="0" lang="en-US" altLang="zh-CN" sz="2300" b="0" i="1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x</a:t>
            </a:r>
            <a:r>
              <a:rPr kumimoji="0" lang="en-US" altLang="zh-CN" sz="2300" b="0" i="0" u="none" strike="noStrike" cap="none" normalizeH="0" baseline="-3000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r>
              <a:rPr kumimoji="0" lang="en-US" altLang="zh-CN" sz="23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+0.4</a:t>
            </a:r>
            <a:r>
              <a:rPr kumimoji="0" lang="en-US" altLang="zh-CN" sz="2300" b="0" i="1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x</a:t>
            </a:r>
            <a:r>
              <a:rPr kumimoji="0" lang="en-US" altLang="zh-CN" sz="2300" b="0" i="0" u="none" strike="noStrike" cap="none" normalizeH="0" baseline="-3000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</a:t>
            </a:r>
            <a:r>
              <a:rPr kumimoji="0" lang="en-US" altLang="zh-CN" sz="23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</a:t>
            </a:r>
            <a:r>
              <a:rPr kumimoji="0" lang="en-US" altLang="zh-CN" sz="23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1)</a:t>
            </a:r>
            <a:r>
              <a:rPr kumimoji="0" lang="en-US" altLang="zh-CN" sz="23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                   (11-14)</a:t>
            </a:r>
            <a:endParaRPr kumimoji="0" lang="en-US" altLang="zh-CN" sz="23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  <a:sym typeface="Symbol" pitchFamily="18" charset="2"/>
            </a:endParaRPr>
          </a:p>
          <a:p>
            <a:pPr marL="0" marR="0" lvl="0" indent="266700" algn="l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3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  <a:sym typeface="Symbol" pitchFamily="18" charset="2"/>
              </a:rPr>
              <a:t>  该函数的图像（切块）大致</a:t>
            </a:r>
            <a:r>
              <a:rPr kumimoji="0" lang="zh-CN" altLang="en-US" sz="23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如图</a:t>
            </a:r>
            <a:r>
              <a:rPr kumimoji="0" lang="en-US" altLang="zh-CN" sz="23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11-6</a:t>
            </a:r>
            <a:r>
              <a:rPr kumimoji="0" lang="zh-CN" altLang="en-US" sz="23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所</a:t>
            </a:r>
            <a:r>
              <a:rPr kumimoji="0" lang="zh-CN" altLang="en-US" sz="23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  <a:sym typeface="Symbol" pitchFamily="18" charset="2"/>
              </a:rPr>
              <a:t>示。</a:t>
            </a:r>
            <a:endParaRPr kumimoji="0" lang="zh-CN" altLang="en-US" sz="23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Times New Roman" pitchFamily="18" charset="0"/>
              <a:ea typeface="宋体" pitchFamily="2" charset="-122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0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3" name="Rectangle 3"/>
          <p:cNvSpPr>
            <a:spLocks noChangeArrowheads="1"/>
          </p:cNvSpPr>
          <p:nvPr/>
        </p:nvSpPr>
        <p:spPr bwMode="auto">
          <a:xfrm>
            <a:off x="714348" y="500042"/>
            <a:ext cx="7786742" cy="515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    </a:t>
            </a:r>
            <a:r>
              <a:rPr kumimoji="0" lang="zh-CN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由图可以看出，直线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0.8</a:t>
            </a:r>
            <a:r>
              <a:rPr kumimoji="0" lang="en-US" altLang="zh-CN" sz="2400" b="0" i="1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x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+0.4</a:t>
            </a:r>
            <a:r>
              <a:rPr kumimoji="0" lang="en-US" altLang="zh-CN" sz="2400" b="0" i="1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x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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1=0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将</a:t>
            </a:r>
            <a:r>
              <a:rPr kumimoji="0" lang="en-US" altLang="zh-CN" sz="2400" b="0" i="1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x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1</a:t>
            </a:r>
            <a:r>
              <a:rPr kumimoji="0" lang="en-US" altLang="zh-CN" sz="2400" b="0" i="1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-x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2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平面分为两部分，所以，函数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Times New Roman" pitchFamily="18" charset="0"/>
              <a:ea typeface="宋体" pitchFamily="2" charset="-122"/>
              <a:cs typeface="Times New Roman" pitchFamily="18" charset="0"/>
              <a:sym typeface="Symbol" pitchFamily="18" charset="2"/>
            </a:endParaRPr>
          </a:p>
          <a:p>
            <a:pPr lvl="0" indent="266700">
              <a:lnSpc>
                <a:spcPct val="150000"/>
              </a:lnSpc>
            </a:pPr>
            <a:r>
              <a:rPr lang="en-US" altLang="zh-CN" sz="2400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                         g</a:t>
            </a:r>
            <a:r>
              <a:rPr lang="en-US" altLang="zh-CN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altLang="zh-CN" sz="2400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x</a:t>
            </a:r>
            <a:r>
              <a:rPr lang="en-US" altLang="zh-CN" sz="2400" baseline="-30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 </a:t>
            </a:r>
            <a:r>
              <a:rPr lang="en-US" altLang="zh-CN" sz="2400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x</a:t>
            </a:r>
            <a:r>
              <a:rPr lang="en-US" altLang="zh-CN" sz="2400" baseline="-30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)=0.8</a:t>
            </a:r>
            <a:r>
              <a:rPr lang="en-US" altLang="zh-CN" sz="2400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x</a:t>
            </a:r>
            <a:r>
              <a:rPr lang="en-US" altLang="zh-CN" sz="2400" baseline="-30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+0.4</a:t>
            </a:r>
            <a:r>
              <a:rPr lang="en-US" altLang="zh-CN" sz="2400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x</a:t>
            </a:r>
            <a:r>
              <a:rPr lang="en-US" altLang="zh-CN" sz="2400" baseline="-30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</a:t>
            </a:r>
            <a:r>
              <a:rPr lang="en-US" altLang="zh-CN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US" altLang="zh-CN" sz="24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indent="266700"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也就是</a:t>
            </a:r>
            <a:r>
              <a:rPr lang="en-US" sz="2400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CN" alt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平面上点集的一个分类判别函数。于是，阶跃函数</a:t>
            </a:r>
            <a:r>
              <a:rPr lang="en-US" sz="2400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=step(0.8</a:t>
            </a:r>
            <a:r>
              <a:rPr lang="en-US" sz="2400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x</a:t>
            </a:r>
            <a:r>
              <a:rPr lang="en-US" sz="2400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+0.4</a:t>
            </a:r>
            <a:r>
              <a:rPr lang="en-US" sz="2400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x</a:t>
            </a:r>
            <a:r>
              <a:rPr lang="en-US" sz="2400" baseline="-25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</a:t>
            </a:r>
            <a:r>
              <a:rPr 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1)</a:t>
            </a:r>
            <a:r>
              <a:rPr lang="zh-CN" alt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则直接就是一个分类器；而且从效果看，这个分类器还是线性分类器。那么，一般地，函数</a:t>
            </a:r>
            <a:r>
              <a:rPr lang="en-US" sz="2400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=step(</a:t>
            </a:r>
            <a:r>
              <a:rPr lang="en-US" sz="2400" b="1" i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sz="2400" baseline="300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b="1" i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i="1" baseline="-250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) </a:t>
            </a:r>
            <a:r>
              <a:rPr lang="zh-CN" alt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就直接构成一个</a:t>
            </a:r>
            <a:r>
              <a:rPr lang="en-US" sz="2400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zh-CN" alt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维线性分类器。</a:t>
            </a:r>
          </a:p>
          <a:p>
            <a:pPr marL="0" marR="0" lvl="0" indent="1866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1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    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marR="0" lvl="0" indent="1866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4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500042"/>
            <a:ext cx="3707437" cy="2790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704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00430" y="3429000"/>
            <a:ext cx="4968000" cy="3223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动作按钮: 后退或前一项 3">
            <a:hlinkClick r:id="" action="ppaction://hlinkshowjump?jump=firstslide" highlightClick="1"/>
          </p:cNvPr>
          <p:cNvSpPr/>
          <p:nvPr/>
        </p:nvSpPr>
        <p:spPr>
          <a:xfrm>
            <a:off x="428596" y="6286520"/>
            <a:ext cx="720000" cy="144000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684213" y="549274"/>
            <a:ext cx="7920037" cy="5737245"/>
          </a:xfrm>
        </p:spPr>
        <p:txBody>
          <a:bodyPr/>
          <a:lstStyle/>
          <a:p>
            <a:pPr algn="ctr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 </a:t>
            </a:r>
            <a:r>
              <a:rPr lang="en-US" altLang="zh-CN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11.4 BP</a:t>
            </a:r>
            <a:r>
              <a:rPr lang="zh-CN" altLang="en-US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网络及其学习举例</a:t>
            </a:r>
          </a:p>
          <a:p>
            <a:pPr>
              <a:lnSpc>
                <a:spcPct val="120000"/>
              </a:lnSpc>
              <a:spcBef>
                <a:spcPts val="1200"/>
              </a:spcBef>
              <a:buFont typeface="Wingdings" pitchFamily="2" charset="2"/>
              <a:buNone/>
            </a:pPr>
            <a:r>
              <a:rPr lang="zh-CN" altLang="en-US" sz="2400" dirty="0">
                <a:solidFill>
                  <a:srgbClr val="0070C0"/>
                </a:solidFill>
              </a:rPr>
              <a:t>     </a:t>
            </a:r>
            <a:r>
              <a:rPr lang="en-US" altLang="zh-CN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BP(Back-Propagation)</a:t>
            </a:r>
            <a:r>
              <a:rPr lang="zh-CN" alt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网络的特点： </a:t>
            </a:r>
          </a:p>
          <a:p>
            <a:pPr>
              <a:buFont typeface="Wingdings" pitchFamily="2" charset="2"/>
              <a:buNone/>
            </a:pPr>
            <a:r>
              <a:rPr lang="zh-CN" alt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altLang="zh-CN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(1) BP</a:t>
            </a:r>
            <a:r>
              <a:rPr lang="zh-CN" alt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网络的拓扑结构为分层前向（馈）网络。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zh-CN" alt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　 </a:t>
            </a:r>
            <a:r>
              <a:rPr lang="en-US" altLang="zh-CN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(2) </a:t>
            </a:r>
            <a:r>
              <a:rPr lang="zh-CN" alt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神经元的特性函数为</a:t>
            </a:r>
            <a:r>
              <a:rPr lang="en-US" altLang="zh-CN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Sigmoid</a:t>
            </a:r>
            <a:r>
              <a:rPr lang="zh-CN" alt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型</a:t>
            </a:r>
            <a:r>
              <a:rPr lang="en-US" altLang="zh-CN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(S</a:t>
            </a:r>
            <a:r>
              <a:rPr lang="zh-CN" alt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型</a:t>
            </a:r>
            <a:r>
              <a:rPr lang="en-US" altLang="zh-CN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函数</a:t>
            </a:r>
            <a:r>
              <a:rPr lang="en-US" altLang="zh-CN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zh-CN" altLang="en-US" sz="2400" dirty="0">
                <a:solidFill>
                  <a:srgbClr val="0070C0"/>
                </a:solidFill>
                <a:latin typeface="+mn-ea"/>
              </a:rPr>
              <a:t>一般取为</a:t>
            </a:r>
          </a:p>
          <a:p>
            <a:pPr>
              <a:buFont typeface="Wingdings" pitchFamily="2" charset="2"/>
              <a:buNone/>
            </a:pPr>
            <a:br>
              <a:rPr lang="zh-CN" altLang="en-US" sz="2400" dirty="0">
                <a:latin typeface="仿宋_GB2312" charset="-122"/>
                <a:ea typeface="仿宋_GB2312" charset="-122"/>
              </a:rPr>
            </a:br>
            <a:endParaRPr lang="zh-CN" altLang="en-US" sz="2400" dirty="0">
              <a:latin typeface="仿宋_GB2312" charset="-122"/>
              <a:ea typeface="仿宋_GB2312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None/>
            </a:pP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  </a:t>
            </a:r>
            <a:r>
              <a:rPr lang="en-US" altLang="zh-CN" sz="2400" dirty="0">
                <a:solidFill>
                  <a:srgbClr val="0070C0"/>
                </a:solidFill>
                <a:latin typeface="+mn-ea"/>
              </a:rPr>
              <a:t>(3) </a:t>
            </a:r>
            <a:r>
              <a:rPr lang="zh-CN" altLang="en-US" sz="2400" dirty="0">
                <a:solidFill>
                  <a:srgbClr val="0070C0"/>
                </a:solidFill>
                <a:latin typeface="+mn-ea"/>
              </a:rPr>
              <a:t>输入为连续信号量</a:t>
            </a:r>
            <a:r>
              <a:rPr lang="en-US" altLang="zh-CN" sz="2400" dirty="0">
                <a:solidFill>
                  <a:srgbClr val="0070C0"/>
                </a:solidFill>
                <a:latin typeface="+mn-ea"/>
              </a:rPr>
              <a:t>(</a:t>
            </a:r>
            <a:r>
              <a:rPr lang="zh-CN" altLang="en-US" sz="2400" dirty="0">
                <a:solidFill>
                  <a:srgbClr val="0070C0"/>
                </a:solidFill>
                <a:latin typeface="+mn-ea"/>
              </a:rPr>
              <a:t>实数</a:t>
            </a:r>
            <a:r>
              <a:rPr lang="en-US" altLang="zh-CN" sz="2400" dirty="0">
                <a:solidFill>
                  <a:srgbClr val="0070C0"/>
                </a:solidFill>
                <a:latin typeface="+mn-ea"/>
              </a:rPr>
              <a:t>)</a:t>
            </a:r>
            <a:r>
              <a:rPr lang="zh-CN" altLang="en-US" sz="2400" dirty="0">
                <a:solidFill>
                  <a:srgbClr val="0070C0"/>
                </a:solidFill>
                <a:latin typeface="+mn-ea"/>
              </a:rPr>
              <a:t>。</a:t>
            </a:r>
          </a:p>
          <a:p>
            <a:pPr>
              <a:buFont typeface="Wingdings" pitchFamily="2" charset="2"/>
              <a:buNone/>
            </a:pPr>
            <a:r>
              <a:rPr lang="zh-CN" altLang="en-US" sz="2400" dirty="0">
                <a:solidFill>
                  <a:srgbClr val="0070C0"/>
                </a:solidFill>
                <a:latin typeface="+mn-ea"/>
              </a:rPr>
              <a:t>  </a:t>
            </a:r>
            <a:r>
              <a:rPr lang="en-US" altLang="zh-CN" sz="2400" dirty="0">
                <a:solidFill>
                  <a:srgbClr val="0070C0"/>
                </a:solidFill>
                <a:latin typeface="+mn-ea"/>
              </a:rPr>
              <a:t>(4) </a:t>
            </a:r>
            <a:r>
              <a:rPr lang="zh-CN" altLang="en-US" sz="2400" dirty="0">
                <a:solidFill>
                  <a:srgbClr val="0070C0"/>
                </a:solidFill>
                <a:latin typeface="+mn-ea"/>
              </a:rPr>
              <a:t>学习方式为有监督学习。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dirty="0">
                <a:solidFill>
                  <a:srgbClr val="0070C0"/>
                </a:solidFill>
                <a:latin typeface="+mn-ea"/>
              </a:rPr>
              <a:t>  </a:t>
            </a:r>
            <a:r>
              <a:rPr lang="en-US" altLang="zh-CN" sz="2400" dirty="0">
                <a:solidFill>
                  <a:srgbClr val="0070C0"/>
                </a:solidFill>
                <a:latin typeface="+mn-ea"/>
              </a:rPr>
              <a:t>(5) </a:t>
            </a:r>
            <a:r>
              <a:rPr lang="zh-CN" altLang="en-US" sz="2400" dirty="0">
                <a:solidFill>
                  <a:srgbClr val="0070C0"/>
                </a:solidFill>
                <a:latin typeface="+mn-ea"/>
              </a:rPr>
              <a:t>学习算法为推广的</a:t>
            </a:r>
            <a:r>
              <a:rPr lang="en-US" altLang="zh-CN" sz="2400" i="1" dirty="0">
                <a:solidFill>
                  <a:srgbClr val="0070C0"/>
                </a:solidFill>
                <a:latin typeface="+mn-ea"/>
              </a:rPr>
              <a:t>δ</a:t>
            </a:r>
            <a:r>
              <a:rPr lang="zh-CN" altLang="en-US" sz="2400" dirty="0">
                <a:solidFill>
                  <a:srgbClr val="0070C0"/>
                </a:solidFill>
                <a:latin typeface="+mn-ea"/>
              </a:rPr>
              <a:t>学习规则</a:t>
            </a:r>
            <a:r>
              <a:rPr lang="en-US" altLang="zh-CN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zh-CN" altLang="en-US" sz="2400" dirty="0">
                <a:solidFill>
                  <a:srgbClr val="0070C0"/>
                </a:solidFill>
                <a:latin typeface="+mn-ea"/>
              </a:rPr>
              <a:t>称为误差反向传播算法</a:t>
            </a:r>
            <a:r>
              <a:rPr lang="en-US" altLang="zh-CN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zh-CN" altLang="en-US" sz="2400" dirty="0">
                <a:solidFill>
                  <a:srgbClr val="0070C0"/>
                </a:solidFill>
                <a:latin typeface="+mn-ea"/>
              </a:rPr>
              <a:t>简称</a:t>
            </a:r>
            <a:r>
              <a:rPr lang="en-US" altLang="zh-CN" sz="2400" dirty="0">
                <a:solidFill>
                  <a:srgbClr val="0070C0"/>
                </a:solidFill>
                <a:latin typeface="+mn-ea"/>
              </a:rPr>
              <a:t>BP</a:t>
            </a:r>
            <a:r>
              <a:rPr lang="zh-CN" altLang="en-US" sz="2400" dirty="0">
                <a:solidFill>
                  <a:srgbClr val="0070C0"/>
                </a:solidFill>
                <a:latin typeface="+mn-ea"/>
              </a:rPr>
              <a:t>学习算法。 </a:t>
            </a:r>
          </a:p>
        </p:txBody>
      </p:sp>
      <p:graphicFrame>
        <p:nvGraphicFramePr>
          <p:cNvPr id="66568" name="Object 8"/>
          <p:cNvGraphicFramePr>
            <a:graphicFrameLocks noGrp="1" noChangeAspect="1"/>
          </p:cNvGraphicFramePr>
          <p:nvPr>
            <p:ph sz="half" idx="2"/>
          </p:nvPr>
        </p:nvGraphicFramePr>
        <p:xfrm>
          <a:off x="3357554" y="2857496"/>
          <a:ext cx="2643206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914400" imgH="393480" progId="Equation.3">
                  <p:embed/>
                </p:oleObj>
              </mc:Choice>
              <mc:Fallback>
                <p:oleObj name="公式" r:id="rId2" imgW="914400" imgH="3934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7554" y="2857496"/>
                        <a:ext cx="2643206" cy="787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0A2B48D-E3B9-76C7-757C-040628D4A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D18E6D94-965B-3C38-11E4-A2FAE78F1F75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73121727"/>
              </p:ext>
            </p:extLst>
          </p:nvPr>
        </p:nvGraphicFramePr>
        <p:xfrm>
          <a:off x="971600" y="692696"/>
          <a:ext cx="2643206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914400" imgH="393480" progId="Equation.3">
                  <p:embed/>
                </p:oleObj>
              </mc:Choice>
              <mc:Fallback>
                <p:oleObj name="公式" r:id="rId2" imgW="914400" imgH="393480" progId="Equation.3">
                  <p:embed/>
                  <p:pic>
                    <p:nvPicPr>
                      <p:cNvPr id="6656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692696"/>
                        <a:ext cx="2643206" cy="787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9">
            <a:extLst>
              <a:ext uri="{FF2B5EF4-FFF2-40B4-BE49-F238E27FC236}">
                <a16:creationId xmlns:a16="http://schemas.microsoft.com/office/drawing/2014/main" id="{B8CC3BCE-ECE2-A8DB-FAF6-51E4CDE23C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44" y="1638629"/>
            <a:ext cx="4224389" cy="220908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B321C3C-112C-FF0A-B52B-C4E1CDFA064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3976" t="31261"/>
          <a:stretch>
            <a:fillRect/>
          </a:stretch>
        </p:blipFill>
        <p:spPr>
          <a:xfrm>
            <a:off x="950187" y="4149080"/>
            <a:ext cx="3411283" cy="122413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7007EC4-5807-132F-0FFB-F2063C7043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1499" y="2564904"/>
            <a:ext cx="3888432" cy="18002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63D8EA40-5A80-AC5F-D314-E87CFF38EF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552" y="1772816"/>
            <a:ext cx="576064" cy="401499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1837C368-7BEB-ACFF-D2A4-CBFD02B81AA0}"/>
              </a:ext>
            </a:extLst>
          </p:cNvPr>
          <p:cNvSpPr txBox="1"/>
          <p:nvPr/>
        </p:nvSpPr>
        <p:spPr>
          <a:xfrm>
            <a:off x="632760" y="1772816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’</a:t>
            </a:r>
            <a:endParaRPr lang="zh-CN" altLang="en-US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273AF3D-6FE2-7B66-8A8F-57EE9F2F05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7744" y="4885179"/>
            <a:ext cx="479493" cy="33419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6821A781-0E74-5A3F-8BC9-8E2AF60269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8424" y="3094808"/>
            <a:ext cx="479493" cy="334192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2C600022-6969-1D76-06AB-01F8479464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4321" y="3981984"/>
            <a:ext cx="242055" cy="334192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92730D06-876D-5F5E-B627-1C0CE62A85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6456" y="3981984"/>
            <a:ext cx="242055" cy="334192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91237B04-5B29-D9BB-CD97-C9CA06E07D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3560" y="3985842"/>
            <a:ext cx="425764" cy="33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3707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287883" y="357166"/>
            <a:ext cx="8501122" cy="6072230"/>
          </a:xfrm>
        </p:spPr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   </a:t>
            </a:r>
            <a:r>
              <a:rPr lang="en-US" altLang="zh-CN" sz="2400" dirty="0">
                <a:solidFill>
                  <a:srgbClr val="0070C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BP</a:t>
            </a:r>
            <a:r>
              <a:rPr lang="zh-CN" altLang="en-US" sz="2400" dirty="0">
                <a:solidFill>
                  <a:srgbClr val="0070C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学习算法</a:t>
            </a:r>
            <a:r>
              <a:rPr lang="zh-CN" alt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：</a:t>
            </a:r>
            <a:endParaRPr lang="en-US" altLang="zh-CN" sz="24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zh-CN" altLang="en-US" sz="2800" dirty="0"/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800" dirty="0"/>
              <a:t>　</a:t>
            </a:r>
            <a:endParaRPr lang="zh-CN" altLang="en-US" sz="2400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928670"/>
            <a:ext cx="7929617" cy="5000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5AB63E9-F8C4-8515-E5AB-924826EED41E}"/>
                  </a:ext>
                </a:extLst>
              </p:cNvPr>
              <p:cNvSpPr txBox="1"/>
              <p:nvPr/>
            </p:nvSpPr>
            <p:spPr>
              <a:xfrm>
                <a:off x="3275856" y="6156924"/>
                <a:ext cx="54411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m:rPr>
                        <m:sty m:val="p"/>
                      </m:rPr>
                      <a:rPr lang="el-GR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dirty="0"/>
                  <a:t>                                               </a:t>
                </a:r>
                <a:r>
                  <a:rPr lang="en-US" altLang="zh-CN" dirty="0"/>
                  <a:t>(11-17)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5AB63E9-F8C4-8515-E5AB-924826EED4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6156924"/>
                <a:ext cx="5441141" cy="369332"/>
              </a:xfrm>
              <a:prstGeom prst="rect">
                <a:avLst/>
              </a:prstGeom>
              <a:blipFill>
                <a:blip r:embed="rId3"/>
                <a:stretch>
                  <a:fillRect t="-9836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7775101-DC82-B888-1900-9165BC0D47F3}"/>
                  </a:ext>
                </a:extLst>
              </p:cNvPr>
              <p:cNvSpPr txBox="1"/>
              <p:nvPr/>
            </p:nvSpPr>
            <p:spPr>
              <a:xfrm>
                <a:off x="467544" y="404664"/>
                <a:ext cx="35283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输入</a:t>
                </a:r>
                <a:r>
                  <a:rPr lang="zh-CN" altLang="en-US" dirty="0">
                    <a:sym typeface="Wingdings" panose="05000000000000000000" pitchFamily="2" charset="2"/>
                  </a:rPr>
                  <a:t>： 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x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</m:oMath>
                </a14:m>
                <a:r>
                  <a:rPr lang="en-US" altLang="zh-CN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x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zh-CN" altLang="en-US" dirty="0">
                    <a:sym typeface="Wingdings" panose="05000000000000000000" pitchFamily="2" charset="2"/>
                  </a:rPr>
                  <a:t>）</a:t>
                </a:r>
                <a:r>
                  <a:rPr lang="en-US" altLang="zh-CN" dirty="0">
                    <a:sym typeface="Wingdings" panose="05000000000000000000" pitchFamily="2" charset="2"/>
                  </a:rPr>
                  <a:t>= (0.05, 0.10)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7775101-DC82-B888-1900-9165BC0D4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404664"/>
                <a:ext cx="3528392" cy="369332"/>
              </a:xfrm>
              <a:prstGeom prst="rect">
                <a:avLst/>
              </a:prstGeom>
              <a:blipFill>
                <a:blip r:embed="rId3"/>
                <a:stretch>
                  <a:fillRect l="-1554" t="-11475" b="-26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2909251-E2D8-B550-1D38-0B9397420176}"/>
                  </a:ext>
                </a:extLst>
              </p:cNvPr>
              <p:cNvSpPr txBox="1"/>
              <p:nvPr/>
            </p:nvSpPr>
            <p:spPr>
              <a:xfrm>
                <a:off x="3923928" y="419586"/>
                <a:ext cx="35283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sym typeface="Wingdings" panose="05000000000000000000" pitchFamily="2" charset="2"/>
                  </a:rPr>
                  <a:t>权重： 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w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</m:oMath>
                </a14:m>
                <a:r>
                  <a:rPr lang="en-US" altLang="zh-CN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zh-CN" altLang="en-US" dirty="0">
                    <a:sym typeface="Wingdings" panose="05000000000000000000" pitchFamily="2" charset="2"/>
                  </a:rPr>
                  <a:t>）</a:t>
                </a:r>
                <a:r>
                  <a:rPr lang="en-US" altLang="zh-CN" dirty="0">
                    <a:sym typeface="Wingdings" panose="05000000000000000000" pitchFamily="2" charset="2"/>
                  </a:rPr>
                  <a:t>= (0.15, 0.25)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2909251-E2D8-B550-1D38-0B93974201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419586"/>
                <a:ext cx="3528392" cy="369332"/>
              </a:xfrm>
              <a:prstGeom prst="rect">
                <a:avLst/>
              </a:prstGeom>
              <a:blipFill>
                <a:blip r:embed="rId4"/>
                <a:stretch>
                  <a:fillRect l="-1557" t="-13333" b="-2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8164FEE4-C632-CA47-5538-2BD7B8AFE0A5}"/>
              </a:ext>
            </a:extLst>
          </p:cNvPr>
          <p:cNvSpPr txBox="1"/>
          <p:nvPr/>
        </p:nvSpPr>
        <p:spPr>
          <a:xfrm>
            <a:off x="434449" y="905924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ym typeface="Wingdings" panose="05000000000000000000" pitchFamily="2" charset="2"/>
              </a:rPr>
              <a:t>激活函数：</a:t>
            </a:r>
            <a:endParaRPr lang="zh-CN" altLang="en-US" dirty="0"/>
          </a:p>
        </p:txBody>
      </p:sp>
      <p:graphicFrame>
        <p:nvGraphicFramePr>
          <p:cNvPr id="6" name="Object 8">
            <a:extLst>
              <a:ext uri="{FF2B5EF4-FFF2-40B4-BE49-F238E27FC236}">
                <a16:creationId xmlns:a16="http://schemas.microsoft.com/office/drawing/2014/main" id="{1050649C-60A4-D966-6749-95B7AA1399BE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21496142"/>
              </p:ext>
            </p:extLst>
          </p:nvPr>
        </p:nvGraphicFramePr>
        <p:xfrm>
          <a:off x="1691680" y="876081"/>
          <a:ext cx="1440160" cy="429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914400" imgH="393480" progId="Equation.3">
                  <p:embed/>
                </p:oleObj>
              </mc:Choice>
              <mc:Fallback>
                <p:oleObj name="公式" r:id="rId5" imgW="914400" imgH="393480" progId="Equation.3">
                  <p:embed/>
                  <p:pic>
                    <p:nvPicPr>
                      <p:cNvPr id="8" name="Object 8">
                        <a:extLst>
                          <a:ext uri="{FF2B5EF4-FFF2-40B4-BE49-F238E27FC236}">
                            <a16:creationId xmlns:a16="http://schemas.microsoft.com/office/drawing/2014/main" id="{D18E6D94-965B-3C38-11E4-A2FAE78F1F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876081"/>
                        <a:ext cx="1440160" cy="42901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69DF7B30-21F8-F362-AE10-7161980C2250}"/>
              </a:ext>
            </a:extLst>
          </p:cNvPr>
          <p:cNvSpPr txBox="1"/>
          <p:nvPr/>
        </p:nvSpPr>
        <p:spPr>
          <a:xfrm>
            <a:off x="3923928" y="970644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ym typeface="Wingdings" panose="05000000000000000000" pitchFamily="2" charset="2"/>
              </a:rPr>
              <a:t>真值标签：</a:t>
            </a:r>
            <a:r>
              <a:rPr lang="en-US" altLang="zh-CN" dirty="0">
                <a:sym typeface="Wingdings" panose="05000000000000000000" pitchFamily="2" charset="2"/>
              </a:rPr>
              <a:t>t=0.01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CFDCFA1-DBB6-3702-BD9A-C20974DF36F7}"/>
              </a:ext>
            </a:extLst>
          </p:cNvPr>
          <p:cNvSpPr txBox="1"/>
          <p:nvPr/>
        </p:nvSpPr>
        <p:spPr>
          <a:xfrm>
            <a:off x="6444208" y="942139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ym typeface="Wingdings" panose="05000000000000000000" pitchFamily="2" charset="2"/>
              </a:rPr>
              <a:t>学习率：</a:t>
            </a:r>
            <a:r>
              <a:rPr lang="en-US" altLang="zh-CN" dirty="0">
                <a:sym typeface="Wingdings" panose="05000000000000000000" pitchFamily="2" charset="2"/>
              </a:rPr>
              <a:t>0.5</a:t>
            </a:r>
            <a:endParaRPr lang="zh-CN" altLang="en-US" dirty="0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7401E45-EA9E-DA3A-9B43-660B1D71FD6C}"/>
              </a:ext>
            </a:extLst>
          </p:cNvPr>
          <p:cNvGrpSpPr/>
          <p:nvPr/>
        </p:nvGrpSpPr>
        <p:grpSpPr>
          <a:xfrm>
            <a:off x="5816248" y="1864751"/>
            <a:ext cx="2890618" cy="1105630"/>
            <a:chOff x="6124147" y="1493197"/>
            <a:chExt cx="2890618" cy="11056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D422BE47-161D-4246-85D5-427A31BAB359}"/>
                    </a:ext>
                  </a:extLst>
                </p:cNvPr>
                <p:cNvSpPr txBox="1"/>
                <p:nvPr/>
              </p:nvSpPr>
              <p:spPr>
                <a:xfrm>
                  <a:off x="7425805" y="1548707"/>
                  <a:ext cx="53945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w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D422BE47-161D-4246-85D5-427A31BAB3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5805" y="1548707"/>
                  <a:ext cx="539459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55C9A0C7-33B9-26B4-A5F8-92CC1E193E77}"/>
                </a:ext>
              </a:extLst>
            </p:cNvPr>
            <p:cNvGrpSpPr/>
            <p:nvPr/>
          </p:nvGrpSpPr>
          <p:grpSpPr>
            <a:xfrm>
              <a:off x="6124147" y="1493197"/>
              <a:ext cx="2890618" cy="1105630"/>
              <a:chOff x="4156708" y="1570904"/>
              <a:chExt cx="2890618" cy="1105630"/>
            </a:xfrm>
          </p:grpSpPr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71B23E1A-8083-9F96-4A87-B81935EA0790}"/>
                  </a:ext>
                </a:extLst>
              </p:cNvPr>
              <p:cNvSpPr/>
              <p:nvPr/>
            </p:nvSpPr>
            <p:spPr>
              <a:xfrm>
                <a:off x="5076056" y="1628800"/>
                <a:ext cx="360040" cy="28803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73D4FB63-D0F0-0692-08AE-E7082D678C58}"/>
                  </a:ext>
                </a:extLst>
              </p:cNvPr>
              <p:cNvSpPr/>
              <p:nvPr/>
            </p:nvSpPr>
            <p:spPr>
              <a:xfrm>
                <a:off x="5082241" y="2358056"/>
                <a:ext cx="360040" cy="28803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983F4464-D7EC-4409-8763-C3766F921759}"/>
                  </a:ext>
                </a:extLst>
              </p:cNvPr>
              <p:cNvSpPr/>
              <p:nvPr/>
            </p:nvSpPr>
            <p:spPr>
              <a:xfrm>
                <a:off x="5796136" y="2010196"/>
                <a:ext cx="360040" cy="28803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E6419627-ECB3-5C3E-ED8A-817DE3B46B50}"/>
                  </a:ext>
                </a:extLst>
              </p:cNvPr>
              <p:cNvCxnSpPr>
                <a:stCxn id="11" idx="6"/>
                <a:endCxn id="13" idx="2"/>
              </p:cNvCxnSpPr>
              <p:nvPr/>
            </p:nvCxnSpPr>
            <p:spPr>
              <a:xfrm>
                <a:off x="5436096" y="1772816"/>
                <a:ext cx="360040" cy="381396"/>
              </a:xfrm>
              <a:prstGeom prst="line">
                <a:avLst/>
              </a:prstGeom>
              <a:ln w="2857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3F188975-F710-55D7-FD8D-8CB8C42AF875}"/>
                  </a:ext>
                </a:extLst>
              </p:cNvPr>
              <p:cNvCxnSpPr>
                <a:cxnSpLocks/>
                <a:stCxn id="12" idx="6"/>
                <a:endCxn id="13" idx="2"/>
              </p:cNvCxnSpPr>
              <p:nvPr/>
            </p:nvCxnSpPr>
            <p:spPr>
              <a:xfrm flipV="1">
                <a:off x="5442281" y="2154212"/>
                <a:ext cx="353855" cy="347860"/>
              </a:xfrm>
              <a:prstGeom prst="line">
                <a:avLst/>
              </a:prstGeom>
              <a:ln w="2857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文本框 20">
                    <a:extLst>
                      <a:ext uri="{FF2B5EF4-FFF2-40B4-BE49-F238E27FC236}">
                        <a16:creationId xmlns:a16="http://schemas.microsoft.com/office/drawing/2014/main" id="{22B559EB-7C9F-928D-94E3-F16B8A776178}"/>
                      </a:ext>
                    </a:extLst>
                  </p:cNvPr>
                  <p:cNvSpPr txBox="1"/>
                  <p:nvPr/>
                </p:nvSpPr>
                <p:spPr>
                  <a:xfrm>
                    <a:off x="5436096" y="2275010"/>
                    <a:ext cx="584001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1" name="文本框 20">
                    <a:extLst>
                      <a:ext uri="{FF2B5EF4-FFF2-40B4-BE49-F238E27FC236}">
                        <a16:creationId xmlns:a16="http://schemas.microsoft.com/office/drawing/2014/main" id="{22B559EB-7C9F-928D-94E3-F16B8A77617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36096" y="2275010"/>
                    <a:ext cx="584001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6B12B852-3C45-905C-D7DD-9D86CE17EA43}"/>
                  </a:ext>
                </a:extLst>
              </p:cNvPr>
              <p:cNvSpPr txBox="1"/>
              <p:nvPr/>
            </p:nvSpPr>
            <p:spPr>
              <a:xfrm>
                <a:off x="6147535" y="1962640"/>
                <a:ext cx="89979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sym typeface="Wingdings" panose="05000000000000000000" pitchFamily="2" charset="2"/>
                  </a:rPr>
                  <a:t>t=0.01</a:t>
                </a:r>
                <a:endParaRPr lang="zh-CN" alt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F3236119-D504-306A-33E2-30424E464885}"/>
                      </a:ext>
                    </a:extLst>
                  </p:cNvPr>
                  <p:cNvSpPr txBox="1"/>
                  <p:nvPr/>
                </p:nvSpPr>
                <p:spPr>
                  <a:xfrm>
                    <a:off x="4156708" y="1570904"/>
                    <a:ext cx="1176971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</m:sSub>
                      </m:oMath>
                    </a14:m>
                    <a:r>
                      <a:rPr lang="en-US" altLang="zh-CN" dirty="0"/>
                      <a:t>=0.05</a:t>
                    </a:r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F3236119-D504-306A-33E2-30424E4648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56708" y="1570904"/>
                    <a:ext cx="1176971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t="-9836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文本框 25">
                    <a:extLst>
                      <a:ext uri="{FF2B5EF4-FFF2-40B4-BE49-F238E27FC236}">
                        <a16:creationId xmlns:a16="http://schemas.microsoft.com/office/drawing/2014/main" id="{508709CB-4F7F-A8E2-ABAE-547C9515F8FE}"/>
                      </a:ext>
                    </a:extLst>
                  </p:cNvPr>
                  <p:cNvSpPr txBox="1"/>
                  <p:nvPr/>
                </p:nvSpPr>
                <p:spPr>
                  <a:xfrm>
                    <a:off x="4177488" y="2307202"/>
                    <a:ext cx="1176971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</m:oMath>
                    </a14:m>
                    <a:r>
                      <a:rPr lang="en-US" altLang="zh-CN" dirty="0"/>
                      <a:t>=0.10</a:t>
                    </a:r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6" name="文本框 25">
                    <a:extLst>
                      <a:ext uri="{FF2B5EF4-FFF2-40B4-BE49-F238E27FC236}">
                        <a16:creationId xmlns:a16="http://schemas.microsoft.com/office/drawing/2014/main" id="{508709CB-4F7F-A8E2-ABAE-547C9515F8F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77488" y="2307202"/>
                    <a:ext cx="1176971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t="-1000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7CCDB53D-211E-EEAD-C4A8-7EC722DBDF5F}"/>
                  </a:ext>
                </a:extLst>
              </p:cNvPr>
              <p:cNvSpPr txBox="1"/>
              <p:nvPr/>
            </p:nvSpPr>
            <p:spPr>
              <a:xfrm>
                <a:off x="437134" y="1501052"/>
                <a:ext cx="2478681" cy="483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损失函数：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7CCDB53D-211E-EEAD-C4A8-7EC722DBD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134" y="1501052"/>
                <a:ext cx="2478681" cy="483466"/>
              </a:xfrm>
              <a:prstGeom prst="rect">
                <a:avLst/>
              </a:prstGeom>
              <a:blipFill>
                <a:blip r:embed="rId11"/>
                <a:stretch>
                  <a:fillRect l="-2217" b="-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75280B58-5FAC-D754-14DE-9D4A0E5FA29A}"/>
                  </a:ext>
                </a:extLst>
              </p:cNvPr>
              <p:cNvSpPr txBox="1"/>
              <p:nvPr/>
            </p:nvSpPr>
            <p:spPr>
              <a:xfrm>
                <a:off x="1362027" y="2666755"/>
                <a:ext cx="3308021" cy="9466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=0.0325</m:t>
                      </m:r>
                    </m:oMath>
                  </m:oMathPara>
                </a14:m>
                <a:endParaRPr lang="en-US" altLang="zh-CN" b="0" dirty="0"/>
              </a:p>
              <a:p>
                <a:endParaRPr lang="en-US" altLang="zh-CN" b="0" dirty="0"/>
              </a:p>
              <a:p>
                <a:r>
                  <a:rPr lang="en-US" altLang="zh-CN" dirty="0"/>
                  <a:t> y = f(z)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dirty="0"/>
                  <a:t> 0.5081</a:t>
                </a:r>
                <a:endParaRPr lang="zh-CN" altLang="en-US" dirty="0"/>
              </a:p>
            </p:txBody>
          </p:sp>
        </mc:Choice>
        <mc:Fallback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75280B58-5FAC-D754-14DE-9D4A0E5FA2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2027" y="2666755"/>
                <a:ext cx="3308021" cy="946606"/>
              </a:xfrm>
              <a:prstGeom prst="rect">
                <a:avLst/>
              </a:prstGeom>
              <a:blipFill>
                <a:blip r:embed="rId12"/>
                <a:stretch>
                  <a:fillRect l="-2394"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378024D6-60F6-9DA0-FCDC-6C36D97A5B23}"/>
                  </a:ext>
                </a:extLst>
              </p:cNvPr>
              <p:cNvSpPr txBox="1"/>
              <p:nvPr/>
            </p:nvSpPr>
            <p:spPr>
              <a:xfrm>
                <a:off x="539552" y="2132856"/>
                <a:ext cx="28083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solidFill>
                      <a:schemeClr val="tx2"/>
                    </a:solidFill>
                  </a:rPr>
                  <a:t>请更新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tx2"/>
                    </a:solidFill>
                  </a:rPr>
                  <a:t>：</a:t>
                </a: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378024D6-60F6-9DA0-FCDC-6C36D97A5B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132856"/>
                <a:ext cx="2808312" cy="369332"/>
              </a:xfrm>
              <a:prstGeom prst="rect">
                <a:avLst/>
              </a:prstGeom>
              <a:blipFill>
                <a:blip r:embed="rId13"/>
                <a:stretch>
                  <a:fillRect l="-1957" t="-13333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文本框 31">
            <a:extLst>
              <a:ext uri="{FF2B5EF4-FFF2-40B4-BE49-F238E27FC236}">
                <a16:creationId xmlns:a16="http://schemas.microsoft.com/office/drawing/2014/main" id="{1792C83C-48BE-7671-A354-BC7A34881F73}"/>
              </a:ext>
            </a:extLst>
          </p:cNvPr>
          <p:cNvSpPr txBox="1"/>
          <p:nvPr/>
        </p:nvSpPr>
        <p:spPr>
          <a:xfrm>
            <a:off x="467544" y="2636912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隐状态：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FEBDDAE-34F7-F836-D12F-02381FC04AA1}"/>
              </a:ext>
            </a:extLst>
          </p:cNvPr>
          <p:cNvSpPr txBox="1"/>
          <p:nvPr/>
        </p:nvSpPr>
        <p:spPr>
          <a:xfrm>
            <a:off x="467544" y="3147705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预测值：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586FFCFA-55FD-D236-F78D-7EC41F81AD07}"/>
                  </a:ext>
                </a:extLst>
              </p:cNvPr>
              <p:cNvSpPr txBox="1"/>
              <p:nvPr/>
            </p:nvSpPr>
            <p:spPr>
              <a:xfrm>
                <a:off x="467543" y="3644301"/>
                <a:ext cx="3096345" cy="483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损失：</a:t>
                </a:r>
                <a:r>
                  <a:rPr lang="en-US" altLang="zh-CN" dirty="0"/>
                  <a:t> E=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=0.12</a:t>
                </a:r>
                <a:endParaRPr lang="zh-CN" altLang="en-US" dirty="0"/>
              </a:p>
            </p:txBody>
          </p:sp>
        </mc:Choice>
        <mc:Fallback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586FFCFA-55FD-D236-F78D-7EC41F81A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3" y="3644301"/>
                <a:ext cx="3096345" cy="483466"/>
              </a:xfrm>
              <a:prstGeom prst="rect">
                <a:avLst/>
              </a:prstGeom>
              <a:blipFill>
                <a:blip r:embed="rId14"/>
                <a:stretch>
                  <a:fillRect l="-1772" b="-75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40BCBDF-2FCD-04DD-5EF0-CB2B9BC75EDA}"/>
                  </a:ext>
                </a:extLst>
              </p:cNvPr>
              <p:cNvSpPr txBox="1"/>
              <p:nvPr/>
            </p:nvSpPr>
            <p:spPr>
              <a:xfrm>
                <a:off x="-684584" y="4333023"/>
                <a:ext cx="6048672" cy="25621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（"/>
                          <m:endChr m:val="）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                           </a:t>
                </a:r>
                <a:r>
                  <a:rPr lang="en-US" altLang="zh-CN" dirty="0"/>
                  <a:t>   = </a:t>
                </a:r>
                <a14:m>
                  <m:oMath xmlns:m="http://schemas.openxmlformats.org/officeDocument/2006/math">
                    <m:d>
                      <m:dPr>
                        <m:begChr m:val="（"/>
                        <m:endChr m:val="）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z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r>
                  <a:rPr lang="en-US" altLang="zh-CN" dirty="0"/>
                  <a:t>                              =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z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dirty="0"/>
              </a:p>
              <a:p>
                <a:r>
                  <a:rPr lang="zh-CN" altLang="en-US" dirty="0"/>
                  <a:t>                              </a:t>
                </a:r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𝑧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b="0" dirty="0"/>
              </a:p>
              <a:p>
                <a:r>
                  <a:rPr lang="zh-CN" altLang="en-US" dirty="0"/>
                  <a:t>                              </a:t>
                </a:r>
                <a:r>
                  <a:rPr lang="en-US" altLang="zh-CN" dirty="0"/>
                  <a:t>=  (0.5081-0.01)(0.0325(1-0.0325))0.05</a:t>
                </a:r>
              </a:p>
              <a:p>
                <a:r>
                  <a:rPr lang="en-US" altLang="zh-CN" dirty="0"/>
                  <a:t>                              = 0.0007831</a:t>
                </a:r>
              </a:p>
              <a:p>
                <a:endParaRPr lang="en-US" altLang="zh-CN" dirty="0"/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40BCBDF-2FCD-04DD-5EF0-CB2B9BC75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84584" y="4333023"/>
                <a:ext cx="6048672" cy="256211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178663A-D62B-F449-684F-5AE02C027E92}"/>
                  </a:ext>
                </a:extLst>
              </p:cNvPr>
              <p:cNvSpPr txBox="1"/>
              <p:nvPr/>
            </p:nvSpPr>
            <p:spPr>
              <a:xfrm>
                <a:off x="5998583" y="4629292"/>
                <a:ext cx="2605069" cy="1086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𝜂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=0.15−0.5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0.0007831= 0.1496 </a:t>
                </a:r>
                <a:endParaRPr lang="zh-CN" altLang="en-US" dirty="0"/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178663A-D62B-F449-684F-5AE02C027E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8583" y="4629292"/>
                <a:ext cx="2605069" cy="1086388"/>
              </a:xfrm>
              <a:prstGeom prst="rect">
                <a:avLst/>
              </a:prstGeom>
              <a:blipFill>
                <a:blip r:embed="rId16"/>
                <a:stretch>
                  <a:fillRect l="-1874" b="-78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箭头: 右 13">
            <a:extLst>
              <a:ext uri="{FF2B5EF4-FFF2-40B4-BE49-F238E27FC236}">
                <a16:creationId xmlns:a16="http://schemas.microsoft.com/office/drawing/2014/main" id="{D3B6B6E5-469A-1E55-AE11-41F7656A1083}"/>
              </a:ext>
            </a:extLst>
          </p:cNvPr>
          <p:cNvSpPr/>
          <p:nvPr/>
        </p:nvSpPr>
        <p:spPr>
          <a:xfrm>
            <a:off x="5220072" y="4725144"/>
            <a:ext cx="360040" cy="12241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60215" y="405220"/>
            <a:ext cx="8229600" cy="5666986"/>
          </a:xfrm>
        </p:spPr>
        <p:txBody>
          <a:bodyPr/>
          <a:lstStyle/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                </a:t>
            </a:r>
            <a:r>
              <a:rPr lang="en-US" altLang="zh-CN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11.5 </a:t>
            </a:r>
            <a:r>
              <a:rPr lang="zh-CN" altLang="en-US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深度学习</a:t>
            </a:r>
          </a:p>
          <a:p>
            <a:pPr>
              <a:buNone/>
            </a:pPr>
            <a:r>
              <a:rPr lang="en-US" sz="24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   11.5.1 </a:t>
            </a:r>
            <a:r>
              <a:rPr lang="zh-CN" altLang="en-US" sz="24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什么是深度学习</a:t>
            </a:r>
            <a:endParaRPr lang="en-US" altLang="zh-CN" sz="2400" dirty="0">
              <a:solidFill>
                <a:srgbClr val="0070C0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zh-CN" altLang="en-US" sz="2400" dirty="0">
                <a:solidFill>
                  <a:srgbClr val="0070C0"/>
                </a:solidFill>
              </a:rPr>
              <a:t>          深度学习（</a:t>
            </a:r>
            <a:r>
              <a:rPr lang="en-US" sz="2400" dirty="0">
                <a:solidFill>
                  <a:srgbClr val="0070C0"/>
                </a:solidFill>
              </a:rPr>
              <a:t>Deep Learning, DL</a:t>
            </a:r>
            <a:r>
              <a:rPr lang="zh-CN" altLang="en-US" sz="2400" dirty="0">
                <a:solidFill>
                  <a:srgbClr val="0070C0"/>
                </a:solidFill>
              </a:rPr>
              <a:t>），简单来讲，就是基于深度神经网络的神经网络学习或者说机器学习。这里的深度神经网络，一般地讲，就是含有多个隐层的前向（前馈）神经网络，其隐层个数依具体问题可以是数个、数十个、数百个甚至数千个。不过，更准确地说，深度神经网络的一个隐层可能是一行神经元，也可能是一行由神经元排列而成的矩阵，甚至是一行网络模块，而且各层神经元之间并非必须是全连接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7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57200" y="571480"/>
            <a:ext cx="8229600" cy="5857916"/>
          </a:xfrm>
        </p:spPr>
        <p:txBody>
          <a:bodyPr/>
          <a:lstStyle/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800" dirty="0">
                <a:latin typeface="黑体" pitchFamily="49" charset="-122"/>
                <a:ea typeface="黑体" pitchFamily="49" charset="-122"/>
              </a:rPr>
              <a:t> 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  <p:pic>
        <p:nvPicPr>
          <p:cNvPr id="100354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1142984"/>
            <a:ext cx="9144000" cy="371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378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357158" y="714356"/>
            <a:ext cx="8385190" cy="4786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714348" y="571480"/>
            <a:ext cx="7715304" cy="585791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70C0"/>
                </a:solidFill>
                <a:latin typeface="+mn-ea"/>
              </a:rPr>
              <a:t>深度学习的优异效绩主要归功于以下两点</a:t>
            </a:r>
            <a:r>
              <a:rPr lang="zh-CN" altLang="en-US" sz="2400" dirty="0">
                <a:solidFill>
                  <a:srgbClr val="0070C0"/>
                </a:solidFill>
                <a:latin typeface="+mn-ea"/>
              </a:rPr>
              <a:t>：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rgbClr val="0070C0"/>
                </a:solidFill>
                <a:latin typeface="+mn-ea"/>
              </a:rPr>
              <a:t>其一：深度网络有自动特征发现（</a:t>
            </a:r>
            <a:r>
              <a:rPr 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Automating feature discovery</a:t>
            </a:r>
            <a:r>
              <a:rPr lang="zh-CN" altLang="en-US" sz="2400" dirty="0">
                <a:solidFill>
                  <a:srgbClr val="0070C0"/>
                </a:solidFill>
                <a:latin typeface="+mn-ea"/>
              </a:rPr>
              <a:t>）的潜质和特性。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rgbClr val="0070C0"/>
                </a:solidFill>
                <a:latin typeface="+mn-ea"/>
              </a:rPr>
              <a:t>其二：深度学习所采用的“逐层训练，多级学习（抽象）（</a:t>
            </a:r>
            <a:r>
              <a:rPr 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learning multiple levels of representation</a:t>
            </a:r>
            <a:r>
              <a:rPr lang="zh-CN" altLang="en-US" sz="2400" dirty="0">
                <a:solidFill>
                  <a:srgbClr val="0070C0"/>
                </a:solidFill>
                <a:latin typeface="+mn-ea"/>
              </a:rPr>
              <a:t>）”等技术技巧。</a:t>
            </a: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endParaRPr lang="zh-CN" altLang="en-US" sz="24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7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57200" y="500042"/>
            <a:ext cx="8229600" cy="5572164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黑体" pitchFamily="49" charset="-122"/>
                <a:ea typeface="黑体" pitchFamily="49" charset="-122"/>
              </a:rPr>
              <a:t>         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02402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0" y="214270"/>
            <a:ext cx="8001024" cy="6685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32505" y="500042"/>
            <a:ext cx="8229600" cy="5929354"/>
          </a:xfrm>
        </p:spPr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US" sz="24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   11.5.2 </a:t>
            </a:r>
            <a:r>
              <a:rPr lang="zh-CN" altLang="en-US" sz="24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深度学习的优势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rgbClr val="0070C0"/>
                </a:solidFill>
              </a:rPr>
              <a:t>           除了学习效果优异外，深度学习的优势和吸引力还在于需要较少的人工干预。事实上，采用深度学习，不需要手工制作正确的特征或合适的基函数（</a:t>
            </a:r>
            <a:r>
              <a:rPr lang="en-US" sz="2400" dirty="0">
                <a:solidFill>
                  <a:srgbClr val="0070C0"/>
                </a:solidFill>
              </a:rPr>
              <a:t>Basis function</a:t>
            </a:r>
            <a:r>
              <a:rPr lang="zh-CN" altLang="en-US" sz="2400" dirty="0">
                <a:solidFill>
                  <a:srgbClr val="0070C0"/>
                </a:solidFill>
              </a:rPr>
              <a:t>），也不必担心网络结构。一旦有充足的数据和足够强大的计算能力，就只需等待，让学习算法独自发现所需要的一切。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7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26" name="Picture 2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2071670" y="285728"/>
            <a:ext cx="4788000" cy="6072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57200" y="412586"/>
            <a:ext cx="8043890" cy="5945372"/>
          </a:xfrm>
        </p:spPr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US" sz="26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  11.5.3 </a:t>
            </a:r>
            <a:r>
              <a:rPr lang="zh-CN" altLang="en-US" sz="26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深度学习的发展和扩展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  <a:buNone/>
            </a:pPr>
            <a:r>
              <a:rPr lang="zh-CN" altLang="en-US" sz="2300" dirty="0"/>
              <a:t> </a:t>
            </a:r>
            <a:r>
              <a:rPr lang="zh-CN" altLang="en-US" sz="2300" dirty="0">
                <a:solidFill>
                  <a:srgbClr val="FF0000"/>
                </a:solidFill>
                <a:sym typeface="Symbol"/>
              </a:rPr>
              <a:t> </a:t>
            </a:r>
            <a:r>
              <a:rPr lang="zh-CN" altLang="en-US" sz="2300" dirty="0">
                <a:solidFill>
                  <a:srgbClr val="0070C0"/>
                </a:solidFill>
              </a:rPr>
              <a:t>深度置信网络和深度卷积网络</a:t>
            </a:r>
            <a:r>
              <a:rPr lang="zh-CN" altLang="en-US" sz="23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sz="23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CNN</a:t>
            </a:r>
            <a:r>
              <a:rPr lang="zh-CN" altLang="en-US" sz="23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）。</a:t>
            </a:r>
            <a:endParaRPr lang="en-US" altLang="zh-CN" sz="2300" dirty="0">
              <a:solidFill>
                <a:srgbClr val="0070C0"/>
              </a:solidFill>
            </a:endParaRPr>
          </a:p>
          <a:p>
            <a:pPr algn="just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2300" dirty="0">
                <a:solidFill>
                  <a:srgbClr val="FF0000"/>
                </a:solidFill>
                <a:sym typeface="Symbol"/>
              </a:rPr>
              <a:t> </a:t>
            </a:r>
            <a:r>
              <a:rPr lang="zh-CN" altLang="en-US" sz="2300" dirty="0">
                <a:solidFill>
                  <a:srgbClr val="0070C0"/>
                </a:solidFill>
              </a:rPr>
              <a:t>深度堆栈自编码网络、深度反卷积网络、深度复卷积网络、稀疏深度网络、深度循环和递归网络、深度生成网络等。</a:t>
            </a:r>
            <a:endParaRPr lang="en-US" altLang="zh-CN" sz="2300" dirty="0">
              <a:solidFill>
                <a:srgbClr val="0070C0"/>
              </a:solidFill>
            </a:endParaRPr>
          </a:p>
          <a:p>
            <a:pPr algn="just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2300" dirty="0">
                <a:solidFill>
                  <a:srgbClr val="FF0000"/>
                </a:solidFill>
                <a:sym typeface="Symbol"/>
              </a:rPr>
              <a:t>  </a:t>
            </a:r>
            <a:r>
              <a:rPr lang="zh-CN" altLang="en-US" sz="2300" dirty="0">
                <a:solidFill>
                  <a:srgbClr val="0070C0"/>
                </a:solidFill>
              </a:rPr>
              <a:t>深度融合网络、深度贝叶斯网络等。</a:t>
            </a:r>
            <a:endParaRPr lang="en-US" altLang="zh-CN" sz="2300" dirty="0">
              <a:solidFill>
                <a:srgbClr val="0070C0"/>
              </a:solidFill>
            </a:endParaRPr>
          </a:p>
          <a:p>
            <a:pPr algn="just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2300" dirty="0">
                <a:solidFill>
                  <a:srgbClr val="0070C0"/>
                </a:solidFill>
              </a:rPr>
              <a:t> </a:t>
            </a:r>
            <a:r>
              <a:rPr lang="zh-CN" altLang="en-US" sz="2300" dirty="0">
                <a:solidFill>
                  <a:srgbClr val="FF0000"/>
                </a:solidFill>
                <a:sym typeface="Symbol"/>
              </a:rPr>
              <a:t></a:t>
            </a:r>
            <a:r>
              <a:rPr lang="zh-CN" altLang="en-US" sz="2300" dirty="0">
                <a:solidFill>
                  <a:srgbClr val="0070C0"/>
                </a:solidFill>
              </a:rPr>
              <a:t>深度循环网络</a:t>
            </a:r>
            <a:r>
              <a:rPr lang="zh-CN" altLang="en-US" sz="23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sz="23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Recurrent Neural Network</a:t>
            </a:r>
            <a:r>
              <a:rPr lang="zh-CN" altLang="en-US" sz="23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sz="23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RNN</a:t>
            </a:r>
            <a:r>
              <a:rPr lang="zh-CN" altLang="en-US" sz="23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）</a:t>
            </a:r>
            <a:r>
              <a:rPr lang="zh-CN" altLang="en-US" sz="2300" dirty="0">
                <a:solidFill>
                  <a:srgbClr val="0070C0"/>
                </a:solidFill>
              </a:rPr>
              <a:t>和递归网络</a:t>
            </a:r>
            <a:r>
              <a:rPr lang="zh-CN" altLang="en-US" sz="23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sz="23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Recursive Neural Network</a:t>
            </a:r>
            <a:r>
              <a:rPr lang="zh-CN" altLang="en-US" sz="23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sz="23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RNN</a:t>
            </a:r>
            <a:r>
              <a:rPr lang="zh-CN" altLang="en-US" sz="23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） </a:t>
            </a:r>
            <a:r>
              <a:rPr lang="zh-CN" altLang="en-US" sz="2300" dirty="0">
                <a:solidFill>
                  <a:srgbClr val="0070C0"/>
                </a:solidFill>
              </a:rPr>
              <a:t>，使深度学习的“深度”从原来的空间（网络结构）概念扩展到时间（序列）概念。</a:t>
            </a:r>
            <a:endParaRPr lang="en-US" altLang="zh-CN" sz="2300" dirty="0">
              <a:solidFill>
                <a:srgbClr val="0070C0"/>
              </a:solidFill>
            </a:endParaRPr>
          </a:p>
          <a:p>
            <a:pPr algn="just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2300" dirty="0">
                <a:solidFill>
                  <a:srgbClr val="FF0000"/>
                </a:solidFill>
                <a:sym typeface="Symbol"/>
              </a:rPr>
              <a:t> </a:t>
            </a:r>
            <a:r>
              <a:rPr lang="zh-CN" altLang="en-US" sz="23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长短期记忆网络（</a:t>
            </a:r>
            <a:r>
              <a:rPr lang="en-US" sz="23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Long Short Term Memory</a:t>
            </a:r>
            <a:r>
              <a:rPr lang="zh-CN" altLang="en-US" sz="23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sz="23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LSTM</a:t>
            </a:r>
            <a:r>
              <a:rPr lang="zh-CN" altLang="en-US" sz="23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）。</a:t>
            </a:r>
            <a:endParaRPr lang="en-US" altLang="zh-CN" sz="23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2300" dirty="0">
                <a:solidFill>
                  <a:srgbClr val="FF0000"/>
                </a:solidFill>
                <a:sym typeface="Symbol"/>
              </a:rPr>
              <a:t> </a:t>
            </a:r>
            <a:r>
              <a:rPr lang="zh-CN" altLang="en-US" sz="23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生成对抗网络（</a:t>
            </a:r>
            <a:r>
              <a:rPr lang="en-US" sz="23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Generative Adversarial Network, GAN</a:t>
            </a:r>
            <a:r>
              <a:rPr lang="zh-CN" altLang="en-US" sz="23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）。</a:t>
            </a:r>
            <a:endParaRPr lang="zh-CN" altLang="en-US" sz="23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7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7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7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7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7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7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7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57200" y="513897"/>
            <a:ext cx="8115328" cy="5929354"/>
          </a:xfrm>
        </p:spPr>
        <p:txBody>
          <a:bodyPr/>
          <a:lstStyle/>
          <a:p>
            <a:pPr>
              <a:buNone/>
            </a:pPr>
            <a:r>
              <a:rPr lang="en-US" sz="2800" dirty="0">
                <a:latin typeface="黑体" pitchFamily="49" charset="-122"/>
                <a:ea typeface="黑体" pitchFamily="49" charset="-122"/>
              </a:rPr>
              <a:t>  </a:t>
            </a:r>
            <a:r>
              <a:rPr lang="en-US" sz="26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11.5.4 </a:t>
            </a:r>
            <a:r>
              <a:rPr lang="zh-CN" altLang="en-US" sz="26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深度学习框架与平台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dirty="0"/>
              <a:t>         </a:t>
            </a:r>
            <a:r>
              <a:rPr lang="zh-CN" altLang="en-US" sz="2400" dirty="0">
                <a:solidFill>
                  <a:srgbClr val="0070C0"/>
                </a:solidFill>
              </a:rPr>
              <a:t>为了简化编程，提高编程效率，现在网上已经出现了一批支持深度学习编程的框架与平台，其中开源的有</a:t>
            </a:r>
            <a:r>
              <a:rPr lang="en-US" sz="2400" dirty="0" err="1">
                <a:solidFill>
                  <a:srgbClr val="0070C0"/>
                </a:solidFill>
              </a:rPr>
              <a:t>TensorFlow</a:t>
            </a:r>
            <a:r>
              <a:rPr lang="zh-CN" altLang="en-US" sz="2400" dirty="0">
                <a:solidFill>
                  <a:srgbClr val="0070C0"/>
                </a:solidFill>
              </a:rPr>
              <a:t>、</a:t>
            </a:r>
            <a:r>
              <a:rPr lang="en-US" sz="2400" dirty="0" err="1">
                <a:solidFill>
                  <a:srgbClr val="0070C0"/>
                </a:solidFill>
              </a:rPr>
              <a:t>Caffe</a:t>
            </a:r>
            <a:r>
              <a:rPr lang="zh-CN" altLang="en-US" sz="2400" dirty="0">
                <a:solidFill>
                  <a:srgbClr val="0070C0"/>
                </a:solidFill>
              </a:rPr>
              <a:t>、</a:t>
            </a:r>
            <a:r>
              <a:rPr lang="en-US" sz="2400" dirty="0" err="1">
                <a:solidFill>
                  <a:srgbClr val="0070C0"/>
                </a:solidFill>
              </a:rPr>
              <a:t>Theano</a:t>
            </a:r>
            <a:r>
              <a:rPr lang="zh-CN" altLang="en-US" sz="2400" dirty="0">
                <a:solidFill>
                  <a:srgbClr val="0070C0"/>
                </a:solidFill>
              </a:rPr>
              <a:t>、</a:t>
            </a:r>
            <a:r>
              <a:rPr lang="en-US" sz="2400" dirty="0">
                <a:solidFill>
                  <a:srgbClr val="0070C0"/>
                </a:solidFill>
              </a:rPr>
              <a:t>Torch/</a:t>
            </a:r>
            <a:r>
              <a:rPr lang="en-US" sz="2400" dirty="0" err="1">
                <a:solidFill>
                  <a:srgbClr val="0070C0"/>
                </a:solidFill>
              </a:rPr>
              <a:t>PyTorch</a:t>
            </a:r>
            <a:r>
              <a:rPr lang="zh-CN" altLang="en-US" sz="2400" dirty="0">
                <a:solidFill>
                  <a:srgbClr val="0070C0"/>
                </a:solidFill>
              </a:rPr>
              <a:t>、</a:t>
            </a:r>
            <a:r>
              <a:rPr lang="en-US" sz="2400" dirty="0">
                <a:solidFill>
                  <a:srgbClr val="0070C0"/>
                </a:solidFill>
              </a:rPr>
              <a:t>Deeplearing4j</a:t>
            </a:r>
            <a:r>
              <a:rPr lang="zh-CN" altLang="en-US" sz="2400" dirty="0">
                <a:solidFill>
                  <a:srgbClr val="0070C0"/>
                </a:solidFill>
              </a:rPr>
              <a:t>、</a:t>
            </a:r>
            <a:r>
              <a:rPr lang="en-US" sz="2400" dirty="0" err="1">
                <a:solidFill>
                  <a:srgbClr val="0070C0"/>
                </a:solidFill>
              </a:rPr>
              <a:t>MXNet</a:t>
            </a:r>
            <a:r>
              <a:rPr lang="zh-CN" altLang="en-US" sz="2400" dirty="0">
                <a:solidFill>
                  <a:srgbClr val="0070C0"/>
                </a:solidFill>
              </a:rPr>
              <a:t>等。此外，国内推出的深度学习框架有百度的</a:t>
            </a:r>
            <a:r>
              <a:rPr lang="en-US" sz="2400" dirty="0" err="1">
                <a:solidFill>
                  <a:srgbClr val="0070C0"/>
                </a:solidFill>
              </a:rPr>
              <a:t>PaddlePaddle</a:t>
            </a:r>
            <a:r>
              <a:rPr lang="zh-CN" altLang="en-US" sz="2400" dirty="0">
                <a:solidFill>
                  <a:srgbClr val="0070C0"/>
                </a:solidFill>
              </a:rPr>
              <a:t>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15635" y="500042"/>
            <a:ext cx="8085455" cy="5976000"/>
          </a:xfrm>
        </p:spPr>
        <p:txBody>
          <a:bodyPr/>
          <a:lstStyle/>
          <a:p>
            <a:pPr algn="just">
              <a:lnSpc>
                <a:spcPct val="140000"/>
              </a:lnSpc>
              <a:buNone/>
            </a:pPr>
            <a:r>
              <a:rPr 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200" dirty="0">
                <a:solidFill>
                  <a:srgbClr val="0070C0"/>
                </a:solidFill>
                <a:latin typeface="Times New Roman"/>
                <a:cs typeface="Times New Roman"/>
              </a:rPr>
              <a:t>■ </a:t>
            </a:r>
            <a:r>
              <a:rPr lang="en-US" sz="2300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TensorFlow</a:t>
            </a:r>
            <a:r>
              <a:rPr lang="en-US" sz="23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3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为</a:t>
            </a:r>
            <a:r>
              <a:rPr lang="en-US" sz="23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zh-CN" altLang="en-US" sz="23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开发的一款数值计算软件。  </a:t>
            </a:r>
            <a:r>
              <a:rPr lang="en-US" sz="23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TensorFlow</a:t>
            </a:r>
            <a:r>
              <a:rPr lang="zh-CN" altLang="en-US" sz="23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用数据流图（</a:t>
            </a:r>
            <a:r>
              <a:rPr lang="en-US" sz="23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Data Flow Graph</a:t>
            </a:r>
            <a:r>
              <a:rPr lang="zh-CN" altLang="en-US" sz="23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）的形式进行计算。图中每个节点代表数据的数学运算或输入输出，其中输入输出可以是一个数或者张量（</a:t>
            </a:r>
            <a:r>
              <a:rPr lang="en-US" sz="23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Tensor</a:t>
            </a:r>
            <a:r>
              <a:rPr lang="zh-CN" altLang="en-US" sz="23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），节点间的连线代表张量（多维数组）之间的处理关系。用</a:t>
            </a:r>
            <a:r>
              <a:rPr lang="en-US" sz="23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TensorFlow</a:t>
            </a:r>
            <a:r>
              <a:rPr lang="zh-CN" altLang="en-US" sz="23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实现的项目可以灵活地部署在一个或多个</a:t>
            </a:r>
            <a:r>
              <a:rPr lang="en-US" sz="23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CPU/GPU</a:t>
            </a:r>
            <a:r>
              <a:rPr lang="zh-CN" altLang="en-US" sz="23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的服务器上，甚至可以被部署在移动设备上。</a:t>
            </a:r>
            <a:r>
              <a:rPr lang="en-US" sz="23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TensorFlow</a:t>
            </a:r>
            <a:r>
              <a:rPr lang="zh-CN" altLang="en-US" sz="23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是由研究人员和</a:t>
            </a:r>
            <a:r>
              <a:rPr lang="en-US" sz="23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Google Brain</a:t>
            </a:r>
            <a:r>
              <a:rPr lang="zh-CN" altLang="en-US" sz="23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团队针对机器学习和深度神经网络而开发的，开源后几乎可用于各个领域。</a:t>
            </a:r>
            <a:r>
              <a:rPr lang="en-US" sz="23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TensorFlow</a:t>
            </a:r>
            <a:r>
              <a:rPr lang="zh-CN" altLang="en-US" sz="23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是全世界用户最多、社区最大的一个框架，有与</a:t>
            </a:r>
            <a:r>
              <a:rPr lang="en-US" sz="23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zh-CN" altLang="en-US" sz="23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和</a:t>
            </a:r>
            <a:r>
              <a:rPr lang="en-US" sz="23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C++</a:t>
            </a:r>
            <a:r>
              <a:rPr lang="zh-CN" altLang="en-US" sz="23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的接口。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63647" y="642919"/>
            <a:ext cx="8115328" cy="5357850"/>
          </a:xfrm>
        </p:spPr>
        <p:txBody>
          <a:bodyPr/>
          <a:lstStyle/>
          <a:p>
            <a:pPr algn="just"/>
            <a:r>
              <a:rPr lang="en-US" sz="2300" dirty="0" err="1">
                <a:solidFill>
                  <a:srgbClr val="0070C0"/>
                </a:solidFill>
              </a:rPr>
              <a:t>Caffe</a:t>
            </a:r>
            <a:r>
              <a:rPr lang="zh-CN" altLang="en-US" sz="2300" dirty="0">
                <a:solidFill>
                  <a:srgbClr val="0070C0"/>
                </a:solidFill>
              </a:rPr>
              <a:t>是加州大学伯克利的博士贾扬清用</a:t>
            </a:r>
            <a:r>
              <a:rPr lang="en-US" sz="2300" dirty="0">
                <a:solidFill>
                  <a:srgbClr val="0070C0"/>
                </a:solidFill>
              </a:rPr>
              <a:t>C++</a:t>
            </a:r>
            <a:r>
              <a:rPr lang="zh-CN" altLang="en-US" sz="2300" dirty="0">
                <a:solidFill>
                  <a:srgbClr val="0070C0"/>
                </a:solidFill>
              </a:rPr>
              <a:t>开发的，全称为</a:t>
            </a:r>
            <a:r>
              <a:rPr lang="en-US" sz="2300" dirty="0" err="1">
                <a:solidFill>
                  <a:srgbClr val="0070C0"/>
                </a:solidFill>
              </a:rPr>
              <a:t>Convolutional</a:t>
            </a:r>
            <a:r>
              <a:rPr lang="en-US" sz="2300" dirty="0">
                <a:solidFill>
                  <a:srgbClr val="0070C0"/>
                </a:solidFill>
              </a:rPr>
              <a:t> Architecture for Fast Feature Embedding</a:t>
            </a:r>
            <a:r>
              <a:rPr lang="zh-CN" altLang="en-US" sz="2300" dirty="0">
                <a:solidFill>
                  <a:srgbClr val="0070C0"/>
                </a:solidFill>
              </a:rPr>
              <a:t>。</a:t>
            </a:r>
            <a:r>
              <a:rPr lang="en-US" sz="2300" dirty="0" err="1">
                <a:solidFill>
                  <a:srgbClr val="0070C0"/>
                </a:solidFill>
              </a:rPr>
              <a:t>Caffe</a:t>
            </a:r>
            <a:r>
              <a:rPr lang="zh-CN" altLang="en-US" sz="2300" dirty="0">
                <a:solidFill>
                  <a:srgbClr val="0070C0"/>
                </a:solidFill>
              </a:rPr>
              <a:t>是一个清晰而高效的开源深度学习框架，由伯克利视觉中心进行维护。</a:t>
            </a:r>
            <a:r>
              <a:rPr lang="en-US" sz="2300" dirty="0" err="1">
                <a:solidFill>
                  <a:srgbClr val="0070C0"/>
                </a:solidFill>
              </a:rPr>
              <a:t>Caffe</a:t>
            </a:r>
            <a:r>
              <a:rPr lang="zh-CN" altLang="en-US" sz="2300" dirty="0">
                <a:solidFill>
                  <a:srgbClr val="0070C0"/>
                </a:solidFill>
              </a:rPr>
              <a:t>对卷积网络的支持特别好，还提供了与</a:t>
            </a:r>
            <a:r>
              <a:rPr lang="en-US" sz="2300" dirty="0">
                <a:solidFill>
                  <a:srgbClr val="0070C0"/>
                </a:solidFill>
              </a:rPr>
              <a:t>C++</a:t>
            </a:r>
            <a:r>
              <a:rPr lang="zh-CN" altLang="en-US" sz="2300" dirty="0">
                <a:solidFill>
                  <a:srgbClr val="0070C0"/>
                </a:solidFill>
              </a:rPr>
              <a:t>、</a:t>
            </a:r>
            <a:r>
              <a:rPr lang="en-US" sz="2300" dirty="0" err="1">
                <a:solidFill>
                  <a:srgbClr val="0070C0"/>
                </a:solidFill>
              </a:rPr>
              <a:t>Matlab</a:t>
            </a:r>
            <a:r>
              <a:rPr lang="zh-CN" altLang="en-US" sz="2300" dirty="0">
                <a:solidFill>
                  <a:srgbClr val="0070C0"/>
                </a:solidFill>
              </a:rPr>
              <a:t>和</a:t>
            </a:r>
            <a:r>
              <a:rPr lang="en-US" sz="2300" dirty="0">
                <a:solidFill>
                  <a:srgbClr val="0070C0"/>
                </a:solidFill>
              </a:rPr>
              <a:t>Python</a:t>
            </a:r>
            <a:r>
              <a:rPr lang="zh-CN" altLang="en-US" sz="2300" dirty="0">
                <a:solidFill>
                  <a:srgbClr val="0070C0"/>
                </a:solidFill>
              </a:rPr>
              <a:t>的接口。</a:t>
            </a:r>
          </a:p>
          <a:p>
            <a:pPr algn="just">
              <a:spcBef>
                <a:spcPts val="1800"/>
              </a:spcBef>
            </a:pPr>
            <a:r>
              <a:rPr lang="en-US" sz="2300" dirty="0" err="1">
                <a:solidFill>
                  <a:srgbClr val="0070C0"/>
                </a:solidFill>
              </a:rPr>
              <a:t>Theano</a:t>
            </a:r>
            <a:r>
              <a:rPr lang="zh-CN" altLang="en-US" sz="2300" dirty="0">
                <a:solidFill>
                  <a:srgbClr val="0070C0"/>
                </a:solidFill>
              </a:rPr>
              <a:t>是一个进行数值计算的</a:t>
            </a:r>
            <a:r>
              <a:rPr lang="en-US" sz="2300" dirty="0">
                <a:solidFill>
                  <a:srgbClr val="0070C0"/>
                </a:solidFill>
              </a:rPr>
              <a:t>Python</a:t>
            </a:r>
            <a:r>
              <a:rPr lang="zh-CN" altLang="en-US" sz="2300" dirty="0">
                <a:solidFill>
                  <a:srgbClr val="0070C0"/>
                </a:solidFill>
              </a:rPr>
              <a:t>库（支持深度学习的软件包，著名的有</a:t>
            </a:r>
            <a:r>
              <a:rPr lang="en-US" sz="2300" dirty="0">
                <a:solidFill>
                  <a:srgbClr val="0070C0"/>
                </a:solidFill>
              </a:rPr>
              <a:t>Blocks</a:t>
            </a:r>
            <a:r>
              <a:rPr lang="zh-CN" altLang="en-US" sz="2300" dirty="0">
                <a:solidFill>
                  <a:srgbClr val="0070C0"/>
                </a:solidFill>
              </a:rPr>
              <a:t>和</a:t>
            </a:r>
            <a:r>
              <a:rPr lang="en-US" sz="2300" dirty="0" err="1">
                <a:solidFill>
                  <a:srgbClr val="0070C0"/>
                </a:solidFill>
              </a:rPr>
              <a:t>Keras</a:t>
            </a:r>
            <a:r>
              <a:rPr lang="zh-CN" altLang="en-US" sz="2300" dirty="0">
                <a:solidFill>
                  <a:srgbClr val="0070C0"/>
                </a:solidFill>
              </a:rPr>
              <a:t>），其核心是一个数学表达式的编译器，它知道如何获取你的结构，并使之成为一个使用</a:t>
            </a:r>
            <a:r>
              <a:rPr lang="en-US" sz="2300" dirty="0" err="1">
                <a:solidFill>
                  <a:srgbClr val="0070C0"/>
                </a:solidFill>
              </a:rPr>
              <a:t>numpy</a:t>
            </a:r>
            <a:r>
              <a:rPr lang="zh-CN" altLang="en-US" sz="2300" dirty="0">
                <a:solidFill>
                  <a:srgbClr val="0070C0"/>
                </a:solidFill>
              </a:rPr>
              <a:t>高效本地库的高效代码，并把它们部署在</a:t>
            </a:r>
            <a:r>
              <a:rPr lang="en-US" sz="2300" dirty="0">
                <a:solidFill>
                  <a:srgbClr val="0070C0"/>
                </a:solidFill>
              </a:rPr>
              <a:t>CPU</a:t>
            </a:r>
            <a:r>
              <a:rPr lang="zh-CN" altLang="en-US" sz="2300" dirty="0">
                <a:solidFill>
                  <a:srgbClr val="0070C0"/>
                </a:solidFill>
              </a:rPr>
              <a:t>或</a:t>
            </a:r>
            <a:r>
              <a:rPr lang="en-US" sz="2300" dirty="0">
                <a:solidFill>
                  <a:srgbClr val="0070C0"/>
                </a:solidFill>
              </a:rPr>
              <a:t>GPU</a:t>
            </a:r>
            <a:r>
              <a:rPr lang="zh-CN" altLang="en-US" sz="2300" dirty="0">
                <a:solidFill>
                  <a:srgbClr val="0070C0"/>
                </a:solidFill>
              </a:rPr>
              <a:t>上高效运行。</a:t>
            </a:r>
            <a:r>
              <a:rPr lang="en-US" sz="2300" dirty="0" err="1">
                <a:solidFill>
                  <a:srgbClr val="0070C0"/>
                </a:solidFill>
              </a:rPr>
              <a:t>Theano</a:t>
            </a:r>
            <a:r>
              <a:rPr lang="zh-CN" altLang="en-US" sz="2300" dirty="0">
                <a:solidFill>
                  <a:srgbClr val="0070C0"/>
                </a:solidFill>
              </a:rPr>
              <a:t>于</a:t>
            </a:r>
            <a:r>
              <a:rPr lang="en-US" sz="2300" dirty="0">
                <a:solidFill>
                  <a:srgbClr val="0070C0"/>
                </a:solidFill>
              </a:rPr>
              <a:t>2008</a:t>
            </a:r>
            <a:r>
              <a:rPr lang="zh-CN" altLang="en-US" sz="2300" dirty="0">
                <a:solidFill>
                  <a:srgbClr val="0070C0"/>
                </a:solidFill>
              </a:rPr>
              <a:t>年诞生于蒙特利尔理工学院，是专门为深度学习中处理大型神经网络而设计的。它是这类深度学习库的首创之一，被认为是深度学习研究和开发的行业标准。</a:t>
            </a:r>
          </a:p>
          <a:p>
            <a:pPr algn="just">
              <a:lnSpc>
                <a:spcPct val="150000"/>
              </a:lnSpc>
              <a:buNone/>
            </a:pPr>
            <a:endParaRPr lang="zh-CN" altLang="en-US" sz="24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77502" y="785795"/>
            <a:ext cx="8115328" cy="4357718"/>
          </a:xfrm>
        </p:spPr>
        <p:txBody>
          <a:bodyPr/>
          <a:lstStyle/>
          <a:p>
            <a:pPr algn="just">
              <a:lnSpc>
                <a:spcPct val="150000"/>
              </a:lnSpc>
              <a:buNone/>
            </a:pPr>
            <a:r>
              <a:rPr lang="en-US" sz="2400" dirty="0"/>
              <a:t> </a:t>
            </a:r>
            <a:r>
              <a:rPr lang="en-US" sz="1200" dirty="0">
                <a:solidFill>
                  <a:srgbClr val="0070C0"/>
                </a:solidFill>
                <a:latin typeface="Times New Roman"/>
                <a:cs typeface="Times New Roman"/>
              </a:rPr>
              <a:t>■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70C0"/>
                </a:solidFill>
              </a:rPr>
              <a:t>Torch</a:t>
            </a:r>
            <a:r>
              <a:rPr lang="zh-CN" altLang="en-US" sz="2400" dirty="0">
                <a:solidFill>
                  <a:srgbClr val="0070C0"/>
                </a:solidFill>
              </a:rPr>
              <a:t>是一个含有大量机器学习算法的科学计算框架，其特点是特别灵活，但因其主要语言接口是</a:t>
            </a:r>
            <a:r>
              <a:rPr lang="en-US" sz="2400" dirty="0" err="1">
                <a:solidFill>
                  <a:srgbClr val="0070C0"/>
                </a:solidFill>
              </a:rPr>
              <a:t>Lua</a:t>
            </a:r>
            <a:r>
              <a:rPr lang="zh-CN" altLang="en-US" sz="2400" dirty="0">
                <a:solidFill>
                  <a:srgbClr val="0070C0"/>
                </a:solidFill>
              </a:rPr>
              <a:t>而使其推广受到限制。由于现在</a:t>
            </a:r>
            <a:r>
              <a:rPr lang="en-US" sz="2400" dirty="0" err="1">
                <a:solidFill>
                  <a:srgbClr val="0070C0"/>
                </a:solidFill>
              </a:rPr>
              <a:t>Github</a:t>
            </a:r>
            <a:r>
              <a:rPr lang="zh-CN" altLang="en-US" sz="2400" dirty="0">
                <a:solidFill>
                  <a:srgbClr val="0070C0"/>
                </a:solidFill>
              </a:rPr>
              <a:t>上大部分深度学习框架的语言接口都是</a:t>
            </a:r>
            <a:r>
              <a:rPr lang="en-US" sz="2400" dirty="0">
                <a:solidFill>
                  <a:srgbClr val="0070C0"/>
                </a:solidFill>
              </a:rPr>
              <a:t>Python</a:t>
            </a:r>
            <a:r>
              <a:rPr lang="zh-CN" altLang="en-US" sz="2400" dirty="0">
                <a:solidFill>
                  <a:srgbClr val="0070C0"/>
                </a:solidFill>
              </a:rPr>
              <a:t>，因此</a:t>
            </a:r>
            <a:r>
              <a:rPr lang="en-US" sz="2400" dirty="0">
                <a:solidFill>
                  <a:srgbClr val="0070C0"/>
                </a:solidFill>
              </a:rPr>
              <a:t>Torch</a:t>
            </a:r>
            <a:r>
              <a:rPr lang="zh-CN" altLang="en-US" sz="2400" dirty="0">
                <a:solidFill>
                  <a:srgbClr val="0070C0"/>
                </a:solidFill>
              </a:rPr>
              <a:t>团队就用</a:t>
            </a:r>
            <a:r>
              <a:rPr lang="en-US" sz="2400" dirty="0">
                <a:solidFill>
                  <a:srgbClr val="0070C0"/>
                </a:solidFill>
              </a:rPr>
              <a:t>Python</a:t>
            </a:r>
            <a:r>
              <a:rPr lang="zh-CN" altLang="en-US" sz="2400" dirty="0">
                <a:solidFill>
                  <a:srgbClr val="0070C0"/>
                </a:solidFill>
              </a:rPr>
              <a:t>重写了整个框架而得到了</a:t>
            </a:r>
            <a:r>
              <a:rPr lang="en-US" sz="2400" dirty="0" err="1">
                <a:solidFill>
                  <a:srgbClr val="0070C0"/>
                </a:solidFill>
              </a:rPr>
              <a:t>PyTorch</a:t>
            </a:r>
            <a:r>
              <a:rPr lang="zh-CN" altLang="en-US" sz="2400" dirty="0">
                <a:solidFill>
                  <a:srgbClr val="0070C0"/>
                </a:solidFill>
              </a:rPr>
              <a:t>。</a:t>
            </a:r>
            <a:r>
              <a:rPr lang="en-US" sz="2400" dirty="0" err="1">
                <a:solidFill>
                  <a:srgbClr val="0070C0"/>
                </a:solidFill>
              </a:rPr>
              <a:t>PyTorch</a:t>
            </a:r>
            <a:r>
              <a:rPr lang="zh-CN" altLang="en-US" sz="2400" dirty="0">
                <a:solidFill>
                  <a:srgbClr val="0070C0"/>
                </a:solidFill>
              </a:rPr>
              <a:t>不仅能实现强大的</a:t>
            </a:r>
            <a:r>
              <a:rPr lang="en-US" sz="2400" dirty="0">
                <a:solidFill>
                  <a:srgbClr val="0070C0"/>
                </a:solidFill>
              </a:rPr>
              <a:t>GPU</a:t>
            </a:r>
            <a:r>
              <a:rPr lang="zh-CN" altLang="en-US" sz="2400" dirty="0">
                <a:solidFill>
                  <a:srgbClr val="0070C0"/>
                </a:solidFill>
              </a:rPr>
              <a:t>加速，还支持动态神经网络。除了</a:t>
            </a:r>
            <a:r>
              <a:rPr lang="en-US" sz="2400" dirty="0" err="1">
                <a:solidFill>
                  <a:srgbClr val="0070C0"/>
                </a:solidFill>
              </a:rPr>
              <a:t>Facebook</a:t>
            </a:r>
            <a:r>
              <a:rPr lang="zh-CN" altLang="en-US" sz="2400" dirty="0">
                <a:solidFill>
                  <a:srgbClr val="0070C0"/>
                </a:solidFill>
              </a:rPr>
              <a:t>外，已经被</a:t>
            </a:r>
            <a:r>
              <a:rPr lang="en-US" sz="2400" dirty="0">
                <a:solidFill>
                  <a:srgbClr val="0070C0"/>
                </a:solidFill>
              </a:rPr>
              <a:t>Twitter</a:t>
            </a:r>
            <a:r>
              <a:rPr lang="zh-CN" altLang="en-US" sz="2400" dirty="0">
                <a:solidFill>
                  <a:srgbClr val="0070C0"/>
                </a:solidFill>
              </a:rPr>
              <a:t>、</a:t>
            </a:r>
            <a:r>
              <a:rPr lang="en-US" sz="2400" dirty="0">
                <a:solidFill>
                  <a:srgbClr val="0070C0"/>
                </a:solidFill>
              </a:rPr>
              <a:t>CMU</a:t>
            </a:r>
            <a:r>
              <a:rPr lang="zh-CN" altLang="en-US" sz="2400" dirty="0">
                <a:solidFill>
                  <a:srgbClr val="0070C0"/>
                </a:solidFill>
              </a:rPr>
              <a:t>和</a:t>
            </a:r>
            <a:r>
              <a:rPr lang="en-US" sz="2400" dirty="0" err="1">
                <a:solidFill>
                  <a:srgbClr val="0070C0"/>
                </a:solidFill>
              </a:rPr>
              <a:t>Salesforce</a:t>
            </a:r>
            <a:r>
              <a:rPr lang="zh-CN" altLang="en-US" sz="2400" dirty="0">
                <a:solidFill>
                  <a:srgbClr val="0070C0"/>
                </a:solidFill>
              </a:rPr>
              <a:t>等机构采用。</a:t>
            </a:r>
          </a:p>
        </p:txBody>
      </p:sp>
      <p:sp>
        <p:nvSpPr>
          <p:cNvPr id="3" name="动作按钮: 后退或前一项 2">
            <a:hlinkClick r:id="" action="ppaction://hlinkshowjump?jump=firstslide" highlightClick="1"/>
          </p:cNvPr>
          <p:cNvSpPr/>
          <p:nvPr/>
        </p:nvSpPr>
        <p:spPr>
          <a:xfrm>
            <a:off x="7572396" y="6000768"/>
            <a:ext cx="720000" cy="144000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theme1.xml><?xml version="1.0" encoding="utf-8"?>
<a:theme xmlns:a="http://schemas.openxmlformats.org/drawingml/2006/main" name="吉祥如意">
  <a:themeElements>
    <a:clrScheme name="吉祥如意 1">
      <a:dk1>
        <a:srgbClr val="000000"/>
      </a:dk1>
      <a:lt1>
        <a:srgbClr val="FFFFFF"/>
      </a:lt1>
      <a:dk2>
        <a:srgbClr val="E40000"/>
      </a:dk2>
      <a:lt2>
        <a:srgbClr val="DDDDDD"/>
      </a:lt2>
      <a:accent1>
        <a:srgbClr val="E1F4FF"/>
      </a:accent1>
      <a:accent2>
        <a:srgbClr val="FFE2C5"/>
      </a:accent2>
      <a:accent3>
        <a:srgbClr val="FFFFFF"/>
      </a:accent3>
      <a:accent4>
        <a:srgbClr val="000000"/>
      </a:accent4>
      <a:accent5>
        <a:srgbClr val="EEF8FF"/>
      </a:accent5>
      <a:accent6>
        <a:srgbClr val="E7CDB2"/>
      </a:accent6>
      <a:hlink>
        <a:srgbClr val="0066CC"/>
      </a:hlink>
      <a:folHlink>
        <a:srgbClr val="9F9FBF"/>
      </a:folHlink>
    </a:clrScheme>
    <a:fontScheme name="吉祥如意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吉祥如意 1">
        <a:dk1>
          <a:srgbClr val="000000"/>
        </a:dk1>
        <a:lt1>
          <a:srgbClr val="FFFFFF"/>
        </a:lt1>
        <a:dk2>
          <a:srgbClr val="E40000"/>
        </a:dk2>
        <a:lt2>
          <a:srgbClr val="DDDDDD"/>
        </a:lt2>
        <a:accent1>
          <a:srgbClr val="E1F4FF"/>
        </a:accent1>
        <a:accent2>
          <a:srgbClr val="FFE2C5"/>
        </a:accent2>
        <a:accent3>
          <a:srgbClr val="FFFFFF"/>
        </a:accent3>
        <a:accent4>
          <a:srgbClr val="000000"/>
        </a:accent4>
        <a:accent5>
          <a:srgbClr val="EEF8FF"/>
        </a:accent5>
        <a:accent6>
          <a:srgbClr val="E7CDB2"/>
        </a:accent6>
        <a:hlink>
          <a:srgbClr val="0066CC"/>
        </a:hlink>
        <a:folHlink>
          <a:srgbClr val="9F9FB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2">
        <a:dk1>
          <a:srgbClr val="59582D"/>
        </a:dk1>
        <a:lt1>
          <a:srgbClr val="EAEAEA"/>
        </a:lt1>
        <a:dk2>
          <a:srgbClr val="666699"/>
        </a:dk2>
        <a:lt2>
          <a:srgbClr val="D9D9D9"/>
        </a:lt2>
        <a:accent1>
          <a:srgbClr val="CCECFF"/>
        </a:accent1>
        <a:accent2>
          <a:srgbClr val="B2D2C7"/>
        </a:accent2>
        <a:accent3>
          <a:srgbClr val="F3F3F3"/>
        </a:accent3>
        <a:accent4>
          <a:srgbClr val="4B4A25"/>
        </a:accent4>
        <a:accent5>
          <a:srgbClr val="E2F4FF"/>
        </a:accent5>
        <a:accent6>
          <a:srgbClr val="A1BEB4"/>
        </a:accent6>
        <a:hlink>
          <a:srgbClr val="993366"/>
        </a:hlink>
        <a:folHlink>
          <a:srgbClr val="92B9E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3">
        <a:dk1>
          <a:srgbClr val="000099"/>
        </a:dk1>
        <a:lt1>
          <a:srgbClr val="FFFFCC"/>
        </a:lt1>
        <a:dk2>
          <a:srgbClr val="004000"/>
        </a:dk2>
        <a:lt2>
          <a:srgbClr val="FFD9B3"/>
        </a:lt2>
        <a:accent1>
          <a:srgbClr val="FFD9D9"/>
        </a:accent1>
        <a:accent2>
          <a:srgbClr val="DDDDDD"/>
        </a:accent2>
        <a:accent3>
          <a:srgbClr val="FFFFE2"/>
        </a:accent3>
        <a:accent4>
          <a:srgbClr val="000082"/>
        </a:accent4>
        <a:accent5>
          <a:srgbClr val="FFE9E9"/>
        </a:accent5>
        <a:accent6>
          <a:srgbClr val="C8C8C8"/>
        </a:accent6>
        <a:hlink>
          <a:srgbClr val="FF0000"/>
        </a:hlink>
        <a:folHlink>
          <a:srgbClr val="FFAB5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4">
        <a:dk1>
          <a:srgbClr val="000000"/>
        </a:dk1>
        <a:lt1>
          <a:srgbClr val="DCE8E2"/>
        </a:lt1>
        <a:dk2>
          <a:srgbClr val="0033CC"/>
        </a:dk2>
        <a:lt2>
          <a:srgbClr val="C4C4D8"/>
        </a:lt2>
        <a:accent1>
          <a:srgbClr val="FFFFFF"/>
        </a:accent1>
        <a:accent2>
          <a:srgbClr val="A9CFB1"/>
        </a:accent2>
        <a:accent3>
          <a:srgbClr val="EBF2EE"/>
        </a:accent3>
        <a:accent4>
          <a:srgbClr val="000000"/>
        </a:accent4>
        <a:accent5>
          <a:srgbClr val="FFFFFF"/>
        </a:accent5>
        <a:accent6>
          <a:srgbClr val="99BBA0"/>
        </a:accent6>
        <a:hlink>
          <a:srgbClr val="CC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5">
        <a:dk1>
          <a:srgbClr val="606090"/>
        </a:dk1>
        <a:lt1>
          <a:srgbClr val="E5FFFF"/>
        </a:lt1>
        <a:dk2>
          <a:srgbClr val="0000CC"/>
        </a:dk2>
        <a:lt2>
          <a:srgbClr val="91DAFF"/>
        </a:lt2>
        <a:accent1>
          <a:srgbClr val="EAEAEA"/>
        </a:accent1>
        <a:accent2>
          <a:srgbClr val="FFE2C5"/>
        </a:accent2>
        <a:accent3>
          <a:srgbClr val="F0FFFF"/>
        </a:accent3>
        <a:accent4>
          <a:srgbClr val="51517A"/>
        </a:accent4>
        <a:accent5>
          <a:srgbClr val="F3F3F3"/>
        </a:accent5>
        <a:accent6>
          <a:srgbClr val="E7CDB2"/>
        </a:accent6>
        <a:hlink>
          <a:srgbClr val="000000"/>
        </a:hlink>
        <a:folHlink>
          <a:srgbClr val="3DB77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6">
        <a:dk1>
          <a:srgbClr val="CC0066"/>
        </a:dk1>
        <a:lt1>
          <a:srgbClr val="FFDDBB"/>
        </a:lt1>
        <a:dk2>
          <a:srgbClr val="000000"/>
        </a:dk2>
        <a:lt2>
          <a:srgbClr val="C0C0C0"/>
        </a:lt2>
        <a:accent1>
          <a:srgbClr val="FFFFCC"/>
        </a:accent1>
        <a:accent2>
          <a:srgbClr val="FFFFFF"/>
        </a:accent2>
        <a:accent3>
          <a:srgbClr val="FFEBDA"/>
        </a:accent3>
        <a:accent4>
          <a:srgbClr val="AE0056"/>
        </a:accent4>
        <a:accent5>
          <a:srgbClr val="FFFFE2"/>
        </a:accent5>
        <a:accent6>
          <a:srgbClr val="E7E7E7"/>
        </a:accent6>
        <a:hlink>
          <a:srgbClr val="0066CC"/>
        </a:hlink>
        <a:folHlink>
          <a:srgbClr val="8EB3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7">
        <a:dk1>
          <a:srgbClr val="B60000"/>
        </a:dk1>
        <a:lt1>
          <a:srgbClr val="FFFF99"/>
        </a:lt1>
        <a:dk2>
          <a:srgbClr val="800000"/>
        </a:dk2>
        <a:lt2>
          <a:srgbClr val="FFFFFF"/>
        </a:lt2>
        <a:accent1>
          <a:srgbClr val="9888A4"/>
        </a:accent1>
        <a:accent2>
          <a:srgbClr val="A9335D"/>
        </a:accent2>
        <a:accent3>
          <a:srgbClr val="C0AAAA"/>
        </a:accent3>
        <a:accent4>
          <a:srgbClr val="DADA82"/>
        </a:accent4>
        <a:accent5>
          <a:srgbClr val="CAC3CF"/>
        </a:accent5>
        <a:accent6>
          <a:srgbClr val="992D53"/>
        </a:accent6>
        <a:hlink>
          <a:srgbClr val="CCECFF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吉祥如意 8">
        <a:dk1>
          <a:srgbClr val="808080"/>
        </a:dk1>
        <a:lt1>
          <a:srgbClr val="FFFFFF"/>
        </a:lt1>
        <a:dk2>
          <a:srgbClr val="1C1C1C"/>
        </a:dk2>
        <a:lt2>
          <a:srgbClr val="FFFF66"/>
        </a:lt2>
        <a:accent1>
          <a:srgbClr val="9898BA"/>
        </a:accent1>
        <a:accent2>
          <a:srgbClr val="777777"/>
        </a:accent2>
        <a:accent3>
          <a:srgbClr val="ABABAB"/>
        </a:accent3>
        <a:accent4>
          <a:srgbClr val="DADADA"/>
        </a:accent4>
        <a:accent5>
          <a:srgbClr val="CACAD9"/>
        </a:accent5>
        <a:accent6>
          <a:srgbClr val="6B6B6B"/>
        </a:accent6>
        <a:hlink>
          <a:srgbClr val="CCFF99"/>
        </a:hlink>
        <a:folHlink>
          <a:srgbClr val="E436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CDESIGNN</Template>
  <TotalTime>8080</TotalTime>
  <Words>2150</Words>
  <Application>Microsoft Office PowerPoint</Application>
  <PresentationFormat>全屏显示(4:3)</PresentationFormat>
  <Paragraphs>177</Paragraphs>
  <Slides>37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53" baseType="lpstr">
      <vt:lpstr>方正姚体</vt:lpstr>
      <vt:lpstr>仿宋</vt:lpstr>
      <vt:lpstr>仿宋_GB2312</vt:lpstr>
      <vt:lpstr>黑体</vt:lpstr>
      <vt:lpstr>楷体</vt:lpstr>
      <vt:lpstr>楷体_GB2312</vt:lpstr>
      <vt:lpstr>宋体</vt:lpstr>
      <vt:lpstr>Arial</vt:lpstr>
      <vt:lpstr>Cambria Math</vt:lpstr>
      <vt:lpstr>Symbol</vt:lpstr>
      <vt:lpstr>Times New Roman</vt:lpstr>
      <vt:lpstr>Verdana</vt:lpstr>
      <vt:lpstr>Wingdings</vt:lpstr>
      <vt:lpstr>Wingdings 2</vt:lpstr>
      <vt:lpstr>吉祥如意</vt:lpstr>
      <vt:lpstr>公式</vt:lpstr>
      <vt:lpstr>PowerPoint 演示文稿</vt:lpstr>
      <vt:lpstr>PowerPoint 演示文稿</vt:lpstr>
      <vt:lpstr>PowerPoint 演示文稿</vt:lpstr>
      <vt:lpstr>常见的几种神经元激活函数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微软用户</dc:creator>
  <cp:lastModifiedBy>WEI SUO</cp:lastModifiedBy>
  <cp:revision>265</cp:revision>
  <dcterms:created xsi:type="dcterms:W3CDTF">2007-08-07T01:47:04Z</dcterms:created>
  <dcterms:modified xsi:type="dcterms:W3CDTF">2026-05-19T10:59:07Z</dcterms:modified>
</cp:coreProperties>
</file>