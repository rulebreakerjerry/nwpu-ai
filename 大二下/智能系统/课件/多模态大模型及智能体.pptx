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notesSlides/notesSlide5.xml" ContentType="application/vnd.openxmlformats-officedocument.presentationml.notesSlide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tags/tag43.xml" ContentType="application/vnd.openxmlformats-officedocument.presentationml.tags+xml"/>
  <Override PartName="/ppt/notesSlides/notesSlide7.xml" ContentType="application/vnd.openxmlformats-officedocument.presentationml.notesSlide+xml"/>
  <Override PartName="/ppt/tags/tag4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notesSlides/notesSlide34.xml" ContentType="application/vnd.openxmlformats-officedocument.presentationml.notesSlide+xml"/>
  <Override PartName="/ppt/tags/tag261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70"/>
  </p:notesMasterIdLst>
  <p:handoutMasterIdLst>
    <p:handoutMasterId r:id="rId71"/>
  </p:handoutMasterIdLst>
  <p:sldIdLst>
    <p:sldId id="256" r:id="rId3"/>
    <p:sldId id="7275" r:id="rId4"/>
    <p:sldId id="7300" r:id="rId5"/>
    <p:sldId id="7094" r:id="rId6"/>
    <p:sldId id="7152" r:id="rId7"/>
    <p:sldId id="7276" r:id="rId8"/>
    <p:sldId id="7137" r:id="rId9"/>
    <p:sldId id="7055" r:id="rId10"/>
    <p:sldId id="7145" r:id="rId11"/>
    <p:sldId id="7052" r:id="rId12"/>
    <p:sldId id="7250" r:id="rId13"/>
    <p:sldId id="7153" r:id="rId14"/>
    <p:sldId id="7306" r:id="rId15"/>
    <p:sldId id="7307" r:id="rId16"/>
    <p:sldId id="7155" r:id="rId17"/>
    <p:sldId id="7308" r:id="rId18"/>
    <p:sldId id="7156" r:id="rId19"/>
    <p:sldId id="7267" r:id="rId20"/>
    <p:sldId id="7309" r:id="rId21"/>
    <p:sldId id="7157" r:id="rId22"/>
    <p:sldId id="257" r:id="rId23"/>
    <p:sldId id="258" r:id="rId24"/>
    <p:sldId id="7131" r:id="rId25"/>
    <p:sldId id="7132" r:id="rId26"/>
    <p:sldId id="7133" r:id="rId27"/>
    <p:sldId id="7135" r:id="rId28"/>
    <p:sldId id="7147" r:id="rId29"/>
    <p:sldId id="7277" r:id="rId30"/>
    <p:sldId id="7158" r:id="rId31"/>
    <p:sldId id="7159" r:id="rId32"/>
    <p:sldId id="269" r:id="rId33"/>
    <p:sldId id="7160" r:id="rId34"/>
    <p:sldId id="7279" r:id="rId35"/>
    <p:sldId id="7161" r:id="rId36"/>
    <p:sldId id="7167" r:id="rId37"/>
    <p:sldId id="7168" r:id="rId38"/>
    <p:sldId id="7169" r:id="rId39"/>
    <p:sldId id="268" r:id="rId40"/>
    <p:sldId id="307" r:id="rId41"/>
    <p:sldId id="309" r:id="rId42"/>
    <p:sldId id="310" r:id="rId43"/>
    <p:sldId id="312" r:id="rId44"/>
    <p:sldId id="314" r:id="rId45"/>
    <p:sldId id="317" r:id="rId46"/>
    <p:sldId id="261" r:id="rId47"/>
    <p:sldId id="7278" r:id="rId48"/>
    <p:sldId id="263" r:id="rId49"/>
    <p:sldId id="264" r:id="rId50"/>
    <p:sldId id="265" r:id="rId51"/>
    <p:sldId id="266" r:id="rId52"/>
    <p:sldId id="7280" r:id="rId53"/>
    <p:sldId id="7282" r:id="rId54"/>
    <p:sldId id="7283" r:id="rId55"/>
    <p:sldId id="7284" r:id="rId56"/>
    <p:sldId id="7285" r:id="rId57"/>
    <p:sldId id="7286" r:id="rId58"/>
    <p:sldId id="7287" r:id="rId59"/>
    <p:sldId id="7290" r:id="rId60"/>
    <p:sldId id="7291" r:id="rId61"/>
    <p:sldId id="7292" r:id="rId62"/>
    <p:sldId id="7281" r:id="rId63"/>
    <p:sldId id="285" r:id="rId64"/>
    <p:sldId id="287" r:id="rId65"/>
    <p:sldId id="7299" r:id="rId66"/>
    <p:sldId id="7301" r:id="rId67"/>
    <p:sldId id="7302" r:id="rId68"/>
    <p:sldId id="1630" r:id="rId69"/>
  </p:sldIdLst>
  <p:sldSz cx="12190413" cy="6858000"/>
  <p:notesSz cx="7099300" cy="10234613"/>
  <p:custDataLst>
    <p:tags r:id="rId7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1pPr>
    <a:lvl2pPr marL="4559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2pPr>
    <a:lvl3pPr marL="9131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3pPr>
    <a:lvl4pPr marL="13703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4pPr>
    <a:lvl5pPr marL="18275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rgbClr val="FF0000"/>
        </a:solidFill>
        <a:latin typeface="Times New Roman" panose="0202050305040509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39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5">
          <p15:clr>
            <a:srgbClr val="A4A3A4"/>
          </p15:clr>
        </p15:guide>
        <p15:guide id="2" pos="228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Zefeng Ni" initials="Zefeng Ni" lastIdx="13" clrIdx="6"/>
  <p:cmAuthor id="0" name="iris iris" initials="" lastIdx="3" clrIdx="0"/>
  <p:cmAuthor id="1" name="Chen Wei" initials="CW" lastIdx="1" clrIdx="0"/>
  <p:cmAuthor id="2" name="TOMMY" initials="T" lastIdx="1" clrIdx="1"/>
  <p:cmAuthor id="3" name="yanjuntong" initials="y" lastIdx="1" clrIdx="2"/>
  <p:cmAuthor id="4" name="Zhang,Elizabeth" initials="Z" lastIdx="14" clrIdx="3"/>
  <p:cmAuthor id="5" name="Jiaji Li" initials="JL" lastIdx="31" clrIdx="4"/>
  <p:cmAuthor id="6" name="Yanni" initials="Y" lastIdx="5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4A82"/>
    <a:srgbClr val="0158BA"/>
    <a:srgbClr val="F0F1FA"/>
    <a:srgbClr val="EFF2F1"/>
    <a:srgbClr val="014924"/>
    <a:srgbClr val="0000FF"/>
    <a:srgbClr val="BA2D06"/>
    <a:srgbClr val="E05E40"/>
    <a:srgbClr val="F3698A"/>
    <a:srgbClr val="F99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8" autoAdjust="0"/>
    <p:restoredTop sz="89199" autoAdjust="0"/>
  </p:normalViewPr>
  <p:slideViewPr>
    <p:cSldViewPr showGuides="1">
      <p:cViewPr varScale="1">
        <p:scale>
          <a:sx n="94" d="100"/>
          <a:sy n="94" d="100"/>
        </p:scale>
        <p:origin x="411" y="58"/>
      </p:cViewPr>
      <p:guideLst>
        <p:guide orient="horz" pos="2074"/>
        <p:guide pos="39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866" y="58"/>
      </p:cViewPr>
      <p:guideLst>
        <p:guide orient="horz" pos="3095"/>
        <p:guide pos="228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gs" Target="tags/tag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7498E72-F95B-4683-94F3-040E690CAC2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9428754-80EA-4722-B222-5EB445CA1959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宋体" panose="02010600030101010101" pitchFamily="2" charset="-122"/>
      </a:defRPr>
    </a:lvl1pPr>
    <a:lvl2pPr marL="4559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428754-80EA-4722-B222-5EB445CA1959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3283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9F35AC0-EB21-48D2-8F8B-A38903F245B3}" type="slidenum">
              <a:rPr lang="zh-CN" altLang="en-US"/>
              <a:t>12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6841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9F35AC0-EB21-48D2-8F8B-A38903F245B3}" type="slidenum">
              <a:rPr lang="zh-CN" altLang="en-US"/>
              <a:t>13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9F35AC0-EB21-48D2-8F8B-A38903F245B3}" type="slidenum">
              <a:rPr lang="zh-CN" altLang="en-US"/>
              <a:t>14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9587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9F35AC0-EB21-48D2-8F8B-A38903F245B3}" type="slidenum">
              <a:rPr lang="zh-CN" altLang="en-US"/>
              <a:t>15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071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9F35AC0-EB21-48D2-8F8B-A38903F245B3}" type="slidenum">
              <a:rPr lang="zh-CN" altLang="en-US"/>
              <a:t>16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071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9F35AC0-EB21-48D2-8F8B-A38903F245B3}" type="slidenum">
              <a:rPr lang="zh-CN" altLang="en-US"/>
              <a:t>17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0579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探讨多模态大模型视觉模块的第一条技术路线：基于CNN的方法。首先，我们来理解CNN的核心思想。它的设计充满了“归纳偏置”，也就是天生适配视觉数据的先验知识。主要体现在三点：第一，局部感受野，它像我们的眼睛一样，先看细节再看整体；第二，权值共享，用一套参数处理整张图，既高效又能识别不同位置的同一物体；第三，池化操作，用来简化特征，让模型更关注关键信息。总的来说，CNN就像一位拼图大师，把图像的各个局部特征，一步步拼成我们能理解的完整画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CNN的经典架构。从最早的LeNet，到引爆深度学习的AlexNet，再到探索深度的VGG，CNN的发展日新月异。其中，ResNet是一个至关重要的里程碑。它的核心创新是“残差连接”，也叫“捷径连接”。简单来说，它允许信息直接跳过某些层，直接传递到后面。这个巧妙的设计解决了深度网络训练中的梯度消失问题，让我们能训练几百层甚至更深的网络。在多模态模型中，我们通常把ResNet作为一个强大的特征提取器，用它来获取图像的核心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CNN在多模态模型中具体是如何工作的呢？整个流程非常清晰。首先，图像被预处理成固定大小。然后，它会被送入一个像ResNet这样的CNN主干网络，提取出多层次的特征。接着，通过一个叫做全局平均池化的操作，把这些特征压缩成一个代表整张图片的向量。最后，这个视觉向量会和文本向量一起，在一个共同的空间里进行对齐。最经典的例子就是CLIP模型，它就是用ResNet作为视觉部分，通过对比学习，让模型学会了理解图像和文字之间的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428754-80EA-4722-B222-5EB445CA1959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335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语言模型的发展历程中，形成了三种经典的架构范式。第一种是Encoder-Only架构，以BERT为代表，它像一位优秀的阅读者，擅长深度理解文本的双向含义。第二种是Encoder-Decoder架构，以T5为代表，它像一个翻译官，能够将一种文本形式转换为另一种，比如翻译或摘要。第三种是Decoder-Only架构，以GPT为代表，它像一位出色的作家，能够从左到右，自回归地生成流畅、连贯的文本。这三种范式各有侧重，共同构成了现代多模态大模型语言模块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首先我们来看Encoder-Only架构，其代表就是大名鼎鼎的BERT。大家对BERT可能已经很熟悉了，它的核心优势在于强大的双向语义理解能力。在多模态场景下，BERT通常扮演着“语言专家”的角色。它负责理解用户的文本指令，或者与图像特征进行匹配，从而完成图文检索、视觉问答等需要深度理解的任务。可以说，BERT为多模态模型提供了坚实的语言理解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74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接下来是Encoder-Decoder架构，代表模型是T5。T5的一大创举是提出了“文本到文本”的统一框架，它认为所有NLP任务都可以看作是从一种文本形式转换为另一种。在多模态领域，T5强大的解码器使其成为生成任务的利器。例如，在BLIP-2模型中，T5就像一位“描述家”，能够根据输入的图像特征，生成非常详细和准确的描述。它兼顾了理解与生成，是连接视觉与语言的重要桥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跨度损坏任务的核心思想。它主要包含三个步骤：首先，从句子里随机挑选几段连续的文字；然后，用特殊的“哨兵”标记把这些段落替换掉；最后，让模型去预测这些被替换掉的内容是什么。这个设计的巧妙之处在于，它不再是像BERT那样预测单个词，而是预测一整段话，这更接近我们日常使用语言的真实场景。右侧列出了它的几个核心优势，比如更贴近真实生成、训练效率更高，以及完美适配Encoder-Decoder架构。下方的流程图展示了它的四个具体步骤：从随机采样、哨兵替换、到编码理解，最后是解码生成，这构成了T5模型的核心预训练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Decoder-Only架构，也就是我们熟知的GPT系列。它的核心是自回归生成，像一个不断续写故事的作者。得益于简单的架构和强大的预训练方式，GPT在大参数规模下展现出了惊人的能力，也就是我们常说的“涌现能力”。在多模态领域，GPT架构已经成为绝对的主流。无论是GPT-4V还是开源的LLaVA，都选择它作为语言核心，因为它在处理开放式对话和复杂推理任务时表现得尤为出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第二个任务：自回归语言建模，简称AR-LM。如果说MLM是“完形填空”，那么AR-LM就是“续写故事”。它的核心思想非常简单：给定一句话的开头，模型预测下一个词是什么，然后把这个词加进去，再预测下下个词，依此类推，直到生成完整的句子或段落。这个过程是单向的，模型只能看到前面的内容，看不到后面的。这种方式天生就适合做文本生成任务。GPT系列模型就是基于AR-LM的杰出代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285587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R-LM的工作方式就像一个不断续写的过程。比如，我们给模型一个开头：“今天天气很好”。模型首先会预测下一个词，可能是逗号。然后，它会把“今天天气很好，”作为新的输入，继续预测下一个词，比如“我”。这个过程不断重复，模型一步步地生成后续的词语，最终形成一个完整的句子，比如“今天天气很好，我们去公园散步吧。” 这个过程的关键在于“因果掩码”，它确保了模型在做预测时不会“作弊”看到未来的内容。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040361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从数学角度看，AR-LM的原理非常优雅。它将一个完整句子的概率，分解成了每个词出现概率的乘积。比如，“我爱中国”这句话的概率，等于“我”出现的概率，乘以在“我”之后出现“爱”的概率，再乘以在“我爱”之后出现“中国”的概率。模型的训练目标就是最大化这个乘积，也就是让它生成的句子尽可能“像人话”。这个过程通过最小化交叉熵损失来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318226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现对齐最主流的方法是RLHF，也就是基于人类反馈的强化学习。它通常分为三个阶段。第一阶段是监督微调（SFT），我们用一些高质量的人工问答对来训练模型，让它先学会基本的对话能力。第二阶段是训练奖励模型（RM），我们让人类对模型的多个回复进行排序，然后训练一个模型来学习这种“偏好”，让它能给好的回复打高分，差的回复打低分。第三阶段是强化学习（PPO），我们把奖励模型当作一个“评委”，让模型通过不断尝试和犯错，学习如何生成能获得高分的回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11232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567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430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929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721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359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501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横向对比一下这三种架构。Encoder-Only的BERT，是理解任务的专家，训练成本也较低。Encoder-Decoder的T5，像一个全能选手，既能理解又能生成，但训练起来更复杂。而Decoder-Only的GPT，则是生成任务的王者，尤其擅长对话和开放式问答，是当前多模态大模型的主流选择。选择哪种架构，取决于具体的任务需求和资源限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另一种更精细的方案——Q-Former，它被用在InstructBLIP等模型中。Q-Former的核心思想是“主动查询”。它不像MLP那样被动地转换，而是主动派出一组“查询向量”，去视觉特征中寻找最关键、最相关的信息。这个过程就像一个聪明的学生在阅读文章时，会主动寻找关键词和中心思想。因此，Q-Former能够实现更精准的模态对齐，提取出的视觉信息也更适合语言模型理解，但代价是模型结构更复杂，训练成本更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25692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734613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404511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389773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504375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55528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248958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078633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那么，我们该如何在MLP和Transformer这两种衔接方案中做选择呢？简单来说，这是一个在性能和效率之间做权衡的问题。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需要快速构建一个原型，或者对成本比较敏感，那么MLP投影是一个非常好的选择，它足够简单高效。而如果你追求极致的性能，需要处理更复杂的多模态任务，那么基于Transformer的对齐方案，如Q-Former，虽然成本更高，但能带来更精准的对齐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550694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模型更聪明，我们可以使用一些推理增强技术。比如，思维链（CoT）让模型学会“思考”，一步步解决问题；检索增强生成（RAG）让模型能够联网搜索，获取最新的知识；上下文学习（ICL）则让模型能够通过几个例子快速学会新技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061175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最后，真正将大模型落地应用，需要一整套系统工程。这包括模型的部署优化、对话管理、安全对齐以及持续的监控评估。这是一个复杂的系统工程，确保大模型能够稳定、安全、高效地服务于我们。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13525" cy="3721100"/>
          </a:xfrm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495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A7876DC-1FA8-44B6-B478-7F47F1B6EA5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 userDrawn="1"/>
        </p:nvSpPr>
        <p:spPr>
          <a:xfrm>
            <a:off x="8831263" y="4221163"/>
            <a:ext cx="3322637" cy="2195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60000"/>
              </a:lnSpc>
              <a:spcBef>
                <a:spcPct val="5000"/>
              </a:spcBef>
              <a:defRPr/>
            </a:pPr>
            <a:endParaRPr lang="zh-CN" altLang="en-US" sz="2800"/>
          </a:p>
        </p:txBody>
      </p:sp>
      <p:pic>
        <p:nvPicPr>
          <p:cNvPr id="3" name="Picture 2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2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 26">
            <a:extLst>
              <a:ext uri="{FF2B5EF4-FFF2-40B4-BE49-F238E27FC236}">
                <a16:creationId xmlns:a16="http://schemas.microsoft.com/office/drawing/2014/main" id="{A7D95D2C-64CB-43BA-9897-9EC5BD5F822E}"/>
              </a:ext>
            </a:extLst>
          </p:cNvPr>
          <p:cNvSpPr/>
          <p:nvPr userDrawn="1"/>
        </p:nvSpPr>
        <p:spPr>
          <a:xfrm>
            <a:off x="-1" y="-9308"/>
            <a:ext cx="12190413" cy="666000"/>
          </a:xfrm>
          <a:prstGeom prst="rect">
            <a:avLst/>
          </a:prstGeom>
          <a:solidFill>
            <a:srgbClr val="004A82"/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2263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3600" b="1" baseline="0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"/>
              <a:defRPr b="1">
                <a:solidFill>
                  <a:srgbClr val="002060"/>
                </a:solidFill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>
                <a:solidFill>
                  <a:srgbClr val="002060"/>
                </a:solidFill>
              </a:defRPr>
            </a:lvl2pPr>
            <a:lvl3pPr marL="1143000" indent="-228600">
              <a:buFont typeface="Wingdings" panose="05000000000000000000" pitchFamily="2" charset="2"/>
              <a:buChar char="p"/>
              <a:defRPr>
                <a:solidFill>
                  <a:srgbClr val="002060"/>
                </a:solidFill>
              </a:defRPr>
            </a:lvl3pPr>
            <a:lvl4pPr marL="1600200" indent="-228600">
              <a:buFont typeface="Wingdings" panose="05000000000000000000" pitchFamily="2" charset="2"/>
              <a:buChar char="n"/>
              <a:defRPr>
                <a:solidFill>
                  <a:srgbClr val="002060"/>
                </a:solidFill>
              </a:defRPr>
            </a:lvl4pPr>
            <a:lvl5pPr marL="1828800" indent="0"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第二级单击此处编辑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/Users/guangrunwang/Desktop/A Present/本科生课程/Oxford_Blue.pngOxford_Blue"/>
          <p:cNvPicPr preferRelativeResize="0">
            <a:picLocks noChangeArrowheads="1"/>
          </p:cNvPicPr>
          <p:nvPr userDrawn="1"/>
        </p:nvPicPr>
        <p:blipFill>
          <a:blip r:embed="rId2"/>
          <a:srcRect t="47259" b="47259"/>
          <a:stretch>
            <a:fillRect/>
          </a:stretch>
        </p:blipFill>
        <p:spPr bwMode="auto">
          <a:xfrm>
            <a:off x="8255" y="0"/>
            <a:ext cx="12172950" cy="66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40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"/>
              <a:defRPr b="1">
                <a:solidFill>
                  <a:srgbClr val="002060"/>
                </a:solidFill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>
                <a:solidFill>
                  <a:srgbClr val="002060"/>
                </a:solidFill>
              </a:defRPr>
            </a:lvl2pPr>
            <a:lvl3pPr marL="1143000" indent="-228600">
              <a:buFont typeface="Wingdings" panose="05000000000000000000" pitchFamily="2" charset="2"/>
              <a:buChar char="p"/>
              <a:defRPr>
                <a:solidFill>
                  <a:srgbClr val="002060"/>
                </a:solidFill>
              </a:defRPr>
            </a:lvl3pPr>
            <a:lvl4pPr marL="1600200" indent="-228600">
              <a:buFont typeface="Wingdings" panose="05000000000000000000" pitchFamily="2" charset="2"/>
              <a:buChar char="n"/>
              <a:defRPr>
                <a:solidFill>
                  <a:srgbClr val="002060"/>
                </a:solidFill>
              </a:defRPr>
            </a:lvl4pPr>
            <a:lvl5pPr marL="1828800" indent="0"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第二级单击此处编辑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05" y="1481328"/>
            <a:ext cx="10971086" cy="4525963"/>
          </a:xfrm>
        </p:spPr>
        <p:txBody>
          <a:bodyPr/>
          <a:lstStyle>
            <a:lvl1pPr>
              <a:defRPr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590935" y="6407944"/>
            <a:ext cx="2559920" cy="365760"/>
          </a:xfrm>
        </p:spPr>
        <p:txBody>
          <a:bodyPr/>
          <a:lstStyle>
            <a:lvl1pPr>
              <a:defRPr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©Copyright Xinjun Mao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23078" y="6407944"/>
            <a:ext cx="3133752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82818" y="6407944"/>
            <a:ext cx="832681" cy="365125"/>
          </a:xfrm>
        </p:spPr>
        <p:txBody>
          <a:bodyPr/>
          <a:lstStyle>
            <a:lvl1pPr>
              <a:defRPr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77E88AF7-5153-4875-A5A7-0323E1DC4585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9505" y="274638"/>
            <a:ext cx="10971086" cy="1143000"/>
          </a:xfrm>
        </p:spPr>
        <p:txBody>
          <a:bodyPr rtlCol="0"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3" y="4664147"/>
            <a:ext cx="12199546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14257" y="1752601"/>
            <a:ext cx="10361581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914257" y="3611607"/>
            <a:ext cx="10361581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5019" y="4953000"/>
            <a:ext cx="12195114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>
          <a:xfrm>
            <a:off x="8967975" y="6407944"/>
            <a:ext cx="2559920" cy="36576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©Copyright Xinjun Mao</a:t>
            </a:r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5839183" y="6407944"/>
            <a:ext cx="3133752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11527894" y="6407944"/>
            <a:ext cx="487604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86AB41F-CAC1-4232-8954-A49D2EE7F6D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14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80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8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26">
            <a:extLst>
              <a:ext uri="{FF2B5EF4-FFF2-40B4-BE49-F238E27FC236}">
                <a16:creationId xmlns:a16="http://schemas.microsoft.com/office/drawing/2014/main" id="{271CBFAB-AF8F-498D-90A5-722F3F6B026B}"/>
              </a:ext>
            </a:extLst>
          </p:cNvPr>
          <p:cNvSpPr/>
          <p:nvPr userDrawn="1"/>
        </p:nvSpPr>
        <p:spPr>
          <a:xfrm>
            <a:off x="-1" y="-9308"/>
            <a:ext cx="12190413" cy="666000"/>
          </a:xfrm>
          <a:prstGeom prst="rect">
            <a:avLst/>
          </a:prstGeom>
          <a:solidFill>
            <a:srgbClr val="004A82"/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2263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3600" b="1" baseline="0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5318982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 userDrawn="1"/>
        </p:nvSpPr>
        <p:spPr>
          <a:xfrm>
            <a:off x="8831263" y="4221163"/>
            <a:ext cx="3322637" cy="2195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60000"/>
              </a:lnSpc>
              <a:spcBef>
                <a:spcPct val="5000"/>
              </a:spcBef>
              <a:defRPr/>
            </a:pPr>
            <a:endParaRPr lang="zh-CN" altLang="en-US" sz="2800"/>
          </a:p>
        </p:txBody>
      </p:sp>
      <p:pic>
        <p:nvPicPr>
          <p:cNvPr id="3" name="Picture 2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2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/Users/guangrunwang/Desktop/图片1.png图片1"/>
          <p:cNvPicPr preferRelativeResize="0">
            <a:picLocks noChangeArrowheads="1"/>
          </p:cNvPicPr>
          <p:nvPr userDrawn="1"/>
        </p:nvPicPr>
        <p:blipFill>
          <a:blip r:embed="rId2"/>
          <a:srcRect l="44815" r="44815"/>
          <a:stretch>
            <a:fillRect/>
          </a:stretch>
        </p:blipFill>
        <p:spPr bwMode="auto">
          <a:xfrm>
            <a:off x="8255" y="0"/>
            <a:ext cx="12172950" cy="66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40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"/>
              <a:defRPr b="1">
                <a:solidFill>
                  <a:srgbClr val="002060"/>
                </a:solidFill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>
                <a:solidFill>
                  <a:srgbClr val="002060"/>
                </a:solidFill>
              </a:defRPr>
            </a:lvl2pPr>
            <a:lvl3pPr marL="1143000" indent="-228600">
              <a:buFont typeface="Wingdings" panose="05000000000000000000" pitchFamily="2" charset="2"/>
              <a:buChar char="p"/>
              <a:defRPr>
                <a:solidFill>
                  <a:srgbClr val="002060"/>
                </a:solidFill>
              </a:defRPr>
            </a:lvl3pPr>
            <a:lvl4pPr marL="1600200" indent="-228600">
              <a:buFont typeface="Wingdings" panose="05000000000000000000" pitchFamily="2" charset="2"/>
              <a:buChar char="n"/>
              <a:defRPr>
                <a:solidFill>
                  <a:srgbClr val="002060"/>
                </a:solidFill>
              </a:defRPr>
            </a:lvl4pPr>
            <a:lvl5pPr marL="1828800" indent="0"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第二级单击此处编辑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/Users/guangrunwang/Desktop/A Present/本科生课程/Oxford_Blue.pngOxford_Blue"/>
          <p:cNvPicPr preferRelativeResize="0">
            <a:picLocks noChangeArrowheads="1"/>
          </p:cNvPicPr>
          <p:nvPr userDrawn="1"/>
        </p:nvPicPr>
        <p:blipFill>
          <a:blip r:embed="rId2"/>
          <a:srcRect t="47259" b="47259"/>
          <a:stretch>
            <a:fillRect/>
          </a:stretch>
        </p:blipFill>
        <p:spPr bwMode="auto">
          <a:xfrm>
            <a:off x="8255" y="0"/>
            <a:ext cx="12172950" cy="66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40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"/>
              <a:defRPr b="1">
                <a:solidFill>
                  <a:srgbClr val="002060"/>
                </a:solidFill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>
                <a:solidFill>
                  <a:srgbClr val="002060"/>
                </a:solidFill>
              </a:defRPr>
            </a:lvl2pPr>
            <a:lvl3pPr marL="1143000" indent="-228600">
              <a:buFont typeface="Wingdings" panose="05000000000000000000" pitchFamily="2" charset="2"/>
              <a:buChar char="p"/>
              <a:defRPr>
                <a:solidFill>
                  <a:srgbClr val="002060"/>
                </a:solidFill>
              </a:defRPr>
            </a:lvl3pPr>
            <a:lvl4pPr marL="1600200" indent="-228600">
              <a:buFont typeface="Wingdings" panose="05000000000000000000" pitchFamily="2" charset="2"/>
              <a:buChar char="n"/>
              <a:defRPr>
                <a:solidFill>
                  <a:srgbClr val="002060"/>
                </a:solidFill>
              </a:defRPr>
            </a:lvl4pPr>
            <a:lvl5pPr marL="1828800" indent="0"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第二级单击此处编辑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05" y="1481328"/>
            <a:ext cx="10971086" cy="4525963"/>
          </a:xfrm>
        </p:spPr>
        <p:txBody>
          <a:bodyPr/>
          <a:lstStyle>
            <a:lvl1pPr>
              <a:defRPr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590935" y="6407944"/>
            <a:ext cx="2559920" cy="365760"/>
          </a:xfrm>
        </p:spPr>
        <p:txBody>
          <a:bodyPr/>
          <a:lstStyle>
            <a:lvl1pPr>
              <a:defRPr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©Copyright Xinjun Mao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23078" y="6407944"/>
            <a:ext cx="3133752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82818" y="6407944"/>
            <a:ext cx="832681" cy="365125"/>
          </a:xfrm>
        </p:spPr>
        <p:txBody>
          <a:bodyPr/>
          <a:lstStyle>
            <a:lvl1pPr>
              <a:defRPr b="1"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>
              <a:defRPr/>
            </a:pPr>
            <a:fld id="{77E88AF7-5153-4875-A5A7-0323E1DC4585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9505" y="274638"/>
            <a:ext cx="10971086" cy="1143000"/>
          </a:xfrm>
        </p:spPr>
        <p:txBody>
          <a:bodyPr rtlCol="0"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3" y="4664147"/>
            <a:ext cx="12199546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14257" y="1752601"/>
            <a:ext cx="10361581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914257" y="3611607"/>
            <a:ext cx="10361581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5019" y="4953000"/>
            <a:ext cx="12195114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>
          <a:xfrm>
            <a:off x="8967975" y="6407944"/>
            <a:ext cx="2559920" cy="36576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©Copyright Xinjun Mao</a:t>
            </a:r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5839183" y="6407944"/>
            <a:ext cx="3133752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11527894" y="6407944"/>
            <a:ext cx="487604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86AB41F-CAC1-4232-8954-A49D2EE7F6D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3" r:id="rId8"/>
    <p:sldLayoutId id="2147483664" r:id="rId9"/>
    <p:sldLayoutId id="2147483665" r:id="rId10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503050405090304" pitchFamily="18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jp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57.xml"/><Relationship Id="rId18" Type="http://schemas.openxmlformats.org/officeDocument/2006/relationships/tags" Target="../tags/tag62.xml"/><Relationship Id="rId26" Type="http://schemas.openxmlformats.org/officeDocument/2006/relationships/tags" Target="../tags/tag70.xml"/><Relationship Id="rId3" Type="http://schemas.openxmlformats.org/officeDocument/2006/relationships/tags" Target="../tags/tag47.xml"/><Relationship Id="rId21" Type="http://schemas.openxmlformats.org/officeDocument/2006/relationships/tags" Target="../tags/tag65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tags" Target="../tags/tag69.xml"/><Relationship Id="rId33" Type="http://schemas.openxmlformats.org/officeDocument/2006/relationships/image" Target="../media/image28.png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tags" Target="../tags/tag64.xml"/><Relationship Id="rId29" Type="http://schemas.openxmlformats.org/officeDocument/2006/relationships/tags" Target="../tags/tag73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tags" Target="../tags/tag68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tags" Target="../tags/tag67.xml"/><Relationship Id="rId28" Type="http://schemas.openxmlformats.org/officeDocument/2006/relationships/tags" Target="../tags/tag72.xml"/><Relationship Id="rId10" Type="http://schemas.openxmlformats.org/officeDocument/2006/relationships/tags" Target="../tags/tag54.xml"/><Relationship Id="rId19" Type="http://schemas.openxmlformats.org/officeDocument/2006/relationships/tags" Target="../tags/tag63.xml"/><Relationship Id="rId31" Type="http://schemas.openxmlformats.org/officeDocument/2006/relationships/tags" Target="../tags/tag75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tags" Target="../tags/tag66.xml"/><Relationship Id="rId27" Type="http://schemas.openxmlformats.org/officeDocument/2006/relationships/tags" Target="../tags/tag71.xml"/><Relationship Id="rId30" Type="http://schemas.openxmlformats.org/officeDocument/2006/relationships/tags" Target="../tags/tag74.xml"/><Relationship Id="rId8" Type="http://schemas.openxmlformats.org/officeDocument/2006/relationships/tags" Target="../tags/tag5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88.xml"/><Relationship Id="rId18" Type="http://schemas.openxmlformats.org/officeDocument/2006/relationships/tags" Target="../tags/tag93.xml"/><Relationship Id="rId26" Type="http://schemas.openxmlformats.org/officeDocument/2006/relationships/tags" Target="../tags/tag101.xml"/><Relationship Id="rId39" Type="http://schemas.openxmlformats.org/officeDocument/2006/relationships/tags" Target="../tags/tag114.xml"/><Relationship Id="rId21" Type="http://schemas.openxmlformats.org/officeDocument/2006/relationships/tags" Target="../tags/tag96.xml"/><Relationship Id="rId34" Type="http://schemas.openxmlformats.org/officeDocument/2006/relationships/tags" Target="../tags/tag109.xml"/><Relationship Id="rId42" Type="http://schemas.openxmlformats.org/officeDocument/2006/relationships/tags" Target="../tags/tag117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6" Type="http://schemas.openxmlformats.org/officeDocument/2006/relationships/tags" Target="../tags/tag91.xml"/><Relationship Id="rId29" Type="http://schemas.openxmlformats.org/officeDocument/2006/relationships/tags" Target="../tags/tag104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24" Type="http://schemas.openxmlformats.org/officeDocument/2006/relationships/tags" Target="../tags/tag99.xml"/><Relationship Id="rId32" Type="http://schemas.openxmlformats.org/officeDocument/2006/relationships/tags" Target="../tags/tag107.xml"/><Relationship Id="rId37" Type="http://schemas.openxmlformats.org/officeDocument/2006/relationships/tags" Target="../tags/tag112.xml"/><Relationship Id="rId40" Type="http://schemas.openxmlformats.org/officeDocument/2006/relationships/tags" Target="../tags/tag115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23" Type="http://schemas.openxmlformats.org/officeDocument/2006/relationships/tags" Target="../tags/tag98.xml"/><Relationship Id="rId28" Type="http://schemas.openxmlformats.org/officeDocument/2006/relationships/tags" Target="../tags/tag103.xml"/><Relationship Id="rId36" Type="http://schemas.openxmlformats.org/officeDocument/2006/relationships/tags" Target="../tags/tag111.xml"/><Relationship Id="rId10" Type="http://schemas.openxmlformats.org/officeDocument/2006/relationships/tags" Target="../tags/tag85.xml"/><Relationship Id="rId19" Type="http://schemas.openxmlformats.org/officeDocument/2006/relationships/tags" Target="../tags/tag94.xml"/><Relationship Id="rId31" Type="http://schemas.openxmlformats.org/officeDocument/2006/relationships/tags" Target="../tags/tag106.xml"/><Relationship Id="rId44" Type="http://schemas.openxmlformats.org/officeDocument/2006/relationships/tags" Target="../tags/tag119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Relationship Id="rId22" Type="http://schemas.openxmlformats.org/officeDocument/2006/relationships/tags" Target="../tags/tag97.xml"/><Relationship Id="rId27" Type="http://schemas.openxmlformats.org/officeDocument/2006/relationships/tags" Target="../tags/tag102.xml"/><Relationship Id="rId30" Type="http://schemas.openxmlformats.org/officeDocument/2006/relationships/tags" Target="../tags/tag105.xml"/><Relationship Id="rId35" Type="http://schemas.openxmlformats.org/officeDocument/2006/relationships/tags" Target="../tags/tag110.xml"/><Relationship Id="rId43" Type="http://schemas.openxmlformats.org/officeDocument/2006/relationships/tags" Target="../tags/tag118.xml"/><Relationship Id="rId8" Type="http://schemas.openxmlformats.org/officeDocument/2006/relationships/tags" Target="../tags/tag83.xml"/><Relationship Id="rId3" Type="http://schemas.openxmlformats.org/officeDocument/2006/relationships/tags" Target="../tags/tag78.xml"/><Relationship Id="rId12" Type="http://schemas.openxmlformats.org/officeDocument/2006/relationships/tags" Target="../tags/tag87.xml"/><Relationship Id="rId17" Type="http://schemas.openxmlformats.org/officeDocument/2006/relationships/tags" Target="../tags/tag92.xml"/><Relationship Id="rId25" Type="http://schemas.openxmlformats.org/officeDocument/2006/relationships/tags" Target="../tags/tag100.xml"/><Relationship Id="rId33" Type="http://schemas.openxmlformats.org/officeDocument/2006/relationships/tags" Target="../tags/tag108.xml"/><Relationship Id="rId38" Type="http://schemas.openxmlformats.org/officeDocument/2006/relationships/tags" Target="../tags/tag113.xml"/><Relationship Id="rId20" Type="http://schemas.openxmlformats.org/officeDocument/2006/relationships/tags" Target="../tags/tag95.xml"/><Relationship Id="rId41" Type="http://schemas.openxmlformats.org/officeDocument/2006/relationships/tags" Target="../tags/tag116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tags" Target="../tags/tag132.xml"/><Relationship Id="rId18" Type="http://schemas.openxmlformats.org/officeDocument/2006/relationships/tags" Target="../tags/tag137.xml"/><Relationship Id="rId26" Type="http://schemas.openxmlformats.org/officeDocument/2006/relationships/tags" Target="../tags/tag145.xml"/><Relationship Id="rId39" Type="http://schemas.openxmlformats.org/officeDocument/2006/relationships/tags" Target="../tags/tag158.xml"/><Relationship Id="rId21" Type="http://schemas.openxmlformats.org/officeDocument/2006/relationships/tags" Target="../tags/tag140.xml"/><Relationship Id="rId34" Type="http://schemas.openxmlformats.org/officeDocument/2006/relationships/tags" Target="../tags/tag153.xml"/><Relationship Id="rId42" Type="http://schemas.openxmlformats.org/officeDocument/2006/relationships/tags" Target="../tags/tag161.xml"/><Relationship Id="rId47" Type="http://schemas.openxmlformats.org/officeDocument/2006/relationships/tags" Target="../tags/tag166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29" Type="http://schemas.openxmlformats.org/officeDocument/2006/relationships/tags" Target="../tags/tag148.xml"/><Relationship Id="rId11" Type="http://schemas.openxmlformats.org/officeDocument/2006/relationships/tags" Target="../tags/tag130.xml"/><Relationship Id="rId24" Type="http://schemas.openxmlformats.org/officeDocument/2006/relationships/tags" Target="../tags/tag143.xml"/><Relationship Id="rId32" Type="http://schemas.openxmlformats.org/officeDocument/2006/relationships/tags" Target="../tags/tag151.xml"/><Relationship Id="rId37" Type="http://schemas.openxmlformats.org/officeDocument/2006/relationships/tags" Target="../tags/tag156.xml"/><Relationship Id="rId40" Type="http://schemas.openxmlformats.org/officeDocument/2006/relationships/tags" Target="../tags/tag159.xml"/><Relationship Id="rId45" Type="http://schemas.openxmlformats.org/officeDocument/2006/relationships/tags" Target="../tags/tag164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23" Type="http://schemas.openxmlformats.org/officeDocument/2006/relationships/tags" Target="../tags/tag142.xml"/><Relationship Id="rId28" Type="http://schemas.openxmlformats.org/officeDocument/2006/relationships/tags" Target="../tags/tag147.xml"/><Relationship Id="rId36" Type="http://schemas.openxmlformats.org/officeDocument/2006/relationships/tags" Target="../tags/tag155.xml"/><Relationship Id="rId49" Type="http://schemas.openxmlformats.org/officeDocument/2006/relationships/slideLayout" Target="../slideLayouts/slideLayout2.xml"/><Relationship Id="rId10" Type="http://schemas.openxmlformats.org/officeDocument/2006/relationships/tags" Target="../tags/tag129.xml"/><Relationship Id="rId19" Type="http://schemas.openxmlformats.org/officeDocument/2006/relationships/tags" Target="../tags/tag138.xml"/><Relationship Id="rId31" Type="http://schemas.openxmlformats.org/officeDocument/2006/relationships/tags" Target="../tags/tag150.xml"/><Relationship Id="rId44" Type="http://schemas.openxmlformats.org/officeDocument/2006/relationships/tags" Target="../tags/tag163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Relationship Id="rId22" Type="http://schemas.openxmlformats.org/officeDocument/2006/relationships/tags" Target="../tags/tag141.xml"/><Relationship Id="rId27" Type="http://schemas.openxmlformats.org/officeDocument/2006/relationships/tags" Target="../tags/tag146.xml"/><Relationship Id="rId30" Type="http://schemas.openxmlformats.org/officeDocument/2006/relationships/tags" Target="../tags/tag149.xml"/><Relationship Id="rId35" Type="http://schemas.openxmlformats.org/officeDocument/2006/relationships/tags" Target="../tags/tag154.xml"/><Relationship Id="rId43" Type="http://schemas.openxmlformats.org/officeDocument/2006/relationships/tags" Target="../tags/tag162.xml"/><Relationship Id="rId48" Type="http://schemas.openxmlformats.org/officeDocument/2006/relationships/tags" Target="../tags/tag167.xml"/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5" Type="http://schemas.openxmlformats.org/officeDocument/2006/relationships/tags" Target="../tags/tag144.xml"/><Relationship Id="rId33" Type="http://schemas.openxmlformats.org/officeDocument/2006/relationships/tags" Target="../tags/tag152.xml"/><Relationship Id="rId38" Type="http://schemas.openxmlformats.org/officeDocument/2006/relationships/tags" Target="../tags/tag157.xml"/><Relationship Id="rId46" Type="http://schemas.openxmlformats.org/officeDocument/2006/relationships/tags" Target="../tags/tag165.xml"/><Relationship Id="rId20" Type="http://schemas.openxmlformats.org/officeDocument/2006/relationships/tags" Target="../tags/tag139.xml"/><Relationship Id="rId41" Type="http://schemas.openxmlformats.org/officeDocument/2006/relationships/tags" Target="../tags/tag160.xml"/><Relationship Id="rId1" Type="http://schemas.openxmlformats.org/officeDocument/2006/relationships/tags" Target="../tags/tag120.xml"/><Relationship Id="rId6" Type="http://schemas.openxmlformats.org/officeDocument/2006/relationships/tags" Target="../tags/tag125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180.xml"/><Relationship Id="rId18" Type="http://schemas.openxmlformats.org/officeDocument/2006/relationships/tags" Target="../tags/tag185.xml"/><Relationship Id="rId26" Type="http://schemas.openxmlformats.org/officeDocument/2006/relationships/tags" Target="../tags/tag193.xml"/><Relationship Id="rId39" Type="http://schemas.openxmlformats.org/officeDocument/2006/relationships/tags" Target="../tags/tag206.xml"/><Relationship Id="rId21" Type="http://schemas.openxmlformats.org/officeDocument/2006/relationships/tags" Target="../tags/tag188.xml"/><Relationship Id="rId34" Type="http://schemas.openxmlformats.org/officeDocument/2006/relationships/tags" Target="../tags/tag201.xml"/><Relationship Id="rId42" Type="http://schemas.openxmlformats.org/officeDocument/2006/relationships/tags" Target="../tags/tag209.xml"/><Relationship Id="rId47" Type="http://schemas.openxmlformats.org/officeDocument/2006/relationships/tags" Target="../tags/tag214.xml"/><Relationship Id="rId7" Type="http://schemas.openxmlformats.org/officeDocument/2006/relationships/tags" Target="../tags/tag174.xml"/><Relationship Id="rId2" Type="http://schemas.openxmlformats.org/officeDocument/2006/relationships/tags" Target="../tags/tag169.xml"/><Relationship Id="rId16" Type="http://schemas.openxmlformats.org/officeDocument/2006/relationships/tags" Target="../tags/tag183.xml"/><Relationship Id="rId29" Type="http://schemas.openxmlformats.org/officeDocument/2006/relationships/tags" Target="../tags/tag196.xml"/><Relationship Id="rId11" Type="http://schemas.openxmlformats.org/officeDocument/2006/relationships/tags" Target="../tags/tag178.xml"/><Relationship Id="rId24" Type="http://schemas.openxmlformats.org/officeDocument/2006/relationships/tags" Target="../tags/tag191.xml"/><Relationship Id="rId32" Type="http://schemas.openxmlformats.org/officeDocument/2006/relationships/tags" Target="../tags/tag199.xml"/><Relationship Id="rId37" Type="http://schemas.openxmlformats.org/officeDocument/2006/relationships/tags" Target="../tags/tag204.xml"/><Relationship Id="rId40" Type="http://schemas.openxmlformats.org/officeDocument/2006/relationships/tags" Target="../tags/tag207.xml"/><Relationship Id="rId45" Type="http://schemas.openxmlformats.org/officeDocument/2006/relationships/tags" Target="../tags/tag212.xml"/><Relationship Id="rId5" Type="http://schemas.openxmlformats.org/officeDocument/2006/relationships/tags" Target="../tags/tag172.xml"/><Relationship Id="rId15" Type="http://schemas.openxmlformats.org/officeDocument/2006/relationships/tags" Target="../tags/tag182.xml"/><Relationship Id="rId23" Type="http://schemas.openxmlformats.org/officeDocument/2006/relationships/tags" Target="../tags/tag190.xml"/><Relationship Id="rId28" Type="http://schemas.openxmlformats.org/officeDocument/2006/relationships/tags" Target="../tags/tag195.xml"/><Relationship Id="rId36" Type="http://schemas.openxmlformats.org/officeDocument/2006/relationships/tags" Target="../tags/tag203.xml"/><Relationship Id="rId49" Type="http://schemas.openxmlformats.org/officeDocument/2006/relationships/slideLayout" Target="../slideLayouts/slideLayout2.xml"/><Relationship Id="rId10" Type="http://schemas.openxmlformats.org/officeDocument/2006/relationships/tags" Target="../tags/tag177.xml"/><Relationship Id="rId19" Type="http://schemas.openxmlformats.org/officeDocument/2006/relationships/tags" Target="../tags/tag186.xml"/><Relationship Id="rId31" Type="http://schemas.openxmlformats.org/officeDocument/2006/relationships/tags" Target="../tags/tag198.xml"/><Relationship Id="rId44" Type="http://schemas.openxmlformats.org/officeDocument/2006/relationships/tags" Target="../tags/tag211.xml"/><Relationship Id="rId4" Type="http://schemas.openxmlformats.org/officeDocument/2006/relationships/tags" Target="../tags/tag171.xml"/><Relationship Id="rId9" Type="http://schemas.openxmlformats.org/officeDocument/2006/relationships/tags" Target="../tags/tag176.xml"/><Relationship Id="rId14" Type="http://schemas.openxmlformats.org/officeDocument/2006/relationships/tags" Target="../tags/tag181.xml"/><Relationship Id="rId22" Type="http://schemas.openxmlformats.org/officeDocument/2006/relationships/tags" Target="../tags/tag189.xml"/><Relationship Id="rId27" Type="http://schemas.openxmlformats.org/officeDocument/2006/relationships/tags" Target="../tags/tag194.xml"/><Relationship Id="rId30" Type="http://schemas.openxmlformats.org/officeDocument/2006/relationships/tags" Target="../tags/tag197.xml"/><Relationship Id="rId35" Type="http://schemas.openxmlformats.org/officeDocument/2006/relationships/tags" Target="../tags/tag202.xml"/><Relationship Id="rId43" Type="http://schemas.openxmlformats.org/officeDocument/2006/relationships/tags" Target="../tags/tag210.xml"/><Relationship Id="rId48" Type="http://schemas.openxmlformats.org/officeDocument/2006/relationships/tags" Target="../tags/tag215.xml"/><Relationship Id="rId8" Type="http://schemas.openxmlformats.org/officeDocument/2006/relationships/tags" Target="../tags/tag175.xml"/><Relationship Id="rId3" Type="http://schemas.openxmlformats.org/officeDocument/2006/relationships/tags" Target="../tags/tag170.xml"/><Relationship Id="rId12" Type="http://schemas.openxmlformats.org/officeDocument/2006/relationships/tags" Target="../tags/tag179.xml"/><Relationship Id="rId17" Type="http://schemas.openxmlformats.org/officeDocument/2006/relationships/tags" Target="../tags/tag184.xml"/><Relationship Id="rId25" Type="http://schemas.openxmlformats.org/officeDocument/2006/relationships/tags" Target="../tags/tag192.xml"/><Relationship Id="rId33" Type="http://schemas.openxmlformats.org/officeDocument/2006/relationships/tags" Target="../tags/tag200.xml"/><Relationship Id="rId38" Type="http://schemas.openxmlformats.org/officeDocument/2006/relationships/tags" Target="../tags/tag205.xml"/><Relationship Id="rId46" Type="http://schemas.openxmlformats.org/officeDocument/2006/relationships/tags" Target="../tags/tag213.xml"/><Relationship Id="rId20" Type="http://schemas.openxmlformats.org/officeDocument/2006/relationships/tags" Target="../tags/tag187.xml"/><Relationship Id="rId41" Type="http://schemas.openxmlformats.org/officeDocument/2006/relationships/tags" Target="../tags/tag208.xml"/><Relationship Id="rId1" Type="http://schemas.openxmlformats.org/officeDocument/2006/relationships/tags" Target="../tags/tag168.xml"/><Relationship Id="rId6" Type="http://schemas.openxmlformats.org/officeDocument/2006/relationships/tags" Target="../tags/tag173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228.xml"/><Relationship Id="rId18" Type="http://schemas.openxmlformats.org/officeDocument/2006/relationships/tags" Target="../tags/tag233.xml"/><Relationship Id="rId26" Type="http://schemas.openxmlformats.org/officeDocument/2006/relationships/tags" Target="../tags/tag241.xml"/><Relationship Id="rId21" Type="http://schemas.openxmlformats.org/officeDocument/2006/relationships/tags" Target="../tags/tag236.xml"/><Relationship Id="rId34" Type="http://schemas.openxmlformats.org/officeDocument/2006/relationships/tags" Target="../tags/tag249.xml"/><Relationship Id="rId7" Type="http://schemas.openxmlformats.org/officeDocument/2006/relationships/tags" Target="../tags/tag222.xml"/><Relationship Id="rId12" Type="http://schemas.openxmlformats.org/officeDocument/2006/relationships/tags" Target="../tags/tag227.xml"/><Relationship Id="rId17" Type="http://schemas.openxmlformats.org/officeDocument/2006/relationships/tags" Target="../tags/tag232.xml"/><Relationship Id="rId25" Type="http://schemas.openxmlformats.org/officeDocument/2006/relationships/tags" Target="../tags/tag240.xml"/><Relationship Id="rId33" Type="http://schemas.openxmlformats.org/officeDocument/2006/relationships/tags" Target="../tags/tag248.xml"/><Relationship Id="rId38" Type="http://schemas.openxmlformats.org/officeDocument/2006/relationships/notesSlide" Target="../notesSlides/notesSlide12.xml"/><Relationship Id="rId2" Type="http://schemas.openxmlformats.org/officeDocument/2006/relationships/tags" Target="../tags/tag217.xml"/><Relationship Id="rId16" Type="http://schemas.openxmlformats.org/officeDocument/2006/relationships/tags" Target="../tags/tag231.xml"/><Relationship Id="rId20" Type="http://schemas.openxmlformats.org/officeDocument/2006/relationships/tags" Target="../tags/tag235.xml"/><Relationship Id="rId29" Type="http://schemas.openxmlformats.org/officeDocument/2006/relationships/tags" Target="../tags/tag244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tags" Target="../tags/tag226.xml"/><Relationship Id="rId24" Type="http://schemas.openxmlformats.org/officeDocument/2006/relationships/tags" Target="../tags/tag239.xml"/><Relationship Id="rId32" Type="http://schemas.openxmlformats.org/officeDocument/2006/relationships/tags" Target="../tags/tag247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220.xml"/><Relationship Id="rId15" Type="http://schemas.openxmlformats.org/officeDocument/2006/relationships/tags" Target="../tags/tag230.xml"/><Relationship Id="rId23" Type="http://schemas.openxmlformats.org/officeDocument/2006/relationships/tags" Target="../tags/tag238.xml"/><Relationship Id="rId28" Type="http://schemas.openxmlformats.org/officeDocument/2006/relationships/tags" Target="../tags/tag243.xml"/><Relationship Id="rId36" Type="http://schemas.openxmlformats.org/officeDocument/2006/relationships/tags" Target="../tags/tag251.xml"/><Relationship Id="rId10" Type="http://schemas.openxmlformats.org/officeDocument/2006/relationships/tags" Target="../tags/tag225.xml"/><Relationship Id="rId19" Type="http://schemas.openxmlformats.org/officeDocument/2006/relationships/tags" Target="../tags/tag234.xml"/><Relationship Id="rId31" Type="http://schemas.openxmlformats.org/officeDocument/2006/relationships/tags" Target="../tags/tag246.xml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tags" Target="../tags/tag229.xml"/><Relationship Id="rId22" Type="http://schemas.openxmlformats.org/officeDocument/2006/relationships/tags" Target="../tags/tag237.xml"/><Relationship Id="rId27" Type="http://schemas.openxmlformats.org/officeDocument/2006/relationships/tags" Target="../tags/tag242.xml"/><Relationship Id="rId30" Type="http://schemas.openxmlformats.org/officeDocument/2006/relationships/tags" Target="../tags/tag245.xml"/><Relationship Id="rId35" Type="http://schemas.openxmlformats.org/officeDocument/2006/relationships/tags" Target="../tags/tag250.xml"/><Relationship Id="rId8" Type="http://schemas.openxmlformats.org/officeDocument/2006/relationships/tags" Target="../tags/tag223.xml"/><Relationship Id="rId3" Type="http://schemas.openxmlformats.org/officeDocument/2006/relationships/tags" Target="../tags/tag2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3" Type="http://schemas.openxmlformats.org/officeDocument/2006/relationships/tags" Target="../tags/tag254.xml"/><Relationship Id="rId7" Type="http://schemas.openxmlformats.org/officeDocument/2006/relationships/tags" Target="../tags/tag258.xml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55.xml"/><Relationship Id="rId9" Type="http://schemas.openxmlformats.org/officeDocument/2006/relationships/tags" Target="../tags/tag260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1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1.jpe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5.jpe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0.svg"/><Relationship Id="rId4" Type="http://schemas.openxmlformats.org/officeDocument/2006/relationships/image" Target="../media/image56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4" Type="http://schemas.openxmlformats.org/officeDocument/2006/relationships/image" Target="../media/image56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3.svg"/><Relationship Id="rId4" Type="http://schemas.openxmlformats.org/officeDocument/2006/relationships/image" Target="../media/image61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7.svg"/><Relationship Id="rId4" Type="http://schemas.openxmlformats.org/officeDocument/2006/relationships/image" Target="../media/image66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3" Type="http://schemas.openxmlformats.org/officeDocument/2006/relationships/tags" Target="../tags/tag264.xml"/><Relationship Id="rId7" Type="http://schemas.openxmlformats.org/officeDocument/2006/relationships/tags" Target="../tags/tag268.xml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5" Type="http://schemas.openxmlformats.org/officeDocument/2006/relationships/tags" Target="../tags/tag26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65.xml"/><Relationship Id="rId9" Type="http://schemas.openxmlformats.org/officeDocument/2006/relationships/tags" Target="../tags/tag27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4" Type="http://schemas.openxmlformats.org/officeDocument/2006/relationships/image" Target="../media/image69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74.xml"/><Relationship Id="rId9" Type="http://schemas.openxmlformats.org/officeDocument/2006/relationships/tags" Target="../tags/tag279.xml"/></Relationships>
</file>

<file path=ppt/slides/_rels/slide6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80.svg"/><Relationship Id="rId18" Type="http://schemas.openxmlformats.org/officeDocument/2006/relationships/image" Target="../media/image85.svg"/><Relationship Id="rId3" Type="http://schemas.openxmlformats.org/officeDocument/2006/relationships/image" Target="../media/image75.png"/><Relationship Id="rId21" Type="http://schemas.openxmlformats.org/officeDocument/2006/relationships/image" Target="../media/image88.svg"/><Relationship Id="rId7" Type="http://schemas.openxmlformats.org/officeDocument/2006/relationships/image" Target="../media/image77.png"/><Relationship Id="rId12" Type="http://schemas.microsoft.com/office/2007/relationships/hdphoto" Target="../media/hdphoto7.wdp"/><Relationship Id="rId17" Type="http://schemas.openxmlformats.org/officeDocument/2006/relationships/image" Target="../media/image84.png"/><Relationship Id="rId2" Type="http://schemas.openxmlformats.org/officeDocument/2006/relationships/image" Target="../media/image74.png"/><Relationship Id="rId16" Type="http://schemas.openxmlformats.org/officeDocument/2006/relationships/image" Target="../media/image83.png"/><Relationship Id="rId20" Type="http://schemas.openxmlformats.org/officeDocument/2006/relationships/image" Target="../media/image87.svg"/><Relationship Id="rId1" Type="http://schemas.openxmlformats.org/officeDocument/2006/relationships/slideLayout" Target="../slideLayouts/slideLayout4.xml"/><Relationship Id="rId6" Type="http://schemas.microsoft.com/office/2007/relationships/hdphoto" Target="../media/hdphoto4.wdp"/><Relationship Id="rId11" Type="http://schemas.openxmlformats.org/officeDocument/2006/relationships/image" Target="../media/image79.png"/><Relationship Id="rId24" Type="http://schemas.openxmlformats.org/officeDocument/2006/relationships/image" Target="../media/image90.svg"/><Relationship Id="rId5" Type="http://schemas.openxmlformats.org/officeDocument/2006/relationships/image" Target="../media/image76.png"/><Relationship Id="rId15" Type="http://schemas.openxmlformats.org/officeDocument/2006/relationships/image" Target="../media/image82.svg"/><Relationship Id="rId23" Type="http://schemas.microsoft.com/office/2007/relationships/hdphoto" Target="../media/hdphoto8.wdp"/><Relationship Id="rId10" Type="http://schemas.microsoft.com/office/2007/relationships/hdphoto" Target="../media/hdphoto6.wdp"/><Relationship Id="rId19" Type="http://schemas.openxmlformats.org/officeDocument/2006/relationships/image" Target="../media/image86.svg"/><Relationship Id="rId4" Type="http://schemas.microsoft.com/office/2007/relationships/hdphoto" Target="../media/hdphoto3.wdp"/><Relationship Id="rId9" Type="http://schemas.openxmlformats.org/officeDocument/2006/relationships/image" Target="../media/image78.png"/><Relationship Id="rId14" Type="http://schemas.openxmlformats.org/officeDocument/2006/relationships/image" Target="../media/image81.svg"/><Relationship Id="rId22" Type="http://schemas.openxmlformats.org/officeDocument/2006/relationships/image" Target="../media/image8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92.svg"/><Relationship Id="rId7" Type="http://schemas.openxmlformats.org/officeDocument/2006/relationships/image" Target="../media/image96.sv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5.svg"/><Relationship Id="rId11" Type="http://schemas.openxmlformats.org/officeDocument/2006/relationships/image" Target="../media/image90.svg"/><Relationship Id="rId5" Type="http://schemas.openxmlformats.org/officeDocument/2006/relationships/image" Target="../media/image94.png"/><Relationship Id="rId10" Type="http://schemas.openxmlformats.org/officeDocument/2006/relationships/image" Target="../media/image98.png"/><Relationship Id="rId4" Type="http://schemas.openxmlformats.org/officeDocument/2006/relationships/image" Target="../media/image93.svg"/><Relationship Id="rId9" Type="http://schemas.openxmlformats.org/officeDocument/2006/relationships/image" Target="../media/image86.sv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11967365" y="6555382"/>
            <a:ext cx="97741" cy="15855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52"/>
              </a:lnSpc>
              <a:tabLst/>
            </a:pPr>
            <a:endParaRPr sz="114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tabLst/>
            </a:pPr>
            <a:r>
              <a:rPr sz="1140" kern="0" spc="-12" dirty="0">
                <a:solidFill>
                  <a:srgbClr val="8989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1</a:t>
            </a:r>
            <a:endParaRPr sz="114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E59B0A-76D5-4ABB-926D-D4C54D2BD392}"/>
              </a:ext>
            </a:extLst>
          </p:cNvPr>
          <p:cNvSpPr/>
          <p:nvPr/>
        </p:nvSpPr>
        <p:spPr>
          <a:xfrm>
            <a:off x="-1" y="537"/>
            <a:ext cx="12190413" cy="3650500"/>
          </a:xfrm>
          <a:prstGeom prst="rect">
            <a:avLst/>
          </a:prstGeom>
          <a:solidFill>
            <a:srgbClr val="004A82"/>
          </a:solidFill>
          <a:ln w="9525" cap="flat" cmpd="sng" algn="ctr">
            <a:solidFill>
              <a:srgbClr val="006CA8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82940" tIns="41470" rIns="82940" bIns="41470" numCol="1" anchor="t" anchorCtr="0" compatLnSpc="1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endParaRPr lang="zh-CN" altLang="en-US" sz="1633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C4024E-F591-4599-BAB8-9D29ACC90F5C}"/>
              </a:ext>
            </a:extLst>
          </p:cNvPr>
          <p:cNvSpPr/>
          <p:nvPr/>
        </p:nvSpPr>
        <p:spPr>
          <a:xfrm>
            <a:off x="612781" y="1506981"/>
            <a:ext cx="10983231" cy="1666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28209" eaLnBrk="1" hangingPunct="1">
              <a:spcBef>
                <a:spcPts val="0"/>
              </a:spcBef>
              <a:spcAft>
                <a:spcPts val="544"/>
              </a:spcAft>
            </a:pPr>
            <a:r>
              <a:rPr lang="zh-CN" altLang="en-US" sz="435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多模态大模型及智能体</a:t>
            </a:r>
          </a:p>
        </p:txBody>
      </p:sp>
      <p:pic>
        <p:nvPicPr>
          <p:cNvPr id="21" name="图片 99">
            <a:extLst>
              <a:ext uri="{FF2B5EF4-FFF2-40B4-BE49-F238E27FC236}">
                <a16:creationId xmlns:a16="http://schemas.microsoft.com/office/drawing/2014/main" id="{4DBA4B13-3510-46BA-87CA-A91997DA2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77345" y="76565"/>
            <a:ext cx="1076126" cy="1041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27143" y="1361164"/>
            <a:ext cx="2839239" cy="600164"/>
          </a:xfrm>
        </p:spPr>
        <p:txBody>
          <a:bodyPr wrap="none" anchor="ctr">
            <a:spAutoFit/>
          </a:bodyPr>
          <a:lstStyle/>
          <a:p>
            <a:pPr marL="0" algn="l" defTabSz="914400" eaLnBrk="1" hangingPunct="1">
              <a:spcBef>
                <a:spcPts val="1000"/>
              </a:spcBef>
              <a:buClrTx/>
              <a:buSzTx/>
              <a:buFont typeface="Arial" panose="020B0604020202090204" pitchFamily="34" charset="0"/>
              <a:buNone/>
            </a:pPr>
            <a:r>
              <a:rPr kumimoji="1" lang="zh-CN" altLang="en-US" sz="3300" b="1" spc="150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charset="-122"/>
              </a:rPr>
              <a:t>一、发展历程</a:t>
            </a:r>
          </a:p>
        </p:txBody>
      </p:sp>
      <p:sp>
        <p:nvSpPr>
          <p:cNvPr id="44" name="内容占位符 1"/>
          <p:cNvSpPr txBox="1"/>
          <p:nvPr>
            <p:custDataLst>
              <p:tags r:id="rId2"/>
            </p:custDataLst>
          </p:nvPr>
        </p:nvSpPr>
        <p:spPr>
          <a:xfrm>
            <a:off x="4527143" y="2273223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rgbClr val="004A82"/>
                </a:solidFill>
              </a:rPr>
              <a:t>二、模型架构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395834" y="1358840"/>
            <a:ext cx="2007876" cy="4140000"/>
            <a:chOff x="435714" y="1377232"/>
            <a:chExt cx="2007876" cy="4140000"/>
          </a:xfrm>
        </p:grpSpPr>
        <p:sp>
          <p:nvSpPr>
            <p:cNvPr id="48" name="矩形 47"/>
            <p:cNvSpPr/>
            <p:nvPr>
              <p:custDataLst>
                <p:tags r:id="rId7"/>
              </p:custDataLst>
            </p:nvPr>
          </p:nvSpPr>
          <p:spPr>
            <a:xfrm>
              <a:off x="435714" y="1377232"/>
              <a:ext cx="1800200" cy="4140000"/>
            </a:xfrm>
            <a:prstGeom prst="rect">
              <a:avLst/>
            </a:prstGeom>
            <a:noFill/>
            <a:ln w="25400">
              <a:solidFill>
                <a:srgbClr val="004A8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800" b="1" dirty="0">
                <a:solidFill>
                  <a:srgbClr val="000066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 rot="5400000">
              <a:off x="1392981" y="3247177"/>
              <a:ext cx="1701107" cy="400110"/>
            </a:xfrm>
            <a:prstGeom prst="rect">
              <a:avLst/>
            </a:prstGeom>
            <a:solidFill>
              <a:srgbClr val="004A8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i="1" spc="100" dirty="0">
                  <a:solidFill>
                    <a:schemeClr val="bg1"/>
                  </a:solidFill>
                </a:rPr>
                <a:t>CONTENTS</a:t>
              </a:r>
              <a:endParaRPr lang="zh-CN" altLang="en-US" sz="2000" i="1" spc="1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9"/>
              </p:custDataLst>
            </p:nvPr>
          </p:nvSpPr>
          <p:spPr>
            <a:xfrm>
              <a:off x="916431" y="2230883"/>
              <a:ext cx="640715" cy="252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本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节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内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容</a:t>
              </a:r>
            </a:p>
          </p:txBody>
        </p:sp>
      </p:grpSp>
      <p:sp>
        <p:nvSpPr>
          <p:cNvPr id="2" name="内容占位符 1"/>
          <p:cNvSpPr txBox="1"/>
          <p:nvPr>
            <p:custDataLst>
              <p:tags r:id="rId3"/>
            </p:custDataLst>
          </p:nvPr>
        </p:nvSpPr>
        <p:spPr>
          <a:xfrm>
            <a:off x="4527143" y="3162199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rgbClr val="004A82"/>
                </a:solidFill>
              </a:rPr>
              <a:t>三、模型训练</a:t>
            </a:r>
          </a:p>
        </p:txBody>
      </p:sp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453CADE1-90F2-40EA-ABA2-008C504BD25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1F4BBE9D-CB2A-45C8-AA89-51AEEF5B65A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27143" y="4051175"/>
            <a:ext cx="5005216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rgbClr val="004A82"/>
                </a:solidFill>
              </a:rPr>
              <a:t>四、模型增强与适配技术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DF7738E5-3910-4017-98A0-CA5E55A87B7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25383" y="4940151"/>
            <a:ext cx="4157228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rgbClr val="004A82"/>
                </a:solidFill>
              </a:rPr>
              <a:t>五、智能体</a:t>
            </a:r>
            <a:r>
              <a:rPr kumimoji="1" lang="en-US" altLang="zh-CN" sz="3300" spc="150" dirty="0">
                <a:solidFill>
                  <a:srgbClr val="004A82"/>
                </a:solidFill>
              </a:rPr>
              <a:t>/Agent</a:t>
            </a:r>
            <a:endParaRPr kumimoji="1" lang="zh-CN" altLang="en-US" sz="3300" spc="150" dirty="0">
              <a:solidFill>
                <a:srgbClr val="004A8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D03D2-2AAB-FEF6-7B6F-4A29D548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>
            <a:extLst>
              <a:ext uri="{FF2B5EF4-FFF2-40B4-BE49-F238E27FC236}">
                <a16:creationId xmlns:a16="http://schemas.microsoft.com/office/drawing/2014/main" id="{1D4B0C42-8297-2491-8B82-3EBD132A87B5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27143" y="1361164"/>
            <a:ext cx="2839239" cy="600164"/>
          </a:xfrm>
        </p:spPr>
        <p:txBody>
          <a:bodyPr wrap="none" anchor="ctr">
            <a:spAutoFit/>
          </a:bodyPr>
          <a:lstStyle/>
          <a:p>
            <a:pPr marL="0" algn="l" defTabSz="914400" eaLnBrk="1" hangingPunct="1">
              <a:spcBef>
                <a:spcPts val="1000"/>
              </a:spcBef>
              <a:buClrTx/>
              <a:buSzTx/>
              <a:buFont typeface="Arial" panose="020B0604020202090204" pitchFamily="34" charset="0"/>
              <a:buNone/>
            </a:pPr>
            <a:r>
              <a:rPr kumimoji="1" lang="zh-CN" altLang="en-US" sz="3300" b="1" spc="150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charset="-122"/>
              </a:rPr>
              <a:t>一、发展历程</a:t>
            </a:r>
          </a:p>
        </p:txBody>
      </p:sp>
      <p:sp>
        <p:nvSpPr>
          <p:cNvPr id="44" name="内容占位符 1">
            <a:extLst>
              <a:ext uri="{FF2B5EF4-FFF2-40B4-BE49-F238E27FC236}">
                <a16:creationId xmlns:a16="http://schemas.microsoft.com/office/drawing/2014/main" id="{B118DDE6-63FE-8BFC-2CEB-020CE65AC4D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27143" y="2273223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二、模型架构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E7EA7DD-A57A-9D33-AC3F-0595F99496D5}"/>
              </a:ext>
            </a:extLst>
          </p:cNvPr>
          <p:cNvGrpSpPr/>
          <p:nvPr/>
        </p:nvGrpSpPr>
        <p:grpSpPr>
          <a:xfrm>
            <a:off x="1395834" y="1358840"/>
            <a:ext cx="2007876" cy="4140000"/>
            <a:chOff x="435714" y="1377232"/>
            <a:chExt cx="2007876" cy="414000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783CC40-944A-508E-6154-B9FA2AC6F1E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35714" y="1377232"/>
              <a:ext cx="1800200" cy="4140000"/>
            </a:xfrm>
            <a:prstGeom prst="rect">
              <a:avLst/>
            </a:prstGeom>
            <a:noFill/>
            <a:ln w="25400">
              <a:solidFill>
                <a:srgbClr val="004A8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800" b="1" dirty="0">
                <a:solidFill>
                  <a:srgbClr val="000066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ADCF6D1-4A49-4B4C-8B71-5D2367E5771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 rot="5400000">
              <a:off x="1392981" y="3247177"/>
              <a:ext cx="1701107" cy="400110"/>
            </a:xfrm>
            <a:prstGeom prst="rect">
              <a:avLst/>
            </a:prstGeom>
            <a:solidFill>
              <a:srgbClr val="004A8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i="1" spc="100" dirty="0">
                  <a:solidFill>
                    <a:schemeClr val="bg1"/>
                  </a:solidFill>
                </a:rPr>
                <a:t>CONTENTS</a:t>
              </a:r>
              <a:endParaRPr lang="zh-CN" altLang="en-US" sz="2000" i="1" spc="1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952DAB2-6D5A-2D0F-A63D-78B0A4B4103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916431" y="2230883"/>
              <a:ext cx="640715" cy="252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本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节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内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容</a:t>
              </a:r>
            </a:p>
          </p:txBody>
        </p:sp>
      </p:grp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814F029-DFA8-27CB-7E8A-37F5AD7197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27143" y="3162199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三、模型训练</a:t>
            </a:r>
          </a:p>
        </p:txBody>
      </p:sp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A7BFBDDD-1CAD-72DF-D925-C76498ACB4B8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EF91C45D-9A58-17D9-78B2-B2A4F88CE2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27143" y="4051175"/>
            <a:ext cx="5005216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四、模型增强与适配技术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620D5C6D-FEEC-4071-601F-29ED2D29904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25383" y="4940151"/>
            <a:ext cx="4157228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五、智能体</a:t>
            </a:r>
            <a:r>
              <a:rPr kumimoji="1" lang="en-US" altLang="zh-CN" sz="3300" spc="150" dirty="0">
                <a:solidFill>
                  <a:schemeClr val="bg1">
                    <a:lumMod val="65000"/>
                  </a:schemeClr>
                </a:solidFill>
              </a:rPr>
              <a:t>/Agent</a:t>
            </a:r>
            <a:endParaRPr kumimoji="1" lang="zh-CN" altLang="en-US" sz="3300" spc="15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1268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453CADE1-90F2-40EA-ABA2-008C504BD25E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A71691A-F1B3-403C-ADFA-2EBB1BF87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590" y="8620"/>
            <a:ext cx="10909212" cy="646331"/>
          </a:xfrm>
        </p:spPr>
        <p:txBody>
          <a:bodyPr/>
          <a:lstStyle/>
          <a:p>
            <a:r>
              <a:rPr lang="zh-CN" altLang="en-US" dirty="0"/>
              <a:t>专有模型到通用模型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B543D79-CE07-4411-B56E-BE41C319AF87}"/>
              </a:ext>
            </a:extLst>
          </p:cNvPr>
          <p:cNvGrpSpPr/>
          <p:nvPr/>
        </p:nvGrpSpPr>
        <p:grpSpPr>
          <a:xfrm>
            <a:off x="2445" y="0"/>
            <a:ext cx="12185522" cy="6858000"/>
            <a:chOff x="2445" y="0"/>
            <a:chExt cx="12185522" cy="68580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831DC1A-DAAB-4880-AB93-23A9F3794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5" y="0"/>
              <a:ext cx="12185522" cy="6858000"/>
            </a:xfrm>
            <a:prstGeom prst="rect">
              <a:avLst/>
            </a:prstGeom>
          </p:spPr>
        </p:pic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DB6107F3-B5BC-40C7-9D30-697E34BEC9C0}"/>
                </a:ext>
              </a:extLst>
            </p:cNvPr>
            <p:cNvSpPr/>
            <p:nvPr/>
          </p:nvSpPr>
          <p:spPr>
            <a:xfrm>
              <a:off x="982638" y="3356992"/>
              <a:ext cx="900100" cy="324036"/>
            </a:xfrm>
            <a:prstGeom prst="roundRect">
              <a:avLst/>
            </a:prstGeom>
            <a:solidFill>
              <a:srgbClr val="0158BA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126F958-4F2C-4118-AEBD-105F6F586928}"/>
                </a:ext>
              </a:extLst>
            </p:cNvPr>
            <p:cNvSpPr/>
            <p:nvPr/>
          </p:nvSpPr>
          <p:spPr>
            <a:xfrm>
              <a:off x="3322898" y="3356992"/>
              <a:ext cx="900100" cy="324036"/>
            </a:xfrm>
            <a:prstGeom prst="roundRect">
              <a:avLst/>
            </a:prstGeom>
            <a:solidFill>
              <a:srgbClr val="0158BA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529C077-F7EC-4ADD-91FC-FE4C17F77416}"/>
                </a:ext>
              </a:extLst>
            </p:cNvPr>
            <p:cNvSpPr/>
            <p:nvPr/>
          </p:nvSpPr>
          <p:spPr>
            <a:xfrm>
              <a:off x="3322898" y="5193196"/>
              <a:ext cx="900100" cy="324036"/>
            </a:xfrm>
            <a:prstGeom prst="roundRect">
              <a:avLst/>
            </a:prstGeom>
            <a:solidFill>
              <a:srgbClr val="0158BA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A11A5A7D-1A16-49D8-8CA3-55B3A85FE8EF}"/>
                </a:ext>
              </a:extLst>
            </p:cNvPr>
            <p:cNvSpPr/>
            <p:nvPr/>
          </p:nvSpPr>
          <p:spPr>
            <a:xfrm>
              <a:off x="982638" y="5193196"/>
              <a:ext cx="900100" cy="324036"/>
            </a:xfrm>
            <a:prstGeom prst="roundRect">
              <a:avLst/>
            </a:prstGeom>
            <a:solidFill>
              <a:srgbClr val="0158BA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B34010-1580-4A5A-94DA-6AFF576121BF}"/>
                </a:ext>
              </a:extLst>
            </p:cNvPr>
            <p:cNvSpPr txBox="1"/>
            <p:nvPr/>
          </p:nvSpPr>
          <p:spPr>
            <a:xfrm>
              <a:off x="966292" y="3380240"/>
              <a:ext cx="900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专用模型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DD592EC-8C68-4293-9195-D7A7B1F28F0B}"/>
                </a:ext>
              </a:extLst>
            </p:cNvPr>
            <p:cNvSpPr txBox="1"/>
            <p:nvPr/>
          </p:nvSpPr>
          <p:spPr>
            <a:xfrm>
              <a:off x="3306552" y="3380240"/>
              <a:ext cx="900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专用模型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D394087-18CF-49D7-9846-27BB1EC9BFAD}"/>
                </a:ext>
              </a:extLst>
            </p:cNvPr>
            <p:cNvSpPr txBox="1"/>
            <p:nvPr/>
          </p:nvSpPr>
          <p:spPr>
            <a:xfrm>
              <a:off x="982638" y="5209455"/>
              <a:ext cx="900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专用模型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6EB0E92-E135-4BE2-B8D4-7B99476D21B7}"/>
                </a:ext>
              </a:extLst>
            </p:cNvPr>
            <p:cNvSpPr txBox="1"/>
            <p:nvPr/>
          </p:nvSpPr>
          <p:spPr>
            <a:xfrm>
              <a:off x="3358902" y="5193196"/>
              <a:ext cx="900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专用模型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组合 86">
            <a:extLst>
              <a:ext uri="{FF2B5EF4-FFF2-40B4-BE49-F238E27FC236}">
                <a16:creationId xmlns:a16="http://schemas.microsoft.com/office/drawing/2014/main" id="{9C51287A-AC14-4274-A936-2E6BEEFF52B8}"/>
              </a:ext>
            </a:extLst>
          </p:cNvPr>
          <p:cNvGrpSpPr/>
          <p:nvPr/>
        </p:nvGrpSpPr>
        <p:grpSpPr>
          <a:xfrm>
            <a:off x="514586" y="728700"/>
            <a:ext cx="11205480" cy="6084676"/>
            <a:chOff x="514586" y="728700"/>
            <a:chExt cx="11205480" cy="6084676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26F33DD-5D38-49A6-8F9A-B5F9D5092EF7}"/>
                </a:ext>
              </a:extLst>
            </p:cNvPr>
            <p:cNvGrpSpPr/>
            <p:nvPr/>
          </p:nvGrpSpPr>
          <p:grpSpPr>
            <a:xfrm>
              <a:off x="514586" y="728700"/>
              <a:ext cx="11146169" cy="6084676"/>
              <a:chOff x="154546" y="728700"/>
              <a:chExt cx="11146169" cy="6084676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C58FF244-023A-4ED5-8562-80AA34896270}"/>
                  </a:ext>
                </a:extLst>
              </p:cNvPr>
              <p:cNvGrpSpPr/>
              <p:nvPr/>
            </p:nvGrpSpPr>
            <p:grpSpPr>
              <a:xfrm>
                <a:off x="154546" y="728700"/>
                <a:ext cx="11146169" cy="6084676"/>
                <a:chOff x="522121" y="728700"/>
                <a:chExt cx="11146169" cy="6084676"/>
              </a:xfrm>
            </p:grpSpPr>
            <p:pic>
              <p:nvPicPr>
                <p:cNvPr id="9" name="图片 8">
                  <a:extLst>
                    <a:ext uri="{FF2B5EF4-FFF2-40B4-BE49-F238E27FC236}">
                      <a16:creationId xmlns:a16="http://schemas.microsoft.com/office/drawing/2014/main" id="{75D6CA25-06C6-4096-94AD-4ADDFD41E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22121" y="728700"/>
                  <a:ext cx="11146169" cy="6084676"/>
                </a:xfrm>
                <a:prstGeom prst="rect">
                  <a:avLst/>
                </a:prstGeom>
              </p:spPr>
            </p:pic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3AA26D1B-0100-4797-8572-7526FD8D1CD0}"/>
                    </a:ext>
                  </a:extLst>
                </p:cNvPr>
                <p:cNvSpPr/>
                <p:nvPr/>
              </p:nvSpPr>
              <p:spPr>
                <a:xfrm>
                  <a:off x="3316937" y="4430233"/>
                  <a:ext cx="481548" cy="466311"/>
                </a:xfrm>
                <a:prstGeom prst="ellipse">
                  <a:avLst/>
                </a:prstGeom>
                <a:solidFill>
                  <a:srgbClr val="EFF2F1"/>
                </a:solidFill>
                <a:ln w="3810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026" name="Picture 2" descr="LLaVA Logo PNG Vector (SVG) Free Download">
                  <a:extLst>
                    <a:ext uri="{FF2B5EF4-FFF2-40B4-BE49-F238E27FC236}">
                      <a16:creationId xmlns:a16="http://schemas.microsoft.com/office/drawing/2014/main" id="{DF50D375-2386-408F-B942-6D1BB602138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0563" y="4428492"/>
                  <a:ext cx="434296" cy="43429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0A9B57F-0EFB-4F2A-8E6E-87613DC544FB}"/>
                  </a:ext>
                </a:extLst>
              </p:cNvPr>
              <p:cNvSpPr/>
              <p:nvPr/>
            </p:nvSpPr>
            <p:spPr>
              <a:xfrm>
                <a:off x="334566" y="2456892"/>
                <a:ext cx="230582" cy="756084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64905F2-897A-4901-9B2E-132E20012F35}"/>
                  </a:ext>
                </a:extLst>
              </p:cNvPr>
              <p:cNvSpPr/>
              <p:nvPr/>
            </p:nvSpPr>
            <p:spPr>
              <a:xfrm>
                <a:off x="340416" y="5013176"/>
                <a:ext cx="230582" cy="756084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CA24BBB-8A26-4C67-9790-6D392D87CF35}"/>
                  </a:ext>
                </a:extLst>
              </p:cNvPr>
              <p:cNvSpPr txBox="1"/>
              <p:nvPr/>
            </p:nvSpPr>
            <p:spPr>
              <a:xfrm>
                <a:off x="334566" y="2325086"/>
                <a:ext cx="41060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闭源模型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51F2B20-EAFC-4282-AB07-12DFD6157C1D}"/>
                  </a:ext>
                </a:extLst>
              </p:cNvPr>
              <p:cNvSpPr txBox="1"/>
              <p:nvPr/>
            </p:nvSpPr>
            <p:spPr>
              <a:xfrm>
                <a:off x="340416" y="4761148"/>
                <a:ext cx="41060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开源模型</a:t>
                </a: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15306B0-5FC1-40F1-AFEC-F8BCC2705956}"/>
                </a:ext>
              </a:extLst>
            </p:cNvPr>
            <p:cNvSpPr/>
            <p:nvPr/>
          </p:nvSpPr>
          <p:spPr>
            <a:xfrm>
              <a:off x="9695606" y="2724955"/>
              <a:ext cx="1443941" cy="430887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1064B15-2F12-4589-B805-5A0DA9C2FEE0}"/>
                </a:ext>
              </a:extLst>
            </p:cNvPr>
            <p:cNvSpPr/>
            <p:nvPr/>
          </p:nvSpPr>
          <p:spPr>
            <a:xfrm>
              <a:off x="4601638" y="1304764"/>
              <a:ext cx="2969732" cy="286291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E1A29BD-BBC9-4379-B5C5-15CADC2CD132}"/>
                </a:ext>
              </a:extLst>
            </p:cNvPr>
            <p:cNvSpPr txBox="1"/>
            <p:nvPr/>
          </p:nvSpPr>
          <p:spPr>
            <a:xfrm>
              <a:off x="4511030" y="1304764"/>
              <a:ext cx="32763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核心技术演进与重要里程碑回顾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73D35D3-A324-4B24-9895-E1B818DDB9D5}"/>
                </a:ext>
              </a:extLst>
            </p:cNvPr>
            <p:cNvSpPr/>
            <p:nvPr/>
          </p:nvSpPr>
          <p:spPr>
            <a:xfrm>
              <a:off x="1810730" y="1988841"/>
              <a:ext cx="1332148" cy="396044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315A379-7113-424F-A1FA-4547406BCD1C}"/>
                </a:ext>
              </a:extLst>
            </p:cNvPr>
            <p:cNvSpPr txBox="1"/>
            <p:nvPr/>
          </p:nvSpPr>
          <p:spPr>
            <a:xfrm>
              <a:off x="1698936" y="1953997"/>
              <a:ext cx="161046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先驱的多模态学习器，集成视觉与语言。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28563DB-3EAB-4BF2-8B00-4A847A10BCF6}"/>
                </a:ext>
              </a:extLst>
            </p:cNvPr>
            <p:cNvSpPr/>
            <p:nvPr/>
          </p:nvSpPr>
          <p:spPr>
            <a:xfrm>
              <a:off x="1799070" y="2691788"/>
              <a:ext cx="1199791" cy="430887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C157FEE-8765-4C2B-A28E-C836C0ECBF70}"/>
                </a:ext>
              </a:extLst>
            </p:cNvPr>
            <p:cNvSpPr txBox="1"/>
            <p:nvPr/>
          </p:nvSpPr>
          <p:spPr>
            <a:xfrm>
              <a:off x="1702718" y="2674077"/>
              <a:ext cx="14439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通用的通用智能体，处理多种模态。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2DAD280-62E6-4D9B-A34E-C0FC70F7DEC2}"/>
                </a:ext>
              </a:extLst>
            </p:cNvPr>
            <p:cNvSpPr/>
            <p:nvPr/>
          </p:nvSpPr>
          <p:spPr>
            <a:xfrm>
              <a:off x="1797672" y="3433348"/>
              <a:ext cx="1093178" cy="34659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677235B-6902-42BF-A5A2-D33DBE7BBA6B}"/>
                </a:ext>
              </a:extLst>
            </p:cNvPr>
            <p:cNvSpPr txBox="1"/>
            <p:nvPr/>
          </p:nvSpPr>
          <p:spPr>
            <a:xfrm>
              <a:off x="1702718" y="3392996"/>
              <a:ext cx="13208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卓越的视觉与语言预训练框架。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C1E8C54-E208-4900-9895-F20DDD7D7FE4}"/>
                </a:ext>
              </a:extLst>
            </p:cNvPr>
            <p:cNvSpPr/>
            <p:nvPr/>
          </p:nvSpPr>
          <p:spPr>
            <a:xfrm>
              <a:off x="2134766" y="4605357"/>
              <a:ext cx="1044116" cy="396044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5145F11-4C8D-4F48-BE7E-4541F653189A}"/>
                </a:ext>
              </a:extLst>
            </p:cNvPr>
            <p:cNvSpPr txBox="1"/>
            <p:nvPr/>
          </p:nvSpPr>
          <p:spPr>
            <a:xfrm>
              <a:off x="2098762" y="4561184"/>
              <a:ext cx="13321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统一的预训练框</a:t>
              </a:r>
              <a:endParaRPr lang="en-US" altLang="zh-CN" sz="11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架，零样多模态。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3DE431A-8BC5-44C0-994A-7ECC328F1E2A}"/>
                </a:ext>
              </a:extLst>
            </p:cNvPr>
            <p:cNvSpPr/>
            <p:nvPr/>
          </p:nvSpPr>
          <p:spPr>
            <a:xfrm>
              <a:off x="3809550" y="1988841"/>
              <a:ext cx="1169532" cy="38850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2EAEA16-4993-4C51-A953-E57FA26D35AE}"/>
                </a:ext>
              </a:extLst>
            </p:cNvPr>
            <p:cNvSpPr txBox="1"/>
            <p:nvPr/>
          </p:nvSpPr>
          <p:spPr>
            <a:xfrm>
              <a:off x="3718942" y="1952836"/>
              <a:ext cx="14532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首个具身多模态模</a:t>
              </a:r>
              <a:endParaRPr lang="en-US" altLang="zh-CN" sz="11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型，应用于机器人。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9569AB1-F5A3-45ED-B087-BE107E70750C}"/>
                </a:ext>
              </a:extLst>
            </p:cNvPr>
            <p:cNvSpPr/>
            <p:nvPr/>
          </p:nvSpPr>
          <p:spPr>
            <a:xfrm>
              <a:off x="3998272" y="2720549"/>
              <a:ext cx="980810" cy="528431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639CF7B-E4C0-4BAE-82BE-A288D9506F9A}"/>
                </a:ext>
              </a:extLst>
            </p:cNvPr>
            <p:cNvSpPr txBox="1"/>
            <p:nvPr/>
          </p:nvSpPr>
          <p:spPr>
            <a:xfrm>
              <a:off x="3898962" y="2648816"/>
              <a:ext cx="1253849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solidFill>
                    <a:schemeClr val="tx1"/>
                  </a:solidFill>
                  <a:latin typeface="+mn-ea"/>
                  <a:ea typeface="+mn-ea"/>
                </a:rPr>
                <a:t>OpenAI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旗舰模型，提供强大通用视觉能力。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D4BF5CE-1DFB-438D-8D08-44E1B7A8B0B1}"/>
                </a:ext>
              </a:extLst>
            </p:cNvPr>
            <p:cNvSpPr/>
            <p:nvPr/>
          </p:nvSpPr>
          <p:spPr>
            <a:xfrm>
              <a:off x="3970970" y="3429000"/>
              <a:ext cx="1008112" cy="394883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BC367DA-422F-4D4D-B7CC-C6D5C7066D3C}"/>
                </a:ext>
              </a:extLst>
            </p:cNvPr>
            <p:cNvSpPr txBox="1"/>
            <p:nvPr/>
          </p:nvSpPr>
          <p:spPr>
            <a:xfrm>
              <a:off x="3879082" y="3392996"/>
              <a:ext cx="131602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Google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的原生</a:t>
              </a:r>
              <a:endParaRPr lang="en-US" altLang="zh-CN" sz="11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多模态模型家族。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73A4E9F-F44C-428F-810C-B11B3B17DEE2}"/>
                </a:ext>
              </a:extLst>
            </p:cNvPr>
            <p:cNvSpPr/>
            <p:nvPr/>
          </p:nvSpPr>
          <p:spPr>
            <a:xfrm>
              <a:off x="5822390" y="1998320"/>
              <a:ext cx="1244924" cy="37902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57F942D-BA98-41E4-B03F-47DDEFB7F77F}"/>
                </a:ext>
              </a:extLst>
            </p:cNvPr>
            <p:cNvSpPr txBox="1"/>
            <p:nvPr/>
          </p:nvSpPr>
          <p:spPr>
            <a:xfrm>
              <a:off x="5722881" y="1925249"/>
              <a:ext cx="14439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具有全模态实时交互能力的旗舰。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8C68AEE-9184-4A60-9B01-AE40AD5F98D8}"/>
                </a:ext>
              </a:extLst>
            </p:cNvPr>
            <p:cNvSpPr/>
            <p:nvPr/>
          </p:nvSpPr>
          <p:spPr>
            <a:xfrm>
              <a:off x="5811966" y="2689233"/>
              <a:ext cx="1255348" cy="37902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645460B-F622-4CC7-9467-6E67F1639228}"/>
                </a:ext>
              </a:extLst>
            </p:cNvPr>
            <p:cNvSpPr txBox="1"/>
            <p:nvPr/>
          </p:nvSpPr>
          <p:spPr>
            <a:xfrm>
              <a:off x="5735166" y="2672916"/>
              <a:ext cx="15841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百万级 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Token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长上下文原生多模态。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A37022A-34CB-4F75-AB85-58BCEDDCDAAD}"/>
                </a:ext>
              </a:extLst>
            </p:cNvPr>
            <p:cNvSpPr/>
            <p:nvPr/>
          </p:nvSpPr>
          <p:spPr>
            <a:xfrm>
              <a:off x="5811966" y="3423264"/>
              <a:ext cx="1147336" cy="356683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D06C385-D788-4C06-9822-9656FAE6F87A}"/>
                </a:ext>
              </a:extLst>
            </p:cNvPr>
            <p:cNvSpPr txBox="1"/>
            <p:nvPr/>
          </p:nvSpPr>
          <p:spPr>
            <a:xfrm>
              <a:off x="5774638" y="3392223"/>
              <a:ext cx="13807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卓越的推理和图表分析能力。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73B43FB-E852-4713-A745-F412D0EF88C0}"/>
                </a:ext>
              </a:extLst>
            </p:cNvPr>
            <p:cNvSpPr/>
            <p:nvPr/>
          </p:nvSpPr>
          <p:spPr>
            <a:xfrm>
              <a:off x="7795582" y="1978285"/>
              <a:ext cx="999924" cy="40659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6D4FA11-30B6-4A94-ADC4-BB6749621E02}"/>
                </a:ext>
              </a:extLst>
            </p:cNvPr>
            <p:cNvSpPr txBox="1"/>
            <p:nvPr/>
          </p:nvSpPr>
          <p:spPr>
            <a:xfrm>
              <a:off x="7714039" y="1952836"/>
              <a:ext cx="124492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超越推理极限的智能体能力。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2C1B0281-F46E-4DF4-9CB8-6BA8CDAAE61B}"/>
                </a:ext>
              </a:extLst>
            </p:cNvPr>
            <p:cNvSpPr/>
            <p:nvPr/>
          </p:nvSpPr>
          <p:spPr>
            <a:xfrm>
              <a:off x="7768616" y="2781971"/>
              <a:ext cx="1278918" cy="430887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A3BEE2A-CA5D-4F04-8B5E-DB63D1AE73FD}"/>
                </a:ext>
              </a:extLst>
            </p:cNvPr>
            <p:cNvSpPr txBox="1"/>
            <p:nvPr/>
          </p:nvSpPr>
          <p:spPr>
            <a:xfrm>
              <a:off x="7714039" y="2736457"/>
              <a:ext cx="15841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Google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的下一代</a:t>
              </a:r>
              <a:endParaRPr lang="en-US" altLang="zh-CN" sz="11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全模态 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Agent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基座。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E704353F-5948-440E-B8A7-8FB53712F4E9}"/>
                </a:ext>
              </a:extLst>
            </p:cNvPr>
            <p:cNvSpPr txBox="1"/>
            <p:nvPr/>
          </p:nvSpPr>
          <p:spPr>
            <a:xfrm>
              <a:off x="9655819" y="2710081"/>
              <a:ext cx="15841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高度具身化与全规划的 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Omni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模型。</a:t>
              </a: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8CA08A0-0A04-431D-8EB8-08BA4AF2DC3B}"/>
                </a:ext>
              </a:extLst>
            </p:cNvPr>
            <p:cNvSpPr/>
            <p:nvPr/>
          </p:nvSpPr>
          <p:spPr>
            <a:xfrm>
              <a:off x="3837900" y="4605357"/>
              <a:ext cx="1069174" cy="34746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C38B26A-83D0-4E75-9C32-7317D38D2912}"/>
                </a:ext>
              </a:extLst>
            </p:cNvPr>
            <p:cNvSpPr txBox="1"/>
            <p:nvPr/>
          </p:nvSpPr>
          <p:spPr>
            <a:xfrm>
              <a:off x="3753055" y="4552629"/>
              <a:ext cx="122602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开源视觉语言模型的先驱。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9D27978-1E1B-4B10-8162-4CD2CA5CA360}"/>
                </a:ext>
              </a:extLst>
            </p:cNvPr>
            <p:cNvSpPr/>
            <p:nvPr/>
          </p:nvSpPr>
          <p:spPr>
            <a:xfrm>
              <a:off x="3837900" y="5357651"/>
              <a:ext cx="1069174" cy="41160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FB15C94-E7C3-45F7-98FF-789936ADEDAC}"/>
                </a:ext>
              </a:extLst>
            </p:cNvPr>
            <p:cNvSpPr txBox="1"/>
            <p:nvPr/>
          </p:nvSpPr>
          <p:spPr>
            <a:xfrm>
              <a:off x="3776602" y="5337287"/>
              <a:ext cx="12876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阿里巴巴的强大开源多模态。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FCD667B-8ACE-4FB0-ACF5-DAD99C40F09C}"/>
                </a:ext>
              </a:extLst>
            </p:cNvPr>
            <p:cNvSpPr/>
            <p:nvPr/>
          </p:nvSpPr>
          <p:spPr>
            <a:xfrm>
              <a:off x="3837900" y="6129300"/>
              <a:ext cx="1199563" cy="41160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4BDF12AD-7EBB-4224-B137-17A2A52FD975}"/>
                </a:ext>
              </a:extLst>
            </p:cNvPr>
            <p:cNvSpPr/>
            <p:nvPr/>
          </p:nvSpPr>
          <p:spPr>
            <a:xfrm>
              <a:off x="5014015" y="6414426"/>
              <a:ext cx="90010" cy="119564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20EE3A5-78E2-4D2E-9106-8A59D7A558CF}"/>
                </a:ext>
              </a:extLst>
            </p:cNvPr>
            <p:cNvSpPr txBox="1"/>
            <p:nvPr/>
          </p:nvSpPr>
          <p:spPr>
            <a:xfrm>
              <a:off x="3776601" y="6074268"/>
              <a:ext cx="148016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上海人工智能实验</a:t>
              </a:r>
              <a:endParaRPr lang="en-US" altLang="zh-CN" sz="11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室先进开源多模态。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AEFDA064-B580-4985-A5D5-3A555D9DD1BB}"/>
                </a:ext>
              </a:extLst>
            </p:cNvPr>
            <p:cNvSpPr/>
            <p:nvPr/>
          </p:nvSpPr>
          <p:spPr>
            <a:xfrm>
              <a:off x="5739928" y="4594383"/>
              <a:ext cx="1219373" cy="430887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F7BC1913-6794-45BC-A7EB-6AC072A3F3FE}"/>
                </a:ext>
              </a:extLst>
            </p:cNvPr>
            <p:cNvSpPr txBox="1"/>
            <p:nvPr/>
          </p:nvSpPr>
          <p:spPr>
            <a:xfrm>
              <a:off x="5663158" y="4546285"/>
              <a:ext cx="13496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Meta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的原生开源多模态 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Llama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。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6E5A242-F992-4F33-A998-4F721F22B569}"/>
                </a:ext>
              </a:extLst>
            </p:cNvPr>
            <p:cNvSpPr/>
            <p:nvPr/>
          </p:nvSpPr>
          <p:spPr>
            <a:xfrm>
              <a:off x="5753168" y="5337212"/>
              <a:ext cx="1098122" cy="39365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402D0C2-E6CF-4EF3-898A-60277A0A05DF}"/>
                </a:ext>
              </a:extLst>
            </p:cNvPr>
            <p:cNvSpPr txBox="1"/>
            <p:nvPr/>
          </p:nvSpPr>
          <p:spPr>
            <a:xfrm>
              <a:off x="5675413" y="5301208"/>
              <a:ext cx="12478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阿里巴巴下一代高效多模态。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1F2F95AB-1EBE-43A1-8703-589D2DD30A2D}"/>
                </a:ext>
              </a:extLst>
            </p:cNvPr>
            <p:cNvSpPr/>
            <p:nvPr/>
          </p:nvSpPr>
          <p:spPr>
            <a:xfrm>
              <a:off x="5747321" y="6129301"/>
              <a:ext cx="1211979" cy="375854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7173D0E-FCD0-4C65-9CCB-8D4855410882}"/>
                </a:ext>
              </a:extLst>
            </p:cNvPr>
            <p:cNvSpPr txBox="1"/>
            <p:nvPr/>
          </p:nvSpPr>
          <p:spPr>
            <a:xfrm>
              <a:off x="5663159" y="6079227"/>
              <a:ext cx="13273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增强的多任务通用视觉语言。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FED8DEB-EB9E-4383-8904-1FAA4796328C}"/>
                </a:ext>
              </a:extLst>
            </p:cNvPr>
            <p:cNvSpPr/>
            <p:nvPr/>
          </p:nvSpPr>
          <p:spPr>
            <a:xfrm>
              <a:off x="7702085" y="4597811"/>
              <a:ext cx="1165430" cy="355014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62CD066-1E86-44FD-8E8E-25BC471AA863}"/>
                </a:ext>
              </a:extLst>
            </p:cNvPr>
            <p:cNvSpPr/>
            <p:nvPr/>
          </p:nvSpPr>
          <p:spPr>
            <a:xfrm>
              <a:off x="7712829" y="5336804"/>
              <a:ext cx="1165430" cy="39364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C7EDD743-D44D-4960-9194-18ABCC95DCAC}"/>
                </a:ext>
              </a:extLst>
            </p:cNvPr>
            <p:cNvSpPr/>
            <p:nvPr/>
          </p:nvSpPr>
          <p:spPr>
            <a:xfrm>
              <a:off x="7697276" y="6092887"/>
              <a:ext cx="1242246" cy="430886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8418533-4C74-436C-AD23-49A4408B730D}"/>
                </a:ext>
              </a:extLst>
            </p:cNvPr>
            <p:cNvSpPr/>
            <p:nvPr/>
          </p:nvSpPr>
          <p:spPr>
            <a:xfrm>
              <a:off x="9684256" y="4597110"/>
              <a:ext cx="1235486" cy="355014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B49F57AA-6313-4110-8774-7D36D3D2C5FB}"/>
                </a:ext>
              </a:extLst>
            </p:cNvPr>
            <p:cNvSpPr/>
            <p:nvPr/>
          </p:nvSpPr>
          <p:spPr>
            <a:xfrm>
              <a:off x="9695606" y="5311483"/>
              <a:ext cx="1317941" cy="430887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10DADDD-E36C-4D6F-A571-621526666514}"/>
                </a:ext>
              </a:extLst>
            </p:cNvPr>
            <p:cNvSpPr/>
            <p:nvPr/>
          </p:nvSpPr>
          <p:spPr>
            <a:xfrm>
              <a:off x="9684257" y="6103104"/>
              <a:ext cx="1127474" cy="402052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6BB6C9A0-E37B-4D99-8303-80BF7A4136F9}"/>
                </a:ext>
              </a:extLst>
            </p:cNvPr>
            <p:cNvSpPr txBox="1"/>
            <p:nvPr/>
          </p:nvSpPr>
          <p:spPr>
            <a:xfrm>
              <a:off x="7639596" y="4523347"/>
              <a:ext cx="14439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阿里巴巴的 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SOTA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开源多模态基准。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481BC08-AA2A-4E19-82D7-2F714F420A2B}"/>
                </a:ext>
              </a:extLst>
            </p:cNvPr>
            <p:cNvSpPr txBox="1"/>
            <p:nvPr/>
          </p:nvSpPr>
          <p:spPr>
            <a:xfrm>
              <a:off x="7626533" y="5308117"/>
              <a:ext cx="14210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极具竞争力的开源大模型基座。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9F2ED0DC-7B86-4272-96C0-0138D78FBF10}"/>
                </a:ext>
              </a:extLst>
            </p:cNvPr>
            <p:cNvSpPr txBox="1"/>
            <p:nvPr/>
          </p:nvSpPr>
          <p:spPr>
            <a:xfrm>
              <a:off x="7626533" y="6074942"/>
              <a:ext cx="13273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自回归统一多模态生成模型。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81CABBE7-535F-4624-A609-6C4E1320A2F5}"/>
                </a:ext>
              </a:extLst>
            </p:cNvPr>
            <p:cNvSpPr txBox="1"/>
            <p:nvPr/>
          </p:nvSpPr>
          <p:spPr>
            <a:xfrm>
              <a:off x="9627015" y="4546285"/>
              <a:ext cx="14367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全面的多模态具身框架。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62D1B96-B97D-4C9D-95B3-F4CC4E3459DB}"/>
                </a:ext>
              </a:extLst>
            </p:cNvPr>
            <p:cNvSpPr txBox="1"/>
            <p:nvPr/>
          </p:nvSpPr>
          <p:spPr>
            <a:xfrm>
              <a:off x="9632605" y="5301208"/>
              <a:ext cx="14439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原生多模态深度对齐和具身感知。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9ADA22D-D8F0-467A-B303-FD325D0B5732}"/>
                </a:ext>
              </a:extLst>
            </p:cNvPr>
            <p:cNvSpPr txBox="1"/>
            <p:nvPr/>
          </p:nvSpPr>
          <p:spPr>
            <a:xfrm>
              <a:off x="9646242" y="6057292"/>
              <a:ext cx="13273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极致 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</a:rPr>
                <a:t>OCR </a:t>
              </a:r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</a:rPr>
                <a:t>性能与复杂公式解析。</a:t>
              </a: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68F383D9-AE9B-420B-B0AB-FB13D63203D9}"/>
                </a:ext>
              </a:extLst>
            </p:cNvPr>
            <p:cNvGrpSpPr/>
            <p:nvPr/>
          </p:nvGrpSpPr>
          <p:grpSpPr>
            <a:xfrm>
              <a:off x="10276124" y="3753036"/>
              <a:ext cx="1443942" cy="588274"/>
              <a:chOff x="9569605" y="1390011"/>
              <a:chExt cx="1443942" cy="588274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54A51AEC-17D7-4C22-98B6-A07ECF1F0995}"/>
                  </a:ext>
                </a:extLst>
              </p:cNvPr>
              <p:cNvSpPr/>
              <p:nvPr/>
            </p:nvSpPr>
            <p:spPr>
              <a:xfrm>
                <a:off x="9624093" y="1390011"/>
                <a:ext cx="1332148" cy="588274"/>
              </a:xfrm>
              <a:prstGeom prst="roundRect">
                <a:avLst/>
              </a:prstGeom>
              <a:solidFill>
                <a:srgbClr val="F0F1FA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30A68AA1-913A-426E-8C4E-809795E71FB2}"/>
                  </a:ext>
                </a:extLst>
              </p:cNvPr>
              <p:cNvSpPr txBox="1"/>
              <p:nvPr/>
            </p:nvSpPr>
            <p:spPr>
              <a:xfrm>
                <a:off x="9569605" y="1401204"/>
                <a:ext cx="1443942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50" dirty="0">
                    <a:solidFill>
                      <a:schemeClr val="tx1"/>
                    </a:solidFill>
                    <a:latin typeface="+mn-ea"/>
                    <a:ea typeface="+mn-ea"/>
                  </a:rPr>
                  <a:t>从多模态拼接向原生全模态，再到具身与 </a:t>
                </a:r>
                <a:r>
                  <a:rPr lang="en-US" altLang="zh-CN" sz="1050" dirty="0">
                    <a:solidFill>
                      <a:schemeClr val="tx1"/>
                    </a:solidFill>
                    <a:latin typeface="+mn-ea"/>
                    <a:ea typeface="+mn-ea"/>
                  </a:rPr>
                  <a:t>Agent </a:t>
                </a:r>
                <a:r>
                  <a:rPr lang="zh-CN" altLang="en-US" sz="1050" dirty="0">
                    <a:solidFill>
                      <a:schemeClr val="tx1"/>
                    </a:solidFill>
                    <a:latin typeface="+mn-ea"/>
                    <a:ea typeface="+mn-ea"/>
                  </a:rPr>
                  <a:t>智能体的演进</a:t>
                </a:r>
              </a:p>
            </p:txBody>
          </p:sp>
        </p:grp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ECE01272-B1BF-4083-8B17-456CF8BA9A80}"/>
              </a:ext>
            </a:extLst>
          </p:cNvPr>
          <p:cNvSpPr txBox="1"/>
          <p:nvPr/>
        </p:nvSpPr>
        <p:spPr>
          <a:xfrm>
            <a:off x="586594" y="998"/>
            <a:ext cx="4644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  <a:latin typeface="+mn-ea"/>
                <a:ea typeface="+mn-ea"/>
              </a:rPr>
              <a:t>通用模型发展历程</a:t>
            </a:r>
            <a:endParaRPr kumimoji="1" lang="en-US" altLang="zh-CN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537318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27143" y="1361164"/>
            <a:ext cx="2839239" cy="600164"/>
          </a:xfrm>
        </p:spPr>
        <p:txBody>
          <a:bodyPr wrap="none" anchor="ctr">
            <a:spAutoFit/>
          </a:bodyPr>
          <a:lstStyle/>
          <a:p>
            <a:pPr marL="0" eaLnBrk="1" hangingPunct="1">
              <a:spcBef>
                <a:spcPts val="1000"/>
              </a:spcBef>
              <a:buNone/>
            </a:pPr>
            <a:r>
              <a:rPr lang="zh-CN" altLang="en-US" sz="3300" spc="150" dirty="0">
                <a:solidFill>
                  <a:schemeClr val="bg1">
                    <a:lumMod val="65000"/>
                  </a:schemeClr>
                </a:solidFill>
                <a:ea typeface="微软雅黑" panose="020B0503020204020204" charset="-122"/>
                <a:cs typeface="+mn-cs"/>
              </a:rPr>
              <a:t>一、发展历程</a:t>
            </a:r>
          </a:p>
        </p:txBody>
      </p:sp>
      <p:sp>
        <p:nvSpPr>
          <p:cNvPr id="44" name="内容占位符 1"/>
          <p:cNvSpPr txBox="1"/>
          <p:nvPr>
            <p:custDataLst>
              <p:tags r:id="rId2"/>
            </p:custDataLst>
          </p:nvPr>
        </p:nvSpPr>
        <p:spPr>
          <a:xfrm>
            <a:off x="4527143" y="2273223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</a:pPr>
            <a:r>
              <a:rPr kumimoji="1" lang="zh-CN" altLang="en-US" sz="3300" spc="150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二、模型架构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395834" y="1358840"/>
            <a:ext cx="2007876" cy="4140000"/>
            <a:chOff x="435714" y="1377232"/>
            <a:chExt cx="2007876" cy="4140000"/>
          </a:xfrm>
        </p:grpSpPr>
        <p:sp>
          <p:nvSpPr>
            <p:cNvPr id="48" name="矩形 47"/>
            <p:cNvSpPr/>
            <p:nvPr>
              <p:custDataLst>
                <p:tags r:id="rId7"/>
              </p:custDataLst>
            </p:nvPr>
          </p:nvSpPr>
          <p:spPr>
            <a:xfrm>
              <a:off x="435714" y="1377232"/>
              <a:ext cx="1800200" cy="4140000"/>
            </a:xfrm>
            <a:prstGeom prst="rect">
              <a:avLst/>
            </a:prstGeom>
            <a:noFill/>
            <a:ln w="25400">
              <a:solidFill>
                <a:srgbClr val="004A8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800" b="1" dirty="0">
                <a:solidFill>
                  <a:srgbClr val="000066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 rot="5400000">
              <a:off x="1392981" y="3247177"/>
              <a:ext cx="1701107" cy="400110"/>
            </a:xfrm>
            <a:prstGeom prst="rect">
              <a:avLst/>
            </a:prstGeom>
            <a:solidFill>
              <a:srgbClr val="004A8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i="1" spc="100" dirty="0">
                  <a:solidFill>
                    <a:schemeClr val="bg1"/>
                  </a:solidFill>
                </a:rPr>
                <a:t>CONTENTS</a:t>
              </a:r>
              <a:endParaRPr lang="zh-CN" altLang="en-US" sz="2000" i="1" spc="1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9"/>
              </p:custDataLst>
            </p:nvPr>
          </p:nvSpPr>
          <p:spPr>
            <a:xfrm>
              <a:off x="916431" y="2230883"/>
              <a:ext cx="640715" cy="252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本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节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内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容</a:t>
              </a:r>
            </a:p>
          </p:txBody>
        </p:sp>
      </p:grpSp>
      <p:sp>
        <p:nvSpPr>
          <p:cNvPr id="2" name="内容占位符 1"/>
          <p:cNvSpPr txBox="1"/>
          <p:nvPr>
            <p:custDataLst>
              <p:tags r:id="rId3"/>
            </p:custDataLst>
          </p:nvPr>
        </p:nvSpPr>
        <p:spPr>
          <a:xfrm>
            <a:off x="4527143" y="3162199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三、模型训练</a:t>
            </a:r>
          </a:p>
        </p:txBody>
      </p:sp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453CADE1-90F2-40EA-ABA2-008C504BD25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1F4BBE9D-CB2A-45C8-AA89-51AEEF5B65A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27143" y="4051175"/>
            <a:ext cx="5005216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四、模型增强与适配技术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DF7738E5-3910-4017-98A0-CA5E55A87B7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25383" y="4940151"/>
            <a:ext cx="4157228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五、智能体</a:t>
            </a:r>
            <a:r>
              <a:rPr kumimoji="1" lang="en-US" altLang="zh-CN" sz="3300" spc="150" dirty="0">
                <a:solidFill>
                  <a:schemeClr val="bg1">
                    <a:lumMod val="65000"/>
                  </a:schemeClr>
                </a:solidFill>
              </a:rPr>
              <a:t>/Agent</a:t>
            </a:r>
            <a:endParaRPr kumimoji="1" lang="zh-CN" altLang="en-US" sz="3300" spc="15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3413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625781FC-3683-4371-B4F6-96C7E41E3AD9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F657CE-D68A-4920-A5F0-5BE2D4F654FA}"/>
              </a:ext>
            </a:extLst>
          </p:cNvPr>
          <p:cNvSpPr txBox="1"/>
          <p:nvPr/>
        </p:nvSpPr>
        <p:spPr>
          <a:xfrm>
            <a:off x="370570" y="998"/>
            <a:ext cx="5724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  <a:latin typeface="+mn-ea"/>
                <a:ea typeface="+mn-ea"/>
              </a:rPr>
              <a:t>多模态大模型的基本结构</a:t>
            </a:r>
            <a:endParaRPr kumimoji="1" lang="en-US" altLang="zh-CN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00B604-7F40-4D41-896A-5B628A5805D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8155" y="2996952"/>
            <a:ext cx="11560807" cy="3485154"/>
          </a:xfrm>
          <a:prstGeom prst="rect">
            <a:avLst/>
          </a:prstGeom>
        </p:spPr>
      </p:pic>
      <p:sp>
        <p:nvSpPr>
          <p:cNvPr id="5" name="内容占位符 3">
            <a:extLst>
              <a:ext uri="{FF2B5EF4-FFF2-40B4-BE49-F238E27FC236}">
                <a16:creationId xmlns:a16="http://schemas.microsoft.com/office/drawing/2014/main" id="{F3147642-71AF-4245-A039-299E4BA3A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155" y="944880"/>
            <a:ext cx="11537315" cy="5039995"/>
          </a:xfrm>
        </p:spPr>
        <p:txBody>
          <a:bodyPr/>
          <a:lstStyle/>
          <a:p>
            <a:r>
              <a:rPr lang="zh-CN" altLang="en-US" dirty="0"/>
              <a:t>架构一：大语言模型作为离散调度器</a:t>
            </a:r>
            <a:r>
              <a:rPr lang="en-US" altLang="zh-CN" dirty="0"/>
              <a:t>/</a:t>
            </a:r>
            <a:r>
              <a:rPr lang="zh-CN" altLang="en-US" dirty="0"/>
              <a:t>控制器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大语言模型的作用是接收文本信号并发出文本指令，以调用下游模块。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关键特征：系统内的所有消息传递，例如“多模态编码器到大语言模型”或“大语言模型到下游模块”，均通过纯文本指令作为媒介实现。</a:t>
            </a:r>
          </a:p>
        </p:txBody>
      </p:sp>
    </p:spTree>
    <p:extLst>
      <p:ext uri="{BB962C8B-B14F-4D97-AF65-F5344CB8AC3E}">
        <p14:creationId xmlns:p14="http://schemas.microsoft.com/office/powerpoint/2010/main" val="293384428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59200" y="2853055"/>
            <a:ext cx="8101965" cy="281940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750" y="1125855"/>
            <a:ext cx="11650980" cy="5039995"/>
          </a:xfrm>
        </p:spPr>
        <p:txBody>
          <a:bodyPr/>
          <a:lstStyle/>
          <a:p>
            <a:r>
              <a:rPr lang="zh-CN" altLang="en-US" dirty="0"/>
              <a:t>架构一：大语言模型作为离散调度器</a:t>
            </a:r>
            <a:r>
              <a:rPr lang="en-US" altLang="zh-CN" dirty="0"/>
              <a:t>/</a:t>
            </a:r>
            <a:r>
              <a:rPr lang="zh-CN" altLang="en-US" dirty="0"/>
              <a:t>控制器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代表性的MLLMs: </a:t>
            </a:r>
          </a:p>
          <a:p>
            <a:pPr lvl="2"/>
            <a:r>
              <a:rPr lang="zh-CN" altLang="en-US" dirty="0"/>
              <a:t>⊹ Visual-ChatGPT</a:t>
            </a:r>
          </a:p>
          <a:p>
            <a:pPr lvl="2"/>
            <a:r>
              <a:rPr lang="zh-CN" altLang="en-US" dirty="0"/>
              <a:t>⊹ HuggingGPT</a:t>
            </a:r>
          </a:p>
          <a:p>
            <a:pPr lvl="2"/>
            <a:r>
              <a:rPr lang="zh-CN" altLang="en-US" dirty="0"/>
              <a:t>⊹ MM-REACT</a:t>
            </a:r>
          </a:p>
          <a:p>
            <a:pPr lvl="2"/>
            <a:r>
              <a:rPr lang="zh-CN" altLang="en-US" dirty="0"/>
              <a:t>⊹ ViperGPT</a:t>
            </a:r>
          </a:p>
          <a:p>
            <a:pPr lvl="2"/>
            <a:r>
              <a:rPr lang="zh-CN" altLang="en-US" dirty="0"/>
              <a:t>⊹ AudioGPT</a:t>
            </a:r>
          </a:p>
          <a:p>
            <a:pPr lvl="2"/>
            <a:r>
              <a:rPr lang="zh-CN" altLang="en-US" dirty="0"/>
              <a:t>⊹ LLaVA-Plus</a:t>
            </a:r>
          </a:p>
        </p:txBody>
      </p:sp>
      <p:sp>
        <p:nvSpPr>
          <p:cNvPr id="6" name="灯片编号占位符 50">
            <a:extLst>
              <a:ext uri="{FF2B5EF4-FFF2-40B4-BE49-F238E27FC236}">
                <a16:creationId xmlns:a16="http://schemas.microsoft.com/office/drawing/2014/main" id="{A67E3D09-6C2B-40F0-9162-0F89B894BF83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C074CF-A289-4C85-8888-BBD5A64E32DE}"/>
              </a:ext>
            </a:extLst>
          </p:cNvPr>
          <p:cNvSpPr txBox="1"/>
          <p:nvPr/>
        </p:nvSpPr>
        <p:spPr>
          <a:xfrm>
            <a:off x="370570" y="998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  <a:latin typeface="+mn-ea"/>
                <a:ea typeface="+mn-ea"/>
              </a:rPr>
              <a:t>多模态大模型的基本结构</a:t>
            </a:r>
            <a:endParaRPr kumimoji="1" lang="en-US" altLang="zh-CN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625781FC-3683-4371-B4F6-96C7E41E3AD9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F657CE-D68A-4920-A5F0-5BE2D4F654FA}"/>
              </a:ext>
            </a:extLst>
          </p:cNvPr>
          <p:cNvSpPr txBox="1"/>
          <p:nvPr/>
        </p:nvSpPr>
        <p:spPr>
          <a:xfrm>
            <a:off x="370570" y="998"/>
            <a:ext cx="5724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  <a:latin typeface="+mn-ea"/>
                <a:ea typeface="+mn-ea"/>
              </a:rPr>
              <a:t>多模态大模型的基本结构</a:t>
            </a:r>
            <a:endParaRPr kumimoji="1" lang="en-US" altLang="zh-CN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7BC8B7B1-2FEF-4C10-ADD0-6EAEB781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r>
              <a:rPr lang="zh-CN" altLang="en-US" dirty="0"/>
              <a:t>架构二：大语言模型作为系统的联合组成部分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大语言模型的作用是在编码器</a:t>
            </a:r>
            <a:r>
              <a:rPr lang="en-US" altLang="zh-CN" sz="2400" dirty="0"/>
              <a:t>-</a:t>
            </a:r>
            <a:r>
              <a:rPr lang="zh-CN" altLang="en-US" sz="2400" dirty="0"/>
              <a:t>大语言模型</a:t>
            </a:r>
            <a:r>
              <a:rPr lang="en-US" altLang="zh-CN" sz="2400" dirty="0"/>
              <a:t>-</a:t>
            </a:r>
            <a:r>
              <a:rPr lang="zh-CN" altLang="en-US" sz="2400" dirty="0"/>
              <a:t>解码器结构中感知多模态信息，并自主做出反应。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大语言模型是系统的关键联合部分，直接接收来自外部的多模态信息，并以更流畅的方式将指令委派给解码器</a:t>
            </a:r>
            <a:r>
              <a:rPr lang="en-US" altLang="zh-CN" sz="2400" dirty="0"/>
              <a:t>/</a:t>
            </a:r>
            <a:r>
              <a:rPr lang="zh-CN" altLang="en-US" sz="2400" dirty="0"/>
              <a:t>生成器。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04D431-E687-42A4-9F5F-F273BD8D4D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8179" y="3428811"/>
            <a:ext cx="10719435" cy="311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694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94083" y="3082940"/>
            <a:ext cx="3836035" cy="93472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750" y="912178"/>
            <a:ext cx="10920052" cy="5040312"/>
          </a:xfrm>
        </p:spPr>
        <p:txBody>
          <a:bodyPr/>
          <a:lstStyle/>
          <a:p>
            <a:r>
              <a:rPr lang="zh-CN" altLang="en-US" dirty="0"/>
              <a:t>架构二：大语言模型作为系统的联合组成部分</a:t>
            </a:r>
          </a:p>
          <a:p>
            <a:pPr lvl="1"/>
            <a:r>
              <a:rPr lang="zh-CN" altLang="en-US" sz="2400" dirty="0"/>
              <a:t>超过</a:t>
            </a:r>
            <a:r>
              <a:rPr lang="en-US" altLang="zh-CN" sz="2400" dirty="0"/>
              <a:t>90%</a:t>
            </a:r>
            <a:r>
              <a:rPr lang="zh-CN" altLang="en-US" sz="2400" dirty="0"/>
              <a:t>的多模态大语言模型属于这一类别</a:t>
            </a:r>
          </a:p>
          <a:p>
            <a:pPr lvl="1"/>
            <a:r>
              <a:rPr lang="zh-CN" altLang="en-US" sz="2400" dirty="0"/>
              <a:t>理论上限更高，更好集成于统一模型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27470" y="4705365"/>
            <a:ext cx="5080000" cy="13220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i="1">
                <a:solidFill>
                  <a:srgbClr val="000000"/>
                </a:solidFill>
                <a:latin typeface="Calibri-Italic"/>
                <a:ea typeface="Calibri-Italic"/>
              </a:rPr>
              <a:t>[1] A Survey on Multimodal </a:t>
            </a:r>
          </a:p>
          <a:p>
            <a:r>
              <a:rPr lang="en-US" altLang="zh-CN" sz="1600" i="1">
                <a:solidFill>
                  <a:srgbClr val="000000"/>
                </a:solidFill>
                <a:latin typeface="Calibri-Italic"/>
                <a:ea typeface="Calibri-Italic"/>
              </a:rPr>
              <a:t>Large Language Models. </a:t>
            </a:r>
          </a:p>
          <a:p>
            <a:r>
              <a:rPr lang="en-US" altLang="zh-CN" sz="1600" i="1">
                <a:solidFill>
                  <a:srgbClr val="2121FF"/>
                </a:solidFill>
                <a:latin typeface="Calibri-Italic"/>
                <a:ea typeface="Calibri-Italic"/>
              </a:rPr>
              <a:t>https://github.com/BradyFU/A </a:t>
            </a:r>
          </a:p>
          <a:p>
            <a:r>
              <a:rPr lang="en-US" altLang="zh-CN" sz="1600" i="1">
                <a:solidFill>
                  <a:srgbClr val="2121FF"/>
                </a:solidFill>
                <a:latin typeface="Calibri-Italic"/>
                <a:ea typeface="Calibri-Italic"/>
              </a:rPr>
              <a:t>wesome-Multimodal-Large_x0002_</a:t>
            </a:r>
          </a:p>
          <a:p>
            <a:r>
              <a:rPr lang="en-US" altLang="zh-CN" sz="1600" i="1">
                <a:solidFill>
                  <a:srgbClr val="2121FF"/>
                </a:solidFill>
                <a:latin typeface="Calibri-Italic"/>
                <a:ea typeface="Calibri-Italic"/>
              </a:rPr>
              <a:t>Language-Models</a:t>
            </a:r>
            <a:r>
              <a:rPr lang="en-US" altLang="zh-CN" sz="1600" i="1">
                <a:solidFill>
                  <a:srgbClr val="000000"/>
                </a:solidFill>
                <a:latin typeface="Calibri-Italic"/>
                <a:ea typeface="Calibri-Italic"/>
              </a:rPr>
              <a:t>, 2023.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430118" y="2330623"/>
            <a:ext cx="5657215" cy="4410745"/>
          </a:xfrm>
          <a:prstGeom prst="rect">
            <a:avLst/>
          </a:prstGeom>
        </p:spPr>
      </p:pic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358A91A7-CA58-4C42-94D9-701F9726ADFA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F5341F-7769-4A60-B902-D9F68FA64DF9}"/>
              </a:ext>
            </a:extLst>
          </p:cNvPr>
          <p:cNvSpPr txBox="1"/>
          <p:nvPr/>
        </p:nvSpPr>
        <p:spPr>
          <a:xfrm>
            <a:off x="370570" y="998"/>
            <a:ext cx="6012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  <a:latin typeface="+mn-ea"/>
                <a:ea typeface="+mn-ea"/>
              </a:rPr>
              <a:t>多模态大模型的基本结构</a:t>
            </a:r>
            <a:endParaRPr kumimoji="1" lang="en-US" altLang="zh-CN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2050765-4004-4ED5-BA27-1BC3D4D9E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955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现代模型核心</a:t>
            </a:r>
            <a:r>
              <a:rPr lang="en-US" altLang="zh-CN" dirty="0"/>
              <a:t>Transformer</a:t>
            </a:r>
            <a:r>
              <a:rPr lang="zh-CN" altLang="en-US" dirty="0"/>
              <a:t>的诞生</a:t>
            </a:r>
          </a:p>
        </p:txBody>
      </p:sp>
      <p:sp>
        <p:nvSpPr>
          <p:cNvPr id="4" name="灯片编号占位符 50">
            <a:extLst>
              <a:ext uri="{FF2B5EF4-FFF2-40B4-BE49-F238E27FC236}">
                <a16:creationId xmlns:a16="http://schemas.microsoft.com/office/drawing/2014/main" id="{8609DF4F-9573-4DB5-A66D-90CD1F0DB56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8AF3F3-8B69-485B-910C-F266459B0CB0}"/>
              </a:ext>
            </a:extLst>
          </p:cNvPr>
          <p:cNvSpPr/>
          <p:nvPr/>
        </p:nvSpPr>
        <p:spPr>
          <a:xfrm>
            <a:off x="345753" y="802278"/>
            <a:ext cx="11523749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Attention Is All You Need —— 开启NLP新纪元</a:t>
            </a:r>
            <a:endParaRPr 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7F545E-BF87-4C81-906A-D885EEE335FC}"/>
              </a:ext>
            </a:extLst>
          </p:cNvPr>
          <p:cNvSpPr/>
          <p:nvPr/>
        </p:nvSpPr>
        <p:spPr>
          <a:xfrm>
            <a:off x="333331" y="1325051"/>
            <a:ext cx="7375998" cy="2380939"/>
          </a:xfrm>
          <a:custGeom>
            <a:avLst/>
            <a:gdLst/>
            <a:ahLst/>
            <a:cxnLst/>
            <a:rect l="l" t="t" r="r" b="b"/>
            <a:pathLst>
              <a:path w="7239000" h="2343150">
                <a:moveTo>
                  <a:pt x="114299" y="0"/>
                </a:moveTo>
                <a:lnTo>
                  <a:pt x="7124701" y="0"/>
                </a:lnTo>
                <a:cubicBezTo>
                  <a:pt x="7187827" y="0"/>
                  <a:pt x="7239000" y="51173"/>
                  <a:pt x="7239000" y="114299"/>
                </a:cubicBezTo>
                <a:lnTo>
                  <a:pt x="7239000" y="2228851"/>
                </a:lnTo>
                <a:cubicBezTo>
                  <a:pt x="7239000" y="2291977"/>
                  <a:pt x="7187827" y="2343150"/>
                  <a:pt x="7124701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CC1DC7A-E7CB-4F56-8B21-A9039E35A89F}"/>
              </a:ext>
            </a:extLst>
          </p:cNvPr>
          <p:cNvSpPr/>
          <p:nvPr/>
        </p:nvSpPr>
        <p:spPr>
          <a:xfrm>
            <a:off x="541800" y="1422300"/>
            <a:ext cx="214285" cy="285713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66973" y="142875"/>
                </a:moveTo>
                <a:cubicBezTo>
                  <a:pt x="59550" y="142875"/>
                  <a:pt x="53578" y="148847"/>
                  <a:pt x="53578" y="156270"/>
                </a:cubicBezTo>
                <a:cubicBezTo>
                  <a:pt x="53578" y="163692"/>
                  <a:pt x="59550" y="169664"/>
                  <a:pt x="66973" y="169664"/>
                </a:cubicBezTo>
                <a:lnTo>
                  <a:pt x="147340" y="169664"/>
                </a:lnTo>
                <a:cubicBezTo>
                  <a:pt x="154763" y="169664"/>
                  <a:pt x="160734" y="163692"/>
                  <a:pt x="160734" y="156270"/>
                </a:cubicBezTo>
                <a:cubicBezTo>
                  <a:pt x="160734" y="148847"/>
                  <a:pt x="154763" y="142875"/>
                  <a:pt x="147340" y="142875"/>
                </a:cubicBezTo>
                <a:lnTo>
                  <a:pt x="66973" y="142875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47340" y="223242"/>
                </a:lnTo>
                <a:cubicBezTo>
                  <a:pt x="154763" y="223242"/>
                  <a:pt x="160734" y="217270"/>
                  <a:pt x="160734" y="209848"/>
                </a:cubicBezTo>
                <a:cubicBezTo>
                  <a:pt x="160734" y="202425"/>
                  <a:pt x="154763" y="196453"/>
                  <a:pt x="147340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A1E87A1-5EFB-4750-8C62-9F77E8750C17}"/>
              </a:ext>
            </a:extLst>
          </p:cNvPr>
          <p:cNvSpPr/>
          <p:nvPr/>
        </p:nvSpPr>
        <p:spPr>
          <a:xfrm>
            <a:off x="939417" y="1412776"/>
            <a:ext cx="1485707" cy="30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论文核心贡献</a:t>
            </a:r>
            <a:endParaRPr lang="en-US" sz="1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9138A6B-8317-4AA0-A481-AC75F7B21908}"/>
              </a:ext>
            </a:extLst>
          </p:cNvPr>
          <p:cNvSpPr/>
          <p:nvPr/>
        </p:nvSpPr>
        <p:spPr>
          <a:xfrm>
            <a:off x="564737" y="2015131"/>
            <a:ext cx="152380" cy="15238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FAFCBF-086B-4938-85B1-8601C6315C5C}"/>
              </a:ext>
            </a:extLst>
          </p:cNvPr>
          <p:cNvSpPr/>
          <p:nvPr/>
        </p:nvSpPr>
        <p:spPr>
          <a:xfrm>
            <a:off x="863060" y="2121148"/>
            <a:ext cx="6672887" cy="23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Google Brain团队发表里程碑论文，首次提出完全基于注意力机制的序列转换架构</a:t>
            </a:r>
            <a:endParaRPr 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19B7507-979B-40E2-8FE4-0076AD0DCC71}"/>
              </a:ext>
            </a:extLst>
          </p:cNvPr>
          <p:cNvSpPr/>
          <p:nvPr/>
        </p:nvSpPr>
        <p:spPr>
          <a:xfrm>
            <a:off x="542854" y="3058366"/>
            <a:ext cx="152380" cy="15238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74726D8-E521-4F10-8D2C-CE882473FA53}"/>
              </a:ext>
            </a:extLst>
          </p:cNvPr>
          <p:cNvSpPr/>
          <p:nvPr/>
        </p:nvSpPr>
        <p:spPr>
          <a:xfrm>
            <a:off x="866434" y="3051652"/>
            <a:ext cx="6672887" cy="23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彻底颠覆了传统RNN/LSTM/CNN的序列建模范式，实现并行计算突破</a:t>
            </a:r>
            <a:endParaRPr 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7C8298D-B454-4ACA-AE54-FE3ED4FBCBD2}"/>
              </a:ext>
            </a:extLst>
          </p:cNvPr>
          <p:cNvSpPr/>
          <p:nvPr/>
        </p:nvSpPr>
        <p:spPr>
          <a:xfrm>
            <a:off x="333331" y="3793716"/>
            <a:ext cx="7390438" cy="2407500"/>
          </a:xfrm>
          <a:custGeom>
            <a:avLst/>
            <a:gdLst/>
            <a:ahLst/>
            <a:cxnLst/>
            <a:rect l="l" t="t" r="r" b="b"/>
            <a:pathLst>
              <a:path w="7239000" h="2343150">
                <a:moveTo>
                  <a:pt x="114299" y="0"/>
                </a:moveTo>
                <a:lnTo>
                  <a:pt x="7124701" y="0"/>
                </a:lnTo>
                <a:cubicBezTo>
                  <a:pt x="7187827" y="0"/>
                  <a:pt x="7239000" y="51173"/>
                  <a:pt x="7239000" y="114299"/>
                </a:cubicBezTo>
                <a:lnTo>
                  <a:pt x="7239000" y="2228851"/>
                </a:lnTo>
                <a:cubicBezTo>
                  <a:pt x="7239000" y="2291977"/>
                  <a:pt x="7187827" y="2343150"/>
                  <a:pt x="7124701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29D0A0B-62C2-4067-B6A7-E1BCDF075A29}"/>
              </a:ext>
            </a:extLst>
          </p:cNvPr>
          <p:cNvSpPr/>
          <p:nvPr/>
        </p:nvSpPr>
        <p:spPr>
          <a:xfrm>
            <a:off x="597616" y="3911756"/>
            <a:ext cx="280158" cy="363404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1C269F1-DB5F-48D3-A9BF-6F3D5B2C0AE0}"/>
              </a:ext>
            </a:extLst>
          </p:cNvPr>
          <p:cNvSpPr/>
          <p:nvPr/>
        </p:nvSpPr>
        <p:spPr>
          <a:xfrm>
            <a:off x="995232" y="3897052"/>
            <a:ext cx="1643589" cy="38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革命性创新</a:t>
            </a:r>
            <a:endParaRPr 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95D11EE-E9E2-48C9-9DF4-0B80B3711749}"/>
              </a:ext>
            </a:extLst>
          </p:cNvPr>
          <p:cNvSpPr/>
          <p:nvPr/>
        </p:nvSpPr>
        <p:spPr>
          <a:xfrm>
            <a:off x="542854" y="4727991"/>
            <a:ext cx="152380" cy="15238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AA9D257-B28E-45F8-A6A8-C782C7137A19}"/>
              </a:ext>
            </a:extLst>
          </p:cNvPr>
          <p:cNvSpPr/>
          <p:nvPr/>
        </p:nvSpPr>
        <p:spPr>
          <a:xfrm>
            <a:off x="788670" y="4581128"/>
            <a:ext cx="6465319" cy="30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Self-Attention机制：序列中任意位置可直接交互，突破长距离依赖瓶颈</a:t>
            </a:r>
            <a:endParaRPr 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8A579B1-A7C6-4EA3-B264-917B96C9905D}"/>
              </a:ext>
            </a:extLst>
          </p:cNvPr>
          <p:cNvSpPr/>
          <p:nvPr/>
        </p:nvSpPr>
        <p:spPr>
          <a:xfrm>
            <a:off x="542854" y="5343485"/>
            <a:ext cx="152380" cy="15238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AD9747A-FE39-4DD3-977E-99ED1FA31CDA}"/>
              </a:ext>
            </a:extLst>
          </p:cNvPr>
          <p:cNvSpPr/>
          <p:nvPr/>
        </p:nvSpPr>
        <p:spPr>
          <a:xfrm>
            <a:off x="790470" y="5229200"/>
            <a:ext cx="6528872" cy="30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并行计算：摒弃顺序处理，训练速度提升数个数量级</a:t>
            </a:r>
            <a:endParaRPr 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830EC6B-8569-43A4-AE0D-9F2B5F4FE6E3}"/>
              </a:ext>
            </a:extLst>
          </p:cNvPr>
          <p:cNvSpPr/>
          <p:nvPr/>
        </p:nvSpPr>
        <p:spPr>
          <a:xfrm>
            <a:off x="542854" y="5758805"/>
            <a:ext cx="152380" cy="15238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D55F406-C41C-4A35-A6E1-21D5FFB8121B}"/>
              </a:ext>
            </a:extLst>
          </p:cNvPr>
          <p:cNvSpPr/>
          <p:nvPr/>
        </p:nvSpPr>
        <p:spPr>
          <a:xfrm>
            <a:off x="790472" y="5796898"/>
            <a:ext cx="5304734" cy="15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  <a:cs typeface="Noto Sans SC" pitchFamily="34" charset="-120"/>
              </a:rPr>
              <a:t>可解释性：注意力权重直观展示模型关注区域</a:t>
            </a:r>
            <a:endParaRPr 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D4E1F5-F66D-41E3-B76A-E279D7DAB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23" y="1188718"/>
            <a:ext cx="3473305" cy="501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5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详解</a:t>
            </a:r>
          </a:p>
        </p:txBody>
      </p:sp>
      <p:sp>
        <p:nvSpPr>
          <p:cNvPr id="4" name="灯片编号占位符 50">
            <a:extLst>
              <a:ext uri="{FF2B5EF4-FFF2-40B4-BE49-F238E27FC236}">
                <a16:creationId xmlns:a16="http://schemas.microsoft.com/office/drawing/2014/main" id="{8609DF4F-9573-4DB5-A66D-90CD1F0DB56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A60D9F-593B-4787-8595-7848279D2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84F4869-437A-40E6-A618-20F8C6CC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详解</a:t>
            </a:r>
          </a:p>
        </p:txBody>
      </p:sp>
      <p:sp>
        <p:nvSpPr>
          <p:cNvPr id="35" name="灯片编号占位符 50">
            <a:extLst>
              <a:ext uri="{FF2B5EF4-FFF2-40B4-BE49-F238E27FC236}">
                <a16:creationId xmlns:a16="http://schemas.microsoft.com/office/drawing/2014/main" id="{4C717C1E-02EB-4D4C-BD2F-363EC86B3921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97E3C2-51C4-4AC2-865F-135672C9E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9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详解</a:t>
            </a:r>
          </a:p>
        </p:txBody>
      </p:sp>
      <p:sp>
        <p:nvSpPr>
          <p:cNvPr id="4" name="灯片编号占位符 50">
            <a:extLst>
              <a:ext uri="{FF2B5EF4-FFF2-40B4-BE49-F238E27FC236}">
                <a16:creationId xmlns:a16="http://schemas.microsoft.com/office/drawing/2014/main" id="{8609DF4F-9573-4DB5-A66D-90CD1F0DB56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1F2D61C-640F-4FB5-A3DB-41C7E558E3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73" b="39004"/>
          <a:stretch/>
        </p:blipFill>
        <p:spPr>
          <a:xfrm>
            <a:off x="226553" y="980728"/>
            <a:ext cx="11567591" cy="514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5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详解</a:t>
            </a:r>
          </a:p>
        </p:txBody>
      </p:sp>
      <p:sp>
        <p:nvSpPr>
          <p:cNvPr id="4" name="灯片编号占位符 50">
            <a:extLst>
              <a:ext uri="{FF2B5EF4-FFF2-40B4-BE49-F238E27FC236}">
                <a16:creationId xmlns:a16="http://schemas.microsoft.com/office/drawing/2014/main" id="{8609DF4F-9573-4DB5-A66D-90CD1F0DB56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5E7361-8F44-437F-8084-F2C8B935B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9A2D9A-AC67-8A77-193B-0ECE2290B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650" y="2060848"/>
            <a:ext cx="108012" cy="810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EB0839-85FA-5F4F-0073-EA0496B7FB71}"/>
              </a:ext>
            </a:extLst>
          </p:cNvPr>
          <p:cNvSpPr txBox="1"/>
          <p:nvPr/>
        </p:nvSpPr>
        <p:spPr>
          <a:xfrm>
            <a:off x="1054646" y="1952836"/>
            <a:ext cx="216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tx1"/>
                </a:solidFill>
              </a:rPr>
              <a:t>n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73A3B6-7D6F-5D70-3FDC-28B5BC09C2C0}"/>
              </a:ext>
            </a:extLst>
          </p:cNvPr>
          <p:cNvSpPr txBox="1"/>
          <p:nvPr/>
        </p:nvSpPr>
        <p:spPr>
          <a:xfrm>
            <a:off x="1450690" y="5409220"/>
            <a:ext cx="540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m=1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4513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0">
            <a:extLst>
              <a:ext uri="{FF2B5EF4-FFF2-40B4-BE49-F238E27FC236}">
                <a16:creationId xmlns:a16="http://schemas.microsoft.com/office/drawing/2014/main" id="{8609DF4F-9573-4DB5-A66D-90CD1F0DB56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8B03764-E180-4773-A236-F42CB0D830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25" r="32862" b="25758"/>
          <a:stretch/>
        </p:blipFill>
        <p:spPr>
          <a:xfrm>
            <a:off x="1219831" y="4025802"/>
            <a:ext cx="8180991" cy="241521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8173E2A-93BC-41F1-99C5-F6D6D05834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188"/>
          <a:stretch/>
        </p:blipFill>
        <p:spPr>
          <a:xfrm>
            <a:off x="0" y="1052736"/>
            <a:ext cx="12185521" cy="2730306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1C92F6D0-562F-4061-A97B-E943E3E5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详解</a:t>
            </a:r>
          </a:p>
        </p:txBody>
      </p:sp>
    </p:spTree>
    <p:extLst>
      <p:ext uri="{BB962C8B-B14F-4D97-AF65-F5344CB8AC3E}">
        <p14:creationId xmlns:p14="http://schemas.microsoft.com/office/powerpoint/2010/main" val="151155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1E09B-8055-B164-87C7-804C95E3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7E3910D-8456-CA47-5D05-A88A2A2B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8471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56EA-856C-3139-C920-EBCE534C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42F65EC-15DC-97E9-CDDB-048090459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6ECED4E-761D-E8DB-FECF-41F8F2AC2E4B}"/>
              </a:ext>
            </a:extLst>
          </p:cNvPr>
          <p:cNvSpPr/>
          <p:nvPr/>
        </p:nvSpPr>
        <p:spPr>
          <a:xfrm>
            <a:off x="1882738" y="1124744"/>
            <a:ext cx="2232248" cy="392443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6038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" y="446"/>
            <a:ext cx="12190413" cy="761901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7934" y="102033"/>
            <a:ext cx="11174545" cy="5587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视觉模块</a:t>
            </a:r>
            <a:r>
              <a:rPr lang="en-US" altLang="zh-CN" sz="28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——CNN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80951" y="1480011"/>
            <a:ext cx="3842047" cy="1714277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0950" y="1480011"/>
            <a:ext cx="71500" cy="1714277"/>
          </a:xfrm>
          <a:prstGeom prst="roundRect">
            <a:avLst>
              <a:gd name="adj" fmla="val 0"/>
            </a:avLst>
          </a:pr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917" y="1670486"/>
            <a:ext cx="285999" cy="30476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2852" y="1632391"/>
            <a:ext cx="2747536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局部感受野</a:t>
            </a:r>
            <a:r>
              <a:rPr lang="en-US" sz="18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 (Local Receptive Fields)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34918" y="2241912"/>
            <a:ext cx="3367202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模拟人类视觉系统，卷积核在图像上滑动，逐层提取从边缘、纹理到复杂形状的局部特征，最终构建全局理解</a:t>
            </a:r>
            <a:r>
              <a:rPr lang="en-US" sz="13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619043" y="1495291"/>
            <a:ext cx="3492388" cy="1714277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9043" y="1495291"/>
            <a:ext cx="45731" cy="1714277"/>
          </a:xfrm>
          <a:prstGeom prst="roundRect">
            <a:avLst>
              <a:gd name="adj" fmla="val 0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3009" y="1685767"/>
            <a:ext cx="194924" cy="30476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80944" y="1647672"/>
            <a:ext cx="2842641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权值共享 (Weight Sharing)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73009" y="2257193"/>
            <a:ext cx="3167515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同一卷积核在整张图像上共享权重，大幅减少参数量，并保证模型对物体位置不敏感的“平移不变性”。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99462" y="1498699"/>
            <a:ext cx="3384119" cy="1714277"/>
          </a:xfrm>
          <a:prstGeom prst="roundRect">
            <a:avLst>
              <a:gd name="adj" fmla="val 7407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3498DB">
                <a:alpha val="5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3429" y="1689175"/>
            <a:ext cx="188881" cy="30476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161364" y="1651080"/>
            <a:ext cx="275451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池化操作 (Pooling)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53429" y="2260600"/>
            <a:ext cx="3069317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通过下采样（如最大池化）降低特征维度，减少计算量，同时增强模型对微小位移和噪声的鲁棒性。</a:t>
            </a:r>
            <a:endParaRPr lang="en-US" sz="110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C9408E8-F699-4D1C-B441-1E545B77F1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018" y="3753036"/>
            <a:ext cx="9438262" cy="23865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" y="446"/>
            <a:ext cx="12190413" cy="761901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7934" y="102033"/>
            <a:ext cx="11174545" cy="5587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CNN经典架构演进与ResNet的核心创新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0950" y="1143298"/>
            <a:ext cx="5460289" cy="1841260"/>
          </a:xfrm>
          <a:prstGeom prst="roundRect">
            <a:avLst>
              <a:gd name="adj" fmla="val 6896"/>
            </a:avLst>
          </a:prstGeom>
          <a:gradFill rotWithShape="1">
            <a:gsLst>
              <a:gs pos="0">
                <a:srgbClr val="3498DB">
                  <a:alpha val="100000"/>
                </a:srgbClr>
              </a:gs>
              <a:gs pos="100000">
                <a:srgbClr val="2980B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425" y="1270281"/>
            <a:ext cx="5079339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📜 CNN 架构演进脉络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425" y="1778215"/>
            <a:ext cx="5079339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LeNet-5 (1998):</a:t>
            </a: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CNN开山之作，奠定卷积-池化基础结构。</a:t>
            </a:r>
            <a:b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AlexNet (2012):</a:t>
            </a: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引入ReLU/GPU，开启深度学习热潮。</a:t>
            </a:r>
            <a:b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VGGNet (2014):</a:t>
            </a: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统一卷积核尺寸，探索网络深度极限。</a:t>
            </a:r>
            <a:b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 (2015):</a:t>
            </a:r>
            <a:r>
              <a:rPr lang="en-US" sz="1300" b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引入残差连接，解决网络退化，深度突破1000层。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50" y="3238525"/>
            <a:ext cx="5460289" cy="1714277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80950" y="3238525"/>
            <a:ext cx="76190" cy="1714277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4917" y="3365508"/>
            <a:ext cx="495235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🧠 ResNet 核心：残差连接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4917" y="3936934"/>
            <a:ext cx="4952355" cy="9523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传统网络直接拟合</a:t>
            </a:r>
            <a:r>
              <a:rPr lang="en-US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H(x)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，ResNet重构为拟合</a:t>
            </a:r>
            <a:r>
              <a:rPr lang="en-US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F(x) = H(x) - x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最终输出：</a:t>
            </a:r>
            <a:r>
              <a:rPr lang="en-US" sz="13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H(x) = F(x) + x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(恒等映射/Shortcut)。</a:t>
            </a:r>
            <a:br>
              <a:rPr lang="en-US" sz="13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这一设计有效解决了深层网络中的梯度消失与退化问题。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0950" y="5143277"/>
            <a:ext cx="5460289" cy="1396818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71425" y="5270260"/>
            <a:ext cx="5079339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600">
                <a:solidFill>
                  <a:srgbClr val="15803D"/>
                </a:solidFill>
                <a:latin typeface="微软雅黑"/>
                <a:ea typeface="微软雅黑"/>
                <a:cs typeface="微软雅黑"/>
                <a:sym typeface="微软雅黑"/>
              </a:rPr>
              <a:t>🚀 深远影响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ResNet是目前最广泛使用的视觉骨干网络之一。在多模态大模型中，ResNet常被用作图像分支的特征提取器，将视觉信息转化为高维特征后与文本信息融合。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2190" y="1143298"/>
            <a:ext cx="5587272" cy="5396797"/>
          </a:xfrm>
          <a:prstGeom prst="roundRect">
            <a:avLst>
              <a:gd name="adj" fmla="val 235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49173" y="1333773"/>
            <a:ext cx="533330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00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🔍 ResNet 残差块 (Residual Block)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t="2864" b="2864"/>
          <a:stretch>
            <a:fillRect/>
          </a:stretch>
        </p:blipFill>
        <p:spPr>
          <a:xfrm>
            <a:off x="6476156" y="2032182"/>
            <a:ext cx="5079339" cy="2666653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476156" y="4889310"/>
            <a:ext cx="5079339" cy="13968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图解：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图中展示了经典的残差块结构。</a:t>
            </a:r>
            <a:b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灰色的横向“捷径”(Shortcut) 即为恒等映射，</a:t>
            </a:r>
            <a:b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它允许输入信息直接“跳级”传输，</a:t>
            </a:r>
            <a:b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与主路径卷积层计算出的残差相加后输出。</a:t>
            </a:r>
            <a:b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这不仅保证了信息流通，还让网络更容易学习恒等映射。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9081"/>
            <a:ext cx="10907880" cy="6476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t" anchorCtr="0"/>
          <a:lstStyle/>
          <a:p>
            <a:pPr>
              <a:defRPr/>
            </a:pPr>
            <a:r>
              <a:rPr lang="en-US"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CNN在多模态大模型中的典型工作流程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0" y="1092504"/>
            <a:ext cx="5872633" cy="2743529"/>
          </a:xfrm>
          <a:custGeom>
            <a:avLst/>
            <a:gdLst/>
            <a:ahLst/>
            <a:cxnLst/>
            <a:rect l="l" t="t" r="r" b="b"/>
            <a:pathLst>
              <a:path w="5873398" h="2743886">
                <a:moveTo>
                  <a:pt x="38641" y="0"/>
                </a:moveTo>
                <a:lnTo>
                  <a:pt x="5757476" y="0"/>
                </a:lnTo>
                <a:cubicBezTo>
                  <a:pt x="5821498" y="0"/>
                  <a:pt x="5873398" y="49139"/>
                  <a:pt x="5873398" y="109755"/>
                </a:cubicBezTo>
                <a:lnTo>
                  <a:pt x="5873398" y="2634131"/>
                </a:lnTo>
                <a:cubicBezTo>
                  <a:pt x="5873398" y="2694747"/>
                  <a:pt x="5821498" y="2743886"/>
                  <a:pt x="5757476" y="2743886"/>
                </a:cubicBezTo>
                <a:lnTo>
                  <a:pt x="38641" y="2743886"/>
                </a:lnTo>
                <a:cubicBezTo>
                  <a:pt x="17300" y="2743886"/>
                  <a:pt x="0" y="2727507"/>
                  <a:pt x="0" y="2707301"/>
                </a:cubicBezTo>
                <a:lnTo>
                  <a:pt x="0" y="36585"/>
                </a:lnTo>
                <a:cubicBezTo>
                  <a:pt x="0" y="16393"/>
                  <a:pt x="17314" y="0"/>
                  <a:pt x="3864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889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80951" y="1092504"/>
            <a:ext cx="36580" cy="2743529"/>
          </a:xfrm>
          <a:custGeom>
            <a:avLst/>
            <a:gdLst/>
            <a:ahLst/>
            <a:cxnLst/>
            <a:rect l="l" t="t" r="r" b="b"/>
            <a:pathLst>
              <a:path w="36585" h="2743886">
                <a:moveTo>
                  <a:pt x="36585" y="0"/>
                </a:moveTo>
                <a:lnTo>
                  <a:pt x="36585" y="0"/>
                </a:lnTo>
                <a:lnTo>
                  <a:pt x="36585" y="2743886"/>
                </a:lnTo>
                <a:lnTo>
                  <a:pt x="36585" y="2743886"/>
                </a:lnTo>
                <a:cubicBezTo>
                  <a:pt x="16380" y="2743886"/>
                  <a:pt x="0" y="2727507"/>
                  <a:pt x="0" y="2707301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60314" y="1220507"/>
            <a:ext cx="219482" cy="192047"/>
          </a:xfrm>
          <a:custGeom>
            <a:avLst/>
            <a:gdLst/>
            <a:ahLst/>
            <a:cxnLst/>
            <a:rect l="l" t="t" r="r" b="b"/>
            <a:pathLst>
              <a:path w="219511" h="192072">
                <a:moveTo>
                  <a:pt x="82318" y="13721"/>
                </a:moveTo>
                <a:cubicBezTo>
                  <a:pt x="82318" y="6131"/>
                  <a:pt x="88447" y="0"/>
                  <a:pt x="96036" y="0"/>
                </a:cubicBezTo>
                <a:lnTo>
                  <a:pt x="123474" y="0"/>
                </a:lnTo>
                <a:cubicBezTo>
                  <a:pt x="131063" y="0"/>
                  <a:pt x="137194" y="6131"/>
                  <a:pt x="137194" y="13721"/>
                </a:cubicBezTo>
                <a:lnTo>
                  <a:pt x="137194" y="41159"/>
                </a:lnTo>
                <a:cubicBezTo>
                  <a:pt x="137194" y="48747"/>
                  <a:pt x="131063" y="54878"/>
                  <a:pt x="123474" y="54878"/>
                </a:cubicBezTo>
                <a:lnTo>
                  <a:pt x="120045" y="54878"/>
                </a:lnTo>
                <a:lnTo>
                  <a:pt x="120045" y="82317"/>
                </a:lnTo>
                <a:lnTo>
                  <a:pt x="171493" y="82317"/>
                </a:lnTo>
                <a:cubicBezTo>
                  <a:pt x="188556" y="82317"/>
                  <a:pt x="202362" y="96122"/>
                  <a:pt x="202362" y="113186"/>
                </a:cubicBezTo>
                <a:lnTo>
                  <a:pt x="202362" y="137195"/>
                </a:lnTo>
                <a:lnTo>
                  <a:pt x="205791" y="137195"/>
                </a:lnTo>
                <a:cubicBezTo>
                  <a:pt x="213380" y="137195"/>
                  <a:pt x="219511" y="143325"/>
                  <a:pt x="219511" y="150914"/>
                </a:cubicBezTo>
                <a:lnTo>
                  <a:pt x="219511" y="178353"/>
                </a:lnTo>
                <a:cubicBezTo>
                  <a:pt x="219511" y="185942"/>
                  <a:pt x="213380" y="192072"/>
                  <a:pt x="205791" y="192072"/>
                </a:cubicBezTo>
                <a:lnTo>
                  <a:pt x="178352" y="192072"/>
                </a:lnTo>
                <a:cubicBezTo>
                  <a:pt x="170764" y="192072"/>
                  <a:pt x="164633" y="185942"/>
                  <a:pt x="164633" y="178353"/>
                </a:cubicBezTo>
                <a:lnTo>
                  <a:pt x="164633" y="150914"/>
                </a:lnTo>
                <a:cubicBezTo>
                  <a:pt x="164633" y="143325"/>
                  <a:pt x="170764" y="137195"/>
                  <a:pt x="178352" y="137195"/>
                </a:cubicBezTo>
                <a:lnTo>
                  <a:pt x="181781" y="137195"/>
                </a:lnTo>
                <a:lnTo>
                  <a:pt x="181781" y="113186"/>
                </a:lnTo>
                <a:cubicBezTo>
                  <a:pt x="181781" y="107483"/>
                  <a:pt x="177195" y="102896"/>
                  <a:pt x="171493" y="102896"/>
                </a:cubicBezTo>
                <a:lnTo>
                  <a:pt x="120045" y="102896"/>
                </a:lnTo>
                <a:lnTo>
                  <a:pt x="120045" y="137195"/>
                </a:lnTo>
                <a:lnTo>
                  <a:pt x="123474" y="137195"/>
                </a:lnTo>
                <a:cubicBezTo>
                  <a:pt x="131063" y="137195"/>
                  <a:pt x="137194" y="143325"/>
                  <a:pt x="137194" y="150914"/>
                </a:cubicBezTo>
                <a:lnTo>
                  <a:pt x="137194" y="178353"/>
                </a:lnTo>
                <a:cubicBezTo>
                  <a:pt x="137194" y="185942"/>
                  <a:pt x="131063" y="192072"/>
                  <a:pt x="123474" y="192072"/>
                </a:cubicBezTo>
                <a:lnTo>
                  <a:pt x="96036" y="192072"/>
                </a:lnTo>
                <a:cubicBezTo>
                  <a:pt x="88447" y="192072"/>
                  <a:pt x="82318" y="185942"/>
                  <a:pt x="82318" y="178353"/>
                </a:cubicBezTo>
                <a:lnTo>
                  <a:pt x="82318" y="150914"/>
                </a:lnTo>
                <a:cubicBezTo>
                  <a:pt x="82318" y="143325"/>
                  <a:pt x="88447" y="137195"/>
                  <a:pt x="96036" y="137195"/>
                </a:cubicBezTo>
                <a:lnTo>
                  <a:pt x="99466" y="137195"/>
                </a:lnTo>
                <a:lnTo>
                  <a:pt x="99466" y="102896"/>
                </a:lnTo>
                <a:lnTo>
                  <a:pt x="48017" y="102896"/>
                </a:lnTo>
                <a:cubicBezTo>
                  <a:pt x="42316" y="102896"/>
                  <a:pt x="37728" y="107483"/>
                  <a:pt x="37728" y="113186"/>
                </a:cubicBezTo>
                <a:lnTo>
                  <a:pt x="37728" y="137195"/>
                </a:lnTo>
                <a:lnTo>
                  <a:pt x="41158" y="137195"/>
                </a:lnTo>
                <a:cubicBezTo>
                  <a:pt x="48746" y="137195"/>
                  <a:pt x="54878" y="143325"/>
                  <a:pt x="54878" y="150914"/>
                </a:cubicBezTo>
                <a:lnTo>
                  <a:pt x="54878" y="178353"/>
                </a:lnTo>
                <a:cubicBezTo>
                  <a:pt x="54878" y="185942"/>
                  <a:pt x="48746" y="192072"/>
                  <a:pt x="41158" y="192072"/>
                </a:cubicBezTo>
                <a:lnTo>
                  <a:pt x="13719" y="192072"/>
                </a:lnTo>
                <a:cubicBezTo>
                  <a:pt x="6132" y="192072"/>
                  <a:pt x="0" y="185942"/>
                  <a:pt x="0" y="178353"/>
                </a:cubicBezTo>
                <a:lnTo>
                  <a:pt x="0" y="150914"/>
                </a:lnTo>
                <a:cubicBezTo>
                  <a:pt x="0" y="143325"/>
                  <a:pt x="6132" y="137195"/>
                  <a:pt x="13719" y="137195"/>
                </a:cubicBezTo>
                <a:lnTo>
                  <a:pt x="17149" y="137195"/>
                </a:lnTo>
                <a:lnTo>
                  <a:pt x="17149" y="113186"/>
                </a:lnTo>
                <a:cubicBezTo>
                  <a:pt x="17149" y="96122"/>
                  <a:pt x="30954" y="82317"/>
                  <a:pt x="48017" y="82317"/>
                </a:cubicBezTo>
                <a:lnTo>
                  <a:pt x="99466" y="82317"/>
                </a:lnTo>
                <a:lnTo>
                  <a:pt x="99466" y="54878"/>
                </a:lnTo>
                <a:lnTo>
                  <a:pt x="96036" y="54878"/>
                </a:lnTo>
                <a:cubicBezTo>
                  <a:pt x="88447" y="54878"/>
                  <a:pt x="82318" y="48747"/>
                  <a:pt x="82318" y="41159"/>
                </a:cubicBezTo>
                <a:lnTo>
                  <a:pt x="82318" y="13721"/>
                </a:ln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5868" y="1155996"/>
            <a:ext cx="2539669" cy="29206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CNN处理流程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647616" y="1714723"/>
            <a:ext cx="481694" cy="292642"/>
          </a:xfrm>
          <a:custGeom>
            <a:avLst/>
            <a:gdLst/>
            <a:ahLst/>
            <a:cxnLst/>
            <a:rect l="l" t="t" r="r" b="b"/>
            <a:pathLst>
              <a:path w="481757" h="292680">
                <a:moveTo>
                  <a:pt x="240880" y="0"/>
                </a:moveTo>
                <a:lnTo>
                  <a:pt x="240880" y="0"/>
                </a:lnTo>
                <a:cubicBezTo>
                  <a:pt x="373823" y="0"/>
                  <a:pt x="481757" y="65573"/>
                  <a:pt x="481757" y="146341"/>
                </a:cubicBezTo>
                <a:lnTo>
                  <a:pt x="481757" y="146341"/>
                </a:lnTo>
                <a:cubicBezTo>
                  <a:pt x="481757" y="227108"/>
                  <a:pt x="373823" y="292680"/>
                  <a:pt x="240880" y="292680"/>
                </a:cubicBezTo>
                <a:lnTo>
                  <a:pt x="240880" y="292680"/>
                </a:lnTo>
                <a:cubicBezTo>
                  <a:pt x="107933" y="292680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107933" y="0"/>
                  <a:pt x="24088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84124" y="1714723"/>
            <a:ext cx="584124" cy="29206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07929" y="1714723"/>
            <a:ext cx="4571405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图像输入与预处理:</a:t>
            </a:r>
            <a:r>
              <a:rPr lang="en-US" sz="1400" b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将图像调整为固定尺寸（如224x224），并进行归一化。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647616" y="2222657"/>
            <a:ext cx="481694" cy="292642"/>
          </a:xfrm>
          <a:custGeom>
            <a:avLst/>
            <a:gdLst/>
            <a:ahLst/>
            <a:cxnLst/>
            <a:rect l="l" t="t" r="r" b="b"/>
            <a:pathLst>
              <a:path w="481757" h="292680">
                <a:moveTo>
                  <a:pt x="240880" y="0"/>
                </a:moveTo>
                <a:lnTo>
                  <a:pt x="240880" y="0"/>
                </a:lnTo>
                <a:cubicBezTo>
                  <a:pt x="373823" y="0"/>
                  <a:pt x="481757" y="65573"/>
                  <a:pt x="481757" y="146341"/>
                </a:cubicBezTo>
                <a:lnTo>
                  <a:pt x="481757" y="146341"/>
                </a:lnTo>
                <a:cubicBezTo>
                  <a:pt x="481757" y="227108"/>
                  <a:pt x="373823" y="292680"/>
                  <a:pt x="240880" y="292680"/>
                </a:cubicBezTo>
                <a:lnTo>
                  <a:pt x="240880" y="292680"/>
                </a:lnTo>
                <a:cubicBezTo>
                  <a:pt x="107933" y="292680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107933" y="0"/>
                  <a:pt x="24088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84124" y="2222657"/>
            <a:ext cx="584124" cy="29206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07929" y="2222657"/>
            <a:ext cx="4571405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通过CNN主干网络提取特征:</a:t>
            </a:r>
            <a:r>
              <a:rPr lang="en-US" sz="1400" b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图像经过多层卷积和池化，生成包含丰富语义信息的高维特征图。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47616" y="2730591"/>
            <a:ext cx="481694" cy="292642"/>
          </a:xfrm>
          <a:custGeom>
            <a:avLst/>
            <a:gdLst/>
            <a:ahLst/>
            <a:cxnLst/>
            <a:rect l="l" t="t" r="r" b="b"/>
            <a:pathLst>
              <a:path w="481757" h="292680">
                <a:moveTo>
                  <a:pt x="240880" y="0"/>
                </a:moveTo>
                <a:lnTo>
                  <a:pt x="240880" y="0"/>
                </a:lnTo>
                <a:cubicBezTo>
                  <a:pt x="373823" y="0"/>
                  <a:pt x="481757" y="65573"/>
                  <a:pt x="481757" y="146341"/>
                </a:cubicBezTo>
                <a:lnTo>
                  <a:pt x="481757" y="146341"/>
                </a:lnTo>
                <a:cubicBezTo>
                  <a:pt x="481757" y="227108"/>
                  <a:pt x="373823" y="292680"/>
                  <a:pt x="240880" y="292680"/>
                </a:cubicBezTo>
                <a:lnTo>
                  <a:pt x="240880" y="292680"/>
                </a:lnTo>
                <a:cubicBezTo>
                  <a:pt x="107933" y="292680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107933" y="0"/>
                  <a:pt x="24088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84124" y="2730591"/>
            <a:ext cx="584124" cy="29206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07929" y="2730591"/>
            <a:ext cx="4571405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生成图像级特征向量:</a:t>
            </a:r>
            <a:r>
              <a:rPr lang="en-US" sz="1400" b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使用全局平均池化(GAP)将特征图压缩成紧凑的一维视觉嵌入向量。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47616" y="3238525"/>
            <a:ext cx="481694" cy="292642"/>
          </a:xfrm>
          <a:custGeom>
            <a:avLst/>
            <a:gdLst/>
            <a:ahLst/>
            <a:cxnLst/>
            <a:rect l="l" t="t" r="r" b="b"/>
            <a:pathLst>
              <a:path w="481757" h="292680">
                <a:moveTo>
                  <a:pt x="240880" y="0"/>
                </a:moveTo>
                <a:lnTo>
                  <a:pt x="240880" y="0"/>
                </a:lnTo>
                <a:cubicBezTo>
                  <a:pt x="373823" y="0"/>
                  <a:pt x="481757" y="65573"/>
                  <a:pt x="481757" y="146341"/>
                </a:cubicBezTo>
                <a:lnTo>
                  <a:pt x="481757" y="146341"/>
                </a:lnTo>
                <a:cubicBezTo>
                  <a:pt x="481757" y="227108"/>
                  <a:pt x="373823" y="292680"/>
                  <a:pt x="240880" y="292680"/>
                </a:cubicBezTo>
                <a:lnTo>
                  <a:pt x="240880" y="292680"/>
                </a:lnTo>
                <a:cubicBezTo>
                  <a:pt x="107933" y="292680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107933" y="0"/>
                  <a:pt x="24088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84124" y="3238525"/>
            <a:ext cx="584124" cy="29206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307929" y="3238525"/>
            <a:ext cx="4571405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跨模态特征对齐与交互:</a:t>
            </a:r>
            <a:r>
              <a:rPr lang="en-US" sz="1400" b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视觉特征与文本特征映射到同一空间，通过对比学习或交叉注意力实现对齐。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380951" y="3949633"/>
            <a:ext cx="5872634" cy="1390056"/>
          </a:xfrm>
          <a:custGeom>
            <a:avLst/>
            <a:gdLst/>
            <a:ahLst/>
            <a:cxnLst/>
            <a:rect l="l" t="t" r="r" b="b"/>
            <a:pathLst>
              <a:path w="5873399" h="1390237">
                <a:moveTo>
                  <a:pt x="38641" y="0"/>
                </a:moveTo>
                <a:lnTo>
                  <a:pt x="5757482" y="0"/>
                </a:lnTo>
                <a:cubicBezTo>
                  <a:pt x="5821501" y="0"/>
                  <a:pt x="5873399" y="51867"/>
                  <a:pt x="5873399" y="115848"/>
                </a:cubicBezTo>
                <a:lnTo>
                  <a:pt x="5873399" y="1274389"/>
                </a:lnTo>
                <a:cubicBezTo>
                  <a:pt x="5873399" y="1338370"/>
                  <a:pt x="5821501" y="1390237"/>
                  <a:pt x="5757482" y="1390237"/>
                </a:cubicBezTo>
                <a:lnTo>
                  <a:pt x="38641" y="1390237"/>
                </a:lnTo>
                <a:cubicBezTo>
                  <a:pt x="17300" y="1390237"/>
                  <a:pt x="0" y="1372947"/>
                  <a:pt x="0" y="1351619"/>
                </a:cubicBezTo>
                <a:lnTo>
                  <a:pt x="0" y="38618"/>
                </a:lnTo>
                <a:cubicBezTo>
                  <a:pt x="0" y="17304"/>
                  <a:pt x="17314" y="0"/>
                  <a:pt x="3864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889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380951" y="4025823"/>
            <a:ext cx="36580" cy="1316894"/>
          </a:xfrm>
          <a:custGeom>
            <a:avLst/>
            <a:gdLst/>
            <a:ahLst/>
            <a:cxnLst/>
            <a:rect l="l" t="t" r="r" b="b"/>
            <a:pathLst>
              <a:path w="36585" h="1317065">
                <a:moveTo>
                  <a:pt x="36585" y="0"/>
                </a:moveTo>
                <a:lnTo>
                  <a:pt x="36585" y="0"/>
                </a:lnTo>
                <a:lnTo>
                  <a:pt x="36585" y="1317065"/>
                </a:lnTo>
                <a:lnTo>
                  <a:pt x="36585" y="1317065"/>
                </a:lnTo>
                <a:cubicBezTo>
                  <a:pt x="16380" y="1317065"/>
                  <a:pt x="0" y="1300686"/>
                  <a:pt x="0" y="1280480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634917" y="4118789"/>
            <a:ext cx="192047" cy="109741"/>
          </a:xfrm>
          <a:custGeom>
            <a:avLst/>
            <a:gdLst/>
            <a:ahLst/>
            <a:cxnLst/>
            <a:rect l="l" t="t" r="r" b="b"/>
            <a:pathLst>
              <a:path w="192072" h="109755">
                <a:moveTo>
                  <a:pt x="13719" y="0"/>
                </a:moveTo>
                <a:cubicBezTo>
                  <a:pt x="6132" y="0"/>
                  <a:pt x="0" y="6132"/>
                  <a:pt x="0" y="13719"/>
                </a:cubicBezTo>
                <a:cubicBezTo>
                  <a:pt x="0" y="21308"/>
                  <a:pt x="6132" y="27440"/>
                  <a:pt x="13719" y="27440"/>
                </a:cubicBezTo>
                <a:lnTo>
                  <a:pt x="178352" y="27440"/>
                </a:lnTo>
                <a:cubicBezTo>
                  <a:pt x="185941" y="27440"/>
                  <a:pt x="192072" y="21308"/>
                  <a:pt x="192072" y="13719"/>
                </a:cubicBezTo>
                <a:cubicBezTo>
                  <a:pt x="192072" y="6132"/>
                  <a:pt x="185941" y="0"/>
                  <a:pt x="178352" y="0"/>
                </a:cubicBezTo>
                <a:lnTo>
                  <a:pt x="13719" y="0"/>
                </a:lnTo>
                <a:close/>
                <a:moveTo>
                  <a:pt x="13719" y="82316"/>
                </a:moveTo>
                <a:cubicBezTo>
                  <a:pt x="6132" y="82316"/>
                  <a:pt x="0" y="88447"/>
                  <a:pt x="0" y="96036"/>
                </a:cubicBezTo>
                <a:cubicBezTo>
                  <a:pt x="0" y="103624"/>
                  <a:pt x="6132" y="109755"/>
                  <a:pt x="13719" y="109755"/>
                </a:cubicBezTo>
                <a:lnTo>
                  <a:pt x="178352" y="109755"/>
                </a:lnTo>
                <a:cubicBezTo>
                  <a:pt x="185941" y="109755"/>
                  <a:pt x="192072" y="103624"/>
                  <a:pt x="192072" y="96036"/>
                </a:cubicBezTo>
                <a:cubicBezTo>
                  <a:pt x="192072" y="88447"/>
                  <a:pt x="185941" y="82316"/>
                  <a:pt x="178352" y="82316"/>
                </a:cubicBezTo>
                <a:lnTo>
                  <a:pt x="13719" y="82316"/>
                </a:lnTo>
                <a:close/>
              </a:path>
            </a:pathLst>
          </a:cu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28566" y="3936934"/>
            <a:ext cx="3174587" cy="35555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典型案例：CLIP模型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71425" y="4571851"/>
            <a:ext cx="5460289" cy="6349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400" b="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CLIP使用ResNet作为视觉编码器，通过大规模图文对进行对比学习，将视觉特征与文本特征映射到同一空间，从而实现了强大的零样本图像分类能力。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368252" y="5524228"/>
            <a:ext cx="11454994" cy="744796"/>
          </a:xfrm>
          <a:custGeom>
            <a:avLst/>
            <a:gdLst/>
            <a:ahLst/>
            <a:cxnLst/>
            <a:rect l="l" t="t" r="r" b="b"/>
            <a:pathLst>
              <a:path w="11456486" h="744893">
                <a:moveTo>
                  <a:pt x="225779" y="0"/>
                </a:moveTo>
                <a:lnTo>
                  <a:pt x="11230708" y="0"/>
                </a:lnTo>
                <a:cubicBezTo>
                  <a:pt x="11355401" y="0"/>
                  <a:pt x="11456486" y="27620"/>
                  <a:pt x="11456486" y="61693"/>
                </a:cubicBezTo>
                <a:lnTo>
                  <a:pt x="11456486" y="683202"/>
                </a:lnTo>
                <a:cubicBezTo>
                  <a:pt x="11456486" y="717272"/>
                  <a:pt x="11355401" y="744893"/>
                  <a:pt x="11230708" y="744893"/>
                </a:cubicBezTo>
                <a:lnTo>
                  <a:pt x="225779" y="744893"/>
                </a:lnTo>
                <a:cubicBezTo>
                  <a:pt x="101084" y="744893"/>
                  <a:pt x="0" y="717272"/>
                  <a:pt x="0" y="683202"/>
                </a:cubicBezTo>
                <a:lnTo>
                  <a:pt x="0" y="61693"/>
                </a:lnTo>
                <a:cubicBezTo>
                  <a:pt x="0" y="27620"/>
                  <a:pt x="101084" y="0"/>
                  <a:pt x="225779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"/>
                </a:srgbClr>
              </a:gs>
              <a:gs pos="100000">
                <a:srgbClr val="2C3E50">
                  <a:alpha val="10000"/>
                </a:srgbClr>
              </a:gs>
            </a:gsLst>
            <a:lin ang="0"/>
          </a:gradFill>
          <a:ln w="12700" cap="flat" cmpd="sng">
            <a:solidFill>
              <a:srgbClr val="3498DB">
                <a:alpha val="30000"/>
              </a:srgbClr>
            </a:solidFill>
            <a:prstDash val="solid"/>
            <a:miter lim="10000000"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647616" y="5765496"/>
            <a:ext cx="164612" cy="226342"/>
          </a:xfrm>
          <a:custGeom>
            <a:avLst/>
            <a:gdLst/>
            <a:ahLst/>
            <a:cxnLst/>
            <a:rect l="l" t="t" r="r" b="b"/>
            <a:pathLst>
              <a:path w="164633" h="226371">
                <a:moveTo>
                  <a:pt x="125576" y="164633"/>
                </a:moveTo>
                <a:cubicBezTo>
                  <a:pt x="128706" y="155072"/>
                  <a:pt x="134965" y="146412"/>
                  <a:pt x="142039" y="138952"/>
                </a:cubicBezTo>
                <a:cubicBezTo>
                  <a:pt x="156059" y="124203"/>
                  <a:pt x="164633" y="104268"/>
                  <a:pt x="164633" y="82318"/>
                </a:cubicBezTo>
                <a:cubicBezTo>
                  <a:pt x="164633" y="36871"/>
                  <a:pt x="127762" y="0"/>
                  <a:pt x="82318" y="0"/>
                </a:cubicBezTo>
                <a:cubicBezTo>
                  <a:pt x="36871" y="0"/>
                  <a:pt x="0" y="36871"/>
                  <a:pt x="0" y="82318"/>
                </a:cubicBezTo>
                <a:cubicBezTo>
                  <a:pt x="0" y="104268"/>
                  <a:pt x="8575" y="124203"/>
                  <a:pt x="22595" y="138952"/>
                </a:cubicBezTo>
                <a:cubicBezTo>
                  <a:pt x="29668" y="146412"/>
                  <a:pt x="35971" y="155072"/>
                  <a:pt x="39058" y="164633"/>
                </a:cubicBezTo>
                <a:lnTo>
                  <a:pt x="125533" y="164633"/>
                </a:lnTo>
                <a:close/>
                <a:moveTo>
                  <a:pt x="123474" y="185212"/>
                </a:moveTo>
                <a:lnTo>
                  <a:pt x="41158" y="185212"/>
                </a:lnTo>
                <a:lnTo>
                  <a:pt x="41158" y="192072"/>
                </a:lnTo>
                <a:cubicBezTo>
                  <a:pt x="41158" y="211022"/>
                  <a:pt x="56507" y="226371"/>
                  <a:pt x="75457" y="226371"/>
                </a:cubicBezTo>
                <a:lnTo>
                  <a:pt x="89176" y="226371"/>
                </a:lnTo>
                <a:cubicBezTo>
                  <a:pt x="108127" y="226371"/>
                  <a:pt x="123474" y="211022"/>
                  <a:pt x="123474" y="192072"/>
                </a:cubicBezTo>
                <a:lnTo>
                  <a:pt x="123474" y="185212"/>
                </a:lnTo>
                <a:close/>
                <a:moveTo>
                  <a:pt x="78887" y="48017"/>
                </a:moveTo>
                <a:cubicBezTo>
                  <a:pt x="61824" y="48017"/>
                  <a:pt x="48017" y="61824"/>
                  <a:pt x="48017" y="78887"/>
                </a:cubicBezTo>
                <a:cubicBezTo>
                  <a:pt x="48017" y="84590"/>
                  <a:pt x="43431" y="89176"/>
                  <a:pt x="37728" y="89176"/>
                </a:cubicBezTo>
                <a:cubicBezTo>
                  <a:pt x="32026" y="89176"/>
                  <a:pt x="27440" y="84590"/>
                  <a:pt x="27440" y="78887"/>
                </a:cubicBezTo>
                <a:cubicBezTo>
                  <a:pt x="27440" y="50462"/>
                  <a:pt x="50462" y="27440"/>
                  <a:pt x="78887" y="27440"/>
                </a:cubicBezTo>
                <a:cubicBezTo>
                  <a:pt x="84590" y="27440"/>
                  <a:pt x="89176" y="32026"/>
                  <a:pt x="89176" y="37728"/>
                </a:cubicBezTo>
                <a:cubicBezTo>
                  <a:pt x="89176" y="43431"/>
                  <a:pt x="84590" y="48017"/>
                  <a:pt x="78887" y="48017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55549" y="5663909"/>
            <a:ext cx="10361851" cy="4698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60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CNN作为视觉基础模块，为多模态模型提供了高效的特征提取能力，是连接视觉感知与语言理解的关键桥梁。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6387269" y="1092505"/>
            <a:ext cx="5456134" cy="4298133"/>
          </a:xfrm>
          <a:custGeom>
            <a:avLst/>
            <a:gdLst/>
            <a:ahLst/>
            <a:cxnLst/>
            <a:rect l="l" t="t" r="r" b="b"/>
            <a:pathLst>
              <a:path w="5456845" h="4298693">
                <a:moveTo>
                  <a:pt x="107173" y="0"/>
                </a:moveTo>
                <a:lnTo>
                  <a:pt x="5349672" y="0"/>
                </a:lnTo>
                <a:cubicBezTo>
                  <a:pt x="5408861" y="0"/>
                  <a:pt x="5456845" y="36659"/>
                  <a:pt x="5456845" y="81881"/>
                </a:cubicBezTo>
                <a:lnTo>
                  <a:pt x="5456845" y="4216814"/>
                </a:lnTo>
                <a:cubicBezTo>
                  <a:pt x="5456845" y="4262035"/>
                  <a:pt x="5408861" y="4298693"/>
                  <a:pt x="5349672" y="4298693"/>
                </a:cubicBezTo>
                <a:lnTo>
                  <a:pt x="107173" y="4298693"/>
                </a:lnTo>
                <a:cubicBezTo>
                  <a:pt x="47982" y="4298693"/>
                  <a:pt x="0" y="4262035"/>
                  <a:pt x="0" y="4216814"/>
                </a:cubicBezTo>
                <a:lnTo>
                  <a:pt x="0" y="81881"/>
                </a:lnTo>
                <a:cubicBezTo>
                  <a:pt x="0" y="36659"/>
                  <a:pt x="47982" y="0"/>
                  <a:pt x="10717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889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412665" y="1321075"/>
            <a:ext cx="5244417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20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CLIP模型对比学习架构示意图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rcRect t="11282" b="11282"/>
          <a:stretch>
            <a:fillRect/>
          </a:stretch>
        </p:blipFill>
        <p:spPr>
          <a:xfrm>
            <a:off x="6577743" y="2032182"/>
            <a:ext cx="5079339" cy="2793636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9015826" y="5079785"/>
            <a:ext cx="2742843" cy="36825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ctr" anchorCtr="0"/>
          <a:lstStyle/>
          <a:p>
            <a:pPr algn="r">
              <a:defRPr/>
            </a:pPr>
            <a:r>
              <a:rPr lang="en-US" sz="1200" b="0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Image Credit: OpenAI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646331"/>
          </a:xfrm>
        </p:spPr>
        <p:txBody>
          <a:bodyPr/>
          <a:lstStyle/>
          <a:p>
            <a:r>
              <a:rPr lang="zh-CN" altLang="en-US"/>
              <a:t>ViT整体结构图</a:t>
            </a: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384144" y="1097554"/>
            <a:ext cx="5873398" cy="2743886"/>
          </a:xfrm>
          <a:custGeom>
            <a:avLst/>
            <a:gdLst/>
            <a:ahLst/>
            <a:cxnLst/>
            <a:rect l="l" t="t" r="r" b="b"/>
            <a:pathLst>
              <a:path w="5560942" h="2743886">
                <a:moveTo>
                  <a:pt x="36585" y="0"/>
                </a:moveTo>
                <a:lnTo>
                  <a:pt x="5451187" y="0"/>
                </a:lnTo>
                <a:cubicBezTo>
                  <a:pt x="5511803" y="0"/>
                  <a:pt x="5560942" y="49139"/>
                  <a:pt x="5560942" y="109755"/>
                </a:cubicBezTo>
                <a:lnTo>
                  <a:pt x="5560942" y="2634131"/>
                </a:lnTo>
                <a:cubicBezTo>
                  <a:pt x="5560942" y="2694747"/>
                  <a:pt x="5511803" y="2743886"/>
                  <a:pt x="5451187" y="2743886"/>
                </a:cubicBezTo>
                <a:lnTo>
                  <a:pt x="36585" y="2743886"/>
                </a:lnTo>
                <a:cubicBezTo>
                  <a:pt x="16380" y="2743886"/>
                  <a:pt x="0" y="2727506"/>
                  <a:pt x="0" y="2707301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194" dist="914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384144" y="1097554"/>
            <a:ext cx="36585" cy="2743886"/>
          </a:xfrm>
          <a:custGeom>
            <a:avLst/>
            <a:gdLst/>
            <a:ahLst/>
            <a:cxnLst/>
            <a:rect l="l" t="t" r="r" b="b"/>
            <a:pathLst>
              <a:path w="36585" h="2743886">
                <a:moveTo>
                  <a:pt x="36585" y="0"/>
                </a:moveTo>
                <a:lnTo>
                  <a:pt x="36585" y="0"/>
                </a:lnTo>
                <a:lnTo>
                  <a:pt x="36585" y="2743886"/>
                </a:lnTo>
                <a:lnTo>
                  <a:pt x="36585" y="2743886"/>
                </a:lnTo>
                <a:cubicBezTo>
                  <a:pt x="16380" y="2743886"/>
                  <a:pt x="0" y="2727506"/>
                  <a:pt x="0" y="2707301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3498DB"/>
          </a:solidFill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658580" y="1211047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82317" y="27439"/>
                </a:moveTo>
                <a:cubicBezTo>
                  <a:pt x="82317" y="19850"/>
                  <a:pt x="88447" y="13719"/>
                  <a:pt x="96036" y="13719"/>
                </a:cubicBezTo>
                <a:lnTo>
                  <a:pt x="123475" y="13719"/>
                </a:lnTo>
                <a:cubicBezTo>
                  <a:pt x="131063" y="13719"/>
                  <a:pt x="137194" y="19850"/>
                  <a:pt x="137194" y="27439"/>
                </a:cubicBezTo>
                <a:lnTo>
                  <a:pt x="137194" y="54878"/>
                </a:lnTo>
                <a:cubicBezTo>
                  <a:pt x="137194" y="62466"/>
                  <a:pt x="131063" y="68597"/>
                  <a:pt x="123475" y="68597"/>
                </a:cubicBezTo>
                <a:lnTo>
                  <a:pt x="120045" y="68597"/>
                </a:lnTo>
                <a:lnTo>
                  <a:pt x="120045" y="96036"/>
                </a:lnTo>
                <a:lnTo>
                  <a:pt x="171493" y="96036"/>
                </a:lnTo>
                <a:cubicBezTo>
                  <a:pt x="188556" y="96036"/>
                  <a:pt x="202362" y="109841"/>
                  <a:pt x="202362" y="126905"/>
                </a:cubicBezTo>
                <a:lnTo>
                  <a:pt x="202362" y="150914"/>
                </a:lnTo>
                <a:lnTo>
                  <a:pt x="205791" y="150914"/>
                </a:lnTo>
                <a:cubicBezTo>
                  <a:pt x="213380" y="150914"/>
                  <a:pt x="219511" y="157045"/>
                  <a:pt x="219511" y="164633"/>
                </a:cubicBezTo>
                <a:lnTo>
                  <a:pt x="219511" y="192072"/>
                </a:lnTo>
                <a:cubicBezTo>
                  <a:pt x="219511" y="199661"/>
                  <a:pt x="213380" y="205791"/>
                  <a:pt x="205791" y="205791"/>
                </a:cubicBezTo>
                <a:lnTo>
                  <a:pt x="178353" y="205791"/>
                </a:lnTo>
                <a:cubicBezTo>
                  <a:pt x="170764" y="205791"/>
                  <a:pt x="164633" y="199661"/>
                  <a:pt x="164633" y="192072"/>
                </a:cubicBezTo>
                <a:lnTo>
                  <a:pt x="164633" y="164633"/>
                </a:lnTo>
                <a:cubicBezTo>
                  <a:pt x="164633" y="157045"/>
                  <a:pt x="170764" y="150914"/>
                  <a:pt x="178353" y="150914"/>
                </a:cubicBezTo>
                <a:lnTo>
                  <a:pt x="181782" y="150914"/>
                </a:lnTo>
                <a:lnTo>
                  <a:pt x="181782" y="126905"/>
                </a:lnTo>
                <a:cubicBezTo>
                  <a:pt x="181782" y="121203"/>
                  <a:pt x="177195" y="116615"/>
                  <a:pt x="171493" y="116615"/>
                </a:cubicBezTo>
                <a:lnTo>
                  <a:pt x="120045" y="116615"/>
                </a:lnTo>
                <a:lnTo>
                  <a:pt x="120045" y="150914"/>
                </a:lnTo>
                <a:lnTo>
                  <a:pt x="123475" y="150914"/>
                </a:lnTo>
                <a:cubicBezTo>
                  <a:pt x="131063" y="150914"/>
                  <a:pt x="137194" y="157045"/>
                  <a:pt x="137194" y="164633"/>
                </a:cubicBezTo>
                <a:lnTo>
                  <a:pt x="137194" y="192072"/>
                </a:lnTo>
                <a:cubicBezTo>
                  <a:pt x="137194" y="199661"/>
                  <a:pt x="131063" y="205791"/>
                  <a:pt x="123475" y="205791"/>
                </a:cubicBezTo>
                <a:lnTo>
                  <a:pt x="96036" y="205791"/>
                </a:lnTo>
                <a:cubicBezTo>
                  <a:pt x="88447" y="205791"/>
                  <a:pt x="82317" y="199661"/>
                  <a:pt x="82317" y="192072"/>
                </a:cubicBezTo>
                <a:lnTo>
                  <a:pt x="82317" y="164633"/>
                </a:lnTo>
                <a:cubicBezTo>
                  <a:pt x="82317" y="157045"/>
                  <a:pt x="88447" y="150914"/>
                  <a:pt x="96036" y="150914"/>
                </a:cubicBezTo>
                <a:lnTo>
                  <a:pt x="99466" y="150914"/>
                </a:lnTo>
                <a:lnTo>
                  <a:pt x="99466" y="116615"/>
                </a:lnTo>
                <a:lnTo>
                  <a:pt x="48018" y="116615"/>
                </a:lnTo>
                <a:cubicBezTo>
                  <a:pt x="42316" y="116615"/>
                  <a:pt x="37728" y="121203"/>
                  <a:pt x="37728" y="126905"/>
                </a:cubicBezTo>
                <a:lnTo>
                  <a:pt x="37728" y="150914"/>
                </a:lnTo>
                <a:lnTo>
                  <a:pt x="41158" y="150914"/>
                </a:lnTo>
                <a:cubicBezTo>
                  <a:pt x="48747" y="150914"/>
                  <a:pt x="54878" y="157045"/>
                  <a:pt x="54878" y="164633"/>
                </a:cubicBezTo>
                <a:lnTo>
                  <a:pt x="54878" y="192072"/>
                </a:lnTo>
                <a:cubicBezTo>
                  <a:pt x="54878" y="199661"/>
                  <a:pt x="48747" y="205791"/>
                  <a:pt x="41158" y="205791"/>
                </a:cubicBezTo>
                <a:lnTo>
                  <a:pt x="13719" y="205791"/>
                </a:lnTo>
                <a:cubicBezTo>
                  <a:pt x="6131" y="205791"/>
                  <a:pt x="0" y="199661"/>
                  <a:pt x="0" y="192072"/>
                </a:cubicBezTo>
                <a:lnTo>
                  <a:pt x="0" y="164633"/>
                </a:lnTo>
                <a:cubicBezTo>
                  <a:pt x="0" y="157045"/>
                  <a:pt x="6131" y="150914"/>
                  <a:pt x="13719" y="150914"/>
                </a:cubicBezTo>
                <a:lnTo>
                  <a:pt x="17149" y="150914"/>
                </a:lnTo>
                <a:lnTo>
                  <a:pt x="17149" y="126905"/>
                </a:lnTo>
                <a:cubicBezTo>
                  <a:pt x="17149" y="109841"/>
                  <a:pt x="30954" y="96036"/>
                  <a:pt x="48018" y="96036"/>
                </a:cubicBezTo>
                <a:lnTo>
                  <a:pt x="99466" y="96036"/>
                </a:lnTo>
                <a:lnTo>
                  <a:pt x="99466" y="68597"/>
                </a:lnTo>
                <a:lnTo>
                  <a:pt x="96036" y="68597"/>
                </a:lnTo>
                <a:cubicBezTo>
                  <a:pt x="88447" y="68597"/>
                  <a:pt x="82317" y="62466"/>
                  <a:pt x="82317" y="54878"/>
                </a:cubicBezTo>
                <a:lnTo>
                  <a:pt x="82317" y="27439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15286" y="1152626"/>
            <a:ext cx="1956766" cy="296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ViT处理流程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89934" y="1719502"/>
            <a:ext cx="5216657" cy="1902427"/>
            <a:chOff x="589935" y="1719502"/>
            <a:chExt cx="3169265" cy="1902427"/>
          </a:xfrm>
        </p:grpSpPr>
        <p:sp>
          <p:nvSpPr>
            <p:cNvPr id="10" name="Shape 8"/>
            <p:cNvSpPr/>
            <p:nvPr>
              <p:custDataLst>
                <p:tags r:id="rId17"/>
              </p:custDataLst>
            </p:nvPr>
          </p:nvSpPr>
          <p:spPr>
            <a:xfrm>
              <a:off x="621947" y="1719502"/>
              <a:ext cx="292681" cy="292681"/>
            </a:xfrm>
            <a:custGeom>
              <a:avLst/>
              <a:gdLst/>
              <a:ahLst/>
              <a:cxnLst/>
              <a:rect l="l" t="t" r="r" b="b"/>
              <a:pathLst>
                <a:path w="292681" h="292681">
                  <a:moveTo>
                    <a:pt x="146341" y="0"/>
                  </a:moveTo>
                  <a:lnTo>
                    <a:pt x="146341" y="0"/>
                  </a:lnTo>
                  <a:cubicBezTo>
                    <a:pt x="227108" y="0"/>
                    <a:pt x="292681" y="65573"/>
                    <a:pt x="292681" y="146341"/>
                  </a:cubicBezTo>
                  <a:lnTo>
                    <a:pt x="292681" y="146341"/>
                  </a:lnTo>
                  <a:cubicBezTo>
                    <a:pt x="292681" y="227108"/>
                    <a:pt x="227108" y="292681"/>
                    <a:pt x="146341" y="292681"/>
                  </a:cubicBezTo>
                  <a:lnTo>
                    <a:pt x="146341" y="292681"/>
                  </a:lnTo>
                  <a:cubicBezTo>
                    <a:pt x="65573" y="292681"/>
                    <a:pt x="0" y="227108"/>
                    <a:pt x="0" y="146341"/>
                  </a:cubicBezTo>
                  <a:lnTo>
                    <a:pt x="0" y="146341"/>
                  </a:lnTo>
                  <a:cubicBezTo>
                    <a:pt x="0" y="65573"/>
                    <a:pt x="65573" y="0"/>
                    <a:pt x="146341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1" name="Text 9"/>
            <p:cNvSpPr/>
            <p:nvPr>
              <p:custDataLst>
                <p:tags r:id="rId18"/>
              </p:custDataLst>
            </p:nvPr>
          </p:nvSpPr>
          <p:spPr>
            <a:xfrm>
              <a:off x="589935" y="1719502"/>
              <a:ext cx="356705" cy="29268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+mn-ea"/>
                  <a:ea typeface="+mn-ea"/>
                  <a:cs typeface="MiSans" pitchFamily="34" charset="-120"/>
                </a:rPr>
                <a:t>1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2" name="Text 10"/>
            <p:cNvSpPr/>
            <p:nvPr>
              <p:custDataLst>
                <p:tags r:id="rId19"/>
              </p:custDataLst>
            </p:nvPr>
          </p:nvSpPr>
          <p:spPr>
            <a:xfrm>
              <a:off x="1024384" y="1810964"/>
              <a:ext cx="2734816" cy="14634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图像切块：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分割为固定大小Patch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3" name="Shape 11"/>
            <p:cNvSpPr/>
            <p:nvPr>
              <p:custDataLst>
                <p:tags r:id="rId20"/>
              </p:custDataLst>
            </p:nvPr>
          </p:nvSpPr>
          <p:spPr>
            <a:xfrm>
              <a:off x="621947" y="2121938"/>
              <a:ext cx="292681" cy="292681"/>
            </a:xfrm>
            <a:custGeom>
              <a:avLst/>
              <a:gdLst/>
              <a:ahLst/>
              <a:cxnLst/>
              <a:rect l="l" t="t" r="r" b="b"/>
              <a:pathLst>
                <a:path w="292681" h="292681">
                  <a:moveTo>
                    <a:pt x="146341" y="0"/>
                  </a:moveTo>
                  <a:lnTo>
                    <a:pt x="146341" y="0"/>
                  </a:lnTo>
                  <a:cubicBezTo>
                    <a:pt x="227108" y="0"/>
                    <a:pt x="292681" y="65573"/>
                    <a:pt x="292681" y="146341"/>
                  </a:cubicBezTo>
                  <a:lnTo>
                    <a:pt x="292681" y="146341"/>
                  </a:lnTo>
                  <a:cubicBezTo>
                    <a:pt x="292681" y="227108"/>
                    <a:pt x="227108" y="292681"/>
                    <a:pt x="146341" y="292681"/>
                  </a:cubicBezTo>
                  <a:lnTo>
                    <a:pt x="146341" y="292681"/>
                  </a:lnTo>
                  <a:cubicBezTo>
                    <a:pt x="65573" y="292681"/>
                    <a:pt x="0" y="227108"/>
                    <a:pt x="0" y="146341"/>
                  </a:cubicBezTo>
                  <a:lnTo>
                    <a:pt x="0" y="146341"/>
                  </a:lnTo>
                  <a:cubicBezTo>
                    <a:pt x="0" y="65573"/>
                    <a:pt x="65573" y="0"/>
                    <a:pt x="146341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4" name="Text 12"/>
            <p:cNvSpPr/>
            <p:nvPr>
              <p:custDataLst>
                <p:tags r:id="rId21"/>
              </p:custDataLst>
            </p:nvPr>
          </p:nvSpPr>
          <p:spPr>
            <a:xfrm>
              <a:off x="589935" y="2121938"/>
              <a:ext cx="356705" cy="29268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+mn-ea"/>
                  <a:ea typeface="+mn-ea"/>
                  <a:cs typeface="MiSans" pitchFamily="34" charset="-120"/>
                </a:rPr>
                <a:t>2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5" name="Text 13"/>
            <p:cNvSpPr/>
            <p:nvPr>
              <p:custDataLst>
                <p:tags r:id="rId22"/>
              </p:custDataLst>
            </p:nvPr>
          </p:nvSpPr>
          <p:spPr>
            <a:xfrm>
              <a:off x="1024383" y="2176816"/>
              <a:ext cx="2413083" cy="18292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线性映射：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展平并投影到嵌入空间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6" name="Shape 14"/>
            <p:cNvSpPr/>
            <p:nvPr>
              <p:custDataLst>
                <p:tags r:id="rId23"/>
              </p:custDataLst>
            </p:nvPr>
          </p:nvSpPr>
          <p:spPr>
            <a:xfrm>
              <a:off x="621947" y="2524375"/>
              <a:ext cx="292681" cy="292681"/>
            </a:xfrm>
            <a:custGeom>
              <a:avLst/>
              <a:gdLst/>
              <a:ahLst/>
              <a:cxnLst/>
              <a:rect l="l" t="t" r="r" b="b"/>
              <a:pathLst>
                <a:path w="292681" h="292681">
                  <a:moveTo>
                    <a:pt x="146341" y="0"/>
                  </a:moveTo>
                  <a:lnTo>
                    <a:pt x="146341" y="0"/>
                  </a:lnTo>
                  <a:cubicBezTo>
                    <a:pt x="227108" y="0"/>
                    <a:pt x="292681" y="65573"/>
                    <a:pt x="292681" y="146341"/>
                  </a:cubicBezTo>
                  <a:lnTo>
                    <a:pt x="292681" y="146341"/>
                  </a:lnTo>
                  <a:cubicBezTo>
                    <a:pt x="292681" y="227108"/>
                    <a:pt x="227108" y="292681"/>
                    <a:pt x="146341" y="292681"/>
                  </a:cubicBezTo>
                  <a:lnTo>
                    <a:pt x="146341" y="292681"/>
                  </a:lnTo>
                  <a:cubicBezTo>
                    <a:pt x="65573" y="292681"/>
                    <a:pt x="0" y="227108"/>
                    <a:pt x="0" y="146341"/>
                  </a:cubicBezTo>
                  <a:lnTo>
                    <a:pt x="0" y="146341"/>
                  </a:lnTo>
                  <a:cubicBezTo>
                    <a:pt x="0" y="65573"/>
                    <a:pt x="65573" y="0"/>
                    <a:pt x="146341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7" name="Text 15"/>
            <p:cNvSpPr/>
            <p:nvPr>
              <p:custDataLst>
                <p:tags r:id="rId24"/>
              </p:custDataLst>
            </p:nvPr>
          </p:nvSpPr>
          <p:spPr>
            <a:xfrm>
              <a:off x="589935" y="2524375"/>
              <a:ext cx="356705" cy="29268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+mn-ea"/>
                  <a:ea typeface="+mn-ea"/>
                  <a:cs typeface="MiSans" pitchFamily="34" charset="-120"/>
                </a:rPr>
                <a:t>3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8" name="Text 16"/>
            <p:cNvSpPr/>
            <p:nvPr>
              <p:custDataLst>
                <p:tags r:id="rId25"/>
              </p:custDataLst>
            </p:nvPr>
          </p:nvSpPr>
          <p:spPr>
            <a:xfrm>
              <a:off x="1024383" y="2579252"/>
              <a:ext cx="2195109" cy="18292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位置编码：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添加可学习的位置信息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9" name="Shape 17"/>
            <p:cNvSpPr/>
            <p:nvPr>
              <p:custDataLst>
                <p:tags r:id="rId26"/>
              </p:custDataLst>
            </p:nvPr>
          </p:nvSpPr>
          <p:spPr>
            <a:xfrm>
              <a:off x="621947" y="2926812"/>
              <a:ext cx="292681" cy="292681"/>
            </a:xfrm>
            <a:custGeom>
              <a:avLst/>
              <a:gdLst/>
              <a:ahLst/>
              <a:cxnLst/>
              <a:rect l="l" t="t" r="r" b="b"/>
              <a:pathLst>
                <a:path w="292681" h="292681">
                  <a:moveTo>
                    <a:pt x="146341" y="0"/>
                  </a:moveTo>
                  <a:lnTo>
                    <a:pt x="146341" y="0"/>
                  </a:lnTo>
                  <a:cubicBezTo>
                    <a:pt x="227108" y="0"/>
                    <a:pt x="292681" y="65573"/>
                    <a:pt x="292681" y="146341"/>
                  </a:cubicBezTo>
                  <a:lnTo>
                    <a:pt x="292681" y="146341"/>
                  </a:lnTo>
                  <a:cubicBezTo>
                    <a:pt x="292681" y="227108"/>
                    <a:pt x="227108" y="292681"/>
                    <a:pt x="146341" y="292681"/>
                  </a:cubicBezTo>
                  <a:lnTo>
                    <a:pt x="146341" y="292681"/>
                  </a:lnTo>
                  <a:cubicBezTo>
                    <a:pt x="65573" y="292681"/>
                    <a:pt x="0" y="227108"/>
                    <a:pt x="0" y="146341"/>
                  </a:cubicBezTo>
                  <a:lnTo>
                    <a:pt x="0" y="146341"/>
                  </a:lnTo>
                  <a:cubicBezTo>
                    <a:pt x="0" y="65573"/>
                    <a:pt x="65573" y="0"/>
                    <a:pt x="146341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20" name="Text 18"/>
            <p:cNvSpPr/>
            <p:nvPr>
              <p:custDataLst>
                <p:tags r:id="rId27"/>
              </p:custDataLst>
            </p:nvPr>
          </p:nvSpPr>
          <p:spPr>
            <a:xfrm>
              <a:off x="589935" y="2926812"/>
              <a:ext cx="356705" cy="29268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+mn-ea"/>
                  <a:ea typeface="+mn-ea"/>
                  <a:cs typeface="MiSans" pitchFamily="34" charset="-120"/>
                </a:rPr>
                <a:t>4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1" name="Text 19"/>
            <p:cNvSpPr/>
            <p:nvPr>
              <p:custDataLst>
                <p:tags r:id="rId28"/>
              </p:custDataLst>
            </p:nvPr>
          </p:nvSpPr>
          <p:spPr>
            <a:xfrm>
              <a:off x="1024384" y="2949171"/>
              <a:ext cx="2413082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Transformer编码器：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多层注意力处理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2" name="Shape 20"/>
            <p:cNvSpPr/>
            <p:nvPr>
              <p:custDataLst>
                <p:tags r:id="rId29"/>
              </p:custDataLst>
            </p:nvPr>
          </p:nvSpPr>
          <p:spPr>
            <a:xfrm>
              <a:off x="621947" y="3329248"/>
              <a:ext cx="292681" cy="292681"/>
            </a:xfrm>
            <a:custGeom>
              <a:avLst/>
              <a:gdLst/>
              <a:ahLst/>
              <a:cxnLst/>
              <a:rect l="l" t="t" r="r" b="b"/>
              <a:pathLst>
                <a:path w="292681" h="292681">
                  <a:moveTo>
                    <a:pt x="146341" y="0"/>
                  </a:moveTo>
                  <a:lnTo>
                    <a:pt x="146341" y="0"/>
                  </a:lnTo>
                  <a:cubicBezTo>
                    <a:pt x="227108" y="0"/>
                    <a:pt x="292681" y="65573"/>
                    <a:pt x="292681" y="146341"/>
                  </a:cubicBezTo>
                  <a:lnTo>
                    <a:pt x="292681" y="146341"/>
                  </a:lnTo>
                  <a:cubicBezTo>
                    <a:pt x="292681" y="227108"/>
                    <a:pt x="227108" y="292681"/>
                    <a:pt x="146341" y="292681"/>
                  </a:cubicBezTo>
                  <a:lnTo>
                    <a:pt x="146341" y="292681"/>
                  </a:lnTo>
                  <a:cubicBezTo>
                    <a:pt x="65573" y="292681"/>
                    <a:pt x="0" y="227108"/>
                    <a:pt x="0" y="146341"/>
                  </a:cubicBezTo>
                  <a:lnTo>
                    <a:pt x="0" y="146341"/>
                  </a:lnTo>
                  <a:cubicBezTo>
                    <a:pt x="0" y="65573"/>
                    <a:pt x="65573" y="0"/>
                    <a:pt x="146341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23" name="Text 21"/>
            <p:cNvSpPr/>
            <p:nvPr>
              <p:custDataLst>
                <p:tags r:id="rId30"/>
              </p:custDataLst>
            </p:nvPr>
          </p:nvSpPr>
          <p:spPr>
            <a:xfrm>
              <a:off x="589935" y="3329248"/>
              <a:ext cx="356705" cy="29268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+mn-ea"/>
                  <a:ea typeface="+mn-ea"/>
                  <a:cs typeface="MiSans" pitchFamily="34" charset="-120"/>
                </a:rPr>
                <a:t>5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4" name="Text 22"/>
            <p:cNvSpPr/>
            <p:nvPr>
              <p:custDataLst>
                <p:tags r:id="rId31"/>
              </p:custDataLst>
            </p:nvPr>
          </p:nvSpPr>
          <p:spPr>
            <a:xfrm>
              <a:off x="1024383" y="3384126"/>
              <a:ext cx="1577705" cy="18292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分类头：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输出预测结果</a:t>
              </a:r>
              <a:endParaRPr lang="en-US" sz="1800" dirty="0">
                <a:latin typeface="+mn-ea"/>
                <a:ea typeface="+mn-ea"/>
              </a:endParaRPr>
            </a:p>
          </p:txBody>
        </p:sp>
      </p:grpSp>
      <p:sp>
        <p:nvSpPr>
          <p:cNvPr id="25" name="Shape 23"/>
          <p:cNvSpPr/>
          <p:nvPr>
            <p:custDataLst>
              <p:tags r:id="rId5"/>
            </p:custDataLst>
          </p:nvPr>
        </p:nvSpPr>
        <p:spPr>
          <a:xfrm>
            <a:off x="384143" y="3951194"/>
            <a:ext cx="5873399" cy="1390237"/>
          </a:xfrm>
          <a:custGeom>
            <a:avLst/>
            <a:gdLst/>
            <a:ahLst/>
            <a:cxnLst/>
            <a:rect l="l" t="t" r="r" b="b"/>
            <a:pathLst>
              <a:path w="5560942" h="1317065">
                <a:moveTo>
                  <a:pt x="36585" y="0"/>
                </a:moveTo>
                <a:lnTo>
                  <a:pt x="5451191" y="0"/>
                </a:lnTo>
                <a:cubicBezTo>
                  <a:pt x="5511805" y="0"/>
                  <a:pt x="5560942" y="49137"/>
                  <a:pt x="5560942" y="109751"/>
                </a:cubicBezTo>
                <a:lnTo>
                  <a:pt x="5560942" y="1207314"/>
                </a:lnTo>
                <a:cubicBezTo>
                  <a:pt x="5560942" y="1267928"/>
                  <a:pt x="5511805" y="1317065"/>
                  <a:pt x="5451191" y="1317065"/>
                </a:cubicBezTo>
                <a:lnTo>
                  <a:pt x="36585" y="1317065"/>
                </a:lnTo>
                <a:cubicBezTo>
                  <a:pt x="16380" y="1317065"/>
                  <a:pt x="0" y="1300686"/>
                  <a:pt x="0" y="1280480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194" dist="914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>
            <p:custDataLst>
              <p:tags r:id="rId6"/>
            </p:custDataLst>
          </p:nvPr>
        </p:nvSpPr>
        <p:spPr>
          <a:xfrm>
            <a:off x="384144" y="4024366"/>
            <a:ext cx="36585" cy="1317065"/>
          </a:xfrm>
          <a:custGeom>
            <a:avLst/>
            <a:gdLst/>
            <a:ahLst/>
            <a:cxnLst/>
            <a:rect l="l" t="t" r="r" b="b"/>
            <a:pathLst>
              <a:path w="36585" h="1317065">
                <a:moveTo>
                  <a:pt x="36585" y="0"/>
                </a:moveTo>
                <a:lnTo>
                  <a:pt x="36585" y="0"/>
                </a:lnTo>
                <a:lnTo>
                  <a:pt x="36585" y="1317065"/>
                </a:lnTo>
                <a:lnTo>
                  <a:pt x="36585" y="1317065"/>
                </a:lnTo>
                <a:cubicBezTo>
                  <a:pt x="16380" y="1317065"/>
                  <a:pt x="0" y="1300686"/>
                  <a:pt x="0" y="1280480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2C3E50"/>
          </a:solidFill>
        </p:spPr>
      </p:sp>
      <p:sp>
        <p:nvSpPr>
          <p:cNvPr id="27" name="Shape 25"/>
          <p:cNvSpPr/>
          <p:nvPr>
            <p:custDataLst>
              <p:tags r:id="rId7"/>
            </p:custDataLst>
          </p:nvPr>
        </p:nvSpPr>
        <p:spPr>
          <a:xfrm>
            <a:off x="637796" y="4064927"/>
            <a:ext cx="192072" cy="219511"/>
          </a:xfrm>
          <a:custGeom>
            <a:avLst/>
            <a:gdLst/>
            <a:ahLst/>
            <a:cxnLst/>
            <a:rect l="l" t="t" r="r" b="b"/>
            <a:pathLst>
              <a:path w="192072" h="219511">
                <a:moveTo>
                  <a:pt x="13719" y="54878"/>
                </a:moveTo>
                <a:cubicBezTo>
                  <a:pt x="6131" y="54878"/>
                  <a:pt x="0" y="61009"/>
                  <a:pt x="0" y="68597"/>
                </a:cubicBezTo>
                <a:cubicBezTo>
                  <a:pt x="0" y="76186"/>
                  <a:pt x="6131" y="82317"/>
                  <a:pt x="13719" y="82317"/>
                </a:cubicBezTo>
                <a:lnTo>
                  <a:pt x="178353" y="82317"/>
                </a:lnTo>
                <a:cubicBezTo>
                  <a:pt x="185941" y="82317"/>
                  <a:pt x="192072" y="76186"/>
                  <a:pt x="192072" y="68597"/>
                </a:cubicBezTo>
                <a:cubicBezTo>
                  <a:pt x="192072" y="61009"/>
                  <a:pt x="185941" y="54878"/>
                  <a:pt x="178353" y="54878"/>
                </a:cubicBezTo>
                <a:lnTo>
                  <a:pt x="13719" y="54878"/>
                </a:lnTo>
                <a:close/>
                <a:moveTo>
                  <a:pt x="13719" y="137194"/>
                </a:moveTo>
                <a:cubicBezTo>
                  <a:pt x="6131" y="137194"/>
                  <a:pt x="0" y="143325"/>
                  <a:pt x="0" y="150914"/>
                </a:cubicBezTo>
                <a:cubicBezTo>
                  <a:pt x="0" y="158502"/>
                  <a:pt x="6131" y="164633"/>
                  <a:pt x="13719" y="164633"/>
                </a:cubicBezTo>
                <a:lnTo>
                  <a:pt x="178353" y="164633"/>
                </a:lnTo>
                <a:cubicBezTo>
                  <a:pt x="185941" y="164633"/>
                  <a:pt x="192072" y="158502"/>
                  <a:pt x="192072" y="150914"/>
                </a:cubicBezTo>
                <a:cubicBezTo>
                  <a:pt x="192072" y="143325"/>
                  <a:pt x="185941" y="137194"/>
                  <a:pt x="178353" y="137194"/>
                </a:cubicBezTo>
                <a:lnTo>
                  <a:pt x="13719" y="137194"/>
                </a:lnTo>
                <a:close/>
              </a:path>
            </a:pathLst>
          </a:custGeom>
          <a:solidFill>
            <a:srgbClr val="2C3E50"/>
          </a:solidFill>
        </p:spPr>
      </p:sp>
      <p:sp>
        <p:nvSpPr>
          <p:cNvPr id="28" name="Text 26"/>
          <p:cNvSpPr/>
          <p:nvPr>
            <p:custDataLst>
              <p:tags r:id="rId8"/>
            </p:custDataLst>
          </p:nvPr>
        </p:nvSpPr>
        <p:spPr>
          <a:xfrm>
            <a:off x="1024694" y="3939451"/>
            <a:ext cx="2550232" cy="359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与BERT的相似性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29" name="Text 27"/>
          <p:cNvSpPr/>
          <p:nvPr>
            <p:custDataLst>
              <p:tags r:id="rId9"/>
            </p:custDataLst>
          </p:nvPr>
        </p:nvSpPr>
        <p:spPr>
          <a:xfrm>
            <a:off x="499392" y="4656837"/>
            <a:ext cx="5811838" cy="4756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ViT的架构与BERT几乎</a:t>
            </a:r>
            <a:r>
              <a:rPr lang="en-US" sz="18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完全相同</a:t>
            </a:r>
            <a:r>
              <a:rPr lang="en-US" sz="18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，只是输入从文本Token变为图像Patch。这证明了Transformer的</a:t>
            </a:r>
            <a:r>
              <a:rPr lang="en-US" sz="1800" b="1" dirty="0">
                <a:solidFill>
                  <a:srgbClr val="3498DB"/>
                </a:solidFill>
                <a:latin typeface="+mn-ea"/>
                <a:ea typeface="+mn-ea"/>
                <a:cs typeface="MiSans" pitchFamily="34" charset="-120"/>
              </a:rPr>
              <a:t>模态无关性</a:t>
            </a:r>
            <a:r>
              <a:rPr lang="en-US" sz="18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。</a:t>
            </a:r>
            <a:endParaRPr lang="en-US" sz="2800" dirty="0">
              <a:latin typeface="+mn-ea"/>
              <a:ea typeface="+mn-ea"/>
            </a:endParaRPr>
          </a:p>
        </p:txBody>
      </p:sp>
      <p:sp>
        <p:nvSpPr>
          <p:cNvPr id="30" name="Shape 28"/>
          <p:cNvSpPr/>
          <p:nvPr>
            <p:custDataLst>
              <p:tags r:id="rId10"/>
            </p:custDataLst>
          </p:nvPr>
        </p:nvSpPr>
        <p:spPr>
          <a:xfrm>
            <a:off x="369916" y="5528423"/>
            <a:ext cx="11456486" cy="744893"/>
          </a:xfrm>
          <a:custGeom>
            <a:avLst/>
            <a:gdLst/>
            <a:ahLst/>
            <a:cxnLst/>
            <a:rect l="l" t="t" r="r" b="b"/>
            <a:pathLst>
              <a:path w="5569072" h="1325195">
                <a:moveTo>
                  <a:pt x="109753" y="0"/>
                </a:moveTo>
                <a:lnTo>
                  <a:pt x="5459320" y="0"/>
                </a:lnTo>
                <a:cubicBezTo>
                  <a:pt x="5519934" y="0"/>
                  <a:pt x="5569072" y="49138"/>
                  <a:pt x="5569072" y="109753"/>
                </a:cubicBezTo>
                <a:lnTo>
                  <a:pt x="5569072" y="1215443"/>
                </a:lnTo>
                <a:cubicBezTo>
                  <a:pt x="5569072" y="1276057"/>
                  <a:pt x="5519934" y="1325195"/>
                  <a:pt x="5459320" y="1325195"/>
                </a:cubicBezTo>
                <a:lnTo>
                  <a:pt x="109753" y="1325195"/>
                </a:lnTo>
                <a:cubicBezTo>
                  <a:pt x="49138" y="1325195"/>
                  <a:pt x="0" y="1276057"/>
                  <a:pt x="0" y="1215443"/>
                </a:cubicBezTo>
                <a:lnTo>
                  <a:pt x="0" y="109753"/>
                </a:lnTo>
                <a:cubicBezTo>
                  <a:pt x="0" y="49138"/>
                  <a:pt x="49138" y="0"/>
                  <a:pt x="109753" y="0"/>
                </a:cubicBezTo>
                <a:close/>
              </a:path>
            </a:pathLst>
          </a:custGeom>
          <a:gradFill flip="none" rotWithShape="1">
            <a:gsLst>
              <a:gs pos="0">
                <a:srgbClr val="3498DB">
                  <a:alpha val="10000"/>
                </a:srgbClr>
              </a:gs>
              <a:gs pos="100000">
                <a:srgbClr val="2C3E50">
                  <a:alpha val="10000"/>
                </a:srgbClr>
              </a:gs>
            </a:gsLst>
            <a:lin ang="0" scaled="1"/>
          </a:gradFill>
          <a:ln w="11289">
            <a:solidFill>
              <a:srgbClr val="3498DB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>
            <p:custDataLst>
              <p:tags r:id="rId11"/>
            </p:custDataLst>
          </p:nvPr>
        </p:nvSpPr>
        <p:spPr>
          <a:xfrm>
            <a:off x="648370" y="5770289"/>
            <a:ext cx="164633" cy="219511"/>
          </a:xfrm>
          <a:custGeom>
            <a:avLst/>
            <a:gdLst/>
            <a:ahLst/>
            <a:cxnLst/>
            <a:rect l="l" t="t" r="r" b="b"/>
            <a:pathLst>
              <a:path w="164633" h="219511">
                <a:moveTo>
                  <a:pt x="125576" y="164633"/>
                </a:moveTo>
                <a:cubicBezTo>
                  <a:pt x="128705" y="155072"/>
                  <a:pt x="134965" y="146412"/>
                  <a:pt x="142039" y="138952"/>
                </a:cubicBezTo>
                <a:cubicBezTo>
                  <a:pt x="156059" y="124204"/>
                  <a:pt x="164633" y="104268"/>
                  <a:pt x="164633" y="82317"/>
                </a:cubicBezTo>
                <a:cubicBezTo>
                  <a:pt x="164633" y="36871"/>
                  <a:pt x="127762" y="0"/>
                  <a:pt x="82317" y="0"/>
                </a:cubicBezTo>
                <a:cubicBezTo>
                  <a:pt x="36871" y="0"/>
                  <a:pt x="0" y="36871"/>
                  <a:pt x="0" y="82317"/>
                </a:cubicBezTo>
                <a:cubicBezTo>
                  <a:pt x="0" y="104268"/>
                  <a:pt x="8575" y="124204"/>
                  <a:pt x="22594" y="138952"/>
                </a:cubicBezTo>
                <a:cubicBezTo>
                  <a:pt x="29668" y="146412"/>
                  <a:pt x="35971" y="155072"/>
                  <a:pt x="39058" y="164633"/>
                </a:cubicBezTo>
                <a:lnTo>
                  <a:pt x="125533" y="164633"/>
                </a:lnTo>
                <a:close/>
                <a:moveTo>
                  <a:pt x="123475" y="185212"/>
                </a:moveTo>
                <a:lnTo>
                  <a:pt x="41158" y="185212"/>
                </a:lnTo>
                <a:lnTo>
                  <a:pt x="41158" y="192072"/>
                </a:lnTo>
                <a:cubicBezTo>
                  <a:pt x="41158" y="211022"/>
                  <a:pt x="56507" y="226371"/>
                  <a:pt x="75457" y="226371"/>
                </a:cubicBezTo>
                <a:lnTo>
                  <a:pt x="89176" y="226371"/>
                </a:lnTo>
                <a:cubicBezTo>
                  <a:pt x="108126" y="226371"/>
                  <a:pt x="123475" y="211022"/>
                  <a:pt x="123475" y="192072"/>
                </a:cubicBezTo>
                <a:lnTo>
                  <a:pt x="123475" y="185212"/>
                </a:lnTo>
                <a:close/>
                <a:moveTo>
                  <a:pt x="78887" y="48018"/>
                </a:moveTo>
                <a:cubicBezTo>
                  <a:pt x="61823" y="48018"/>
                  <a:pt x="48018" y="61823"/>
                  <a:pt x="48018" y="78887"/>
                </a:cubicBezTo>
                <a:cubicBezTo>
                  <a:pt x="48018" y="84589"/>
                  <a:pt x="43431" y="89176"/>
                  <a:pt x="37728" y="89176"/>
                </a:cubicBezTo>
                <a:cubicBezTo>
                  <a:pt x="32026" y="89176"/>
                  <a:pt x="27439" y="84589"/>
                  <a:pt x="27439" y="78887"/>
                </a:cubicBezTo>
                <a:cubicBezTo>
                  <a:pt x="27439" y="50462"/>
                  <a:pt x="50462" y="27439"/>
                  <a:pt x="78887" y="27439"/>
                </a:cubicBezTo>
                <a:cubicBezTo>
                  <a:pt x="84589" y="27439"/>
                  <a:pt x="89176" y="32026"/>
                  <a:pt x="89176" y="37728"/>
                </a:cubicBezTo>
                <a:cubicBezTo>
                  <a:pt x="89176" y="43431"/>
                  <a:pt x="84589" y="48018"/>
                  <a:pt x="78887" y="48018"/>
                </a:cubicBezTo>
                <a:close/>
              </a:path>
            </a:pathLst>
          </a:custGeom>
          <a:solidFill>
            <a:srgbClr val="3498DB"/>
          </a:solidFill>
        </p:spPr>
      </p:sp>
      <p:sp>
        <p:nvSpPr>
          <p:cNvPr id="33" name="Text 31"/>
          <p:cNvSpPr/>
          <p:nvPr>
            <p:custDataLst>
              <p:tags r:id="rId12"/>
            </p:custDataLst>
          </p:nvPr>
        </p:nvSpPr>
        <p:spPr>
          <a:xfrm>
            <a:off x="1150844" y="5661489"/>
            <a:ext cx="10368345" cy="4756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ViT的成功表明，</a:t>
            </a:r>
            <a:r>
              <a:rPr lang="en-US" sz="2000" b="1" dirty="0">
                <a:solidFill>
                  <a:srgbClr val="3498DB"/>
                </a:solidFill>
                <a:latin typeface="+mn-ea"/>
                <a:ea typeface="+mn-ea"/>
                <a:cs typeface="MiSans" pitchFamily="34" charset="-120"/>
              </a:rPr>
              <a:t>Transformer可以统一处理语言和视觉</a:t>
            </a:r>
            <a:r>
              <a:rPr lang="en-US" sz="20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，为多模态统一架构奠定了基础。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34" name="Shape 32"/>
          <p:cNvSpPr/>
          <p:nvPr>
            <p:custDataLst>
              <p:tags r:id="rId13"/>
            </p:custDataLst>
          </p:nvPr>
        </p:nvSpPr>
        <p:spPr>
          <a:xfrm>
            <a:off x="6388015" y="1097554"/>
            <a:ext cx="5456844" cy="4298694"/>
          </a:xfrm>
          <a:custGeom>
            <a:avLst/>
            <a:gdLst/>
            <a:ahLst/>
            <a:cxnLst/>
            <a:rect l="l" t="t" r="r" b="b"/>
            <a:pathLst>
              <a:path w="5588381" h="5762161">
                <a:moveTo>
                  <a:pt x="109756" y="0"/>
                </a:moveTo>
                <a:lnTo>
                  <a:pt x="5478625" y="0"/>
                </a:lnTo>
                <a:cubicBezTo>
                  <a:pt x="5539242" y="0"/>
                  <a:pt x="5588381" y="49139"/>
                  <a:pt x="5588381" y="109756"/>
                </a:cubicBezTo>
                <a:lnTo>
                  <a:pt x="5588381" y="5652405"/>
                </a:lnTo>
                <a:cubicBezTo>
                  <a:pt x="5588381" y="5713021"/>
                  <a:pt x="5539242" y="5762161"/>
                  <a:pt x="5478625" y="5762161"/>
                </a:cubicBezTo>
                <a:lnTo>
                  <a:pt x="109756" y="5762161"/>
                </a:lnTo>
                <a:cubicBezTo>
                  <a:pt x="49139" y="5762161"/>
                  <a:pt x="0" y="5713021"/>
                  <a:pt x="0" y="5652405"/>
                </a:cubicBezTo>
                <a:lnTo>
                  <a:pt x="0" y="109756"/>
                </a:lnTo>
                <a:cubicBezTo>
                  <a:pt x="0" y="49139"/>
                  <a:pt x="49139" y="0"/>
                  <a:pt x="10975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194" dist="914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Text 33"/>
          <p:cNvSpPr/>
          <p:nvPr>
            <p:custDataLst>
              <p:tags r:id="rId14"/>
            </p:custDataLst>
          </p:nvPr>
        </p:nvSpPr>
        <p:spPr>
          <a:xfrm>
            <a:off x="6411801" y="1317065"/>
            <a:ext cx="5240822" cy="256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ViT架构图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43" name="灯片编号占位符 4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16"/>
            </p:custDataLst>
          </p:nvPr>
        </p:nvPicPr>
        <p:blipFill rotWithShape="1">
          <a:blip r:embed="rId33"/>
          <a:srcRect t="-49" b="-1"/>
          <a:stretch/>
        </p:blipFill>
        <p:spPr>
          <a:xfrm>
            <a:off x="6407537" y="1740862"/>
            <a:ext cx="5563086" cy="29420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646331"/>
          </a:xfrm>
        </p:spPr>
        <p:txBody>
          <a:bodyPr/>
          <a:lstStyle/>
          <a:p>
            <a:r>
              <a:rPr lang="zh-CN" altLang="en-US"/>
              <a:t>图像切块与线性映射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C1FBA13-6898-4B1A-9619-D5F5A8FF8867}"/>
              </a:ext>
            </a:extLst>
          </p:cNvPr>
          <p:cNvGrpSpPr/>
          <p:nvPr/>
        </p:nvGrpSpPr>
        <p:grpSpPr>
          <a:xfrm>
            <a:off x="333374" y="952500"/>
            <a:ext cx="5761832" cy="5320816"/>
            <a:chOff x="333374" y="952500"/>
            <a:chExt cx="5761832" cy="4550833"/>
          </a:xfrm>
        </p:grpSpPr>
        <p:sp>
          <p:nvSpPr>
            <p:cNvPr id="7" name="Shape 4"/>
            <p:cNvSpPr/>
            <p:nvPr>
              <p:custDataLst>
                <p:tags r:id="rId30"/>
              </p:custDataLst>
            </p:nvPr>
          </p:nvSpPr>
          <p:spPr>
            <a:xfrm>
              <a:off x="333374" y="952500"/>
              <a:ext cx="5761832" cy="1350670"/>
            </a:xfrm>
            <a:custGeom>
              <a:avLst/>
              <a:gdLst/>
              <a:ahLst/>
              <a:cxnLst/>
              <a:rect l="l" t="t" r="r" b="b"/>
              <a:pathLst>
                <a:path w="5627688" h="1143000">
                  <a:moveTo>
                    <a:pt x="31750" y="0"/>
                  </a:moveTo>
                  <a:lnTo>
                    <a:pt x="5532441" y="0"/>
                  </a:lnTo>
                  <a:cubicBezTo>
                    <a:pt x="5585044" y="0"/>
                    <a:pt x="5627688" y="42643"/>
                    <a:pt x="5627688" y="95246"/>
                  </a:cubicBezTo>
                  <a:lnTo>
                    <a:pt x="5627688" y="1047754"/>
                  </a:lnTo>
                  <a:cubicBezTo>
                    <a:pt x="5627688" y="1100357"/>
                    <a:pt x="5585044" y="1143000"/>
                    <a:pt x="5532441" y="1143000"/>
                  </a:cubicBez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" name="Shape 5"/>
            <p:cNvSpPr/>
            <p:nvPr>
              <p:custDataLst>
                <p:tags r:id="rId31"/>
              </p:custDataLst>
            </p:nvPr>
          </p:nvSpPr>
          <p:spPr>
            <a:xfrm>
              <a:off x="333375" y="952500"/>
              <a:ext cx="31750" cy="1143000"/>
            </a:xfrm>
            <a:custGeom>
              <a:avLst/>
              <a:gdLst/>
              <a:ahLst/>
              <a:cxnLst/>
              <a:rect l="l" t="t" r="r" b="b"/>
              <a:pathLst>
                <a:path w="31750" h="1143000">
                  <a:moveTo>
                    <a:pt x="31750" y="0"/>
                  </a:moveTo>
                  <a:lnTo>
                    <a:pt x="31750" y="0"/>
                  </a:lnTo>
                  <a:lnTo>
                    <a:pt x="31750" y="1143000"/>
                  </a:ln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9" name="Shape 6"/>
            <p:cNvSpPr/>
            <p:nvPr>
              <p:custDataLst>
                <p:tags r:id="rId32"/>
              </p:custDataLst>
            </p:nvPr>
          </p:nvSpPr>
          <p:spPr>
            <a:xfrm>
              <a:off x="563563" y="11588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71438" y="95250"/>
                  </a:moveTo>
                  <a:lnTo>
                    <a:pt x="56741" y="109947"/>
                  </a:lnTo>
                  <a:cubicBezTo>
                    <a:pt x="52053" y="108124"/>
                    <a:pt x="46992" y="107156"/>
                    <a:pt x="41672" y="107156"/>
                  </a:cubicBezTo>
                  <a:cubicBezTo>
                    <a:pt x="18641" y="107156"/>
                    <a:pt x="0" y="125797"/>
                    <a:pt x="0" y="148828"/>
                  </a:cubicBezTo>
                  <a:cubicBezTo>
                    <a:pt x="0" y="171859"/>
                    <a:pt x="18641" y="190500"/>
                    <a:pt x="41672" y="190500"/>
                  </a:cubicBezTo>
                  <a:cubicBezTo>
                    <a:pt x="64703" y="190500"/>
                    <a:pt x="83344" y="171859"/>
                    <a:pt x="83344" y="148828"/>
                  </a:cubicBezTo>
                  <a:cubicBezTo>
                    <a:pt x="83344" y="143508"/>
                    <a:pt x="82339" y="138447"/>
                    <a:pt x="80553" y="133759"/>
                  </a:cubicBezTo>
                  <a:lnTo>
                    <a:pt x="185738" y="28575"/>
                  </a:lnTo>
                  <a:cubicBezTo>
                    <a:pt x="188379" y="25933"/>
                    <a:pt x="188379" y="21692"/>
                    <a:pt x="185738" y="19050"/>
                  </a:cubicBezTo>
                  <a:cubicBezTo>
                    <a:pt x="175208" y="8520"/>
                    <a:pt x="158167" y="8520"/>
                    <a:pt x="147637" y="19050"/>
                  </a:cubicBezTo>
                  <a:lnTo>
                    <a:pt x="95250" y="71438"/>
                  </a:lnTo>
                  <a:lnTo>
                    <a:pt x="80553" y="56741"/>
                  </a:lnTo>
                  <a:cubicBezTo>
                    <a:pt x="82376" y="52053"/>
                    <a:pt x="83344" y="46992"/>
                    <a:pt x="83344" y="41672"/>
                  </a:cubicBezTo>
                  <a:cubicBezTo>
                    <a:pt x="83344" y="18641"/>
                    <a:pt x="64703" y="0"/>
                    <a:pt x="41672" y="0"/>
                  </a:cubicBezTo>
                  <a:cubicBezTo>
                    <a:pt x="18641" y="0"/>
                    <a:pt x="0" y="18641"/>
                    <a:pt x="0" y="41672"/>
                  </a:cubicBezTo>
                  <a:cubicBezTo>
                    <a:pt x="0" y="64703"/>
                    <a:pt x="18641" y="83344"/>
                    <a:pt x="41672" y="83344"/>
                  </a:cubicBezTo>
                  <a:cubicBezTo>
                    <a:pt x="46992" y="83344"/>
                    <a:pt x="52053" y="82339"/>
                    <a:pt x="56741" y="80553"/>
                  </a:cubicBezTo>
                  <a:lnTo>
                    <a:pt x="71438" y="95250"/>
                  </a:lnTo>
                  <a:close/>
                  <a:moveTo>
                    <a:pt x="107863" y="131676"/>
                  </a:moveTo>
                  <a:lnTo>
                    <a:pt x="147638" y="171450"/>
                  </a:lnTo>
                  <a:cubicBezTo>
                    <a:pt x="158167" y="181980"/>
                    <a:pt x="175208" y="181980"/>
                    <a:pt x="185738" y="171450"/>
                  </a:cubicBezTo>
                  <a:cubicBezTo>
                    <a:pt x="188379" y="168808"/>
                    <a:pt x="188379" y="164567"/>
                    <a:pt x="185738" y="161925"/>
                  </a:cubicBezTo>
                  <a:lnTo>
                    <a:pt x="131676" y="107863"/>
                  </a:lnTo>
                  <a:lnTo>
                    <a:pt x="107863" y="131676"/>
                  </a:lnTo>
                  <a:close/>
                  <a:moveTo>
                    <a:pt x="23812" y="41672"/>
                  </a:moveTo>
                  <a:cubicBezTo>
                    <a:pt x="23812" y="31815"/>
                    <a:pt x="31815" y="23812"/>
                    <a:pt x="41672" y="23812"/>
                  </a:cubicBezTo>
                  <a:cubicBezTo>
                    <a:pt x="51529" y="23812"/>
                    <a:pt x="59531" y="31815"/>
                    <a:pt x="59531" y="41672"/>
                  </a:cubicBezTo>
                  <a:cubicBezTo>
                    <a:pt x="59531" y="51529"/>
                    <a:pt x="51529" y="59531"/>
                    <a:pt x="41672" y="59531"/>
                  </a:cubicBezTo>
                  <a:cubicBezTo>
                    <a:pt x="31815" y="59531"/>
                    <a:pt x="23812" y="51529"/>
                    <a:pt x="23812" y="41672"/>
                  </a:cubicBezTo>
                  <a:close/>
                  <a:moveTo>
                    <a:pt x="41672" y="130969"/>
                  </a:moveTo>
                  <a:cubicBezTo>
                    <a:pt x="51529" y="130969"/>
                    <a:pt x="59531" y="138971"/>
                    <a:pt x="59531" y="148828"/>
                  </a:cubicBezTo>
                  <a:cubicBezTo>
                    <a:pt x="59531" y="158685"/>
                    <a:pt x="51529" y="166688"/>
                    <a:pt x="41672" y="166688"/>
                  </a:cubicBezTo>
                  <a:cubicBezTo>
                    <a:pt x="31815" y="166688"/>
                    <a:pt x="23812" y="158685"/>
                    <a:pt x="23812" y="148828"/>
                  </a:cubicBezTo>
                  <a:cubicBezTo>
                    <a:pt x="23812" y="138971"/>
                    <a:pt x="31815" y="130969"/>
                    <a:pt x="41672" y="130969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0" name="Text 7"/>
            <p:cNvSpPr/>
            <p:nvPr>
              <p:custDataLst>
                <p:tags r:id="rId33"/>
              </p:custDataLst>
            </p:nvPr>
          </p:nvSpPr>
          <p:spPr>
            <a:xfrm>
              <a:off x="873125" y="1120198"/>
              <a:ext cx="1045986" cy="2063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图像切块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1" name="Text 8"/>
            <p:cNvSpPr/>
            <p:nvPr>
              <p:custDataLst>
                <p:tags r:id="rId34"/>
              </p:custDataLst>
            </p:nvPr>
          </p:nvSpPr>
          <p:spPr>
            <a:xfrm>
              <a:off x="487593" y="1536565"/>
              <a:ext cx="5589126" cy="412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将图像均匀分割为</a:t>
              </a: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不重叠的Patch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。例如224×224图像使用16×16 Patch，会得到14×14 = 196个Patch。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2" name="Shape 9"/>
            <p:cNvSpPr/>
            <p:nvPr>
              <p:custDataLst>
                <p:tags r:id="rId35"/>
              </p:custDataLst>
            </p:nvPr>
          </p:nvSpPr>
          <p:spPr>
            <a:xfrm>
              <a:off x="333375" y="2492735"/>
              <a:ext cx="5627688" cy="1365143"/>
            </a:xfrm>
            <a:custGeom>
              <a:avLst/>
              <a:gdLst/>
              <a:ahLst/>
              <a:cxnLst/>
              <a:rect l="l" t="t" r="r" b="b"/>
              <a:pathLst>
                <a:path w="5627688" h="936625">
                  <a:moveTo>
                    <a:pt x="31750" y="0"/>
                  </a:moveTo>
                  <a:lnTo>
                    <a:pt x="5532442" y="0"/>
                  </a:lnTo>
                  <a:cubicBezTo>
                    <a:pt x="5585045" y="0"/>
                    <a:pt x="5627688" y="42643"/>
                    <a:pt x="5627688" y="95245"/>
                  </a:cubicBezTo>
                  <a:lnTo>
                    <a:pt x="5627688" y="841380"/>
                  </a:lnTo>
                  <a:cubicBezTo>
                    <a:pt x="5627688" y="893982"/>
                    <a:pt x="5585045" y="936625"/>
                    <a:pt x="5532442" y="936625"/>
                  </a:cubicBezTo>
                  <a:lnTo>
                    <a:pt x="31750" y="936625"/>
                  </a:lnTo>
                  <a:cubicBezTo>
                    <a:pt x="14227" y="936625"/>
                    <a:pt x="0" y="922398"/>
                    <a:pt x="0" y="9048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" name="Shape 10"/>
            <p:cNvSpPr/>
            <p:nvPr>
              <p:custDataLst>
                <p:tags r:id="rId36"/>
              </p:custDataLst>
            </p:nvPr>
          </p:nvSpPr>
          <p:spPr>
            <a:xfrm>
              <a:off x="333375" y="2492735"/>
              <a:ext cx="31750" cy="936625"/>
            </a:xfrm>
            <a:custGeom>
              <a:avLst/>
              <a:gdLst/>
              <a:ahLst/>
              <a:cxnLst/>
              <a:rect l="l" t="t" r="r" b="b"/>
              <a:pathLst>
                <a:path w="31750" h="936625">
                  <a:moveTo>
                    <a:pt x="31750" y="0"/>
                  </a:moveTo>
                  <a:lnTo>
                    <a:pt x="31750" y="0"/>
                  </a:lnTo>
                  <a:lnTo>
                    <a:pt x="31750" y="936625"/>
                  </a:lnTo>
                  <a:lnTo>
                    <a:pt x="31750" y="936625"/>
                  </a:lnTo>
                  <a:cubicBezTo>
                    <a:pt x="14227" y="936625"/>
                    <a:pt x="0" y="922398"/>
                    <a:pt x="0" y="9048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4" name="Shape 11"/>
            <p:cNvSpPr/>
            <p:nvPr>
              <p:custDataLst>
                <p:tags r:id="rId37"/>
              </p:custDataLst>
            </p:nvPr>
          </p:nvSpPr>
          <p:spPr>
            <a:xfrm>
              <a:off x="563563" y="269911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69664" y="83344"/>
                  </a:moveTo>
                  <a:lnTo>
                    <a:pt x="116086" y="83344"/>
                  </a:lnTo>
                  <a:cubicBezTo>
                    <a:pt x="111137" y="83344"/>
                    <a:pt x="107156" y="79363"/>
                    <a:pt x="107156" y="74414"/>
                  </a:cubicBezTo>
                  <a:lnTo>
                    <a:pt x="107156" y="20836"/>
                  </a:lnTo>
                  <a:cubicBezTo>
                    <a:pt x="107156" y="17227"/>
                    <a:pt x="109314" y="13953"/>
                    <a:pt x="112663" y="12576"/>
                  </a:cubicBezTo>
                  <a:cubicBezTo>
                    <a:pt x="116012" y="11199"/>
                    <a:pt x="119844" y="11981"/>
                    <a:pt x="122411" y="14511"/>
                  </a:cubicBezTo>
                  <a:lnTo>
                    <a:pt x="137294" y="29394"/>
                  </a:lnTo>
                  <a:lnTo>
                    <a:pt x="164604" y="2084"/>
                  </a:lnTo>
                  <a:cubicBezTo>
                    <a:pt x="165943" y="744"/>
                    <a:pt x="167767" y="0"/>
                    <a:pt x="169664" y="0"/>
                  </a:cubicBezTo>
                  <a:cubicBezTo>
                    <a:pt x="171562" y="0"/>
                    <a:pt x="173385" y="744"/>
                    <a:pt x="174761" y="2121"/>
                  </a:cubicBezTo>
                  <a:lnTo>
                    <a:pt x="188416" y="15776"/>
                  </a:lnTo>
                  <a:cubicBezTo>
                    <a:pt x="189756" y="17115"/>
                    <a:pt x="190500" y="18938"/>
                    <a:pt x="190500" y="20836"/>
                  </a:cubicBezTo>
                  <a:cubicBezTo>
                    <a:pt x="190500" y="22733"/>
                    <a:pt x="189756" y="24557"/>
                    <a:pt x="188379" y="25933"/>
                  </a:cubicBezTo>
                  <a:lnTo>
                    <a:pt x="161106" y="53206"/>
                  </a:lnTo>
                  <a:lnTo>
                    <a:pt x="175989" y="68089"/>
                  </a:lnTo>
                  <a:cubicBezTo>
                    <a:pt x="178557" y="70656"/>
                    <a:pt x="179301" y="74488"/>
                    <a:pt x="177924" y="77837"/>
                  </a:cubicBezTo>
                  <a:cubicBezTo>
                    <a:pt x="176547" y="81186"/>
                    <a:pt x="173273" y="83344"/>
                    <a:pt x="169664" y="83344"/>
                  </a:cubicBezTo>
                  <a:close/>
                  <a:moveTo>
                    <a:pt x="169664" y="107156"/>
                  </a:moveTo>
                  <a:cubicBezTo>
                    <a:pt x="173273" y="107156"/>
                    <a:pt x="176547" y="109314"/>
                    <a:pt x="177924" y="112663"/>
                  </a:cubicBezTo>
                  <a:cubicBezTo>
                    <a:pt x="179301" y="116012"/>
                    <a:pt x="178557" y="119844"/>
                    <a:pt x="175989" y="122411"/>
                  </a:cubicBezTo>
                  <a:lnTo>
                    <a:pt x="161106" y="137294"/>
                  </a:lnTo>
                  <a:lnTo>
                    <a:pt x="188416" y="164604"/>
                  </a:lnTo>
                  <a:cubicBezTo>
                    <a:pt x="189756" y="165943"/>
                    <a:pt x="190537" y="167767"/>
                    <a:pt x="190537" y="169701"/>
                  </a:cubicBezTo>
                  <a:cubicBezTo>
                    <a:pt x="190537" y="171636"/>
                    <a:pt x="189793" y="173422"/>
                    <a:pt x="188416" y="174799"/>
                  </a:cubicBezTo>
                  <a:lnTo>
                    <a:pt x="174761" y="188454"/>
                  </a:lnTo>
                  <a:cubicBezTo>
                    <a:pt x="173385" y="189756"/>
                    <a:pt x="171562" y="190500"/>
                    <a:pt x="169664" y="190500"/>
                  </a:cubicBezTo>
                  <a:cubicBezTo>
                    <a:pt x="167767" y="190500"/>
                    <a:pt x="165943" y="189756"/>
                    <a:pt x="164567" y="188379"/>
                  </a:cubicBezTo>
                  <a:lnTo>
                    <a:pt x="137294" y="161106"/>
                  </a:lnTo>
                  <a:lnTo>
                    <a:pt x="122411" y="175989"/>
                  </a:lnTo>
                  <a:cubicBezTo>
                    <a:pt x="119844" y="178557"/>
                    <a:pt x="116012" y="179301"/>
                    <a:pt x="112663" y="177924"/>
                  </a:cubicBezTo>
                  <a:cubicBezTo>
                    <a:pt x="109314" y="176547"/>
                    <a:pt x="107156" y="173273"/>
                    <a:pt x="107156" y="169664"/>
                  </a:cubicBezTo>
                  <a:lnTo>
                    <a:pt x="107156" y="116086"/>
                  </a:lnTo>
                  <a:cubicBezTo>
                    <a:pt x="107156" y="111137"/>
                    <a:pt x="111137" y="107156"/>
                    <a:pt x="116086" y="107156"/>
                  </a:cubicBezTo>
                  <a:lnTo>
                    <a:pt x="169664" y="107156"/>
                  </a:lnTo>
                  <a:close/>
                  <a:moveTo>
                    <a:pt x="74414" y="107156"/>
                  </a:moveTo>
                  <a:cubicBezTo>
                    <a:pt x="79363" y="107156"/>
                    <a:pt x="83344" y="111137"/>
                    <a:pt x="83344" y="116086"/>
                  </a:cubicBezTo>
                  <a:lnTo>
                    <a:pt x="83344" y="169664"/>
                  </a:lnTo>
                  <a:cubicBezTo>
                    <a:pt x="83344" y="173273"/>
                    <a:pt x="81186" y="176547"/>
                    <a:pt x="77837" y="177924"/>
                  </a:cubicBezTo>
                  <a:cubicBezTo>
                    <a:pt x="74488" y="179301"/>
                    <a:pt x="70656" y="178557"/>
                    <a:pt x="68089" y="175989"/>
                  </a:cubicBezTo>
                  <a:lnTo>
                    <a:pt x="53206" y="161106"/>
                  </a:lnTo>
                  <a:lnTo>
                    <a:pt x="25896" y="188416"/>
                  </a:lnTo>
                  <a:cubicBezTo>
                    <a:pt x="24557" y="189756"/>
                    <a:pt x="22733" y="190500"/>
                    <a:pt x="20836" y="190500"/>
                  </a:cubicBezTo>
                  <a:cubicBezTo>
                    <a:pt x="18938" y="190500"/>
                    <a:pt x="17115" y="189756"/>
                    <a:pt x="15739" y="188379"/>
                  </a:cubicBezTo>
                  <a:lnTo>
                    <a:pt x="2121" y="174761"/>
                  </a:lnTo>
                  <a:cubicBezTo>
                    <a:pt x="744" y="173385"/>
                    <a:pt x="0" y="171562"/>
                    <a:pt x="0" y="169664"/>
                  </a:cubicBezTo>
                  <a:cubicBezTo>
                    <a:pt x="0" y="167767"/>
                    <a:pt x="744" y="165943"/>
                    <a:pt x="2121" y="164567"/>
                  </a:cubicBezTo>
                  <a:lnTo>
                    <a:pt x="29394" y="137294"/>
                  </a:lnTo>
                  <a:lnTo>
                    <a:pt x="14511" y="122411"/>
                  </a:lnTo>
                  <a:cubicBezTo>
                    <a:pt x="11943" y="119844"/>
                    <a:pt x="11199" y="116012"/>
                    <a:pt x="12576" y="112663"/>
                  </a:cubicBezTo>
                  <a:cubicBezTo>
                    <a:pt x="13953" y="109314"/>
                    <a:pt x="17227" y="107156"/>
                    <a:pt x="20836" y="107156"/>
                  </a:cubicBezTo>
                  <a:lnTo>
                    <a:pt x="74414" y="107156"/>
                  </a:lnTo>
                  <a:close/>
                  <a:moveTo>
                    <a:pt x="20836" y="83344"/>
                  </a:moveTo>
                  <a:cubicBezTo>
                    <a:pt x="17227" y="83344"/>
                    <a:pt x="13953" y="81186"/>
                    <a:pt x="12576" y="77837"/>
                  </a:cubicBezTo>
                  <a:cubicBezTo>
                    <a:pt x="11199" y="74488"/>
                    <a:pt x="11981" y="70656"/>
                    <a:pt x="14511" y="68089"/>
                  </a:cubicBezTo>
                  <a:lnTo>
                    <a:pt x="29394" y="53206"/>
                  </a:lnTo>
                  <a:lnTo>
                    <a:pt x="2121" y="25933"/>
                  </a:lnTo>
                  <a:cubicBezTo>
                    <a:pt x="744" y="24557"/>
                    <a:pt x="0" y="22733"/>
                    <a:pt x="0" y="20836"/>
                  </a:cubicBezTo>
                  <a:cubicBezTo>
                    <a:pt x="0" y="18938"/>
                    <a:pt x="744" y="17115"/>
                    <a:pt x="2121" y="15739"/>
                  </a:cubicBezTo>
                  <a:lnTo>
                    <a:pt x="15739" y="2121"/>
                  </a:lnTo>
                  <a:cubicBezTo>
                    <a:pt x="17115" y="744"/>
                    <a:pt x="18938" y="0"/>
                    <a:pt x="20836" y="0"/>
                  </a:cubicBezTo>
                  <a:cubicBezTo>
                    <a:pt x="22733" y="0"/>
                    <a:pt x="24557" y="744"/>
                    <a:pt x="25933" y="2121"/>
                  </a:cubicBezTo>
                  <a:lnTo>
                    <a:pt x="53206" y="29394"/>
                  </a:lnTo>
                  <a:lnTo>
                    <a:pt x="68089" y="14511"/>
                  </a:lnTo>
                  <a:cubicBezTo>
                    <a:pt x="70656" y="11943"/>
                    <a:pt x="74488" y="11199"/>
                    <a:pt x="77837" y="12576"/>
                  </a:cubicBezTo>
                  <a:cubicBezTo>
                    <a:pt x="81186" y="13953"/>
                    <a:pt x="83344" y="17227"/>
                    <a:pt x="83344" y="20836"/>
                  </a:cubicBezTo>
                  <a:lnTo>
                    <a:pt x="83344" y="74414"/>
                  </a:lnTo>
                  <a:cubicBezTo>
                    <a:pt x="83344" y="79363"/>
                    <a:pt x="79363" y="83344"/>
                    <a:pt x="74414" y="83344"/>
                  </a:cubicBezTo>
                  <a:lnTo>
                    <a:pt x="20836" y="83344"/>
                  </a:ln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5" name="Text 12"/>
            <p:cNvSpPr/>
            <p:nvPr>
              <p:custDataLst>
                <p:tags r:id="rId38"/>
              </p:custDataLst>
            </p:nvPr>
          </p:nvSpPr>
          <p:spPr>
            <a:xfrm>
              <a:off x="873125" y="2651485"/>
              <a:ext cx="1108075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展平操作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6" name="Text 13"/>
            <p:cNvSpPr/>
            <p:nvPr>
              <p:custDataLst>
                <p:tags r:id="rId39"/>
              </p:custDataLst>
            </p:nvPr>
          </p:nvSpPr>
          <p:spPr>
            <a:xfrm>
              <a:off x="539750" y="3247696"/>
              <a:ext cx="5294313" cy="2063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每个Patch是</a:t>
              </a:r>
              <a:r>
                <a:rPr lang="en-US" sz="18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3D张量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（H×W×C），将其展平为1D向量。例如16×16×3 = 768维向量。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7" name="Shape 14"/>
            <p:cNvSpPr/>
            <p:nvPr>
              <p:custDataLst>
                <p:tags r:id="rId40"/>
              </p:custDataLst>
            </p:nvPr>
          </p:nvSpPr>
          <p:spPr>
            <a:xfrm>
              <a:off x="333375" y="4181191"/>
              <a:ext cx="5627688" cy="1322142"/>
            </a:xfrm>
            <a:custGeom>
              <a:avLst/>
              <a:gdLst/>
              <a:ahLst/>
              <a:cxnLst/>
              <a:rect l="l" t="t" r="r" b="b"/>
              <a:pathLst>
                <a:path w="5627688" h="936625">
                  <a:moveTo>
                    <a:pt x="31750" y="0"/>
                  </a:moveTo>
                  <a:lnTo>
                    <a:pt x="5532442" y="0"/>
                  </a:lnTo>
                  <a:cubicBezTo>
                    <a:pt x="5585045" y="0"/>
                    <a:pt x="5627688" y="42643"/>
                    <a:pt x="5627688" y="95245"/>
                  </a:cubicBezTo>
                  <a:lnTo>
                    <a:pt x="5627688" y="841380"/>
                  </a:lnTo>
                  <a:cubicBezTo>
                    <a:pt x="5627688" y="893982"/>
                    <a:pt x="5585045" y="936625"/>
                    <a:pt x="5532442" y="936625"/>
                  </a:cubicBezTo>
                  <a:lnTo>
                    <a:pt x="31750" y="936625"/>
                  </a:lnTo>
                  <a:cubicBezTo>
                    <a:pt x="14227" y="936625"/>
                    <a:pt x="0" y="922398"/>
                    <a:pt x="0" y="9048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8" name="Shape 15"/>
            <p:cNvSpPr/>
            <p:nvPr>
              <p:custDataLst>
                <p:tags r:id="rId41"/>
              </p:custDataLst>
            </p:nvPr>
          </p:nvSpPr>
          <p:spPr>
            <a:xfrm>
              <a:off x="333375" y="4181191"/>
              <a:ext cx="31750" cy="936625"/>
            </a:xfrm>
            <a:custGeom>
              <a:avLst/>
              <a:gdLst/>
              <a:ahLst/>
              <a:cxnLst/>
              <a:rect l="l" t="t" r="r" b="b"/>
              <a:pathLst>
                <a:path w="31750" h="936625">
                  <a:moveTo>
                    <a:pt x="31750" y="0"/>
                  </a:moveTo>
                  <a:lnTo>
                    <a:pt x="31750" y="0"/>
                  </a:lnTo>
                  <a:lnTo>
                    <a:pt x="31750" y="936625"/>
                  </a:lnTo>
                  <a:lnTo>
                    <a:pt x="31750" y="936625"/>
                  </a:lnTo>
                  <a:cubicBezTo>
                    <a:pt x="14227" y="936625"/>
                    <a:pt x="0" y="922398"/>
                    <a:pt x="0" y="9048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7F8C8D"/>
            </a:solidFill>
          </p:spPr>
        </p:sp>
        <p:sp>
          <p:nvSpPr>
            <p:cNvPr id="19" name="Shape 16"/>
            <p:cNvSpPr/>
            <p:nvPr>
              <p:custDataLst>
                <p:tags r:id="rId42"/>
              </p:custDataLst>
            </p:nvPr>
          </p:nvSpPr>
          <p:spPr>
            <a:xfrm>
              <a:off x="563563" y="4387566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29766"/>
                  </a:moveTo>
                  <a:cubicBezTo>
                    <a:pt x="0" y="19906"/>
                    <a:pt x="8000" y="11906"/>
                    <a:pt x="17859" y="11906"/>
                  </a:cubicBezTo>
                  <a:lnTo>
                    <a:pt x="53578" y="11906"/>
                  </a:lnTo>
                  <a:cubicBezTo>
                    <a:pt x="63438" y="11906"/>
                    <a:pt x="71438" y="19906"/>
                    <a:pt x="71438" y="29766"/>
                  </a:cubicBezTo>
                  <a:lnTo>
                    <a:pt x="71438" y="35719"/>
                  </a:lnTo>
                  <a:lnTo>
                    <a:pt x="119063" y="35719"/>
                  </a:lnTo>
                  <a:lnTo>
                    <a:pt x="119063" y="29766"/>
                  </a:lnTo>
                  <a:cubicBezTo>
                    <a:pt x="119063" y="19906"/>
                    <a:pt x="127062" y="11906"/>
                    <a:pt x="136922" y="11906"/>
                  </a:cubicBezTo>
                  <a:lnTo>
                    <a:pt x="172641" y="11906"/>
                  </a:lnTo>
                  <a:cubicBezTo>
                    <a:pt x="182500" y="11906"/>
                    <a:pt x="190500" y="19906"/>
                    <a:pt x="190500" y="29766"/>
                  </a:cubicBezTo>
                  <a:lnTo>
                    <a:pt x="190500" y="65484"/>
                  </a:lnTo>
                  <a:cubicBezTo>
                    <a:pt x="190500" y="75344"/>
                    <a:pt x="182500" y="83344"/>
                    <a:pt x="172641" y="83344"/>
                  </a:cubicBezTo>
                  <a:lnTo>
                    <a:pt x="136922" y="83344"/>
                  </a:lnTo>
                  <a:cubicBezTo>
                    <a:pt x="127062" y="83344"/>
                    <a:pt x="119063" y="75344"/>
                    <a:pt x="119063" y="65484"/>
                  </a:cubicBezTo>
                  <a:lnTo>
                    <a:pt x="119063" y="59531"/>
                  </a:lnTo>
                  <a:lnTo>
                    <a:pt x="71438" y="59531"/>
                  </a:lnTo>
                  <a:lnTo>
                    <a:pt x="71438" y="65484"/>
                  </a:lnTo>
                  <a:cubicBezTo>
                    <a:pt x="71438" y="68200"/>
                    <a:pt x="70805" y="70805"/>
                    <a:pt x="69726" y="73112"/>
                  </a:cubicBezTo>
                  <a:lnTo>
                    <a:pt x="95250" y="107156"/>
                  </a:lnTo>
                  <a:lnTo>
                    <a:pt x="125016" y="107156"/>
                  </a:lnTo>
                  <a:cubicBezTo>
                    <a:pt x="134875" y="107156"/>
                    <a:pt x="142875" y="115156"/>
                    <a:pt x="142875" y="125016"/>
                  </a:cubicBezTo>
                  <a:lnTo>
                    <a:pt x="142875" y="160734"/>
                  </a:lnTo>
                  <a:cubicBezTo>
                    <a:pt x="142875" y="170594"/>
                    <a:pt x="134875" y="178594"/>
                    <a:pt x="125016" y="178594"/>
                  </a:cubicBezTo>
                  <a:lnTo>
                    <a:pt x="89297" y="178594"/>
                  </a:lnTo>
                  <a:cubicBezTo>
                    <a:pt x="79437" y="178594"/>
                    <a:pt x="71438" y="170594"/>
                    <a:pt x="71438" y="160734"/>
                  </a:cubicBezTo>
                  <a:lnTo>
                    <a:pt x="71438" y="125016"/>
                  </a:lnTo>
                  <a:cubicBezTo>
                    <a:pt x="71438" y="122300"/>
                    <a:pt x="72070" y="119695"/>
                    <a:pt x="73149" y="117388"/>
                  </a:cubicBezTo>
                  <a:lnTo>
                    <a:pt x="47625" y="83344"/>
                  </a:lnTo>
                  <a:lnTo>
                    <a:pt x="17859" y="83344"/>
                  </a:lnTo>
                  <a:cubicBezTo>
                    <a:pt x="8000" y="83344"/>
                    <a:pt x="0" y="75344"/>
                    <a:pt x="0" y="65484"/>
                  </a:cubicBezTo>
                  <a:lnTo>
                    <a:pt x="0" y="29766"/>
                  </a:lnTo>
                  <a:close/>
                </a:path>
              </a:pathLst>
            </a:custGeom>
            <a:solidFill>
              <a:srgbClr val="7F8C8D"/>
            </a:solidFill>
          </p:spPr>
        </p:sp>
        <p:sp>
          <p:nvSpPr>
            <p:cNvPr id="20" name="Text 17"/>
            <p:cNvSpPr/>
            <p:nvPr>
              <p:custDataLst>
                <p:tags r:id="rId43"/>
              </p:custDataLst>
            </p:nvPr>
          </p:nvSpPr>
          <p:spPr>
            <a:xfrm>
              <a:off x="873125" y="4316904"/>
              <a:ext cx="1045986" cy="27703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线性投影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1" name="Text 18"/>
            <p:cNvSpPr/>
            <p:nvPr>
              <p:custDataLst>
                <p:tags r:id="rId44"/>
              </p:custDataLst>
            </p:nvPr>
          </p:nvSpPr>
          <p:spPr>
            <a:xfrm>
              <a:off x="539749" y="4942256"/>
              <a:ext cx="5294313" cy="2063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通过</a:t>
              </a:r>
              <a:r>
                <a:rPr lang="en-US" sz="1800" b="1" dirty="0">
                  <a:solidFill>
                    <a:srgbClr val="7F8C8D"/>
                  </a:solidFill>
                  <a:latin typeface="+mn-ea"/>
                  <a:ea typeface="+mn-ea"/>
                  <a:cs typeface="MiSans" pitchFamily="34" charset="-120"/>
                </a:rPr>
                <a:t>可学习的线性层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将展平后的向量映射到指定维度（如768维），得到Patch Embedding。</a:t>
              </a:r>
              <a:endParaRPr lang="en-US" sz="1800" dirty="0">
                <a:latin typeface="+mn-ea"/>
                <a:ea typeface="+mn-ea"/>
              </a:endParaRPr>
            </a:p>
          </p:txBody>
        </p:sp>
      </p:grpSp>
      <p:sp>
        <p:nvSpPr>
          <p:cNvPr id="22" name="Shape 19"/>
          <p:cNvSpPr/>
          <p:nvPr>
            <p:custDataLst>
              <p:tags r:id="rId1"/>
            </p:custDataLst>
          </p:nvPr>
        </p:nvSpPr>
        <p:spPr>
          <a:xfrm>
            <a:off x="6199187" y="772744"/>
            <a:ext cx="5659438" cy="5990006"/>
          </a:xfrm>
          <a:custGeom>
            <a:avLst/>
            <a:gdLst/>
            <a:ahLst/>
            <a:cxnLst/>
            <a:rect l="l" t="t" r="r" b="b"/>
            <a:pathLst>
              <a:path w="5659438" h="6667500">
                <a:moveTo>
                  <a:pt x="95248" y="0"/>
                </a:moveTo>
                <a:lnTo>
                  <a:pt x="5564189" y="0"/>
                </a:lnTo>
                <a:cubicBezTo>
                  <a:pt x="5616793" y="0"/>
                  <a:pt x="5659438" y="42644"/>
                  <a:pt x="5659438" y="95248"/>
                </a:cubicBezTo>
                <a:lnTo>
                  <a:pt x="5659438" y="6572252"/>
                </a:lnTo>
                <a:cubicBezTo>
                  <a:pt x="5659438" y="6624856"/>
                  <a:pt x="5616793" y="6667500"/>
                  <a:pt x="5564189" y="6667500"/>
                </a:cubicBezTo>
                <a:lnTo>
                  <a:pt x="95248" y="6667500"/>
                </a:lnTo>
                <a:cubicBezTo>
                  <a:pt x="42644" y="6667500"/>
                  <a:pt x="0" y="6624856"/>
                  <a:pt x="0" y="65722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0"/>
          <p:cNvSpPr/>
          <p:nvPr>
            <p:custDataLst>
              <p:tags r:id="rId2"/>
            </p:custDataLst>
          </p:nvPr>
        </p:nvSpPr>
        <p:spPr>
          <a:xfrm>
            <a:off x="6349999" y="872716"/>
            <a:ext cx="5357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维度变化过程</a:t>
            </a:r>
            <a:endParaRPr lang="en-US" sz="3600" dirty="0">
              <a:latin typeface="+mn-ea"/>
              <a:ea typeface="+mn-ea"/>
            </a:endParaRPr>
          </a:p>
        </p:txBody>
      </p:sp>
      <p:sp>
        <p:nvSpPr>
          <p:cNvPr id="24" name="Shape 21"/>
          <p:cNvSpPr/>
          <p:nvPr>
            <p:custDataLst>
              <p:tags r:id="rId3"/>
            </p:custDataLst>
          </p:nvPr>
        </p:nvSpPr>
        <p:spPr>
          <a:xfrm>
            <a:off x="6396742" y="1268760"/>
            <a:ext cx="5260799" cy="1030111"/>
          </a:xfrm>
          <a:custGeom>
            <a:avLst/>
            <a:gdLst/>
            <a:ahLst/>
            <a:cxnLst/>
            <a:rect l="l" t="t" r="r" b="b"/>
            <a:pathLst>
              <a:path w="5260799" h="1030111">
                <a:moveTo>
                  <a:pt x="63496" y="0"/>
                </a:moveTo>
                <a:lnTo>
                  <a:pt x="5197303" y="0"/>
                </a:lnTo>
                <a:cubicBezTo>
                  <a:pt x="5232370" y="0"/>
                  <a:pt x="5260799" y="28428"/>
                  <a:pt x="5260799" y="63496"/>
                </a:cubicBezTo>
                <a:lnTo>
                  <a:pt x="5260799" y="966615"/>
                </a:lnTo>
                <a:cubicBezTo>
                  <a:pt x="5260799" y="1001683"/>
                  <a:pt x="5232370" y="1030111"/>
                  <a:pt x="5197303" y="1030111"/>
                </a:cubicBezTo>
                <a:lnTo>
                  <a:pt x="63496" y="1030111"/>
                </a:lnTo>
                <a:cubicBezTo>
                  <a:pt x="28428" y="1030111"/>
                  <a:pt x="0" y="1001683"/>
                  <a:pt x="0" y="966615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 w="22578">
            <a:solidFill>
              <a:srgbClr val="3498DB"/>
            </a:solidFill>
            <a:prstDash val="solid"/>
          </a:ln>
        </p:spPr>
      </p:sp>
      <p:sp>
        <p:nvSpPr>
          <p:cNvPr id="25" name="Text 22"/>
          <p:cNvSpPr/>
          <p:nvPr>
            <p:custDataLst>
              <p:tags r:id="rId4"/>
            </p:custDataLst>
          </p:nvPr>
        </p:nvSpPr>
        <p:spPr>
          <a:xfrm>
            <a:off x="6505825" y="1341731"/>
            <a:ext cx="505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498DB"/>
                </a:solidFill>
                <a:latin typeface="+mn-ea"/>
                <a:ea typeface="+mn-ea"/>
                <a:cs typeface="MiSans" pitchFamily="34" charset="-120"/>
              </a:rPr>
              <a:t>输入图像</a:t>
            </a:r>
            <a:endParaRPr lang="en-US" sz="3600" dirty="0">
              <a:latin typeface="+mn-ea"/>
              <a:ea typeface="+mn-ea"/>
            </a:endParaRPr>
          </a:p>
        </p:txBody>
      </p:sp>
      <p:sp>
        <p:nvSpPr>
          <p:cNvPr id="26" name="Shape 23"/>
          <p:cNvSpPr/>
          <p:nvPr>
            <p:custDataLst>
              <p:tags r:id="rId5"/>
            </p:custDataLst>
          </p:nvPr>
        </p:nvSpPr>
        <p:spPr>
          <a:xfrm>
            <a:off x="6530798" y="1656812"/>
            <a:ext cx="4992688" cy="508000"/>
          </a:xfrm>
          <a:custGeom>
            <a:avLst/>
            <a:gdLst/>
            <a:ahLst/>
            <a:cxnLst/>
            <a:rect l="l" t="t" r="r" b="b"/>
            <a:pathLst>
              <a:path w="4992688" h="508000">
                <a:moveTo>
                  <a:pt x="31750" y="0"/>
                </a:moveTo>
                <a:lnTo>
                  <a:pt x="4960938" y="0"/>
                </a:lnTo>
                <a:cubicBezTo>
                  <a:pt x="4978461" y="0"/>
                  <a:pt x="4992688" y="14227"/>
                  <a:pt x="4992688" y="31750"/>
                </a:cubicBezTo>
                <a:lnTo>
                  <a:pt x="4992688" y="476250"/>
                </a:lnTo>
                <a:cubicBezTo>
                  <a:pt x="4992688" y="493773"/>
                  <a:pt x="4978461" y="508000"/>
                  <a:pt x="496093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4"/>
          <p:cNvSpPr/>
          <p:nvPr>
            <p:custDataLst>
              <p:tags r:id="rId6"/>
            </p:custDataLst>
          </p:nvPr>
        </p:nvSpPr>
        <p:spPr>
          <a:xfrm>
            <a:off x="6598266" y="1752062"/>
            <a:ext cx="4857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x ∈ RH×W×C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28" name="Text 25"/>
          <p:cNvSpPr/>
          <p:nvPr>
            <p:custDataLst>
              <p:tags r:id="rId7"/>
            </p:custDataLst>
          </p:nvPr>
        </p:nvSpPr>
        <p:spPr>
          <a:xfrm>
            <a:off x="6609013" y="1984097"/>
            <a:ext cx="48498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例如：224×224×3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29" name="Shape 26"/>
          <p:cNvSpPr/>
          <p:nvPr>
            <p:custDataLst>
              <p:tags r:id="rId8"/>
            </p:custDataLst>
          </p:nvPr>
        </p:nvSpPr>
        <p:spPr>
          <a:xfrm>
            <a:off x="8967555" y="233414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30" name="Shape 27"/>
          <p:cNvSpPr/>
          <p:nvPr>
            <p:custDataLst>
              <p:tags r:id="rId9"/>
            </p:custDataLst>
          </p:nvPr>
        </p:nvSpPr>
        <p:spPr>
          <a:xfrm>
            <a:off x="6396742" y="2506901"/>
            <a:ext cx="5260799" cy="1030111"/>
          </a:xfrm>
          <a:custGeom>
            <a:avLst/>
            <a:gdLst/>
            <a:ahLst/>
            <a:cxnLst/>
            <a:rect l="l" t="t" r="r" b="b"/>
            <a:pathLst>
              <a:path w="5260799" h="1030111">
                <a:moveTo>
                  <a:pt x="63496" y="0"/>
                </a:moveTo>
                <a:lnTo>
                  <a:pt x="5197303" y="0"/>
                </a:lnTo>
                <a:cubicBezTo>
                  <a:pt x="5232370" y="0"/>
                  <a:pt x="5260799" y="28428"/>
                  <a:pt x="5260799" y="63496"/>
                </a:cubicBezTo>
                <a:lnTo>
                  <a:pt x="5260799" y="966615"/>
                </a:lnTo>
                <a:cubicBezTo>
                  <a:pt x="5260799" y="1001683"/>
                  <a:pt x="5232370" y="1030111"/>
                  <a:pt x="5197303" y="1030111"/>
                </a:cubicBezTo>
                <a:lnTo>
                  <a:pt x="63496" y="1030111"/>
                </a:lnTo>
                <a:cubicBezTo>
                  <a:pt x="28428" y="1030111"/>
                  <a:pt x="0" y="1001683"/>
                  <a:pt x="0" y="966615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 w="22578">
            <a:solidFill>
              <a:srgbClr val="2C3E50"/>
            </a:solidFill>
            <a:prstDash val="solid"/>
          </a:ln>
        </p:spPr>
      </p:sp>
      <p:sp>
        <p:nvSpPr>
          <p:cNvPr id="31" name="Text 28"/>
          <p:cNvSpPr/>
          <p:nvPr>
            <p:custDataLst>
              <p:tags r:id="rId10"/>
            </p:custDataLst>
          </p:nvPr>
        </p:nvSpPr>
        <p:spPr>
          <a:xfrm>
            <a:off x="6499048" y="2557596"/>
            <a:ext cx="505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切块 + 展平</a:t>
            </a:r>
            <a:endParaRPr lang="en-US" sz="3600" dirty="0">
              <a:latin typeface="+mn-ea"/>
              <a:ea typeface="+mn-ea"/>
            </a:endParaRPr>
          </a:p>
        </p:txBody>
      </p:sp>
      <p:sp>
        <p:nvSpPr>
          <p:cNvPr id="32" name="Shape 29"/>
          <p:cNvSpPr/>
          <p:nvPr>
            <p:custDataLst>
              <p:tags r:id="rId11"/>
            </p:custDataLst>
          </p:nvPr>
        </p:nvSpPr>
        <p:spPr>
          <a:xfrm>
            <a:off x="6530798" y="2894953"/>
            <a:ext cx="4992688" cy="585340"/>
          </a:xfrm>
          <a:custGeom>
            <a:avLst/>
            <a:gdLst/>
            <a:ahLst/>
            <a:cxnLst/>
            <a:rect l="l" t="t" r="r" b="b"/>
            <a:pathLst>
              <a:path w="4992688" h="508000">
                <a:moveTo>
                  <a:pt x="31750" y="0"/>
                </a:moveTo>
                <a:lnTo>
                  <a:pt x="4960938" y="0"/>
                </a:lnTo>
                <a:cubicBezTo>
                  <a:pt x="4978461" y="0"/>
                  <a:pt x="4992688" y="14227"/>
                  <a:pt x="4992688" y="31750"/>
                </a:cubicBezTo>
                <a:lnTo>
                  <a:pt x="4992688" y="476250"/>
                </a:lnTo>
                <a:cubicBezTo>
                  <a:pt x="4992688" y="493773"/>
                  <a:pt x="4978461" y="508000"/>
                  <a:pt x="496093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0"/>
          <p:cNvSpPr/>
          <p:nvPr>
            <p:custDataLst>
              <p:tags r:id="rId12"/>
            </p:custDataLst>
          </p:nvPr>
        </p:nvSpPr>
        <p:spPr>
          <a:xfrm>
            <a:off x="6598266" y="2990203"/>
            <a:ext cx="4857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xp ∈ RN×(P²·C)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34" name="Text 31"/>
          <p:cNvSpPr/>
          <p:nvPr>
            <p:custDataLst>
              <p:tags r:id="rId13"/>
            </p:custDataLst>
          </p:nvPr>
        </p:nvSpPr>
        <p:spPr>
          <a:xfrm>
            <a:off x="6622230" y="3251123"/>
            <a:ext cx="48498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N=196, P²·C=768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35" name="Shape 32"/>
          <p:cNvSpPr/>
          <p:nvPr>
            <p:custDataLst>
              <p:tags r:id="rId14"/>
            </p:custDataLst>
          </p:nvPr>
        </p:nvSpPr>
        <p:spPr>
          <a:xfrm>
            <a:off x="8967555" y="357301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36" name="Shape 33"/>
          <p:cNvSpPr/>
          <p:nvPr>
            <p:custDataLst>
              <p:tags r:id="rId15"/>
            </p:custDataLst>
          </p:nvPr>
        </p:nvSpPr>
        <p:spPr>
          <a:xfrm>
            <a:off x="6396742" y="3771352"/>
            <a:ext cx="5260799" cy="1061804"/>
          </a:xfrm>
          <a:custGeom>
            <a:avLst/>
            <a:gdLst/>
            <a:ahLst/>
            <a:cxnLst/>
            <a:rect l="l" t="t" r="r" b="b"/>
            <a:pathLst>
              <a:path w="5260799" h="1030111">
                <a:moveTo>
                  <a:pt x="63496" y="0"/>
                </a:moveTo>
                <a:lnTo>
                  <a:pt x="5197303" y="0"/>
                </a:lnTo>
                <a:cubicBezTo>
                  <a:pt x="5232370" y="0"/>
                  <a:pt x="5260799" y="28428"/>
                  <a:pt x="5260799" y="63496"/>
                </a:cubicBezTo>
                <a:lnTo>
                  <a:pt x="5260799" y="966615"/>
                </a:lnTo>
                <a:cubicBezTo>
                  <a:pt x="5260799" y="1001683"/>
                  <a:pt x="5232370" y="1030111"/>
                  <a:pt x="5197303" y="1030111"/>
                </a:cubicBezTo>
                <a:lnTo>
                  <a:pt x="63496" y="1030111"/>
                </a:lnTo>
                <a:cubicBezTo>
                  <a:pt x="28428" y="1030111"/>
                  <a:pt x="0" y="1001683"/>
                  <a:pt x="0" y="966615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 w="22578">
            <a:solidFill>
              <a:srgbClr val="3498DB"/>
            </a:solidFill>
            <a:prstDash val="solid"/>
          </a:ln>
        </p:spPr>
      </p:sp>
      <p:sp>
        <p:nvSpPr>
          <p:cNvPr id="37" name="Text 34"/>
          <p:cNvSpPr/>
          <p:nvPr>
            <p:custDataLst>
              <p:tags r:id="rId16"/>
            </p:custDataLst>
          </p:nvPr>
        </p:nvSpPr>
        <p:spPr>
          <a:xfrm>
            <a:off x="6499048" y="3848404"/>
            <a:ext cx="505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498DB"/>
                </a:solidFill>
                <a:latin typeface="+mn-ea"/>
                <a:ea typeface="+mn-ea"/>
                <a:cs typeface="MiSans" pitchFamily="34" charset="-120"/>
              </a:rPr>
              <a:t>线性投影</a:t>
            </a:r>
            <a:endParaRPr lang="en-US" sz="3600" dirty="0">
              <a:latin typeface="+mn-ea"/>
              <a:ea typeface="+mn-ea"/>
            </a:endParaRPr>
          </a:p>
        </p:txBody>
      </p:sp>
      <p:sp>
        <p:nvSpPr>
          <p:cNvPr id="38" name="Shape 35"/>
          <p:cNvSpPr/>
          <p:nvPr>
            <p:custDataLst>
              <p:tags r:id="rId17"/>
            </p:custDataLst>
          </p:nvPr>
        </p:nvSpPr>
        <p:spPr>
          <a:xfrm>
            <a:off x="6530798" y="4222422"/>
            <a:ext cx="4992688" cy="582577"/>
          </a:xfrm>
          <a:custGeom>
            <a:avLst/>
            <a:gdLst/>
            <a:ahLst/>
            <a:cxnLst/>
            <a:rect l="l" t="t" r="r" b="b"/>
            <a:pathLst>
              <a:path w="4992688" h="508000">
                <a:moveTo>
                  <a:pt x="31750" y="0"/>
                </a:moveTo>
                <a:lnTo>
                  <a:pt x="4960938" y="0"/>
                </a:lnTo>
                <a:cubicBezTo>
                  <a:pt x="4978461" y="0"/>
                  <a:pt x="4992688" y="14227"/>
                  <a:pt x="4992688" y="31750"/>
                </a:cubicBezTo>
                <a:lnTo>
                  <a:pt x="4992688" y="476250"/>
                </a:lnTo>
                <a:cubicBezTo>
                  <a:pt x="4992688" y="493773"/>
                  <a:pt x="4978461" y="508000"/>
                  <a:pt x="496093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6"/>
          <p:cNvSpPr/>
          <p:nvPr>
            <p:custDataLst>
              <p:tags r:id="rId18"/>
            </p:custDataLst>
          </p:nvPr>
        </p:nvSpPr>
        <p:spPr>
          <a:xfrm>
            <a:off x="6598266" y="4254654"/>
            <a:ext cx="4857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z0 = xp · E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0" name="Text 37"/>
          <p:cNvSpPr/>
          <p:nvPr>
            <p:custDataLst>
              <p:tags r:id="rId19"/>
            </p:custDataLst>
          </p:nvPr>
        </p:nvSpPr>
        <p:spPr>
          <a:xfrm>
            <a:off x="6606203" y="4558222"/>
            <a:ext cx="48498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E ∈ R(P²·C)×D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1" name="Shape 38"/>
          <p:cNvSpPr/>
          <p:nvPr>
            <p:custDataLst>
              <p:tags r:id="rId20"/>
            </p:custDataLst>
          </p:nvPr>
        </p:nvSpPr>
        <p:spPr>
          <a:xfrm>
            <a:off x="8967555" y="486667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42" name="Shape 39"/>
          <p:cNvSpPr/>
          <p:nvPr>
            <p:custDataLst>
              <p:tags r:id="rId21"/>
            </p:custDataLst>
          </p:nvPr>
        </p:nvSpPr>
        <p:spPr>
          <a:xfrm>
            <a:off x="6389687" y="5069256"/>
            <a:ext cx="5278438" cy="1016000"/>
          </a:xfrm>
          <a:custGeom>
            <a:avLst/>
            <a:gdLst/>
            <a:ahLst/>
            <a:cxnLst/>
            <a:rect l="l" t="t" r="r" b="b"/>
            <a:pathLst>
              <a:path w="5278438" h="1016000">
                <a:moveTo>
                  <a:pt x="63500" y="0"/>
                </a:moveTo>
                <a:lnTo>
                  <a:pt x="5214938" y="0"/>
                </a:lnTo>
                <a:cubicBezTo>
                  <a:pt x="5249984" y="0"/>
                  <a:pt x="5278438" y="28453"/>
                  <a:pt x="5278438" y="63500"/>
                </a:cubicBezTo>
                <a:lnTo>
                  <a:pt x="5278438" y="952500"/>
                </a:lnTo>
                <a:cubicBezTo>
                  <a:pt x="5278438" y="987547"/>
                  <a:pt x="5249984" y="1016000"/>
                  <a:pt x="5214938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98DB"/>
              </a:gs>
              <a:gs pos="100000">
                <a:srgbClr val="2C3E50"/>
              </a:gs>
            </a:gsLst>
            <a:lin ang="0" scaled="1"/>
          </a:gradFill>
        </p:spPr>
      </p:sp>
      <p:sp>
        <p:nvSpPr>
          <p:cNvPr id="43" name="Text 40"/>
          <p:cNvSpPr/>
          <p:nvPr>
            <p:custDataLst>
              <p:tags r:id="rId22"/>
            </p:custDataLst>
          </p:nvPr>
        </p:nvSpPr>
        <p:spPr>
          <a:xfrm>
            <a:off x="6483117" y="5129290"/>
            <a:ext cx="508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Patch Embedding</a:t>
            </a:r>
            <a:endParaRPr lang="en-US" sz="3600" dirty="0">
              <a:latin typeface="+mn-ea"/>
              <a:ea typeface="+mn-ea"/>
            </a:endParaRPr>
          </a:p>
        </p:txBody>
      </p:sp>
      <p:sp>
        <p:nvSpPr>
          <p:cNvPr id="44" name="Shape 41"/>
          <p:cNvSpPr/>
          <p:nvPr>
            <p:custDataLst>
              <p:tags r:id="rId23"/>
            </p:custDataLst>
          </p:nvPr>
        </p:nvSpPr>
        <p:spPr>
          <a:xfrm>
            <a:off x="6516687" y="5450256"/>
            <a:ext cx="5024438" cy="508000"/>
          </a:xfrm>
          <a:custGeom>
            <a:avLst/>
            <a:gdLst/>
            <a:ahLst/>
            <a:cxnLst/>
            <a:rect l="l" t="t" r="r" b="b"/>
            <a:pathLst>
              <a:path w="5024438" h="508000">
                <a:moveTo>
                  <a:pt x="31750" y="0"/>
                </a:moveTo>
                <a:lnTo>
                  <a:pt x="4992688" y="0"/>
                </a:lnTo>
                <a:cubicBezTo>
                  <a:pt x="5010211" y="0"/>
                  <a:pt x="5024438" y="14227"/>
                  <a:pt x="5024438" y="31750"/>
                </a:cubicBezTo>
                <a:lnTo>
                  <a:pt x="5024438" y="476250"/>
                </a:lnTo>
                <a:cubicBezTo>
                  <a:pt x="5024438" y="493773"/>
                  <a:pt x="5010211" y="508000"/>
                  <a:pt x="4992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5" name="Text 42"/>
          <p:cNvSpPr/>
          <p:nvPr>
            <p:custDataLst>
              <p:tags r:id="rId24"/>
            </p:custDataLst>
          </p:nvPr>
        </p:nvSpPr>
        <p:spPr>
          <a:xfrm>
            <a:off x="6584155" y="5545506"/>
            <a:ext cx="4889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z0 ∈ RN×D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6" name="Text 43"/>
          <p:cNvSpPr/>
          <p:nvPr>
            <p:custDataLst>
              <p:tags r:id="rId25"/>
            </p:custDataLst>
          </p:nvPr>
        </p:nvSpPr>
        <p:spPr>
          <a:xfrm>
            <a:off x="6598266" y="5767275"/>
            <a:ext cx="4881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+mn-ea"/>
                <a:ea typeface="+mn-ea"/>
                <a:cs typeface="MiSans" pitchFamily="34" charset="-120"/>
              </a:rPr>
              <a:t>例如：196×768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7" name="Shape 44"/>
          <p:cNvSpPr/>
          <p:nvPr>
            <p:custDataLst>
              <p:tags r:id="rId26"/>
            </p:custDataLst>
          </p:nvPr>
        </p:nvSpPr>
        <p:spPr>
          <a:xfrm>
            <a:off x="6393214" y="6215722"/>
            <a:ext cx="5269618" cy="356306"/>
          </a:xfrm>
          <a:custGeom>
            <a:avLst/>
            <a:gdLst/>
            <a:ahLst/>
            <a:cxnLst/>
            <a:rect l="l" t="t" r="r" b="b"/>
            <a:pathLst>
              <a:path w="5269618" h="356306">
                <a:moveTo>
                  <a:pt x="63501" y="0"/>
                </a:moveTo>
                <a:lnTo>
                  <a:pt x="5206117" y="0"/>
                </a:lnTo>
                <a:cubicBezTo>
                  <a:pt x="5241188" y="0"/>
                  <a:pt x="5269618" y="28430"/>
                  <a:pt x="5269618" y="63501"/>
                </a:cubicBezTo>
                <a:lnTo>
                  <a:pt x="5269618" y="292805"/>
                </a:lnTo>
                <a:cubicBezTo>
                  <a:pt x="5269618" y="327875"/>
                  <a:pt x="5241188" y="356306"/>
                  <a:pt x="5206117" y="356306"/>
                </a:cubicBezTo>
                <a:lnTo>
                  <a:pt x="63501" y="356306"/>
                </a:lnTo>
                <a:cubicBezTo>
                  <a:pt x="28430" y="356306"/>
                  <a:pt x="0" y="327875"/>
                  <a:pt x="0" y="292805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 w="11289">
            <a:solidFill>
              <a:srgbClr val="3498DB">
                <a:alpha val="30196"/>
              </a:srgbClr>
            </a:solidFill>
            <a:prstDash val="solid"/>
          </a:ln>
        </p:spPr>
      </p:sp>
      <p:sp>
        <p:nvSpPr>
          <p:cNvPr id="48" name="Shape 45"/>
          <p:cNvSpPr/>
          <p:nvPr>
            <p:custDataLst>
              <p:tags r:id="rId27"/>
            </p:custDataLst>
          </p:nvPr>
        </p:nvSpPr>
        <p:spPr>
          <a:xfrm>
            <a:off x="6531679" y="631449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3498DB"/>
          </a:solidFill>
        </p:spPr>
      </p:sp>
      <p:sp>
        <p:nvSpPr>
          <p:cNvPr id="49" name="Text 46"/>
          <p:cNvSpPr/>
          <p:nvPr>
            <p:custDataLst>
              <p:tags r:id="rId28"/>
            </p:custDataLst>
          </p:nvPr>
        </p:nvSpPr>
        <p:spPr>
          <a:xfrm>
            <a:off x="6785679" y="6314498"/>
            <a:ext cx="4833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公式：z0 = [xclass; xp1E; ...; xpNE] + Epos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50" name="灯片编号占位符 48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646331"/>
          </a:xfrm>
        </p:spPr>
        <p:txBody>
          <a:bodyPr/>
          <a:lstStyle/>
          <a:p>
            <a:r>
              <a:rPr lang="zh-CN" altLang="en-US"/>
              <a:t>类别嵌入（Class Token）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6409200-9303-4C4E-A40F-3DF453F40D8A}"/>
              </a:ext>
            </a:extLst>
          </p:cNvPr>
          <p:cNvGrpSpPr/>
          <p:nvPr/>
        </p:nvGrpSpPr>
        <p:grpSpPr>
          <a:xfrm>
            <a:off x="321028" y="952500"/>
            <a:ext cx="5651940" cy="5641308"/>
            <a:chOff x="321028" y="952500"/>
            <a:chExt cx="5651940" cy="3757084"/>
          </a:xfrm>
        </p:grpSpPr>
        <p:sp>
          <p:nvSpPr>
            <p:cNvPr id="8" name="Shape 4"/>
            <p:cNvSpPr/>
            <p:nvPr>
              <p:custDataLst>
                <p:tags r:id="rId35"/>
              </p:custDataLst>
            </p:nvPr>
          </p:nvSpPr>
          <p:spPr>
            <a:xfrm>
              <a:off x="333375" y="952500"/>
              <a:ext cx="5627688" cy="1143000"/>
            </a:xfrm>
            <a:custGeom>
              <a:avLst/>
              <a:gdLst/>
              <a:ahLst/>
              <a:cxnLst/>
              <a:rect l="l" t="t" r="r" b="b"/>
              <a:pathLst>
                <a:path w="5627688" h="1143000">
                  <a:moveTo>
                    <a:pt x="31750" y="0"/>
                  </a:moveTo>
                  <a:lnTo>
                    <a:pt x="5532441" y="0"/>
                  </a:lnTo>
                  <a:cubicBezTo>
                    <a:pt x="5585044" y="0"/>
                    <a:pt x="5627688" y="42643"/>
                    <a:pt x="5627688" y="95246"/>
                  </a:cubicBezTo>
                  <a:lnTo>
                    <a:pt x="5627688" y="1047754"/>
                  </a:lnTo>
                  <a:cubicBezTo>
                    <a:pt x="5627688" y="1100357"/>
                    <a:pt x="5585044" y="1143000"/>
                    <a:pt x="5532441" y="1143000"/>
                  </a:cubicBez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" name="Shape 5"/>
            <p:cNvSpPr/>
            <p:nvPr>
              <p:custDataLst>
                <p:tags r:id="rId36"/>
              </p:custDataLst>
            </p:nvPr>
          </p:nvSpPr>
          <p:spPr>
            <a:xfrm>
              <a:off x="333375" y="952500"/>
              <a:ext cx="31750" cy="1143000"/>
            </a:xfrm>
            <a:custGeom>
              <a:avLst/>
              <a:gdLst/>
              <a:ahLst/>
              <a:cxnLst/>
              <a:rect l="l" t="t" r="r" b="b"/>
              <a:pathLst>
                <a:path w="31750" h="1143000">
                  <a:moveTo>
                    <a:pt x="31750" y="0"/>
                  </a:moveTo>
                  <a:lnTo>
                    <a:pt x="31750" y="0"/>
                  </a:lnTo>
                  <a:lnTo>
                    <a:pt x="31750" y="1143000"/>
                  </a:ln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0" name="Shape 6"/>
            <p:cNvSpPr/>
            <p:nvPr>
              <p:custDataLst>
                <p:tags r:id="rId37"/>
              </p:custDataLst>
            </p:nvPr>
          </p:nvSpPr>
          <p:spPr>
            <a:xfrm>
              <a:off x="575469" y="1158875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71438" y="0"/>
                  </a:moveTo>
                  <a:cubicBezTo>
                    <a:pt x="58303" y="0"/>
                    <a:pt x="47625" y="10678"/>
                    <a:pt x="47625" y="23812"/>
                  </a:cubicBezTo>
                  <a:lnTo>
                    <a:pt x="47625" y="119063"/>
                  </a:lnTo>
                  <a:cubicBezTo>
                    <a:pt x="47625" y="132197"/>
                    <a:pt x="58303" y="142875"/>
                    <a:pt x="71438" y="142875"/>
                  </a:cubicBezTo>
                  <a:lnTo>
                    <a:pt x="142875" y="142875"/>
                  </a:lnTo>
                  <a:cubicBezTo>
                    <a:pt x="156009" y="142875"/>
                    <a:pt x="166688" y="132197"/>
                    <a:pt x="166688" y="119063"/>
                  </a:cubicBezTo>
                  <a:lnTo>
                    <a:pt x="166688" y="44425"/>
                  </a:lnTo>
                  <a:cubicBezTo>
                    <a:pt x="166688" y="37951"/>
                    <a:pt x="164046" y="31738"/>
                    <a:pt x="159358" y="27236"/>
                  </a:cubicBezTo>
                  <a:lnTo>
                    <a:pt x="137889" y="6623"/>
                  </a:lnTo>
                  <a:cubicBezTo>
                    <a:pt x="133462" y="2381"/>
                    <a:pt x="127546" y="0"/>
                    <a:pt x="121407" y="0"/>
                  </a:cubicBezTo>
                  <a:lnTo>
                    <a:pt x="71438" y="0"/>
                  </a:lnTo>
                  <a:close/>
                  <a:moveTo>
                    <a:pt x="23812" y="47625"/>
                  </a:moveTo>
                  <a:cubicBezTo>
                    <a:pt x="10678" y="47625"/>
                    <a:pt x="0" y="58303"/>
                    <a:pt x="0" y="71438"/>
                  </a:cubicBezTo>
                  <a:lnTo>
                    <a:pt x="0" y="166688"/>
                  </a:lnTo>
                  <a:cubicBezTo>
                    <a:pt x="0" y="179822"/>
                    <a:pt x="10678" y="190500"/>
                    <a:pt x="23812" y="190500"/>
                  </a:cubicBezTo>
                  <a:lnTo>
                    <a:pt x="95250" y="190500"/>
                  </a:lnTo>
                  <a:cubicBezTo>
                    <a:pt x="108384" y="190500"/>
                    <a:pt x="119063" y="179822"/>
                    <a:pt x="119063" y="166688"/>
                  </a:cubicBezTo>
                  <a:lnTo>
                    <a:pt x="119063" y="160734"/>
                  </a:lnTo>
                  <a:lnTo>
                    <a:pt x="95250" y="160734"/>
                  </a:lnTo>
                  <a:lnTo>
                    <a:pt x="95250" y="166688"/>
                  </a:lnTo>
                  <a:lnTo>
                    <a:pt x="23812" y="166688"/>
                  </a:lnTo>
                  <a:lnTo>
                    <a:pt x="23812" y="71438"/>
                  </a:lnTo>
                  <a:lnTo>
                    <a:pt x="29766" y="71438"/>
                  </a:lnTo>
                  <a:lnTo>
                    <a:pt x="29766" y="47625"/>
                  </a:lnTo>
                  <a:lnTo>
                    <a:pt x="23812" y="47625"/>
                  </a:ln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1" name="Text 7"/>
            <p:cNvSpPr/>
            <p:nvPr>
              <p:custDataLst>
                <p:tags r:id="rId38"/>
              </p:custDataLst>
            </p:nvPr>
          </p:nvSpPr>
          <p:spPr>
            <a:xfrm>
              <a:off x="873125" y="1143000"/>
              <a:ext cx="2701801" cy="222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模仿BERT的[CLS]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2" name="Text 8"/>
            <p:cNvSpPr/>
            <p:nvPr>
              <p:custDataLst>
                <p:tags r:id="rId39"/>
              </p:custDataLst>
            </p:nvPr>
          </p:nvSpPr>
          <p:spPr>
            <a:xfrm>
              <a:off x="539750" y="1492250"/>
              <a:ext cx="5293431" cy="412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ViT借鉴BERT的设计，在Patch序列前添加一个</a:t>
              </a: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可学习的Class Token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（xclass），用于图像分类任务。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3" name="Shape 9"/>
            <p:cNvSpPr/>
            <p:nvPr>
              <p:custDataLst>
                <p:tags r:id="rId40"/>
              </p:custDataLst>
            </p:nvPr>
          </p:nvSpPr>
          <p:spPr>
            <a:xfrm>
              <a:off x="333375" y="2254250"/>
              <a:ext cx="5627688" cy="1143000"/>
            </a:xfrm>
            <a:custGeom>
              <a:avLst/>
              <a:gdLst/>
              <a:ahLst/>
              <a:cxnLst/>
              <a:rect l="l" t="t" r="r" b="b"/>
              <a:pathLst>
                <a:path w="5627688" h="1143000">
                  <a:moveTo>
                    <a:pt x="31750" y="0"/>
                  </a:moveTo>
                  <a:lnTo>
                    <a:pt x="5532441" y="0"/>
                  </a:lnTo>
                  <a:cubicBezTo>
                    <a:pt x="5585044" y="0"/>
                    <a:pt x="5627688" y="42643"/>
                    <a:pt x="5627688" y="95246"/>
                  </a:cubicBezTo>
                  <a:lnTo>
                    <a:pt x="5627688" y="1047754"/>
                  </a:lnTo>
                  <a:cubicBezTo>
                    <a:pt x="5627688" y="1100357"/>
                    <a:pt x="5585044" y="1143000"/>
                    <a:pt x="5532441" y="1143000"/>
                  </a:cubicBez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" name="Shape 10"/>
            <p:cNvSpPr/>
            <p:nvPr>
              <p:custDataLst>
                <p:tags r:id="rId41"/>
              </p:custDataLst>
            </p:nvPr>
          </p:nvSpPr>
          <p:spPr>
            <a:xfrm>
              <a:off x="333375" y="2254250"/>
              <a:ext cx="31750" cy="1143000"/>
            </a:xfrm>
            <a:custGeom>
              <a:avLst/>
              <a:gdLst/>
              <a:ahLst/>
              <a:cxnLst/>
              <a:rect l="l" t="t" r="r" b="b"/>
              <a:pathLst>
                <a:path w="31750" h="1143000">
                  <a:moveTo>
                    <a:pt x="31750" y="0"/>
                  </a:moveTo>
                  <a:lnTo>
                    <a:pt x="31750" y="0"/>
                  </a:lnTo>
                  <a:lnTo>
                    <a:pt x="31750" y="1143000"/>
                  </a:ln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5" name="Shape 11"/>
            <p:cNvSpPr/>
            <p:nvPr>
              <p:custDataLst>
                <p:tags r:id="rId42"/>
              </p:custDataLst>
            </p:nvPr>
          </p:nvSpPr>
          <p:spPr>
            <a:xfrm>
              <a:off x="563563" y="24606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2092" y="35719"/>
                  </a:moveTo>
                  <a:lnTo>
                    <a:pt x="12092" y="91343"/>
                  </a:lnTo>
                  <a:cubicBezTo>
                    <a:pt x="12092" y="97668"/>
                    <a:pt x="14585" y="103733"/>
                    <a:pt x="19050" y="108198"/>
                  </a:cubicBezTo>
                  <a:lnTo>
                    <a:pt x="90488" y="179636"/>
                  </a:lnTo>
                  <a:cubicBezTo>
                    <a:pt x="99789" y="188937"/>
                    <a:pt x="114858" y="188937"/>
                    <a:pt x="124160" y="179636"/>
                  </a:cubicBezTo>
                  <a:lnTo>
                    <a:pt x="179784" y="124011"/>
                  </a:lnTo>
                  <a:cubicBezTo>
                    <a:pt x="189086" y="114709"/>
                    <a:pt x="189086" y="99640"/>
                    <a:pt x="179784" y="90339"/>
                  </a:cubicBezTo>
                  <a:lnTo>
                    <a:pt x="108347" y="18901"/>
                  </a:lnTo>
                  <a:cubicBezTo>
                    <a:pt x="103882" y="14399"/>
                    <a:pt x="97854" y="11906"/>
                    <a:pt x="91529" y="11906"/>
                  </a:cubicBezTo>
                  <a:lnTo>
                    <a:pt x="35905" y="11906"/>
                  </a:lnTo>
                  <a:cubicBezTo>
                    <a:pt x="22771" y="11906"/>
                    <a:pt x="12092" y="22585"/>
                    <a:pt x="12092" y="35719"/>
                  </a:cubicBezTo>
                  <a:close/>
                  <a:moveTo>
                    <a:pt x="53764" y="41672"/>
                  </a:moveTo>
                  <a:cubicBezTo>
                    <a:pt x="60335" y="41672"/>
                    <a:pt x="65670" y="47007"/>
                    <a:pt x="65670" y="53578"/>
                  </a:cubicBezTo>
                  <a:cubicBezTo>
                    <a:pt x="65670" y="60149"/>
                    <a:pt x="60335" y="65484"/>
                    <a:pt x="53764" y="65484"/>
                  </a:cubicBezTo>
                  <a:cubicBezTo>
                    <a:pt x="47193" y="65484"/>
                    <a:pt x="41858" y="60149"/>
                    <a:pt x="41858" y="53578"/>
                  </a:cubicBezTo>
                  <a:cubicBezTo>
                    <a:pt x="41858" y="47007"/>
                    <a:pt x="47193" y="41672"/>
                    <a:pt x="53764" y="41672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6" name="Text 12"/>
            <p:cNvSpPr/>
            <p:nvPr>
              <p:custDataLst>
                <p:tags r:id="rId43"/>
              </p:custDataLst>
            </p:nvPr>
          </p:nvSpPr>
          <p:spPr>
            <a:xfrm>
              <a:off x="873125" y="2413000"/>
              <a:ext cx="1091142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分类表示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7" name="Text 13"/>
            <p:cNvSpPr/>
            <p:nvPr>
              <p:custDataLst>
                <p:tags r:id="rId44"/>
              </p:custDataLst>
            </p:nvPr>
          </p:nvSpPr>
          <p:spPr>
            <a:xfrm>
              <a:off x="440531" y="2794000"/>
              <a:ext cx="5532437" cy="412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Class Token的输出经过Transformer编码器后，成为</a:t>
              </a:r>
              <a:r>
                <a:rPr lang="en-US" sz="18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整个图像的聚合表示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，类似于BERT中[CLS]的作用。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8" name="Shape 14"/>
            <p:cNvSpPr/>
            <p:nvPr>
              <p:custDataLst>
                <p:tags r:id="rId45"/>
              </p:custDataLst>
            </p:nvPr>
          </p:nvSpPr>
          <p:spPr>
            <a:xfrm>
              <a:off x="321028" y="3559528"/>
              <a:ext cx="5642681" cy="1150056"/>
            </a:xfrm>
            <a:custGeom>
              <a:avLst/>
              <a:gdLst/>
              <a:ahLst/>
              <a:cxnLst/>
              <a:rect l="l" t="t" r="r" b="b"/>
              <a:pathLst>
                <a:path w="5642681" h="1150056">
                  <a:moveTo>
                    <a:pt x="95248" y="0"/>
                  </a:moveTo>
                  <a:lnTo>
                    <a:pt x="5547433" y="0"/>
                  </a:lnTo>
                  <a:cubicBezTo>
                    <a:pt x="5600037" y="0"/>
                    <a:pt x="5642681" y="42644"/>
                    <a:pt x="5642681" y="95248"/>
                  </a:cubicBezTo>
                  <a:lnTo>
                    <a:pt x="5642681" y="1054808"/>
                  </a:lnTo>
                  <a:cubicBezTo>
                    <a:pt x="5642681" y="1107412"/>
                    <a:pt x="5600037" y="1150056"/>
                    <a:pt x="5547433" y="1150056"/>
                  </a:cubicBezTo>
                  <a:lnTo>
                    <a:pt x="95248" y="1150056"/>
                  </a:lnTo>
                  <a:cubicBezTo>
                    <a:pt x="42644" y="1150056"/>
                    <a:pt x="0" y="1107412"/>
                    <a:pt x="0" y="1054808"/>
                  </a:cubicBezTo>
                  <a:lnTo>
                    <a:pt x="0" y="95248"/>
                  </a:lnTo>
                  <a:cubicBezTo>
                    <a:pt x="0" y="42679"/>
                    <a:pt x="42679" y="0"/>
                    <a:pt x="9524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98DB">
                    <a:alpha val="10000"/>
                  </a:srgbClr>
                </a:gs>
                <a:gs pos="100000">
                  <a:srgbClr val="2C3E50">
                    <a:alpha val="10000"/>
                  </a:srgbClr>
                </a:gs>
              </a:gsLst>
              <a:lin ang="0" scaled="1"/>
            </a:gradFill>
            <a:ln w="11289">
              <a:solidFill>
                <a:srgbClr val="3498DB">
                  <a:alpha val="30196"/>
                </a:srgbClr>
              </a:solidFill>
              <a:prstDash val="solid"/>
            </a:ln>
          </p:spPr>
        </p:sp>
        <p:sp>
          <p:nvSpPr>
            <p:cNvPr id="19" name="Shape 15"/>
            <p:cNvSpPr/>
            <p:nvPr>
              <p:custDataLst>
                <p:tags r:id="rId46"/>
              </p:custDataLst>
            </p:nvPr>
          </p:nvSpPr>
          <p:spPr>
            <a:xfrm>
              <a:off x="562681" y="3769429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108979" y="142875"/>
                  </a:moveTo>
                  <a:cubicBezTo>
                    <a:pt x="111696" y="134578"/>
                    <a:pt x="117128" y="127062"/>
                    <a:pt x="123267" y="120588"/>
                  </a:cubicBezTo>
                  <a:cubicBezTo>
                    <a:pt x="135434" y="107789"/>
                    <a:pt x="142875" y="90488"/>
                    <a:pt x="142875" y="71438"/>
                  </a:cubicBezTo>
                  <a:cubicBezTo>
                    <a:pt x="142875" y="31998"/>
                    <a:pt x="110877" y="0"/>
                    <a:pt x="71437" y="0"/>
                  </a:cubicBezTo>
                  <a:cubicBezTo>
                    <a:pt x="31998" y="0"/>
                    <a:pt x="0" y="31998"/>
                    <a:pt x="0" y="71438"/>
                  </a:cubicBezTo>
                  <a:cubicBezTo>
                    <a:pt x="0" y="90488"/>
                    <a:pt x="7441" y="107789"/>
                    <a:pt x="19608" y="120588"/>
                  </a:cubicBezTo>
                  <a:cubicBezTo>
                    <a:pt x="25747" y="127062"/>
                    <a:pt x="31217" y="134578"/>
                    <a:pt x="33896" y="142875"/>
                  </a:cubicBezTo>
                  <a:lnTo>
                    <a:pt x="108942" y="142875"/>
                  </a:lnTo>
                  <a:close/>
                  <a:moveTo>
                    <a:pt x="107156" y="160734"/>
                  </a:moveTo>
                  <a:lnTo>
                    <a:pt x="35719" y="160734"/>
                  </a:lnTo>
                  <a:lnTo>
                    <a:pt x="35719" y="166688"/>
                  </a:lnTo>
                  <a:cubicBezTo>
                    <a:pt x="35719" y="183133"/>
                    <a:pt x="49039" y="196453"/>
                    <a:pt x="65484" y="196453"/>
                  </a:cubicBezTo>
                  <a:lnTo>
                    <a:pt x="77391" y="196453"/>
                  </a:lnTo>
                  <a:cubicBezTo>
                    <a:pt x="93836" y="196453"/>
                    <a:pt x="107156" y="183133"/>
                    <a:pt x="107156" y="166688"/>
                  </a:cubicBezTo>
                  <a:lnTo>
                    <a:pt x="107156" y="160734"/>
                  </a:lnTo>
                  <a:close/>
                  <a:moveTo>
                    <a:pt x="68461" y="41672"/>
                  </a:moveTo>
                  <a:cubicBezTo>
                    <a:pt x="53653" y="41672"/>
                    <a:pt x="41672" y="53653"/>
                    <a:pt x="41672" y="68461"/>
                  </a:cubicBezTo>
                  <a:cubicBezTo>
                    <a:pt x="41672" y="73409"/>
                    <a:pt x="37691" y="77391"/>
                    <a:pt x="32742" y="77391"/>
                  </a:cubicBezTo>
                  <a:cubicBezTo>
                    <a:pt x="27794" y="77391"/>
                    <a:pt x="23812" y="73409"/>
                    <a:pt x="23812" y="68461"/>
                  </a:cubicBezTo>
                  <a:cubicBezTo>
                    <a:pt x="23812" y="43793"/>
                    <a:pt x="43793" y="23812"/>
                    <a:pt x="68461" y="23812"/>
                  </a:cubicBezTo>
                  <a:cubicBezTo>
                    <a:pt x="73409" y="23812"/>
                    <a:pt x="77391" y="27794"/>
                    <a:pt x="77391" y="32742"/>
                  </a:cubicBezTo>
                  <a:cubicBezTo>
                    <a:pt x="77391" y="37691"/>
                    <a:pt x="73409" y="41672"/>
                    <a:pt x="68461" y="41672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20" name="Text 16"/>
            <p:cNvSpPr/>
            <p:nvPr>
              <p:custDataLst>
                <p:tags r:id="rId47"/>
              </p:custDataLst>
            </p:nvPr>
          </p:nvSpPr>
          <p:spPr>
            <a:xfrm>
              <a:off x="848430" y="3746500"/>
              <a:ext cx="1610372" cy="2293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为什么有效？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1" name="Text 17"/>
            <p:cNvSpPr/>
            <p:nvPr>
              <p:custDataLst>
                <p:tags r:id="rId48"/>
              </p:custDataLst>
            </p:nvPr>
          </p:nvSpPr>
          <p:spPr>
            <a:xfrm>
              <a:off x="515056" y="4102804"/>
              <a:ext cx="5318125" cy="412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通过</a:t>
              </a: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自注意力机制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，Class Token能够与所有Patch交互，聚合全局信息，形成图像级别的表示。</a:t>
              </a:r>
              <a:endParaRPr lang="en-US" sz="1800" dirty="0">
                <a:latin typeface="+mn-ea"/>
                <a:ea typeface="+mn-ea"/>
              </a:endParaRPr>
            </a:p>
          </p:txBody>
        </p:sp>
      </p:grpSp>
      <p:sp>
        <p:nvSpPr>
          <p:cNvPr id="22" name="Shape 18"/>
          <p:cNvSpPr/>
          <p:nvPr>
            <p:custDataLst>
              <p:tags r:id="rId1"/>
            </p:custDataLst>
          </p:nvPr>
        </p:nvSpPr>
        <p:spPr>
          <a:xfrm>
            <a:off x="6199187" y="766507"/>
            <a:ext cx="5659438" cy="5938857"/>
          </a:xfrm>
          <a:custGeom>
            <a:avLst/>
            <a:gdLst/>
            <a:ahLst/>
            <a:cxnLst/>
            <a:rect l="l" t="t" r="r" b="b"/>
            <a:pathLst>
              <a:path w="5659438" h="6167438">
                <a:moveTo>
                  <a:pt x="95248" y="0"/>
                </a:moveTo>
                <a:lnTo>
                  <a:pt x="5564189" y="0"/>
                </a:lnTo>
                <a:cubicBezTo>
                  <a:pt x="5616793" y="0"/>
                  <a:pt x="5659438" y="42644"/>
                  <a:pt x="5659438" y="95248"/>
                </a:cubicBezTo>
                <a:lnTo>
                  <a:pt x="5659438" y="6072189"/>
                </a:lnTo>
                <a:cubicBezTo>
                  <a:pt x="5659438" y="6124793"/>
                  <a:pt x="5616793" y="6167438"/>
                  <a:pt x="5564189" y="6167438"/>
                </a:cubicBezTo>
                <a:lnTo>
                  <a:pt x="95248" y="6167438"/>
                </a:lnTo>
                <a:cubicBezTo>
                  <a:pt x="42644" y="6167438"/>
                  <a:pt x="0" y="6124793"/>
                  <a:pt x="0" y="607218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19"/>
          <p:cNvSpPr/>
          <p:nvPr>
            <p:custDataLst>
              <p:tags r:id="rId2"/>
            </p:custDataLst>
          </p:nvPr>
        </p:nvSpPr>
        <p:spPr>
          <a:xfrm>
            <a:off x="6349999" y="834030"/>
            <a:ext cx="5357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Class Token示意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24" name="Shape 20"/>
          <p:cNvSpPr/>
          <p:nvPr>
            <p:custDataLst>
              <p:tags r:id="rId3"/>
            </p:custDataLst>
          </p:nvPr>
        </p:nvSpPr>
        <p:spPr>
          <a:xfrm>
            <a:off x="6393214" y="1144704"/>
            <a:ext cx="5269618" cy="1499306"/>
          </a:xfrm>
          <a:custGeom>
            <a:avLst/>
            <a:gdLst/>
            <a:ahLst/>
            <a:cxnLst/>
            <a:rect l="l" t="t" r="r" b="b"/>
            <a:pathLst>
              <a:path w="5269618" h="1499306">
                <a:moveTo>
                  <a:pt x="95251" y="0"/>
                </a:moveTo>
                <a:lnTo>
                  <a:pt x="5174367" y="0"/>
                </a:lnTo>
                <a:cubicBezTo>
                  <a:pt x="5226973" y="0"/>
                  <a:pt x="5269618" y="42645"/>
                  <a:pt x="5269618" y="95251"/>
                </a:cubicBezTo>
                <a:lnTo>
                  <a:pt x="5269618" y="1404055"/>
                </a:lnTo>
                <a:cubicBezTo>
                  <a:pt x="5269618" y="1456660"/>
                  <a:pt x="5226973" y="1499306"/>
                  <a:pt x="5174367" y="1499306"/>
                </a:cubicBezTo>
                <a:lnTo>
                  <a:pt x="95251" y="1499306"/>
                </a:lnTo>
                <a:cubicBezTo>
                  <a:pt x="42645" y="1499306"/>
                  <a:pt x="0" y="1456660"/>
                  <a:pt x="0" y="1404055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3498DB">
              <a:alpha val="5098"/>
            </a:srgbClr>
          </a:solidFill>
          <a:ln w="11289">
            <a:solidFill>
              <a:srgbClr val="3498DB">
                <a:alpha val="20000"/>
              </a:srgbClr>
            </a:solidFill>
            <a:prstDash val="solid"/>
          </a:ln>
        </p:spPr>
      </p:sp>
      <p:sp>
        <p:nvSpPr>
          <p:cNvPr id="25" name="Text 21"/>
          <p:cNvSpPr/>
          <p:nvPr>
            <p:custDataLst>
              <p:tags r:id="rId4"/>
            </p:custDataLst>
          </p:nvPr>
        </p:nvSpPr>
        <p:spPr>
          <a:xfrm>
            <a:off x="6523742" y="1306980"/>
            <a:ext cx="5008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输入序列（拼接后）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26" name="Shape 22"/>
          <p:cNvSpPr/>
          <p:nvPr>
            <p:custDataLst>
              <p:tags r:id="rId5"/>
            </p:custDataLst>
          </p:nvPr>
        </p:nvSpPr>
        <p:spPr>
          <a:xfrm>
            <a:off x="6555492" y="1624480"/>
            <a:ext cx="4945063" cy="857250"/>
          </a:xfrm>
          <a:custGeom>
            <a:avLst/>
            <a:gdLst/>
            <a:ahLst/>
            <a:cxnLst/>
            <a:rect l="l" t="t" r="r" b="b"/>
            <a:pathLst>
              <a:path w="4945063" h="857250">
                <a:moveTo>
                  <a:pt x="63497" y="0"/>
                </a:moveTo>
                <a:lnTo>
                  <a:pt x="4881566" y="0"/>
                </a:lnTo>
                <a:cubicBezTo>
                  <a:pt x="4916634" y="0"/>
                  <a:pt x="4945063" y="28428"/>
                  <a:pt x="4945063" y="63497"/>
                </a:cubicBezTo>
                <a:lnTo>
                  <a:pt x="4945063" y="793753"/>
                </a:lnTo>
                <a:cubicBezTo>
                  <a:pt x="4945063" y="828822"/>
                  <a:pt x="4916634" y="857250"/>
                  <a:pt x="4881566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3"/>
          <p:cNvSpPr/>
          <p:nvPr>
            <p:custDataLst>
              <p:tags r:id="rId6"/>
            </p:custDataLst>
          </p:nvPr>
        </p:nvSpPr>
        <p:spPr>
          <a:xfrm>
            <a:off x="7869755" y="17514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749" y="0"/>
                </a:moveTo>
                <a:lnTo>
                  <a:pt x="349251" y="0"/>
                </a:lnTo>
                <a:cubicBezTo>
                  <a:pt x="366786" y="0"/>
                  <a:pt x="381000" y="14214"/>
                  <a:pt x="381000" y="31749"/>
                </a:cubicBezTo>
                <a:lnTo>
                  <a:pt x="381000" y="349251"/>
                </a:lnTo>
                <a:cubicBezTo>
                  <a:pt x="381000" y="366786"/>
                  <a:pt x="366786" y="381000"/>
                  <a:pt x="34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3498DB"/>
          </a:solidFill>
        </p:spPr>
      </p:sp>
      <p:sp>
        <p:nvSpPr>
          <p:cNvPr id="28" name="Text 24"/>
          <p:cNvSpPr/>
          <p:nvPr>
            <p:custDataLst>
              <p:tags r:id="rId7"/>
            </p:custDataLst>
          </p:nvPr>
        </p:nvSpPr>
        <p:spPr>
          <a:xfrm>
            <a:off x="7838005" y="1751480"/>
            <a:ext cx="444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[CLS]</a:t>
            </a:r>
            <a:endParaRPr lang="en-US" sz="2400" dirty="0">
              <a:latin typeface="+mn-ea"/>
              <a:ea typeface="+mn-ea"/>
            </a:endParaRPr>
          </a:p>
        </p:txBody>
      </p:sp>
      <p:sp>
        <p:nvSpPr>
          <p:cNvPr id="29" name="Shape 25"/>
          <p:cNvSpPr/>
          <p:nvPr>
            <p:custDataLst>
              <p:tags r:id="rId8"/>
            </p:custDataLst>
          </p:nvPr>
        </p:nvSpPr>
        <p:spPr>
          <a:xfrm>
            <a:off x="8314254" y="17514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749" y="0"/>
                </a:moveTo>
                <a:lnTo>
                  <a:pt x="349251" y="0"/>
                </a:lnTo>
                <a:cubicBezTo>
                  <a:pt x="366786" y="0"/>
                  <a:pt x="381000" y="14214"/>
                  <a:pt x="381000" y="31749"/>
                </a:cubicBezTo>
                <a:lnTo>
                  <a:pt x="381000" y="349251"/>
                </a:lnTo>
                <a:cubicBezTo>
                  <a:pt x="381000" y="366786"/>
                  <a:pt x="366786" y="381000"/>
                  <a:pt x="34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C3E50">
              <a:alpha val="30196"/>
            </a:srgbClr>
          </a:solidFill>
        </p:spPr>
      </p:sp>
      <p:sp>
        <p:nvSpPr>
          <p:cNvPr id="30" name="Text 26"/>
          <p:cNvSpPr/>
          <p:nvPr>
            <p:custDataLst>
              <p:tags r:id="rId9"/>
            </p:custDataLst>
          </p:nvPr>
        </p:nvSpPr>
        <p:spPr>
          <a:xfrm>
            <a:off x="8290442" y="1751480"/>
            <a:ext cx="428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P1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31" name="Shape 27"/>
          <p:cNvSpPr/>
          <p:nvPr>
            <p:custDataLst>
              <p:tags r:id="rId10"/>
            </p:custDataLst>
          </p:nvPr>
        </p:nvSpPr>
        <p:spPr>
          <a:xfrm>
            <a:off x="8758754" y="17514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749" y="0"/>
                </a:moveTo>
                <a:lnTo>
                  <a:pt x="349251" y="0"/>
                </a:lnTo>
                <a:cubicBezTo>
                  <a:pt x="366786" y="0"/>
                  <a:pt x="381000" y="14214"/>
                  <a:pt x="381000" y="31749"/>
                </a:cubicBezTo>
                <a:lnTo>
                  <a:pt x="381000" y="349251"/>
                </a:lnTo>
                <a:cubicBezTo>
                  <a:pt x="381000" y="366786"/>
                  <a:pt x="366786" y="381000"/>
                  <a:pt x="34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C3E50">
              <a:alpha val="30196"/>
            </a:srgbClr>
          </a:solidFill>
        </p:spPr>
      </p:sp>
      <p:sp>
        <p:nvSpPr>
          <p:cNvPr id="32" name="Text 28"/>
          <p:cNvSpPr/>
          <p:nvPr>
            <p:custDataLst>
              <p:tags r:id="rId11"/>
            </p:custDataLst>
          </p:nvPr>
        </p:nvSpPr>
        <p:spPr>
          <a:xfrm>
            <a:off x="8734942" y="1751480"/>
            <a:ext cx="428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P2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33" name="Shape 29"/>
          <p:cNvSpPr/>
          <p:nvPr>
            <p:custDataLst>
              <p:tags r:id="rId12"/>
            </p:custDataLst>
          </p:nvPr>
        </p:nvSpPr>
        <p:spPr>
          <a:xfrm>
            <a:off x="9203254" y="17514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749" y="0"/>
                </a:moveTo>
                <a:lnTo>
                  <a:pt x="349251" y="0"/>
                </a:lnTo>
                <a:cubicBezTo>
                  <a:pt x="366786" y="0"/>
                  <a:pt x="381000" y="14214"/>
                  <a:pt x="381000" y="31749"/>
                </a:cubicBezTo>
                <a:lnTo>
                  <a:pt x="381000" y="349251"/>
                </a:lnTo>
                <a:cubicBezTo>
                  <a:pt x="381000" y="366786"/>
                  <a:pt x="366786" y="381000"/>
                  <a:pt x="34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C3E50">
              <a:alpha val="30196"/>
            </a:srgbClr>
          </a:solidFill>
        </p:spPr>
      </p:sp>
      <p:sp>
        <p:nvSpPr>
          <p:cNvPr id="34" name="Text 30"/>
          <p:cNvSpPr/>
          <p:nvPr>
            <p:custDataLst>
              <p:tags r:id="rId13"/>
            </p:custDataLst>
          </p:nvPr>
        </p:nvSpPr>
        <p:spPr>
          <a:xfrm>
            <a:off x="9179442" y="1751480"/>
            <a:ext cx="428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P3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35" name="Text 31"/>
          <p:cNvSpPr/>
          <p:nvPr>
            <p:custDataLst>
              <p:tags r:id="rId14"/>
            </p:custDataLst>
          </p:nvPr>
        </p:nvSpPr>
        <p:spPr>
          <a:xfrm>
            <a:off x="9644260" y="1757980"/>
            <a:ext cx="252170" cy="27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...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36" name="Shape 32"/>
          <p:cNvSpPr/>
          <p:nvPr>
            <p:custDataLst>
              <p:tags r:id="rId15"/>
            </p:custDataLst>
          </p:nvPr>
        </p:nvSpPr>
        <p:spPr>
          <a:xfrm>
            <a:off x="9863434" y="17514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749" y="0"/>
                </a:moveTo>
                <a:lnTo>
                  <a:pt x="349251" y="0"/>
                </a:lnTo>
                <a:cubicBezTo>
                  <a:pt x="366786" y="0"/>
                  <a:pt x="381000" y="14214"/>
                  <a:pt x="381000" y="31749"/>
                </a:cubicBezTo>
                <a:lnTo>
                  <a:pt x="381000" y="349251"/>
                </a:lnTo>
                <a:cubicBezTo>
                  <a:pt x="381000" y="366786"/>
                  <a:pt x="366786" y="381000"/>
                  <a:pt x="34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C3E50">
              <a:alpha val="30196"/>
            </a:srgbClr>
          </a:solidFill>
        </p:spPr>
      </p:sp>
      <p:sp>
        <p:nvSpPr>
          <p:cNvPr id="37" name="Text 33"/>
          <p:cNvSpPr/>
          <p:nvPr>
            <p:custDataLst>
              <p:tags r:id="rId16"/>
            </p:custDataLst>
          </p:nvPr>
        </p:nvSpPr>
        <p:spPr>
          <a:xfrm>
            <a:off x="9839622" y="1751480"/>
            <a:ext cx="428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P196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38" name="Text 34"/>
          <p:cNvSpPr/>
          <p:nvPr>
            <p:custDataLst>
              <p:tags r:id="rId17"/>
            </p:custDataLst>
          </p:nvPr>
        </p:nvSpPr>
        <p:spPr>
          <a:xfrm>
            <a:off x="6658679" y="2227730"/>
            <a:ext cx="4738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197个Token（1个Class + 196个Patch）</a:t>
            </a:r>
            <a:endParaRPr lang="en-US" sz="4800" dirty="0">
              <a:latin typeface="+mn-ea"/>
              <a:ea typeface="+mn-ea"/>
            </a:endParaRPr>
          </a:p>
        </p:txBody>
      </p:sp>
      <p:sp>
        <p:nvSpPr>
          <p:cNvPr id="39" name="Shape 35"/>
          <p:cNvSpPr/>
          <p:nvPr>
            <p:custDataLst>
              <p:tags r:id="rId18"/>
            </p:custDataLst>
          </p:nvPr>
        </p:nvSpPr>
        <p:spPr>
          <a:xfrm>
            <a:off x="8955649" y="277448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40" name="Shape 36"/>
          <p:cNvSpPr/>
          <p:nvPr>
            <p:custDataLst>
              <p:tags r:id="rId19"/>
            </p:custDataLst>
          </p:nvPr>
        </p:nvSpPr>
        <p:spPr>
          <a:xfrm>
            <a:off x="6393214" y="3095515"/>
            <a:ext cx="5269618" cy="1626306"/>
          </a:xfrm>
          <a:custGeom>
            <a:avLst/>
            <a:gdLst/>
            <a:ahLst/>
            <a:cxnLst/>
            <a:rect l="l" t="t" r="r" b="b"/>
            <a:pathLst>
              <a:path w="5269618" h="1626306">
                <a:moveTo>
                  <a:pt x="95253" y="0"/>
                </a:moveTo>
                <a:lnTo>
                  <a:pt x="5174365" y="0"/>
                </a:lnTo>
                <a:cubicBezTo>
                  <a:pt x="5226972" y="0"/>
                  <a:pt x="5269618" y="42646"/>
                  <a:pt x="5269618" y="95253"/>
                </a:cubicBezTo>
                <a:lnTo>
                  <a:pt x="5269618" y="1531053"/>
                </a:lnTo>
                <a:cubicBezTo>
                  <a:pt x="5269618" y="1583659"/>
                  <a:pt x="5226972" y="1626306"/>
                  <a:pt x="5174365" y="1626306"/>
                </a:cubicBezTo>
                <a:lnTo>
                  <a:pt x="95253" y="1626306"/>
                </a:lnTo>
                <a:cubicBezTo>
                  <a:pt x="42646" y="1626306"/>
                  <a:pt x="0" y="1583659"/>
                  <a:pt x="0" y="1531053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2C3E50">
              <a:alpha val="5098"/>
            </a:srgbClr>
          </a:solidFill>
          <a:ln w="11289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41" name="Text 37"/>
          <p:cNvSpPr/>
          <p:nvPr>
            <p:custDataLst>
              <p:tags r:id="rId20"/>
            </p:custDataLst>
          </p:nvPr>
        </p:nvSpPr>
        <p:spPr>
          <a:xfrm>
            <a:off x="6523742" y="3257791"/>
            <a:ext cx="5008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经过Transformer编码器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42" name="Shape 38"/>
          <p:cNvSpPr/>
          <p:nvPr>
            <p:custDataLst>
              <p:tags r:id="rId21"/>
            </p:custDataLst>
          </p:nvPr>
        </p:nvSpPr>
        <p:spPr>
          <a:xfrm>
            <a:off x="6555492" y="3575291"/>
            <a:ext cx="4945063" cy="984250"/>
          </a:xfrm>
          <a:custGeom>
            <a:avLst/>
            <a:gdLst/>
            <a:ahLst/>
            <a:cxnLst/>
            <a:rect l="l" t="t" r="r" b="b"/>
            <a:pathLst>
              <a:path w="4945063" h="984250">
                <a:moveTo>
                  <a:pt x="63504" y="0"/>
                </a:moveTo>
                <a:lnTo>
                  <a:pt x="4881559" y="0"/>
                </a:lnTo>
                <a:cubicBezTo>
                  <a:pt x="4916631" y="0"/>
                  <a:pt x="4945063" y="28432"/>
                  <a:pt x="4945063" y="63504"/>
                </a:cubicBezTo>
                <a:lnTo>
                  <a:pt x="4945063" y="920746"/>
                </a:lnTo>
                <a:cubicBezTo>
                  <a:pt x="4945062" y="955818"/>
                  <a:pt x="4916631" y="984250"/>
                  <a:pt x="4881559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Shape 39"/>
          <p:cNvSpPr/>
          <p:nvPr>
            <p:custDataLst>
              <p:tags r:id="rId22"/>
            </p:custDataLst>
          </p:nvPr>
        </p:nvSpPr>
        <p:spPr>
          <a:xfrm>
            <a:off x="8773087" y="370229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98DB"/>
              </a:gs>
              <a:gs pos="100000">
                <a:srgbClr val="2C3E50"/>
              </a:gs>
            </a:gsLst>
            <a:lin ang="2700000" scaled="1"/>
          </a:gra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Text 40"/>
          <p:cNvSpPr/>
          <p:nvPr>
            <p:custDataLst>
              <p:tags r:id="rId23"/>
            </p:custDataLst>
          </p:nvPr>
        </p:nvSpPr>
        <p:spPr>
          <a:xfrm>
            <a:off x="8860399" y="3781666"/>
            <a:ext cx="33337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[CLS]</a:t>
            </a:r>
            <a:endParaRPr lang="en-US" sz="2400" dirty="0">
              <a:latin typeface="+mn-ea"/>
              <a:ea typeface="+mn-ea"/>
            </a:endParaRPr>
          </a:p>
        </p:txBody>
      </p:sp>
      <p:sp>
        <p:nvSpPr>
          <p:cNvPr id="45" name="Text 41"/>
          <p:cNvSpPr/>
          <p:nvPr>
            <p:custDataLst>
              <p:tags r:id="rId24"/>
            </p:custDataLst>
          </p:nvPr>
        </p:nvSpPr>
        <p:spPr>
          <a:xfrm>
            <a:off x="8848493" y="3908604"/>
            <a:ext cx="357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输出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46" name="Text 42"/>
          <p:cNvSpPr/>
          <p:nvPr>
            <p:custDataLst>
              <p:tags r:id="rId25"/>
            </p:custDataLst>
          </p:nvPr>
        </p:nvSpPr>
        <p:spPr>
          <a:xfrm>
            <a:off x="6658679" y="4305541"/>
            <a:ext cx="4738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聚合了全局信息</a:t>
            </a:r>
            <a:endParaRPr lang="en-US" sz="4800" dirty="0">
              <a:latin typeface="+mn-ea"/>
              <a:ea typeface="+mn-ea"/>
            </a:endParaRPr>
          </a:p>
        </p:txBody>
      </p:sp>
      <p:sp>
        <p:nvSpPr>
          <p:cNvPr id="47" name="Shape 43"/>
          <p:cNvSpPr/>
          <p:nvPr>
            <p:custDataLst>
              <p:tags r:id="rId26"/>
            </p:custDataLst>
          </p:nvPr>
        </p:nvSpPr>
        <p:spPr>
          <a:xfrm>
            <a:off x="8955649" y="485228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48" name="Shape 44"/>
          <p:cNvSpPr/>
          <p:nvPr>
            <p:custDataLst>
              <p:tags r:id="rId27"/>
            </p:custDataLst>
          </p:nvPr>
        </p:nvSpPr>
        <p:spPr>
          <a:xfrm>
            <a:off x="6389687" y="5169783"/>
            <a:ext cx="5278438" cy="857250"/>
          </a:xfrm>
          <a:custGeom>
            <a:avLst/>
            <a:gdLst/>
            <a:ahLst/>
            <a:cxnLst/>
            <a:rect l="l" t="t" r="r" b="b"/>
            <a:pathLst>
              <a:path w="5278438" h="857250">
                <a:moveTo>
                  <a:pt x="63497" y="0"/>
                </a:moveTo>
                <a:lnTo>
                  <a:pt x="5214941" y="0"/>
                </a:lnTo>
                <a:cubicBezTo>
                  <a:pt x="5250009" y="0"/>
                  <a:pt x="5278438" y="28428"/>
                  <a:pt x="5278438" y="63497"/>
                </a:cubicBezTo>
                <a:lnTo>
                  <a:pt x="5278438" y="793753"/>
                </a:lnTo>
                <a:cubicBezTo>
                  <a:pt x="5278438" y="828822"/>
                  <a:pt x="5250009" y="857250"/>
                  <a:pt x="521494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498DB"/>
              </a:gs>
              <a:gs pos="100000">
                <a:srgbClr val="2C3E50"/>
              </a:gs>
            </a:gsLst>
            <a:lin ang="0" scaled="1"/>
          </a:gradFill>
        </p:spPr>
      </p:sp>
      <p:sp>
        <p:nvSpPr>
          <p:cNvPr id="49" name="Text 45"/>
          <p:cNvSpPr/>
          <p:nvPr>
            <p:custDataLst>
              <p:tags r:id="rId28"/>
            </p:custDataLst>
          </p:nvPr>
        </p:nvSpPr>
        <p:spPr>
          <a:xfrm>
            <a:off x="6484937" y="5296783"/>
            <a:ext cx="508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分类头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50" name="Shape 46"/>
          <p:cNvSpPr/>
          <p:nvPr>
            <p:custDataLst>
              <p:tags r:id="rId29"/>
            </p:custDataLst>
          </p:nvPr>
        </p:nvSpPr>
        <p:spPr>
          <a:xfrm>
            <a:off x="6516687" y="5550783"/>
            <a:ext cx="5024438" cy="349250"/>
          </a:xfrm>
          <a:custGeom>
            <a:avLst/>
            <a:gdLst/>
            <a:ahLst/>
            <a:cxnLst/>
            <a:rect l="l" t="t" r="r" b="b"/>
            <a:pathLst>
              <a:path w="5024438" h="349250">
                <a:moveTo>
                  <a:pt x="31750" y="0"/>
                </a:moveTo>
                <a:lnTo>
                  <a:pt x="4992687" y="0"/>
                </a:lnTo>
                <a:cubicBezTo>
                  <a:pt x="5010222" y="0"/>
                  <a:pt x="5024437" y="14215"/>
                  <a:pt x="5024437" y="31750"/>
                </a:cubicBezTo>
                <a:lnTo>
                  <a:pt x="5024438" y="317500"/>
                </a:lnTo>
                <a:cubicBezTo>
                  <a:pt x="5024437" y="335035"/>
                  <a:pt x="5010222" y="349250"/>
                  <a:pt x="4992687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51" name="Text 47"/>
          <p:cNvSpPr/>
          <p:nvPr>
            <p:custDataLst>
              <p:tags r:id="rId30"/>
            </p:custDataLst>
          </p:nvPr>
        </p:nvSpPr>
        <p:spPr>
          <a:xfrm>
            <a:off x="6584155" y="5646033"/>
            <a:ext cx="4889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MLP Head → 类别预测</a:t>
            </a:r>
            <a:endParaRPr lang="en-US" sz="4400" dirty="0">
              <a:latin typeface="+mn-ea"/>
              <a:ea typeface="+mn-ea"/>
            </a:endParaRPr>
          </a:p>
        </p:txBody>
      </p:sp>
      <p:sp>
        <p:nvSpPr>
          <p:cNvPr id="52" name="Shape 48"/>
          <p:cNvSpPr/>
          <p:nvPr>
            <p:custDataLst>
              <p:tags r:id="rId31"/>
            </p:custDataLst>
          </p:nvPr>
        </p:nvSpPr>
        <p:spPr>
          <a:xfrm>
            <a:off x="6393214" y="6157561"/>
            <a:ext cx="5269618" cy="356306"/>
          </a:xfrm>
          <a:custGeom>
            <a:avLst/>
            <a:gdLst/>
            <a:ahLst/>
            <a:cxnLst/>
            <a:rect l="l" t="t" r="r" b="b"/>
            <a:pathLst>
              <a:path w="5269618" h="356306">
                <a:moveTo>
                  <a:pt x="63501" y="0"/>
                </a:moveTo>
                <a:lnTo>
                  <a:pt x="5206117" y="0"/>
                </a:lnTo>
                <a:cubicBezTo>
                  <a:pt x="5241188" y="0"/>
                  <a:pt x="5269618" y="28430"/>
                  <a:pt x="5269618" y="63501"/>
                </a:cubicBezTo>
                <a:lnTo>
                  <a:pt x="5269618" y="292805"/>
                </a:lnTo>
                <a:cubicBezTo>
                  <a:pt x="5269618" y="327875"/>
                  <a:pt x="5241188" y="356306"/>
                  <a:pt x="5206117" y="356306"/>
                </a:cubicBezTo>
                <a:lnTo>
                  <a:pt x="63501" y="356306"/>
                </a:lnTo>
                <a:cubicBezTo>
                  <a:pt x="28430" y="356306"/>
                  <a:pt x="0" y="327875"/>
                  <a:pt x="0" y="292805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 w="11289">
            <a:solidFill>
              <a:srgbClr val="3498DB">
                <a:alpha val="30196"/>
              </a:srgbClr>
            </a:solidFill>
            <a:prstDash val="solid"/>
          </a:ln>
        </p:spPr>
      </p:sp>
      <p:sp>
        <p:nvSpPr>
          <p:cNvPr id="53" name="Shape 49"/>
          <p:cNvSpPr/>
          <p:nvPr>
            <p:custDataLst>
              <p:tags r:id="rId32"/>
            </p:custDataLst>
          </p:nvPr>
        </p:nvSpPr>
        <p:spPr>
          <a:xfrm>
            <a:off x="6440512" y="62563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3498DB"/>
          </a:solidFill>
        </p:spPr>
      </p:sp>
      <p:sp>
        <p:nvSpPr>
          <p:cNvPr id="54" name="Text 50"/>
          <p:cNvSpPr/>
          <p:nvPr>
            <p:custDataLst>
              <p:tags r:id="rId33"/>
            </p:custDataLst>
          </p:nvPr>
        </p:nvSpPr>
        <p:spPr>
          <a:xfrm>
            <a:off x="6628273" y="6136578"/>
            <a:ext cx="5191569" cy="356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A252F"/>
                </a:solidFill>
                <a:latin typeface="+mn-ea"/>
                <a:ea typeface="+mn-ea"/>
                <a:cs typeface="MiSans" pitchFamily="34" charset="-120"/>
              </a:rPr>
              <a:t>维度：Class Token与Patch Token相同，都是D维（如768维）</a:t>
            </a:r>
            <a:endParaRPr lang="en-US" sz="3600" dirty="0">
              <a:latin typeface="+mn-ea"/>
              <a:ea typeface="+mn-ea"/>
            </a:endParaRPr>
          </a:p>
        </p:txBody>
      </p:sp>
      <p:sp>
        <p:nvSpPr>
          <p:cNvPr id="55" name="灯片编号占位符 52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646331"/>
          </a:xfrm>
        </p:spPr>
        <p:txBody>
          <a:bodyPr/>
          <a:lstStyle/>
          <a:p>
            <a:r>
              <a:rPr lang="zh-CN" altLang="en-US" dirty="0"/>
              <a:t>Transformer编码器（ViT中）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4D7E26-E8A7-42D1-B007-EFB42C28C9DE}"/>
              </a:ext>
            </a:extLst>
          </p:cNvPr>
          <p:cNvGrpSpPr/>
          <p:nvPr/>
        </p:nvGrpSpPr>
        <p:grpSpPr>
          <a:xfrm>
            <a:off x="154546" y="952500"/>
            <a:ext cx="5976664" cy="5377826"/>
            <a:chOff x="321028" y="952500"/>
            <a:chExt cx="5642681" cy="4519084"/>
          </a:xfrm>
        </p:grpSpPr>
        <p:sp>
          <p:nvSpPr>
            <p:cNvPr id="8" name="Shape 4"/>
            <p:cNvSpPr/>
            <p:nvPr>
              <p:custDataLst>
                <p:tags r:id="rId27"/>
              </p:custDataLst>
            </p:nvPr>
          </p:nvSpPr>
          <p:spPr>
            <a:xfrm>
              <a:off x="333375" y="952500"/>
              <a:ext cx="5627688" cy="1143000"/>
            </a:xfrm>
            <a:custGeom>
              <a:avLst/>
              <a:gdLst/>
              <a:ahLst/>
              <a:cxnLst/>
              <a:rect l="l" t="t" r="r" b="b"/>
              <a:pathLst>
                <a:path w="5627688" h="1143000">
                  <a:moveTo>
                    <a:pt x="31750" y="0"/>
                  </a:moveTo>
                  <a:lnTo>
                    <a:pt x="5532441" y="0"/>
                  </a:lnTo>
                  <a:cubicBezTo>
                    <a:pt x="5585044" y="0"/>
                    <a:pt x="5627688" y="42643"/>
                    <a:pt x="5627688" y="95246"/>
                  </a:cubicBezTo>
                  <a:lnTo>
                    <a:pt x="5627688" y="1047754"/>
                  </a:lnTo>
                  <a:cubicBezTo>
                    <a:pt x="5627688" y="1100357"/>
                    <a:pt x="5585044" y="1143000"/>
                    <a:pt x="5532441" y="1143000"/>
                  </a:cubicBez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" name="Shape 5"/>
            <p:cNvSpPr/>
            <p:nvPr>
              <p:custDataLst>
                <p:tags r:id="rId28"/>
              </p:custDataLst>
            </p:nvPr>
          </p:nvSpPr>
          <p:spPr>
            <a:xfrm>
              <a:off x="333375" y="952500"/>
              <a:ext cx="31750" cy="1143000"/>
            </a:xfrm>
            <a:custGeom>
              <a:avLst/>
              <a:gdLst/>
              <a:ahLst/>
              <a:cxnLst/>
              <a:rect l="l" t="t" r="r" b="b"/>
              <a:pathLst>
                <a:path w="31750" h="1143000">
                  <a:moveTo>
                    <a:pt x="31750" y="0"/>
                  </a:moveTo>
                  <a:lnTo>
                    <a:pt x="31750" y="0"/>
                  </a:lnTo>
                  <a:lnTo>
                    <a:pt x="31750" y="1143000"/>
                  </a:lnTo>
                  <a:lnTo>
                    <a:pt x="31750" y="1143000"/>
                  </a:lnTo>
                  <a:cubicBezTo>
                    <a:pt x="14227" y="1143000"/>
                    <a:pt x="0" y="1128773"/>
                    <a:pt x="0" y="1111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0" name="Shape 6"/>
            <p:cNvSpPr/>
            <p:nvPr>
              <p:custDataLst>
                <p:tags r:id="rId29"/>
              </p:custDataLst>
            </p:nvPr>
          </p:nvSpPr>
          <p:spPr>
            <a:xfrm>
              <a:off x="601942" y="1035412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11906" y="47625"/>
                  </a:moveTo>
                  <a:cubicBezTo>
                    <a:pt x="5321" y="47625"/>
                    <a:pt x="0" y="52946"/>
                    <a:pt x="0" y="59531"/>
                  </a:cubicBezTo>
                  <a:cubicBezTo>
                    <a:pt x="0" y="66117"/>
                    <a:pt x="5321" y="71438"/>
                    <a:pt x="11906" y="71438"/>
                  </a:cubicBezTo>
                  <a:lnTo>
                    <a:pt x="154781" y="71438"/>
                  </a:lnTo>
                  <a:cubicBezTo>
                    <a:pt x="161367" y="71438"/>
                    <a:pt x="166688" y="66117"/>
                    <a:pt x="166688" y="59531"/>
                  </a:cubicBezTo>
                  <a:cubicBezTo>
                    <a:pt x="166688" y="52946"/>
                    <a:pt x="161367" y="47625"/>
                    <a:pt x="154781" y="47625"/>
                  </a:cubicBezTo>
                  <a:lnTo>
                    <a:pt x="11906" y="47625"/>
                  </a:lnTo>
                  <a:close/>
                  <a:moveTo>
                    <a:pt x="11906" y="119063"/>
                  </a:moveTo>
                  <a:cubicBezTo>
                    <a:pt x="5321" y="119063"/>
                    <a:pt x="0" y="124383"/>
                    <a:pt x="0" y="130969"/>
                  </a:cubicBezTo>
                  <a:cubicBezTo>
                    <a:pt x="0" y="137554"/>
                    <a:pt x="5321" y="142875"/>
                    <a:pt x="11906" y="142875"/>
                  </a:cubicBezTo>
                  <a:lnTo>
                    <a:pt x="154781" y="142875"/>
                  </a:lnTo>
                  <a:cubicBezTo>
                    <a:pt x="161367" y="142875"/>
                    <a:pt x="166688" y="137554"/>
                    <a:pt x="166688" y="130969"/>
                  </a:cubicBezTo>
                  <a:cubicBezTo>
                    <a:pt x="166688" y="124383"/>
                    <a:pt x="161367" y="119063"/>
                    <a:pt x="154781" y="119063"/>
                  </a:cubicBezTo>
                  <a:lnTo>
                    <a:pt x="11906" y="119063"/>
                  </a:ln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1" name="Text 7"/>
            <p:cNvSpPr/>
            <p:nvPr>
              <p:custDataLst>
                <p:tags r:id="rId30"/>
              </p:custDataLst>
            </p:nvPr>
          </p:nvSpPr>
          <p:spPr>
            <a:xfrm>
              <a:off x="899597" y="998313"/>
              <a:ext cx="1936843" cy="2434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与BERT结构相同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2" name="Text 8"/>
            <p:cNvSpPr/>
            <p:nvPr>
              <p:custDataLst>
                <p:tags r:id="rId31"/>
              </p:custDataLst>
            </p:nvPr>
          </p:nvSpPr>
          <p:spPr>
            <a:xfrm>
              <a:off x="536068" y="1372313"/>
              <a:ext cx="5424996" cy="412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ViT中的Transformer编码器与</a:t>
              </a: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BERT完全相同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，包含多头自注意力（MSA）和多层感知机（MLP）两个子层。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3" name="Shape 9"/>
            <p:cNvSpPr/>
            <p:nvPr>
              <p:custDataLst>
                <p:tags r:id="rId32"/>
              </p:custDataLst>
            </p:nvPr>
          </p:nvSpPr>
          <p:spPr>
            <a:xfrm>
              <a:off x="333375" y="2254250"/>
              <a:ext cx="5627688" cy="1905000"/>
            </a:xfrm>
            <a:custGeom>
              <a:avLst/>
              <a:gdLst/>
              <a:ahLst/>
              <a:cxnLst/>
              <a:rect l="l" t="t" r="r" b="b"/>
              <a:pathLst>
                <a:path w="5627688" h="1905000">
                  <a:moveTo>
                    <a:pt x="31750" y="0"/>
                  </a:moveTo>
                  <a:lnTo>
                    <a:pt x="5532438" y="0"/>
                  </a:lnTo>
                  <a:cubicBezTo>
                    <a:pt x="5585007" y="0"/>
                    <a:pt x="5627688" y="42680"/>
                    <a:pt x="5627688" y="95250"/>
                  </a:cubicBezTo>
                  <a:lnTo>
                    <a:pt x="5627688" y="1809750"/>
                  </a:lnTo>
                  <a:cubicBezTo>
                    <a:pt x="5627688" y="1862320"/>
                    <a:pt x="5585007" y="1905000"/>
                    <a:pt x="5532438" y="1905000"/>
                  </a:cubicBezTo>
                  <a:lnTo>
                    <a:pt x="31750" y="1905000"/>
                  </a:lnTo>
                  <a:cubicBezTo>
                    <a:pt x="14227" y="1905000"/>
                    <a:pt x="0" y="1890773"/>
                    <a:pt x="0" y="1873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4" name="Shape 10"/>
            <p:cNvSpPr/>
            <p:nvPr>
              <p:custDataLst>
                <p:tags r:id="rId33"/>
              </p:custDataLst>
            </p:nvPr>
          </p:nvSpPr>
          <p:spPr>
            <a:xfrm>
              <a:off x="333375" y="2254250"/>
              <a:ext cx="31750" cy="1905000"/>
            </a:xfrm>
            <a:custGeom>
              <a:avLst/>
              <a:gdLst/>
              <a:ahLst/>
              <a:cxnLst/>
              <a:rect l="l" t="t" r="r" b="b"/>
              <a:pathLst>
                <a:path w="31750" h="1905000">
                  <a:moveTo>
                    <a:pt x="31750" y="0"/>
                  </a:moveTo>
                  <a:lnTo>
                    <a:pt x="31750" y="0"/>
                  </a:lnTo>
                  <a:lnTo>
                    <a:pt x="31750" y="1905000"/>
                  </a:lnTo>
                  <a:lnTo>
                    <a:pt x="31750" y="1905000"/>
                  </a:lnTo>
                  <a:cubicBezTo>
                    <a:pt x="14227" y="1905000"/>
                    <a:pt x="0" y="1890773"/>
                    <a:pt x="0" y="1873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5" name="Shape 11"/>
            <p:cNvSpPr/>
            <p:nvPr>
              <p:custDataLst>
                <p:tags r:id="rId34"/>
              </p:custDataLst>
            </p:nvPr>
          </p:nvSpPr>
          <p:spPr>
            <a:xfrm>
              <a:off x="538868" y="240682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86506" y="1935"/>
                  </a:moveTo>
                  <a:cubicBezTo>
                    <a:pt x="92050" y="-633"/>
                    <a:pt x="98450" y="-633"/>
                    <a:pt x="103994" y="1935"/>
                  </a:cubicBezTo>
                  <a:lnTo>
                    <a:pt x="185328" y="39514"/>
                  </a:lnTo>
                  <a:cubicBezTo>
                    <a:pt x="188491" y="40965"/>
                    <a:pt x="190500" y="44128"/>
                    <a:pt x="190500" y="47625"/>
                  </a:cubicBezTo>
                  <a:cubicBezTo>
                    <a:pt x="190500" y="51122"/>
                    <a:pt x="188491" y="54285"/>
                    <a:pt x="185328" y="55736"/>
                  </a:cubicBezTo>
                  <a:lnTo>
                    <a:pt x="103994" y="93315"/>
                  </a:lnTo>
                  <a:cubicBezTo>
                    <a:pt x="98450" y="95883"/>
                    <a:pt x="92050" y="95883"/>
                    <a:pt x="86506" y="93315"/>
                  </a:cubicBezTo>
                  <a:lnTo>
                    <a:pt x="5172" y="55736"/>
                  </a:lnTo>
                  <a:cubicBezTo>
                    <a:pt x="2009" y="54248"/>
                    <a:pt x="0" y="51085"/>
                    <a:pt x="0" y="47625"/>
                  </a:cubicBezTo>
                  <a:cubicBezTo>
                    <a:pt x="0" y="44165"/>
                    <a:pt x="2009" y="40965"/>
                    <a:pt x="5172" y="39514"/>
                  </a:cubicBezTo>
                  <a:lnTo>
                    <a:pt x="86506" y="1935"/>
                  </a:lnTo>
                  <a:close/>
                  <a:moveTo>
                    <a:pt x="17897" y="81260"/>
                  </a:moveTo>
                  <a:lnTo>
                    <a:pt x="79028" y="109500"/>
                  </a:lnTo>
                  <a:cubicBezTo>
                    <a:pt x="89334" y="114263"/>
                    <a:pt x="101203" y="114263"/>
                    <a:pt x="111509" y="109500"/>
                  </a:cubicBezTo>
                  <a:lnTo>
                    <a:pt x="172641" y="81260"/>
                  </a:lnTo>
                  <a:lnTo>
                    <a:pt x="185328" y="87139"/>
                  </a:lnTo>
                  <a:cubicBezTo>
                    <a:pt x="188491" y="88590"/>
                    <a:pt x="190500" y="91753"/>
                    <a:pt x="190500" y="95250"/>
                  </a:cubicBezTo>
                  <a:cubicBezTo>
                    <a:pt x="190500" y="98747"/>
                    <a:pt x="188491" y="101910"/>
                    <a:pt x="185328" y="103361"/>
                  </a:cubicBezTo>
                  <a:lnTo>
                    <a:pt x="103994" y="140940"/>
                  </a:lnTo>
                  <a:cubicBezTo>
                    <a:pt x="98450" y="143508"/>
                    <a:pt x="92050" y="143508"/>
                    <a:pt x="86506" y="140940"/>
                  </a:cubicBezTo>
                  <a:lnTo>
                    <a:pt x="5172" y="103361"/>
                  </a:lnTo>
                  <a:cubicBezTo>
                    <a:pt x="2009" y="101873"/>
                    <a:pt x="0" y="98710"/>
                    <a:pt x="0" y="95250"/>
                  </a:cubicBezTo>
                  <a:cubicBezTo>
                    <a:pt x="0" y="91790"/>
                    <a:pt x="2009" y="88590"/>
                    <a:pt x="5172" y="87139"/>
                  </a:cubicBezTo>
                  <a:lnTo>
                    <a:pt x="17859" y="81260"/>
                  </a:lnTo>
                  <a:close/>
                  <a:moveTo>
                    <a:pt x="5172" y="134764"/>
                  </a:moveTo>
                  <a:lnTo>
                    <a:pt x="17859" y="128885"/>
                  </a:lnTo>
                  <a:lnTo>
                    <a:pt x="78991" y="157125"/>
                  </a:lnTo>
                  <a:cubicBezTo>
                    <a:pt x="89297" y="161888"/>
                    <a:pt x="101166" y="161888"/>
                    <a:pt x="111472" y="157125"/>
                  </a:cubicBezTo>
                  <a:lnTo>
                    <a:pt x="172603" y="128885"/>
                  </a:lnTo>
                  <a:lnTo>
                    <a:pt x="185291" y="134764"/>
                  </a:lnTo>
                  <a:cubicBezTo>
                    <a:pt x="188454" y="136215"/>
                    <a:pt x="190463" y="139378"/>
                    <a:pt x="190463" y="142875"/>
                  </a:cubicBezTo>
                  <a:cubicBezTo>
                    <a:pt x="190463" y="146372"/>
                    <a:pt x="188454" y="149535"/>
                    <a:pt x="185291" y="150986"/>
                  </a:cubicBezTo>
                  <a:lnTo>
                    <a:pt x="103956" y="188565"/>
                  </a:lnTo>
                  <a:cubicBezTo>
                    <a:pt x="98413" y="191133"/>
                    <a:pt x="92013" y="191133"/>
                    <a:pt x="86469" y="188565"/>
                  </a:cubicBezTo>
                  <a:lnTo>
                    <a:pt x="5172" y="150986"/>
                  </a:lnTo>
                  <a:cubicBezTo>
                    <a:pt x="2009" y="149498"/>
                    <a:pt x="0" y="146335"/>
                    <a:pt x="0" y="142875"/>
                  </a:cubicBezTo>
                  <a:cubicBezTo>
                    <a:pt x="0" y="139415"/>
                    <a:pt x="2009" y="136215"/>
                    <a:pt x="5172" y="134764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6" name="Text 12"/>
            <p:cNvSpPr/>
            <p:nvPr>
              <p:custDataLst>
                <p:tags r:id="rId35"/>
              </p:custDataLst>
            </p:nvPr>
          </p:nvSpPr>
          <p:spPr>
            <a:xfrm>
              <a:off x="848431" y="2359200"/>
              <a:ext cx="1023408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层数配置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7" name="Shape 13"/>
            <p:cNvSpPr/>
            <p:nvPr>
              <p:custDataLst>
                <p:tags r:id="rId36"/>
              </p:custDataLst>
            </p:nvPr>
          </p:nvSpPr>
          <p:spPr>
            <a:xfrm>
              <a:off x="539750" y="2794000"/>
              <a:ext cx="5230813" cy="349250"/>
            </a:xfrm>
            <a:custGeom>
              <a:avLst/>
              <a:gdLst/>
              <a:ahLst/>
              <a:cxnLst/>
              <a:rect l="l" t="t" r="r" b="b"/>
              <a:pathLst>
                <a:path w="5230813" h="349250">
                  <a:moveTo>
                    <a:pt x="63501" y="0"/>
                  </a:moveTo>
                  <a:lnTo>
                    <a:pt x="5167312" y="0"/>
                  </a:lnTo>
                  <a:cubicBezTo>
                    <a:pt x="5202382" y="0"/>
                    <a:pt x="5230813" y="28430"/>
                    <a:pt x="5230813" y="63501"/>
                  </a:cubicBezTo>
                  <a:lnTo>
                    <a:pt x="5230813" y="285749"/>
                  </a:lnTo>
                  <a:cubicBezTo>
                    <a:pt x="5230813" y="320820"/>
                    <a:pt x="5202382" y="349250"/>
                    <a:pt x="5167312" y="349250"/>
                  </a:cubicBezTo>
                  <a:lnTo>
                    <a:pt x="63501" y="349250"/>
                  </a:lnTo>
                  <a:cubicBezTo>
                    <a:pt x="28430" y="349250"/>
                    <a:pt x="0" y="320820"/>
                    <a:pt x="0" y="285749"/>
                  </a:cubicBezTo>
                  <a:lnTo>
                    <a:pt x="0" y="63501"/>
                  </a:lnTo>
                  <a:cubicBezTo>
                    <a:pt x="0" y="28430"/>
                    <a:pt x="28430" y="0"/>
                    <a:pt x="63501" y="0"/>
                  </a:cubicBezTo>
                  <a:close/>
                </a:path>
              </a:pathLst>
            </a:custGeom>
            <a:solidFill>
              <a:srgbClr val="2C3E50">
                <a:alpha val="10196"/>
              </a:srgbClr>
            </a:solidFill>
          </p:spPr>
        </p:sp>
        <p:sp>
          <p:nvSpPr>
            <p:cNvPr id="18" name="Text 14"/>
            <p:cNvSpPr/>
            <p:nvPr>
              <p:custDataLst>
                <p:tags r:id="rId37"/>
              </p:custDataLst>
            </p:nvPr>
          </p:nvSpPr>
          <p:spPr>
            <a:xfrm>
              <a:off x="634998" y="2889249"/>
              <a:ext cx="1215671" cy="15875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ViT-Base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9" name="Text 15"/>
            <p:cNvSpPr/>
            <p:nvPr>
              <p:custDataLst>
                <p:tags r:id="rId38"/>
              </p:custDataLst>
            </p:nvPr>
          </p:nvSpPr>
          <p:spPr>
            <a:xfrm>
              <a:off x="5011932" y="2897089"/>
              <a:ext cx="719551" cy="1509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12层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0" name="Shape 16"/>
            <p:cNvSpPr/>
            <p:nvPr>
              <p:custDataLst>
                <p:tags r:id="rId39"/>
              </p:custDataLst>
            </p:nvPr>
          </p:nvSpPr>
          <p:spPr>
            <a:xfrm>
              <a:off x="539750" y="3206750"/>
              <a:ext cx="5230813" cy="349250"/>
            </a:xfrm>
            <a:custGeom>
              <a:avLst/>
              <a:gdLst/>
              <a:ahLst/>
              <a:cxnLst/>
              <a:rect l="l" t="t" r="r" b="b"/>
              <a:pathLst>
                <a:path w="5230813" h="349250">
                  <a:moveTo>
                    <a:pt x="63501" y="0"/>
                  </a:moveTo>
                  <a:lnTo>
                    <a:pt x="5167312" y="0"/>
                  </a:lnTo>
                  <a:cubicBezTo>
                    <a:pt x="5202382" y="0"/>
                    <a:pt x="5230813" y="28430"/>
                    <a:pt x="5230813" y="63501"/>
                  </a:cubicBezTo>
                  <a:lnTo>
                    <a:pt x="5230813" y="285749"/>
                  </a:lnTo>
                  <a:cubicBezTo>
                    <a:pt x="5230813" y="320820"/>
                    <a:pt x="5202382" y="349250"/>
                    <a:pt x="5167312" y="349250"/>
                  </a:cubicBezTo>
                  <a:lnTo>
                    <a:pt x="63501" y="349250"/>
                  </a:lnTo>
                  <a:cubicBezTo>
                    <a:pt x="28430" y="349250"/>
                    <a:pt x="0" y="320820"/>
                    <a:pt x="0" y="285749"/>
                  </a:cubicBezTo>
                  <a:lnTo>
                    <a:pt x="0" y="63501"/>
                  </a:lnTo>
                  <a:cubicBezTo>
                    <a:pt x="0" y="28430"/>
                    <a:pt x="28430" y="0"/>
                    <a:pt x="63501" y="0"/>
                  </a:cubicBezTo>
                  <a:close/>
                </a:path>
              </a:pathLst>
            </a:custGeom>
            <a:solidFill>
              <a:srgbClr val="2C3E50">
                <a:alpha val="10196"/>
              </a:srgbClr>
            </a:solidFill>
          </p:spPr>
        </p:sp>
        <p:sp>
          <p:nvSpPr>
            <p:cNvPr id="21" name="Text 17"/>
            <p:cNvSpPr/>
            <p:nvPr>
              <p:custDataLst>
                <p:tags r:id="rId40"/>
              </p:custDataLst>
            </p:nvPr>
          </p:nvSpPr>
          <p:spPr>
            <a:xfrm>
              <a:off x="635000" y="3257901"/>
              <a:ext cx="1317646" cy="2028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ViT-Large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2" name="Text 18"/>
            <p:cNvSpPr/>
            <p:nvPr>
              <p:custDataLst>
                <p:tags r:id="rId41"/>
              </p:custDataLst>
            </p:nvPr>
          </p:nvSpPr>
          <p:spPr>
            <a:xfrm>
              <a:off x="5011932" y="3324050"/>
              <a:ext cx="721920" cy="1367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24层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3" name="Shape 19"/>
            <p:cNvSpPr/>
            <p:nvPr>
              <p:custDataLst>
                <p:tags r:id="rId42"/>
              </p:custDataLst>
            </p:nvPr>
          </p:nvSpPr>
          <p:spPr>
            <a:xfrm>
              <a:off x="539750" y="3619500"/>
              <a:ext cx="5230813" cy="349250"/>
            </a:xfrm>
            <a:custGeom>
              <a:avLst/>
              <a:gdLst/>
              <a:ahLst/>
              <a:cxnLst/>
              <a:rect l="l" t="t" r="r" b="b"/>
              <a:pathLst>
                <a:path w="5230813" h="349250">
                  <a:moveTo>
                    <a:pt x="63501" y="0"/>
                  </a:moveTo>
                  <a:lnTo>
                    <a:pt x="5167312" y="0"/>
                  </a:lnTo>
                  <a:cubicBezTo>
                    <a:pt x="5202382" y="0"/>
                    <a:pt x="5230813" y="28430"/>
                    <a:pt x="5230813" y="63501"/>
                  </a:cubicBezTo>
                  <a:lnTo>
                    <a:pt x="5230813" y="285749"/>
                  </a:lnTo>
                  <a:cubicBezTo>
                    <a:pt x="5230813" y="320820"/>
                    <a:pt x="5202382" y="349250"/>
                    <a:pt x="5167312" y="349250"/>
                  </a:cubicBezTo>
                  <a:lnTo>
                    <a:pt x="63501" y="349250"/>
                  </a:lnTo>
                  <a:cubicBezTo>
                    <a:pt x="28430" y="349250"/>
                    <a:pt x="0" y="320820"/>
                    <a:pt x="0" y="285749"/>
                  </a:cubicBezTo>
                  <a:lnTo>
                    <a:pt x="0" y="63501"/>
                  </a:lnTo>
                  <a:cubicBezTo>
                    <a:pt x="0" y="28430"/>
                    <a:pt x="28430" y="0"/>
                    <a:pt x="63501" y="0"/>
                  </a:cubicBezTo>
                  <a:close/>
                </a:path>
              </a:pathLst>
            </a:custGeom>
            <a:solidFill>
              <a:srgbClr val="2C3E50">
                <a:alpha val="10196"/>
              </a:srgbClr>
            </a:solidFill>
          </p:spPr>
        </p:sp>
        <p:sp>
          <p:nvSpPr>
            <p:cNvPr id="24" name="Text 20"/>
            <p:cNvSpPr/>
            <p:nvPr>
              <p:custDataLst>
                <p:tags r:id="rId43"/>
              </p:custDataLst>
            </p:nvPr>
          </p:nvSpPr>
          <p:spPr>
            <a:xfrm>
              <a:off x="634998" y="3714749"/>
              <a:ext cx="1215669" cy="15875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ViT-Huge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5" name="Text 21"/>
            <p:cNvSpPr/>
            <p:nvPr>
              <p:custDataLst>
                <p:tags r:id="rId44"/>
              </p:custDataLst>
            </p:nvPr>
          </p:nvSpPr>
          <p:spPr>
            <a:xfrm>
              <a:off x="5011933" y="3698876"/>
              <a:ext cx="721700" cy="1746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32层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6" name="Shape 22"/>
            <p:cNvSpPr/>
            <p:nvPr>
              <p:custDataLst>
                <p:tags r:id="rId45"/>
              </p:custDataLst>
            </p:nvPr>
          </p:nvSpPr>
          <p:spPr>
            <a:xfrm>
              <a:off x="321028" y="4321528"/>
              <a:ext cx="5642681" cy="1150056"/>
            </a:xfrm>
            <a:custGeom>
              <a:avLst/>
              <a:gdLst/>
              <a:ahLst/>
              <a:cxnLst/>
              <a:rect l="l" t="t" r="r" b="b"/>
              <a:pathLst>
                <a:path w="5642681" h="1150056">
                  <a:moveTo>
                    <a:pt x="95248" y="0"/>
                  </a:moveTo>
                  <a:lnTo>
                    <a:pt x="5547433" y="0"/>
                  </a:lnTo>
                  <a:cubicBezTo>
                    <a:pt x="5600037" y="0"/>
                    <a:pt x="5642681" y="42644"/>
                    <a:pt x="5642681" y="95248"/>
                  </a:cubicBezTo>
                  <a:lnTo>
                    <a:pt x="5642681" y="1054808"/>
                  </a:lnTo>
                  <a:cubicBezTo>
                    <a:pt x="5642681" y="1107412"/>
                    <a:pt x="5600037" y="1150056"/>
                    <a:pt x="5547433" y="1150056"/>
                  </a:cubicBezTo>
                  <a:lnTo>
                    <a:pt x="95248" y="1150056"/>
                  </a:lnTo>
                  <a:cubicBezTo>
                    <a:pt x="42644" y="1150056"/>
                    <a:pt x="0" y="1107412"/>
                    <a:pt x="0" y="1054808"/>
                  </a:cubicBezTo>
                  <a:lnTo>
                    <a:pt x="0" y="95248"/>
                  </a:lnTo>
                  <a:cubicBezTo>
                    <a:pt x="0" y="42679"/>
                    <a:pt x="42679" y="0"/>
                    <a:pt x="9524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98DB">
                    <a:alpha val="10000"/>
                  </a:srgbClr>
                </a:gs>
                <a:gs pos="100000">
                  <a:srgbClr val="2C3E50">
                    <a:alpha val="10000"/>
                  </a:srgbClr>
                </a:gs>
              </a:gsLst>
              <a:lin ang="0" scaled="1"/>
            </a:gradFill>
            <a:ln w="11289">
              <a:solidFill>
                <a:srgbClr val="3498DB">
                  <a:alpha val="30196"/>
                </a:srgbClr>
              </a:solidFill>
              <a:prstDash val="solid"/>
            </a:ln>
          </p:spPr>
        </p:sp>
        <p:sp>
          <p:nvSpPr>
            <p:cNvPr id="27" name="Shape 23"/>
            <p:cNvSpPr/>
            <p:nvPr>
              <p:custDataLst>
                <p:tags r:id="rId46"/>
              </p:custDataLst>
            </p:nvPr>
          </p:nvSpPr>
          <p:spPr>
            <a:xfrm>
              <a:off x="538868" y="443617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83344" y="0"/>
                  </a:moveTo>
                  <a:cubicBezTo>
                    <a:pt x="96478" y="0"/>
                    <a:pt x="107156" y="8000"/>
                    <a:pt x="107156" y="17859"/>
                  </a:cubicBezTo>
                  <a:cubicBezTo>
                    <a:pt x="107156" y="21729"/>
                    <a:pt x="105519" y="25301"/>
                    <a:pt x="102691" y="28240"/>
                  </a:cubicBezTo>
                  <a:cubicBezTo>
                    <a:pt x="100236" y="30807"/>
                    <a:pt x="98227" y="33933"/>
                    <a:pt x="98227" y="37505"/>
                  </a:cubicBezTo>
                  <a:cubicBezTo>
                    <a:pt x="98227" y="43086"/>
                    <a:pt x="102766" y="47625"/>
                    <a:pt x="108347" y="47625"/>
                  </a:cubicBezTo>
                  <a:lnTo>
                    <a:pt x="125016" y="47625"/>
                  </a:lnTo>
                  <a:cubicBezTo>
                    <a:pt x="134875" y="47625"/>
                    <a:pt x="142875" y="55625"/>
                    <a:pt x="142875" y="65484"/>
                  </a:cubicBezTo>
                  <a:lnTo>
                    <a:pt x="142875" y="82153"/>
                  </a:lnTo>
                  <a:cubicBezTo>
                    <a:pt x="142875" y="87734"/>
                    <a:pt x="147414" y="92273"/>
                    <a:pt x="152995" y="92273"/>
                  </a:cubicBezTo>
                  <a:cubicBezTo>
                    <a:pt x="156530" y="92273"/>
                    <a:pt x="159693" y="90264"/>
                    <a:pt x="162260" y="87809"/>
                  </a:cubicBezTo>
                  <a:cubicBezTo>
                    <a:pt x="165199" y="85018"/>
                    <a:pt x="168771" y="83344"/>
                    <a:pt x="172641" y="83344"/>
                  </a:cubicBezTo>
                  <a:cubicBezTo>
                    <a:pt x="182500" y="83344"/>
                    <a:pt x="190500" y="94022"/>
                    <a:pt x="190500" y="107156"/>
                  </a:cubicBezTo>
                  <a:cubicBezTo>
                    <a:pt x="190500" y="120290"/>
                    <a:pt x="182500" y="130969"/>
                    <a:pt x="172641" y="130969"/>
                  </a:cubicBezTo>
                  <a:cubicBezTo>
                    <a:pt x="168771" y="130969"/>
                    <a:pt x="165162" y="129332"/>
                    <a:pt x="162260" y="126504"/>
                  </a:cubicBezTo>
                  <a:cubicBezTo>
                    <a:pt x="159693" y="124048"/>
                    <a:pt x="156567" y="122039"/>
                    <a:pt x="152995" y="122039"/>
                  </a:cubicBezTo>
                  <a:cubicBezTo>
                    <a:pt x="147414" y="122039"/>
                    <a:pt x="142875" y="126578"/>
                    <a:pt x="142875" y="132159"/>
                  </a:cubicBezTo>
                  <a:lnTo>
                    <a:pt x="142875" y="172641"/>
                  </a:lnTo>
                  <a:cubicBezTo>
                    <a:pt x="142875" y="182500"/>
                    <a:pt x="134875" y="190500"/>
                    <a:pt x="125016" y="190500"/>
                  </a:cubicBezTo>
                  <a:lnTo>
                    <a:pt x="103882" y="190500"/>
                  </a:lnTo>
                  <a:cubicBezTo>
                    <a:pt x="99120" y="190500"/>
                    <a:pt x="95250" y="186630"/>
                    <a:pt x="95250" y="181868"/>
                  </a:cubicBezTo>
                  <a:cubicBezTo>
                    <a:pt x="95250" y="178445"/>
                    <a:pt x="97408" y="175431"/>
                    <a:pt x="100161" y="173385"/>
                  </a:cubicBezTo>
                  <a:cubicBezTo>
                    <a:pt x="104477" y="170148"/>
                    <a:pt x="107156" y="165683"/>
                    <a:pt x="107156" y="160734"/>
                  </a:cubicBezTo>
                  <a:cubicBezTo>
                    <a:pt x="107156" y="150875"/>
                    <a:pt x="96478" y="142875"/>
                    <a:pt x="83344" y="142875"/>
                  </a:cubicBezTo>
                  <a:cubicBezTo>
                    <a:pt x="70210" y="142875"/>
                    <a:pt x="59531" y="150875"/>
                    <a:pt x="59531" y="160734"/>
                  </a:cubicBezTo>
                  <a:cubicBezTo>
                    <a:pt x="59531" y="165683"/>
                    <a:pt x="62210" y="170148"/>
                    <a:pt x="66526" y="173385"/>
                  </a:cubicBezTo>
                  <a:cubicBezTo>
                    <a:pt x="69279" y="175431"/>
                    <a:pt x="71438" y="178408"/>
                    <a:pt x="71438" y="181868"/>
                  </a:cubicBezTo>
                  <a:cubicBezTo>
                    <a:pt x="71438" y="186630"/>
                    <a:pt x="67568" y="190500"/>
                    <a:pt x="62805" y="190500"/>
                  </a:cubicBezTo>
                  <a:lnTo>
                    <a:pt x="17859" y="190500"/>
                  </a:lnTo>
                  <a:cubicBezTo>
                    <a:pt x="8000" y="190500"/>
                    <a:pt x="0" y="182500"/>
                    <a:pt x="0" y="172641"/>
                  </a:cubicBezTo>
                  <a:lnTo>
                    <a:pt x="0" y="127695"/>
                  </a:lnTo>
                  <a:cubicBezTo>
                    <a:pt x="0" y="122932"/>
                    <a:pt x="3870" y="119063"/>
                    <a:pt x="8632" y="119063"/>
                  </a:cubicBezTo>
                  <a:cubicBezTo>
                    <a:pt x="12055" y="119063"/>
                    <a:pt x="15069" y="121221"/>
                    <a:pt x="17115" y="123974"/>
                  </a:cubicBezTo>
                  <a:cubicBezTo>
                    <a:pt x="20352" y="128290"/>
                    <a:pt x="24817" y="130969"/>
                    <a:pt x="29766" y="130969"/>
                  </a:cubicBezTo>
                  <a:cubicBezTo>
                    <a:pt x="39625" y="130969"/>
                    <a:pt x="47625" y="120290"/>
                    <a:pt x="47625" y="107156"/>
                  </a:cubicBezTo>
                  <a:cubicBezTo>
                    <a:pt x="47625" y="94022"/>
                    <a:pt x="39625" y="83344"/>
                    <a:pt x="29766" y="83344"/>
                  </a:cubicBezTo>
                  <a:cubicBezTo>
                    <a:pt x="24817" y="83344"/>
                    <a:pt x="20352" y="86023"/>
                    <a:pt x="17115" y="90339"/>
                  </a:cubicBezTo>
                  <a:cubicBezTo>
                    <a:pt x="15069" y="93092"/>
                    <a:pt x="12092" y="95250"/>
                    <a:pt x="8632" y="95250"/>
                  </a:cubicBezTo>
                  <a:cubicBezTo>
                    <a:pt x="3870" y="95250"/>
                    <a:pt x="0" y="91380"/>
                    <a:pt x="0" y="86618"/>
                  </a:cubicBezTo>
                  <a:lnTo>
                    <a:pt x="0" y="65484"/>
                  </a:lnTo>
                  <a:cubicBezTo>
                    <a:pt x="0" y="55625"/>
                    <a:pt x="8000" y="47625"/>
                    <a:pt x="17859" y="47625"/>
                  </a:cubicBezTo>
                  <a:lnTo>
                    <a:pt x="58341" y="47625"/>
                  </a:lnTo>
                  <a:cubicBezTo>
                    <a:pt x="63922" y="47625"/>
                    <a:pt x="68461" y="43086"/>
                    <a:pt x="68461" y="37505"/>
                  </a:cubicBezTo>
                  <a:cubicBezTo>
                    <a:pt x="68461" y="33970"/>
                    <a:pt x="66452" y="30807"/>
                    <a:pt x="63996" y="28240"/>
                  </a:cubicBezTo>
                  <a:cubicBezTo>
                    <a:pt x="61206" y="25301"/>
                    <a:pt x="59531" y="21729"/>
                    <a:pt x="59531" y="17859"/>
                  </a:cubicBezTo>
                  <a:cubicBezTo>
                    <a:pt x="59531" y="8000"/>
                    <a:pt x="70210" y="0"/>
                    <a:pt x="83344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28" name="Text 24"/>
            <p:cNvSpPr/>
            <p:nvPr>
              <p:custDataLst>
                <p:tags r:id="rId47"/>
              </p:custDataLst>
            </p:nvPr>
          </p:nvSpPr>
          <p:spPr>
            <a:xfrm>
              <a:off x="848431" y="4416776"/>
              <a:ext cx="1121480" cy="22577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模态无关性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9" name="Text 25"/>
            <p:cNvSpPr/>
            <p:nvPr>
              <p:custDataLst>
                <p:tags r:id="rId48"/>
              </p:custDataLst>
            </p:nvPr>
          </p:nvSpPr>
          <p:spPr>
            <a:xfrm>
              <a:off x="515056" y="4864804"/>
              <a:ext cx="5318125" cy="4127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这证明了Transformer的</a:t>
              </a: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通用性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——同一架构可以处理文本、图像等不同模态的数据，只需调整输入方式。</a:t>
              </a:r>
              <a:endParaRPr lang="en-US" sz="1800" dirty="0">
                <a:latin typeface="+mn-ea"/>
                <a:ea typeface="+mn-ea"/>
              </a:endParaRPr>
            </a:p>
          </p:txBody>
        </p:sp>
      </p:grpSp>
      <p:sp>
        <p:nvSpPr>
          <p:cNvPr id="30" name="Shape 26"/>
          <p:cNvSpPr/>
          <p:nvPr>
            <p:custDataLst>
              <p:tags r:id="rId1"/>
            </p:custDataLst>
          </p:nvPr>
        </p:nvSpPr>
        <p:spPr>
          <a:xfrm>
            <a:off x="6272389" y="654950"/>
            <a:ext cx="5659438" cy="5864325"/>
          </a:xfrm>
          <a:custGeom>
            <a:avLst/>
            <a:gdLst/>
            <a:ahLst/>
            <a:cxnLst/>
            <a:rect l="l" t="t" r="r" b="b"/>
            <a:pathLst>
              <a:path w="5659438" h="6032500">
                <a:moveTo>
                  <a:pt x="95248" y="0"/>
                </a:moveTo>
                <a:lnTo>
                  <a:pt x="5564189" y="0"/>
                </a:lnTo>
                <a:cubicBezTo>
                  <a:pt x="5616793" y="0"/>
                  <a:pt x="5659438" y="42644"/>
                  <a:pt x="5659438" y="95248"/>
                </a:cubicBezTo>
                <a:lnTo>
                  <a:pt x="5659438" y="5937252"/>
                </a:lnTo>
                <a:cubicBezTo>
                  <a:pt x="5659438" y="5989856"/>
                  <a:pt x="5616793" y="6032500"/>
                  <a:pt x="5564189" y="6032500"/>
                </a:cubicBezTo>
                <a:lnTo>
                  <a:pt x="95248" y="6032500"/>
                </a:lnTo>
                <a:cubicBezTo>
                  <a:pt x="42644" y="6032500"/>
                  <a:pt x="0" y="5989856"/>
                  <a:pt x="0" y="59372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Text 27"/>
          <p:cNvSpPr/>
          <p:nvPr>
            <p:custDataLst>
              <p:tags r:id="rId2"/>
            </p:custDataLst>
          </p:nvPr>
        </p:nvSpPr>
        <p:spPr>
          <a:xfrm>
            <a:off x="6423201" y="677276"/>
            <a:ext cx="5357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ViT编码器结构</a:t>
            </a:r>
            <a:endParaRPr lang="en-US" sz="2800" dirty="0">
              <a:latin typeface="+mn-ea"/>
              <a:ea typeface="+mn-ea"/>
            </a:endParaRPr>
          </a:p>
        </p:txBody>
      </p:sp>
      <p:sp>
        <p:nvSpPr>
          <p:cNvPr id="32" name="Shape 28"/>
          <p:cNvSpPr/>
          <p:nvPr>
            <p:custDataLst>
              <p:tags r:id="rId3"/>
            </p:custDataLst>
          </p:nvPr>
        </p:nvSpPr>
        <p:spPr>
          <a:xfrm>
            <a:off x="6462889" y="1026526"/>
            <a:ext cx="5278438" cy="508000"/>
          </a:xfrm>
          <a:custGeom>
            <a:avLst/>
            <a:gdLst/>
            <a:ahLst/>
            <a:cxnLst/>
            <a:rect l="l" t="t" r="r" b="b"/>
            <a:pathLst>
              <a:path w="5278438" h="508000">
                <a:moveTo>
                  <a:pt x="63500" y="0"/>
                </a:moveTo>
                <a:lnTo>
                  <a:pt x="5214938" y="0"/>
                </a:lnTo>
                <a:cubicBezTo>
                  <a:pt x="5249984" y="0"/>
                  <a:pt x="5278438" y="28453"/>
                  <a:pt x="5278438" y="63500"/>
                </a:cubicBezTo>
                <a:lnTo>
                  <a:pt x="5278438" y="444500"/>
                </a:lnTo>
                <a:cubicBezTo>
                  <a:pt x="5278438" y="479547"/>
                  <a:pt x="5249984" y="508000"/>
                  <a:pt x="521493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98DB"/>
              </a:gs>
              <a:gs pos="100000">
                <a:srgbClr val="2C3E50"/>
              </a:gs>
            </a:gsLst>
            <a:lin ang="0" scaled="1"/>
          </a:gradFill>
        </p:spPr>
      </p:sp>
      <p:sp>
        <p:nvSpPr>
          <p:cNvPr id="33" name="Text 29"/>
          <p:cNvSpPr/>
          <p:nvPr>
            <p:custDataLst>
              <p:tags r:id="rId4"/>
            </p:custDataLst>
          </p:nvPr>
        </p:nvSpPr>
        <p:spPr>
          <a:xfrm>
            <a:off x="6521913" y="1036254"/>
            <a:ext cx="5151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输出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34" name="Text 30"/>
          <p:cNvSpPr/>
          <p:nvPr>
            <p:custDataLst>
              <p:tags r:id="rId5"/>
            </p:custDataLst>
          </p:nvPr>
        </p:nvSpPr>
        <p:spPr>
          <a:xfrm>
            <a:off x="6534326" y="1312276"/>
            <a:ext cx="5135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+mn-ea"/>
                <a:ea typeface="+mn-ea"/>
                <a:cs typeface="MiSans" pitchFamily="34" charset="-120"/>
              </a:rPr>
              <a:t>[batch, 197, hidden]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35" name="Shape 31"/>
          <p:cNvSpPr/>
          <p:nvPr>
            <p:custDataLst>
              <p:tags r:id="rId6"/>
            </p:custDataLst>
          </p:nvPr>
        </p:nvSpPr>
        <p:spPr>
          <a:xfrm rot="10800000">
            <a:off x="9048695" y="1629729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36" name="Shape 32"/>
          <p:cNvSpPr/>
          <p:nvPr>
            <p:custDataLst>
              <p:tags r:id="rId7"/>
            </p:custDataLst>
          </p:nvPr>
        </p:nvSpPr>
        <p:spPr>
          <a:xfrm>
            <a:off x="6469944" y="1874910"/>
            <a:ext cx="5260799" cy="458611"/>
          </a:xfrm>
          <a:custGeom>
            <a:avLst/>
            <a:gdLst/>
            <a:ahLst/>
            <a:cxnLst/>
            <a:rect l="l" t="t" r="r" b="b"/>
            <a:pathLst>
              <a:path w="5260799" h="458611">
                <a:moveTo>
                  <a:pt x="63499" y="0"/>
                </a:moveTo>
                <a:lnTo>
                  <a:pt x="5197299" y="0"/>
                </a:lnTo>
                <a:cubicBezTo>
                  <a:pt x="5232369" y="0"/>
                  <a:pt x="5260799" y="28430"/>
                  <a:pt x="5260799" y="63499"/>
                </a:cubicBezTo>
                <a:lnTo>
                  <a:pt x="5260799" y="395112"/>
                </a:lnTo>
                <a:cubicBezTo>
                  <a:pt x="5260799" y="430182"/>
                  <a:pt x="5232369" y="458611"/>
                  <a:pt x="5197299" y="458611"/>
                </a:cubicBezTo>
                <a:lnTo>
                  <a:pt x="63499" y="458611"/>
                </a:lnTo>
                <a:cubicBezTo>
                  <a:pt x="28430" y="458611"/>
                  <a:pt x="0" y="430182"/>
                  <a:pt x="0" y="395112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 w="22578">
            <a:solidFill>
              <a:srgbClr val="2C3E50"/>
            </a:solidFill>
            <a:prstDash val="solid"/>
          </a:ln>
        </p:spPr>
      </p:sp>
      <p:sp>
        <p:nvSpPr>
          <p:cNvPr id="37" name="Text 33"/>
          <p:cNvSpPr/>
          <p:nvPr>
            <p:custDataLst>
              <p:tags r:id="rId8"/>
            </p:custDataLst>
          </p:nvPr>
        </p:nvSpPr>
        <p:spPr>
          <a:xfrm>
            <a:off x="6540500" y="1977212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Layer Norm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38" name="Shape 34"/>
          <p:cNvSpPr/>
          <p:nvPr>
            <p:custDataLst>
              <p:tags r:id="rId9"/>
            </p:custDataLst>
          </p:nvPr>
        </p:nvSpPr>
        <p:spPr>
          <a:xfrm rot="10800000">
            <a:off x="9048695" y="243582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39" name="Shape 35"/>
          <p:cNvSpPr/>
          <p:nvPr>
            <p:custDataLst>
              <p:tags r:id="rId10"/>
            </p:custDataLst>
          </p:nvPr>
        </p:nvSpPr>
        <p:spPr>
          <a:xfrm>
            <a:off x="6469944" y="2681000"/>
            <a:ext cx="5260799" cy="585611"/>
          </a:xfrm>
          <a:custGeom>
            <a:avLst/>
            <a:gdLst/>
            <a:ahLst/>
            <a:cxnLst/>
            <a:rect l="l" t="t" r="r" b="b"/>
            <a:pathLst>
              <a:path w="5260799" h="585611">
                <a:moveTo>
                  <a:pt x="63498" y="0"/>
                </a:moveTo>
                <a:lnTo>
                  <a:pt x="5197301" y="0"/>
                </a:lnTo>
                <a:cubicBezTo>
                  <a:pt x="5232370" y="0"/>
                  <a:pt x="5260799" y="28429"/>
                  <a:pt x="5260799" y="63498"/>
                </a:cubicBezTo>
                <a:lnTo>
                  <a:pt x="5260799" y="522113"/>
                </a:lnTo>
                <a:cubicBezTo>
                  <a:pt x="5260799" y="557182"/>
                  <a:pt x="5232370" y="585611"/>
                  <a:pt x="5197301" y="585611"/>
                </a:cubicBezTo>
                <a:lnTo>
                  <a:pt x="63498" y="585611"/>
                </a:lnTo>
                <a:cubicBezTo>
                  <a:pt x="28429" y="585611"/>
                  <a:pt x="0" y="557182"/>
                  <a:pt x="0" y="522113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 w="22578">
            <a:solidFill>
              <a:srgbClr val="3498DB"/>
            </a:solidFill>
            <a:prstDash val="solid"/>
          </a:ln>
        </p:spPr>
      </p:sp>
      <p:sp>
        <p:nvSpPr>
          <p:cNvPr id="40" name="Text 36"/>
          <p:cNvSpPr/>
          <p:nvPr>
            <p:custDataLst>
              <p:tags r:id="rId11"/>
            </p:custDataLst>
          </p:nvPr>
        </p:nvSpPr>
        <p:spPr>
          <a:xfrm>
            <a:off x="6549732" y="2731298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498DB"/>
                </a:solidFill>
                <a:latin typeface="+mn-ea"/>
                <a:ea typeface="+mn-ea"/>
                <a:cs typeface="MiSans" pitchFamily="34" charset="-120"/>
              </a:rPr>
              <a:t>MLP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1" name="Text 37"/>
          <p:cNvSpPr/>
          <p:nvPr>
            <p:custDataLst>
              <p:tags r:id="rId12"/>
            </p:custDataLst>
          </p:nvPr>
        </p:nvSpPr>
        <p:spPr>
          <a:xfrm>
            <a:off x="6548437" y="3037302"/>
            <a:ext cx="51038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FC → GELU → FC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2" name="Shape 38"/>
          <p:cNvSpPr/>
          <p:nvPr>
            <p:custDataLst>
              <p:tags r:id="rId13"/>
            </p:custDataLst>
          </p:nvPr>
        </p:nvSpPr>
        <p:spPr>
          <a:xfrm rot="10800000">
            <a:off x="9048695" y="3368864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43" name="Shape 39"/>
          <p:cNvSpPr/>
          <p:nvPr>
            <p:custDataLst>
              <p:tags r:id="rId14"/>
            </p:custDataLst>
          </p:nvPr>
        </p:nvSpPr>
        <p:spPr>
          <a:xfrm>
            <a:off x="6469944" y="3614044"/>
            <a:ext cx="5260799" cy="458611"/>
          </a:xfrm>
          <a:custGeom>
            <a:avLst/>
            <a:gdLst/>
            <a:ahLst/>
            <a:cxnLst/>
            <a:rect l="l" t="t" r="r" b="b"/>
            <a:pathLst>
              <a:path w="5260799" h="458611">
                <a:moveTo>
                  <a:pt x="63499" y="0"/>
                </a:moveTo>
                <a:lnTo>
                  <a:pt x="5197299" y="0"/>
                </a:lnTo>
                <a:cubicBezTo>
                  <a:pt x="5232369" y="0"/>
                  <a:pt x="5260799" y="28430"/>
                  <a:pt x="5260799" y="63499"/>
                </a:cubicBezTo>
                <a:lnTo>
                  <a:pt x="5260799" y="395112"/>
                </a:lnTo>
                <a:cubicBezTo>
                  <a:pt x="5260799" y="430182"/>
                  <a:pt x="5232369" y="458611"/>
                  <a:pt x="5197299" y="458611"/>
                </a:cubicBezTo>
                <a:lnTo>
                  <a:pt x="63499" y="458611"/>
                </a:lnTo>
                <a:cubicBezTo>
                  <a:pt x="28430" y="458611"/>
                  <a:pt x="0" y="430182"/>
                  <a:pt x="0" y="395112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 w="22578">
            <a:solidFill>
              <a:srgbClr val="2C3E50"/>
            </a:solidFill>
            <a:prstDash val="solid"/>
          </a:ln>
        </p:spPr>
      </p:sp>
      <p:sp>
        <p:nvSpPr>
          <p:cNvPr id="44" name="Text 40"/>
          <p:cNvSpPr/>
          <p:nvPr>
            <p:custDataLst>
              <p:tags r:id="rId15"/>
            </p:custDataLst>
          </p:nvPr>
        </p:nvSpPr>
        <p:spPr>
          <a:xfrm>
            <a:off x="6540500" y="3716346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C3E50"/>
                </a:solidFill>
                <a:latin typeface="+mn-ea"/>
                <a:ea typeface="+mn-ea"/>
                <a:cs typeface="MiSans" pitchFamily="34" charset="-120"/>
              </a:rPr>
              <a:t>残差连接 + Layer Norm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5" name="Shape 41"/>
          <p:cNvSpPr/>
          <p:nvPr>
            <p:custDataLst>
              <p:tags r:id="rId16"/>
            </p:custDataLst>
          </p:nvPr>
        </p:nvSpPr>
        <p:spPr>
          <a:xfrm rot="10800000">
            <a:off x="9048695" y="4174954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46" name="Shape 42"/>
          <p:cNvSpPr/>
          <p:nvPr>
            <p:custDataLst>
              <p:tags r:id="rId17"/>
            </p:custDataLst>
          </p:nvPr>
        </p:nvSpPr>
        <p:spPr>
          <a:xfrm>
            <a:off x="6469944" y="4420135"/>
            <a:ext cx="5260799" cy="585611"/>
          </a:xfrm>
          <a:custGeom>
            <a:avLst/>
            <a:gdLst/>
            <a:ahLst/>
            <a:cxnLst/>
            <a:rect l="l" t="t" r="r" b="b"/>
            <a:pathLst>
              <a:path w="5260799" h="585611">
                <a:moveTo>
                  <a:pt x="63498" y="0"/>
                </a:moveTo>
                <a:lnTo>
                  <a:pt x="5197301" y="0"/>
                </a:lnTo>
                <a:cubicBezTo>
                  <a:pt x="5232370" y="0"/>
                  <a:pt x="5260799" y="28429"/>
                  <a:pt x="5260799" y="63498"/>
                </a:cubicBezTo>
                <a:lnTo>
                  <a:pt x="5260799" y="522113"/>
                </a:lnTo>
                <a:cubicBezTo>
                  <a:pt x="5260799" y="557182"/>
                  <a:pt x="5232370" y="585611"/>
                  <a:pt x="5197301" y="585611"/>
                </a:cubicBezTo>
                <a:lnTo>
                  <a:pt x="63498" y="585611"/>
                </a:lnTo>
                <a:cubicBezTo>
                  <a:pt x="28429" y="585611"/>
                  <a:pt x="0" y="557182"/>
                  <a:pt x="0" y="522113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 w="22578">
            <a:solidFill>
              <a:srgbClr val="3498DB"/>
            </a:solidFill>
            <a:prstDash val="solid"/>
          </a:ln>
        </p:spPr>
      </p:sp>
      <p:sp>
        <p:nvSpPr>
          <p:cNvPr id="47" name="Text 43"/>
          <p:cNvSpPr/>
          <p:nvPr>
            <p:custDataLst>
              <p:tags r:id="rId18"/>
            </p:custDataLst>
          </p:nvPr>
        </p:nvSpPr>
        <p:spPr>
          <a:xfrm>
            <a:off x="6540500" y="4474809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498DB"/>
                </a:solidFill>
                <a:latin typeface="+mn-ea"/>
                <a:ea typeface="+mn-ea"/>
                <a:cs typeface="MiSans" pitchFamily="34" charset="-120"/>
              </a:rPr>
              <a:t>MSA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8" name="Text 44"/>
          <p:cNvSpPr/>
          <p:nvPr>
            <p:custDataLst>
              <p:tags r:id="rId19"/>
            </p:custDataLst>
          </p:nvPr>
        </p:nvSpPr>
        <p:spPr>
          <a:xfrm>
            <a:off x="6548437" y="4776452"/>
            <a:ext cx="51038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Multi-Head Self-Attention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49" name="Shape 45"/>
          <p:cNvSpPr/>
          <p:nvPr>
            <p:custDataLst>
              <p:tags r:id="rId20"/>
            </p:custDataLst>
          </p:nvPr>
        </p:nvSpPr>
        <p:spPr>
          <a:xfrm rot="10800000">
            <a:off x="9048695" y="510799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3498DB"/>
          </a:solidFill>
        </p:spPr>
      </p:sp>
      <p:sp>
        <p:nvSpPr>
          <p:cNvPr id="50" name="Shape 46"/>
          <p:cNvSpPr/>
          <p:nvPr>
            <p:custDataLst>
              <p:tags r:id="rId21"/>
            </p:custDataLst>
          </p:nvPr>
        </p:nvSpPr>
        <p:spPr>
          <a:xfrm>
            <a:off x="6462889" y="5346123"/>
            <a:ext cx="5278438" cy="508000"/>
          </a:xfrm>
          <a:custGeom>
            <a:avLst/>
            <a:gdLst/>
            <a:ahLst/>
            <a:cxnLst/>
            <a:rect l="l" t="t" r="r" b="b"/>
            <a:pathLst>
              <a:path w="5278438" h="508000">
                <a:moveTo>
                  <a:pt x="63500" y="0"/>
                </a:moveTo>
                <a:lnTo>
                  <a:pt x="5214938" y="0"/>
                </a:lnTo>
                <a:cubicBezTo>
                  <a:pt x="5249984" y="0"/>
                  <a:pt x="5278438" y="28453"/>
                  <a:pt x="5278438" y="63500"/>
                </a:cubicBezTo>
                <a:lnTo>
                  <a:pt x="5278438" y="444500"/>
                </a:lnTo>
                <a:cubicBezTo>
                  <a:pt x="5278438" y="479547"/>
                  <a:pt x="5249984" y="508000"/>
                  <a:pt x="521493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F8C8D">
              <a:alpha val="10196"/>
            </a:srgbClr>
          </a:solidFill>
        </p:spPr>
      </p:sp>
      <p:sp>
        <p:nvSpPr>
          <p:cNvPr id="51" name="Text 47"/>
          <p:cNvSpPr/>
          <p:nvPr>
            <p:custDataLst>
              <p:tags r:id="rId22"/>
            </p:custDataLst>
          </p:nvPr>
        </p:nvSpPr>
        <p:spPr>
          <a:xfrm>
            <a:off x="6537752" y="5362809"/>
            <a:ext cx="5151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输入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52" name="Text 48"/>
          <p:cNvSpPr/>
          <p:nvPr>
            <p:custDataLst>
              <p:tags r:id="rId23"/>
            </p:custDataLst>
          </p:nvPr>
        </p:nvSpPr>
        <p:spPr>
          <a:xfrm>
            <a:off x="6534326" y="5631873"/>
            <a:ext cx="5135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+mn-ea"/>
                <a:ea typeface="+mn-ea"/>
                <a:cs typeface="MiSans" pitchFamily="34" charset="-120"/>
              </a:rPr>
              <a:t>[batch, 197, hidden]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53" name="Shape 49"/>
          <p:cNvSpPr/>
          <p:nvPr>
            <p:custDataLst>
              <p:tags r:id="rId24"/>
            </p:custDataLst>
          </p:nvPr>
        </p:nvSpPr>
        <p:spPr>
          <a:xfrm>
            <a:off x="6462889" y="5949326"/>
            <a:ext cx="5278438" cy="381000"/>
          </a:xfrm>
          <a:custGeom>
            <a:avLst/>
            <a:gdLst/>
            <a:ahLst/>
            <a:cxnLst/>
            <a:rect l="l" t="t" r="r" b="b"/>
            <a:pathLst>
              <a:path w="5278438" h="381000">
                <a:moveTo>
                  <a:pt x="63501" y="0"/>
                </a:moveTo>
                <a:lnTo>
                  <a:pt x="5214936" y="0"/>
                </a:lnTo>
                <a:cubicBezTo>
                  <a:pt x="5250007" y="0"/>
                  <a:pt x="5278438" y="28430"/>
                  <a:pt x="5278438" y="63501"/>
                </a:cubicBezTo>
                <a:lnTo>
                  <a:pt x="5278438" y="317499"/>
                </a:lnTo>
                <a:cubicBezTo>
                  <a:pt x="5278438" y="352570"/>
                  <a:pt x="5250007" y="381000"/>
                  <a:pt x="5214936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498DB"/>
              </a:gs>
              <a:gs pos="100000">
                <a:srgbClr val="2C3E50"/>
              </a:gs>
            </a:gsLst>
            <a:lin ang="0" scaled="1"/>
          </a:gradFill>
        </p:spPr>
      </p:sp>
      <p:sp>
        <p:nvSpPr>
          <p:cNvPr id="54" name="Text 50"/>
          <p:cNvSpPr/>
          <p:nvPr>
            <p:custDataLst>
              <p:tags r:id="rId25"/>
            </p:custDataLst>
          </p:nvPr>
        </p:nvSpPr>
        <p:spPr>
          <a:xfrm>
            <a:off x="6526389" y="6044576"/>
            <a:ext cx="5151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ea typeface="+mn-ea"/>
                <a:cs typeface="MiSans" pitchFamily="34" charset="-120"/>
              </a:rPr>
              <a:t>重复 × L 层</a:t>
            </a:r>
            <a:endParaRPr lang="en-US" sz="1800" dirty="0">
              <a:latin typeface="+mn-ea"/>
              <a:ea typeface="+mn-ea"/>
            </a:endParaRPr>
          </a:p>
        </p:txBody>
      </p:sp>
      <p:sp>
        <p:nvSpPr>
          <p:cNvPr id="55" name="灯片编号占位符 52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646331"/>
          </a:xfrm>
        </p:spPr>
        <p:txBody>
          <a:bodyPr/>
          <a:lstStyle/>
          <a:p>
            <a:r>
              <a:rPr lang="zh-CN" altLang="en-US"/>
              <a:t>ViT相比CNN的优势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38F0F74-8BCB-44F5-85A9-A3742BB9E34E}"/>
              </a:ext>
            </a:extLst>
          </p:cNvPr>
          <p:cNvGrpSpPr/>
          <p:nvPr/>
        </p:nvGrpSpPr>
        <p:grpSpPr>
          <a:xfrm>
            <a:off x="118542" y="872716"/>
            <a:ext cx="11953327" cy="5646617"/>
            <a:chOff x="385233" y="1143000"/>
            <a:chExt cx="11425767" cy="5376333"/>
          </a:xfrm>
        </p:grpSpPr>
        <p:sp>
          <p:nvSpPr>
            <p:cNvPr id="6" name="Shape 4"/>
            <p:cNvSpPr/>
            <p:nvPr>
              <p:custDataLst>
                <p:tags r:id="rId2"/>
              </p:custDataLst>
            </p:nvPr>
          </p:nvSpPr>
          <p:spPr>
            <a:xfrm>
              <a:off x="400050" y="1143000"/>
              <a:ext cx="5581650" cy="2124075"/>
            </a:xfrm>
            <a:custGeom>
              <a:avLst/>
              <a:gdLst/>
              <a:ahLst/>
              <a:cxnLst/>
              <a:rect l="l" t="t" r="r" b="b"/>
              <a:pathLst>
                <a:path w="5581650" h="2124075">
                  <a:moveTo>
                    <a:pt x="38100" y="0"/>
                  </a:moveTo>
                  <a:lnTo>
                    <a:pt x="5467354" y="0"/>
                  </a:lnTo>
                  <a:cubicBezTo>
                    <a:pt x="5530478" y="0"/>
                    <a:pt x="5581650" y="51172"/>
                    <a:pt x="5581650" y="114296"/>
                  </a:cubicBezTo>
                  <a:lnTo>
                    <a:pt x="5581650" y="2009779"/>
                  </a:lnTo>
                  <a:cubicBezTo>
                    <a:pt x="5581650" y="2072903"/>
                    <a:pt x="5530478" y="2124075"/>
                    <a:pt x="5467354" y="2124075"/>
                  </a:cubicBez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" name="Shape 5"/>
            <p:cNvSpPr/>
            <p:nvPr>
              <p:custDataLst>
                <p:tags r:id="rId3"/>
              </p:custDataLst>
            </p:nvPr>
          </p:nvSpPr>
          <p:spPr>
            <a:xfrm>
              <a:off x="400050" y="1143000"/>
              <a:ext cx="38100" cy="2124075"/>
            </a:xfrm>
            <a:custGeom>
              <a:avLst/>
              <a:gdLst/>
              <a:ahLst/>
              <a:cxnLst/>
              <a:rect l="l" t="t" r="r" b="b"/>
              <a:pathLst>
                <a:path w="38100" h="2124075">
                  <a:moveTo>
                    <a:pt x="38100" y="0"/>
                  </a:moveTo>
                  <a:lnTo>
                    <a:pt x="38100" y="0"/>
                  </a:lnTo>
                  <a:lnTo>
                    <a:pt x="38100" y="2124075"/>
                  </a:ln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8" name="Shape 6"/>
            <p:cNvSpPr/>
            <p:nvPr>
              <p:custDataLst>
                <p:tags r:id="rId4"/>
              </p:custDataLst>
            </p:nvPr>
          </p:nvSpPr>
          <p:spPr>
            <a:xfrm>
              <a:off x="6477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3498DB">
                <a:alpha val="10196"/>
              </a:srgbClr>
            </a:solidFill>
          </p:spPr>
        </p:sp>
        <p:sp>
          <p:nvSpPr>
            <p:cNvPr id="9" name="Shape 7"/>
            <p:cNvSpPr/>
            <p:nvPr>
              <p:custDataLst>
                <p:tags r:id="rId5"/>
              </p:custDataLst>
            </p:nvPr>
          </p:nvSpPr>
          <p:spPr>
            <a:xfrm>
              <a:off x="792956" y="15049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62508" y="11906"/>
                  </a:moveTo>
                  <a:lnTo>
                    <a:pt x="8930" y="11906"/>
                  </a:lnTo>
                  <a:cubicBezTo>
                    <a:pt x="3981" y="11906"/>
                    <a:pt x="0" y="15887"/>
                    <a:pt x="0" y="20836"/>
                  </a:cubicBezTo>
                  <a:lnTo>
                    <a:pt x="0" y="74414"/>
                  </a:lnTo>
                  <a:cubicBezTo>
                    <a:pt x="0" y="78023"/>
                    <a:pt x="2158" y="81297"/>
                    <a:pt x="5507" y="82674"/>
                  </a:cubicBezTo>
                  <a:cubicBezTo>
                    <a:pt x="8855" y="84051"/>
                    <a:pt x="12688" y="83269"/>
                    <a:pt x="15255" y="80739"/>
                  </a:cubicBezTo>
                  <a:lnTo>
                    <a:pt x="30138" y="65856"/>
                  </a:lnTo>
                  <a:lnTo>
                    <a:pt x="59531" y="95250"/>
                  </a:lnTo>
                  <a:lnTo>
                    <a:pt x="30138" y="124644"/>
                  </a:lnTo>
                  <a:lnTo>
                    <a:pt x="15255" y="109761"/>
                  </a:lnTo>
                  <a:cubicBezTo>
                    <a:pt x="12688" y="107193"/>
                    <a:pt x="8855" y="106449"/>
                    <a:pt x="5507" y="107826"/>
                  </a:cubicBezTo>
                  <a:cubicBezTo>
                    <a:pt x="2158" y="109203"/>
                    <a:pt x="0" y="112477"/>
                    <a:pt x="0" y="116086"/>
                  </a:cubicBezTo>
                  <a:lnTo>
                    <a:pt x="0" y="169664"/>
                  </a:lnTo>
                  <a:cubicBezTo>
                    <a:pt x="0" y="174613"/>
                    <a:pt x="3981" y="178594"/>
                    <a:pt x="8930" y="178594"/>
                  </a:cubicBezTo>
                  <a:lnTo>
                    <a:pt x="62508" y="178594"/>
                  </a:lnTo>
                  <a:cubicBezTo>
                    <a:pt x="66117" y="178594"/>
                    <a:pt x="69391" y="176436"/>
                    <a:pt x="70768" y="173087"/>
                  </a:cubicBezTo>
                  <a:cubicBezTo>
                    <a:pt x="72144" y="169738"/>
                    <a:pt x="71400" y="165906"/>
                    <a:pt x="68833" y="163339"/>
                  </a:cubicBezTo>
                  <a:lnTo>
                    <a:pt x="53950" y="148456"/>
                  </a:lnTo>
                  <a:lnTo>
                    <a:pt x="83344" y="119063"/>
                  </a:lnTo>
                  <a:lnTo>
                    <a:pt x="112737" y="148456"/>
                  </a:lnTo>
                  <a:lnTo>
                    <a:pt x="97854" y="163339"/>
                  </a:lnTo>
                  <a:cubicBezTo>
                    <a:pt x="95287" y="165906"/>
                    <a:pt x="94543" y="169738"/>
                    <a:pt x="95920" y="173087"/>
                  </a:cubicBezTo>
                  <a:cubicBezTo>
                    <a:pt x="97296" y="176436"/>
                    <a:pt x="100571" y="178594"/>
                    <a:pt x="104180" y="178594"/>
                  </a:cubicBezTo>
                  <a:lnTo>
                    <a:pt x="157758" y="178594"/>
                  </a:lnTo>
                  <a:cubicBezTo>
                    <a:pt x="162706" y="178594"/>
                    <a:pt x="166688" y="174613"/>
                    <a:pt x="166688" y="169664"/>
                  </a:cubicBezTo>
                  <a:lnTo>
                    <a:pt x="166688" y="116086"/>
                  </a:lnTo>
                  <a:cubicBezTo>
                    <a:pt x="166688" y="112477"/>
                    <a:pt x="164529" y="109203"/>
                    <a:pt x="161181" y="107826"/>
                  </a:cubicBezTo>
                  <a:cubicBezTo>
                    <a:pt x="157832" y="106449"/>
                    <a:pt x="154000" y="107193"/>
                    <a:pt x="151433" y="109761"/>
                  </a:cubicBezTo>
                  <a:lnTo>
                    <a:pt x="136550" y="124644"/>
                  </a:lnTo>
                  <a:lnTo>
                    <a:pt x="107156" y="95250"/>
                  </a:lnTo>
                  <a:lnTo>
                    <a:pt x="136550" y="65856"/>
                  </a:lnTo>
                  <a:lnTo>
                    <a:pt x="151433" y="80739"/>
                  </a:lnTo>
                  <a:cubicBezTo>
                    <a:pt x="154000" y="83307"/>
                    <a:pt x="157832" y="84051"/>
                    <a:pt x="161181" y="82674"/>
                  </a:cubicBezTo>
                  <a:cubicBezTo>
                    <a:pt x="164529" y="81297"/>
                    <a:pt x="166688" y="78023"/>
                    <a:pt x="166688" y="74414"/>
                  </a:cubicBezTo>
                  <a:lnTo>
                    <a:pt x="166688" y="20836"/>
                  </a:lnTo>
                  <a:cubicBezTo>
                    <a:pt x="166688" y="15887"/>
                    <a:pt x="162706" y="11906"/>
                    <a:pt x="157758" y="11906"/>
                  </a:cubicBezTo>
                  <a:lnTo>
                    <a:pt x="104180" y="11906"/>
                  </a:lnTo>
                  <a:cubicBezTo>
                    <a:pt x="100571" y="11906"/>
                    <a:pt x="97296" y="14064"/>
                    <a:pt x="95920" y="17413"/>
                  </a:cubicBezTo>
                  <a:cubicBezTo>
                    <a:pt x="94543" y="20762"/>
                    <a:pt x="95324" y="24594"/>
                    <a:pt x="97854" y="27161"/>
                  </a:cubicBezTo>
                  <a:lnTo>
                    <a:pt x="112737" y="42044"/>
                  </a:lnTo>
                  <a:lnTo>
                    <a:pt x="83344" y="71438"/>
                  </a:lnTo>
                  <a:lnTo>
                    <a:pt x="53950" y="42044"/>
                  </a:lnTo>
                  <a:lnTo>
                    <a:pt x="68833" y="27161"/>
                  </a:lnTo>
                  <a:cubicBezTo>
                    <a:pt x="71400" y="24594"/>
                    <a:pt x="72144" y="20762"/>
                    <a:pt x="70768" y="17413"/>
                  </a:cubicBezTo>
                  <a:cubicBezTo>
                    <a:pt x="69391" y="14064"/>
                    <a:pt x="66117" y="11906"/>
                    <a:pt x="62508" y="11906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10" name="Text 8"/>
            <p:cNvSpPr/>
            <p:nvPr>
              <p:custDataLst>
                <p:tags r:id="rId6"/>
              </p:custDataLst>
            </p:nvPr>
          </p:nvSpPr>
          <p:spPr>
            <a:xfrm>
              <a:off x="1219199" y="1466850"/>
              <a:ext cx="1706314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处理不同尺寸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1" name="Text 9"/>
            <p:cNvSpPr/>
            <p:nvPr>
              <p:custDataLst>
                <p:tags r:id="rId7"/>
              </p:custDataLst>
            </p:nvPr>
          </p:nvSpPr>
          <p:spPr>
            <a:xfrm>
              <a:off x="647700" y="1981200"/>
              <a:ext cx="5181600" cy="5238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ViT可以</a:t>
              </a: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灵活处理不同尺寸的图像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，只需调整Patch数量，无需修改网络结构。CNN需要固定输入尺寸。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2" name="Shape 10"/>
            <p:cNvSpPr/>
            <p:nvPr>
              <p:custDataLst>
                <p:tags r:id="rId8"/>
              </p:custDataLst>
            </p:nvPr>
          </p:nvSpPr>
          <p:spPr>
            <a:xfrm>
              <a:off x="647700" y="2620435"/>
              <a:ext cx="5105400" cy="419100"/>
            </a:xfrm>
            <a:custGeom>
              <a:avLst/>
              <a:gdLst/>
              <a:ahLst/>
              <a:cxnLst/>
              <a:rect l="l" t="t" r="r" b="b"/>
              <a:pathLst>
                <a:path w="5105400" h="419100">
                  <a:moveTo>
                    <a:pt x="76201" y="0"/>
                  </a:moveTo>
                  <a:lnTo>
                    <a:pt x="5029199" y="0"/>
                  </a:lnTo>
                  <a:cubicBezTo>
                    <a:pt x="5071284" y="0"/>
                    <a:pt x="5105400" y="34116"/>
                    <a:pt x="5105400" y="76201"/>
                  </a:cubicBezTo>
                  <a:lnTo>
                    <a:pt x="5105400" y="342899"/>
                  </a:lnTo>
                  <a:cubicBezTo>
                    <a:pt x="5105400" y="384984"/>
                    <a:pt x="5071284" y="419100"/>
                    <a:pt x="5029199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3498DB">
                <a:alpha val="10196"/>
              </a:srgbClr>
            </a:solidFill>
          </p:spPr>
        </p:sp>
        <p:sp>
          <p:nvSpPr>
            <p:cNvPr id="13" name="Text 11"/>
            <p:cNvSpPr/>
            <p:nvPr>
              <p:custDataLst>
                <p:tags r:id="rId9"/>
              </p:custDataLst>
            </p:nvPr>
          </p:nvSpPr>
          <p:spPr>
            <a:xfrm>
              <a:off x="762000" y="2734735"/>
              <a:ext cx="49434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dirty="0">
                  <a:solidFill>
                    <a:srgbClr val="7F8C8D"/>
                  </a:solidFill>
                  <a:latin typeface="+mn-ea"/>
                  <a:ea typeface="+mn-ea"/>
                  <a:cs typeface="MiSans" pitchFamily="34" charset="-120"/>
                </a:rPr>
                <a:t>例如：224×224和384×384使用相同的ViT模型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14" name="Shape 12"/>
            <p:cNvSpPr/>
            <p:nvPr>
              <p:custDataLst>
                <p:tags r:id="rId10"/>
              </p:custDataLst>
            </p:nvPr>
          </p:nvSpPr>
          <p:spPr>
            <a:xfrm>
              <a:off x="6229350" y="1143000"/>
              <a:ext cx="5581650" cy="2124075"/>
            </a:xfrm>
            <a:custGeom>
              <a:avLst/>
              <a:gdLst/>
              <a:ahLst/>
              <a:cxnLst/>
              <a:rect l="l" t="t" r="r" b="b"/>
              <a:pathLst>
                <a:path w="5581650" h="2124075">
                  <a:moveTo>
                    <a:pt x="38100" y="0"/>
                  </a:moveTo>
                  <a:lnTo>
                    <a:pt x="5467354" y="0"/>
                  </a:lnTo>
                  <a:cubicBezTo>
                    <a:pt x="5530478" y="0"/>
                    <a:pt x="5581650" y="51172"/>
                    <a:pt x="5581650" y="114296"/>
                  </a:cubicBezTo>
                  <a:lnTo>
                    <a:pt x="5581650" y="2009779"/>
                  </a:lnTo>
                  <a:cubicBezTo>
                    <a:pt x="5581650" y="2072903"/>
                    <a:pt x="5530478" y="2124075"/>
                    <a:pt x="5467354" y="2124075"/>
                  </a:cubicBez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5" name="Shape 13"/>
            <p:cNvSpPr/>
            <p:nvPr>
              <p:custDataLst>
                <p:tags r:id="rId11"/>
              </p:custDataLst>
            </p:nvPr>
          </p:nvSpPr>
          <p:spPr>
            <a:xfrm>
              <a:off x="6229350" y="1143000"/>
              <a:ext cx="38100" cy="2124075"/>
            </a:xfrm>
            <a:custGeom>
              <a:avLst/>
              <a:gdLst/>
              <a:ahLst/>
              <a:cxnLst/>
              <a:rect l="l" t="t" r="r" b="b"/>
              <a:pathLst>
                <a:path w="38100" h="2124075">
                  <a:moveTo>
                    <a:pt x="38100" y="0"/>
                  </a:moveTo>
                  <a:lnTo>
                    <a:pt x="38100" y="0"/>
                  </a:lnTo>
                  <a:lnTo>
                    <a:pt x="38100" y="2124075"/>
                  </a:ln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6" name="Shape 14"/>
            <p:cNvSpPr/>
            <p:nvPr>
              <p:custDataLst>
                <p:tags r:id="rId12"/>
              </p:custDataLst>
            </p:nvPr>
          </p:nvSpPr>
          <p:spPr>
            <a:xfrm>
              <a:off x="6477000" y="137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2C3E50">
                <a:alpha val="10196"/>
              </a:srgbClr>
            </a:solidFill>
          </p:spPr>
        </p:sp>
        <p:sp>
          <p:nvSpPr>
            <p:cNvPr id="17" name="Shape 15"/>
            <p:cNvSpPr/>
            <p:nvPr>
              <p:custDataLst>
                <p:tags r:id="rId13"/>
              </p:custDataLst>
            </p:nvPr>
          </p:nvSpPr>
          <p:spPr>
            <a:xfrm>
              <a:off x="6598444" y="1504950"/>
              <a:ext cx="214313" cy="1905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56083" y="35719"/>
                  </a:moveTo>
                  <a:cubicBezTo>
                    <a:pt x="149907" y="35719"/>
                    <a:pt x="143917" y="37393"/>
                    <a:pt x="138671" y="40444"/>
                  </a:cubicBezTo>
                  <a:cubicBezTo>
                    <a:pt x="132792" y="34491"/>
                    <a:pt x="125946" y="29505"/>
                    <a:pt x="118393" y="25747"/>
                  </a:cubicBezTo>
                  <a:cubicBezTo>
                    <a:pt x="128885" y="16818"/>
                    <a:pt x="142242" y="11906"/>
                    <a:pt x="156083" y="11906"/>
                  </a:cubicBezTo>
                  <a:cubicBezTo>
                    <a:pt x="188230" y="11906"/>
                    <a:pt x="214313" y="37951"/>
                    <a:pt x="214313" y="70135"/>
                  </a:cubicBezTo>
                  <a:cubicBezTo>
                    <a:pt x="214313" y="85576"/>
                    <a:pt x="208173" y="100385"/>
                    <a:pt x="197272" y="111286"/>
                  </a:cubicBezTo>
                  <a:lnTo>
                    <a:pt x="170817" y="137740"/>
                  </a:lnTo>
                  <a:cubicBezTo>
                    <a:pt x="159916" y="148642"/>
                    <a:pt x="145107" y="154781"/>
                    <a:pt x="129667" y="154781"/>
                  </a:cubicBezTo>
                  <a:cubicBezTo>
                    <a:pt x="97520" y="154781"/>
                    <a:pt x="71438" y="128736"/>
                    <a:pt x="71438" y="96552"/>
                  </a:cubicBezTo>
                  <a:cubicBezTo>
                    <a:pt x="71438" y="95994"/>
                    <a:pt x="71438" y="95436"/>
                    <a:pt x="71475" y="94878"/>
                  </a:cubicBezTo>
                  <a:cubicBezTo>
                    <a:pt x="71661" y="88292"/>
                    <a:pt x="77130" y="83121"/>
                    <a:pt x="83716" y="83307"/>
                  </a:cubicBezTo>
                  <a:cubicBezTo>
                    <a:pt x="90301" y="83493"/>
                    <a:pt x="95473" y="88962"/>
                    <a:pt x="95287" y="95548"/>
                  </a:cubicBezTo>
                  <a:cubicBezTo>
                    <a:pt x="95287" y="95883"/>
                    <a:pt x="95287" y="96217"/>
                    <a:pt x="95287" y="96515"/>
                  </a:cubicBezTo>
                  <a:cubicBezTo>
                    <a:pt x="95287" y="115528"/>
                    <a:pt x="110691" y="130932"/>
                    <a:pt x="129704" y="130932"/>
                  </a:cubicBezTo>
                  <a:cubicBezTo>
                    <a:pt x="138819" y="130932"/>
                    <a:pt x="147563" y="127322"/>
                    <a:pt x="154037" y="120848"/>
                  </a:cubicBezTo>
                  <a:lnTo>
                    <a:pt x="180491" y="94394"/>
                  </a:lnTo>
                  <a:cubicBezTo>
                    <a:pt x="186928" y="87957"/>
                    <a:pt x="190574" y="79177"/>
                    <a:pt x="190574" y="70061"/>
                  </a:cubicBezTo>
                  <a:cubicBezTo>
                    <a:pt x="190574" y="51048"/>
                    <a:pt x="175171" y="35644"/>
                    <a:pt x="156158" y="35644"/>
                  </a:cubicBezTo>
                  <a:close/>
                  <a:moveTo>
                    <a:pt x="102394" y="64480"/>
                  </a:moveTo>
                  <a:cubicBezTo>
                    <a:pt x="101687" y="64182"/>
                    <a:pt x="100980" y="63773"/>
                    <a:pt x="100347" y="63326"/>
                  </a:cubicBezTo>
                  <a:cubicBezTo>
                    <a:pt x="95659" y="60908"/>
                    <a:pt x="90301" y="59531"/>
                    <a:pt x="84683" y="59531"/>
                  </a:cubicBezTo>
                  <a:cubicBezTo>
                    <a:pt x="75567" y="59531"/>
                    <a:pt x="66824" y="63140"/>
                    <a:pt x="60350" y="69614"/>
                  </a:cubicBezTo>
                  <a:lnTo>
                    <a:pt x="33896" y="96069"/>
                  </a:lnTo>
                  <a:cubicBezTo>
                    <a:pt x="27459" y="102505"/>
                    <a:pt x="23812" y="111286"/>
                    <a:pt x="23812" y="120402"/>
                  </a:cubicBezTo>
                  <a:cubicBezTo>
                    <a:pt x="23812" y="139415"/>
                    <a:pt x="39216" y="154818"/>
                    <a:pt x="58229" y="154818"/>
                  </a:cubicBezTo>
                  <a:cubicBezTo>
                    <a:pt x="64368" y="154818"/>
                    <a:pt x="70358" y="153181"/>
                    <a:pt x="75605" y="150130"/>
                  </a:cubicBezTo>
                  <a:cubicBezTo>
                    <a:pt x="81483" y="156083"/>
                    <a:pt x="88329" y="161069"/>
                    <a:pt x="95920" y="164827"/>
                  </a:cubicBezTo>
                  <a:cubicBezTo>
                    <a:pt x="85427" y="173720"/>
                    <a:pt x="72107" y="178668"/>
                    <a:pt x="58229" y="178668"/>
                  </a:cubicBezTo>
                  <a:cubicBezTo>
                    <a:pt x="26082" y="178668"/>
                    <a:pt x="0" y="152623"/>
                    <a:pt x="0" y="120439"/>
                  </a:cubicBezTo>
                  <a:cubicBezTo>
                    <a:pt x="0" y="104998"/>
                    <a:pt x="6139" y="90190"/>
                    <a:pt x="17041" y="79288"/>
                  </a:cubicBezTo>
                  <a:lnTo>
                    <a:pt x="43495" y="52834"/>
                  </a:lnTo>
                  <a:cubicBezTo>
                    <a:pt x="54397" y="41932"/>
                    <a:pt x="69205" y="35793"/>
                    <a:pt x="84646" y="35793"/>
                  </a:cubicBezTo>
                  <a:cubicBezTo>
                    <a:pt x="116867" y="35793"/>
                    <a:pt x="142875" y="62061"/>
                    <a:pt x="142875" y="94171"/>
                  </a:cubicBezTo>
                  <a:cubicBezTo>
                    <a:pt x="142875" y="94655"/>
                    <a:pt x="142875" y="95138"/>
                    <a:pt x="142875" y="95622"/>
                  </a:cubicBezTo>
                  <a:cubicBezTo>
                    <a:pt x="142726" y="102208"/>
                    <a:pt x="137257" y="107379"/>
                    <a:pt x="130671" y="107231"/>
                  </a:cubicBezTo>
                  <a:cubicBezTo>
                    <a:pt x="124085" y="107082"/>
                    <a:pt x="118914" y="101612"/>
                    <a:pt x="119063" y="95027"/>
                  </a:cubicBezTo>
                  <a:cubicBezTo>
                    <a:pt x="119063" y="94729"/>
                    <a:pt x="119063" y="94469"/>
                    <a:pt x="119063" y="94171"/>
                  </a:cubicBezTo>
                  <a:cubicBezTo>
                    <a:pt x="119063" y="81632"/>
                    <a:pt x="112365" y="70619"/>
                    <a:pt x="102394" y="64554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18" name="Text 16"/>
            <p:cNvSpPr/>
            <p:nvPr>
              <p:custDataLst>
                <p:tags r:id="rId14"/>
              </p:custDataLst>
            </p:nvPr>
          </p:nvSpPr>
          <p:spPr>
            <a:xfrm>
              <a:off x="7048500" y="1466850"/>
              <a:ext cx="1458664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长距离依赖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9" name="Text 17"/>
            <p:cNvSpPr/>
            <p:nvPr>
              <p:custDataLst>
                <p:tags r:id="rId15"/>
              </p:custDataLst>
            </p:nvPr>
          </p:nvSpPr>
          <p:spPr>
            <a:xfrm>
              <a:off x="6477000" y="1981200"/>
              <a:ext cx="5181600" cy="5238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自注意力机制可以</a:t>
              </a:r>
              <a:r>
                <a:rPr lang="en-US" sz="18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直接建模任意两个Patch之间的关系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，无论它们相距多远。CNN的感受野有限。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0" name="Shape 18"/>
            <p:cNvSpPr/>
            <p:nvPr>
              <p:custDataLst>
                <p:tags r:id="rId16"/>
              </p:custDataLst>
            </p:nvPr>
          </p:nvSpPr>
          <p:spPr>
            <a:xfrm>
              <a:off x="6477000" y="2620435"/>
              <a:ext cx="5105400" cy="419100"/>
            </a:xfrm>
            <a:custGeom>
              <a:avLst/>
              <a:gdLst/>
              <a:ahLst/>
              <a:cxnLst/>
              <a:rect l="l" t="t" r="r" b="b"/>
              <a:pathLst>
                <a:path w="5105400" h="419100">
                  <a:moveTo>
                    <a:pt x="76201" y="0"/>
                  </a:moveTo>
                  <a:lnTo>
                    <a:pt x="5029199" y="0"/>
                  </a:lnTo>
                  <a:cubicBezTo>
                    <a:pt x="5071284" y="0"/>
                    <a:pt x="5105400" y="34116"/>
                    <a:pt x="5105400" y="76201"/>
                  </a:cubicBezTo>
                  <a:lnTo>
                    <a:pt x="5105400" y="342899"/>
                  </a:lnTo>
                  <a:cubicBezTo>
                    <a:pt x="5105400" y="384984"/>
                    <a:pt x="5071284" y="419100"/>
                    <a:pt x="5029199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2C3E50">
                <a:alpha val="10196"/>
              </a:srgbClr>
            </a:solidFill>
          </p:spPr>
        </p:sp>
        <p:sp>
          <p:nvSpPr>
            <p:cNvPr id="21" name="Text 19"/>
            <p:cNvSpPr/>
            <p:nvPr>
              <p:custDataLst>
                <p:tags r:id="rId17"/>
              </p:custDataLst>
            </p:nvPr>
          </p:nvSpPr>
          <p:spPr>
            <a:xfrm>
              <a:off x="6591300" y="2734735"/>
              <a:ext cx="49434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dirty="0">
                  <a:solidFill>
                    <a:srgbClr val="7F8C8D"/>
                  </a:solidFill>
                  <a:latin typeface="+mn-ea"/>
                  <a:ea typeface="+mn-ea"/>
                  <a:cs typeface="MiSans" pitchFamily="34" charset="-120"/>
                </a:rPr>
                <a:t>例如：图像左上角和右下角的物体关系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2" name="Shape 20"/>
            <p:cNvSpPr/>
            <p:nvPr>
              <p:custDataLst>
                <p:tags r:id="rId18"/>
              </p:custDataLst>
            </p:nvPr>
          </p:nvSpPr>
          <p:spPr>
            <a:xfrm>
              <a:off x="400050" y="3496735"/>
              <a:ext cx="5581650" cy="2124075"/>
            </a:xfrm>
            <a:custGeom>
              <a:avLst/>
              <a:gdLst/>
              <a:ahLst/>
              <a:cxnLst/>
              <a:rect l="l" t="t" r="r" b="b"/>
              <a:pathLst>
                <a:path w="5581650" h="2124075">
                  <a:moveTo>
                    <a:pt x="38100" y="0"/>
                  </a:moveTo>
                  <a:lnTo>
                    <a:pt x="5467354" y="0"/>
                  </a:lnTo>
                  <a:cubicBezTo>
                    <a:pt x="5530478" y="0"/>
                    <a:pt x="5581650" y="51172"/>
                    <a:pt x="5581650" y="114296"/>
                  </a:cubicBezTo>
                  <a:lnTo>
                    <a:pt x="5581650" y="2009779"/>
                  </a:lnTo>
                  <a:cubicBezTo>
                    <a:pt x="5581650" y="2072903"/>
                    <a:pt x="5530478" y="2124075"/>
                    <a:pt x="5467354" y="2124075"/>
                  </a:cubicBez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3" name="Shape 21"/>
            <p:cNvSpPr/>
            <p:nvPr>
              <p:custDataLst>
                <p:tags r:id="rId19"/>
              </p:custDataLst>
            </p:nvPr>
          </p:nvSpPr>
          <p:spPr>
            <a:xfrm>
              <a:off x="400050" y="3496735"/>
              <a:ext cx="38100" cy="2124075"/>
            </a:xfrm>
            <a:custGeom>
              <a:avLst/>
              <a:gdLst/>
              <a:ahLst/>
              <a:cxnLst/>
              <a:rect l="l" t="t" r="r" b="b"/>
              <a:pathLst>
                <a:path w="38100" h="2124075">
                  <a:moveTo>
                    <a:pt x="38100" y="0"/>
                  </a:moveTo>
                  <a:lnTo>
                    <a:pt x="38100" y="0"/>
                  </a:lnTo>
                  <a:lnTo>
                    <a:pt x="38100" y="2124075"/>
                  </a:ln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24" name="Shape 22"/>
            <p:cNvSpPr/>
            <p:nvPr>
              <p:custDataLst>
                <p:tags r:id="rId20"/>
              </p:custDataLst>
            </p:nvPr>
          </p:nvSpPr>
          <p:spPr>
            <a:xfrm>
              <a:off x="619165" y="35950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3498DB">
                <a:alpha val="10196"/>
              </a:srgbClr>
            </a:solidFill>
          </p:spPr>
        </p:sp>
        <p:sp>
          <p:nvSpPr>
            <p:cNvPr id="25" name="Shape 23"/>
            <p:cNvSpPr/>
            <p:nvPr>
              <p:custDataLst>
                <p:tags r:id="rId21"/>
              </p:custDataLst>
            </p:nvPr>
          </p:nvSpPr>
          <p:spPr>
            <a:xfrm>
              <a:off x="752515" y="372836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63525" y="2604"/>
                  </a:moveTo>
                  <a:cubicBezTo>
                    <a:pt x="167022" y="-893"/>
                    <a:pt x="172678" y="-893"/>
                    <a:pt x="176138" y="2604"/>
                  </a:cubicBezTo>
                  <a:lnTo>
                    <a:pt x="188044" y="14511"/>
                  </a:lnTo>
                  <a:cubicBezTo>
                    <a:pt x="191542" y="18008"/>
                    <a:pt x="191542" y="23664"/>
                    <a:pt x="188044" y="27124"/>
                  </a:cubicBezTo>
                  <a:lnTo>
                    <a:pt x="155674" y="59494"/>
                  </a:lnTo>
                  <a:lnTo>
                    <a:pt x="170185" y="74005"/>
                  </a:lnTo>
                  <a:cubicBezTo>
                    <a:pt x="172752" y="76572"/>
                    <a:pt x="173496" y="80404"/>
                    <a:pt x="172120" y="83753"/>
                  </a:cubicBezTo>
                  <a:cubicBezTo>
                    <a:pt x="170743" y="87102"/>
                    <a:pt x="167506" y="89297"/>
                    <a:pt x="163897" y="89297"/>
                  </a:cubicBezTo>
                  <a:lnTo>
                    <a:pt x="110319" y="89297"/>
                  </a:lnTo>
                  <a:cubicBezTo>
                    <a:pt x="105370" y="89297"/>
                    <a:pt x="101389" y="85316"/>
                    <a:pt x="101389" y="80367"/>
                  </a:cubicBezTo>
                  <a:lnTo>
                    <a:pt x="101389" y="26789"/>
                  </a:lnTo>
                  <a:cubicBezTo>
                    <a:pt x="101389" y="23180"/>
                    <a:pt x="103547" y="19906"/>
                    <a:pt x="106896" y="18529"/>
                  </a:cubicBezTo>
                  <a:cubicBezTo>
                    <a:pt x="110244" y="17152"/>
                    <a:pt x="114077" y="17897"/>
                    <a:pt x="116644" y="20464"/>
                  </a:cubicBezTo>
                  <a:lnTo>
                    <a:pt x="131155" y="34975"/>
                  </a:lnTo>
                  <a:lnTo>
                    <a:pt x="163525" y="2604"/>
                  </a:lnTo>
                  <a:close/>
                  <a:moveTo>
                    <a:pt x="26975" y="101203"/>
                  </a:moveTo>
                  <a:lnTo>
                    <a:pt x="80553" y="101203"/>
                  </a:lnTo>
                  <a:cubicBezTo>
                    <a:pt x="85502" y="101203"/>
                    <a:pt x="89483" y="105184"/>
                    <a:pt x="89483" y="110133"/>
                  </a:cubicBezTo>
                  <a:lnTo>
                    <a:pt x="89483" y="163711"/>
                  </a:lnTo>
                  <a:cubicBezTo>
                    <a:pt x="89483" y="167320"/>
                    <a:pt x="87325" y="170594"/>
                    <a:pt x="83976" y="171971"/>
                  </a:cubicBezTo>
                  <a:cubicBezTo>
                    <a:pt x="80628" y="173348"/>
                    <a:pt x="76795" y="172603"/>
                    <a:pt x="74228" y="170036"/>
                  </a:cubicBezTo>
                  <a:lnTo>
                    <a:pt x="59717" y="155525"/>
                  </a:lnTo>
                  <a:lnTo>
                    <a:pt x="27347" y="187896"/>
                  </a:lnTo>
                  <a:cubicBezTo>
                    <a:pt x="23850" y="191393"/>
                    <a:pt x="18194" y="191393"/>
                    <a:pt x="14734" y="187896"/>
                  </a:cubicBezTo>
                  <a:lnTo>
                    <a:pt x="2828" y="175989"/>
                  </a:lnTo>
                  <a:cubicBezTo>
                    <a:pt x="-670" y="172492"/>
                    <a:pt x="-670" y="166836"/>
                    <a:pt x="2828" y="163376"/>
                  </a:cubicBezTo>
                  <a:lnTo>
                    <a:pt x="35198" y="131006"/>
                  </a:lnTo>
                  <a:lnTo>
                    <a:pt x="20687" y="116495"/>
                  </a:lnTo>
                  <a:cubicBezTo>
                    <a:pt x="18120" y="113928"/>
                    <a:pt x="17376" y="110096"/>
                    <a:pt x="18752" y="106747"/>
                  </a:cubicBezTo>
                  <a:cubicBezTo>
                    <a:pt x="20129" y="103398"/>
                    <a:pt x="23366" y="101203"/>
                    <a:pt x="26975" y="101203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26" name="Text 24"/>
            <p:cNvSpPr/>
            <p:nvPr>
              <p:custDataLst>
                <p:tags r:id="rId22"/>
              </p:custDataLst>
            </p:nvPr>
          </p:nvSpPr>
          <p:spPr>
            <a:xfrm>
              <a:off x="1190665" y="3690269"/>
              <a:ext cx="1155673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参数更少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7" name="Text 25"/>
            <p:cNvSpPr/>
            <p:nvPr>
              <p:custDataLst>
                <p:tags r:id="rId23"/>
              </p:custDataLst>
            </p:nvPr>
          </p:nvSpPr>
          <p:spPr>
            <a:xfrm>
              <a:off x="647700" y="4334935"/>
              <a:ext cx="5181600" cy="5238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在相同性能下，ViT通常比ResNet等CNN</a:t>
              </a:r>
              <a:r>
                <a:rPr lang="en-US" sz="18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参数量更少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。例如ViT-Base（86M）vs ResNet-152（60M）但性能更好。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28" name="Shape 26"/>
            <p:cNvSpPr/>
            <p:nvPr>
              <p:custDataLst>
                <p:tags r:id="rId24"/>
              </p:custDataLst>
            </p:nvPr>
          </p:nvSpPr>
          <p:spPr>
            <a:xfrm>
              <a:off x="647700" y="5162524"/>
              <a:ext cx="5105400" cy="419100"/>
            </a:xfrm>
            <a:custGeom>
              <a:avLst/>
              <a:gdLst/>
              <a:ahLst/>
              <a:cxnLst/>
              <a:rect l="l" t="t" r="r" b="b"/>
              <a:pathLst>
                <a:path w="5105400" h="419100">
                  <a:moveTo>
                    <a:pt x="76201" y="0"/>
                  </a:moveTo>
                  <a:lnTo>
                    <a:pt x="5029199" y="0"/>
                  </a:lnTo>
                  <a:cubicBezTo>
                    <a:pt x="5071284" y="0"/>
                    <a:pt x="5105400" y="34116"/>
                    <a:pt x="5105400" y="76201"/>
                  </a:cubicBezTo>
                  <a:lnTo>
                    <a:pt x="5105400" y="342899"/>
                  </a:lnTo>
                  <a:cubicBezTo>
                    <a:pt x="5105400" y="384984"/>
                    <a:pt x="5071284" y="419100"/>
                    <a:pt x="5029199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3498DB">
                <a:alpha val="10196"/>
              </a:srgbClr>
            </a:solidFill>
          </p:spPr>
        </p:sp>
        <p:sp>
          <p:nvSpPr>
            <p:cNvPr id="29" name="Text 27"/>
            <p:cNvSpPr/>
            <p:nvPr>
              <p:custDataLst>
                <p:tags r:id="rId25"/>
              </p:custDataLst>
            </p:nvPr>
          </p:nvSpPr>
          <p:spPr>
            <a:xfrm>
              <a:off x="762000" y="5276824"/>
              <a:ext cx="49434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dirty="0">
                  <a:solidFill>
                    <a:srgbClr val="7F8C8D"/>
                  </a:solidFill>
                  <a:latin typeface="+mn-ea"/>
                  <a:ea typeface="+mn-ea"/>
                  <a:cs typeface="MiSans" pitchFamily="34" charset="-120"/>
                </a:rPr>
                <a:t>自注意力的高效性减少了冗余参数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30" name="Shape 28"/>
            <p:cNvSpPr/>
            <p:nvPr>
              <p:custDataLst>
                <p:tags r:id="rId26"/>
              </p:custDataLst>
            </p:nvPr>
          </p:nvSpPr>
          <p:spPr>
            <a:xfrm>
              <a:off x="6229350" y="3496735"/>
              <a:ext cx="5581650" cy="2124075"/>
            </a:xfrm>
            <a:custGeom>
              <a:avLst/>
              <a:gdLst/>
              <a:ahLst/>
              <a:cxnLst/>
              <a:rect l="l" t="t" r="r" b="b"/>
              <a:pathLst>
                <a:path w="5581650" h="2124075">
                  <a:moveTo>
                    <a:pt x="38100" y="0"/>
                  </a:moveTo>
                  <a:lnTo>
                    <a:pt x="5467354" y="0"/>
                  </a:lnTo>
                  <a:cubicBezTo>
                    <a:pt x="5530478" y="0"/>
                    <a:pt x="5581650" y="51172"/>
                    <a:pt x="5581650" y="114296"/>
                  </a:cubicBezTo>
                  <a:lnTo>
                    <a:pt x="5581650" y="2009779"/>
                  </a:lnTo>
                  <a:cubicBezTo>
                    <a:pt x="5581650" y="2072903"/>
                    <a:pt x="5530478" y="2124075"/>
                    <a:pt x="5467354" y="2124075"/>
                  </a:cubicBez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1" name="Shape 29"/>
            <p:cNvSpPr/>
            <p:nvPr>
              <p:custDataLst>
                <p:tags r:id="rId27"/>
              </p:custDataLst>
            </p:nvPr>
          </p:nvSpPr>
          <p:spPr>
            <a:xfrm>
              <a:off x="6229350" y="3496735"/>
              <a:ext cx="38100" cy="2124075"/>
            </a:xfrm>
            <a:custGeom>
              <a:avLst/>
              <a:gdLst/>
              <a:ahLst/>
              <a:cxnLst/>
              <a:rect l="l" t="t" r="r" b="b"/>
              <a:pathLst>
                <a:path w="38100" h="2124075">
                  <a:moveTo>
                    <a:pt x="38100" y="0"/>
                  </a:moveTo>
                  <a:lnTo>
                    <a:pt x="38100" y="0"/>
                  </a:lnTo>
                  <a:lnTo>
                    <a:pt x="38100" y="2124075"/>
                  </a:lnTo>
                  <a:lnTo>
                    <a:pt x="38100" y="2124075"/>
                  </a:lnTo>
                  <a:cubicBezTo>
                    <a:pt x="17072" y="2124075"/>
                    <a:pt x="0" y="2107003"/>
                    <a:pt x="0" y="20859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32" name="Shape 30"/>
            <p:cNvSpPr/>
            <p:nvPr>
              <p:custDataLst>
                <p:tags r:id="rId28"/>
              </p:custDataLst>
            </p:nvPr>
          </p:nvSpPr>
          <p:spPr>
            <a:xfrm>
              <a:off x="6488119" y="358181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2C3E50">
                <a:alpha val="10196"/>
              </a:srgbClr>
            </a:solidFill>
          </p:spPr>
        </p:sp>
        <p:sp>
          <p:nvSpPr>
            <p:cNvPr id="33" name="Shape 31"/>
            <p:cNvSpPr/>
            <p:nvPr>
              <p:custDataLst>
                <p:tags r:id="rId29"/>
              </p:custDataLst>
            </p:nvPr>
          </p:nvSpPr>
          <p:spPr>
            <a:xfrm>
              <a:off x="6621469" y="3715166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23812" y="23812"/>
                  </a:moveTo>
                  <a:cubicBezTo>
                    <a:pt x="23812" y="17227"/>
                    <a:pt x="18492" y="11906"/>
                    <a:pt x="11906" y="11906"/>
                  </a:cubicBezTo>
                  <a:cubicBezTo>
                    <a:pt x="5321" y="11906"/>
                    <a:pt x="0" y="17227"/>
                    <a:pt x="0" y="23812"/>
                  </a:cubicBezTo>
                  <a:lnTo>
                    <a:pt x="0" y="148828"/>
                  </a:lnTo>
                  <a:cubicBezTo>
                    <a:pt x="0" y="165274"/>
                    <a:pt x="13320" y="178594"/>
                    <a:pt x="29766" y="178594"/>
                  </a:cubicBezTo>
                  <a:lnTo>
                    <a:pt x="178594" y="178594"/>
                  </a:lnTo>
                  <a:cubicBezTo>
                    <a:pt x="185179" y="178594"/>
                    <a:pt x="190500" y="173273"/>
                    <a:pt x="190500" y="166688"/>
                  </a:cubicBezTo>
                  <a:cubicBezTo>
                    <a:pt x="190500" y="160102"/>
                    <a:pt x="185179" y="154781"/>
                    <a:pt x="178594" y="154781"/>
                  </a:cubicBezTo>
                  <a:lnTo>
                    <a:pt x="29766" y="154781"/>
                  </a:lnTo>
                  <a:cubicBezTo>
                    <a:pt x="26491" y="154781"/>
                    <a:pt x="23812" y="152102"/>
                    <a:pt x="23812" y="148828"/>
                  </a:cubicBezTo>
                  <a:lnTo>
                    <a:pt x="23812" y="23812"/>
                  </a:lnTo>
                  <a:close/>
                  <a:moveTo>
                    <a:pt x="175096" y="56034"/>
                  </a:moveTo>
                  <a:cubicBezTo>
                    <a:pt x="179747" y="51383"/>
                    <a:pt x="179747" y="43830"/>
                    <a:pt x="175096" y="39179"/>
                  </a:cubicBezTo>
                  <a:cubicBezTo>
                    <a:pt x="170445" y="34528"/>
                    <a:pt x="162892" y="34528"/>
                    <a:pt x="158242" y="39179"/>
                  </a:cubicBezTo>
                  <a:lnTo>
                    <a:pt x="119063" y="78395"/>
                  </a:lnTo>
                  <a:lnTo>
                    <a:pt x="97706" y="57076"/>
                  </a:lnTo>
                  <a:cubicBezTo>
                    <a:pt x="93055" y="52425"/>
                    <a:pt x="85502" y="52425"/>
                    <a:pt x="80851" y="57076"/>
                  </a:cubicBezTo>
                  <a:lnTo>
                    <a:pt x="45132" y="92794"/>
                  </a:lnTo>
                  <a:cubicBezTo>
                    <a:pt x="40481" y="97445"/>
                    <a:pt x="40481" y="104998"/>
                    <a:pt x="45132" y="109649"/>
                  </a:cubicBezTo>
                  <a:cubicBezTo>
                    <a:pt x="49783" y="114300"/>
                    <a:pt x="57336" y="114300"/>
                    <a:pt x="61987" y="109649"/>
                  </a:cubicBezTo>
                  <a:lnTo>
                    <a:pt x="89297" y="82339"/>
                  </a:lnTo>
                  <a:lnTo>
                    <a:pt x="110654" y="103696"/>
                  </a:lnTo>
                  <a:cubicBezTo>
                    <a:pt x="115305" y="108347"/>
                    <a:pt x="122858" y="108347"/>
                    <a:pt x="127508" y="103696"/>
                  </a:cubicBezTo>
                  <a:lnTo>
                    <a:pt x="175133" y="56071"/>
                  </a:ln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id="34" name="Text 32"/>
            <p:cNvSpPr/>
            <p:nvPr>
              <p:custDataLst>
                <p:tags r:id="rId30"/>
              </p:custDataLst>
            </p:nvPr>
          </p:nvSpPr>
          <p:spPr>
            <a:xfrm>
              <a:off x="7059619" y="3677066"/>
              <a:ext cx="1103396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泛化更强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5" name="Text 33"/>
            <p:cNvSpPr/>
            <p:nvPr>
              <p:custDataLst>
                <p:tags r:id="rId31"/>
              </p:custDataLst>
            </p:nvPr>
          </p:nvSpPr>
          <p:spPr>
            <a:xfrm>
              <a:off x="6477000" y="4334935"/>
              <a:ext cx="5181600" cy="5238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ViT在大规模数据集上预训练后，</a:t>
              </a:r>
              <a:r>
                <a:rPr lang="en-US" sz="18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迁移学习效果更好</a:t>
              </a:r>
              <a:r>
                <a:rPr lang="en-US" sz="18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，特别是在下游任务数据较少时。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36" name="Shape 34"/>
            <p:cNvSpPr/>
            <p:nvPr>
              <p:custDataLst>
                <p:tags r:id="rId32"/>
              </p:custDataLst>
            </p:nvPr>
          </p:nvSpPr>
          <p:spPr>
            <a:xfrm>
              <a:off x="6486524" y="5154729"/>
              <a:ext cx="5105400" cy="419100"/>
            </a:xfrm>
            <a:custGeom>
              <a:avLst/>
              <a:gdLst/>
              <a:ahLst/>
              <a:cxnLst/>
              <a:rect l="l" t="t" r="r" b="b"/>
              <a:pathLst>
                <a:path w="5105400" h="419100">
                  <a:moveTo>
                    <a:pt x="76201" y="0"/>
                  </a:moveTo>
                  <a:lnTo>
                    <a:pt x="5029199" y="0"/>
                  </a:lnTo>
                  <a:cubicBezTo>
                    <a:pt x="5071284" y="0"/>
                    <a:pt x="5105400" y="34116"/>
                    <a:pt x="5105400" y="76201"/>
                  </a:cubicBezTo>
                  <a:lnTo>
                    <a:pt x="5105400" y="342899"/>
                  </a:lnTo>
                  <a:cubicBezTo>
                    <a:pt x="5105400" y="384984"/>
                    <a:pt x="5071284" y="419100"/>
                    <a:pt x="5029199" y="419100"/>
                  </a:cubicBezTo>
                  <a:lnTo>
                    <a:pt x="76201" y="419100"/>
                  </a:lnTo>
                  <a:cubicBezTo>
                    <a:pt x="34116" y="419100"/>
                    <a:pt x="0" y="384984"/>
                    <a:pt x="0" y="342899"/>
                  </a:cubicBezTo>
                  <a:lnTo>
                    <a:pt x="0" y="76201"/>
                  </a:lnTo>
                  <a:cubicBezTo>
                    <a:pt x="0" y="34144"/>
                    <a:pt x="34144" y="0"/>
                    <a:pt x="76201" y="0"/>
                  </a:cubicBezTo>
                  <a:close/>
                </a:path>
              </a:pathLst>
            </a:custGeom>
            <a:solidFill>
              <a:srgbClr val="2C3E50">
                <a:alpha val="10196"/>
              </a:srgbClr>
            </a:solidFill>
          </p:spPr>
        </p:sp>
        <p:sp>
          <p:nvSpPr>
            <p:cNvPr id="37" name="Text 35"/>
            <p:cNvSpPr/>
            <p:nvPr>
              <p:custDataLst>
                <p:tags r:id="rId33"/>
              </p:custDataLst>
            </p:nvPr>
          </p:nvSpPr>
          <p:spPr>
            <a:xfrm>
              <a:off x="6600825" y="5269028"/>
              <a:ext cx="49434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800" dirty="0">
                  <a:solidFill>
                    <a:srgbClr val="7F8C8D"/>
                  </a:solidFill>
                  <a:latin typeface="+mn-ea"/>
                  <a:ea typeface="+mn-ea"/>
                  <a:cs typeface="MiSans" pitchFamily="34" charset="-120"/>
                </a:rPr>
                <a:t>预训练-微调范式带来更好的泛化能力</a:t>
              </a:r>
              <a:endParaRPr lang="en-US" sz="1800" dirty="0">
                <a:latin typeface="+mn-ea"/>
                <a:ea typeface="+mn-ea"/>
              </a:endParaRPr>
            </a:p>
          </p:txBody>
        </p:sp>
        <p:sp>
          <p:nvSpPr>
            <p:cNvPr id="38" name="Shape 36"/>
            <p:cNvSpPr/>
            <p:nvPr>
              <p:custDataLst>
                <p:tags r:id="rId34"/>
              </p:custDataLst>
            </p:nvPr>
          </p:nvSpPr>
          <p:spPr>
            <a:xfrm>
              <a:off x="385233" y="5735109"/>
              <a:ext cx="11419417" cy="784224"/>
            </a:xfrm>
            <a:custGeom>
              <a:avLst/>
              <a:gdLst/>
              <a:ahLst/>
              <a:cxnLst/>
              <a:rect l="l" t="t" r="r" b="b"/>
              <a:pathLst>
                <a:path w="11419417" h="618067">
                  <a:moveTo>
                    <a:pt x="114299" y="0"/>
                  </a:moveTo>
                  <a:lnTo>
                    <a:pt x="11305118" y="0"/>
                  </a:lnTo>
                  <a:cubicBezTo>
                    <a:pt x="11368243" y="0"/>
                    <a:pt x="11419417" y="51173"/>
                    <a:pt x="11419417" y="114299"/>
                  </a:cubicBezTo>
                  <a:lnTo>
                    <a:pt x="11419417" y="503768"/>
                  </a:lnTo>
                  <a:cubicBezTo>
                    <a:pt x="11419417" y="566893"/>
                    <a:pt x="11368243" y="618067"/>
                    <a:pt x="11305118" y="618067"/>
                  </a:cubicBezTo>
                  <a:lnTo>
                    <a:pt x="114299" y="618067"/>
                  </a:lnTo>
                  <a:cubicBezTo>
                    <a:pt x="51216" y="618067"/>
                    <a:pt x="0" y="566851"/>
                    <a:pt x="0" y="503768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98DB">
                    <a:alpha val="10000"/>
                  </a:srgbClr>
                </a:gs>
                <a:gs pos="100000">
                  <a:srgbClr val="2C3E50">
                    <a:alpha val="10000"/>
                  </a:srgbClr>
                </a:gs>
              </a:gsLst>
              <a:lin ang="0" scaled="1"/>
            </a:gradFill>
            <a:ln w="11289">
              <a:solidFill>
                <a:srgbClr val="3498DB">
                  <a:alpha val="30196"/>
                </a:srgbClr>
              </a:solidFill>
              <a:prstDash val="solid"/>
            </a:ln>
          </p:spPr>
        </p:sp>
        <p:sp>
          <p:nvSpPr>
            <p:cNvPr id="39" name="Shape 37"/>
            <p:cNvSpPr/>
            <p:nvPr>
              <p:custDataLst>
                <p:tags r:id="rId35"/>
              </p:custDataLst>
            </p:nvPr>
          </p:nvSpPr>
          <p:spPr>
            <a:xfrm>
              <a:off x="608542" y="60494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20863" y="0"/>
                    <a:pt x="126891" y="3617"/>
                    <a:pt x="130016" y="9376"/>
                  </a:cubicBezTo>
                  <a:lnTo>
                    <a:pt x="226457" y="187970"/>
                  </a:lnTo>
                  <a:cubicBezTo>
                    <a:pt x="229448" y="193506"/>
                    <a:pt x="229314" y="200204"/>
                    <a:pt x="226100" y="205606"/>
                  </a:cubicBezTo>
                  <a:cubicBezTo>
                    <a:pt x="222885" y="211009"/>
                    <a:pt x="217036" y="214313"/>
                    <a:pt x="210741" y="214313"/>
                  </a:cubicBezTo>
                  <a:lnTo>
                    <a:pt x="17859" y="214313"/>
                  </a:lnTo>
                  <a:cubicBezTo>
                    <a:pt x="11564" y="214313"/>
                    <a:pt x="5760" y="211009"/>
                    <a:pt x="2500" y="205606"/>
                  </a:cubicBezTo>
                  <a:cubicBezTo>
                    <a:pt x="-759" y="200204"/>
                    <a:pt x="-848" y="193506"/>
                    <a:pt x="2143" y="187970"/>
                  </a:cubicBezTo>
                  <a:lnTo>
                    <a:pt x="98584" y="9376"/>
                  </a:lnTo>
                  <a:cubicBezTo>
                    <a:pt x="101709" y="3617"/>
                    <a:pt x="107737" y="0"/>
                    <a:pt x="114300" y="0"/>
                  </a:cubicBezTo>
                  <a:close/>
                  <a:moveTo>
                    <a:pt x="114300" y="75009"/>
                  </a:moveTo>
                  <a:cubicBezTo>
                    <a:pt x="108362" y="75009"/>
                    <a:pt x="103584" y="79787"/>
                    <a:pt x="103584" y="85725"/>
                  </a:cubicBezTo>
                  <a:lnTo>
                    <a:pt x="103584" y="135731"/>
                  </a:lnTo>
                  <a:cubicBezTo>
                    <a:pt x="103584" y="141669"/>
                    <a:pt x="108362" y="146447"/>
                    <a:pt x="114300" y="146447"/>
                  </a:cubicBezTo>
                  <a:cubicBezTo>
                    <a:pt x="120238" y="146447"/>
                    <a:pt x="125016" y="141669"/>
                    <a:pt x="125016" y="135731"/>
                  </a:cubicBezTo>
                  <a:lnTo>
                    <a:pt x="125016" y="85725"/>
                  </a:lnTo>
                  <a:cubicBezTo>
                    <a:pt x="125016" y="79787"/>
                    <a:pt x="120238" y="75009"/>
                    <a:pt x="114300" y="75009"/>
                  </a:cubicBezTo>
                  <a:close/>
                  <a:moveTo>
                    <a:pt x="126221" y="171450"/>
                  </a:moveTo>
                  <a:cubicBezTo>
                    <a:pt x="126492" y="167025"/>
                    <a:pt x="124286" y="162815"/>
                    <a:pt x="120492" y="160521"/>
                  </a:cubicBezTo>
                  <a:cubicBezTo>
                    <a:pt x="116699" y="158226"/>
                    <a:pt x="111946" y="158226"/>
                    <a:pt x="108152" y="160521"/>
                  </a:cubicBezTo>
                  <a:cubicBezTo>
                    <a:pt x="104359" y="162815"/>
                    <a:pt x="102152" y="167025"/>
                    <a:pt x="102424" y="171450"/>
                  </a:cubicBezTo>
                  <a:cubicBezTo>
                    <a:pt x="102152" y="175875"/>
                    <a:pt x="104359" y="180085"/>
                    <a:pt x="108152" y="182379"/>
                  </a:cubicBezTo>
                  <a:cubicBezTo>
                    <a:pt x="111946" y="184674"/>
                    <a:pt x="116699" y="184674"/>
                    <a:pt x="120492" y="182379"/>
                  </a:cubicBezTo>
                  <a:cubicBezTo>
                    <a:pt x="124286" y="180085"/>
                    <a:pt x="126492" y="175875"/>
                    <a:pt x="126221" y="171450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  <p:sp>
          <p:nvSpPr>
            <p:cNvPr id="40" name="Text 38"/>
            <p:cNvSpPr/>
            <p:nvPr>
              <p:custDataLst>
                <p:tags r:id="rId36"/>
              </p:custDataLst>
            </p:nvPr>
          </p:nvSpPr>
          <p:spPr>
            <a:xfrm>
              <a:off x="1018117" y="6010847"/>
              <a:ext cx="106680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b="1" dirty="0">
                  <a:solidFill>
                    <a:srgbClr val="2C3E50"/>
                  </a:solidFill>
                  <a:latin typeface="+mn-ea"/>
                  <a:ea typeface="+mn-ea"/>
                  <a:cs typeface="MiSans" pitchFamily="34" charset="-120"/>
                </a:rPr>
                <a:t>注意：</a:t>
              </a:r>
              <a:r>
                <a:rPr lang="en-US" sz="20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ViT的优势在</a:t>
              </a:r>
              <a:r>
                <a:rPr lang="en-US" sz="2000" b="1" dirty="0">
                  <a:solidFill>
                    <a:srgbClr val="3498DB"/>
                  </a:solidFill>
                  <a:latin typeface="+mn-ea"/>
                  <a:ea typeface="+mn-ea"/>
                  <a:cs typeface="MiSans" pitchFamily="34" charset="-120"/>
                </a:rPr>
                <a:t>大规模数据集</a:t>
              </a:r>
              <a:r>
                <a:rPr lang="en-US" sz="2000" dirty="0">
                  <a:solidFill>
                    <a:srgbClr val="1A252F"/>
                  </a:solidFill>
                  <a:latin typeface="+mn-ea"/>
                  <a:ea typeface="+mn-ea"/>
                  <a:cs typeface="MiSans" pitchFamily="34" charset="-120"/>
                </a:rPr>
                <a:t>上才能充分体现。在小型数据集上，CNN可能表现更好，因为CNN有更强的归纳偏置（局部性和平移不变性）。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sp>
        <p:nvSpPr>
          <p:cNvPr id="41" name="灯片编号占位符 4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1E09B-8055-B164-87C7-804C95E3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7E3910D-8456-CA47-5D05-A88A2A2B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8C4CC94-73CA-DBBE-2D67-D5A8FD7DBB2E}"/>
              </a:ext>
            </a:extLst>
          </p:cNvPr>
          <p:cNvSpPr/>
          <p:nvPr/>
        </p:nvSpPr>
        <p:spPr>
          <a:xfrm>
            <a:off x="7787394" y="1052736"/>
            <a:ext cx="2556284" cy="392443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71799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446"/>
            <a:ext cx="10907880" cy="6476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语言模型的三大范式：理解、转换与生成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0950" y="1052736"/>
            <a:ext cx="11441210" cy="74920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498DB">
                  <a:alpha val="100000"/>
                </a:srgbClr>
              </a:gs>
              <a:gs pos="100000">
                <a:srgbClr val="2C3E5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90500" dist="1270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0950" y="1052736"/>
            <a:ext cx="11441210" cy="7492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0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双向语义理解</a:t>
            </a:r>
            <a:r>
              <a:rPr lang="en-US" sz="20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· </a:t>
            </a:r>
            <a:r>
              <a:rPr lang="en-US" sz="20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文本形态转换</a:t>
            </a:r>
            <a:r>
              <a:rPr lang="en-US" sz="20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· </a:t>
            </a:r>
            <a:r>
              <a:rPr lang="en-US" sz="20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自回归内容生成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253967" y="2089023"/>
            <a:ext cx="3682520" cy="2666653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63500" dir="81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53967" y="2094495"/>
            <a:ext cx="3682520" cy="76190"/>
          </a:xfrm>
          <a:prstGeom prst="roundRect">
            <a:avLst>
              <a:gd name="adj" fmla="val 0"/>
            </a:avLst>
          </a:pr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80950" y="2284210"/>
            <a:ext cx="3428554" cy="22857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492" tIns="63492" rIns="63492" bIns="0" rtlCol="0" anchor="t" anchorCtr="0"/>
          <a:lstStyle/>
          <a:p>
            <a:pPr algn="ctr">
              <a:defRPr/>
            </a:pPr>
            <a:r>
              <a:rPr lang="en-US" sz="20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Encoder-Only (BERT)</a:t>
            </a:r>
            <a:endParaRPr lang="en-US" sz="1200" dirty="0"/>
          </a:p>
          <a:p>
            <a:pPr>
              <a:lnSpc>
                <a:spcPct val="108333"/>
              </a:lnSpc>
              <a:spcBef>
                <a:spcPts val="800"/>
              </a:spcBef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🔍 </a:t>
            </a:r>
            <a:r>
              <a:rPr lang="en-US" sz="14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专注双向语义理解，深度捕捉上下文信息</a:t>
            </a:r>
            <a:endParaRPr lang="en-US" sz="1400" b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🏛️ </a:t>
            </a:r>
            <a:r>
              <a:rPr lang="en-US" sz="14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代表模型：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BERT系列、RoBERTa系列</a:t>
            </a:r>
            <a:endParaRPr lang="en-US" sz="1400" b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🎯 </a:t>
            </a:r>
            <a:r>
              <a:rPr lang="en-US" sz="14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典型任务：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文本分类、情感分析、信息检索、命名实体识别</a:t>
            </a:r>
            <a:endParaRPr lang="en-US" sz="1400" b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⚡ </a:t>
            </a:r>
            <a:r>
              <a:rPr lang="en-US" sz="14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架构特点：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仅使用</a:t>
            </a:r>
            <a:r>
              <a:rPr lang="en-US" sz="14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Transformer 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编码器，擅长“读懂”文本</a:t>
            </a:r>
            <a:endParaRPr lang="en-US" sz="1400" b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253946" y="2094495"/>
            <a:ext cx="3682520" cy="2666653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63500" dir="81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253946" y="2094495"/>
            <a:ext cx="3682520" cy="76190"/>
          </a:xfrm>
          <a:prstGeom prst="roundRect">
            <a:avLst>
              <a:gd name="adj" fmla="val 0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0929" y="2284210"/>
            <a:ext cx="3428554" cy="22857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492" tIns="63492" rIns="63492" bIns="0" rtlCol="0" anchor="t" anchorCtr="0"/>
          <a:lstStyle/>
          <a:p>
            <a:pPr algn="ctr">
              <a:defRPr/>
            </a:pPr>
            <a:r>
              <a:rPr lang="en-US" sz="20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Encoder-Decoder (T5)</a:t>
            </a:r>
            <a:endParaRPr lang="en-US" sz="1200" dirty="0"/>
          </a:p>
          <a:p>
            <a:pPr>
              <a:lnSpc>
                <a:spcPct val="108333"/>
              </a:lnSpc>
              <a:spcBef>
                <a:spcPts val="800"/>
              </a:spcBef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🔄 </a:t>
            </a:r>
            <a:r>
              <a:rPr lang="en-US" sz="14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端到端的文本到文本</a:t>
            </a:r>
            <a:r>
              <a:rPr lang="en-US" sz="14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(Text-to-Text) 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转换</a:t>
            </a:r>
            <a:endParaRPr lang="en-US" sz="1400" b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🏛️ 代表模型：</a:t>
            </a:r>
            <a:r>
              <a:rPr lang="en-US" sz="14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T5, BART, Transformer Base</a:t>
            </a:r>
          </a:p>
          <a:p>
            <a:pPr>
              <a:lnSpc>
                <a:spcPct val="108333"/>
              </a:lnSpc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🎯 </a:t>
            </a:r>
            <a:r>
              <a:rPr lang="en-US" sz="14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典型任务：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机器翻译、文本摘要、数据生成、图文描述</a:t>
            </a:r>
            <a:endParaRPr lang="en-US" sz="1400" b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sz="1400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⚡ </a:t>
            </a:r>
            <a:r>
              <a:rPr lang="en-US" sz="1400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架构特点：</a:t>
            </a:r>
            <a:r>
              <a:rPr lang="en-US" sz="14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编码+解码组合，平衡理解与生成的综合能力</a:t>
            </a:r>
            <a:endParaRPr lang="en-US" sz="1400" b="0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253925" y="2094495"/>
            <a:ext cx="3682520" cy="2666653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63500" dir="81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253925" y="2094495"/>
            <a:ext cx="3682520" cy="7619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80908" y="2284210"/>
            <a:ext cx="3428554" cy="22857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492" tIns="63492" rIns="63492" bIns="0" rtlCol="0" anchor="t" anchorCtr="0"/>
          <a:lstStyle/>
          <a:p>
            <a:pPr algn="ctr">
              <a:defRPr/>
            </a:pPr>
            <a:r>
              <a:rPr lang="en-US" sz="20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Decoder-Only (GPT)</a:t>
            </a:r>
            <a:endParaRPr lang="en-US" sz="1200"/>
          </a:p>
          <a:p>
            <a:pPr>
              <a:lnSpc>
                <a:spcPct val="108333"/>
              </a:lnSpc>
              <a:spcBef>
                <a:spcPts val="800"/>
              </a:spcBef>
            </a:pPr>
            <a:r>
              <a:rPr lang="en-US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✍️ 核心能力：</a:t>
            </a:r>
            <a:r>
              <a:rPr lang="en-US" sz="14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自回归生成，逐词生成连贯长文本</a:t>
            </a:r>
          </a:p>
          <a:p>
            <a:pPr>
              <a:lnSpc>
                <a:spcPct val="108333"/>
              </a:lnSpc>
            </a:pPr>
            <a:r>
              <a:rPr lang="en-US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🏛️ 代表模型：</a:t>
            </a:r>
            <a:r>
              <a:rPr lang="en-US" sz="14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GPT系列、LLaMA系列、Claude系列</a:t>
            </a:r>
          </a:p>
          <a:p>
            <a:pPr>
              <a:lnSpc>
                <a:spcPct val="108333"/>
              </a:lnSpc>
            </a:pPr>
            <a:r>
              <a:rPr lang="en-US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🎯 典型任务：</a:t>
            </a:r>
            <a:r>
              <a:rPr lang="en-US" sz="14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开放对话、故事创作、代码编写、逻辑推理</a:t>
            </a:r>
          </a:p>
          <a:p>
            <a:pPr>
              <a:lnSpc>
                <a:spcPct val="108333"/>
              </a:lnSpc>
            </a:pPr>
            <a:r>
              <a:rPr lang="en-US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⚡ 架构特点：</a:t>
            </a:r>
            <a:r>
              <a:rPr lang="en-US" sz="14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仅使用 Transformer 解码器，擅长“创作”内容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53967" y="5079785"/>
            <a:ext cx="11682479" cy="1523802"/>
          </a:xfrm>
          <a:prstGeom prst="roundRect">
            <a:avLst>
              <a:gd name="adj" fmla="val 8333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CE1E6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44442" y="5270260"/>
            <a:ext cx="3555537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800">
                <a:solidFill>
                  <a:srgbClr val="3498DB"/>
                </a:solidFill>
                <a:latin typeface="微软雅黑"/>
                <a:ea typeface="微软雅黑"/>
                <a:cs typeface="微软雅黑"/>
                <a:sym typeface="微软雅黑"/>
              </a:rPr>
              <a:t>👁️ 理解专家</a:t>
            </a:r>
            <a:endParaRPr lang="en-US" sz="1400"/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lang="en-US" sz="1400" b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作为大模型的“眼睛”</a:t>
            </a:r>
            <a:br>
              <a:rPr lang="en-US" sz="20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精准捕捉输入文本的深层语义与逻辑关系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380929" y="5270260"/>
            <a:ext cx="3555537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8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🔧 转换枢纽</a:t>
            </a:r>
            <a:endParaRPr lang="en-US" sz="1400"/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lang="en-US" sz="1400" b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作为信息处理的“桥梁”</a:t>
            </a:r>
            <a:br>
              <a:rPr lang="en-US" sz="20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在不同模态和格式间高效转换与重组信息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253925" y="5270260"/>
            <a:ext cx="3555537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800">
                <a:solidFill>
                  <a:srgbClr val="D35400"/>
                </a:solidFill>
                <a:latin typeface="微软雅黑"/>
                <a:ea typeface="微软雅黑"/>
                <a:cs typeface="微软雅黑"/>
                <a:sym typeface="微软雅黑"/>
              </a:rPr>
              <a:t>💡 生成大脑</a:t>
            </a:r>
            <a:endParaRPr lang="en-US" sz="1400"/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lang="en-US" sz="1400" b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作为内容创作的“心脏”</a:t>
            </a:r>
            <a:br>
              <a:rPr lang="en-US" sz="20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驱动AIGC时代的无限创意与智能涌现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9082"/>
            <a:ext cx="10907880" cy="711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t" anchorCtr="0"/>
          <a:lstStyle/>
          <a:p>
            <a:pPr>
              <a:defRPr/>
            </a:pPr>
            <a:r>
              <a:rPr lang="en-US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Encoder-Only：双向理解的语言基石 (BERT)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226554" y="1041711"/>
            <a:ext cx="5603374" cy="1669731"/>
          </a:xfrm>
          <a:custGeom>
            <a:avLst/>
            <a:gdLst/>
            <a:ahLst/>
            <a:cxnLst/>
            <a:rect l="l" t="t" r="r" b="b"/>
            <a:pathLst>
              <a:path w="5604104" h="2197232">
                <a:moveTo>
                  <a:pt x="105413" y="0"/>
                </a:moveTo>
                <a:lnTo>
                  <a:pt x="5498692" y="0"/>
                </a:lnTo>
                <a:cubicBezTo>
                  <a:pt x="5556909" y="0"/>
                  <a:pt x="5604104" y="65585"/>
                  <a:pt x="5604104" y="146489"/>
                </a:cubicBezTo>
                <a:lnTo>
                  <a:pt x="5604104" y="2050741"/>
                </a:lnTo>
                <a:cubicBezTo>
                  <a:pt x="5604104" y="2131647"/>
                  <a:pt x="5556909" y="2197232"/>
                  <a:pt x="5498692" y="2197232"/>
                </a:cubicBezTo>
                <a:lnTo>
                  <a:pt x="105413" y="2197232"/>
                </a:lnTo>
                <a:cubicBezTo>
                  <a:pt x="47194" y="2197232"/>
                  <a:pt x="0" y="2131647"/>
                  <a:pt x="0" y="2050741"/>
                </a:cubicBezTo>
                <a:lnTo>
                  <a:pt x="0" y="146489"/>
                </a:lnTo>
                <a:cubicBezTo>
                  <a:pt x="0" y="65639"/>
                  <a:pt x="47233" y="0"/>
                  <a:pt x="105413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0"/>
                </a:srgbClr>
              </a:gs>
              <a:gs pos="100000">
                <a:srgbClr val="2C3E5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215900" dist="1778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42426" y="1270282"/>
            <a:ext cx="562094" cy="562094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281084" y="0"/>
                </a:moveTo>
                <a:lnTo>
                  <a:pt x="281084" y="0"/>
                </a:lnTo>
                <a:cubicBezTo>
                  <a:pt x="436218" y="0"/>
                  <a:pt x="562167" y="125948"/>
                  <a:pt x="562167" y="281084"/>
                </a:cubicBezTo>
                <a:lnTo>
                  <a:pt x="562167" y="281084"/>
                </a:lnTo>
                <a:cubicBezTo>
                  <a:pt x="562167" y="436218"/>
                  <a:pt x="436218" y="562167"/>
                  <a:pt x="281084" y="562167"/>
                </a:cubicBezTo>
                <a:lnTo>
                  <a:pt x="281084" y="562167"/>
                </a:lnTo>
                <a:cubicBezTo>
                  <a:pt x="125948" y="562167"/>
                  <a:pt x="0" y="436218"/>
                  <a:pt x="0" y="281084"/>
                </a:cubicBezTo>
                <a:lnTo>
                  <a:pt x="0" y="281084"/>
                </a:lnTo>
                <a:cubicBezTo>
                  <a:pt x="0" y="125948"/>
                  <a:pt x="125948" y="0"/>
                  <a:pt x="2810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69410" y="1393494"/>
            <a:ext cx="329352" cy="263482"/>
          </a:xfrm>
          <a:custGeom>
            <a:avLst/>
            <a:gdLst/>
            <a:ahLst/>
            <a:cxnLst/>
            <a:rect l="l" t="t" r="r" b="b"/>
            <a:pathLst>
              <a:path w="329395" h="263516">
                <a:moveTo>
                  <a:pt x="181167" y="16471"/>
                </a:moveTo>
                <a:cubicBezTo>
                  <a:pt x="181167" y="7361"/>
                  <a:pt x="173807" y="0"/>
                  <a:pt x="164697" y="0"/>
                </a:cubicBezTo>
                <a:cubicBezTo>
                  <a:pt x="155588" y="0"/>
                  <a:pt x="148228" y="7361"/>
                  <a:pt x="148228" y="16471"/>
                </a:cubicBezTo>
                <a:lnTo>
                  <a:pt x="148228" y="49410"/>
                </a:lnTo>
                <a:lnTo>
                  <a:pt x="98817" y="49410"/>
                </a:lnTo>
                <a:cubicBezTo>
                  <a:pt x="71540" y="49410"/>
                  <a:pt x="49409" y="71542"/>
                  <a:pt x="49409" y="98820"/>
                </a:cubicBezTo>
                <a:lnTo>
                  <a:pt x="49409" y="214108"/>
                </a:lnTo>
                <a:cubicBezTo>
                  <a:pt x="49409" y="241385"/>
                  <a:pt x="71540" y="263516"/>
                  <a:pt x="98817" y="263516"/>
                </a:cubicBezTo>
                <a:lnTo>
                  <a:pt x="230576" y="263516"/>
                </a:lnTo>
                <a:cubicBezTo>
                  <a:pt x="257854" y="263516"/>
                  <a:pt x="279985" y="241385"/>
                  <a:pt x="279985" y="214108"/>
                </a:cubicBezTo>
                <a:lnTo>
                  <a:pt x="279985" y="98820"/>
                </a:lnTo>
                <a:cubicBezTo>
                  <a:pt x="279985" y="71542"/>
                  <a:pt x="257854" y="49410"/>
                  <a:pt x="230576" y="49410"/>
                </a:cubicBezTo>
                <a:lnTo>
                  <a:pt x="181167" y="49410"/>
                </a:lnTo>
                <a:lnTo>
                  <a:pt x="181167" y="16471"/>
                </a:lnTo>
                <a:close/>
                <a:moveTo>
                  <a:pt x="82349" y="205872"/>
                </a:moveTo>
                <a:cubicBezTo>
                  <a:pt x="82349" y="199028"/>
                  <a:pt x="87856" y="193520"/>
                  <a:pt x="94701" y="193520"/>
                </a:cubicBezTo>
                <a:lnTo>
                  <a:pt x="111171" y="193520"/>
                </a:lnTo>
                <a:cubicBezTo>
                  <a:pt x="118016" y="193520"/>
                  <a:pt x="123523" y="199028"/>
                  <a:pt x="123523" y="205872"/>
                </a:cubicBezTo>
                <a:cubicBezTo>
                  <a:pt x="123523" y="212718"/>
                  <a:pt x="118016" y="218224"/>
                  <a:pt x="111171" y="218224"/>
                </a:cubicBezTo>
                <a:lnTo>
                  <a:pt x="94701" y="218224"/>
                </a:lnTo>
                <a:cubicBezTo>
                  <a:pt x="87856" y="218224"/>
                  <a:pt x="82349" y="212718"/>
                  <a:pt x="82349" y="205872"/>
                </a:cubicBezTo>
                <a:close/>
                <a:moveTo>
                  <a:pt x="144109" y="205872"/>
                </a:moveTo>
                <a:cubicBezTo>
                  <a:pt x="144109" y="199028"/>
                  <a:pt x="149617" y="193520"/>
                  <a:pt x="156463" y="193520"/>
                </a:cubicBezTo>
                <a:lnTo>
                  <a:pt x="172932" y="193520"/>
                </a:lnTo>
                <a:cubicBezTo>
                  <a:pt x="179777" y="193520"/>
                  <a:pt x="185285" y="199028"/>
                  <a:pt x="185285" y="205872"/>
                </a:cubicBezTo>
                <a:cubicBezTo>
                  <a:pt x="185285" y="212718"/>
                  <a:pt x="179777" y="218224"/>
                  <a:pt x="172932" y="218224"/>
                </a:cubicBezTo>
                <a:lnTo>
                  <a:pt x="156463" y="218224"/>
                </a:lnTo>
                <a:cubicBezTo>
                  <a:pt x="149617" y="218224"/>
                  <a:pt x="144109" y="212718"/>
                  <a:pt x="144109" y="205872"/>
                </a:cubicBezTo>
                <a:close/>
                <a:moveTo>
                  <a:pt x="205872" y="205872"/>
                </a:moveTo>
                <a:cubicBezTo>
                  <a:pt x="205872" y="199028"/>
                  <a:pt x="211379" y="193520"/>
                  <a:pt x="218224" y="193520"/>
                </a:cubicBezTo>
                <a:lnTo>
                  <a:pt x="234693" y="193520"/>
                </a:lnTo>
                <a:cubicBezTo>
                  <a:pt x="241539" y="193520"/>
                  <a:pt x="247045" y="199028"/>
                  <a:pt x="247045" y="205872"/>
                </a:cubicBezTo>
                <a:cubicBezTo>
                  <a:pt x="247045" y="212718"/>
                  <a:pt x="241539" y="218224"/>
                  <a:pt x="234693" y="218224"/>
                </a:cubicBezTo>
                <a:lnTo>
                  <a:pt x="218224" y="218224"/>
                </a:lnTo>
                <a:cubicBezTo>
                  <a:pt x="211379" y="218224"/>
                  <a:pt x="205872" y="212718"/>
                  <a:pt x="205872" y="205872"/>
                </a:cubicBezTo>
                <a:close/>
                <a:moveTo>
                  <a:pt x="115288" y="107055"/>
                </a:moveTo>
                <a:cubicBezTo>
                  <a:pt x="128923" y="107055"/>
                  <a:pt x="139993" y="118124"/>
                  <a:pt x="139993" y="131759"/>
                </a:cubicBezTo>
                <a:cubicBezTo>
                  <a:pt x="139993" y="145394"/>
                  <a:pt x="128923" y="156464"/>
                  <a:pt x="115288" y="156464"/>
                </a:cubicBezTo>
                <a:cubicBezTo>
                  <a:pt x="101653" y="156464"/>
                  <a:pt x="90584" y="145394"/>
                  <a:pt x="90584" y="131759"/>
                </a:cubicBezTo>
                <a:cubicBezTo>
                  <a:pt x="90584" y="118124"/>
                  <a:pt x="101653" y="107055"/>
                  <a:pt x="115288" y="107055"/>
                </a:cubicBezTo>
                <a:close/>
                <a:moveTo>
                  <a:pt x="189401" y="131759"/>
                </a:moveTo>
                <a:cubicBezTo>
                  <a:pt x="189401" y="118124"/>
                  <a:pt x="200472" y="107055"/>
                  <a:pt x="214107" y="107055"/>
                </a:cubicBezTo>
                <a:cubicBezTo>
                  <a:pt x="227741" y="107055"/>
                  <a:pt x="238811" y="118124"/>
                  <a:pt x="238811" y="131759"/>
                </a:cubicBezTo>
                <a:cubicBezTo>
                  <a:pt x="238811" y="145394"/>
                  <a:pt x="227741" y="156464"/>
                  <a:pt x="214107" y="156464"/>
                </a:cubicBezTo>
                <a:cubicBezTo>
                  <a:pt x="200472" y="156464"/>
                  <a:pt x="189401" y="145394"/>
                  <a:pt x="189401" y="131759"/>
                </a:cubicBezTo>
                <a:close/>
                <a:moveTo>
                  <a:pt x="32939" y="131759"/>
                </a:moveTo>
                <a:cubicBezTo>
                  <a:pt x="32939" y="122649"/>
                  <a:pt x="25580" y="115288"/>
                  <a:pt x="16471" y="115288"/>
                </a:cubicBezTo>
                <a:cubicBezTo>
                  <a:pt x="7360" y="115288"/>
                  <a:pt x="0" y="122649"/>
                  <a:pt x="0" y="131759"/>
                </a:cubicBezTo>
                <a:lnTo>
                  <a:pt x="0" y="181168"/>
                </a:lnTo>
                <a:cubicBezTo>
                  <a:pt x="0" y="190278"/>
                  <a:pt x="7360" y="197638"/>
                  <a:pt x="16471" y="197638"/>
                </a:cubicBezTo>
                <a:cubicBezTo>
                  <a:pt x="25580" y="197638"/>
                  <a:pt x="32939" y="190278"/>
                  <a:pt x="32939" y="181168"/>
                </a:cubicBezTo>
                <a:lnTo>
                  <a:pt x="32939" y="131759"/>
                </a:lnTo>
                <a:close/>
                <a:moveTo>
                  <a:pt x="312925" y="115288"/>
                </a:moveTo>
                <a:cubicBezTo>
                  <a:pt x="303814" y="115288"/>
                  <a:pt x="296455" y="122649"/>
                  <a:pt x="296455" y="131759"/>
                </a:cubicBezTo>
                <a:lnTo>
                  <a:pt x="296455" y="181168"/>
                </a:lnTo>
                <a:cubicBezTo>
                  <a:pt x="296455" y="190278"/>
                  <a:pt x="303814" y="197638"/>
                  <a:pt x="312925" y="197638"/>
                </a:cubicBezTo>
                <a:cubicBezTo>
                  <a:pt x="322035" y="197638"/>
                  <a:pt x="329395" y="190278"/>
                  <a:pt x="329395" y="181168"/>
                </a:cubicBezTo>
                <a:lnTo>
                  <a:pt x="329395" y="131759"/>
                </a:lnTo>
                <a:cubicBezTo>
                  <a:pt x="329395" y="122649"/>
                  <a:pt x="322035" y="115288"/>
                  <a:pt x="312925" y="11528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0834" y="1376772"/>
            <a:ext cx="4368231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核心定位</a:t>
            </a:r>
            <a: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· Core Positioning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509948" y="1736812"/>
            <a:ext cx="5180925" cy="114285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400" b="0" dirty="0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1400" b="0" dirty="0" err="1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双向理解：仅使用Transformer编码器，通过双向自注意力机制，同时利用左右上下文理解词义</a:t>
            </a:r>
            <a:r>
              <a:rPr lang="en-US" sz="1400" b="0" dirty="0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200" dirty="0"/>
          </a:p>
          <a:p>
            <a:pPr>
              <a:lnSpc>
                <a:spcPct val="108333"/>
              </a:lnSpc>
            </a:pPr>
            <a:endParaRPr lang="en-US" sz="1400" b="0" dirty="0">
              <a:solidFill>
                <a:srgbClr val="FFFFFF">
                  <a:alpha val="90196"/>
                </a:srgbClr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39252" y="3140968"/>
            <a:ext cx="5585809" cy="1462433"/>
          </a:xfrm>
          <a:custGeom>
            <a:avLst/>
            <a:gdLst/>
            <a:ahLst/>
            <a:cxnLst/>
            <a:rect l="l" t="t" r="r" b="b"/>
            <a:pathLst>
              <a:path w="5586536" h="1462623">
                <a:moveTo>
                  <a:pt x="35135" y="0"/>
                </a:moveTo>
                <a:lnTo>
                  <a:pt x="5481135" y="0"/>
                </a:lnTo>
                <a:cubicBezTo>
                  <a:pt x="5539346" y="0"/>
                  <a:pt x="5586536" y="54568"/>
                  <a:pt x="5586536" y="121881"/>
                </a:cubicBezTo>
                <a:lnTo>
                  <a:pt x="5586536" y="1340744"/>
                </a:lnTo>
                <a:cubicBezTo>
                  <a:pt x="5586536" y="1408057"/>
                  <a:pt x="5539346" y="1462623"/>
                  <a:pt x="5481135" y="1462623"/>
                </a:cubicBezTo>
                <a:lnTo>
                  <a:pt x="35135" y="1462623"/>
                </a:lnTo>
                <a:cubicBezTo>
                  <a:pt x="15731" y="1462623"/>
                  <a:pt x="0" y="1444433"/>
                  <a:pt x="0" y="1421996"/>
                </a:cubicBezTo>
                <a:lnTo>
                  <a:pt x="0" y="40627"/>
                </a:lnTo>
                <a:cubicBezTo>
                  <a:pt x="0" y="18205"/>
                  <a:pt x="15744" y="0"/>
                  <a:pt x="351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889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239253" y="3140968"/>
            <a:ext cx="35130" cy="1462433"/>
          </a:xfrm>
          <a:custGeom>
            <a:avLst/>
            <a:gdLst/>
            <a:ahLst/>
            <a:cxnLst/>
            <a:rect l="l" t="t" r="r" b="b"/>
            <a:pathLst>
              <a:path w="35135" h="1462623">
                <a:moveTo>
                  <a:pt x="35135" y="0"/>
                </a:moveTo>
                <a:lnTo>
                  <a:pt x="35135" y="0"/>
                </a:lnTo>
                <a:lnTo>
                  <a:pt x="35135" y="1462623"/>
                </a:lnTo>
                <a:lnTo>
                  <a:pt x="35135" y="1462623"/>
                </a:lnTo>
                <a:cubicBezTo>
                  <a:pt x="15731" y="1462623"/>
                  <a:pt x="0" y="1444433"/>
                  <a:pt x="0" y="1421996"/>
                </a:cubicBezTo>
                <a:lnTo>
                  <a:pt x="0" y="40627"/>
                </a:lnTo>
                <a:cubicBezTo>
                  <a:pt x="0" y="18205"/>
                  <a:pt x="15744" y="0"/>
                  <a:pt x="35135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449013" y="3262869"/>
            <a:ext cx="223960" cy="205655"/>
          </a:xfrm>
          <a:custGeom>
            <a:avLst/>
            <a:gdLst/>
            <a:ahLst/>
            <a:cxnLst/>
            <a:rect l="l" t="t" r="r" b="b"/>
            <a:pathLst>
              <a:path w="223989" h="205682">
                <a:moveTo>
                  <a:pt x="122289" y="33901"/>
                </a:moveTo>
                <a:cubicBezTo>
                  <a:pt x="126077" y="30425"/>
                  <a:pt x="128465" y="25045"/>
                  <a:pt x="128465" y="19045"/>
                </a:cubicBezTo>
                <a:cubicBezTo>
                  <a:pt x="128465" y="8523"/>
                  <a:pt x="121095" y="0"/>
                  <a:pt x="111995" y="0"/>
                </a:cubicBezTo>
                <a:cubicBezTo>
                  <a:pt x="102896" y="0"/>
                  <a:pt x="95525" y="8523"/>
                  <a:pt x="95525" y="19045"/>
                </a:cubicBezTo>
                <a:cubicBezTo>
                  <a:pt x="95525" y="25045"/>
                  <a:pt x="97956" y="30425"/>
                  <a:pt x="101702" y="33901"/>
                </a:cubicBezTo>
                <a:lnTo>
                  <a:pt x="73539" y="85131"/>
                </a:lnTo>
                <a:cubicBezTo>
                  <a:pt x="69421" y="92605"/>
                  <a:pt x="60651" y="94462"/>
                  <a:pt x="54517" y="89129"/>
                </a:cubicBezTo>
                <a:lnTo>
                  <a:pt x="30017" y="67943"/>
                </a:lnTo>
                <a:cubicBezTo>
                  <a:pt x="31870" y="64896"/>
                  <a:pt x="32940" y="61134"/>
                  <a:pt x="32940" y="57134"/>
                </a:cubicBezTo>
                <a:cubicBezTo>
                  <a:pt x="32940" y="46613"/>
                  <a:pt x="25569" y="38089"/>
                  <a:pt x="16471" y="38089"/>
                </a:cubicBezTo>
                <a:cubicBezTo>
                  <a:pt x="7372" y="38089"/>
                  <a:pt x="0" y="46613"/>
                  <a:pt x="0" y="57134"/>
                </a:cubicBezTo>
                <a:cubicBezTo>
                  <a:pt x="0" y="67514"/>
                  <a:pt x="7206" y="75988"/>
                  <a:pt x="16141" y="76179"/>
                </a:cubicBezTo>
                <a:lnTo>
                  <a:pt x="29564" y="179733"/>
                </a:lnTo>
                <a:cubicBezTo>
                  <a:pt x="31499" y="194637"/>
                  <a:pt x="42575" y="205682"/>
                  <a:pt x="55626" y="205682"/>
                </a:cubicBezTo>
                <a:lnTo>
                  <a:pt x="168363" y="205682"/>
                </a:lnTo>
                <a:cubicBezTo>
                  <a:pt x="181415" y="205682"/>
                  <a:pt x="192491" y="194637"/>
                  <a:pt x="194426" y="179733"/>
                </a:cubicBezTo>
                <a:lnTo>
                  <a:pt x="207849" y="76179"/>
                </a:lnTo>
                <a:cubicBezTo>
                  <a:pt x="216784" y="75988"/>
                  <a:pt x="223989" y="67514"/>
                  <a:pt x="223989" y="57134"/>
                </a:cubicBezTo>
                <a:cubicBezTo>
                  <a:pt x="223989" y="46613"/>
                  <a:pt x="216619" y="38089"/>
                  <a:pt x="207520" y="38089"/>
                </a:cubicBezTo>
                <a:cubicBezTo>
                  <a:pt x="198420" y="38089"/>
                  <a:pt x="191050" y="46613"/>
                  <a:pt x="191050" y="57134"/>
                </a:cubicBezTo>
                <a:cubicBezTo>
                  <a:pt x="191050" y="61134"/>
                  <a:pt x="192120" y="64896"/>
                  <a:pt x="193973" y="67943"/>
                </a:cubicBezTo>
                <a:lnTo>
                  <a:pt x="169516" y="89176"/>
                </a:lnTo>
                <a:cubicBezTo>
                  <a:pt x="163381" y="94510"/>
                  <a:pt x="154612" y="92652"/>
                  <a:pt x="150493" y="85178"/>
                </a:cubicBezTo>
                <a:lnTo>
                  <a:pt x="122289" y="33901"/>
                </a:ln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3376" y="3229856"/>
            <a:ext cx="3809504" cy="31745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800" dirty="0">
                <a:solidFill>
                  <a:srgbClr val="2C3E50"/>
                </a:solidFill>
                <a:latin typeface="微软雅黑"/>
                <a:ea typeface="微软雅黑"/>
                <a:sym typeface="微软雅黑"/>
              </a:rPr>
              <a:t>BERT</a:t>
            </a:r>
            <a:r>
              <a:rPr lang="zh-CN" altLang="en-US" sz="1800" dirty="0">
                <a:solidFill>
                  <a:srgbClr val="2C3E50"/>
                </a:solidFill>
                <a:latin typeface="微软雅黑"/>
                <a:ea typeface="微软雅黑"/>
                <a:sym typeface="微软雅黑"/>
              </a:rPr>
              <a:t>的预训练任务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42578" y="3575715"/>
            <a:ext cx="5066487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MLM——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掩码语言建模（核心任务）：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随机掩码 </a:t>
            </a:r>
            <a:r>
              <a:rPr lang="en-US" altLang="zh-CN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15% 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的 </a:t>
            </a:r>
            <a:r>
              <a:rPr lang="en-US" altLang="zh-CN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token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，让模型基于双向上下文预测原词。</a:t>
            </a:r>
            <a:endParaRPr lang="en-US" altLang="zh-CN" sz="1400" b="0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lnSpc>
                <a:spcPct val="116666"/>
              </a:lnSpc>
              <a:defRPr/>
            </a:pP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NSP——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下一句预测：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判断两个句子是否为连续的上下文，学习句子间的逻辑关联。</a:t>
            </a:r>
            <a:endParaRPr lang="en-US" sz="1400" b="0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39252" y="5101260"/>
            <a:ext cx="5585809" cy="1460088"/>
          </a:xfrm>
          <a:custGeom>
            <a:avLst/>
            <a:gdLst/>
            <a:ahLst/>
            <a:cxnLst/>
            <a:rect l="l" t="t" r="r" b="b"/>
            <a:pathLst>
              <a:path w="5586536" h="1460278">
                <a:moveTo>
                  <a:pt x="35135" y="0"/>
                </a:moveTo>
                <a:lnTo>
                  <a:pt x="5481135" y="0"/>
                </a:lnTo>
                <a:cubicBezTo>
                  <a:pt x="5539346" y="0"/>
                  <a:pt x="5586536" y="54480"/>
                  <a:pt x="5586536" y="121685"/>
                </a:cubicBezTo>
                <a:lnTo>
                  <a:pt x="5586536" y="1338593"/>
                </a:lnTo>
                <a:cubicBezTo>
                  <a:pt x="5586536" y="1405799"/>
                  <a:pt x="5539346" y="1460278"/>
                  <a:pt x="5481135" y="1460278"/>
                </a:cubicBezTo>
                <a:lnTo>
                  <a:pt x="35135" y="1460278"/>
                </a:lnTo>
                <a:cubicBezTo>
                  <a:pt x="15731" y="1460278"/>
                  <a:pt x="0" y="1442117"/>
                  <a:pt x="0" y="1419715"/>
                </a:cubicBezTo>
                <a:lnTo>
                  <a:pt x="0" y="40563"/>
                </a:lnTo>
                <a:cubicBezTo>
                  <a:pt x="0" y="18176"/>
                  <a:pt x="15744" y="0"/>
                  <a:pt x="351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889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239253" y="5101261"/>
            <a:ext cx="35130" cy="1264711"/>
          </a:xfrm>
          <a:custGeom>
            <a:avLst/>
            <a:gdLst/>
            <a:ahLst/>
            <a:cxnLst/>
            <a:rect l="l" t="t" r="r" b="b"/>
            <a:pathLst>
              <a:path w="35135" h="1264876">
                <a:moveTo>
                  <a:pt x="35135" y="0"/>
                </a:moveTo>
                <a:lnTo>
                  <a:pt x="35135" y="0"/>
                </a:lnTo>
                <a:lnTo>
                  <a:pt x="35135" y="1264876"/>
                </a:lnTo>
                <a:lnTo>
                  <a:pt x="35135" y="1264876"/>
                </a:lnTo>
                <a:cubicBezTo>
                  <a:pt x="15731" y="1264876"/>
                  <a:pt x="0" y="1249145"/>
                  <a:pt x="0" y="1229741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491902" y="5290665"/>
            <a:ext cx="213420" cy="212926"/>
          </a:xfrm>
          <a:custGeom>
            <a:avLst/>
            <a:gdLst/>
            <a:ahLst/>
            <a:cxnLst/>
            <a:rect l="l" t="t" r="r" b="b"/>
            <a:pathLst>
              <a:path w="213448" h="212954">
                <a:moveTo>
                  <a:pt x="208259" y="63080"/>
                </a:moveTo>
                <a:lnTo>
                  <a:pt x="168733" y="102607"/>
                </a:lnTo>
                <a:cubicBezTo>
                  <a:pt x="164945" y="106395"/>
                  <a:pt x="159303" y="107507"/>
                  <a:pt x="154363" y="105448"/>
                </a:cubicBezTo>
                <a:cubicBezTo>
                  <a:pt x="149422" y="103389"/>
                  <a:pt x="146252" y="98613"/>
                  <a:pt x="146252" y="93302"/>
                </a:cubicBezTo>
                <a:lnTo>
                  <a:pt x="146252" y="66950"/>
                </a:lnTo>
                <a:lnTo>
                  <a:pt x="14494" y="66950"/>
                </a:lnTo>
                <a:cubicBezTo>
                  <a:pt x="7206" y="66950"/>
                  <a:pt x="1318" y="61062"/>
                  <a:pt x="1318" y="53773"/>
                </a:cubicBezTo>
                <a:cubicBezTo>
                  <a:pt x="1318" y="46486"/>
                  <a:pt x="7206" y="40598"/>
                  <a:pt x="14494" y="40598"/>
                </a:cubicBezTo>
                <a:lnTo>
                  <a:pt x="146252" y="40598"/>
                </a:lnTo>
                <a:lnTo>
                  <a:pt x="146252" y="14247"/>
                </a:lnTo>
                <a:cubicBezTo>
                  <a:pt x="146252" y="8935"/>
                  <a:pt x="149464" y="4118"/>
                  <a:pt x="154404" y="2059"/>
                </a:cubicBezTo>
                <a:cubicBezTo>
                  <a:pt x="159345" y="0"/>
                  <a:pt x="164985" y="1154"/>
                  <a:pt x="168774" y="4900"/>
                </a:cubicBezTo>
                <a:lnTo>
                  <a:pt x="208301" y="44428"/>
                </a:lnTo>
                <a:cubicBezTo>
                  <a:pt x="213447" y="49574"/>
                  <a:pt x="213447" y="57933"/>
                  <a:pt x="208301" y="63080"/>
                </a:cubicBezTo>
                <a:close/>
                <a:moveTo>
                  <a:pt x="44675" y="208012"/>
                </a:moveTo>
                <a:lnTo>
                  <a:pt x="5147" y="168486"/>
                </a:lnTo>
                <a:cubicBezTo>
                  <a:pt x="0" y="163339"/>
                  <a:pt x="0" y="154981"/>
                  <a:pt x="5147" y="149834"/>
                </a:cubicBezTo>
                <a:lnTo>
                  <a:pt x="44675" y="110308"/>
                </a:lnTo>
                <a:cubicBezTo>
                  <a:pt x="48463" y="106519"/>
                  <a:pt x="54104" y="105407"/>
                  <a:pt x="59045" y="107467"/>
                </a:cubicBezTo>
                <a:cubicBezTo>
                  <a:pt x="63985" y="109524"/>
                  <a:pt x="67197" y="114342"/>
                  <a:pt x="67197" y="119653"/>
                </a:cubicBezTo>
                <a:lnTo>
                  <a:pt x="67197" y="146005"/>
                </a:lnTo>
                <a:lnTo>
                  <a:pt x="198955" y="146005"/>
                </a:lnTo>
                <a:cubicBezTo>
                  <a:pt x="206243" y="146005"/>
                  <a:pt x="212130" y="151892"/>
                  <a:pt x="212130" y="159181"/>
                </a:cubicBezTo>
                <a:cubicBezTo>
                  <a:pt x="212130" y="166468"/>
                  <a:pt x="206243" y="172356"/>
                  <a:pt x="198955" y="172356"/>
                </a:cubicBezTo>
                <a:lnTo>
                  <a:pt x="67197" y="172356"/>
                </a:lnTo>
                <a:lnTo>
                  <a:pt x="67197" y="198708"/>
                </a:lnTo>
                <a:cubicBezTo>
                  <a:pt x="67197" y="204020"/>
                  <a:pt x="63985" y="208837"/>
                  <a:pt x="59045" y="210895"/>
                </a:cubicBezTo>
                <a:cubicBezTo>
                  <a:pt x="54104" y="212954"/>
                  <a:pt x="48463" y="211801"/>
                  <a:pt x="44675" y="208054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48773" y="5253641"/>
            <a:ext cx="3809504" cy="31745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8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典型应用场景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29727" y="5521675"/>
            <a:ext cx="5079339" cy="82539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400" b="0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广泛应用于需要深层理解的多模态任务</a:t>
            </a:r>
            <a:r>
              <a:rPr 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200" dirty="0"/>
          </a:p>
          <a:p>
            <a:pPr>
              <a:lnSpc>
                <a:spcPct val="116666"/>
              </a:lnSpc>
            </a:pPr>
            <a:r>
              <a:rPr lang="en-US" sz="1400" b="0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图文检索、视觉问答</a:t>
            </a:r>
            <a:r>
              <a:rPr 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(VQA)、</a:t>
            </a:r>
            <a:r>
              <a:rPr lang="en-US" sz="1400" b="0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图像分类与描述生成等</a:t>
            </a:r>
            <a:r>
              <a:rPr 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5892492-1111-4467-AB05-852AEA431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345" y="1145347"/>
            <a:ext cx="5180288" cy="505596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6630" y="660378"/>
            <a:ext cx="11677132" cy="439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970" y="843692"/>
            <a:ext cx="11832903" cy="25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5B7B9A"/>
                </a:solidFill>
                <a:latin typeface="+mn-ea"/>
                <a:ea typeface="+mn-ea"/>
                <a:cs typeface="Noto Sans SC" pitchFamily="34" charset="-120"/>
              </a:rPr>
              <a:t>Masked Language Modeling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971" y="1246983"/>
            <a:ext cx="1051814" cy="54995"/>
          </a:xfrm>
          <a:custGeom>
            <a:avLst/>
            <a:gdLst/>
            <a:ahLst/>
            <a:cxnLst/>
            <a:rect l="l" t="t" r="r" b="b"/>
            <a:pathLst>
              <a:path w="1026695" h="55002">
                <a:moveTo>
                  <a:pt x="0" y="0"/>
                </a:moveTo>
                <a:lnTo>
                  <a:pt x="1026695" y="0"/>
                </a:lnTo>
                <a:lnTo>
                  <a:pt x="1026695" y="55002"/>
                </a:lnTo>
                <a:lnTo>
                  <a:pt x="0" y="55002"/>
                </a:lnTo>
                <a:lnTo>
                  <a:pt x="0" y="0"/>
                </a:ln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6" name="Shape 4"/>
          <p:cNvSpPr/>
          <p:nvPr/>
        </p:nvSpPr>
        <p:spPr>
          <a:xfrm>
            <a:off x="274970" y="1375304"/>
            <a:ext cx="6545010" cy="2328094"/>
          </a:xfrm>
          <a:custGeom>
            <a:avLst/>
            <a:gdLst/>
            <a:ahLst/>
            <a:cxnLst/>
            <a:rect l="l" t="t" r="r" b="b"/>
            <a:pathLst>
              <a:path w="6178502" h="2328397">
                <a:moveTo>
                  <a:pt x="109993" y="0"/>
                </a:moveTo>
                <a:lnTo>
                  <a:pt x="6068509" y="0"/>
                </a:lnTo>
                <a:cubicBezTo>
                  <a:pt x="6129256" y="0"/>
                  <a:pt x="6178502" y="49246"/>
                  <a:pt x="6178502" y="109993"/>
                </a:cubicBezTo>
                <a:lnTo>
                  <a:pt x="6178502" y="2218404"/>
                </a:lnTo>
                <a:cubicBezTo>
                  <a:pt x="6178502" y="2279151"/>
                  <a:pt x="6129257" y="2328397"/>
                  <a:pt x="6068509" y="2328397"/>
                </a:cubicBezTo>
                <a:lnTo>
                  <a:pt x="109993" y="2328397"/>
                </a:lnTo>
                <a:cubicBezTo>
                  <a:pt x="49246" y="2328397"/>
                  <a:pt x="0" y="2279151"/>
                  <a:pt x="0" y="2218404"/>
                </a:cubicBezTo>
                <a:lnTo>
                  <a:pt x="0" y="109993"/>
                </a:lnTo>
                <a:cubicBezTo>
                  <a:pt x="0" y="49286"/>
                  <a:pt x="49286" y="0"/>
                  <a:pt x="109993" y="0"/>
                </a:cubicBezTo>
                <a:close/>
              </a:path>
            </a:pathLst>
          </a:custGeom>
          <a:solidFill>
            <a:srgbClr val="1A3A5A"/>
          </a:solidFill>
          <a:ln/>
        </p:spPr>
      </p:sp>
      <p:sp>
        <p:nvSpPr>
          <p:cNvPr id="7" name="Shape 5"/>
          <p:cNvSpPr/>
          <p:nvPr/>
        </p:nvSpPr>
        <p:spPr>
          <a:xfrm>
            <a:off x="514445" y="1521384"/>
            <a:ext cx="253563" cy="219977"/>
          </a:xfrm>
          <a:custGeom>
            <a:avLst/>
            <a:gdLst/>
            <a:ahLst/>
            <a:cxnLst/>
            <a:rect l="l" t="t" r="r" b="b"/>
            <a:pathLst>
              <a:path w="247507" h="220006">
                <a:moveTo>
                  <a:pt x="123753" y="27501"/>
                </a:moveTo>
                <a:cubicBezTo>
                  <a:pt x="27501" y="27501"/>
                  <a:pt x="0" y="68752"/>
                  <a:pt x="0" y="116878"/>
                </a:cubicBezTo>
                <a:cubicBezTo>
                  <a:pt x="0" y="165005"/>
                  <a:pt x="34376" y="192505"/>
                  <a:pt x="75627" y="192505"/>
                </a:cubicBezTo>
                <a:lnTo>
                  <a:pt x="79237" y="192505"/>
                </a:lnTo>
                <a:cubicBezTo>
                  <a:pt x="89635" y="192505"/>
                  <a:pt x="99175" y="186618"/>
                  <a:pt x="103815" y="177294"/>
                </a:cubicBezTo>
                <a:lnTo>
                  <a:pt x="113784" y="157399"/>
                </a:lnTo>
                <a:cubicBezTo>
                  <a:pt x="115675" y="153617"/>
                  <a:pt x="119499" y="151254"/>
                  <a:pt x="123753" y="151254"/>
                </a:cubicBezTo>
                <a:cubicBezTo>
                  <a:pt x="128007" y="151254"/>
                  <a:pt x="131832" y="153617"/>
                  <a:pt x="133722" y="157399"/>
                </a:cubicBezTo>
                <a:lnTo>
                  <a:pt x="143691" y="177294"/>
                </a:lnTo>
                <a:cubicBezTo>
                  <a:pt x="148332" y="186618"/>
                  <a:pt x="157872" y="192505"/>
                  <a:pt x="168270" y="192505"/>
                </a:cubicBezTo>
                <a:lnTo>
                  <a:pt x="171880" y="192505"/>
                </a:lnTo>
                <a:cubicBezTo>
                  <a:pt x="213131" y="192505"/>
                  <a:pt x="247507" y="165005"/>
                  <a:pt x="247507" y="116878"/>
                </a:cubicBezTo>
                <a:cubicBezTo>
                  <a:pt x="247507" y="68752"/>
                  <a:pt x="220006" y="27501"/>
                  <a:pt x="123753" y="27501"/>
                </a:cubicBezTo>
                <a:close/>
                <a:moveTo>
                  <a:pt x="41251" y="110003"/>
                </a:moveTo>
                <a:cubicBezTo>
                  <a:pt x="41251" y="94825"/>
                  <a:pt x="53574" y="82502"/>
                  <a:pt x="68752" y="82502"/>
                </a:cubicBezTo>
                <a:cubicBezTo>
                  <a:pt x="83930" y="82502"/>
                  <a:pt x="96253" y="94825"/>
                  <a:pt x="96253" y="110003"/>
                </a:cubicBezTo>
                <a:cubicBezTo>
                  <a:pt x="96253" y="125181"/>
                  <a:pt x="83930" y="137504"/>
                  <a:pt x="68752" y="137504"/>
                </a:cubicBezTo>
                <a:cubicBezTo>
                  <a:pt x="53574" y="137504"/>
                  <a:pt x="41251" y="125181"/>
                  <a:pt x="41251" y="110003"/>
                </a:cubicBezTo>
                <a:close/>
                <a:moveTo>
                  <a:pt x="178755" y="82502"/>
                </a:moveTo>
                <a:cubicBezTo>
                  <a:pt x="193933" y="82502"/>
                  <a:pt x="206256" y="94825"/>
                  <a:pt x="206256" y="110003"/>
                </a:cubicBezTo>
                <a:cubicBezTo>
                  <a:pt x="206256" y="125181"/>
                  <a:pt x="193933" y="137504"/>
                  <a:pt x="178755" y="137504"/>
                </a:cubicBezTo>
                <a:cubicBezTo>
                  <a:pt x="163577" y="137504"/>
                  <a:pt x="151254" y="125181"/>
                  <a:pt x="151254" y="110003"/>
                </a:cubicBezTo>
                <a:cubicBezTo>
                  <a:pt x="151254" y="94825"/>
                  <a:pt x="163577" y="82502"/>
                  <a:pt x="178755" y="82502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8" name="Text 6"/>
          <p:cNvSpPr/>
          <p:nvPr/>
        </p:nvSpPr>
        <p:spPr>
          <a:xfrm>
            <a:off x="894789" y="1484784"/>
            <a:ext cx="1239977" cy="293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+mn-ea"/>
                <a:ea typeface="+mn-ea"/>
                <a:cs typeface="Noto Sans SC" pitchFamily="34" charset="-120"/>
              </a:rPr>
              <a:t>核心思想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0358" y="1924677"/>
            <a:ext cx="5963407" cy="540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+mn-ea"/>
                <a:ea typeface="+mn-ea"/>
                <a:cs typeface="Noto Sans SC" pitchFamily="34" charset="-120"/>
              </a:rPr>
              <a:t>随机遮蔽输入句子中的部分词汇，让模型根据上下文预测被遮蔽的词，从而实现</a:t>
            </a:r>
            <a:r>
              <a:rPr lang="en-US" sz="2000" dirty="0">
                <a:solidFill>
                  <a:srgbClr val="C8A464"/>
                </a:solidFill>
                <a:latin typeface="+mn-ea"/>
                <a:ea typeface="+mn-ea"/>
                <a:cs typeface="Noto Sans SC" pitchFamily="34" charset="-120"/>
              </a:rPr>
              <a:t>双向上下文理解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0358" y="2718020"/>
            <a:ext cx="5878887" cy="879848"/>
          </a:xfrm>
          <a:custGeom>
            <a:avLst/>
            <a:gdLst/>
            <a:ahLst/>
            <a:cxnLst/>
            <a:rect l="l" t="t" r="r" b="b"/>
            <a:pathLst>
              <a:path w="5738490" h="770021">
                <a:moveTo>
                  <a:pt x="73337" y="0"/>
                </a:moveTo>
                <a:lnTo>
                  <a:pt x="5665153" y="0"/>
                </a:lnTo>
                <a:cubicBezTo>
                  <a:pt x="5705656" y="0"/>
                  <a:pt x="5738490" y="32834"/>
                  <a:pt x="5738490" y="73337"/>
                </a:cubicBezTo>
                <a:lnTo>
                  <a:pt x="5738490" y="696684"/>
                </a:lnTo>
                <a:cubicBezTo>
                  <a:pt x="5738490" y="737187"/>
                  <a:pt x="5705656" y="770021"/>
                  <a:pt x="5665153" y="770021"/>
                </a:cubicBezTo>
                <a:lnTo>
                  <a:pt x="73337" y="770021"/>
                </a:lnTo>
                <a:cubicBezTo>
                  <a:pt x="32861" y="770021"/>
                  <a:pt x="0" y="737160"/>
                  <a:pt x="0" y="696684"/>
                </a:cubicBezTo>
                <a:lnTo>
                  <a:pt x="0" y="73337"/>
                </a:lnTo>
                <a:cubicBezTo>
                  <a:pt x="0" y="32861"/>
                  <a:pt x="32861" y="0"/>
                  <a:pt x="7333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0617" y="2880374"/>
            <a:ext cx="5653497" cy="476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+mn-ea"/>
                <a:ea typeface="+mn-ea"/>
                <a:cs typeface="Noto Sans SC" pitchFamily="34" charset="-120"/>
              </a:rPr>
              <a:t>与从左到右的语言模型不同，MLM可以同时利用被遮蔽词左右两侧的上下文信息进行预测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52110" y="1393635"/>
            <a:ext cx="5063546" cy="4422703"/>
          </a:xfrm>
          <a:custGeom>
            <a:avLst/>
            <a:gdLst/>
            <a:ahLst/>
            <a:cxnLst/>
            <a:rect l="l" t="t" r="r" b="b"/>
            <a:pathLst>
              <a:path w="5060138" h="4436788">
                <a:moveTo>
                  <a:pt x="36668" y="0"/>
                </a:moveTo>
                <a:lnTo>
                  <a:pt x="5023471" y="0"/>
                </a:lnTo>
                <a:cubicBezTo>
                  <a:pt x="5043722" y="0"/>
                  <a:pt x="5060138" y="16417"/>
                  <a:pt x="5060138" y="36668"/>
                </a:cubicBezTo>
                <a:lnTo>
                  <a:pt x="5060138" y="4326800"/>
                </a:lnTo>
                <a:cubicBezTo>
                  <a:pt x="5060138" y="4387545"/>
                  <a:pt x="5010895" y="4436788"/>
                  <a:pt x="4950150" y="4436788"/>
                </a:cubicBezTo>
                <a:lnTo>
                  <a:pt x="109988" y="4436788"/>
                </a:lnTo>
                <a:cubicBezTo>
                  <a:pt x="49243" y="4436788"/>
                  <a:pt x="0" y="4387545"/>
                  <a:pt x="0" y="4326800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002" dist="366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31718" y="1393635"/>
            <a:ext cx="5183938" cy="36663"/>
          </a:xfrm>
          <a:custGeom>
            <a:avLst/>
            <a:gdLst/>
            <a:ahLst/>
            <a:cxnLst/>
            <a:rect l="l" t="t" r="r" b="b"/>
            <a:pathLst>
              <a:path w="5060138" h="36668">
                <a:moveTo>
                  <a:pt x="36668" y="0"/>
                </a:moveTo>
                <a:lnTo>
                  <a:pt x="5023471" y="0"/>
                </a:lnTo>
                <a:cubicBezTo>
                  <a:pt x="5043722" y="0"/>
                  <a:pt x="5060138" y="16417"/>
                  <a:pt x="5060138" y="36668"/>
                </a:cubicBezTo>
                <a:lnTo>
                  <a:pt x="5060138" y="36668"/>
                </a:lnTo>
                <a:lnTo>
                  <a:pt x="0" y="36668"/>
                </a:ln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3A5A"/>
          </a:solidFill>
          <a:ln/>
        </p:spPr>
      </p:sp>
      <p:sp>
        <p:nvSpPr>
          <p:cNvPr id="29" name="Shape 27"/>
          <p:cNvSpPr/>
          <p:nvPr/>
        </p:nvSpPr>
        <p:spPr>
          <a:xfrm>
            <a:off x="7068846" y="1686876"/>
            <a:ext cx="211302" cy="183314"/>
          </a:xfrm>
          <a:custGeom>
            <a:avLst/>
            <a:gdLst/>
            <a:ahLst/>
            <a:cxnLst/>
            <a:rect l="l" t="t" r="r" b="b"/>
            <a:pathLst>
              <a:path w="206256" h="183338">
                <a:moveTo>
                  <a:pt x="110827" y="-6768"/>
                </a:moveTo>
                <a:cubicBezTo>
                  <a:pt x="109358" y="-9632"/>
                  <a:pt x="106386" y="-11459"/>
                  <a:pt x="103164" y="-11459"/>
                </a:cubicBezTo>
                <a:cubicBezTo>
                  <a:pt x="99941" y="-11459"/>
                  <a:pt x="96969" y="-9632"/>
                  <a:pt x="95501" y="-6768"/>
                </a:cubicBezTo>
                <a:lnTo>
                  <a:pt x="69146" y="44868"/>
                </a:lnTo>
                <a:lnTo>
                  <a:pt x="11888" y="53963"/>
                </a:lnTo>
                <a:cubicBezTo>
                  <a:pt x="8701" y="54464"/>
                  <a:pt x="6052" y="56720"/>
                  <a:pt x="5049" y="59800"/>
                </a:cubicBezTo>
                <a:cubicBezTo>
                  <a:pt x="4046" y="62879"/>
                  <a:pt x="4870" y="66245"/>
                  <a:pt x="7126" y="68537"/>
                </a:cubicBezTo>
                <a:lnTo>
                  <a:pt x="48091" y="109537"/>
                </a:lnTo>
                <a:lnTo>
                  <a:pt x="39067" y="166795"/>
                </a:lnTo>
                <a:cubicBezTo>
                  <a:pt x="38566" y="169982"/>
                  <a:pt x="39890" y="173205"/>
                  <a:pt x="42504" y="175102"/>
                </a:cubicBezTo>
                <a:cubicBezTo>
                  <a:pt x="45118" y="177000"/>
                  <a:pt x="48556" y="177287"/>
                  <a:pt x="51456" y="175819"/>
                </a:cubicBezTo>
                <a:lnTo>
                  <a:pt x="103164" y="149535"/>
                </a:lnTo>
                <a:lnTo>
                  <a:pt x="154835" y="175819"/>
                </a:lnTo>
                <a:cubicBezTo>
                  <a:pt x="157700" y="177287"/>
                  <a:pt x="161173" y="177000"/>
                  <a:pt x="163787" y="175102"/>
                </a:cubicBezTo>
                <a:cubicBezTo>
                  <a:pt x="166401" y="173205"/>
                  <a:pt x="167726" y="170018"/>
                  <a:pt x="167225" y="166795"/>
                </a:cubicBezTo>
                <a:lnTo>
                  <a:pt x="158165" y="109537"/>
                </a:lnTo>
                <a:lnTo>
                  <a:pt x="199130" y="68537"/>
                </a:lnTo>
                <a:cubicBezTo>
                  <a:pt x="201422" y="66245"/>
                  <a:pt x="202209" y="62879"/>
                  <a:pt x="201207" y="59800"/>
                </a:cubicBezTo>
                <a:cubicBezTo>
                  <a:pt x="200204" y="56720"/>
                  <a:pt x="197590" y="54464"/>
                  <a:pt x="194367" y="53963"/>
                </a:cubicBezTo>
                <a:lnTo>
                  <a:pt x="137146" y="44868"/>
                </a:lnTo>
                <a:lnTo>
                  <a:pt x="110827" y="-6768"/>
                </a:ln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30" name="Text 28"/>
          <p:cNvSpPr/>
          <p:nvPr/>
        </p:nvSpPr>
        <p:spPr>
          <a:xfrm>
            <a:off x="7291886" y="1631945"/>
            <a:ext cx="4611075" cy="293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1A3A5A"/>
                </a:solidFill>
                <a:latin typeface="+mn-ea"/>
                <a:ea typeface="+mn-ea"/>
                <a:cs typeface="Noto Sans SC" pitchFamily="34" charset="-120"/>
              </a:rPr>
              <a:t>核心优势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075889" y="2071835"/>
            <a:ext cx="4714378" cy="1325627"/>
          </a:xfrm>
          <a:custGeom>
            <a:avLst/>
            <a:gdLst/>
            <a:ahLst/>
            <a:cxnLst/>
            <a:rect l="l" t="t" r="r" b="b"/>
            <a:pathLst>
              <a:path w="4601792" h="861690">
                <a:moveTo>
                  <a:pt x="36668" y="0"/>
                </a:moveTo>
                <a:lnTo>
                  <a:pt x="4528454" y="0"/>
                </a:lnTo>
                <a:cubicBezTo>
                  <a:pt x="4568958" y="0"/>
                  <a:pt x="4601792" y="32835"/>
                  <a:pt x="4601792" y="73338"/>
                </a:cubicBezTo>
                <a:lnTo>
                  <a:pt x="4601792" y="788352"/>
                </a:lnTo>
                <a:cubicBezTo>
                  <a:pt x="4601792" y="828855"/>
                  <a:pt x="4568958" y="861690"/>
                  <a:pt x="4528454" y="861690"/>
                </a:cubicBezTo>
                <a:lnTo>
                  <a:pt x="36668" y="861690"/>
                </a:lnTo>
                <a:cubicBezTo>
                  <a:pt x="16417" y="861690"/>
                  <a:pt x="0" y="845274"/>
                  <a:pt x="0" y="82502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Shape 30"/>
          <p:cNvSpPr/>
          <p:nvPr/>
        </p:nvSpPr>
        <p:spPr>
          <a:xfrm>
            <a:off x="7075889" y="2071836"/>
            <a:ext cx="37565" cy="861578"/>
          </a:xfrm>
          <a:custGeom>
            <a:avLst/>
            <a:gdLst/>
            <a:ahLst/>
            <a:cxnLst/>
            <a:rect l="l" t="t" r="r" b="b"/>
            <a:pathLst>
              <a:path w="36668" h="861690">
                <a:moveTo>
                  <a:pt x="36668" y="0"/>
                </a:moveTo>
                <a:lnTo>
                  <a:pt x="36668" y="0"/>
                </a:lnTo>
                <a:lnTo>
                  <a:pt x="36668" y="861690"/>
                </a:lnTo>
                <a:lnTo>
                  <a:pt x="36668" y="861690"/>
                </a:lnTo>
                <a:cubicBezTo>
                  <a:pt x="16417" y="861690"/>
                  <a:pt x="0" y="845274"/>
                  <a:pt x="0" y="82502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3A5A"/>
          </a:solidFill>
          <a:ln/>
        </p:spPr>
      </p:sp>
      <p:sp>
        <p:nvSpPr>
          <p:cNvPr id="33" name="Shape 31"/>
          <p:cNvSpPr/>
          <p:nvPr/>
        </p:nvSpPr>
        <p:spPr>
          <a:xfrm>
            <a:off x="7268408" y="2255151"/>
            <a:ext cx="187823" cy="183314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79972" y="145596"/>
                </a:moveTo>
                <a:lnTo>
                  <a:pt x="145596" y="179972"/>
                </a:lnTo>
                <a:cubicBezTo>
                  <a:pt x="142302" y="183267"/>
                  <a:pt x="137396" y="184234"/>
                  <a:pt x="133099" y="182443"/>
                </a:cubicBezTo>
                <a:cubicBezTo>
                  <a:pt x="128802" y="180653"/>
                  <a:pt x="126045" y="176499"/>
                  <a:pt x="126045" y="171880"/>
                </a:cubicBezTo>
                <a:lnTo>
                  <a:pt x="126045" y="148962"/>
                </a:lnTo>
                <a:lnTo>
                  <a:pt x="11459" y="148962"/>
                </a:lnTo>
                <a:cubicBezTo>
                  <a:pt x="5121" y="148962"/>
                  <a:pt x="0" y="143842"/>
                  <a:pt x="0" y="137504"/>
                </a:cubicBezTo>
                <a:cubicBezTo>
                  <a:pt x="0" y="131166"/>
                  <a:pt x="5121" y="126045"/>
                  <a:pt x="11459" y="126045"/>
                </a:cubicBezTo>
                <a:lnTo>
                  <a:pt x="126045" y="126045"/>
                </a:lnTo>
                <a:lnTo>
                  <a:pt x="126045" y="103128"/>
                </a:lnTo>
                <a:cubicBezTo>
                  <a:pt x="126045" y="98509"/>
                  <a:pt x="128838" y="94319"/>
                  <a:pt x="133135" y="92529"/>
                </a:cubicBezTo>
                <a:cubicBezTo>
                  <a:pt x="137432" y="90738"/>
                  <a:pt x="142338" y="91741"/>
                  <a:pt x="145632" y="94999"/>
                </a:cubicBezTo>
                <a:lnTo>
                  <a:pt x="180008" y="129375"/>
                </a:lnTo>
                <a:cubicBezTo>
                  <a:pt x="184484" y="133851"/>
                  <a:pt x="184484" y="141120"/>
                  <a:pt x="180008" y="145596"/>
                </a:cubicBezTo>
                <a:close/>
                <a:moveTo>
                  <a:pt x="3366" y="53927"/>
                </a:moveTo>
                <a:cubicBezTo>
                  <a:pt x="-1110" y="49451"/>
                  <a:pt x="-1110" y="42182"/>
                  <a:pt x="3366" y="37706"/>
                </a:cubicBezTo>
                <a:lnTo>
                  <a:pt x="37742" y="3330"/>
                </a:lnTo>
                <a:cubicBezTo>
                  <a:pt x="41036" y="36"/>
                  <a:pt x="45942" y="-931"/>
                  <a:pt x="50239" y="859"/>
                </a:cubicBezTo>
                <a:cubicBezTo>
                  <a:pt x="54536" y="2650"/>
                  <a:pt x="57293" y="6839"/>
                  <a:pt x="57293" y="11459"/>
                </a:cubicBezTo>
                <a:lnTo>
                  <a:pt x="57293" y="34376"/>
                </a:lnTo>
                <a:lnTo>
                  <a:pt x="171880" y="34376"/>
                </a:lnTo>
                <a:cubicBezTo>
                  <a:pt x="178218" y="34376"/>
                  <a:pt x="183338" y="39497"/>
                  <a:pt x="183338" y="45835"/>
                </a:cubicBezTo>
                <a:cubicBezTo>
                  <a:pt x="183338" y="52173"/>
                  <a:pt x="178218" y="57293"/>
                  <a:pt x="171880" y="57293"/>
                </a:cubicBezTo>
                <a:lnTo>
                  <a:pt x="57293" y="57293"/>
                </a:lnTo>
                <a:lnTo>
                  <a:pt x="57293" y="80211"/>
                </a:lnTo>
                <a:cubicBezTo>
                  <a:pt x="57293" y="84830"/>
                  <a:pt x="54500" y="89019"/>
                  <a:pt x="50203" y="90810"/>
                </a:cubicBezTo>
                <a:cubicBezTo>
                  <a:pt x="45906" y="92600"/>
                  <a:pt x="41000" y="91598"/>
                  <a:pt x="37706" y="88339"/>
                </a:cubicBezTo>
                <a:lnTo>
                  <a:pt x="3330" y="53963"/>
                </a:lnTo>
                <a:close/>
              </a:path>
            </a:pathLst>
          </a:custGeom>
          <a:solidFill>
            <a:srgbClr val="1A3A5A"/>
          </a:solidFill>
          <a:ln/>
        </p:spPr>
      </p:sp>
      <p:sp>
        <p:nvSpPr>
          <p:cNvPr id="34" name="Text 32"/>
          <p:cNvSpPr/>
          <p:nvPr/>
        </p:nvSpPr>
        <p:spPr>
          <a:xfrm>
            <a:off x="7592404" y="2126894"/>
            <a:ext cx="1599146" cy="34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A3A5A"/>
                </a:solidFill>
                <a:latin typeface="+mn-ea"/>
                <a:ea typeface="+mn-ea"/>
                <a:cs typeface="Noto Sans SC" pitchFamily="34" charset="-120"/>
              </a:rPr>
              <a:t>双向上下文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44931" y="2794647"/>
            <a:ext cx="4470208" cy="23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5B7B9A"/>
                </a:solidFill>
                <a:latin typeface="+mn-ea"/>
                <a:ea typeface="+mn-ea"/>
                <a:cs typeface="Noto Sans SC" pitchFamily="34" charset="-120"/>
              </a:rPr>
              <a:t>同时利用左右两侧的上下文信息，理解更全面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075889" y="3539530"/>
            <a:ext cx="4714378" cy="861578"/>
          </a:xfrm>
          <a:custGeom>
            <a:avLst/>
            <a:gdLst/>
            <a:ahLst/>
            <a:cxnLst/>
            <a:rect l="l" t="t" r="r" b="b"/>
            <a:pathLst>
              <a:path w="4601792" h="861690">
                <a:moveTo>
                  <a:pt x="36668" y="0"/>
                </a:moveTo>
                <a:lnTo>
                  <a:pt x="4528454" y="0"/>
                </a:lnTo>
                <a:cubicBezTo>
                  <a:pt x="4568958" y="0"/>
                  <a:pt x="4601792" y="32835"/>
                  <a:pt x="4601792" y="73338"/>
                </a:cubicBezTo>
                <a:lnTo>
                  <a:pt x="4601792" y="788352"/>
                </a:lnTo>
                <a:cubicBezTo>
                  <a:pt x="4601792" y="828855"/>
                  <a:pt x="4568958" y="861690"/>
                  <a:pt x="4528454" y="861690"/>
                </a:cubicBezTo>
                <a:lnTo>
                  <a:pt x="36668" y="861690"/>
                </a:lnTo>
                <a:cubicBezTo>
                  <a:pt x="16417" y="861690"/>
                  <a:pt x="0" y="845274"/>
                  <a:pt x="0" y="82502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7075889" y="3539530"/>
            <a:ext cx="37565" cy="861578"/>
          </a:xfrm>
          <a:custGeom>
            <a:avLst/>
            <a:gdLst/>
            <a:ahLst/>
            <a:cxnLst/>
            <a:rect l="l" t="t" r="r" b="b"/>
            <a:pathLst>
              <a:path w="36668" h="861690">
                <a:moveTo>
                  <a:pt x="36668" y="0"/>
                </a:moveTo>
                <a:lnTo>
                  <a:pt x="36668" y="0"/>
                </a:lnTo>
                <a:lnTo>
                  <a:pt x="36668" y="861690"/>
                </a:lnTo>
                <a:lnTo>
                  <a:pt x="36668" y="861690"/>
                </a:lnTo>
                <a:cubicBezTo>
                  <a:pt x="16417" y="861690"/>
                  <a:pt x="0" y="845274"/>
                  <a:pt x="0" y="82502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5B7B9A"/>
          </a:solidFill>
          <a:ln/>
        </p:spPr>
      </p:sp>
      <p:sp>
        <p:nvSpPr>
          <p:cNvPr id="38" name="Shape 36"/>
          <p:cNvSpPr/>
          <p:nvPr/>
        </p:nvSpPr>
        <p:spPr>
          <a:xfrm>
            <a:off x="7268408" y="3722845"/>
            <a:ext cx="187823" cy="183314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42970" y="20053"/>
                </a:moveTo>
                <a:cubicBezTo>
                  <a:pt x="42970" y="8988"/>
                  <a:pt x="51958" y="0"/>
                  <a:pt x="63023" y="0"/>
                </a:cubicBezTo>
                <a:lnTo>
                  <a:pt x="71617" y="0"/>
                </a:lnTo>
                <a:cubicBezTo>
                  <a:pt x="77955" y="0"/>
                  <a:pt x="83075" y="5121"/>
                  <a:pt x="83075" y="11459"/>
                </a:cubicBezTo>
                <a:lnTo>
                  <a:pt x="83075" y="171880"/>
                </a:lnTo>
                <a:cubicBezTo>
                  <a:pt x="83075" y="178218"/>
                  <a:pt x="77955" y="183338"/>
                  <a:pt x="71617" y="183338"/>
                </a:cubicBezTo>
                <a:lnTo>
                  <a:pt x="60158" y="183338"/>
                </a:lnTo>
                <a:cubicBezTo>
                  <a:pt x="49487" y="183338"/>
                  <a:pt x="40499" y="176033"/>
                  <a:pt x="37957" y="166150"/>
                </a:cubicBezTo>
                <a:cubicBezTo>
                  <a:pt x="37706" y="166150"/>
                  <a:pt x="37491" y="166150"/>
                  <a:pt x="37241" y="166150"/>
                </a:cubicBezTo>
                <a:cubicBezTo>
                  <a:pt x="21413" y="166150"/>
                  <a:pt x="8594" y="153331"/>
                  <a:pt x="8594" y="137504"/>
                </a:cubicBezTo>
                <a:cubicBezTo>
                  <a:pt x="8594" y="131058"/>
                  <a:pt x="10742" y="125114"/>
                  <a:pt x="14323" y="120316"/>
                </a:cubicBezTo>
                <a:cubicBezTo>
                  <a:pt x="7377" y="115088"/>
                  <a:pt x="2865" y="106780"/>
                  <a:pt x="2865" y="97398"/>
                </a:cubicBezTo>
                <a:cubicBezTo>
                  <a:pt x="2865" y="86334"/>
                  <a:pt x="9167" y="76701"/>
                  <a:pt x="18334" y="71939"/>
                </a:cubicBezTo>
                <a:cubicBezTo>
                  <a:pt x="15791" y="67642"/>
                  <a:pt x="14323" y="62629"/>
                  <a:pt x="14323" y="57293"/>
                </a:cubicBezTo>
                <a:cubicBezTo>
                  <a:pt x="14323" y="41466"/>
                  <a:pt x="27143" y="28647"/>
                  <a:pt x="42970" y="28647"/>
                </a:cubicBezTo>
                <a:lnTo>
                  <a:pt x="42970" y="20053"/>
                </a:lnTo>
                <a:close/>
                <a:moveTo>
                  <a:pt x="140368" y="20053"/>
                </a:moveTo>
                <a:lnTo>
                  <a:pt x="140368" y="28647"/>
                </a:lnTo>
                <a:cubicBezTo>
                  <a:pt x="156196" y="28647"/>
                  <a:pt x="169015" y="41466"/>
                  <a:pt x="169015" y="57293"/>
                </a:cubicBezTo>
                <a:cubicBezTo>
                  <a:pt x="169015" y="62664"/>
                  <a:pt x="167547" y="67678"/>
                  <a:pt x="165005" y="71939"/>
                </a:cubicBezTo>
                <a:cubicBezTo>
                  <a:pt x="174207" y="76701"/>
                  <a:pt x="180474" y="86298"/>
                  <a:pt x="180474" y="97398"/>
                </a:cubicBezTo>
                <a:cubicBezTo>
                  <a:pt x="180474" y="106780"/>
                  <a:pt x="175962" y="115088"/>
                  <a:pt x="169015" y="120316"/>
                </a:cubicBezTo>
                <a:cubicBezTo>
                  <a:pt x="172596" y="125114"/>
                  <a:pt x="174744" y="131058"/>
                  <a:pt x="174744" y="137504"/>
                </a:cubicBezTo>
                <a:cubicBezTo>
                  <a:pt x="174744" y="153331"/>
                  <a:pt x="161925" y="166150"/>
                  <a:pt x="146098" y="166150"/>
                </a:cubicBezTo>
                <a:cubicBezTo>
                  <a:pt x="145847" y="166150"/>
                  <a:pt x="145632" y="166150"/>
                  <a:pt x="145382" y="166150"/>
                </a:cubicBezTo>
                <a:cubicBezTo>
                  <a:pt x="142839" y="176033"/>
                  <a:pt x="133851" y="183338"/>
                  <a:pt x="123180" y="183338"/>
                </a:cubicBezTo>
                <a:lnTo>
                  <a:pt x="111722" y="183338"/>
                </a:lnTo>
                <a:cubicBezTo>
                  <a:pt x="105384" y="183338"/>
                  <a:pt x="100263" y="178218"/>
                  <a:pt x="100263" y="171880"/>
                </a:cubicBezTo>
                <a:lnTo>
                  <a:pt x="100263" y="11459"/>
                </a:lnTo>
                <a:cubicBezTo>
                  <a:pt x="100263" y="5121"/>
                  <a:pt x="105384" y="0"/>
                  <a:pt x="111722" y="0"/>
                </a:cubicBezTo>
                <a:lnTo>
                  <a:pt x="120316" y="0"/>
                </a:lnTo>
                <a:cubicBezTo>
                  <a:pt x="131381" y="0"/>
                  <a:pt x="140368" y="8988"/>
                  <a:pt x="140368" y="20053"/>
                </a:cubicBezTo>
                <a:close/>
              </a:path>
            </a:pathLst>
          </a:custGeom>
          <a:solidFill>
            <a:srgbClr val="5B7B9A"/>
          </a:solidFill>
          <a:ln/>
        </p:spPr>
      </p:sp>
      <p:sp>
        <p:nvSpPr>
          <p:cNvPr id="39" name="Text 37"/>
          <p:cNvSpPr/>
          <p:nvPr/>
        </p:nvSpPr>
        <p:spPr>
          <a:xfrm>
            <a:off x="7592404" y="3640167"/>
            <a:ext cx="1743162" cy="30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A3A5A"/>
                </a:solidFill>
                <a:latin typeface="+mn-ea"/>
                <a:ea typeface="+mn-ea"/>
                <a:cs typeface="Noto Sans SC" pitchFamily="34" charset="-120"/>
              </a:rPr>
              <a:t>深度语义理解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44931" y="4016148"/>
            <a:ext cx="4470208" cy="23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5B7B9A"/>
                </a:solidFill>
                <a:latin typeface="+mn-ea"/>
                <a:ea typeface="+mn-ea"/>
                <a:cs typeface="Noto Sans SC" pitchFamily="34" charset="-120"/>
              </a:rPr>
              <a:t>被迫理解句子语义才能准确预测缺失词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075889" y="4619650"/>
            <a:ext cx="4714378" cy="861578"/>
          </a:xfrm>
          <a:custGeom>
            <a:avLst/>
            <a:gdLst/>
            <a:ahLst/>
            <a:cxnLst/>
            <a:rect l="l" t="t" r="r" b="b"/>
            <a:pathLst>
              <a:path w="4601792" h="861690">
                <a:moveTo>
                  <a:pt x="36668" y="0"/>
                </a:moveTo>
                <a:lnTo>
                  <a:pt x="4528454" y="0"/>
                </a:lnTo>
                <a:cubicBezTo>
                  <a:pt x="4568958" y="0"/>
                  <a:pt x="4601792" y="32835"/>
                  <a:pt x="4601792" y="73338"/>
                </a:cubicBezTo>
                <a:lnTo>
                  <a:pt x="4601792" y="788352"/>
                </a:lnTo>
                <a:cubicBezTo>
                  <a:pt x="4601792" y="828855"/>
                  <a:pt x="4568958" y="861690"/>
                  <a:pt x="4528454" y="861690"/>
                </a:cubicBezTo>
                <a:lnTo>
                  <a:pt x="36668" y="861690"/>
                </a:lnTo>
                <a:cubicBezTo>
                  <a:pt x="16417" y="861690"/>
                  <a:pt x="0" y="845274"/>
                  <a:pt x="0" y="82502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2" name="Shape 40"/>
          <p:cNvSpPr/>
          <p:nvPr/>
        </p:nvSpPr>
        <p:spPr>
          <a:xfrm>
            <a:off x="7075889" y="4619650"/>
            <a:ext cx="37565" cy="861578"/>
          </a:xfrm>
          <a:custGeom>
            <a:avLst/>
            <a:gdLst/>
            <a:ahLst/>
            <a:cxnLst/>
            <a:rect l="l" t="t" r="r" b="b"/>
            <a:pathLst>
              <a:path w="36668" h="861690">
                <a:moveTo>
                  <a:pt x="36668" y="0"/>
                </a:moveTo>
                <a:lnTo>
                  <a:pt x="36668" y="0"/>
                </a:lnTo>
                <a:lnTo>
                  <a:pt x="36668" y="861690"/>
                </a:lnTo>
                <a:lnTo>
                  <a:pt x="36668" y="861690"/>
                </a:lnTo>
                <a:cubicBezTo>
                  <a:pt x="16417" y="861690"/>
                  <a:pt x="0" y="845274"/>
                  <a:pt x="0" y="82502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43" name="Shape 41"/>
          <p:cNvSpPr/>
          <p:nvPr/>
        </p:nvSpPr>
        <p:spPr>
          <a:xfrm>
            <a:off x="7268408" y="4802965"/>
            <a:ext cx="187823" cy="183314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79972" y="53927"/>
                </a:moveTo>
                <a:lnTo>
                  <a:pt x="145596" y="88303"/>
                </a:lnTo>
                <a:cubicBezTo>
                  <a:pt x="142302" y="91598"/>
                  <a:pt x="137396" y="92564"/>
                  <a:pt x="133099" y="90774"/>
                </a:cubicBezTo>
                <a:cubicBezTo>
                  <a:pt x="128802" y="88984"/>
                  <a:pt x="126045" y="84830"/>
                  <a:pt x="126045" y="80211"/>
                </a:cubicBezTo>
                <a:lnTo>
                  <a:pt x="126045" y="57293"/>
                </a:lnTo>
                <a:lnTo>
                  <a:pt x="11459" y="57293"/>
                </a:lnTo>
                <a:cubicBezTo>
                  <a:pt x="5121" y="57293"/>
                  <a:pt x="0" y="52173"/>
                  <a:pt x="0" y="45835"/>
                </a:cubicBezTo>
                <a:cubicBezTo>
                  <a:pt x="0" y="39497"/>
                  <a:pt x="5121" y="34376"/>
                  <a:pt x="11459" y="34376"/>
                </a:cubicBezTo>
                <a:lnTo>
                  <a:pt x="126045" y="34376"/>
                </a:lnTo>
                <a:lnTo>
                  <a:pt x="126045" y="11459"/>
                </a:lnTo>
                <a:cubicBezTo>
                  <a:pt x="126045" y="6839"/>
                  <a:pt x="128838" y="2650"/>
                  <a:pt x="133135" y="859"/>
                </a:cubicBezTo>
                <a:cubicBezTo>
                  <a:pt x="137432" y="-931"/>
                  <a:pt x="142338" y="72"/>
                  <a:pt x="145632" y="3330"/>
                </a:cubicBezTo>
                <a:lnTo>
                  <a:pt x="180008" y="37706"/>
                </a:lnTo>
                <a:cubicBezTo>
                  <a:pt x="184484" y="42182"/>
                  <a:pt x="184484" y="49451"/>
                  <a:pt x="180008" y="53927"/>
                </a:cubicBezTo>
                <a:close/>
                <a:moveTo>
                  <a:pt x="37706" y="179972"/>
                </a:moveTo>
                <a:lnTo>
                  <a:pt x="3330" y="145596"/>
                </a:lnTo>
                <a:cubicBezTo>
                  <a:pt x="-1146" y="141120"/>
                  <a:pt x="-1146" y="133851"/>
                  <a:pt x="3330" y="129375"/>
                </a:cubicBezTo>
                <a:lnTo>
                  <a:pt x="37706" y="94999"/>
                </a:lnTo>
                <a:cubicBezTo>
                  <a:pt x="41000" y="91705"/>
                  <a:pt x="45906" y="90738"/>
                  <a:pt x="50203" y="92529"/>
                </a:cubicBezTo>
                <a:cubicBezTo>
                  <a:pt x="54500" y="94319"/>
                  <a:pt x="57293" y="98509"/>
                  <a:pt x="57293" y="103128"/>
                </a:cubicBezTo>
                <a:lnTo>
                  <a:pt x="57293" y="126045"/>
                </a:lnTo>
                <a:lnTo>
                  <a:pt x="171880" y="126045"/>
                </a:lnTo>
                <a:cubicBezTo>
                  <a:pt x="178218" y="126045"/>
                  <a:pt x="183338" y="131166"/>
                  <a:pt x="183338" y="137504"/>
                </a:cubicBezTo>
                <a:cubicBezTo>
                  <a:pt x="183338" y="143842"/>
                  <a:pt x="178218" y="148962"/>
                  <a:pt x="171880" y="148962"/>
                </a:cubicBezTo>
                <a:lnTo>
                  <a:pt x="57293" y="148962"/>
                </a:lnTo>
                <a:lnTo>
                  <a:pt x="57293" y="171880"/>
                </a:lnTo>
                <a:cubicBezTo>
                  <a:pt x="57293" y="176499"/>
                  <a:pt x="54500" y="180689"/>
                  <a:pt x="50203" y="182479"/>
                </a:cubicBezTo>
                <a:cubicBezTo>
                  <a:pt x="45906" y="184269"/>
                  <a:pt x="41000" y="183267"/>
                  <a:pt x="37706" y="180008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44" name="Text 42"/>
          <p:cNvSpPr/>
          <p:nvPr/>
        </p:nvSpPr>
        <p:spPr>
          <a:xfrm>
            <a:off x="7592404" y="4720288"/>
            <a:ext cx="1743162" cy="30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A3A5A"/>
                </a:solidFill>
                <a:latin typeface="+mn-ea"/>
                <a:ea typeface="+mn-ea"/>
                <a:cs typeface="Noto Sans SC" pitchFamily="34" charset="-120"/>
              </a:rPr>
              <a:t>适合理解任务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244931" y="5096268"/>
            <a:ext cx="4470208" cy="23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5B7B9A"/>
                </a:solidFill>
                <a:latin typeface="+mn-ea"/>
                <a:ea typeface="+mn-ea"/>
                <a:cs typeface="Noto Sans SC" pitchFamily="34" charset="-120"/>
              </a:rPr>
              <a:t>在分类、问答等NLU任务上表现优异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944407" y="5888466"/>
            <a:ext cx="5071249" cy="774316"/>
          </a:xfrm>
          <a:custGeom>
            <a:avLst/>
            <a:gdLst/>
            <a:ahLst/>
            <a:cxnLst/>
            <a:rect l="l" t="t" r="r" b="b"/>
            <a:pathLst>
              <a:path w="5041805" h="513347">
                <a:moveTo>
                  <a:pt x="36668" y="0"/>
                </a:moveTo>
                <a:lnTo>
                  <a:pt x="4931799" y="0"/>
                </a:lnTo>
                <a:cubicBezTo>
                  <a:pt x="4992554" y="0"/>
                  <a:pt x="5041805" y="49251"/>
                  <a:pt x="5041805" y="110005"/>
                </a:cubicBezTo>
                <a:lnTo>
                  <a:pt x="5041805" y="403342"/>
                </a:lnTo>
                <a:cubicBezTo>
                  <a:pt x="5041805" y="464096"/>
                  <a:pt x="4992553" y="513347"/>
                  <a:pt x="4931799" y="513347"/>
                </a:cubicBezTo>
                <a:lnTo>
                  <a:pt x="36668" y="513347"/>
                </a:lnTo>
                <a:cubicBezTo>
                  <a:pt x="16430" y="513347"/>
                  <a:pt x="0" y="496917"/>
                  <a:pt x="0" y="476680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/>
        </p:spPr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AA105B2-7A1D-46E9-B90A-B42092F767A7}"/>
              </a:ext>
            </a:extLst>
          </p:cNvPr>
          <p:cNvGrpSpPr/>
          <p:nvPr/>
        </p:nvGrpSpPr>
        <p:grpSpPr>
          <a:xfrm>
            <a:off x="274969" y="3760223"/>
            <a:ext cx="6768051" cy="2869135"/>
            <a:chOff x="274969" y="3978369"/>
            <a:chExt cx="6768051" cy="2421875"/>
          </a:xfrm>
        </p:grpSpPr>
        <p:sp>
          <p:nvSpPr>
            <p:cNvPr id="12" name="Shape 10"/>
            <p:cNvSpPr/>
            <p:nvPr/>
          </p:nvSpPr>
          <p:spPr>
            <a:xfrm>
              <a:off x="274969" y="3978369"/>
              <a:ext cx="6556747" cy="2405942"/>
            </a:xfrm>
            <a:custGeom>
              <a:avLst/>
              <a:gdLst/>
              <a:ahLst/>
              <a:cxnLst/>
              <a:rect l="l" t="t" r="r" b="b"/>
              <a:pathLst>
                <a:path w="6178502" h="2640072">
                  <a:moveTo>
                    <a:pt x="110012" y="0"/>
                  </a:moveTo>
                  <a:lnTo>
                    <a:pt x="6068490" y="0"/>
                  </a:lnTo>
                  <a:cubicBezTo>
                    <a:pt x="6129248" y="0"/>
                    <a:pt x="6178502" y="49254"/>
                    <a:pt x="6178502" y="110012"/>
                  </a:cubicBezTo>
                  <a:lnTo>
                    <a:pt x="6178502" y="2530060"/>
                  </a:lnTo>
                  <a:cubicBezTo>
                    <a:pt x="6178502" y="2590818"/>
                    <a:pt x="6129248" y="2640072"/>
                    <a:pt x="6068490" y="2640072"/>
                  </a:cubicBezTo>
                  <a:lnTo>
                    <a:pt x="110012" y="2640072"/>
                  </a:lnTo>
                  <a:cubicBezTo>
                    <a:pt x="49254" y="2640072"/>
                    <a:pt x="0" y="2590818"/>
                    <a:pt x="0" y="2530060"/>
                  </a:cubicBezTo>
                  <a:lnTo>
                    <a:pt x="0" y="110012"/>
                  </a:lnTo>
                  <a:cubicBezTo>
                    <a:pt x="0" y="49254"/>
                    <a:pt x="49254" y="0"/>
                    <a:pt x="11001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5002" dist="3666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500359" y="4129479"/>
              <a:ext cx="234780" cy="183314"/>
            </a:xfrm>
            <a:custGeom>
              <a:avLst/>
              <a:gdLst/>
              <a:ahLst/>
              <a:cxnLst/>
              <a:rect l="l" t="t" r="r" b="b"/>
              <a:pathLst>
                <a:path w="229173" h="183338">
                  <a:moveTo>
                    <a:pt x="148927" y="75376"/>
                  </a:moveTo>
                  <a:cubicBezTo>
                    <a:pt x="153295" y="74195"/>
                    <a:pt x="157879" y="76272"/>
                    <a:pt x="159848" y="80318"/>
                  </a:cubicBezTo>
                  <a:lnTo>
                    <a:pt x="166508" y="93782"/>
                  </a:lnTo>
                  <a:cubicBezTo>
                    <a:pt x="170197" y="94283"/>
                    <a:pt x="173813" y="95286"/>
                    <a:pt x="177215" y="96682"/>
                  </a:cubicBezTo>
                  <a:lnTo>
                    <a:pt x="189748" y="88339"/>
                  </a:lnTo>
                  <a:cubicBezTo>
                    <a:pt x="193508" y="85832"/>
                    <a:pt x="198485" y="86334"/>
                    <a:pt x="201672" y="89521"/>
                  </a:cubicBezTo>
                  <a:lnTo>
                    <a:pt x="208547" y="96396"/>
                  </a:lnTo>
                  <a:cubicBezTo>
                    <a:pt x="211734" y="99583"/>
                    <a:pt x="212236" y="104596"/>
                    <a:pt x="209729" y="108320"/>
                  </a:cubicBezTo>
                  <a:lnTo>
                    <a:pt x="201386" y="120817"/>
                  </a:lnTo>
                  <a:cubicBezTo>
                    <a:pt x="202066" y="122500"/>
                    <a:pt x="202675" y="124255"/>
                    <a:pt x="203176" y="126081"/>
                  </a:cubicBezTo>
                  <a:cubicBezTo>
                    <a:pt x="203677" y="127907"/>
                    <a:pt x="204000" y="129698"/>
                    <a:pt x="204250" y="131524"/>
                  </a:cubicBezTo>
                  <a:lnTo>
                    <a:pt x="217750" y="138184"/>
                  </a:lnTo>
                  <a:cubicBezTo>
                    <a:pt x="221796" y="140189"/>
                    <a:pt x="223873" y="144773"/>
                    <a:pt x="222692" y="149106"/>
                  </a:cubicBezTo>
                  <a:lnTo>
                    <a:pt x="220185" y="158487"/>
                  </a:lnTo>
                  <a:cubicBezTo>
                    <a:pt x="219003" y="162820"/>
                    <a:pt x="214957" y="165756"/>
                    <a:pt x="210445" y="165470"/>
                  </a:cubicBezTo>
                  <a:lnTo>
                    <a:pt x="195406" y="164503"/>
                  </a:lnTo>
                  <a:cubicBezTo>
                    <a:pt x="193150" y="167404"/>
                    <a:pt x="190536" y="170089"/>
                    <a:pt x="187564" y="172381"/>
                  </a:cubicBezTo>
                  <a:lnTo>
                    <a:pt x="188531" y="187385"/>
                  </a:lnTo>
                  <a:cubicBezTo>
                    <a:pt x="188817" y="191897"/>
                    <a:pt x="185881" y="195979"/>
                    <a:pt x="181548" y="197125"/>
                  </a:cubicBezTo>
                  <a:lnTo>
                    <a:pt x="172166" y="199631"/>
                  </a:lnTo>
                  <a:cubicBezTo>
                    <a:pt x="167798" y="200813"/>
                    <a:pt x="163250" y="198736"/>
                    <a:pt x="161245" y="194690"/>
                  </a:cubicBezTo>
                  <a:lnTo>
                    <a:pt x="154584" y="181226"/>
                  </a:lnTo>
                  <a:cubicBezTo>
                    <a:pt x="150896" y="180724"/>
                    <a:pt x="147279" y="179722"/>
                    <a:pt x="143878" y="178325"/>
                  </a:cubicBezTo>
                  <a:lnTo>
                    <a:pt x="131345" y="186669"/>
                  </a:lnTo>
                  <a:cubicBezTo>
                    <a:pt x="127585" y="189175"/>
                    <a:pt x="122608" y="188674"/>
                    <a:pt x="119421" y="185487"/>
                  </a:cubicBezTo>
                  <a:lnTo>
                    <a:pt x="112545" y="178612"/>
                  </a:lnTo>
                  <a:cubicBezTo>
                    <a:pt x="109358" y="175425"/>
                    <a:pt x="108857" y="170447"/>
                    <a:pt x="111364" y="166688"/>
                  </a:cubicBezTo>
                  <a:lnTo>
                    <a:pt x="119707" y="154155"/>
                  </a:lnTo>
                  <a:cubicBezTo>
                    <a:pt x="119027" y="152472"/>
                    <a:pt x="118418" y="150717"/>
                    <a:pt x="117917" y="148891"/>
                  </a:cubicBezTo>
                  <a:cubicBezTo>
                    <a:pt x="117415" y="147065"/>
                    <a:pt x="117093" y="145238"/>
                    <a:pt x="116842" y="143448"/>
                  </a:cubicBezTo>
                  <a:lnTo>
                    <a:pt x="103343" y="136788"/>
                  </a:lnTo>
                  <a:cubicBezTo>
                    <a:pt x="99296" y="134782"/>
                    <a:pt x="97255" y="130199"/>
                    <a:pt x="98401" y="125866"/>
                  </a:cubicBezTo>
                  <a:lnTo>
                    <a:pt x="100908" y="116484"/>
                  </a:lnTo>
                  <a:cubicBezTo>
                    <a:pt x="102089" y="112152"/>
                    <a:pt x="106136" y="109215"/>
                    <a:pt x="110648" y="109502"/>
                  </a:cubicBezTo>
                  <a:lnTo>
                    <a:pt x="125651" y="110469"/>
                  </a:lnTo>
                  <a:cubicBezTo>
                    <a:pt x="127907" y="107568"/>
                    <a:pt x="130521" y="104882"/>
                    <a:pt x="133493" y="102591"/>
                  </a:cubicBezTo>
                  <a:lnTo>
                    <a:pt x="132526" y="87623"/>
                  </a:lnTo>
                  <a:cubicBezTo>
                    <a:pt x="132240" y="83111"/>
                    <a:pt x="135176" y="79029"/>
                    <a:pt x="139509" y="77883"/>
                  </a:cubicBezTo>
                  <a:lnTo>
                    <a:pt x="148891" y="75376"/>
                  </a:lnTo>
                  <a:close/>
                  <a:moveTo>
                    <a:pt x="160564" y="121748"/>
                  </a:moveTo>
                  <a:cubicBezTo>
                    <a:pt x="151869" y="121758"/>
                    <a:pt x="144817" y="128826"/>
                    <a:pt x="144827" y="137522"/>
                  </a:cubicBezTo>
                  <a:cubicBezTo>
                    <a:pt x="144836" y="146217"/>
                    <a:pt x="151904" y="153269"/>
                    <a:pt x="160600" y="153259"/>
                  </a:cubicBezTo>
                  <a:cubicBezTo>
                    <a:pt x="169296" y="153250"/>
                    <a:pt x="176348" y="146182"/>
                    <a:pt x="176338" y="137486"/>
                  </a:cubicBezTo>
                  <a:cubicBezTo>
                    <a:pt x="176328" y="128790"/>
                    <a:pt x="169260" y="121738"/>
                    <a:pt x="160564" y="121748"/>
                  </a:cubicBezTo>
                  <a:close/>
                  <a:moveTo>
                    <a:pt x="80533" y="-16293"/>
                  </a:moveTo>
                  <a:lnTo>
                    <a:pt x="89915" y="-13786"/>
                  </a:lnTo>
                  <a:cubicBezTo>
                    <a:pt x="94247" y="-12605"/>
                    <a:pt x="97184" y="-8522"/>
                    <a:pt x="96897" y="-4046"/>
                  </a:cubicBezTo>
                  <a:lnTo>
                    <a:pt x="95930" y="10922"/>
                  </a:lnTo>
                  <a:cubicBezTo>
                    <a:pt x="98902" y="13213"/>
                    <a:pt x="101516" y="15863"/>
                    <a:pt x="103772" y="18799"/>
                  </a:cubicBezTo>
                  <a:lnTo>
                    <a:pt x="118812" y="17833"/>
                  </a:lnTo>
                  <a:cubicBezTo>
                    <a:pt x="123288" y="17546"/>
                    <a:pt x="127370" y="20482"/>
                    <a:pt x="128552" y="24815"/>
                  </a:cubicBezTo>
                  <a:lnTo>
                    <a:pt x="131058" y="34197"/>
                  </a:lnTo>
                  <a:cubicBezTo>
                    <a:pt x="132204" y="38530"/>
                    <a:pt x="130163" y="43113"/>
                    <a:pt x="126117" y="45118"/>
                  </a:cubicBezTo>
                  <a:lnTo>
                    <a:pt x="112617" y="51779"/>
                  </a:lnTo>
                  <a:cubicBezTo>
                    <a:pt x="112366" y="53605"/>
                    <a:pt x="112008" y="55431"/>
                    <a:pt x="111543" y="57222"/>
                  </a:cubicBezTo>
                  <a:cubicBezTo>
                    <a:pt x="111077" y="59012"/>
                    <a:pt x="110433" y="60802"/>
                    <a:pt x="109752" y="62485"/>
                  </a:cubicBezTo>
                  <a:lnTo>
                    <a:pt x="118096" y="75018"/>
                  </a:lnTo>
                  <a:cubicBezTo>
                    <a:pt x="120602" y="78778"/>
                    <a:pt x="120101" y="83756"/>
                    <a:pt x="116914" y="86942"/>
                  </a:cubicBezTo>
                  <a:lnTo>
                    <a:pt x="110039" y="93818"/>
                  </a:lnTo>
                  <a:cubicBezTo>
                    <a:pt x="106852" y="97005"/>
                    <a:pt x="101875" y="97506"/>
                    <a:pt x="98115" y="94999"/>
                  </a:cubicBezTo>
                  <a:lnTo>
                    <a:pt x="85582" y="86656"/>
                  </a:lnTo>
                  <a:cubicBezTo>
                    <a:pt x="82180" y="88053"/>
                    <a:pt x="78563" y="89055"/>
                    <a:pt x="74875" y="89556"/>
                  </a:cubicBezTo>
                  <a:lnTo>
                    <a:pt x="68215" y="103020"/>
                  </a:lnTo>
                  <a:cubicBezTo>
                    <a:pt x="66209" y="107067"/>
                    <a:pt x="61626" y="109108"/>
                    <a:pt x="57293" y="107962"/>
                  </a:cubicBezTo>
                  <a:lnTo>
                    <a:pt x="47911" y="105455"/>
                  </a:lnTo>
                  <a:cubicBezTo>
                    <a:pt x="43543" y="104274"/>
                    <a:pt x="40642" y="100192"/>
                    <a:pt x="40929" y="95716"/>
                  </a:cubicBezTo>
                  <a:lnTo>
                    <a:pt x="41896" y="80712"/>
                  </a:lnTo>
                  <a:cubicBezTo>
                    <a:pt x="38924" y="78420"/>
                    <a:pt x="36310" y="75770"/>
                    <a:pt x="34054" y="72834"/>
                  </a:cubicBezTo>
                  <a:lnTo>
                    <a:pt x="19014" y="73801"/>
                  </a:lnTo>
                  <a:cubicBezTo>
                    <a:pt x="14538" y="74087"/>
                    <a:pt x="10456" y="71151"/>
                    <a:pt x="9274" y="66818"/>
                  </a:cubicBezTo>
                  <a:lnTo>
                    <a:pt x="6768" y="57436"/>
                  </a:lnTo>
                  <a:cubicBezTo>
                    <a:pt x="5622" y="53104"/>
                    <a:pt x="7663" y="48520"/>
                    <a:pt x="11709" y="46515"/>
                  </a:cubicBezTo>
                  <a:lnTo>
                    <a:pt x="25209" y="39855"/>
                  </a:lnTo>
                  <a:cubicBezTo>
                    <a:pt x="25460" y="38028"/>
                    <a:pt x="25818" y="36238"/>
                    <a:pt x="26283" y="34412"/>
                  </a:cubicBezTo>
                  <a:cubicBezTo>
                    <a:pt x="26785" y="32586"/>
                    <a:pt x="27358" y="30831"/>
                    <a:pt x="28074" y="29148"/>
                  </a:cubicBezTo>
                  <a:lnTo>
                    <a:pt x="19730" y="16651"/>
                  </a:lnTo>
                  <a:cubicBezTo>
                    <a:pt x="17224" y="12891"/>
                    <a:pt x="17725" y="7914"/>
                    <a:pt x="20912" y="4727"/>
                  </a:cubicBezTo>
                  <a:lnTo>
                    <a:pt x="27787" y="-2148"/>
                  </a:lnTo>
                  <a:cubicBezTo>
                    <a:pt x="30974" y="-5335"/>
                    <a:pt x="35952" y="-5837"/>
                    <a:pt x="39711" y="-3330"/>
                  </a:cubicBezTo>
                  <a:lnTo>
                    <a:pt x="52244" y="5013"/>
                  </a:lnTo>
                  <a:cubicBezTo>
                    <a:pt x="55646" y="3617"/>
                    <a:pt x="59263" y="2614"/>
                    <a:pt x="62951" y="2113"/>
                  </a:cubicBezTo>
                  <a:lnTo>
                    <a:pt x="69611" y="-11351"/>
                  </a:lnTo>
                  <a:cubicBezTo>
                    <a:pt x="71617" y="-15398"/>
                    <a:pt x="76164" y="-17439"/>
                    <a:pt x="80533" y="-16293"/>
                  </a:cubicBezTo>
                  <a:close/>
                  <a:moveTo>
                    <a:pt x="68895" y="30079"/>
                  </a:moveTo>
                  <a:cubicBezTo>
                    <a:pt x="60199" y="30079"/>
                    <a:pt x="53139" y="37139"/>
                    <a:pt x="53139" y="45835"/>
                  </a:cubicBezTo>
                  <a:cubicBezTo>
                    <a:pt x="53139" y="54530"/>
                    <a:pt x="60199" y="61590"/>
                    <a:pt x="68895" y="61590"/>
                  </a:cubicBezTo>
                  <a:cubicBezTo>
                    <a:pt x="77591" y="61590"/>
                    <a:pt x="84651" y="54530"/>
                    <a:pt x="84651" y="45835"/>
                  </a:cubicBezTo>
                  <a:cubicBezTo>
                    <a:pt x="84651" y="37139"/>
                    <a:pt x="77591" y="30079"/>
                    <a:pt x="68895" y="30079"/>
                  </a:cubicBezTo>
                  <a:close/>
                </a:path>
              </a:pathLst>
            </a:custGeom>
            <a:solidFill>
              <a:srgbClr val="C8A464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806457" y="4074548"/>
              <a:ext cx="5756801" cy="2933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000" dirty="0">
                  <a:solidFill>
                    <a:srgbClr val="1A3A5A"/>
                  </a:solidFill>
                  <a:latin typeface="+mn-ea"/>
                  <a:ea typeface="+mn-ea"/>
                  <a:cs typeface="Noto Sans SC" pitchFamily="34" charset="-120"/>
                </a:rPr>
                <a:t>实现步骤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00359" y="4514440"/>
              <a:ext cx="375648" cy="366629"/>
            </a:xfrm>
            <a:custGeom>
              <a:avLst/>
              <a:gdLst/>
              <a:ahLst/>
              <a:cxnLst/>
              <a:rect l="l" t="t" r="r" b="b"/>
              <a:pathLst>
                <a:path w="366677" h="366677">
                  <a:moveTo>
                    <a:pt x="183338" y="0"/>
                  </a:moveTo>
                  <a:lnTo>
                    <a:pt x="183338" y="0"/>
                  </a:lnTo>
                  <a:cubicBezTo>
                    <a:pt x="284526" y="0"/>
                    <a:pt x="366677" y="82151"/>
                    <a:pt x="366677" y="183338"/>
                  </a:cubicBezTo>
                  <a:lnTo>
                    <a:pt x="366677" y="183338"/>
                  </a:lnTo>
                  <a:cubicBezTo>
                    <a:pt x="366677" y="284526"/>
                    <a:pt x="284526" y="366677"/>
                    <a:pt x="183338" y="366677"/>
                  </a:cubicBezTo>
                  <a:lnTo>
                    <a:pt x="183338" y="366677"/>
                  </a:lnTo>
                  <a:cubicBezTo>
                    <a:pt x="82151" y="366677"/>
                    <a:pt x="0" y="284526"/>
                    <a:pt x="0" y="183338"/>
                  </a:cubicBezTo>
                  <a:lnTo>
                    <a:pt x="0" y="183338"/>
                  </a:lnTo>
                  <a:cubicBezTo>
                    <a:pt x="0" y="82151"/>
                    <a:pt x="82151" y="0"/>
                    <a:pt x="183338" y="0"/>
                  </a:cubicBezTo>
                  <a:close/>
                </a:path>
              </a:pathLst>
            </a:custGeom>
            <a:solidFill>
              <a:srgbClr val="1A3A5A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462793" y="4514440"/>
              <a:ext cx="450778" cy="3666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1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026266" y="4514439"/>
              <a:ext cx="3540480" cy="256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3A5A"/>
                  </a:solidFill>
                  <a:latin typeface="+mn-ea"/>
                  <a:ea typeface="+mn-ea"/>
                  <a:cs typeface="Noto Sans SC" pitchFamily="34" charset="-120"/>
                </a:rPr>
                <a:t>随机选择Token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26266" y="4839885"/>
              <a:ext cx="6016754" cy="1878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5B7B9A"/>
                  </a:solidFill>
                  <a:latin typeface="+mn-ea"/>
                  <a:ea typeface="+mn-ea"/>
                  <a:cs typeface="Noto Sans SC" pitchFamily="34" charset="-120"/>
                </a:rPr>
                <a:t>在输入句子中随机选择约15%的Token作为遮蔽目标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00359" y="5137709"/>
              <a:ext cx="375648" cy="366629"/>
            </a:xfrm>
            <a:custGeom>
              <a:avLst/>
              <a:gdLst/>
              <a:ahLst/>
              <a:cxnLst/>
              <a:rect l="l" t="t" r="r" b="b"/>
              <a:pathLst>
                <a:path w="366677" h="366677">
                  <a:moveTo>
                    <a:pt x="183338" y="0"/>
                  </a:moveTo>
                  <a:lnTo>
                    <a:pt x="183338" y="0"/>
                  </a:lnTo>
                  <a:cubicBezTo>
                    <a:pt x="284526" y="0"/>
                    <a:pt x="366677" y="82151"/>
                    <a:pt x="366677" y="183338"/>
                  </a:cubicBezTo>
                  <a:lnTo>
                    <a:pt x="366677" y="183338"/>
                  </a:lnTo>
                  <a:cubicBezTo>
                    <a:pt x="366677" y="284526"/>
                    <a:pt x="284526" y="366677"/>
                    <a:pt x="183338" y="366677"/>
                  </a:cubicBezTo>
                  <a:lnTo>
                    <a:pt x="183338" y="366677"/>
                  </a:lnTo>
                  <a:cubicBezTo>
                    <a:pt x="82151" y="366677"/>
                    <a:pt x="0" y="284526"/>
                    <a:pt x="0" y="183338"/>
                  </a:cubicBezTo>
                  <a:lnTo>
                    <a:pt x="0" y="183338"/>
                  </a:lnTo>
                  <a:cubicBezTo>
                    <a:pt x="0" y="82151"/>
                    <a:pt x="82151" y="0"/>
                    <a:pt x="183338" y="0"/>
                  </a:cubicBezTo>
                  <a:close/>
                </a:path>
              </a:pathLst>
            </a:custGeom>
            <a:solidFill>
              <a:srgbClr val="5B7B9A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62793" y="5137709"/>
              <a:ext cx="450778" cy="3666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2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026265" y="5137709"/>
              <a:ext cx="2864314" cy="256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3A5A"/>
                  </a:solidFill>
                  <a:latin typeface="+mn-ea"/>
                  <a:ea typeface="+mn-ea"/>
                  <a:cs typeface="Noto Sans SC" pitchFamily="34" charset="-120"/>
                </a:rPr>
                <a:t>用[MASK]替换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26266" y="5431012"/>
              <a:ext cx="5352979" cy="2199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5B7B9A"/>
                  </a:solidFill>
                  <a:latin typeface="+mn-ea"/>
                  <a:ea typeface="+mn-ea"/>
                  <a:cs typeface="Noto Sans SC" pitchFamily="34" charset="-120"/>
                </a:rPr>
                <a:t>将选中的Token替换为特殊的[MASK]标记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500359" y="5760978"/>
              <a:ext cx="375648" cy="366629"/>
            </a:xfrm>
            <a:custGeom>
              <a:avLst/>
              <a:gdLst/>
              <a:ahLst/>
              <a:cxnLst/>
              <a:rect l="l" t="t" r="r" b="b"/>
              <a:pathLst>
                <a:path w="366677" h="366677">
                  <a:moveTo>
                    <a:pt x="183338" y="0"/>
                  </a:moveTo>
                  <a:lnTo>
                    <a:pt x="183338" y="0"/>
                  </a:lnTo>
                  <a:cubicBezTo>
                    <a:pt x="284526" y="0"/>
                    <a:pt x="366677" y="82151"/>
                    <a:pt x="366677" y="183338"/>
                  </a:cubicBezTo>
                  <a:lnTo>
                    <a:pt x="366677" y="183338"/>
                  </a:lnTo>
                  <a:cubicBezTo>
                    <a:pt x="366677" y="284526"/>
                    <a:pt x="284526" y="366677"/>
                    <a:pt x="183338" y="366677"/>
                  </a:cubicBezTo>
                  <a:lnTo>
                    <a:pt x="183338" y="366677"/>
                  </a:lnTo>
                  <a:cubicBezTo>
                    <a:pt x="82151" y="366677"/>
                    <a:pt x="0" y="284526"/>
                    <a:pt x="0" y="183338"/>
                  </a:cubicBezTo>
                  <a:lnTo>
                    <a:pt x="0" y="183338"/>
                  </a:lnTo>
                  <a:cubicBezTo>
                    <a:pt x="0" y="82151"/>
                    <a:pt x="82151" y="0"/>
                    <a:pt x="183338" y="0"/>
                  </a:cubicBezTo>
                  <a:close/>
                </a:path>
              </a:pathLst>
            </a:custGeom>
            <a:solidFill>
              <a:srgbClr val="C8A464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62793" y="5760978"/>
              <a:ext cx="450778" cy="3666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3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1026266" y="5760977"/>
              <a:ext cx="2939443" cy="256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A3A5A"/>
                  </a:solidFill>
                  <a:latin typeface="+mn-ea"/>
                  <a:ea typeface="+mn-ea"/>
                  <a:cs typeface="Noto Sans SC" pitchFamily="34" charset="-120"/>
                </a:rPr>
                <a:t>预测被遮蔽词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026264" y="6054281"/>
              <a:ext cx="5578369" cy="219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5B7B9A"/>
                  </a:solidFill>
                  <a:latin typeface="+mn-ea"/>
                  <a:ea typeface="+mn-ea"/>
                  <a:cs typeface="Noto Sans SC" pitchFamily="34" charset="-120"/>
                </a:rPr>
                <a:t>训练模型根据上下文预测被遮蔽的原始词汇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6957741" y="5886964"/>
              <a:ext cx="37565" cy="513280"/>
            </a:xfrm>
            <a:custGeom>
              <a:avLst/>
              <a:gdLst/>
              <a:ahLst/>
              <a:cxnLst/>
              <a:rect l="l" t="t" r="r" b="b"/>
              <a:pathLst>
                <a:path w="36668" h="513347">
                  <a:moveTo>
                    <a:pt x="36668" y="0"/>
                  </a:moveTo>
                  <a:lnTo>
                    <a:pt x="36668" y="0"/>
                  </a:lnTo>
                  <a:lnTo>
                    <a:pt x="36668" y="513347"/>
                  </a:lnTo>
                  <a:lnTo>
                    <a:pt x="36668" y="513347"/>
                  </a:lnTo>
                  <a:cubicBezTo>
                    <a:pt x="16430" y="513347"/>
                    <a:pt x="0" y="496917"/>
                    <a:pt x="0" y="476680"/>
                  </a:cubicBezTo>
                  <a:lnTo>
                    <a:pt x="0" y="36668"/>
                  </a:lnTo>
                  <a:cubicBezTo>
                    <a:pt x="0" y="16430"/>
                    <a:pt x="16430" y="0"/>
                    <a:pt x="36668" y="0"/>
                  </a:cubicBezTo>
                  <a:close/>
                </a:path>
              </a:pathLst>
            </a:custGeom>
            <a:solidFill>
              <a:srgbClr val="C8A464"/>
            </a:solidFill>
            <a:ln/>
          </p:spPr>
        </p:sp>
      </p:grpSp>
      <p:sp>
        <p:nvSpPr>
          <p:cNvPr id="49" name="Text 47"/>
          <p:cNvSpPr/>
          <p:nvPr/>
        </p:nvSpPr>
        <p:spPr>
          <a:xfrm>
            <a:off x="7067314" y="6145938"/>
            <a:ext cx="4992886" cy="201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A3A5A"/>
                </a:solidFill>
                <a:latin typeface="+mn-ea"/>
                <a:ea typeface="+mn-ea"/>
                <a:cs typeface="Noto Sans SC" pitchFamily="34" charset="-120"/>
              </a:rPr>
              <a:t>代表模型：</a:t>
            </a:r>
            <a:r>
              <a:rPr lang="en-US" sz="2000" dirty="0">
                <a:solidFill>
                  <a:srgbClr val="1F2937"/>
                </a:solidFill>
                <a:latin typeface="+mn-ea"/>
                <a:ea typeface="+mn-ea"/>
                <a:cs typeface="Noto Sans SC" pitchFamily="34" charset="-120"/>
              </a:rPr>
              <a:t>BERT、RoBERTa、ALBERT等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2" name="标题 51">
            <a:extLst>
              <a:ext uri="{FF2B5EF4-FFF2-40B4-BE49-F238E27FC236}">
                <a16:creationId xmlns:a16="http://schemas.microsoft.com/office/drawing/2014/main" id="{A479014F-057D-4B9F-9BF6-079E69744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93" y="-16457"/>
            <a:ext cx="10909212" cy="601141"/>
          </a:xfrm>
        </p:spPr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任务一：掩码语言建模</a:t>
            </a:r>
            <a:r>
              <a:rPr lang="en-US" altLang="zh-CN" sz="36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(MLM)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999493753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9082"/>
            <a:ext cx="10907880" cy="711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t" anchorCtr="0"/>
          <a:lstStyle/>
          <a:p>
            <a:pPr>
              <a:defRPr/>
            </a:pPr>
            <a:r>
              <a:rPr lang="en-US" sz="36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Encoder-Decoder：统一文本到文本的转换范式</a:t>
            </a:r>
            <a:r>
              <a:rPr lang="en-US" sz="36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(T5)</a:t>
            </a:r>
            <a:endParaRPr lang="en-US" sz="1100" dirty="0"/>
          </a:p>
        </p:txBody>
      </p:sp>
      <p:sp>
        <p:nvSpPr>
          <p:cNvPr id="4" name="Freeform 4"/>
          <p:cNvSpPr/>
          <p:nvPr/>
        </p:nvSpPr>
        <p:spPr>
          <a:xfrm>
            <a:off x="342855" y="1041711"/>
            <a:ext cx="5603374" cy="2196946"/>
          </a:xfrm>
          <a:custGeom>
            <a:avLst/>
            <a:gdLst/>
            <a:ahLst/>
            <a:cxnLst/>
            <a:rect l="l" t="t" r="r" b="b"/>
            <a:pathLst>
              <a:path w="5604104" h="2197232">
                <a:moveTo>
                  <a:pt x="105413" y="0"/>
                </a:moveTo>
                <a:lnTo>
                  <a:pt x="5498692" y="0"/>
                </a:lnTo>
                <a:cubicBezTo>
                  <a:pt x="5556909" y="0"/>
                  <a:pt x="5604104" y="65585"/>
                  <a:pt x="5604104" y="146489"/>
                </a:cubicBezTo>
                <a:lnTo>
                  <a:pt x="5604104" y="2050741"/>
                </a:lnTo>
                <a:cubicBezTo>
                  <a:pt x="5604104" y="2131647"/>
                  <a:pt x="5556909" y="2197232"/>
                  <a:pt x="5498692" y="2197232"/>
                </a:cubicBezTo>
                <a:lnTo>
                  <a:pt x="105413" y="2197232"/>
                </a:lnTo>
                <a:cubicBezTo>
                  <a:pt x="47194" y="2197232"/>
                  <a:pt x="0" y="2131647"/>
                  <a:pt x="0" y="2050741"/>
                </a:cubicBezTo>
                <a:lnTo>
                  <a:pt x="0" y="146489"/>
                </a:lnTo>
                <a:cubicBezTo>
                  <a:pt x="0" y="65639"/>
                  <a:pt x="47233" y="0"/>
                  <a:pt x="105413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0"/>
                </a:srgbClr>
              </a:gs>
              <a:gs pos="100000">
                <a:srgbClr val="2C3E5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215900" dist="1778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58727" y="1270282"/>
            <a:ext cx="562094" cy="562094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281084" y="0"/>
                </a:moveTo>
                <a:lnTo>
                  <a:pt x="281084" y="0"/>
                </a:lnTo>
                <a:cubicBezTo>
                  <a:pt x="436218" y="0"/>
                  <a:pt x="562167" y="125948"/>
                  <a:pt x="562167" y="281084"/>
                </a:cubicBezTo>
                <a:lnTo>
                  <a:pt x="562167" y="281084"/>
                </a:lnTo>
                <a:cubicBezTo>
                  <a:pt x="562167" y="436218"/>
                  <a:pt x="436218" y="562167"/>
                  <a:pt x="281084" y="562167"/>
                </a:cubicBezTo>
                <a:lnTo>
                  <a:pt x="281084" y="562167"/>
                </a:lnTo>
                <a:cubicBezTo>
                  <a:pt x="125948" y="562167"/>
                  <a:pt x="0" y="436218"/>
                  <a:pt x="0" y="281084"/>
                </a:cubicBezTo>
                <a:lnTo>
                  <a:pt x="0" y="281084"/>
                </a:lnTo>
                <a:cubicBezTo>
                  <a:pt x="0" y="125948"/>
                  <a:pt x="125948" y="0"/>
                  <a:pt x="2810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85711" y="1393494"/>
            <a:ext cx="329352" cy="263482"/>
          </a:xfrm>
          <a:custGeom>
            <a:avLst/>
            <a:gdLst/>
            <a:ahLst/>
            <a:cxnLst/>
            <a:rect l="l" t="t" r="r" b="b"/>
            <a:pathLst>
              <a:path w="329395" h="263516">
                <a:moveTo>
                  <a:pt x="181167" y="16471"/>
                </a:moveTo>
                <a:cubicBezTo>
                  <a:pt x="181167" y="7361"/>
                  <a:pt x="173807" y="0"/>
                  <a:pt x="164697" y="0"/>
                </a:cubicBezTo>
                <a:cubicBezTo>
                  <a:pt x="155588" y="0"/>
                  <a:pt x="148228" y="7361"/>
                  <a:pt x="148228" y="16471"/>
                </a:cubicBezTo>
                <a:lnTo>
                  <a:pt x="148228" y="49410"/>
                </a:lnTo>
                <a:lnTo>
                  <a:pt x="98817" y="49410"/>
                </a:lnTo>
                <a:cubicBezTo>
                  <a:pt x="71540" y="49410"/>
                  <a:pt x="49409" y="71542"/>
                  <a:pt x="49409" y="98820"/>
                </a:cubicBezTo>
                <a:lnTo>
                  <a:pt x="49409" y="214108"/>
                </a:lnTo>
                <a:cubicBezTo>
                  <a:pt x="49409" y="241385"/>
                  <a:pt x="71540" y="263516"/>
                  <a:pt x="98817" y="263516"/>
                </a:cubicBezTo>
                <a:lnTo>
                  <a:pt x="230576" y="263516"/>
                </a:lnTo>
                <a:cubicBezTo>
                  <a:pt x="257854" y="263516"/>
                  <a:pt x="279985" y="241385"/>
                  <a:pt x="279985" y="214108"/>
                </a:cubicBezTo>
                <a:lnTo>
                  <a:pt x="279985" y="98820"/>
                </a:lnTo>
                <a:cubicBezTo>
                  <a:pt x="279985" y="71542"/>
                  <a:pt x="257854" y="49410"/>
                  <a:pt x="230576" y="49410"/>
                </a:cubicBezTo>
                <a:lnTo>
                  <a:pt x="181167" y="49410"/>
                </a:lnTo>
                <a:lnTo>
                  <a:pt x="181167" y="16471"/>
                </a:lnTo>
                <a:close/>
                <a:moveTo>
                  <a:pt x="82349" y="205872"/>
                </a:moveTo>
                <a:cubicBezTo>
                  <a:pt x="82349" y="199028"/>
                  <a:pt x="87856" y="193520"/>
                  <a:pt x="94701" y="193520"/>
                </a:cubicBezTo>
                <a:lnTo>
                  <a:pt x="111171" y="193520"/>
                </a:lnTo>
                <a:cubicBezTo>
                  <a:pt x="118016" y="193520"/>
                  <a:pt x="123523" y="199028"/>
                  <a:pt x="123523" y="205872"/>
                </a:cubicBezTo>
                <a:cubicBezTo>
                  <a:pt x="123523" y="212718"/>
                  <a:pt x="118016" y="218224"/>
                  <a:pt x="111171" y="218224"/>
                </a:cubicBezTo>
                <a:lnTo>
                  <a:pt x="94701" y="218224"/>
                </a:lnTo>
                <a:cubicBezTo>
                  <a:pt x="87856" y="218224"/>
                  <a:pt x="82349" y="212718"/>
                  <a:pt x="82349" y="205872"/>
                </a:cubicBezTo>
                <a:close/>
                <a:moveTo>
                  <a:pt x="144109" y="205872"/>
                </a:moveTo>
                <a:cubicBezTo>
                  <a:pt x="144109" y="199028"/>
                  <a:pt x="149617" y="193520"/>
                  <a:pt x="156463" y="193520"/>
                </a:cubicBezTo>
                <a:lnTo>
                  <a:pt x="172932" y="193520"/>
                </a:lnTo>
                <a:cubicBezTo>
                  <a:pt x="179777" y="193520"/>
                  <a:pt x="185285" y="199028"/>
                  <a:pt x="185285" y="205872"/>
                </a:cubicBezTo>
                <a:cubicBezTo>
                  <a:pt x="185285" y="212718"/>
                  <a:pt x="179777" y="218224"/>
                  <a:pt x="172932" y="218224"/>
                </a:cubicBezTo>
                <a:lnTo>
                  <a:pt x="156463" y="218224"/>
                </a:lnTo>
                <a:cubicBezTo>
                  <a:pt x="149617" y="218224"/>
                  <a:pt x="144109" y="212718"/>
                  <a:pt x="144109" y="205872"/>
                </a:cubicBezTo>
                <a:close/>
                <a:moveTo>
                  <a:pt x="205872" y="205872"/>
                </a:moveTo>
                <a:cubicBezTo>
                  <a:pt x="205872" y="199028"/>
                  <a:pt x="211379" y="193520"/>
                  <a:pt x="218224" y="193520"/>
                </a:cubicBezTo>
                <a:lnTo>
                  <a:pt x="234693" y="193520"/>
                </a:lnTo>
                <a:cubicBezTo>
                  <a:pt x="241539" y="193520"/>
                  <a:pt x="247045" y="199028"/>
                  <a:pt x="247045" y="205872"/>
                </a:cubicBezTo>
                <a:cubicBezTo>
                  <a:pt x="247045" y="212718"/>
                  <a:pt x="241539" y="218224"/>
                  <a:pt x="234693" y="218224"/>
                </a:cubicBezTo>
                <a:lnTo>
                  <a:pt x="218224" y="218224"/>
                </a:lnTo>
                <a:cubicBezTo>
                  <a:pt x="211379" y="218224"/>
                  <a:pt x="205872" y="212718"/>
                  <a:pt x="205872" y="205872"/>
                </a:cubicBezTo>
                <a:close/>
                <a:moveTo>
                  <a:pt x="115288" y="107055"/>
                </a:moveTo>
                <a:cubicBezTo>
                  <a:pt x="128923" y="107055"/>
                  <a:pt x="139993" y="118124"/>
                  <a:pt x="139993" y="131759"/>
                </a:cubicBezTo>
                <a:cubicBezTo>
                  <a:pt x="139993" y="145394"/>
                  <a:pt x="128923" y="156464"/>
                  <a:pt x="115288" y="156464"/>
                </a:cubicBezTo>
                <a:cubicBezTo>
                  <a:pt x="101653" y="156464"/>
                  <a:pt x="90584" y="145394"/>
                  <a:pt x="90584" y="131759"/>
                </a:cubicBezTo>
                <a:cubicBezTo>
                  <a:pt x="90584" y="118124"/>
                  <a:pt x="101653" y="107055"/>
                  <a:pt x="115288" y="107055"/>
                </a:cubicBezTo>
                <a:close/>
                <a:moveTo>
                  <a:pt x="189401" y="131759"/>
                </a:moveTo>
                <a:cubicBezTo>
                  <a:pt x="189401" y="118124"/>
                  <a:pt x="200472" y="107055"/>
                  <a:pt x="214107" y="107055"/>
                </a:cubicBezTo>
                <a:cubicBezTo>
                  <a:pt x="227741" y="107055"/>
                  <a:pt x="238811" y="118124"/>
                  <a:pt x="238811" y="131759"/>
                </a:cubicBezTo>
                <a:cubicBezTo>
                  <a:pt x="238811" y="145394"/>
                  <a:pt x="227741" y="156464"/>
                  <a:pt x="214107" y="156464"/>
                </a:cubicBezTo>
                <a:cubicBezTo>
                  <a:pt x="200472" y="156464"/>
                  <a:pt x="189401" y="145394"/>
                  <a:pt x="189401" y="131759"/>
                </a:cubicBezTo>
                <a:close/>
                <a:moveTo>
                  <a:pt x="32939" y="131759"/>
                </a:moveTo>
                <a:cubicBezTo>
                  <a:pt x="32939" y="122649"/>
                  <a:pt x="25580" y="115288"/>
                  <a:pt x="16471" y="115288"/>
                </a:cubicBezTo>
                <a:cubicBezTo>
                  <a:pt x="7360" y="115288"/>
                  <a:pt x="0" y="122649"/>
                  <a:pt x="0" y="131759"/>
                </a:cubicBezTo>
                <a:lnTo>
                  <a:pt x="0" y="181168"/>
                </a:lnTo>
                <a:cubicBezTo>
                  <a:pt x="0" y="190278"/>
                  <a:pt x="7360" y="197638"/>
                  <a:pt x="16471" y="197638"/>
                </a:cubicBezTo>
                <a:cubicBezTo>
                  <a:pt x="25580" y="197638"/>
                  <a:pt x="32939" y="190278"/>
                  <a:pt x="32939" y="181168"/>
                </a:cubicBezTo>
                <a:lnTo>
                  <a:pt x="32939" y="131759"/>
                </a:lnTo>
                <a:close/>
                <a:moveTo>
                  <a:pt x="312925" y="115288"/>
                </a:moveTo>
                <a:cubicBezTo>
                  <a:pt x="303814" y="115288"/>
                  <a:pt x="296455" y="122649"/>
                  <a:pt x="296455" y="131759"/>
                </a:cubicBezTo>
                <a:lnTo>
                  <a:pt x="296455" y="181168"/>
                </a:lnTo>
                <a:cubicBezTo>
                  <a:pt x="296455" y="190278"/>
                  <a:pt x="303814" y="197638"/>
                  <a:pt x="312925" y="197638"/>
                </a:cubicBezTo>
                <a:cubicBezTo>
                  <a:pt x="322035" y="197638"/>
                  <a:pt x="329395" y="190278"/>
                  <a:pt x="329395" y="181168"/>
                </a:cubicBezTo>
                <a:lnTo>
                  <a:pt x="329395" y="131759"/>
                </a:lnTo>
                <a:cubicBezTo>
                  <a:pt x="329395" y="122649"/>
                  <a:pt x="322035" y="115288"/>
                  <a:pt x="312925" y="11528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57136" y="1092504"/>
            <a:ext cx="805622" cy="4571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28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T5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269835" y="1587740"/>
            <a:ext cx="5180925" cy="25396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A Framework for Transfer Learning in NLP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58727" y="2159165"/>
            <a:ext cx="5257115" cy="76190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T5打破了传统任务分类界限，将翻译、摘要、问答等所有自然语言处理任务，统一转化为“输入文本→输出文本”的生成任务，实现了通用化建模。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355553" y="3365509"/>
            <a:ext cx="5585809" cy="1462433"/>
          </a:xfrm>
          <a:custGeom>
            <a:avLst/>
            <a:gdLst/>
            <a:ahLst/>
            <a:cxnLst/>
            <a:rect l="l" t="t" r="r" b="b"/>
            <a:pathLst>
              <a:path w="5586536" h="1462623">
                <a:moveTo>
                  <a:pt x="35135" y="0"/>
                </a:moveTo>
                <a:lnTo>
                  <a:pt x="5481135" y="0"/>
                </a:lnTo>
                <a:cubicBezTo>
                  <a:pt x="5539346" y="0"/>
                  <a:pt x="5586536" y="54568"/>
                  <a:pt x="5586536" y="121881"/>
                </a:cubicBezTo>
                <a:lnTo>
                  <a:pt x="5586536" y="1340744"/>
                </a:lnTo>
                <a:cubicBezTo>
                  <a:pt x="5586536" y="1408057"/>
                  <a:pt x="5539346" y="1462623"/>
                  <a:pt x="5481135" y="1462623"/>
                </a:cubicBezTo>
                <a:lnTo>
                  <a:pt x="35135" y="1462623"/>
                </a:lnTo>
                <a:cubicBezTo>
                  <a:pt x="15731" y="1462623"/>
                  <a:pt x="0" y="1444433"/>
                  <a:pt x="0" y="1421996"/>
                </a:cubicBezTo>
                <a:lnTo>
                  <a:pt x="0" y="40627"/>
                </a:lnTo>
                <a:cubicBezTo>
                  <a:pt x="0" y="18205"/>
                  <a:pt x="15744" y="0"/>
                  <a:pt x="351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889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55554" y="3365509"/>
            <a:ext cx="35130" cy="1462433"/>
          </a:xfrm>
          <a:custGeom>
            <a:avLst/>
            <a:gdLst/>
            <a:ahLst/>
            <a:cxnLst/>
            <a:rect l="l" t="t" r="r" b="b"/>
            <a:pathLst>
              <a:path w="35135" h="1462623">
                <a:moveTo>
                  <a:pt x="35135" y="0"/>
                </a:moveTo>
                <a:lnTo>
                  <a:pt x="35135" y="0"/>
                </a:lnTo>
                <a:lnTo>
                  <a:pt x="35135" y="1462623"/>
                </a:lnTo>
                <a:lnTo>
                  <a:pt x="35135" y="1462623"/>
                </a:lnTo>
                <a:cubicBezTo>
                  <a:pt x="15731" y="1462623"/>
                  <a:pt x="0" y="1444433"/>
                  <a:pt x="0" y="1421996"/>
                </a:cubicBezTo>
                <a:lnTo>
                  <a:pt x="0" y="40627"/>
                </a:lnTo>
                <a:cubicBezTo>
                  <a:pt x="0" y="18205"/>
                  <a:pt x="15744" y="0"/>
                  <a:pt x="35135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65314" y="3487410"/>
            <a:ext cx="223960" cy="205655"/>
          </a:xfrm>
          <a:custGeom>
            <a:avLst/>
            <a:gdLst/>
            <a:ahLst/>
            <a:cxnLst/>
            <a:rect l="l" t="t" r="r" b="b"/>
            <a:pathLst>
              <a:path w="223989" h="205682">
                <a:moveTo>
                  <a:pt x="122289" y="33901"/>
                </a:moveTo>
                <a:cubicBezTo>
                  <a:pt x="126077" y="30425"/>
                  <a:pt x="128465" y="25045"/>
                  <a:pt x="128465" y="19045"/>
                </a:cubicBezTo>
                <a:cubicBezTo>
                  <a:pt x="128465" y="8523"/>
                  <a:pt x="121095" y="0"/>
                  <a:pt x="111995" y="0"/>
                </a:cubicBezTo>
                <a:cubicBezTo>
                  <a:pt x="102896" y="0"/>
                  <a:pt x="95525" y="8523"/>
                  <a:pt x="95525" y="19045"/>
                </a:cubicBezTo>
                <a:cubicBezTo>
                  <a:pt x="95525" y="25045"/>
                  <a:pt x="97956" y="30425"/>
                  <a:pt x="101702" y="33901"/>
                </a:cubicBezTo>
                <a:lnTo>
                  <a:pt x="73539" y="85131"/>
                </a:lnTo>
                <a:cubicBezTo>
                  <a:pt x="69421" y="92605"/>
                  <a:pt x="60651" y="94462"/>
                  <a:pt x="54517" y="89129"/>
                </a:cubicBezTo>
                <a:lnTo>
                  <a:pt x="30017" y="67943"/>
                </a:lnTo>
                <a:cubicBezTo>
                  <a:pt x="31870" y="64896"/>
                  <a:pt x="32940" y="61134"/>
                  <a:pt x="32940" y="57134"/>
                </a:cubicBezTo>
                <a:cubicBezTo>
                  <a:pt x="32940" y="46613"/>
                  <a:pt x="25569" y="38089"/>
                  <a:pt x="16471" y="38089"/>
                </a:cubicBezTo>
                <a:cubicBezTo>
                  <a:pt x="7372" y="38089"/>
                  <a:pt x="0" y="46613"/>
                  <a:pt x="0" y="57134"/>
                </a:cubicBezTo>
                <a:cubicBezTo>
                  <a:pt x="0" y="67514"/>
                  <a:pt x="7206" y="75988"/>
                  <a:pt x="16141" y="76179"/>
                </a:cubicBezTo>
                <a:lnTo>
                  <a:pt x="29564" y="179733"/>
                </a:lnTo>
                <a:cubicBezTo>
                  <a:pt x="31499" y="194637"/>
                  <a:pt x="42575" y="205682"/>
                  <a:pt x="55626" y="205682"/>
                </a:cubicBezTo>
                <a:lnTo>
                  <a:pt x="168363" y="205682"/>
                </a:lnTo>
                <a:cubicBezTo>
                  <a:pt x="181415" y="205682"/>
                  <a:pt x="192491" y="194637"/>
                  <a:pt x="194426" y="179733"/>
                </a:cubicBezTo>
                <a:lnTo>
                  <a:pt x="207849" y="76179"/>
                </a:lnTo>
                <a:cubicBezTo>
                  <a:pt x="216784" y="75988"/>
                  <a:pt x="223989" y="67514"/>
                  <a:pt x="223989" y="57134"/>
                </a:cubicBezTo>
                <a:cubicBezTo>
                  <a:pt x="223989" y="46613"/>
                  <a:pt x="216619" y="38089"/>
                  <a:pt x="207520" y="38089"/>
                </a:cubicBezTo>
                <a:cubicBezTo>
                  <a:pt x="198420" y="38089"/>
                  <a:pt x="191050" y="46613"/>
                  <a:pt x="191050" y="57134"/>
                </a:cubicBezTo>
                <a:cubicBezTo>
                  <a:pt x="191050" y="61134"/>
                  <a:pt x="192120" y="64896"/>
                  <a:pt x="193973" y="67943"/>
                </a:cubicBezTo>
                <a:lnTo>
                  <a:pt x="169516" y="89176"/>
                </a:lnTo>
                <a:cubicBezTo>
                  <a:pt x="163381" y="94510"/>
                  <a:pt x="154612" y="92652"/>
                  <a:pt x="150493" y="85178"/>
                </a:cubicBezTo>
                <a:lnTo>
                  <a:pt x="122289" y="33901"/>
                </a:ln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39677" y="3505190"/>
            <a:ext cx="2059185" cy="2666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8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T5</a:t>
            </a:r>
            <a:r>
              <a:rPr lang="zh-CN" altLang="en-US" sz="18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的预训练任务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552762" y="3820049"/>
            <a:ext cx="5005006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跨度损坏（</a:t>
            </a: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Span Corruption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：随机在输入文本中选择多个连续 </a:t>
            </a:r>
            <a:r>
              <a:rPr lang="en-US" altLang="zh-CN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token 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跨度，用特殊哨兵 </a:t>
            </a:r>
            <a:r>
              <a:rPr lang="en-US" altLang="zh-CN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token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（如</a:t>
            </a:r>
            <a:r>
              <a:rPr lang="en-US" altLang="zh-CN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&lt;extra_id_0&gt;</a:t>
            </a:r>
            <a:r>
              <a:rPr lang="zh-CN" altLang="en-US" sz="14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）替换，让解码器按顺序预测被替换的原始跨度内容。</a:t>
            </a:r>
            <a:endParaRPr lang="en-US" sz="1400" b="0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55553" y="5016293"/>
            <a:ext cx="5585809" cy="1460088"/>
          </a:xfrm>
          <a:custGeom>
            <a:avLst/>
            <a:gdLst/>
            <a:ahLst/>
            <a:cxnLst/>
            <a:rect l="l" t="t" r="r" b="b"/>
            <a:pathLst>
              <a:path w="5586536" h="1460278">
                <a:moveTo>
                  <a:pt x="35135" y="0"/>
                </a:moveTo>
                <a:lnTo>
                  <a:pt x="5481135" y="0"/>
                </a:lnTo>
                <a:cubicBezTo>
                  <a:pt x="5539346" y="0"/>
                  <a:pt x="5586536" y="54480"/>
                  <a:pt x="5586536" y="121685"/>
                </a:cubicBezTo>
                <a:lnTo>
                  <a:pt x="5586536" y="1338593"/>
                </a:lnTo>
                <a:cubicBezTo>
                  <a:pt x="5586536" y="1405799"/>
                  <a:pt x="5539346" y="1460278"/>
                  <a:pt x="5481135" y="1460278"/>
                </a:cubicBezTo>
                <a:lnTo>
                  <a:pt x="35135" y="1460278"/>
                </a:lnTo>
                <a:cubicBezTo>
                  <a:pt x="15731" y="1460278"/>
                  <a:pt x="0" y="1442117"/>
                  <a:pt x="0" y="1419715"/>
                </a:cubicBezTo>
                <a:lnTo>
                  <a:pt x="0" y="40563"/>
                </a:lnTo>
                <a:cubicBezTo>
                  <a:pt x="0" y="18176"/>
                  <a:pt x="15744" y="0"/>
                  <a:pt x="351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889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355554" y="5016292"/>
            <a:ext cx="35130" cy="1368000"/>
          </a:xfrm>
          <a:custGeom>
            <a:avLst/>
            <a:gdLst/>
            <a:ahLst/>
            <a:cxnLst/>
            <a:rect l="l" t="t" r="r" b="b"/>
            <a:pathLst>
              <a:path w="35135" h="1264876">
                <a:moveTo>
                  <a:pt x="35135" y="0"/>
                </a:moveTo>
                <a:lnTo>
                  <a:pt x="35135" y="0"/>
                </a:lnTo>
                <a:lnTo>
                  <a:pt x="35135" y="1264876"/>
                </a:lnTo>
                <a:lnTo>
                  <a:pt x="35135" y="1264876"/>
                </a:lnTo>
                <a:cubicBezTo>
                  <a:pt x="15731" y="1264876"/>
                  <a:pt x="0" y="1249145"/>
                  <a:pt x="0" y="1229741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608203" y="5154904"/>
            <a:ext cx="213420" cy="212926"/>
          </a:xfrm>
          <a:custGeom>
            <a:avLst/>
            <a:gdLst/>
            <a:ahLst/>
            <a:cxnLst/>
            <a:rect l="l" t="t" r="r" b="b"/>
            <a:pathLst>
              <a:path w="213448" h="212954">
                <a:moveTo>
                  <a:pt x="208259" y="63080"/>
                </a:moveTo>
                <a:lnTo>
                  <a:pt x="168733" y="102607"/>
                </a:lnTo>
                <a:cubicBezTo>
                  <a:pt x="164945" y="106395"/>
                  <a:pt x="159303" y="107507"/>
                  <a:pt x="154363" y="105448"/>
                </a:cubicBezTo>
                <a:cubicBezTo>
                  <a:pt x="149422" y="103389"/>
                  <a:pt x="146252" y="98613"/>
                  <a:pt x="146252" y="93302"/>
                </a:cubicBezTo>
                <a:lnTo>
                  <a:pt x="146252" y="66950"/>
                </a:lnTo>
                <a:lnTo>
                  <a:pt x="14494" y="66950"/>
                </a:lnTo>
                <a:cubicBezTo>
                  <a:pt x="7206" y="66950"/>
                  <a:pt x="1318" y="61062"/>
                  <a:pt x="1318" y="53773"/>
                </a:cubicBezTo>
                <a:cubicBezTo>
                  <a:pt x="1318" y="46486"/>
                  <a:pt x="7206" y="40598"/>
                  <a:pt x="14494" y="40598"/>
                </a:cubicBezTo>
                <a:lnTo>
                  <a:pt x="146252" y="40598"/>
                </a:lnTo>
                <a:lnTo>
                  <a:pt x="146252" y="14247"/>
                </a:lnTo>
                <a:cubicBezTo>
                  <a:pt x="146252" y="8935"/>
                  <a:pt x="149464" y="4118"/>
                  <a:pt x="154404" y="2059"/>
                </a:cubicBezTo>
                <a:cubicBezTo>
                  <a:pt x="159345" y="0"/>
                  <a:pt x="164985" y="1154"/>
                  <a:pt x="168774" y="4900"/>
                </a:cubicBezTo>
                <a:lnTo>
                  <a:pt x="208301" y="44428"/>
                </a:lnTo>
                <a:cubicBezTo>
                  <a:pt x="213447" y="49574"/>
                  <a:pt x="213447" y="57933"/>
                  <a:pt x="208301" y="63080"/>
                </a:cubicBezTo>
                <a:close/>
                <a:moveTo>
                  <a:pt x="44675" y="208012"/>
                </a:moveTo>
                <a:lnTo>
                  <a:pt x="5147" y="168486"/>
                </a:lnTo>
                <a:cubicBezTo>
                  <a:pt x="0" y="163339"/>
                  <a:pt x="0" y="154981"/>
                  <a:pt x="5147" y="149834"/>
                </a:cubicBezTo>
                <a:lnTo>
                  <a:pt x="44675" y="110308"/>
                </a:lnTo>
                <a:cubicBezTo>
                  <a:pt x="48463" y="106519"/>
                  <a:pt x="54104" y="105407"/>
                  <a:pt x="59045" y="107467"/>
                </a:cubicBezTo>
                <a:cubicBezTo>
                  <a:pt x="63985" y="109524"/>
                  <a:pt x="67197" y="114342"/>
                  <a:pt x="67197" y="119653"/>
                </a:cubicBezTo>
                <a:lnTo>
                  <a:pt x="67197" y="146005"/>
                </a:lnTo>
                <a:lnTo>
                  <a:pt x="198955" y="146005"/>
                </a:lnTo>
                <a:cubicBezTo>
                  <a:pt x="206243" y="146005"/>
                  <a:pt x="212130" y="151892"/>
                  <a:pt x="212130" y="159181"/>
                </a:cubicBezTo>
                <a:cubicBezTo>
                  <a:pt x="212130" y="166468"/>
                  <a:pt x="206243" y="172356"/>
                  <a:pt x="198955" y="172356"/>
                </a:cubicBezTo>
                <a:lnTo>
                  <a:pt x="67197" y="172356"/>
                </a:lnTo>
                <a:lnTo>
                  <a:pt x="67197" y="198708"/>
                </a:lnTo>
                <a:cubicBezTo>
                  <a:pt x="67197" y="204020"/>
                  <a:pt x="63985" y="208837"/>
                  <a:pt x="59045" y="210895"/>
                </a:cubicBezTo>
                <a:cubicBezTo>
                  <a:pt x="54104" y="212954"/>
                  <a:pt x="48463" y="211801"/>
                  <a:pt x="44675" y="208054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65074" y="5130579"/>
            <a:ext cx="1710626" cy="23725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80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多模态应用场景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584124" y="5481228"/>
            <a:ext cx="5206322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 dirty="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• 强大的解码器：</a:t>
            </a:r>
            <a:r>
              <a:rPr lang="en-US" sz="13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在BLIP-2、InstructBLIP中作为语言解码器，连接视觉特征与语言生成。</a:t>
            </a:r>
            <a:endParaRPr lang="en-US" sz="1100" dirty="0"/>
          </a:p>
          <a:p>
            <a:pPr>
              <a:lnSpc>
                <a:spcPct val="108333"/>
              </a:lnSpc>
            </a:pPr>
            <a:r>
              <a:rPr lang="en-US" sz="1300" dirty="0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300" dirty="0" err="1">
                <a:solidFill>
                  <a:srgbClr val="1A252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核心能力：</a:t>
            </a:r>
            <a:r>
              <a:rPr lang="en-US" sz="1300" b="0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融合视觉理解与文本生成，胜任图像描述、复杂VQA、基于图创作等任务</a:t>
            </a:r>
            <a:r>
              <a:rPr lang="en-US" sz="1300" b="0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9396776" y="5841686"/>
            <a:ext cx="2742843" cy="36825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ctr" anchorCtr="0"/>
          <a:lstStyle/>
          <a:p>
            <a:pPr algn="r">
              <a:defRPr/>
            </a:pPr>
            <a:r>
              <a:rPr lang="en-US" sz="1200" b="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8711FAB-342B-4419-BC85-621C8E19EB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97" t="59411"/>
          <a:stretch/>
        </p:blipFill>
        <p:spPr>
          <a:xfrm>
            <a:off x="7281714" y="5030524"/>
            <a:ext cx="3782044" cy="169327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F8225EC-E838-461A-8635-0E30B545BF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30" r="8137" b="42327"/>
          <a:stretch/>
        </p:blipFill>
        <p:spPr>
          <a:xfrm>
            <a:off x="6157234" y="1304764"/>
            <a:ext cx="5751149" cy="207797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1B12204-7EB7-40FE-BA20-4A6E1BF375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394" r="52897"/>
          <a:stretch/>
        </p:blipFill>
        <p:spPr>
          <a:xfrm>
            <a:off x="7209706" y="3365509"/>
            <a:ext cx="4032448" cy="17616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44" y="-12700"/>
            <a:ext cx="12192000" cy="660400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62756" y="25400"/>
            <a:ext cx="11176000" cy="5969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0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任务二：跨度损坏预训练</a:t>
            </a:r>
            <a:r>
              <a:rPr lang="en-US" sz="30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(Span Corruption)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73856" y="660400"/>
            <a:ext cx="116713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84956" y="812800"/>
            <a:ext cx="118364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800">
                <a:solidFill>
                  <a:srgbClr val="5B7B9A"/>
                </a:solidFill>
                <a:latin typeface="微软雅黑"/>
                <a:ea typeface="微软雅黑"/>
                <a:cs typeface="微软雅黑"/>
                <a:sym typeface="微软雅黑"/>
              </a:rPr>
              <a:t>从“填单词”到“补全句”：生成式预训练的进阶范式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284956" y="1244601"/>
            <a:ext cx="1051814" cy="54995"/>
          </a:xfrm>
          <a:custGeom>
            <a:avLst/>
            <a:gdLst/>
            <a:ahLst/>
            <a:cxnLst/>
            <a:rect l="l" t="t" r="r" b="b"/>
            <a:pathLst>
              <a:path w="1051814" h="54995">
                <a:moveTo>
                  <a:pt x="0" y="0"/>
                </a:moveTo>
                <a:lnTo>
                  <a:pt x="1051814" y="0"/>
                </a:lnTo>
                <a:lnTo>
                  <a:pt x="1051814" y="54995"/>
                </a:lnTo>
                <a:lnTo>
                  <a:pt x="0" y="54995"/>
                </a:lnTo>
                <a:lnTo>
                  <a:pt x="0" y="0"/>
                </a:lnTo>
                <a:close/>
              </a:path>
            </a:pathLst>
          </a:cu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284956" y="1371600"/>
            <a:ext cx="6545010" cy="2328094"/>
          </a:xfrm>
          <a:custGeom>
            <a:avLst/>
            <a:gdLst/>
            <a:ahLst/>
            <a:cxnLst/>
            <a:rect l="l" t="t" r="r" b="b"/>
            <a:pathLst>
              <a:path w="6545010" h="2328094">
                <a:moveTo>
                  <a:pt x="116517" y="0"/>
                </a:moveTo>
                <a:lnTo>
                  <a:pt x="6428492" y="0"/>
                </a:lnTo>
                <a:cubicBezTo>
                  <a:pt x="6492843" y="0"/>
                  <a:pt x="6545010" y="49239"/>
                  <a:pt x="6545010" y="109978"/>
                </a:cubicBezTo>
                <a:lnTo>
                  <a:pt x="6545010" y="2218115"/>
                </a:lnTo>
                <a:cubicBezTo>
                  <a:pt x="6545010" y="2278855"/>
                  <a:pt x="6492843" y="2328094"/>
                  <a:pt x="6428492" y="2328094"/>
                </a:cubicBezTo>
                <a:lnTo>
                  <a:pt x="116517" y="2328094"/>
                </a:lnTo>
                <a:cubicBezTo>
                  <a:pt x="52168" y="2328094"/>
                  <a:pt x="0" y="2278855"/>
                  <a:pt x="0" y="2218115"/>
                </a:cubicBezTo>
                <a:lnTo>
                  <a:pt x="0" y="109978"/>
                </a:lnTo>
                <a:cubicBezTo>
                  <a:pt x="0" y="49280"/>
                  <a:pt x="52210" y="0"/>
                  <a:pt x="116517" y="0"/>
                </a:cubicBezTo>
                <a:close/>
              </a:path>
            </a:pathLst>
          </a:custGeom>
          <a:solidFill>
            <a:srgbClr val="1A3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526257" y="1551498"/>
            <a:ext cx="253563" cy="164983"/>
          </a:xfrm>
          <a:custGeom>
            <a:avLst/>
            <a:gdLst/>
            <a:ahLst/>
            <a:cxnLst/>
            <a:rect l="l" t="t" r="r" b="b"/>
            <a:pathLst>
              <a:path w="253563" h="164983">
                <a:moveTo>
                  <a:pt x="126782" y="0"/>
                </a:moveTo>
                <a:cubicBezTo>
                  <a:pt x="28174" y="0"/>
                  <a:pt x="0" y="41246"/>
                  <a:pt x="0" y="89366"/>
                </a:cubicBezTo>
                <a:cubicBezTo>
                  <a:pt x="0" y="137486"/>
                  <a:pt x="35217" y="164983"/>
                  <a:pt x="77478" y="164983"/>
                </a:cubicBezTo>
                <a:lnTo>
                  <a:pt x="81176" y="164983"/>
                </a:lnTo>
                <a:cubicBezTo>
                  <a:pt x="91829" y="164983"/>
                  <a:pt x="101601" y="159096"/>
                  <a:pt x="106355" y="149773"/>
                </a:cubicBezTo>
                <a:lnTo>
                  <a:pt x="116568" y="129881"/>
                </a:lnTo>
                <a:cubicBezTo>
                  <a:pt x="118505" y="126099"/>
                  <a:pt x="122423" y="123737"/>
                  <a:pt x="126782" y="123737"/>
                </a:cubicBezTo>
                <a:cubicBezTo>
                  <a:pt x="131139" y="123737"/>
                  <a:pt x="135058" y="126099"/>
                  <a:pt x="136994" y="129881"/>
                </a:cubicBezTo>
                <a:lnTo>
                  <a:pt x="147207" y="149773"/>
                </a:lnTo>
                <a:cubicBezTo>
                  <a:pt x="151962" y="159096"/>
                  <a:pt x="161734" y="164983"/>
                  <a:pt x="172387" y="164983"/>
                </a:cubicBezTo>
                <a:lnTo>
                  <a:pt x="176086" y="164983"/>
                </a:lnTo>
                <a:cubicBezTo>
                  <a:pt x="218346" y="164983"/>
                  <a:pt x="253563" y="137486"/>
                  <a:pt x="253563" y="89366"/>
                </a:cubicBezTo>
                <a:cubicBezTo>
                  <a:pt x="253563" y="41246"/>
                  <a:pt x="225389" y="0"/>
                  <a:pt x="126782" y="0"/>
                </a:cubicBezTo>
                <a:close/>
                <a:moveTo>
                  <a:pt x="42261" y="82491"/>
                </a:moveTo>
                <a:cubicBezTo>
                  <a:pt x="42261" y="67316"/>
                  <a:pt x="54884" y="54995"/>
                  <a:pt x="70434" y="54995"/>
                </a:cubicBezTo>
                <a:cubicBezTo>
                  <a:pt x="85984" y="54995"/>
                  <a:pt x="98608" y="67316"/>
                  <a:pt x="98608" y="82491"/>
                </a:cubicBezTo>
                <a:cubicBezTo>
                  <a:pt x="98608" y="97668"/>
                  <a:pt x="85984" y="109989"/>
                  <a:pt x="70434" y="109989"/>
                </a:cubicBezTo>
                <a:cubicBezTo>
                  <a:pt x="54884" y="109989"/>
                  <a:pt x="42261" y="97668"/>
                  <a:pt x="42261" y="82491"/>
                </a:cubicBezTo>
                <a:close/>
                <a:moveTo>
                  <a:pt x="183129" y="54995"/>
                </a:moveTo>
                <a:cubicBezTo>
                  <a:pt x="198678" y="54995"/>
                  <a:pt x="211303" y="67316"/>
                  <a:pt x="211303" y="82491"/>
                </a:cubicBezTo>
                <a:cubicBezTo>
                  <a:pt x="211303" y="97668"/>
                  <a:pt x="198678" y="109989"/>
                  <a:pt x="183129" y="109989"/>
                </a:cubicBezTo>
                <a:cubicBezTo>
                  <a:pt x="167579" y="109989"/>
                  <a:pt x="154955" y="97668"/>
                  <a:pt x="154955" y="82491"/>
                </a:cubicBezTo>
                <a:cubicBezTo>
                  <a:pt x="154955" y="67316"/>
                  <a:pt x="167579" y="54995"/>
                  <a:pt x="183129" y="54995"/>
                </a:cubicBezTo>
                <a:close/>
              </a:path>
            </a:pathLst>
          </a:cu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94556" y="1460500"/>
            <a:ext cx="1244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2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核心思想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0856" y="2006600"/>
            <a:ext cx="596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随机采样跨度：</a:t>
            </a: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在输入文本中随机选择</a:t>
            </a:r>
            <a:r>
              <a:rPr lang="en-US" sz="1300">
                <a:solidFill>
                  <a:srgbClr val="C8A464"/>
                </a:solidFill>
                <a:latin typeface="Noto Sans SC"/>
                <a:ea typeface="Noto Sans SC"/>
                <a:cs typeface="Noto Sans SC"/>
                <a:sym typeface="Noto Sans SC"/>
              </a:rPr>
              <a:t>多个不重叠的连续token跨度</a:t>
            </a: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>
              <a:lnSpc>
                <a:spcPct val="116666"/>
              </a:lnSpc>
            </a:pP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哨兵替换：</a:t>
            </a: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sz="1300">
                <a:solidFill>
                  <a:srgbClr val="C8A464"/>
                </a:solidFill>
                <a:latin typeface="Noto Sans SC"/>
                <a:ea typeface="Noto Sans SC"/>
                <a:cs typeface="Noto Sans SC"/>
                <a:sym typeface="Noto Sans SC"/>
              </a:rPr>
              <a:t>唯一的哨兵token (如&lt;extra_id_0&gt;)</a:t>
            </a: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替换每个跨度。</a:t>
            </a:r>
          </a:p>
          <a:p>
            <a:pPr>
              <a:lnSpc>
                <a:spcPct val="116666"/>
              </a:lnSpc>
            </a:pP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顺序生成：</a:t>
            </a: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训练解码器按哨兵顺序，自回归预测所有被替换的原始跨度内容。</a:t>
            </a:r>
          </a:p>
          <a:p>
            <a:pPr>
              <a:lnSpc>
                <a:spcPct val="116666"/>
              </a:lnSpc>
            </a:pP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设计初衷：</a:t>
            </a: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解决MLM仅预测孤立token的局限，同步训练</a:t>
            </a:r>
            <a:r>
              <a:rPr lang="en-US" sz="1300">
                <a:solidFill>
                  <a:srgbClr val="C8A464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上下文理解与连续生成能力</a:t>
            </a: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Freeform 11"/>
          <p:cNvSpPr/>
          <p:nvPr/>
        </p:nvSpPr>
        <p:spPr>
          <a:xfrm>
            <a:off x="6952456" y="1397001"/>
            <a:ext cx="5063546" cy="4422703"/>
          </a:xfrm>
          <a:custGeom>
            <a:avLst/>
            <a:gdLst/>
            <a:ahLst/>
            <a:cxnLst/>
            <a:rect l="l" t="t" r="r" b="b"/>
            <a:pathLst>
              <a:path w="5063546" h="4422703">
                <a:moveTo>
                  <a:pt x="36693" y="0"/>
                </a:moveTo>
                <a:lnTo>
                  <a:pt x="5026854" y="0"/>
                </a:lnTo>
                <a:cubicBezTo>
                  <a:pt x="5047118" y="0"/>
                  <a:pt x="5063546" y="16365"/>
                  <a:pt x="5063546" y="36552"/>
                </a:cubicBezTo>
                <a:lnTo>
                  <a:pt x="5063546" y="4313065"/>
                </a:lnTo>
                <a:cubicBezTo>
                  <a:pt x="5063546" y="4373616"/>
                  <a:pt x="5014270" y="4422703"/>
                  <a:pt x="4953484" y="4422703"/>
                </a:cubicBezTo>
                <a:lnTo>
                  <a:pt x="110062" y="4422703"/>
                </a:lnTo>
                <a:cubicBezTo>
                  <a:pt x="49276" y="4422703"/>
                  <a:pt x="0" y="4373616"/>
                  <a:pt x="0" y="4313065"/>
                </a:cubicBezTo>
                <a:lnTo>
                  <a:pt x="0" y="36552"/>
                </a:lnTo>
                <a:cubicBezTo>
                  <a:pt x="0" y="16378"/>
                  <a:pt x="16441" y="0"/>
                  <a:pt x="366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838156" y="1397000"/>
            <a:ext cx="5183938" cy="36664"/>
          </a:xfrm>
          <a:custGeom>
            <a:avLst/>
            <a:gdLst/>
            <a:ahLst/>
            <a:cxnLst/>
            <a:rect l="l" t="t" r="r" b="b"/>
            <a:pathLst>
              <a:path w="5183938" h="36664">
                <a:moveTo>
                  <a:pt x="37565" y="0"/>
                </a:moveTo>
                <a:lnTo>
                  <a:pt x="5146374" y="0"/>
                </a:lnTo>
                <a:cubicBezTo>
                  <a:pt x="5167121" y="0"/>
                  <a:pt x="5183938" y="16415"/>
                  <a:pt x="5183938" y="36664"/>
                </a:cubicBezTo>
                <a:lnTo>
                  <a:pt x="5183938" y="36664"/>
                </a:lnTo>
                <a:lnTo>
                  <a:pt x="0" y="36664"/>
                </a:lnTo>
                <a:lnTo>
                  <a:pt x="0" y="36664"/>
                </a:lnTo>
                <a:cubicBezTo>
                  <a:pt x="0" y="16427"/>
                  <a:pt x="16833" y="0"/>
                  <a:pt x="37565" y="0"/>
                </a:cubicBezTo>
                <a:close/>
              </a:path>
            </a:pathLst>
          </a:custGeom>
          <a:solidFill>
            <a:srgbClr val="1A3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7083602" y="1677642"/>
            <a:ext cx="203011" cy="188722"/>
          </a:xfrm>
          <a:custGeom>
            <a:avLst/>
            <a:gdLst/>
            <a:ahLst/>
            <a:cxnLst/>
            <a:rect l="l" t="t" r="r" b="b"/>
            <a:pathLst>
              <a:path w="203011" h="188722">
                <a:moveTo>
                  <a:pt x="109393" y="4691"/>
                </a:moveTo>
                <a:cubicBezTo>
                  <a:pt x="107888" y="1828"/>
                  <a:pt x="104844" y="0"/>
                  <a:pt x="101543" y="0"/>
                </a:cubicBezTo>
                <a:cubicBezTo>
                  <a:pt x="98241" y="0"/>
                  <a:pt x="95197" y="1828"/>
                  <a:pt x="93692" y="4691"/>
                </a:cubicBezTo>
                <a:lnTo>
                  <a:pt x="66693" y="56321"/>
                </a:lnTo>
                <a:lnTo>
                  <a:pt x="8034" y="65414"/>
                </a:lnTo>
                <a:cubicBezTo>
                  <a:pt x="4769" y="65914"/>
                  <a:pt x="2055" y="68171"/>
                  <a:pt x="1028" y="71250"/>
                </a:cubicBezTo>
                <a:cubicBezTo>
                  <a:pt x="0" y="74329"/>
                  <a:pt x="844" y="77695"/>
                  <a:pt x="3155" y="79986"/>
                </a:cubicBezTo>
                <a:lnTo>
                  <a:pt x="45122" y="120980"/>
                </a:lnTo>
                <a:lnTo>
                  <a:pt x="35878" y="178231"/>
                </a:lnTo>
                <a:cubicBezTo>
                  <a:pt x="35365" y="181418"/>
                  <a:pt x="36721" y="184640"/>
                  <a:pt x="39398" y="186538"/>
                </a:cubicBezTo>
                <a:cubicBezTo>
                  <a:pt x="42077" y="188435"/>
                  <a:pt x="45598" y="188722"/>
                  <a:pt x="48570" y="187254"/>
                </a:cubicBezTo>
                <a:lnTo>
                  <a:pt x="101543" y="160974"/>
                </a:lnTo>
                <a:lnTo>
                  <a:pt x="154478" y="187254"/>
                </a:lnTo>
                <a:cubicBezTo>
                  <a:pt x="157413" y="188722"/>
                  <a:pt x="160972" y="188435"/>
                  <a:pt x="163649" y="186538"/>
                </a:cubicBezTo>
                <a:cubicBezTo>
                  <a:pt x="166327" y="184640"/>
                  <a:pt x="167685" y="181454"/>
                  <a:pt x="167172" y="178231"/>
                </a:cubicBezTo>
                <a:lnTo>
                  <a:pt x="157889" y="120980"/>
                </a:lnTo>
                <a:lnTo>
                  <a:pt x="199856" y="79986"/>
                </a:lnTo>
                <a:cubicBezTo>
                  <a:pt x="202205" y="77695"/>
                  <a:pt x="203011" y="74329"/>
                  <a:pt x="201985" y="71250"/>
                </a:cubicBezTo>
                <a:cubicBezTo>
                  <a:pt x="200957" y="68171"/>
                  <a:pt x="198279" y="65914"/>
                  <a:pt x="194977" y="65414"/>
                </a:cubicBezTo>
                <a:lnTo>
                  <a:pt x="136356" y="56321"/>
                </a:lnTo>
                <a:lnTo>
                  <a:pt x="109393" y="4691"/>
                </a:lnTo>
                <a:close/>
              </a:path>
            </a:pathLst>
          </a:cu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295356" y="1600200"/>
            <a:ext cx="46101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2200">
                <a:solidFill>
                  <a:srgbClr val="1A3A5A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核心优势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7079456" y="2159001"/>
            <a:ext cx="4714378" cy="1325627"/>
          </a:xfrm>
          <a:custGeom>
            <a:avLst/>
            <a:gdLst/>
            <a:ahLst/>
            <a:cxnLst/>
            <a:rect l="l" t="t" r="r" b="b"/>
            <a:pathLst>
              <a:path w="4714378" h="1325627">
                <a:moveTo>
                  <a:pt x="37565" y="0"/>
                </a:moveTo>
                <a:lnTo>
                  <a:pt x="4639245" y="0"/>
                </a:lnTo>
                <a:cubicBezTo>
                  <a:pt x="4680741" y="0"/>
                  <a:pt x="4714378" y="50513"/>
                  <a:pt x="4714378" y="112823"/>
                </a:cubicBezTo>
                <a:lnTo>
                  <a:pt x="4714378" y="1212803"/>
                </a:lnTo>
                <a:cubicBezTo>
                  <a:pt x="4714378" y="1275113"/>
                  <a:pt x="4680741" y="1325627"/>
                  <a:pt x="4639245" y="1325627"/>
                </a:cubicBezTo>
                <a:lnTo>
                  <a:pt x="37565" y="1325627"/>
                </a:lnTo>
                <a:cubicBezTo>
                  <a:pt x="16819" y="1325627"/>
                  <a:pt x="0" y="1300372"/>
                  <a:pt x="0" y="1269219"/>
                </a:cubicBezTo>
                <a:lnTo>
                  <a:pt x="0" y="56410"/>
                </a:lnTo>
                <a:cubicBezTo>
                  <a:pt x="0" y="25276"/>
                  <a:pt x="16833" y="0"/>
                  <a:pt x="37565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7079457" y="2159000"/>
            <a:ext cx="37565" cy="861578"/>
          </a:xfrm>
          <a:custGeom>
            <a:avLst/>
            <a:gdLst/>
            <a:ahLst/>
            <a:cxnLst/>
            <a:rect l="l" t="t" r="r" b="b"/>
            <a:pathLst>
              <a:path w="37565" h="861578">
                <a:moveTo>
                  <a:pt x="37565" y="0"/>
                </a:moveTo>
                <a:lnTo>
                  <a:pt x="37565" y="0"/>
                </a:lnTo>
                <a:lnTo>
                  <a:pt x="37565" y="861578"/>
                </a:lnTo>
                <a:lnTo>
                  <a:pt x="37565" y="861578"/>
                </a:lnTo>
                <a:cubicBezTo>
                  <a:pt x="16819" y="861578"/>
                  <a:pt x="0" y="845165"/>
                  <a:pt x="0" y="824916"/>
                </a:cubicBezTo>
                <a:lnTo>
                  <a:pt x="0" y="36664"/>
                </a:lnTo>
                <a:cubicBezTo>
                  <a:pt x="0" y="16427"/>
                  <a:pt x="16831" y="0"/>
                  <a:pt x="37565" y="0"/>
                </a:cubicBezTo>
                <a:close/>
              </a:path>
            </a:pathLst>
          </a:custGeom>
          <a:solidFill>
            <a:srgbClr val="1A3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244556" y="2222500"/>
            <a:ext cx="4508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 dirty="0" err="1">
                <a:solidFill>
                  <a:srgbClr val="1A3A5A"/>
                </a:solidFill>
                <a:latin typeface="Noto Sans SC"/>
                <a:ea typeface="Noto Sans SC"/>
                <a:cs typeface="Noto Sans SC"/>
                <a:sym typeface="Noto Sans SC"/>
              </a:rPr>
              <a:t>更贴近真实生成场景</a:t>
            </a:r>
            <a:endParaRPr lang="en-US" sz="1100" dirty="0"/>
          </a:p>
          <a:p>
            <a:pPr>
              <a:lnSpc>
                <a:spcPct val="108333"/>
              </a:lnSpc>
            </a:pPr>
            <a:r>
              <a:rPr lang="en-US" sz="1300" b="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不再预测孤立词汇，而是生成连贯的长文本片段，更符合人类语言的使用习惯</a:t>
            </a:r>
            <a:r>
              <a:rPr lang="en-US" sz="1300" b="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8" name="Freeform 18"/>
          <p:cNvSpPr/>
          <p:nvPr/>
        </p:nvSpPr>
        <p:spPr>
          <a:xfrm>
            <a:off x="7079456" y="3429000"/>
            <a:ext cx="4714378" cy="861578"/>
          </a:xfrm>
          <a:custGeom>
            <a:avLst/>
            <a:gdLst/>
            <a:ahLst/>
            <a:cxnLst/>
            <a:rect l="l" t="t" r="r" b="b"/>
            <a:pathLst>
              <a:path w="4714378" h="861578">
                <a:moveTo>
                  <a:pt x="37565" y="0"/>
                </a:moveTo>
                <a:lnTo>
                  <a:pt x="4639245" y="0"/>
                </a:lnTo>
                <a:cubicBezTo>
                  <a:pt x="4680741" y="0"/>
                  <a:pt x="4714378" y="32831"/>
                  <a:pt x="4714378" y="73329"/>
                </a:cubicBezTo>
                <a:lnTo>
                  <a:pt x="4714378" y="788250"/>
                </a:lnTo>
                <a:cubicBezTo>
                  <a:pt x="4714378" y="828747"/>
                  <a:pt x="4680741" y="861578"/>
                  <a:pt x="4639245" y="861578"/>
                </a:cubicBezTo>
                <a:lnTo>
                  <a:pt x="37565" y="861578"/>
                </a:lnTo>
                <a:cubicBezTo>
                  <a:pt x="16819" y="861578"/>
                  <a:pt x="0" y="845165"/>
                  <a:pt x="0" y="824916"/>
                </a:cubicBezTo>
                <a:lnTo>
                  <a:pt x="0" y="36664"/>
                </a:lnTo>
                <a:cubicBezTo>
                  <a:pt x="0" y="16427"/>
                  <a:pt x="16833" y="0"/>
                  <a:pt x="37565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7079457" y="3429000"/>
            <a:ext cx="37565" cy="861578"/>
          </a:xfrm>
          <a:custGeom>
            <a:avLst/>
            <a:gdLst/>
            <a:ahLst/>
            <a:cxnLst/>
            <a:rect l="l" t="t" r="r" b="b"/>
            <a:pathLst>
              <a:path w="37565" h="861578">
                <a:moveTo>
                  <a:pt x="37565" y="0"/>
                </a:moveTo>
                <a:lnTo>
                  <a:pt x="37565" y="0"/>
                </a:lnTo>
                <a:lnTo>
                  <a:pt x="37565" y="861578"/>
                </a:lnTo>
                <a:lnTo>
                  <a:pt x="37565" y="861578"/>
                </a:lnTo>
                <a:cubicBezTo>
                  <a:pt x="16819" y="861578"/>
                  <a:pt x="0" y="845165"/>
                  <a:pt x="0" y="824916"/>
                </a:cubicBezTo>
                <a:lnTo>
                  <a:pt x="0" y="36664"/>
                </a:lnTo>
                <a:cubicBezTo>
                  <a:pt x="0" y="16427"/>
                  <a:pt x="16831" y="0"/>
                  <a:pt x="37565" y="0"/>
                </a:cubicBezTo>
                <a:close/>
              </a:path>
            </a:pathLst>
          </a:custGeom>
          <a:solidFill>
            <a:srgbClr val="5B7B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244556" y="3492500"/>
            <a:ext cx="4508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>
                <a:solidFill>
                  <a:srgbClr val="1A3A5A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训练效率显著提升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 b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一次掩码多个连续Token，减少冗余计算开销；模型每次能“看到”更多有效上下文信息。</a:t>
            </a:r>
          </a:p>
        </p:txBody>
      </p:sp>
      <p:sp>
        <p:nvSpPr>
          <p:cNvPr id="21" name="Freeform 21"/>
          <p:cNvSpPr/>
          <p:nvPr/>
        </p:nvSpPr>
        <p:spPr>
          <a:xfrm>
            <a:off x="7079456" y="4699000"/>
            <a:ext cx="4714378" cy="861578"/>
          </a:xfrm>
          <a:custGeom>
            <a:avLst/>
            <a:gdLst/>
            <a:ahLst/>
            <a:cxnLst/>
            <a:rect l="l" t="t" r="r" b="b"/>
            <a:pathLst>
              <a:path w="4714378" h="861578">
                <a:moveTo>
                  <a:pt x="37565" y="0"/>
                </a:moveTo>
                <a:lnTo>
                  <a:pt x="4639245" y="0"/>
                </a:lnTo>
                <a:cubicBezTo>
                  <a:pt x="4680741" y="0"/>
                  <a:pt x="4714378" y="32831"/>
                  <a:pt x="4714378" y="73329"/>
                </a:cubicBezTo>
                <a:lnTo>
                  <a:pt x="4714378" y="788250"/>
                </a:lnTo>
                <a:cubicBezTo>
                  <a:pt x="4714378" y="828747"/>
                  <a:pt x="4680741" y="861578"/>
                  <a:pt x="4639245" y="861578"/>
                </a:cubicBezTo>
                <a:lnTo>
                  <a:pt x="37565" y="861578"/>
                </a:lnTo>
                <a:cubicBezTo>
                  <a:pt x="16819" y="861578"/>
                  <a:pt x="0" y="845165"/>
                  <a:pt x="0" y="824916"/>
                </a:cubicBezTo>
                <a:lnTo>
                  <a:pt x="0" y="36664"/>
                </a:lnTo>
                <a:cubicBezTo>
                  <a:pt x="0" y="16427"/>
                  <a:pt x="16833" y="0"/>
                  <a:pt x="37565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7079457" y="4699000"/>
            <a:ext cx="37565" cy="861578"/>
          </a:xfrm>
          <a:custGeom>
            <a:avLst/>
            <a:gdLst/>
            <a:ahLst/>
            <a:cxnLst/>
            <a:rect l="l" t="t" r="r" b="b"/>
            <a:pathLst>
              <a:path w="37565" h="861578">
                <a:moveTo>
                  <a:pt x="37565" y="0"/>
                </a:moveTo>
                <a:lnTo>
                  <a:pt x="37565" y="0"/>
                </a:lnTo>
                <a:lnTo>
                  <a:pt x="37565" y="861578"/>
                </a:lnTo>
                <a:lnTo>
                  <a:pt x="37565" y="861578"/>
                </a:lnTo>
                <a:cubicBezTo>
                  <a:pt x="16819" y="861578"/>
                  <a:pt x="0" y="845165"/>
                  <a:pt x="0" y="824916"/>
                </a:cubicBezTo>
                <a:lnTo>
                  <a:pt x="0" y="36664"/>
                </a:lnTo>
                <a:cubicBezTo>
                  <a:pt x="0" y="16427"/>
                  <a:pt x="16831" y="0"/>
                  <a:pt x="37565" y="0"/>
                </a:cubicBezTo>
                <a:close/>
              </a:path>
            </a:pathLst>
          </a:cu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244556" y="4762500"/>
            <a:ext cx="4508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>
                <a:solidFill>
                  <a:srgbClr val="1A3A5A"/>
                </a:solidFill>
                <a:latin typeface="Noto Sans SC"/>
                <a:ea typeface="Noto Sans SC"/>
                <a:cs typeface="Noto Sans SC"/>
                <a:sym typeface="Noto Sans SC"/>
              </a:rPr>
              <a:t>完美适配 Encoder-Decoder 架构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 b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天然契合 T5 提出的“所有任务都是文本到文本 (Text-to-Text)”转换的统一范式。</a:t>
            </a:r>
          </a:p>
        </p:txBody>
      </p:sp>
      <p:sp>
        <p:nvSpPr>
          <p:cNvPr id="24" name="Freeform 24"/>
          <p:cNvSpPr/>
          <p:nvPr/>
        </p:nvSpPr>
        <p:spPr>
          <a:xfrm>
            <a:off x="6952456" y="5969000"/>
            <a:ext cx="5071248" cy="774316"/>
          </a:xfrm>
          <a:custGeom>
            <a:avLst/>
            <a:gdLst/>
            <a:ahLst/>
            <a:cxnLst/>
            <a:rect l="l" t="t" r="r" b="b"/>
            <a:pathLst>
              <a:path w="5071248" h="774316">
                <a:moveTo>
                  <a:pt x="36882" y="0"/>
                </a:moveTo>
                <a:lnTo>
                  <a:pt x="4960601" y="0"/>
                </a:lnTo>
                <a:cubicBezTo>
                  <a:pt x="5021711" y="0"/>
                  <a:pt x="5071248" y="74289"/>
                  <a:pt x="5071248" y="165928"/>
                </a:cubicBezTo>
                <a:lnTo>
                  <a:pt x="5071248" y="608388"/>
                </a:lnTo>
                <a:cubicBezTo>
                  <a:pt x="5071248" y="700028"/>
                  <a:pt x="5021710" y="774316"/>
                  <a:pt x="4960601" y="774316"/>
                </a:cubicBezTo>
                <a:lnTo>
                  <a:pt x="36882" y="774316"/>
                </a:lnTo>
                <a:cubicBezTo>
                  <a:pt x="16527" y="774316"/>
                  <a:pt x="0" y="749534"/>
                  <a:pt x="0" y="719009"/>
                </a:cubicBezTo>
                <a:lnTo>
                  <a:pt x="0" y="55308"/>
                </a:lnTo>
                <a:cubicBezTo>
                  <a:pt x="0" y="24783"/>
                  <a:pt x="16527" y="0"/>
                  <a:pt x="36882" y="0"/>
                </a:cubicBezTo>
                <a:close/>
              </a:path>
            </a:pathLst>
          </a:custGeom>
          <a:solidFill>
            <a:srgbClr val="C8A46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003256" y="6070600"/>
            <a:ext cx="49911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algn="ctr">
              <a:defRPr/>
            </a:pPr>
            <a:r>
              <a:rPr lang="en-US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代表模型：T5 (Text-to-Text Transfer Transformer)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284957" y="3759200"/>
            <a:ext cx="6556747" cy="2850260"/>
          </a:xfrm>
          <a:custGeom>
            <a:avLst/>
            <a:gdLst/>
            <a:ahLst/>
            <a:cxnLst/>
            <a:rect l="l" t="t" r="r" b="b"/>
            <a:pathLst>
              <a:path w="6556747" h="2850260">
                <a:moveTo>
                  <a:pt x="116747" y="0"/>
                </a:moveTo>
                <a:lnTo>
                  <a:pt x="6440000" y="0"/>
                </a:lnTo>
                <a:cubicBezTo>
                  <a:pt x="6504478" y="0"/>
                  <a:pt x="6556747" y="53175"/>
                  <a:pt x="6556747" y="118770"/>
                </a:cubicBezTo>
                <a:lnTo>
                  <a:pt x="6556747" y="2731489"/>
                </a:lnTo>
                <a:cubicBezTo>
                  <a:pt x="6556747" y="2797085"/>
                  <a:pt x="6504478" y="2850260"/>
                  <a:pt x="6440000" y="2850260"/>
                </a:cubicBezTo>
                <a:lnTo>
                  <a:pt x="116747" y="2850260"/>
                </a:lnTo>
                <a:cubicBezTo>
                  <a:pt x="52269" y="2850260"/>
                  <a:pt x="0" y="2797085"/>
                  <a:pt x="0" y="2731489"/>
                </a:cubicBezTo>
                <a:lnTo>
                  <a:pt x="0" y="118770"/>
                </a:lnTo>
                <a:cubicBezTo>
                  <a:pt x="0" y="53175"/>
                  <a:pt x="52269" y="0"/>
                  <a:pt x="11674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506616" y="3916343"/>
            <a:ext cx="223591" cy="258524"/>
          </a:xfrm>
          <a:custGeom>
            <a:avLst/>
            <a:gdLst/>
            <a:ahLst/>
            <a:cxnLst/>
            <a:rect l="l" t="t" r="r" b="b"/>
            <a:pathLst>
              <a:path w="223591" h="258524">
                <a:moveTo>
                  <a:pt x="146811" y="109942"/>
                </a:moveTo>
                <a:cubicBezTo>
                  <a:pt x="151287" y="108542"/>
                  <a:pt x="155983" y="111004"/>
                  <a:pt x="158000" y="115795"/>
                </a:cubicBezTo>
                <a:lnTo>
                  <a:pt x="164822" y="131744"/>
                </a:lnTo>
                <a:cubicBezTo>
                  <a:pt x="168602" y="132337"/>
                  <a:pt x="172306" y="133526"/>
                  <a:pt x="175791" y="135179"/>
                </a:cubicBezTo>
                <a:lnTo>
                  <a:pt x="188631" y="125296"/>
                </a:lnTo>
                <a:cubicBezTo>
                  <a:pt x="192483" y="122327"/>
                  <a:pt x="197582" y="122921"/>
                  <a:pt x="200847" y="126697"/>
                </a:cubicBezTo>
                <a:lnTo>
                  <a:pt x="207891" y="134840"/>
                </a:lnTo>
                <a:cubicBezTo>
                  <a:pt x="211156" y="138616"/>
                  <a:pt x="211670" y="144553"/>
                  <a:pt x="209101" y="148965"/>
                </a:cubicBezTo>
                <a:lnTo>
                  <a:pt x="200554" y="163767"/>
                </a:lnTo>
                <a:cubicBezTo>
                  <a:pt x="201251" y="165761"/>
                  <a:pt x="201875" y="167840"/>
                  <a:pt x="202388" y="170003"/>
                </a:cubicBezTo>
                <a:cubicBezTo>
                  <a:pt x="202901" y="172165"/>
                  <a:pt x="203232" y="174288"/>
                  <a:pt x="203489" y="176450"/>
                </a:cubicBezTo>
                <a:lnTo>
                  <a:pt x="217319" y="184340"/>
                </a:lnTo>
                <a:cubicBezTo>
                  <a:pt x="221463" y="186715"/>
                  <a:pt x="223592" y="192144"/>
                  <a:pt x="222381" y="197276"/>
                </a:cubicBezTo>
                <a:lnTo>
                  <a:pt x="219813" y="208388"/>
                </a:lnTo>
                <a:cubicBezTo>
                  <a:pt x="218602" y="213520"/>
                  <a:pt x="214458" y="216999"/>
                  <a:pt x="209835" y="216660"/>
                </a:cubicBezTo>
                <a:lnTo>
                  <a:pt x="194427" y="215514"/>
                </a:lnTo>
                <a:cubicBezTo>
                  <a:pt x="192117" y="218951"/>
                  <a:pt x="189439" y="222131"/>
                  <a:pt x="186395" y="224846"/>
                </a:cubicBezTo>
                <a:lnTo>
                  <a:pt x="187385" y="242619"/>
                </a:lnTo>
                <a:cubicBezTo>
                  <a:pt x="187677" y="247963"/>
                  <a:pt x="184670" y="252799"/>
                  <a:pt x="180231" y="254155"/>
                </a:cubicBezTo>
                <a:lnTo>
                  <a:pt x="170620" y="257125"/>
                </a:lnTo>
                <a:cubicBezTo>
                  <a:pt x="166144" y="258524"/>
                  <a:pt x="161485" y="256064"/>
                  <a:pt x="159431" y="251271"/>
                </a:cubicBezTo>
                <a:lnTo>
                  <a:pt x="152607" y="235324"/>
                </a:lnTo>
                <a:cubicBezTo>
                  <a:pt x="148829" y="234728"/>
                  <a:pt x="145123" y="233542"/>
                  <a:pt x="141640" y="231887"/>
                </a:cubicBezTo>
                <a:lnTo>
                  <a:pt x="128800" y="241770"/>
                </a:lnTo>
                <a:cubicBezTo>
                  <a:pt x="124948" y="244740"/>
                  <a:pt x="119849" y="244145"/>
                  <a:pt x="116584" y="240371"/>
                </a:cubicBezTo>
                <a:lnTo>
                  <a:pt x="109539" y="232228"/>
                </a:lnTo>
                <a:cubicBezTo>
                  <a:pt x="106274" y="228452"/>
                  <a:pt x="105761" y="222555"/>
                  <a:pt x="108330" y="218103"/>
                </a:cubicBezTo>
                <a:lnTo>
                  <a:pt x="116877" y="203258"/>
                </a:lnTo>
                <a:cubicBezTo>
                  <a:pt x="116180" y="201264"/>
                  <a:pt x="115556" y="199185"/>
                  <a:pt x="115043" y="197022"/>
                </a:cubicBezTo>
                <a:cubicBezTo>
                  <a:pt x="114529" y="194859"/>
                  <a:pt x="114199" y="192695"/>
                  <a:pt x="113942" y="190574"/>
                </a:cubicBezTo>
                <a:lnTo>
                  <a:pt x="100112" y="182685"/>
                </a:lnTo>
                <a:cubicBezTo>
                  <a:pt x="95967" y="180309"/>
                  <a:pt x="93875" y="174881"/>
                  <a:pt x="95050" y="169749"/>
                </a:cubicBezTo>
                <a:lnTo>
                  <a:pt x="97618" y="158635"/>
                </a:lnTo>
                <a:cubicBezTo>
                  <a:pt x="98828" y="153504"/>
                  <a:pt x="102973" y="150024"/>
                  <a:pt x="107596" y="150365"/>
                </a:cubicBezTo>
                <a:lnTo>
                  <a:pt x="122966" y="151510"/>
                </a:lnTo>
                <a:cubicBezTo>
                  <a:pt x="125277" y="148074"/>
                  <a:pt x="127955" y="144892"/>
                  <a:pt x="131000" y="142178"/>
                </a:cubicBezTo>
                <a:lnTo>
                  <a:pt x="130009" y="124449"/>
                </a:lnTo>
                <a:cubicBezTo>
                  <a:pt x="129717" y="119104"/>
                  <a:pt x="132724" y="114269"/>
                  <a:pt x="137163" y="112911"/>
                </a:cubicBezTo>
                <a:lnTo>
                  <a:pt x="146774" y="109942"/>
                </a:lnTo>
                <a:close/>
                <a:moveTo>
                  <a:pt x="158734" y="164871"/>
                </a:moveTo>
                <a:cubicBezTo>
                  <a:pt x="149826" y="164882"/>
                  <a:pt x="142601" y="173254"/>
                  <a:pt x="142611" y="183555"/>
                </a:cubicBezTo>
                <a:cubicBezTo>
                  <a:pt x="142620" y="193855"/>
                  <a:pt x="149862" y="202207"/>
                  <a:pt x="158771" y="202196"/>
                </a:cubicBezTo>
                <a:cubicBezTo>
                  <a:pt x="167679" y="202184"/>
                  <a:pt x="174904" y="193813"/>
                  <a:pt x="174893" y="183512"/>
                </a:cubicBezTo>
                <a:cubicBezTo>
                  <a:pt x="174883" y="173212"/>
                  <a:pt x="167642" y="164858"/>
                  <a:pt x="158734" y="164871"/>
                </a:cubicBezTo>
                <a:close/>
                <a:moveTo>
                  <a:pt x="76744" y="1358"/>
                </a:moveTo>
                <a:lnTo>
                  <a:pt x="86355" y="4327"/>
                </a:lnTo>
                <a:cubicBezTo>
                  <a:pt x="90794" y="5726"/>
                  <a:pt x="93803" y="10563"/>
                  <a:pt x="93509" y="15864"/>
                </a:cubicBezTo>
                <a:lnTo>
                  <a:pt x="92519" y="33594"/>
                </a:lnTo>
                <a:cubicBezTo>
                  <a:pt x="95563" y="36308"/>
                  <a:pt x="98241" y="39447"/>
                  <a:pt x="100551" y="42925"/>
                </a:cubicBezTo>
                <a:lnTo>
                  <a:pt x="115960" y="41781"/>
                </a:lnTo>
                <a:cubicBezTo>
                  <a:pt x="120545" y="41441"/>
                  <a:pt x="124727" y="44918"/>
                  <a:pt x="125939" y="50051"/>
                </a:cubicBezTo>
                <a:lnTo>
                  <a:pt x="128505" y="61164"/>
                </a:lnTo>
                <a:cubicBezTo>
                  <a:pt x="129680" y="66297"/>
                  <a:pt x="127588" y="71725"/>
                  <a:pt x="123443" y="74100"/>
                </a:cubicBezTo>
                <a:lnTo>
                  <a:pt x="109613" y="81990"/>
                </a:lnTo>
                <a:cubicBezTo>
                  <a:pt x="109356" y="84153"/>
                  <a:pt x="108989" y="86316"/>
                  <a:pt x="108513" y="88438"/>
                </a:cubicBezTo>
                <a:cubicBezTo>
                  <a:pt x="108036" y="90558"/>
                  <a:pt x="107376" y="92679"/>
                  <a:pt x="106678" y="94671"/>
                </a:cubicBezTo>
                <a:lnTo>
                  <a:pt x="115226" y="109518"/>
                </a:lnTo>
                <a:cubicBezTo>
                  <a:pt x="117794" y="113972"/>
                  <a:pt x="117280" y="119868"/>
                  <a:pt x="114016" y="123641"/>
                </a:cubicBezTo>
                <a:lnTo>
                  <a:pt x="106973" y="131787"/>
                </a:lnTo>
                <a:cubicBezTo>
                  <a:pt x="103707" y="135562"/>
                  <a:pt x="98608" y="136155"/>
                  <a:pt x="94756" y="133185"/>
                </a:cubicBezTo>
                <a:lnTo>
                  <a:pt x="81917" y="123303"/>
                </a:lnTo>
                <a:cubicBezTo>
                  <a:pt x="78432" y="124958"/>
                  <a:pt x="74726" y="126144"/>
                  <a:pt x="70948" y="126738"/>
                </a:cubicBezTo>
                <a:lnTo>
                  <a:pt x="64125" y="142686"/>
                </a:lnTo>
                <a:cubicBezTo>
                  <a:pt x="62070" y="147480"/>
                  <a:pt x="57375" y="149897"/>
                  <a:pt x="52935" y="148541"/>
                </a:cubicBezTo>
                <a:lnTo>
                  <a:pt x="43324" y="145570"/>
                </a:lnTo>
                <a:cubicBezTo>
                  <a:pt x="38850" y="144172"/>
                  <a:pt x="35878" y="139337"/>
                  <a:pt x="36171" y="134035"/>
                </a:cubicBezTo>
                <a:lnTo>
                  <a:pt x="37162" y="116263"/>
                </a:lnTo>
                <a:cubicBezTo>
                  <a:pt x="34118" y="113547"/>
                  <a:pt x="31439" y="110408"/>
                  <a:pt x="29128" y="106931"/>
                </a:cubicBezTo>
                <a:lnTo>
                  <a:pt x="13720" y="108076"/>
                </a:lnTo>
                <a:cubicBezTo>
                  <a:pt x="9134" y="108415"/>
                  <a:pt x="4953" y="104937"/>
                  <a:pt x="3742" y="99805"/>
                </a:cubicBezTo>
                <a:lnTo>
                  <a:pt x="1175" y="88691"/>
                </a:lnTo>
                <a:cubicBezTo>
                  <a:pt x="0" y="83560"/>
                  <a:pt x="2091" y="78130"/>
                  <a:pt x="6236" y="75755"/>
                </a:cubicBezTo>
                <a:lnTo>
                  <a:pt x="20066" y="67867"/>
                </a:lnTo>
                <a:cubicBezTo>
                  <a:pt x="20324" y="65703"/>
                  <a:pt x="20691" y="63582"/>
                  <a:pt x="21168" y="61419"/>
                </a:cubicBezTo>
                <a:cubicBezTo>
                  <a:pt x="21682" y="59256"/>
                  <a:pt x="22269" y="57177"/>
                  <a:pt x="23001" y="55183"/>
                </a:cubicBezTo>
                <a:lnTo>
                  <a:pt x="14454" y="40380"/>
                </a:lnTo>
                <a:cubicBezTo>
                  <a:pt x="11886" y="35926"/>
                  <a:pt x="12399" y="30031"/>
                  <a:pt x="15665" y="26256"/>
                </a:cubicBezTo>
                <a:lnTo>
                  <a:pt x="22708" y="18113"/>
                </a:lnTo>
                <a:cubicBezTo>
                  <a:pt x="25973" y="14337"/>
                  <a:pt x="31072" y="13743"/>
                  <a:pt x="34924" y="16712"/>
                </a:cubicBezTo>
                <a:lnTo>
                  <a:pt x="47763" y="26596"/>
                </a:lnTo>
                <a:cubicBezTo>
                  <a:pt x="51249" y="24942"/>
                  <a:pt x="54953" y="23753"/>
                  <a:pt x="58732" y="23160"/>
                </a:cubicBezTo>
                <a:lnTo>
                  <a:pt x="65555" y="7212"/>
                </a:lnTo>
                <a:cubicBezTo>
                  <a:pt x="67610" y="2417"/>
                  <a:pt x="72269" y="0"/>
                  <a:pt x="76744" y="1358"/>
                </a:cubicBezTo>
                <a:close/>
                <a:moveTo>
                  <a:pt x="64821" y="56287"/>
                </a:moveTo>
                <a:cubicBezTo>
                  <a:pt x="55913" y="56287"/>
                  <a:pt x="48680" y="64649"/>
                  <a:pt x="48680" y="74949"/>
                </a:cubicBezTo>
                <a:cubicBezTo>
                  <a:pt x="48680" y="85249"/>
                  <a:pt x="55913" y="93612"/>
                  <a:pt x="64821" y="93612"/>
                </a:cubicBezTo>
                <a:cubicBezTo>
                  <a:pt x="73730" y="93612"/>
                  <a:pt x="80963" y="85249"/>
                  <a:pt x="80963" y="74949"/>
                </a:cubicBezTo>
                <a:cubicBezTo>
                  <a:pt x="80963" y="64649"/>
                  <a:pt x="73730" y="56287"/>
                  <a:pt x="64821" y="56287"/>
                </a:cubicBezTo>
                <a:close/>
              </a:path>
            </a:pathLst>
          </a:cu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18356" y="3873500"/>
            <a:ext cx="57531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2000">
                <a:solidFill>
                  <a:srgbClr val="1A3A5A"/>
                </a:solidFill>
                <a:latin typeface="微软雅黑"/>
                <a:ea typeface="微软雅黑"/>
                <a:cs typeface="微软雅黑"/>
                <a:sym typeface="微软雅黑"/>
              </a:rPr>
              <a:t>实现步骤 (4步流程)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0856" y="4445000"/>
            <a:ext cx="355600" cy="355600"/>
          </a:xfrm>
          <a:prstGeom prst="roundRect">
            <a:avLst>
              <a:gd name="adj" fmla="val 0"/>
            </a:avLst>
          </a:prstGeom>
          <a:solidFill>
            <a:srgbClr val="1A3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500856" y="4445000"/>
            <a:ext cx="355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8056" y="4394200"/>
            <a:ext cx="2667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3A5A"/>
                </a:solidFill>
                <a:latin typeface="Noto Sans SC"/>
                <a:ea typeface="Noto Sans SC"/>
                <a:cs typeface="Noto Sans SC"/>
                <a:sym typeface="Noto Sans SC"/>
              </a:rPr>
              <a:t>随机采样跨度</a:t>
            </a:r>
            <a:endParaRPr lang="en-US" sz="1100"/>
          </a:p>
          <a:p>
            <a:r>
              <a:rPr lang="en-US" sz="1200" b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随机选择长度不一的连续token，且互不重叠。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3688556" y="4445000"/>
            <a:ext cx="355600" cy="355600"/>
          </a:xfrm>
          <a:prstGeom prst="roundRect">
            <a:avLst>
              <a:gd name="adj" fmla="val 0"/>
            </a:avLst>
          </a:prstGeom>
          <a:solidFill>
            <a:srgbClr val="5B7B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3688556" y="4445000"/>
            <a:ext cx="355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196556" y="4394200"/>
            <a:ext cx="2667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3A5A"/>
                </a:solidFill>
                <a:latin typeface="Noto Sans SC"/>
                <a:ea typeface="Noto Sans SC"/>
                <a:cs typeface="Noto Sans SC"/>
                <a:sym typeface="Noto Sans SC"/>
              </a:rPr>
              <a:t>哨兵 Token 替换</a:t>
            </a:r>
            <a:endParaRPr lang="en-US" sz="1100"/>
          </a:p>
          <a:p>
            <a:r>
              <a:rPr lang="en-US" sz="1200" b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为每个跨度分配唯一递增哨兵，整体替换原跨度。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500856" y="5397500"/>
            <a:ext cx="355600" cy="355600"/>
          </a:xfrm>
          <a:prstGeom prst="roundRect">
            <a:avLst>
              <a:gd name="adj" fmla="val 0"/>
            </a:avLst>
          </a:pr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00856" y="5397500"/>
            <a:ext cx="355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8056" y="5346700"/>
            <a:ext cx="2667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3A5A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编码器双向编码</a:t>
            </a:r>
            <a:endParaRPr lang="en-US" sz="1100"/>
          </a:p>
          <a:p>
            <a:r>
              <a:rPr lang="en-US" sz="1200" b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含哨兵的完整文本输入编码器，理解全局上下文。</a:t>
            </a:r>
          </a:p>
        </p:txBody>
      </p:sp>
      <p:sp>
        <p:nvSpPr>
          <p:cNvPr id="38" name="AutoShape 38"/>
          <p:cNvSpPr/>
          <p:nvPr/>
        </p:nvSpPr>
        <p:spPr>
          <a:xfrm>
            <a:off x="3688556" y="5397500"/>
            <a:ext cx="355600" cy="3556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3688556" y="5397500"/>
            <a:ext cx="3556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196556" y="5346700"/>
            <a:ext cx="2667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400">
                <a:solidFill>
                  <a:srgbClr val="1A3A5A"/>
                </a:solidFill>
                <a:latin typeface="Noto Sans SC"/>
                <a:ea typeface="Noto Sans SC"/>
                <a:cs typeface="Noto Sans SC"/>
                <a:sym typeface="Noto Sans SC"/>
              </a:rPr>
              <a:t>解码器顺序生成</a:t>
            </a:r>
            <a:endParaRPr lang="en-US" sz="1100"/>
          </a:p>
          <a:p>
            <a:r>
              <a:rPr lang="en-US" sz="1200" b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以哨兵为起点，按顺序预测所有被替换的原始内容。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8E6660CC-AF3A-473E-B9B5-A09B7410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465" y="2085852"/>
            <a:ext cx="3539413" cy="3287364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9" y="25843"/>
            <a:ext cx="11174545" cy="6095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Decoder-Only：自回归生成的语言王者 (GPT)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42855" y="1041711"/>
            <a:ext cx="5599971" cy="1447611"/>
          </a:xfrm>
          <a:prstGeom prst="roundRect">
            <a:avLst>
              <a:gd name="adj" fmla="val 5780"/>
            </a:avLst>
          </a:prstGeom>
          <a:gradFill rotWithShape="1">
            <a:gsLst>
              <a:gs pos="0">
                <a:srgbClr val="3498DB">
                  <a:alpha val="100000"/>
                </a:srgbClr>
              </a:gs>
              <a:gs pos="100000">
                <a:srgbClr val="2C3E5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425" y="1206790"/>
            <a:ext cx="5079339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核心定位 · Core Positioning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632" y="1473643"/>
            <a:ext cx="5142830" cy="1130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400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自回归生成：</a:t>
            </a:r>
            <a:r>
              <a:rPr lang="en-US" sz="1400" b="0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仅用Transformer解码器，因果自注意力机制</a:t>
            </a:r>
            <a:r>
              <a:rPr lang="en-US" sz="1400" b="0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，“</a:t>
            </a:r>
            <a:r>
              <a:rPr lang="en-US" sz="1400" b="0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只能看上文、逐个预测下文</a:t>
            </a:r>
            <a:r>
              <a:rPr lang="en-US" sz="1400" b="0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如同续写故事的作者</a:t>
            </a:r>
            <a:r>
              <a:rPr lang="en-US" sz="1400" b="0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200" dirty="0"/>
          </a:p>
        </p:txBody>
      </p:sp>
      <p:sp>
        <p:nvSpPr>
          <p:cNvPr id="7" name="AutoShape 7"/>
          <p:cNvSpPr/>
          <p:nvPr/>
        </p:nvSpPr>
        <p:spPr>
          <a:xfrm>
            <a:off x="342855" y="2730779"/>
            <a:ext cx="5599971" cy="2158531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42855" y="2708920"/>
            <a:ext cx="76190" cy="2160000"/>
          </a:xfrm>
          <a:prstGeom prst="roundRect">
            <a:avLst>
              <a:gd name="adj" fmla="val 0"/>
            </a:avLst>
          </a:pr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4917" y="2845253"/>
            <a:ext cx="4952355" cy="19170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🔥GPT</a:t>
            </a:r>
            <a:r>
              <a:rPr lang="zh-CN" altLang="en-US" sz="18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系列训练</a:t>
            </a:r>
            <a:endParaRPr lang="en-US" sz="1100" dirty="0"/>
          </a:p>
          <a:p>
            <a:pPr>
              <a:lnSpc>
                <a:spcPct val="108333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自回归语言建模（</a:t>
            </a:r>
            <a:r>
              <a:rPr lang="en-US" altLang="zh-CN" sz="140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AR-LM</a:t>
            </a:r>
            <a:r>
              <a:rPr lang="zh-CN" altLang="en-US" sz="140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）：</a:t>
            </a:r>
            <a:r>
              <a:rPr lang="zh-CN" altLang="en-US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从左到右逐 </a:t>
            </a:r>
            <a:r>
              <a:rPr lang="en-US" altLang="zh-CN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token </a:t>
            </a:r>
            <a:r>
              <a:rPr lang="zh-CN" altLang="en-US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预测下一个词，让模型学习海量文本中的语言规律、知识和推理能力，这是 </a:t>
            </a:r>
            <a:r>
              <a:rPr lang="en-US" altLang="zh-CN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GPT </a:t>
            </a:r>
            <a:r>
              <a:rPr lang="zh-CN" altLang="en-US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从初代到 </a:t>
            </a:r>
            <a:r>
              <a:rPr lang="en-US" altLang="zh-CN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GPT-4o </a:t>
            </a:r>
            <a:r>
              <a:rPr lang="zh-CN" altLang="en-US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始终未变的基础。</a:t>
            </a:r>
          </a:p>
          <a:p>
            <a:pPr>
              <a:lnSpc>
                <a:spcPct val="108333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人类偏好对齐：</a:t>
            </a:r>
            <a:r>
              <a:rPr lang="zh-CN" altLang="en-US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从 </a:t>
            </a:r>
            <a:r>
              <a:rPr lang="en-US" altLang="zh-CN" sz="1400" b="0" dirty="0" err="1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InstructGPT</a:t>
            </a:r>
            <a:r>
              <a:rPr lang="en-US" altLang="zh-CN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/GPT-3.5 </a:t>
            </a:r>
            <a:r>
              <a:rPr lang="zh-CN" altLang="en-US" sz="1400" b="0" dirty="0">
                <a:solidFill>
                  <a:srgbClr val="505050"/>
                </a:solidFill>
                <a:latin typeface="+mj-ea"/>
                <a:ea typeface="+mj-ea"/>
                <a:cs typeface="Noto Sans SC"/>
                <a:sym typeface="Noto Sans SC"/>
              </a:rPr>
              <a:t>开始引入，让模型输出更符合人类指令、更安全有用，而非单纯续写文本。</a:t>
            </a:r>
            <a:endParaRPr lang="en-US" sz="1400" b="0" dirty="0">
              <a:solidFill>
                <a:srgbClr val="505050"/>
              </a:solidFill>
              <a:latin typeface="+mj-ea"/>
              <a:ea typeface="+mj-ea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2855" y="5101038"/>
            <a:ext cx="5599971" cy="146031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2855" y="5101038"/>
            <a:ext cx="76190" cy="146031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4917" y="5228021"/>
            <a:ext cx="4952355" cy="12063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🚀 大参数下的“涌现能力”</a:t>
            </a:r>
            <a:endParaRPr lang="en-US" sz="1100"/>
          </a:p>
          <a:p>
            <a:pPr>
              <a:lnSpc>
                <a:spcPct val="108333"/>
              </a:lnSpc>
              <a:spcBef>
                <a:spcPts val="600"/>
              </a:spcBef>
            </a:pP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在参数量达到一定规模后，展现出复杂逻辑推理、长文本多轮对话、代码生成等“智能”特征，成为通用人工智能(AGI)的热门探索方向。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078607B-D4B3-41D5-909D-5CCD3F177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308" y="1385477"/>
            <a:ext cx="2502178" cy="491515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" y="447"/>
            <a:ext cx="12190413" cy="81269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80950" y="102033"/>
            <a:ext cx="11301528" cy="6095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91666"/>
              </a:lnSpc>
              <a:defRPr/>
            </a:pPr>
            <a:r>
              <a:rPr lang="zh-CN" altLang="en-US" sz="28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任务三：</a:t>
            </a:r>
            <a:r>
              <a:rPr lang="en-US" sz="28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自回归语言建模</a:t>
            </a:r>
            <a:r>
              <a:rPr lang="en-US" sz="28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(AR-LM)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80950" y="1016314"/>
            <a:ext cx="11428512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5B7B9A"/>
                </a:solidFill>
                <a:latin typeface="Noto Sans SC"/>
                <a:ea typeface="Noto Sans SC"/>
                <a:cs typeface="Noto Sans SC"/>
                <a:sym typeface="Noto Sans SC"/>
              </a:rPr>
              <a:t>Autoregressive Language Modeling (AR-LM)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0950" y="1524248"/>
            <a:ext cx="761901" cy="50793"/>
          </a:xfrm>
          <a:prstGeom prst="roundRect">
            <a:avLst>
              <a:gd name="adj" fmla="val 0"/>
            </a:avLst>
          </a:pr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80950" y="1905198"/>
            <a:ext cx="5460289" cy="1904752"/>
          </a:xfrm>
          <a:prstGeom prst="roundRect">
            <a:avLst>
              <a:gd name="adj" fmla="val 5333"/>
            </a:avLst>
          </a:prstGeom>
          <a:solidFill>
            <a:srgbClr val="1A3A5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1425" y="2032182"/>
            <a:ext cx="495235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00">
                <a:solidFill>
                  <a:srgbClr val="C8A464"/>
                </a:solidFill>
                <a:latin typeface="微软雅黑"/>
                <a:ea typeface="微软雅黑"/>
                <a:cs typeface="微软雅黑"/>
                <a:sym typeface="微软雅黑"/>
              </a:rPr>
              <a:t>▍ 核心思想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425" y="2540116"/>
            <a:ext cx="5079339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8333"/>
              </a:lnSpc>
              <a:defRPr/>
            </a:pPr>
            <a:r>
              <a:rPr lang="en-US" sz="1300" b="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给定前文，预测下一个最可能出现的Token，然后将预测结果作为新的输入，递归地生成完整序列。这是一种</a:t>
            </a:r>
            <a:r>
              <a:rPr lang="en-US" sz="1300" dirty="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从左到右的单向建模方式</a:t>
            </a:r>
            <a:r>
              <a:rPr lang="en-US" sz="1300" b="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，模型无法“回头看”或“预知未来”。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80950" y="4063917"/>
            <a:ext cx="5460289" cy="2412686"/>
          </a:xfrm>
          <a:prstGeom prst="roundRect">
            <a:avLst>
              <a:gd name="adj" fmla="val 421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71425" y="4190901"/>
            <a:ext cx="495235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00">
                <a:solidFill>
                  <a:srgbClr val="1A3A5A"/>
                </a:solidFill>
                <a:latin typeface="微软雅黑"/>
                <a:ea typeface="微软雅黑"/>
                <a:cs typeface="微软雅黑"/>
                <a:sym typeface="微软雅黑"/>
              </a:rPr>
              <a:t>▍ 实现步骤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425" y="4698835"/>
            <a:ext cx="304760" cy="304760"/>
          </a:xfrm>
          <a:prstGeom prst="ellipse">
            <a:avLst/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71425" y="4698835"/>
            <a:ext cx="304760" cy="304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5868" y="4673438"/>
            <a:ext cx="2031735" cy="6349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文本分词、截断、填充为固定长度序列。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174586" y="4698835"/>
            <a:ext cx="304760" cy="304760"/>
          </a:xfrm>
          <a:prstGeom prst="ellipse">
            <a:avLst/>
          </a:prstGeom>
          <a:solidFill>
            <a:srgbClr val="5B7B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174586" y="4698835"/>
            <a:ext cx="304760" cy="304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2520" y="4673438"/>
            <a:ext cx="2031735" cy="6349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标签构建：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输入序列整体右移一位作为预测标签。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71425" y="5587719"/>
            <a:ext cx="304760" cy="304760"/>
          </a:xfrm>
          <a:prstGeom prst="ellipse">
            <a:avLst/>
          </a:prstGeom>
          <a:solidFill>
            <a:srgbClr val="C8A4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71425" y="5587719"/>
            <a:ext cx="304760" cy="304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5868" y="5562322"/>
            <a:ext cx="2031735" cy="6349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注意力掩码：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添加因果掩码，严格禁止模型看到未来的Token。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174586" y="5587719"/>
            <a:ext cx="304760" cy="30476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174586" y="5587719"/>
            <a:ext cx="304760" cy="304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82520" y="5562322"/>
            <a:ext cx="2031735" cy="6349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损失计算：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计算所有有效位置的交叉熵损失之和。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2189" y="1905199"/>
            <a:ext cx="5460289" cy="1142851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2665" y="2159165"/>
            <a:ext cx="507934" cy="507934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1074" y="2032182"/>
            <a:ext cx="4317438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600">
                <a:solidFill>
                  <a:srgbClr val="004A82"/>
                </a:solidFill>
                <a:latin typeface="微软雅黑"/>
                <a:ea typeface="微软雅黑"/>
                <a:cs typeface="微软雅黑"/>
                <a:sym typeface="微软雅黑"/>
              </a:rPr>
              <a:t>原生生成能力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天然适合文本生成、故事续写、开放域对话等生成式任务，生成流畅自然。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2189" y="3302017"/>
            <a:ext cx="5460289" cy="1142851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2665" y="3555983"/>
            <a:ext cx="507934" cy="507934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1074" y="3429000"/>
            <a:ext cx="4317438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600">
                <a:solidFill>
                  <a:srgbClr val="C8A464"/>
                </a:solidFill>
                <a:latin typeface="微软雅黑"/>
                <a:ea typeface="微软雅黑"/>
                <a:cs typeface="微软雅黑"/>
                <a:sym typeface="微软雅黑"/>
              </a:rPr>
              <a:t>训练与推理逻辑一致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训练和推理过程都是严格的从左到右生成，无曝光偏差，部署落地更简单。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2189" y="4698835"/>
            <a:ext cx="5460289" cy="1142851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2665" y="4952801"/>
            <a:ext cx="507934" cy="507934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1074" y="4825818"/>
            <a:ext cx="4317438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600">
                <a:solidFill>
                  <a:srgbClr val="10B981"/>
                </a:solidFill>
                <a:latin typeface="微软雅黑"/>
                <a:ea typeface="微软雅黑"/>
                <a:cs typeface="微软雅黑"/>
                <a:sym typeface="微软雅黑"/>
              </a:rPr>
              <a:t>支持长文本生成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理论上没有长度限制，可以持续生成文本，直到触发停止条件。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22189" y="5968669"/>
            <a:ext cx="5460289" cy="634917"/>
          </a:xfrm>
          <a:prstGeom prst="roundRect">
            <a:avLst>
              <a:gd name="adj" fmla="val 40000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349173" y="6070256"/>
            <a:ext cx="5206322" cy="4317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400">
                <a:solidFill>
                  <a:srgbClr val="004A82"/>
                </a:solidFill>
                <a:latin typeface="微软雅黑"/>
                <a:ea typeface="微软雅黑"/>
                <a:cs typeface="微软雅黑"/>
                <a:sym typeface="微软雅黑"/>
              </a:rPr>
              <a:t>代表模型：</a:t>
            </a:r>
            <a:r>
              <a:rPr lang="en-US" sz="14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GPT-3.5/4 · LLaMA 2 · Qwen (通义千问) · Mistral · Falcon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2912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9" y="51240"/>
            <a:ext cx="11174545" cy="5587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AR-LM示例：逐Token生成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727" y="1016314"/>
            <a:ext cx="11047561" cy="3809504"/>
          </a:xfrm>
          <a:prstGeom prst="roundRect">
            <a:avLst>
              <a:gd name="adj" fmla="val 40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694" y="1206790"/>
            <a:ext cx="10539627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004A82"/>
                </a:solidFill>
                <a:latin typeface="Noto Sans SC"/>
                <a:ea typeface="Noto Sans SC"/>
                <a:cs typeface="Noto Sans SC"/>
                <a:sym typeface="Noto Sans SC"/>
              </a:rPr>
              <a:t>生成逻辑演示：从输入到逐步预测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694" y="1905198"/>
            <a:ext cx="5079339" cy="24126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初始输入：</a:t>
            </a:r>
            <a:r>
              <a:rPr lang="en-US" sz="14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“今天天气很好”</a:t>
            </a:r>
            <a:endParaRPr lang="en-US" sz="1100"/>
          </a:p>
          <a:p>
            <a:pPr>
              <a:lnSpc>
                <a:spcPct val="125000"/>
              </a:lnSpc>
            </a:pPr>
            <a:r>
              <a:rPr lang="en-US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1:</a:t>
            </a:r>
            <a:r>
              <a:rPr lang="en-US" sz="14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基于上文 → 预测“，” → 新输入: “今天天气很好，”</a:t>
            </a:r>
          </a:p>
          <a:p>
            <a:pPr>
              <a:lnSpc>
                <a:spcPct val="125000"/>
              </a:lnSpc>
            </a:pPr>
            <a:r>
              <a:rPr lang="en-US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2:</a:t>
            </a:r>
            <a:r>
              <a:rPr lang="en-US" sz="14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基于上文 → 预测“我” → 新输入: “今天天气很好，我”</a:t>
            </a:r>
          </a:p>
          <a:p>
            <a:pPr>
              <a:lnSpc>
                <a:spcPct val="125000"/>
              </a:lnSpc>
            </a:pPr>
            <a:r>
              <a:rPr lang="en-US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3:</a:t>
            </a:r>
            <a:r>
              <a:rPr lang="en-US" sz="14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基于上文 → 预测“们” → 新输入: “今天天气很好，我们”</a:t>
            </a:r>
          </a:p>
          <a:p>
            <a:pPr>
              <a:lnSpc>
                <a:spcPct val="125000"/>
              </a:lnSpc>
            </a:pPr>
            <a:r>
              <a:rPr lang="en-US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4:</a:t>
            </a:r>
            <a:r>
              <a:rPr lang="en-US" sz="14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基于上文 → 预测“去” → 持续循环直至结束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5206" y="2032182"/>
            <a:ext cx="4952355" cy="2285702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A82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85681" y="2286149"/>
            <a:ext cx="4571405" cy="17777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8333"/>
              </a:lnSpc>
              <a:defRPr/>
            </a:pPr>
            <a:r>
              <a:rPr lang="en-US" sz="1600">
                <a:solidFill>
                  <a:srgbClr val="004A8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核心机制：因果掩码 (Causal Masking)</a:t>
            </a:r>
            <a:endParaRPr lang="en-US" sz="1100"/>
          </a:p>
          <a:p>
            <a:pPr algn="ctr">
              <a:lnSpc>
                <a:spcPct val="116666"/>
              </a:lnSpc>
              <a:spcBef>
                <a:spcPts val="1000"/>
              </a:spcBef>
            </a:pPr>
            <a:r>
              <a:rPr lang="en-US" sz="1300" b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模型在预测任意位置的Token时，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仅能“看见”该位置之前的所有历史信息，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完全无法访问未来的Token。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以此保证文本生成逻辑的“单向性”和“合理性”。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58727" y="5206769"/>
            <a:ext cx="3428554" cy="1396818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85710" y="5397244"/>
            <a:ext cx="3174587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6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初始输入 Prompt</a:t>
            </a:r>
            <a:endParaRPr lang="en-US" sz="1100"/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“今天天气很好”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68231" y="5206769"/>
            <a:ext cx="3428554" cy="1396818"/>
          </a:xfrm>
          <a:prstGeom prst="roundRect">
            <a:avLst>
              <a:gd name="adj" fmla="val 909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EF3C7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95214" y="5397244"/>
            <a:ext cx="3174587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600">
                <a:solidFill>
                  <a:srgbClr val="B45309"/>
                </a:solidFill>
                <a:latin typeface="微软雅黑"/>
                <a:ea typeface="微软雅黑"/>
                <a:cs typeface="微软雅黑"/>
                <a:sym typeface="微软雅黑"/>
              </a:rPr>
              <a:t>逐Token生成过程</a:t>
            </a:r>
            <a:endParaRPr lang="en-US" sz="1100"/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... → “，” → “我” → “们” → “去” → ...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77735" y="5206769"/>
            <a:ext cx="3428554" cy="1396818"/>
          </a:xfrm>
          <a:prstGeom prst="roundRect">
            <a:avLst>
              <a:gd name="adj" fmla="val 909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D1FAE5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04718" y="5397244"/>
            <a:ext cx="3174587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600">
                <a:solidFill>
                  <a:srgbClr val="059669"/>
                </a:solidFill>
                <a:latin typeface="微软雅黑"/>
                <a:ea typeface="微软雅黑"/>
                <a:cs typeface="微软雅黑"/>
                <a:sym typeface="微软雅黑"/>
              </a:rPr>
              <a:t>最终完整文本</a:t>
            </a:r>
            <a:endParaRPr lang="en-US" sz="1100"/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“今天天气很好，我们去公园散步吧。”</a:t>
            </a:r>
          </a:p>
        </p:txBody>
      </p:sp>
    </p:spTree>
    <p:extLst>
      <p:ext uri="{BB962C8B-B14F-4D97-AF65-F5344CB8AC3E}">
        <p14:creationId xmlns:p14="http://schemas.microsoft.com/office/powerpoint/2010/main" val="3783490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0950" y="419493"/>
            <a:ext cx="76180" cy="304721"/>
          </a:xfrm>
          <a:custGeom>
            <a:avLst/>
            <a:gdLst/>
            <a:ahLst/>
            <a:cxnLst/>
            <a:rect l="l" t="t" r="r" b="b"/>
            <a:pathLst>
              <a:path w="76190" h="304761">
                <a:moveTo>
                  <a:pt x="0" y="0"/>
                </a:moveTo>
                <a:lnTo>
                  <a:pt x="76190" y="0"/>
                </a:lnTo>
                <a:lnTo>
                  <a:pt x="76190" y="304761"/>
                </a:lnTo>
                <a:lnTo>
                  <a:pt x="0" y="304761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71425" y="381397"/>
            <a:ext cx="5079339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91666"/>
              </a:lnSpc>
              <a:defRPr/>
            </a:pPr>
            <a:r>
              <a:rPr lang="en-US" sz="32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AR-LM的数学表达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425" y="838537"/>
            <a:ext cx="11326925" cy="2666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33333"/>
              </a:lnSpc>
              <a:defRPr/>
            </a:pPr>
            <a:r>
              <a:rPr lang="en-US" sz="2000">
                <a:solidFill>
                  <a:srgbClr val="3B82F6"/>
                </a:solidFill>
                <a:latin typeface="微软雅黑"/>
                <a:ea typeface="微软雅黑"/>
                <a:cs typeface="微软雅黑"/>
                <a:sym typeface="微软雅黑"/>
              </a:rPr>
              <a:t>语言模型公式：从联合概率分解到损失函数优化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380951" y="1257583"/>
            <a:ext cx="6665765" cy="5339075"/>
          </a:xfrm>
          <a:custGeom>
            <a:avLst/>
            <a:gdLst/>
            <a:ahLst/>
            <a:cxnLst/>
            <a:rect l="l" t="t" r="r" b="b"/>
            <a:pathLst>
              <a:path w="6666633" h="5339770">
                <a:moveTo>
                  <a:pt x="114296" y="0"/>
                </a:moveTo>
                <a:lnTo>
                  <a:pt x="6552336" y="0"/>
                </a:lnTo>
                <a:cubicBezTo>
                  <a:pt x="6615459" y="0"/>
                  <a:pt x="6666633" y="52356"/>
                  <a:pt x="6666633" y="116940"/>
                </a:cubicBezTo>
                <a:lnTo>
                  <a:pt x="6666633" y="5222828"/>
                </a:lnTo>
                <a:cubicBezTo>
                  <a:pt x="6666633" y="5287413"/>
                  <a:pt x="6615459" y="5339770"/>
                  <a:pt x="6552336" y="5339770"/>
                </a:cubicBezTo>
                <a:lnTo>
                  <a:pt x="114296" y="5339770"/>
                </a:lnTo>
                <a:cubicBezTo>
                  <a:pt x="51172" y="5339770"/>
                  <a:pt x="0" y="5287413"/>
                  <a:pt x="0" y="5222828"/>
                </a:cubicBezTo>
                <a:lnTo>
                  <a:pt x="0" y="116940"/>
                </a:lnTo>
                <a:cubicBezTo>
                  <a:pt x="0" y="52356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96785" y="1486154"/>
            <a:ext cx="190523" cy="190450"/>
          </a:xfrm>
          <a:custGeom>
            <a:avLst/>
            <a:gdLst/>
            <a:ahLst/>
            <a:cxnLst/>
            <a:rect l="l" t="t" r="r" b="b"/>
            <a:pathLst>
              <a:path w="190548" h="190475">
                <a:moveTo>
                  <a:pt x="24553" y="85007"/>
                </a:moveTo>
                <a:cubicBezTo>
                  <a:pt x="29501" y="50409"/>
                  <a:pt x="59300" y="23809"/>
                  <a:pt x="95274" y="23809"/>
                </a:cubicBezTo>
                <a:cubicBezTo>
                  <a:pt x="114992" y="23809"/>
                  <a:pt x="132849" y="31808"/>
                  <a:pt x="145795" y="44717"/>
                </a:cubicBezTo>
                <a:cubicBezTo>
                  <a:pt x="145870" y="44792"/>
                  <a:pt x="145943" y="44867"/>
                  <a:pt x="146018" y="44940"/>
                </a:cubicBezTo>
                <a:lnTo>
                  <a:pt x="148845" y="47619"/>
                </a:lnTo>
                <a:lnTo>
                  <a:pt x="131026" y="47619"/>
                </a:lnTo>
                <a:cubicBezTo>
                  <a:pt x="124441" y="47619"/>
                  <a:pt x="119121" y="52939"/>
                  <a:pt x="119121" y="59524"/>
                </a:cubicBezTo>
                <a:cubicBezTo>
                  <a:pt x="119121" y="66109"/>
                  <a:pt x="124441" y="71429"/>
                  <a:pt x="131026" y="71429"/>
                </a:cubicBezTo>
                <a:lnTo>
                  <a:pt x="178645" y="71429"/>
                </a:lnTo>
                <a:cubicBezTo>
                  <a:pt x="185230" y="71429"/>
                  <a:pt x="190548" y="66109"/>
                  <a:pt x="190548" y="59524"/>
                </a:cubicBezTo>
                <a:lnTo>
                  <a:pt x="190548" y="11905"/>
                </a:lnTo>
                <a:cubicBezTo>
                  <a:pt x="190548" y="5320"/>
                  <a:pt x="185230" y="0"/>
                  <a:pt x="178645" y="0"/>
                </a:cubicBezTo>
                <a:cubicBezTo>
                  <a:pt x="172060" y="0"/>
                  <a:pt x="166740" y="5320"/>
                  <a:pt x="166740" y="11905"/>
                </a:cubicBezTo>
                <a:lnTo>
                  <a:pt x="166740" y="31770"/>
                </a:lnTo>
                <a:lnTo>
                  <a:pt x="162536" y="27790"/>
                </a:lnTo>
                <a:cubicBezTo>
                  <a:pt x="145311" y="10640"/>
                  <a:pt x="121502" y="0"/>
                  <a:pt x="95274" y="0"/>
                </a:cubicBezTo>
                <a:cubicBezTo>
                  <a:pt x="47284" y="0"/>
                  <a:pt x="7588" y="35491"/>
                  <a:pt x="1003" y="81658"/>
                </a:cubicBezTo>
                <a:cubicBezTo>
                  <a:pt x="74" y="88170"/>
                  <a:pt x="4576" y="94196"/>
                  <a:pt x="11086" y="95126"/>
                </a:cubicBezTo>
                <a:cubicBezTo>
                  <a:pt x="17597" y="96056"/>
                  <a:pt x="23623" y="91517"/>
                  <a:pt x="24553" y="85044"/>
                </a:cubicBezTo>
                <a:close/>
                <a:moveTo>
                  <a:pt x="189545" y="108816"/>
                </a:moveTo>
                <a:cubicBezTo>
                  <a:pt x="190475" y="102306"/>
                  <a:pt x="185937" y="96280"/>
                  <a:pt x="179464" y="95349"/>
                </a:cubicBezTo>
                <a:cubicBezTo>
                  <a:pt x="172989" y="94418"/>
                  <a:pt x="166926" y="98958"/>
                  <a:pt x="165997" y="105432"/>
                </a:cubicBezTo>
                <a:cubicBezTo>
                  <a:pt x="161048" y="140029"/>
                  <a:pt x="131248" y="166628"/>
                  <a:pt x="95274" y="166628"/>
                </a:cubicBezTo>
                <a:cubicBezTo>
                  <a:pt x="75558" y="166628"/>
                  <a:pt x="57700" y="158631"/>
                  <a:pt x="44754" y="145721"/>
                </a:cubicBezTo>
                <a:cubicBezTo>
                  <a:pt x="44679" y="145647"/>
                  <a:pt x="44605" y="145572"/>
                  <a:pt x="44531" y="145498"/>
                </a:cubicBezTo>
                <a:lnTo>
                  <a:pt x="41703" y="142819"/>
                </a:lnTo>
                <a:lnTo>
                  <a:pt x="59524" y="142819"/>
                </a:lnTo>
                <a:cubicBezTo>
                  <a:pt x="66109" y="142819"/>
                  <a:pt x="71428" y="137499"/>
                  <a:pt x="71428" y="130915"/>
                </a:cubicBezTo>
                <a:cubicBezTo>
                  <a:pt x="71428" y="124329"/>
                  <a:pt x="66109" y="119009"/>
                  <a:pt x="59524" y="119009"/>
                </a:cubicBezTo>
                <a:lnTo>
                  <a:pt x="11942" y="119047"/>
                </a:lnTo>
                <a:cubicBezTo>
                  <a:pt x="8780" y="119047"/>
                  <a:pt x="5729" y="120312"/>
                  <a:pt x="3496" y="122580"/>
                </a:cubicBezTo>
                <a:cubicBezTo>
                  <a:pt x="1265" y="124851"/>
                  <a:pt x="0" y="127864"/>
                  <a:pt x="37" y="131063"/>
                </a:cubicBezTo>
                <a:lnTo>
                  <a:pt x="409" y="178309"/>
                </a:lnTo>
                <a:cubicBezTo>
                  <a:pt x="446" y="184894"/>
                  <a:pt x="5840" y="190177"/>
                  <a:pt x="12426" y="190102"/>
                </a:cubicBezTo>
                <a:cubicBezTo>
                  <a:pt x="19011" y="190029"/>
                  <a:pt x="24293" y="184672"/>
                  <a:pt x="24219" y="178087"/>
                </a:cubicBezTo>
                <a:lnTo>
                  <a:pt x="24070" y="158927"/>
                </a:lnTo>
                <a:lnTo>
                  <a:pt x="28051" y="162684"/>
                </a:lnTo>
                <a:cubicBezTo>
                  <a:pt x="45276" y="179836"/>
                  <a:pt x="69048" y="190475"/>
                  <a:pt x="95274" y="190475"/>
                </a:cubicBezTo>
                <a:cubicBezTo>
                  <a:pt x="143265" y="190475"/>
                  <a:pt x="182960" y="154983"/>
                  <a:pt x="189545" y="108816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01582" y="1435360"/>
            <a:ext cx="6146000" cy="2666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2000">
                <a:solidFill>
                  <a:srgbClr val="1E293B"/>
                </a:solidFill>
                <a:latin typeface="微软雅黑"/>
                <a:ea typeface="微软雅黑"/>
                <a:cs typeface="微软雅黑"/>
                <a:sym typeface="微软雅黑"/>
              </a:rPr>
              <a:t>联合概率分解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571426" y="1867104"/>
            <a:ext cx="6284863" cy="1379167"/>
          </a:xfrm>
          <a:custGeom>
            <a:avLst/>
            <a:gdLst/>
            <a:ahLst/>
            <a:cxnLst/>
            <a:rect l="l" t="t" r="r" b="b"/>
            <a:pathLst>
              <a:path w="6285681" h="1379347">
                <a:moveTo>
                  <a:pt x="76191" y="0"/>
                </a:moveTo>
                <a:lnTo>
                  <a:pt x="6209490" y="0"/>
                </a:lnTo>
                <a:cubicBezTo>
                  <a:pt x="6251570" y="0"/>
                  <a:pt x="6285681" y="56142"/>
                  <a:pt x="6285681" y="125397"/>
                </a:cubicBezTo>
                <a:lnTo>
                  <a:pt x="6285681" y="1253950"/>
                </a:lnTo>
                <a:cubicBezTo>
                  <a:pt x="6285681" y="1323205"/>
                  <a:pt x="6251570" y="1379347"/>
                  <a:pt x="6209490" y="1379347"/>
                </a:cubicBezTo>
                <a:lnTo>
                  <a:pt x="76191" y="1379347"/>
                </a:lnTo>
                <a:cubicBezTo>
                  <a:pt x="34111" y="1379347"/>
                  <a:pt x="0" y="1323205"/>
                  <a:pt x="0" y="1253950"/>
                </a:cubicBezTo>
                <a:lnTo>
                  <a:pt x="0" y="125397"/>
                </a:lnTo>
                <a:cubicBezTo>
                  <a:pt x="0" y="56187"/>
                  <a:pt x="34140" y="0"/>
                  <a:pt x="76191" y="0"/>
                </a:cubicBezTo>
                <a:close/>
              </a:path>
            </a:pathLst>
          </a:custGeom>
          <a:solidFill>
            <a:srgbClr val="3B82F6">
              <a:alpha val="10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23806" y="2032182"/>
            <a:ext cx="6057111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2000">
                <a:solidFill>
                  <a:srgbClr val="3B82F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核心公式 (Chain Rule)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806" y="2540116"/>
            <a:ext cx="6057111" cy="76190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1800">
                <a:solidFill>
                  <a:srgbClr val="1E293B"/>
                </a:solidFill>
                <a:latin typeface="微软雅黑"/>
                <a:ea typeface="微软雅黑"/>
                <a:cs typeface="微软雅黑"/>
                <a:sym typeface="微软雅黑"/>
              </a:rPr>
              <a:t>P(x₁, x₂, ..., xₙ) = ∏ P(xᵢ | x₁, x₂, ..., xᵢ₋₁)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571426" y="3492492"/>
            <a:ext cx="6284863" cy="1379167"/>
          </a:xfrm>
          <a:custGeom>
            <a:avLst/>
            <a:gdLst/>
            <a:ahLst/>
            <a:cxnLst/>
            <a:rect l="l" t="t" r="r" b="b"/>
            <a:pathLst>
              <a:path w="6285681" h="1379347">
                <a:moveTo>
                  <a:pt x="76191" y="0"/>
                </a:moveTo>
                <a:lnTo>
                  <a:pt x="6209490" y="0"/>
                </a:lnTo>
                <a:cubicBezTo>
                  <a:pt x="6251570" y="0"/>
                  <a:pt x="6285681" y="56142"/>
                  <a:pt x="6285681" y="125397"/>
                </a:cubicBezTo>
                <a:lnTo>
                  <a:pt x="6285681" y="1253950"/>
                </a:lnTo>
                <a:cubicBezTo>
                  <a:pt x="6285681" y="1323205"/>
                  <a:pt x="6251570" y="1379347"/>
                  <a:pt x="6209490" y="1379347"/>
                </a:cubicBezTo>
                <a:lnTo>
                  <a:pt x="76191" y="1379347"/>
                </a:lnTo>
                <a:cubicBezTo>
                  <a:pt x="34111" y="1379347"/>
                  <a:pt x="0" y="1323205"/>
                  <a:pt x="0" y="1253950"/>
                </a:cubicBezTo>
                <a:lnTo>
                  <a:pt x="0" y="125397"/>
                </a:lnTo>
                <a:cubicBezTo>
                  <a:pt x="0" y="56187"/>
                  <a:pt x="34140" y="0"/>
                  <a:pt x="76191" y="0"/>
                </a:cubicBezTo>
                <a:close/>
              </a:path>
            </a:pathLst>
          </a:custGeom>
          <a:solidFill>
            <a:srgbClr val="1E40AF">
              <a:alpha val="10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23806" y="3682967"/>
            <a:ext cx="6057111" cy="380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20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直观解释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806" y="4190901"/>
            <a:ext cx="5841239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 b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一个完整序列的联合概率，可以被分解为一系列</a:t>
            </a:r>
            <a:r>
              <a:rPr lang="en-US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条件概率</a:t>
            </a:r>
            <a:r>
              <a:rPr lang="en-US" sz="1500" b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的乘积。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500" b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即：每个词的概率只依赖于它前面出现的所有词。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426" y="5206769"/>
            <a:ext cx="6284863" cy="1379167"/>
          </a:xfrm>
          <a:custGeom>
            <a:avLst/>
            <a:gdLst/>
            <a:ahLst/>
            <a:cxnLst/>
            <a:rect l="l" t="t" r="r" b="b"/>
            <a:pathLst>
              <a:path w="6285681" h="1379347">
                <a:moveTo>
                  <a:pt x="76191" y="0"/>
                </a:moveTo>
                <a:lnTo>
                  <a:pt x="6209490" y="0"/>
                </a:lnTo>
                <a:cubicBezTo>
                  <a:pt x="6251570" y="0"/>
                  <a:pt x="6285681" y="56142"/>
                  <a:pt x="6285681" y="125397"/>
                </a:cubicBezTo>
                <a:lnTo>
                  <a:pt x="6285681" y="1253950"/>
                </a:lnTo>
                <a:cubicBezTo>
                  <a:pt x="6285681" y="1323205"/>
                  <a:pt x="6251570" y="1379347"/>
                  <a:pt x="6209490" y="1379347"/>
                </a:cubicBezTo>
                <a:lnTo>
                  <a:pt x="76191" y="1379347"/>
                </a:lnTo>
                <a:cubicBezTo>
                  <a:pt x="34111" y="1379347"/>
                  <a:pt x="0" y="1323205"/>
                  <a:pt x="0" y="1253950"/>
                </a:cubicBezTo>
                <a:lnTo>
                  <a:pt x="0" y="125397"/>
                </a:lnTo>
                <a:cubicBezTo>
                  <a:pt x="0" y="56187"/>
                  <a:pt x="34140" y="0"/>
                  <a:pt x="76191" y="0"/>
                </a:cubicBezTo>
                <a:close/>
              </a:path>
            </a:pathLst>
          </a:custGeom>
          <a:solidFill>
            <a:srgbClr val="F59E0B">
              <a:alpha val="102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23806" y="5333752"/>
            <a:ext cx="6057111" cy="107935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6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举个例子：“我爱中国”</a:t>
            </a:r>
            <a:endParaRPr lang="en-US" sz="1100"/>
          </a:p>
          <a:p>
            <a:pPr>
              <a:lnSpc>
                <a:spcPct val="116666"/>
              </a:lnSpc>
            </a:pPr>
            <a:r>
              <a:rPr lang="en-US" sz="1400" b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= P(我) × P(爱 | 我) × P(中国 | 我爱)</a:t>
            </a:r>
          </a:p>
        </p:txBody>
      </p:sp>
      <p:sp>
        <p:nvSpPr>
          <p:cNvPr id="16" name="Freeform 16"/>
          <p:cNvSpPr/>
          <p:nvPr/>
        </p:nvSpPr>
        <p:spPr>
          <a:xfrm>
            <a:off x="7238057" y="1257583"/>
            <a:ext cx="4570809" cy="4075638"/>
          </a:xfrm>
          <a:custGeom>
            <a:avLst/>
            <a:gdLst/>
            <a:ahLst/>
            <a:cxnLst/>
            <a:rect l="l" t="t" r="r" b="b"/>
            <a:pathLst>
              <a:path w="4571404" h="4076169">
                <a:moveTo>
                  <a:pt x="114296" y="0"/>
                </a:moveTo>
                <a:lnTo>
                  <a:pt x="4457109" y="0"/>
                </a:lnTo>
                <a:cubicBezTo>
                  <a:pt x="4520232" y="0"/>
                  <a:pt x="4571404" y="51172"/>
                  <a:pt x="4571404" y="114296"/>
                </a:cubicBezTo>
                <a:lnTo>
                  <a:pt x="4571404" y="3961873"/>
                </a:lnTo>
                <a:cubicBezTo>
                  <a:pt x="4571404" y="4024997"/>
                  <a:pt x="4520232" y="4076169"/>
                  <a:pt x="4457109" y="4076169"/>
                </a:cubicBezTo>
                <a:lnTo>
                  <a:pt x="114296" y="4076169"/>
                </a:lnTo>
                <a:cubicBezTo>
                  <a:pt x="51172" y="4076169"/>
                  <a:pt x="0" y="4024997"/>
                  <a:pt x="0" y="3961873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428532" y="1448058"/>
            <a:ext cx="4279343" cy="2666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2000">
                <a:solidFill>
                  <a:srgbClr val="1E293B"/>
                </a:solidFill>
                <a:latin typeface="微软雅黑"/>
                <a:ea typeface="微软雅黑"/>
                <a:cs typeface="微软雅黑"/>
                <a:sym typeface="微软雅黑"/>
              </a:rPr>
              <a:t>模型训练目标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7428533" y="1867103"/>
            <a:ext cx="4189908" cy="829856"/>
          </a:xfrm>
          <a:custGeom>
            <a:avLst/>
            <a:gdLst/>
            <a:ahLst/>
            <a:cxnLst/>
            <a:rect l="l" t="t" r="r" b="b"/>
            <a:pathLst>
              <a:path w="4190454" h="829964">
                <a:moveTo>
                  <a:pt x="76189" y="0"/>
                </a:moveTo>
                <a:lnTo>
                  <a:pt x="4114265" y="0"/>
                </a:lnTo>
                <a:cubicBezTo>
                  <a:pt x="4156315" y="0"/>
                  <a:pt x="4190454" y="39145"/>
                  <a:pt x="4190454" y="87362"/>
                </a:cubicBezTo>
                <a:lnTo>
                  <a:pt x="4190454" y="742602"/>
                </a:lnTo>
                <a:cubicBezTo>
                  <a:pt x="4190454" y="790819"/>
                  <a:pt x="4156315" y="829964"/>
                  <a:pt x="4114265" y="829964"/>
                </a:cubicBezTo>
                <a:lnTo>
                  <a:pt x="76189" y="829964"/>
                </a:lnTo>
                <a:cubicBezTo>
                  <a:pt x="34139" y="829964"/>
                  <a:pt x="0" y="790819"/>
                  <a:pt x="0" y="742602"/>
                </a:cubicBezTo>
                <a:lnTo>
                  <a:pt x="0" y="87362"/>
                </a:lnTo>
                <a:cubicBezTo>
                  <a:pt x="0" y="39145"/>
                  <a:pt x="34139" y="0"/>
                  <a:pt x="76189" y="0"/>
                </a:cubicBezTo>
                <a:close/>
              </a:path>
            </a:pathLst>
          </a:cu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542818" y="1930595"/>
            <a:ext cx="4038074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7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🎯 最大化似然估计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 b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模型的核心目标是最大化整个序列的</a:t>
            </a:r>
            <a:r>
              <a:rPr lang="en-US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对数似然</a:t>
            </a:r>
            <a:r>
              <a:rPr lang="en-US" sz="1300" b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，使生成的句子符合人类语言规律。</a:t>
            </a:r>
          </a:p>
        </p:txBody>
      </p:sp>
      <p:sp>
        <p:nvSpPr>
          <p:cNvPr id="20" name="Freeform 20"/>
          <p:cNvSpPr/>
          <p:nvPr/>
        </p:nvSpPr>
        <p:spPr>
          <a:xfrm>
            <a:off x="7428533" y="2984558"/>
            <a:ext cx="4189908" cy="1091916"/>
          </a:xfrm>
          <a:custGeom>
            <a:avLst/>
            <a:gdLst/>
            <a:ahLst/>
            <a:cxnLst/>
            <a:rect l="l" t="t" r="r" b="b"/>
            <a:pathLst>
              <a:path w="4190454" h="1092058">
                <a:moveTo>
                  <a:pt x="76190" y="0"/>
                </a:moveTo>
                <a:lnTo>
                  <a:pt x="4114264" y="0"/>
                </a:lnTo>
                <a:cubicBezTo>
                  <a:pt x="4156315" y="0"/>
                  <a:pt x="4190454" y="39146"/>
                  <a:pt x="4190454" y="87365"/>
                </a:cubicBezTo>
                <a:lnTo>
                  <a:pt x="4190454" y="1004693"/>
                </a:lnTo>
                <a:cubicBezTo>
                  <a:pt x="4190454" y="1052911"/>
                  <a:pt x="4156315" y="1092058"/>
                  <a:pt x="4114264" y="1092058"/>
                </a:cubicBezTo>
                <a:lnTo>
                  <a:pt x="76190" y="1092058"/>
                </a:lnTo>
                <a:cubicBezTo>
                  <a:pt x="34140" y="1092058"/>
                  <a:pt x="0" y="1052911"/>
                  <a:pt x="0" y="1004693"/>
                </a:cubicBezTo>
                <a:lnTo>
                  <a:pt x="0" y="87365"/>
                </a:lnTo>
                <a:cubicBezTo>
                  <a:pt x="0" y="39146"/>
                  <a:pt x="34140" y="0"/>
                  <a:pt x="76190" y="0"/>
                </a:cubicBezTo>
                <a:close/>
              </a:path>
            </a:pathLst>
          </a:cu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542818" y="3048050"/>
            <a:ext cx="4038074" cy="107935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7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📉 损失函数 (Loss Function)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L = - Σ log P(xᵢ | x₁, ..., xᵢ₋₁)</a:t>
            </a:r>
          </a:p>
          <a:p>
            <a:pPr>
              <a:lnSpc>
                <a:spcPct val="108333"/>
              </a:lnSpc>
            </a:pPr>
            <a:r>
              <a:rPr lang="en-US" sz="1200" b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本质是最小化“预测错误”的交叉熵损失。</a:t>
            </a:r>
          </a:p>
        </p:txBody>
      </p:sp>
      <p:sp>
        <p:nvSpPr>
          <p:cNvPr id="22" name="Freeform 22"/>
          <p:cNvSpPr/>
          <p:nvPr/>
        </p:nvSpPr>
        <p:spPr>
          <a:xfrm>
            <a:off x="7441231" y="4254392"/>
            <a:ext cx="4170863" cy="1091916"/>
          </a:xfrm>
          <a:custGeom>
            <a:avLst/>
            <a:gdLst/>
            <a:ahLst/>
            <a:cxnLst/>
            <a:rect l="l" t="t" r="r" b="b"/>
            <a:pathLst>
              <a:path w="4171406" h="1092058">
                <a:moveTo>
                  <a:pt x="38095" y="0"/>
                </a:moveTo>
                <a:lnTo>
                  <a:pt x="4095217" y="0"/>
                </a:lnTo>
                <a:cubicBezTo>
                  <a:pt x="4137268" y="0"/>
                  <a:pt x="4171406" y="39146"/>
                  <a:pt x="4171406" y="87365"/>
                </a:cubicBezTo>
                <a:lnTo>
                  <a:pt x="4171406" y="1004693"/>
                </a:lnTo>
                <a:cubicBezTo>
                  <a:pt x="4171406" y="1052911"/>
                  <a:pt x="4137268" y="1092058"/>
                  <a:pt x="4095217" y="1092058"/>
                </a:cubicBezTo>
                <a:lnTo>
                  <a:pt x="38095" y="1092058"/>
                </a:lnTo>
                <a:cubicBezTo>
                  <a:pt x="17070" y="1092058"/>
                  <a:pt x="0" y="1072485"/>
                  <a:pt x="0" y="1048376"/>
                </a:cubicBezTo>
                <a:lnTo>
                  <a:pt x="0" y="43683"/>
                </a:lnTo>
                <a:cubicBezTo>
                  <a:pt x="0" y="19573"/>
                  <a:pt x="17070" y="0"/>
                  <a:pt x="38095" y="0"/>
                </a:cubicBezTo>
                <a:close/>
              </a:path>
            </a:pathLst>
          </a:cu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7441231" y="4254392"/>
            <a:ext cx="38090" cy="1091916"/>
          </a:xfrm>
          <a:custGeom>
            <a:avLst/>
            <a:gdLst/>
            <a:ahLst/>
            <a:cxnLst/>
            <a:rect l="l" t="t" r="r" b="b"/>
            <a:pathLst>
              <a:path w="38095" h="1092058">
                <a:moveTo>
                  <a:pt x="38095" y="0"/>
                </a:moveTo>
                <a:lnTo>
                  <a:pt x="38095" y="0"/>
                </a:lnTo>
                <a:lnTo>
                  <a:pt x="38095" y="1092058"/>
                </a:lnTo>
                <a:lnTo>
                  <a:pt x="38095" y="1092058"/>
                </a:lnTo>
                <a:cubicBezTo>
                  <a:pt x="17070" y="1092058"/>
                  <a:pt x="0" y="1072485"/>
                  <a:pt x="0" y="1048376"/>
                </a:cubicBezTo>
                <a:lnTo>
                  <a:pt x="0" y="43683"/>
                </a:lnTo>
                <a:cubicBezTo>
                  <a:pt x="0" y="19573"/>
                  <a:pt x="17070" y="0"/>
                  <a:pt x="38095" y="0"/>
                </a:cubicBezTo>
                <a:close/>
              </a:path>
            </a:pathLst>
          </a:custGeom>
          <a:solidFill>
            <a:srgbClr val="00C9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580913" y="4317884"/>
            <a:ext cx="3999979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🔑 核心机制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 b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通过梯度下降不断优化这个损失函数，让模型学会根据前文“精准预测”下一个词。</a:t>
            </a:r>
          </a:p>
        </p:txBody>
      </p:sp>
      <p:sp>
        <p:nvSpPr>
          <p:cNvPr id="25" name="Freeform 25"/>
          <p:cNvSpPr/>
          <p:nvPr/>
        </p:nvSpPr>
        <p:spPr>
          <a:xfrm>
            <a:off x="7238057" y="5486132"/>
            <a:ext cx="4570809" cy="1111075"/>
          </a:xfrm>
          <a:custGeom>
            <a:avLst/>
            <a:gdLst/>
            <a:ahLst/>
            <a:cxnLst/>
            <a:rect l="l" t="t" r="r" b="b"/>
            <a:pathLst>
              <a:path w="4571404" h="1111220">
                <a:moveTo>
                  <a:pt x="114280" y="0"/>
                </a:moveTo>
                <a:lnTo>
                  <a:pt x="4457125" y="0"/>
                </a:lnTo>
                <a:cubicBezTo>
                  <a:pt x="4520198" y="0"/>
                  <a:pt x="4571404" y="57450"/>
                  <a:pt x="4571404" y="128212"/>
                </a:cubicBezTo>
                <a:lnTo>
                  <a:pt x="4571404" y="983008"/>
                </a:lnTo>
                <a:cubicBezTo>
                  <a:pt x="4571404" y="1053770"/>
                  <a:pt x="4520198" y="1111220"/>
                  <a:pt x="4457125" y="1111220"/>
                </a:cubicBezTo>
                <a:lnTo>
                  <a:pt x="114280" y="1111220"/>
                </a:lnTo>
                <a:cubicBezTo>
                  <a:pt x="51208" y="1111220"/>
                  <a:pt x="0" y="1053770"/>
                  <a:pt x="0" y="983008"/>
                </a:cubicBezTo>
                <a:lnTo>
                  <a:pt x="0" y="128212"/>
                </a:lnTo>
                <a:cubicBezTo>
                  <a:pt x="0" y="57450"/>
                  <a:pt x="51208" y="0"/>
                  <a:pt x="114280" y="0"/>
                </a:cubicBezTo>
                <a:close/>
              </a:path>
            </a:pathLst>
          </a:cu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1E40A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441231" y="5587719"/>
            <a:ext cx="4279343" cy="9523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“让生成的每一个词，都在情理之中”</a:t>
            </a:r>
            <a:endParaRPr lang="en-US" sz="1100"/>
          </a:p>
          <a:p>
            <a:pPr algn="ctr">
              <a:lnSpc>
                <a:spcPct val="116666"/>
              </a:lnSpc>
            </a:pPr>
            <a:r>
              <a:rPr lang="en-US" sz="1300" b="0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从概率到智能的数学基石</a:t>
            </a:r>
          </a:p>
        </p:txBody>
      </p:sp>
    </p:spTree>
    <p:extLst>
      <p:ext uri="{BB962C8B-B14F-4D97-AF65-F5344CB8AC3E}">
        <p14:creationId xmlns:p14="http://schemas.microsoft.com/office/powerpoint/2010/main" val="3139774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0950" y="419492"/>
            <a:ext cx="76190" cy="30476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71426" y="317905"/>
            <a:ext cx="10793594" cy="50793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RLHF：基于人类反馈的强化学习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425" y="1016314"/>
            <a:ext cx="1117454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0">
                <a:solidFill>
                  <a:srgbClr val="3B82F6"/>
                </a:solidFill>
                <a:latin typeface="微软雅黑"/>
                <a:ea typeface="微软雅黑"/>
                <a:cs typeface="微软雅黑"/>
                <a:sym typeface="微软雅黑"/>
              </a:rPr>
              <a:t>Reinforcement Learning from Human Feedback: SFT → RM → PPO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7934" y="1778215"/>
            <a:ext cx="3555537" cy="2412686"/>
          </a:xfrm>
          <a:prstGeom prst="roundRect">
            <a:avLst>
              <a:gd name="adj" fmla="val 5263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4917" y="1968690"/>
            <a:ext cx="3301570" cy="2031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  <a:p>
            <a:pPr algn="ctr">
              <a:spcBef>
                <a:spcPts val="1000"/>
              </a:spcBef>
            </a:pPr>
            <a:r>
              <a:rPr lang="en-US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SFT · 监督微调</a:t>
            </a:r>
          </a:p>
          <a:p>
            <a:pPr algn="ctr">
              <a:lnSpc>
                <a:spcPct val="108333"/>
              </a:lnSpc>
              <a:spcBef>
                <a:spcPts val="1500"/>
              </a:spcBef>
            </a:pP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让模型学会遵循指令，生成高质量回复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利用人工标注问答对进行监督学习</a:t>
            </a:r>
          </a:p>
        </p:txBody>
      </p:sp>
      <p:sp>
        <p:nvSpPr>
          <p:cNvPr id="7" name="AutoShape 7"/>
          <p:cNvSpPr/>
          <p:nvPr/>
        </p:nvSpPr>
        <p:spPr>
          <a:xfrm>
            <a:off x="4317438" y="1778215"/>
            <a:ext cx="3555537" cy="2412686"/>
          </a:xfrm>
          <a:prstGeom prst="roundRect">
            <a:avLst>
              <a:gd name="adj" fmla="val 5263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444421" y="1968690"/>
            <a:ext cx="3301570" cy="2031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  <a:p>
            <a:pPr algn="ctr">
              <a:spcBef>
                <a:spcPts val="1000"/>
              </a:spcBef>
            </a:pPr>
            <a:r>
              <a:rPr lang="en-US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RM · 奖励模型训练</a:t>
            </a:r>
          </a:p>
          <a:p>
            <a:pPr algn="ctr">
              <a:lnSpc>
                <a:spcPct val="108333"/>
              </a:lnSpc>
              <a:spcBef>
                <a:spcPts val="1500"/>
              </a:spcBef>
            </a:pP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学习人类偏好，预测回复好坏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训练打分模型区分不同回复质量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6941" y="1778215"/>
            <a:ext cx="3555537" cy="2412686"/>
          </a:xfrm>
          <a:prstGeom prst="roundRect">
            <a:avLst>
              <a:gd name="adj" fmla="val 5263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253925" y="1968690"/>
            <a:ext cx="3301570" cy="2031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  <a:p>
            <a:pPr algn="ctr">
              <a:spcBef>
                <a:spcPts val="1000"/>
              </a:spcBef>
            </a:pPr>
            <a:r>
              <a:rPr lang="en-US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PPO · 强化学习优化</a:t>
            </a:r>
          </a:p>
          <a:p>
            <a:pPr algn="ctr">
              <a:lnSpc>
                <a:spcPct val="108333"/>
              </a:lnSpc>
              <a:spcBef>
                <a:spcPts val="1500"/>
              </a:spcBef>
            </a:pP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以RM为“评委”引导优化策略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通过强化学习微调模型，生成更优回复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7934" y="4571851"/>
            <a:ext cx="11174545" cy="1650785"/>
          </a:xfrm>
          <a:prstGeom prst="roundRect">
            <a:avLst>
              <a:gd name="adj" fmla="val 769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07933" y="4571851"/>
            <a:ext cx="101587" cy="1650785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8884" y="4825818"/>
            <a:ext cx="10412644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15803D"/>
                </a:solidFill>
                <a:latin typeface="微软雅黑"/>
                <a:ea typeface="微软雅黑"/>
                <a:cs typeface="微软雅黑"/>
                <a:sym typeface="微软雅黑"/>
              </a:rPr>
              <a:t>💡 核心逻辑总结</a:t>
            </a:r>
            <a:endParaRPr lang="en-US" sz="1100"/>
          </a:p>
          <a:p>
            <a:pPr>
              <a:lnSpc>
                <a:spcPct val="116666"/>
              </a:lnSpc>
            </a:pPr>
            <a:r>
              <a:rPr lang="en-US" sz="1400" b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RLHF 的三阶段循序渐进，从“监督微调”建立基础对话能力，到“奖励模型”对齐人类价值偏好，最后通过“强化学习”最大化策略回报，实现模型从单纯的“会说话”到“懂人心”的跨越。</a:t>
            </a:r>
          </a:p>
        </p:txBody>
      </p:sp>
    </p:spTree>
    <p:extLst>
      <p:ext uri="{BB962C8B-B14F-4D97-AF65-F5344CB8AC3E}">
        <p14:creationId xmlns:p14="http://schemas.microsoft.com/office/powerpoint/2010/main" val="3803713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50" y="419492"/>
            <a:ext cx="76190" cy="30476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71426" y="381397"/>
            <a:ext cx="5091732" cy="38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1E40AF"/>
                </a:solidFill>
                <a:latin typeface="+mn-ea"/>
                <a:ea typeface="+mn-ea"/>
                <a:cs typeface="Noto Sans SC" pitchFamily="34" charset="-120"/>
              </a:rPr>
              <a:t>阶段 1：监督微调（SFT）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26" y="838537"/>
            <a:ext cx="11323750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+mn-ea"/>
                <a:ea typeface="+mn-ea"/>
                <a:cs typeface="Noto Sans SC" pitchFamily="34" charset="-120"/>
              </a:rPr>
              <a:t>Supervised Fine-Tuning：教模型基本遵循指令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0" y="1257583"/>
            <a:ext cx="6666632" cy="5219020"/>
          </a:xfrm>
          <a:custGeom>
            <a:avLst/>
            <a:gdLst/>
            <a:ahLst/>
            <a:cxnLst/>
            <a:rect l="l" t="t" r="r" b="b"/>
            <a:pathLst>
              <a:path w="6667500" h="5219700">
                <a:moveTo>
                  <a:pt x="114311" y="0"/>
                </a:moveTo>
                <a:lnTo>
                  <a:pt x="6553189" y="0"/>
                </a:lnTo>
                <a:cubicBezTo>
                  <a:pt x="6616321" y="0"/>
                  <a:pt x="6667500" y="51179"/>
                  <a:pt x="6667500" y="114311"/>
                </a:cubicBezTo>
                <a:lnTo>
                  <a:pt x="6667500" y="5105389"/>
                </a:lnTo>
                <a:cubicBezTo>
                  <a:pt x="6667500" y="5168521"/>
                  <a:pt x="6616321" y="5219700"/>
                  <a:pt x="6553189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426" y="1486153"/>
            <a:ext cx="238094" cy="190475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809520" y="1448058"/>
            <a:ext cx="6142825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训练过程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38057" y="1257583"/>
            <a:ext cx="4571405" cy="4076169"/>
          </a:xfrm>
          <a:custGeom>
            <a:avLst/>
            <a:gdLst/>
            <a:ahLst/>
            <a:cxnLst/>
            <a:rect l="l" t="t" r="r" b="b"/>
            <a:pathLst>
              <a:path w="4572000" h="4076700">
                <a:moveTo>
                  <a:pt x="114311" y="0"/>
                </a:moveTo>
                <a:lnTo>
                  <a:pt x="4457689" y="0"/>
                </a:lnTo>
                <a:cubicBezTo>
                  <a:pt x="4520821" y="0"/>
                  <a:pt x="4572000" y="51179"/>
                  <a:pt x="4572000" y="114311"/>
                </a:cubicBezTo>
                <a:lnTo>
                  <a:pt x="4572000" y="3962389"/>
                </a:lnTo>
                <a:cubicBezTo>
                  <a:pt x="4572000" y="4025521"/>
                  <a:pt x="4520821" y="4076700"/>
                  <a:pt x="4457689" y="4076700"/>
                </a:cubicBezTo>
                <a:lnTo>
                  <a:pt x="114311" y="4076700"/>
                </a:lnTo>
                <a:cubicBezTo>
                  <a:pt x="51179" y="4076700"/>
                  <a:pt x="0" y="4025521"/>
                  <a:pt x="0" y="3962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28532" y="1448058"/>
            <a:ext cx="4285692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数据示例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666472B-5AB5-4963-989B-21B16F8047D2}"/>
              </a:ext>
            </a:extLst>
          </p:cNvPr>
          <p:cNvGrpSpPr/>
          <p:nvPr/>
        </p:nvGrpSpPr>
        <p:grpSpPr>
          <a:xfrm>
            <a:off x="571426" y="1867103"/>
            <a:ext cx="6914249" cy="4419025"/>
            <a:chOff x="571426" y="1867103"/>
            <a:chExt cx="6914249" cy="3390459"/>
          </a:xfrm>
        </p:grpSpPr>
        <p:sp>
          <p:nvSpPr>
            <p:cNvPr id="8" name="Shape 6"/>
            <p:cNvSpPr/>
            <p:nvPr/>
          </p:nvSpPr>
          <p:spPr>
            <a:xfrm>
              <a:off x="571426" y="1867103"/>
              <a:ext cx="6285681" cy="1142851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76204" y="0"/>
                  </a:moveTo>
                  <a:lnTo>
                    <a:pt x="6210296" y="0"/>
                  </a:lnTo>
                  <a:cubicBezTo>
                    <a:pt x="6252382" y="0"/>
                    <a:pt x="6286500" y="34118"/>
                    <a:pt x="6286500" y="76204"/>
                  </a:cubicBezTo>
                  <a:lnTo>
                    <a:pt x="6286500" y="1066796"/>
                  </a:lnTo>
                  <a:cubicBezTo>
                    <a:pt x="6286500" y="1108882"/>
                    <a:pt x="6252382" y="1143000"/>
                    <a:pt x="62102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1E40AF">
                <a:alpha val="10196"/>
              </a:srgbClr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23806" y="2019484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40AF"/>
                  </a:solidFill>
                  <a:latin typeface="+mn-ea"/>
                  <a:ea typeface="+mn-ea"/>
                  <a:cs typeface="Noto Sans SC" pitchFamily="34" charset="-120"/>
                </a:rPr>
                <a:t>数据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23806" y="2362339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人工标注的（指令，回复）对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23806" y="2629004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高质量、多样化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571426" y="3124240"/>
              <a:ext cx="6285681" cy="1142851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76204" y="0"/>
                  </a:moveTo>
                  <a:lnTo>
                    <a:pt x="6210296" y="0"/>
                  </a:lnTo>
                  <a:cubicBezTo>
                    <a:pt x="6252382" y="0"/>
                    <a:pt x="6286500" y="34118"/>
                    <a:pt x="6286500" y="76204"/>
                  </a:cubicBezTo>
                  <a:lnTo>
                    <a:pt x="6286500" y="1066796"/>
                  </a:lnTo>
                  <a:cubicBezTo>
                    <a:pt x="6286500" y="1108882"/>
                    <a:pt x="6252382" y="1143000"/>
                    <a:pt x="62102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3B82F6">
                <a:alpha val="10196"/>
              </a:srgbClr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23806" y="3276620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3B82F6"/>
                  </a:solidFill>
                  <a:latin typeface="+mn-ea"/>
                  <a:ea typeface="+mn-ea"/>
                  <a:cs typeface="Noto Sans SC" pitchFamily="34" charset="-120"/>
                </a:rPr>
                <a:t>训练方式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23806" y="3619475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标准监督学习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23806" y="3886141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最大化回复的似然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90473" y="4381376"/>
              <a:ext cx="6266634" cy="876186"/>
            </a:xfrm>
            <a:custGeom>
              <a:avLst/>
              <a:gdLst/>
              <a:ahLst/>
              <a:cxnLst/>
              <a:rect l="l" t="t" r="r" b="b"/>
              <a:pathLst>
                <a:path w="6267450" h="876300">
                  <a:moveTo>
                    <a:pt x="38100" y="0"/>
                  </a:moveTo>
                  <a:lnTo>
                    <a:pt x="6191247" y="0"/>
                  </a:lnTo>
                  <a:cubicBezTo>
                    <a:pt x="6233333" y="0"/>
                    <a:pt x="6267450" y="34117"/>
                    <a:pt x="6267450" y="76203"/>
                  </a:cubicBezTo>
                  <a:lnTo>
                    <a:pt x="6267450" y="800097"/>
                  </a:lnTo>
                  <a:cubicBezTo>
                    <a:pt x="6267450" y="842183"/>
                    <a:pt x="6233333" y="876300"/>
                    <a:pt x="6191247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590473" y="4381376"/>
              <a:ext cx="38095" cy="876186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761901" y="4533756"/>
              <a:ext cx="6028540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目标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61901" y="4876612"/>
              <a:ext cx="6019016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模型学会生成高质量回复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7447580" y="2705194"/>
              <a:ext cx="38095" cy="952376"/>
            </a:xfrm>
            <a:custGeom>
              <a:avLst/>
              <a:gdLst/>
              <a:ahLst/>
              <a:cxnLst/>
              <a:rect l="l" t="t" r="r" b="b"/>
              <a:pathLst>
                <a:path w="38100" h="952500">
                  <a:moveTo>
                    <a:pt x="38100" y="0"/>
                  </a:moveTo>
                  <a:lnTo>
                    <a:pt x="38100" y="0"/>
                  </a:lnTo>
                  <a:lnTo>
                    <a:pt x="38100" y="952500"/>
                  </a:lnTo>
                  <a:lnTo>
                    <a:pt x="38100" y="952500"/>
                  </a:lnTo>
                  <a:cubicBezTo>
                    <a:pt x="17072" y="952500"/>
                    <a:pt x="0" y="935428"/>
                    <a:pt x="0" y="914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835910F-E5C2-4C8F-96CD-9C6EF56EF7C2}"/>
              </a:ext>
            </a:extLst>
          </p:cNvPr>
          <p:cNvGrpSpPr/>
          <p:nvPr/>
        </p:nvGrpSpPr>
        <p:grpSpPr>
          <a:xfrm>
            <a:off x="7428533" y="1867103"/>
            <a:ext cx="4209501" cy="3362097"/>
            <a:chOff x="7428533" y="1867103"/>
            <a:chExt cx="4209501" cy="1790467"/>
          </a:xfrm>
        </p:grpSpPr>
        <p:sp>
          <p:nvSpPr>
            <p:cNvPr id="22" name="Shape 20"/>
            <p:cNvSpPr/>
            <p:nvPr/>
          </p:nvSpPr>
          <p:spPr>
            <a:xfrm>
              <a:off x="7428533" y="1867103"/>
              <a:ext cx="4190454" cy="723806"/>
            </a:xfrm>
            <a:custGeom>
              <a:avLst/>
              <a:gdLst/>
              <a:ahLst/>
              <a:cxnLst/>
              <a:rect l="l" t="t" r="r" b="b"/>
              <a:pathLst>
                <a:path w="4191000" h="723900">
                  <a:moveTo>
                    <a:pt x="76198" y="0"/>
                  </a:moveTo>
                  <a:lnTo>
                    <a:pt x="4114802" y="0"/>
                  </a:lnTo>
                  <a:cubicBezTo>
                    <a:pt x="4156857" y="0"/>
                    <a:pt x="4191000" y="34143"/>
                    <a:pt x="4191000" y="76198"/>
                  </a:cubicBezTo>
                  <a:lnTo>
                    <a:pt x="4191000" y="647702"/>
                  </a:lnTo>
                  <a:cubicBezTo>
                    <a:pt x="4191000" y="689757"/>
                    <a:pt x="4156857" y="723900"/>
                    <a:pt x="411480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F8FAFC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542818" y="1981389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指令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7542818" y="2248054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"解释什么是机器学习"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7447580" y="2705194"/>
              <a:ext cx="4171407" cy="952376"/>
            </a:xfrm>
            <a:custGeom>
              <a:avLst/>
              <a:gdLst/>
              <a:ahLst/>
              <a:cxnLst/>
              <a:rect l="l" t="t" r="r" b="b"/>
              <a:pathLst>
                <a:path w="4171950" h="952500">
                  <a:moveTo>
                    <a:pt x="38100" y="0"/>
                  </a:moveTo>
                  <a:lnTo>
                    <a:pt x="4095750" y="0"/>
                  </a:lnTo>
                  <a:cubicBezTo>
                    <a:pt x="4137806" y="0"/>
                    <a:pt x="4171950" y="34144"/>
                    <a:pt x="4171950" y="76200"/>
                  </a:cubicBezTo>
                  <a:lnTo>
                    <a:pt x="4171950" y="876300"/>
                  </a:lnTo>
                  <a:cubicBezTo>
                    <a:pt x="4171950" y="918356"/>
                    <a:pt x="4137806" y="952500"/>
                    <a:pt x="4095750" y="952500"/>
                  </a:cubicBezTo>
                  <a:lnTo>
                    <a:pt x="38100" y="952500"/>
                  </a:lnTo>
                  <a:cubicBezTo>
                    <a:pt x="17072" y="952500"/>
                    <a:pt x="0" y="935428"/>
                    <a:pt x="0" y="914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7580913" y="2819479"/>
              <a:ext cx="3999979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回复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7523770" y="3083430"/>
              <a:ext cx="4114264" cy="4571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机器学习是人工智能的一个分支，通过算法让计算机从数据中学习规律...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sp>
        <p:nvSpPr>
          <p:cNvPr id="29" name="Shape 27"/>
          <p:cNvSpPr/>
          <p:nvPr/>
        </p:nvSpPr>
        <p:spPr>
          <a:xfrm>
            <a:off x="7238057" y="5486132"/>
            <a:ext cx="4571405" cy="990471"/>
          </a:xfrm>
          <a:custGeom>
            <a:avLst/>
            <a:gdLst/>
            <a:ahLst/>
            <a:cxnLst/>
            <a:rect l="l" t="t" r="r" b="b"/>
            <a:pathLst>
              <a:path w="4572000" h="990600">
                <a:moveTo>
                  <a:pt x="114295" y="0"/>
                </a:moveTo>
                <a:lnTo>
                  <a:pt x="4457705" y="0"/>
                </a:lnTo>
                <a:cubicBezTo>
                  <a:pt x="4520786" y="0"/>
                  <a:pt x="4572000" y="51214"/>
                  <a:pt x="4572000" y="114295"/>
                </a:cubicBezTo>
                <a:lnTo>
                  <a:pt x="4572000" y="876305"/>
                </a:lnTo>
                <a:cubicBezTo>
                  <a:pt x="4572000" y="939386"/>
                  <a:pt x="4520786" y="990600"/>
                  <a:pt x="44577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30" name="Text 28"/>
          <p:cNvSpPr/>
          <p:nvPr/>
        </p:nvSpPr>
        <p:spPr>
          <a:xfrm>
            <a:off x="7428533" y="5589240"/>
            <a:ext cx="4276168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+mn-ea"/>
                <a:ea typeface="+mn-ea"/>
                <a:cs typeface="Noto Sans SC" pitchFamily="34" charset="-120"/>
              </a:rPr>
              <a:t>规模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28533" y="6057558"/>
            <a:ext cx="4266644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+mn-ea"/>
                <a:ea typeface="+mn-ea"/>
                <a:cs typeface="Noto Sans SC" pitchFamily="34" charset="-120"/>
              </a:rPr>
              <a:t>InstructGPT：约13K标注数据</a:t>
            </a:r>
            <a:endParaRPr 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8155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50" y="419492"/>
            <a:ext cx="76190" cy="30476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426" y="381397"/>
            <a:ext cx="4335648" cy="38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1E40AF"/>
                </a:solidFill>
                <a:latin typeface="+mn-ea"/>
                <a:ea typeface="+mn-ea"/>
                <a:cs typeface="Noto Sans SC" pitchFamily="34" charset="-120"/>
              </a:rPr>
              <a:t>阶段 2：奖励模型训练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26" y="838537"/>
            <a:ext cx="11323750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+mn-ea"/>
                <a:ea typeface="+mn-ea"/>
                <a:cs typeface="Noto Sans SC" pitchFamily="34" charset="-120"/>
              </a:rPr>
              <a:t>Reward Model (RM)：学习预测人类偏好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0" y="1257583"/>
            <a:ext cx="6666632" cy="5219020"/>
          </a:xfrm>
          <a:custGeom>
            <a:avLst/>
            <a:gdLst/>
            <a:ahLst/>
            <a:cxnLst/>
            <a:rect l="l" t="t" r="r" b="b"/>
            <a:pathLst>
              <a:path w="6667500" h="5219700">
                <a:moveTo>
                  <a:pt x="114311" y="0"/>
                </a:moveTo>
                <a:lnTo>
                  <a:pt x="6553189" y="0"/>
                </a:lnTo>
                <a:cubicBezTo>
                  <a:pt x="6616321" y="0"/>
                  <a:pt x="6667500" y="51179"/>
                  <a:pt x="6667500" y="114311"/>
                </a:cubicBezTo>
                <a:lnTo>
                  <a:pt x="6667500" y="5105389"/>
                </a:lnTo>
                <a:cubicBezTo>
                  <a:pt x="6667500" y="5168521"/>
                  <a:pt x="6616321" y="5219700"/>
                  <a:pt x="6553189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3330" y="1486153"/>
            <a:ext cx="214285" cy="190475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09520" y="1448058"/>
            <a:ext cx="6142825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训练过程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E3E6517-24EF-49FB-A5D0-DBFAFC181A74}"/>
              </a:ext>
            </a:extLst>
          </p:cNvPr>
          <p:cNvGrpSpPr/>
          <p:nvPr/>
        </p:nvGrpSpPr>
        <p:grpSpPr>
          <a:xfrm>
            <a:off x="571426" y="1867103"/>
            <a:ext cx="6285681" cy="4152360"/>
            <a:chOff x="571426" y="1867103"/>
            <a:chExt cx="6285681" cy="3390459"/>
          </a:xfrm>
        </p:grpSpPr>
        <p:sp>
          <p:nvSpPr>
            <p:cNvPr id="8" name="Shape 6"/>
            <p:cNvSpPr/>
            <p:nvPr/>
          </p:nvSpPr>
          <p:spPr>
            <a:xfrm>
              <a:off x="571426" y="1867103"/>
              <a:ext cx="6285681" cy="1142851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76204" y="0"/>
                  </a:moveTo>
                  <a:lnTo>
                    <a:pt x="6210296" y="0"/>
                  </a:lnTo>
                  <a:cubicBezTo>
                    <a:pt x="6252382" y="0"/>
                    <a:pt x="6286500" y="34118"/>
                    <a:pt x="6286500" y="76204"/>
                  </a:cubicBezTo>
                  <a:lnTo>
                    <a:pt x="6286500" y="1066796"/>
                  </a:lnTo>
                  <a:cubicBezTo>
                    <a:pt x="6286500" y="1108882"/>
                    <a:pt x="6252382" y="1143000"/>
                    <a:pt x="62102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3B82F6">
                <a:alpha val="10196"/>
              </a:srgbClr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23806" y="2019484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3B82F6"/>
                  </a:solidFill>
                  <a:latin typeface="+mn-ea"/>
                  <a:ea typeface="+mn-ea"/>
                  <a:cs typeface="Noto Sans SC" pitchFamily="34" charset="-120"/>
                </a:rPr>
                <a:t>数据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23806" y="2362339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收集对多个回复的排序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23806" y="2629004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人类标注哪个更好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571426" y="3124240"/>
              <a:ext cx="6285681" cy="1142851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76204" y="0"/>
                  </a:moveTo>
                  <a:lnTo>
                    <a:pt x="6210296" y="0"/>
                  </a:lnTo>
                  <a:cubicBezTo>
                    <a:pt x="6252382" y="0"/>
                    <a:pt x="6286500" y="34118"/>
                    <a:pt x="6286500" y="76204"/>
                  </a:cubicBezTo>
                  <a:lnTo>
                    <a:pt x="6286500" y="1066796"/>
                  </a:lnTo>
                  <a:cubicBezTo>
                    <a:pt x="6286500" y="1108882"/>
                    <a:pt x="6252382" y="1143000"/>
                    <a:pt x="62102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1E40AF">
                <a:alpha val="10196"/>
              </a:srgbClr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23806" y="3276620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40AF"/>
                  </a:solidFill>
                  <a:latin typeface="+mn-ea"/>
                  <a:ea typeface="+mn-ea"/>
                  <a:cs typeface="Noto Sans SC" pitchFamily="34" charset="-120"/>
                </a:rPr>
                <a:t>模型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23806" y="3619475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LM输出标量奖励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23806" y="3886141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预测人类偏好分数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90473" y="4381376"/>
              <a:ext cx="6266634" cy="876186"/>
            </a:xfrm>
            <a:custGeom>
              <a:avLst/>
              <a:gdLst/>
              <a:ahLst/>
              <a:cxnLst/>
              <a:rect l="l" t="t" r="r" b="b"/>
              <a:pathLst>
                <a:path w="6267450" h="876300">
                  <a:moveTo>
                    <a:pt x="38100" y="0"/>
                  </a:moveTo>
                  <a:lnTo>
                    <a:pt x="6191247" y="0"/>
                  </a:lnTo>
                  <a:cubicBezTo>
                    <a:pt x="6233333" y="0"/>
                    <a:pt x="6267450" y="34117"/>
                    <a:pt x="6267450" y="76203"/>
                  </a:cubicBezTo>
                  <a:lnTo>
                    <a:pt x="6267450" y="800097"/>
                  </a:lnTo>
                  <a:cubicBezTo>
                    <a:pt x="6267450" y="842183"/>
                    <a:pt x="6233333" y="876300"/>
                    <a:pt x="6191247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590473" y="4381376"/>
              <a:ext cx="38095" cy="876186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761901" y="4533756"/>
              <a:ext cx="6028540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目标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61901" y="4876612"/>
              <a:ext cx="6019016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RM(回复好) &gt; RM(回复差)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sp>
        <p:nvSpPr>
          <p:cNvPr id="20" name="Shape 18"/>
          <p:cNvSpPr/>
          <p:nvPr/>
        </p:nvSpPr>
        <p:spPr>
          <a:xfrm>
            <a:off x="7238057" y="1257583"/>
            <a:ext cx="4571405" cy="3755593"/>
          </a:xfrm>
          <a:custGeom>
            <a:avLst/>
            <a:gdLst/>
            <a:ahLst/>
            <a:cxnLst/>
            <a:rect l="l" t="t" r="r" b="b"/>
            <a:pathLst>
              <a:path w="4572000" h="4076700">
                <a:moveTo>
                  <a:pt x="114311" y="0"/>
                </a:moveTo>
                <a:lnTo>
                  <a:pt x="4457689" y="0"/>
                </a:lnTo>
                <a:cubicBezTo>
                  <a:pt x="4520821" y="0"/>
                  <a:pt x="4572000" y="51179"/>
                  <a:pt x="4572000" y="114311"/>
                </a:cubicBezTo>
                <a:lnTo>
                  <a:pt x="4572000" y="3962389"/>
                </a:lnTo>
                <a:cubicBezTo>
                  <a:pt x="4572000" y="4025521"/>
                  <a:pt x="4520821" y="4076700"/>
                  <a:pt x="4457689" y="4076700"/>
                </a:cubicBezTo>
                <a:lnTo>
                  <a:pt x="114311" y="4076700"/>
                </a:lnTo>
                <a:cubicBezTo>
                  <a:pt x="51179" y="4076700"/>
                  <a:pt x="0" y="4025521"/>
                  <a:pt x="0" y="3962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28532" y="1448058"/>
            <a:ext cx="4285692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损失函数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A71D9A3-7157-4A00-A610-A920C14B653F}"/>
              </a:ext>
            </a:extLst>
          </p:cNvPr>
          <p:cNvGrpSpPr/>
          <p:nvPr/>
        </p:nvGrpSpPr>
        <p:grpSpPr>
          <a:xfrm>
            <a:off x="7428533" y="1867103"/>
            <a:ext cx="4190454" cy="2752688"/>
            <a:chOff x="7428533" y="1867103"/>
            <a:chExt cx="4190454" cy="1752372"/>
          </a:xfrm>
        </p:grpSpPr>
        <p:sp>
          <p:nvSpPr>
            <p:cNvPr id="22" name="Shape 20"/>
            <p:cNvSpPr/>
            <p:nvPr/>
          </p:nvSpPr>
          <p:spPr>
            <a:xfrm>
              <a:off x="7428533" y="1867103"/>
              <a:ext cx="4190454" cy="723806"/>
            </a:xfrm>
            <a:custGeom>
              <a:avLst/>
              <a:gdLst/>
              <a:ahLst/>
              <a:cxnLst/>
              <a:rect l="l" t="t" r="r" b="b"/>
              <a:pathLst>
                <a:path w="4191000" h="723900">
                  <a:moveTo>
                    <a:pt x="76198" y="0"/>
                  </a:moveTo>
                  <a:lnTo>
                    <a:pt x="4114802" y="0"/>
                  </a:lnTo>
                  <a:cubicBezTo>
                    <a:pt x="4156857" y="0"/>
                    <a:pt x="4191000" y="34143"/>
                    <a:pt x="4191000" y="76198"/>
                  </a:cubicBezTo>
                  <a:lnTo>
                    <a:pt x="4191000" y="647702"/>
                  </a:lnTo>
                  <a:cubicBezTo>
                    <a:pt x="4191000" y="689757"/>
                    <a:pt x="4156857" y="723900"/>
                    <a:pt x="411480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F8FAFC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542818" y="1981389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排序损失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7542818" y="2248054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MiSans" pitchFamily="34" charset="-120"/>
                </a:rPr>
                <a:t>L = -log(σ(r_好 - r_差))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7428533" y="2705194"/>
              <a:ext cx="4190454" cy="914281"/>
            </a:xfrm>
            <a:custGeom>
              <a:avLst/>
              <a:gdLst/>
              <a:ahLst/>
              <a:cxnLst/>
              <a:rect l="l" t="t" r="r" b="b"/>
              <a:pathLst>
                <a:path w="4191000" h="914400">
                  <a:moveTo>
                    <a:pt x="76197" y="0"/>
                  </a:moveTo>
                  <a:lnTo>
                    <a:pt x="4114803" y="0"/>
                  </a:lnTo>
                  <a:cubicBezTo>
                    <a:pt x="4156885" y="0"/>
                    <a:pt x="4191000" y="34115"/>
                    <a:pt x="4191000" y="76197"/>
                  </a:cubicBezTo>
                  <a:lnTo>
                    <a:pt x="4191000" y="838203"/>
                  </a:lnTo>
                  <a:cubicBezTo>
                    <a:pt x="4191000" y="880285"/>
                    <a:pt x="4156885" y="914400"/>
                    <a:pt x="4114803" y="914400"/>
                  </a:cubicBezTo>
                  <a:lnTo>
                    <a:pt x="76197" y="914400"/>
                  </a:lnTo>
                  <a:cubicBezTo>
                    <a:pt x="34115" y="914400"/>
                    <a:pt x="0" y="880285"/>
                    <a:pt x="0" y="8382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3B82F6">
                <a:alpha val="10196"/>
              </a:srgbClr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7542818" y="2819479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σ：sigmoid函数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542818" y="3048050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r_好：好回复的奖励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7542818" y="3276620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r_差：差回复的奖励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F5D5BF5-9170-480D-ADAC-557AF6AECD02}"/>
              </a:ext>
            </a:extLst>
          </p:cNvPr>
          <p:cNvGrpSpPr/>
          <p:nvPr/>
        </p:nvGrpSpPr>
        <p:grpSpPr>
          <a:xfrm>
            <a:off x="7238057" y="5165556"/>
            <a:ext cx="4571405" cy="1311047"/>
            <a:chOff x="7238057" y="5486132"/>
            <a:chExt cx="4571405" cy="990471"/>
          </a:xfrm>
        </p:grpSpPr>
        <p:sp>
          <p:nvSpPr>
            <p:cNvPr id="29" name="Shape 27"/>
            <p:cNvSpPr/>
            <p:nvPr/>
          </p:nvSpPr>
          <p:spPr>
            <a:xfrm>
              <a:off x="7238057" y="5486132"/>
              <a:ext cx="4571405" cy="990471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114295" y="0"/>
                  </a:moveTo>
                  <a:lnTo>
                    <a:pt x="4457705" y="0"/>
                  </a:lnTo>
                  <a:cubicBezTo>
                    <a:pt x="4520786" y="0"/>
                    <a:pt x="4572000" y="51214"/>
                    <a:pt x="4572000" y="114295"/>
                  </a:cubicBezTo>
                  <a:lnTo>
                    <a:pt x="4572000" y="876305"/>
                  </a:lnTo>
                  <a:cubicBezTo>
                    <a:pt x="4572000" y="939386"/>
                    <a:pt x="4520786" y="990600"/>
                    <a:pt x="4457705" y="990600"/>
                  </a:cubicBezTo>
                  <a:lnTo>
                    <a:pt x="114295" y="990600"/>
                  </a:lnTo>
                  <a:cubicBezTo>
                    <a:pt x="51214" y="990600"/>
                    <a:pt x="0" y="939386"/>
                    <a:pt x="0" y="876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B82F6"/>
                </a:gs>
                <a:gs pos="100000">
                  <a:srgbClr val="1E40AF"/>
                </a:gs>
              </a:gsLst>
              <a:lin ang="2700000" scaled="1"/>
            </a:gradFill>
            <a:ln/>
          </p:spPr>
        </p:sp>
        <p:sp>
          <p:nvSpPr>
            <p:cNvPr id="30" name="Text 28"/>
            <p:cNvSpPr/>
            <p:nvPr/>
          </p:nvSpPr>
          <p:spPr>
            <a:xfrm>
              <a:off x="7428533" y="5676607"/>
              <a:ext cx="4276168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核心思想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7428533" y="6057558"/>
              <a:ext cx="426664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拉大"好"与"差"回复之间的奖励差距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9844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50" y="419492"/>
            <a:ext cx="76190" cy="30476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425" y="381397"/>
            <a:ext cx="3543561" cy="38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1E40AF"/>
                </a:solidFill>
                <a:latin typeface="+mn-ea"/>
                <a:ea typeface="+mn-ea"/>
                <a:cs typeface="Noto Sans SC" pitchFamily="34" charset="-120"/>
              </a:rPr>
              <a:t>人类偏好数据收集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26" y="838537"/>
            <a:ext cx="11323750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+mn-ea"/>
                <a:ea typeface="+mn-ea"/>
                <a:cs typeface="Noto Sans SC" pitchFamily="34" charset="-120"/>
              </a:rPr>
              <a:t>如何收集偏好数据：比较式标注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0" y="1257583"/>
            <a:ext cx="6666632" cy="5219020"/>
          </a:xfrm>
          <a:custGeom>
            <a:avLst/>
            <a:gdLst/>
            <a:ahLst/>
            <a:cxnLst/>
            <a:rect l="l" t="t" r="r" b="b"/>
            <a:pathLst>
              <a:path w="6667500" h="5219700">
                <a:moveTo>
                  <a:pt x="114311" y="0"/>
                </a:moveTo>
                <a:lnTo>
                  <a:pt x="6553189" y="0"/>
                </a:lnTo>
                <a:cubicBezTo>
                  <a:pt x="6616321" y="0"/>
                  <a:pt x="6667500" y="51179"/>
                  <a:pt x="6667500" y="114311"/>
                </a:cubicBezTo>
                <a:lnTo>
                  <a:pt x="6667500" y="5105389"/>
                </a:lnTo>
                <a:cubicBezTo>
                  <a:pt x="6667500" y="5168521"/>
                  <a:pt x="6616321" y="5219700"/>
                  <a:pt x="6553189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426" y="1486153"/>
            <a:ext cx="238094" cy="190475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09520" y="1448058"/>
            <a:ext cx="6142825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比较式标注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C39DB98-EF6B-4556-8513-E35E40EF87CC}"/>
              </a:ext>
            </a:extLst>
          </p:cNvPr>
          <p:cNvGrpSpPr/>
          <p:nvPr/>
        </p:nvGrpSpPr>
        <p:grpSpPr>
          <a:xfrm>
            <a:off x="571426" y="1867103"/>
            <a:ext cx="6285681" cy="4076169"/>
            <a:chOff x="571426" y="1867103"/>
            <a:chExt cx="6285681" cy="2742843"/>
          </a:xfrm>
        </p:grpSpPr>
        <p:sp>
          <p:nvSpPr>
            <p:cNvPr id="8" name="Shape 6"/>
            <p:cNvSpPr/>
            <p:nvPr/>
          </p:nvSpPr>
          <p:spPr>
            <a:xfrm>
              <a:off x="571426" y="1867103"/>
              <a:ext cx="6285681" cy="1485707"/>
            </a:xfrm>
            <a:custGeom>
              <a:avLst/>
              <a:gdLst/>
              <a:ahLst/>
              <a:cxnLst/>
              <a:rect l="l" t="t" r="r" b="b"/>
              <a:pathLst>
                <a:path w="6286500" h="1485900">
                  <a:moveTo>
                    <a:pt x="76197" y="0"/>
                  </a:moveTo>
                  <a:lnTo>
                    <a:pt x="6210303" y="0"/>
                  </a:lnTo>
                  <a:cubicBezTo>
                    <a:pt x="6252385" y="0"/>
                    <a:pt x="6286500" y="34115"/>
                    <a:pt x="6286500" y="76197"/>
                  </a:cubicBezTo>
                  <a:lnTo>
                    <a:pt x="6286500" y="1409703"/>
                  </a:lnTo>
                  <a:cubicBezTo>
                    <a:pt x="6286500" y="1451785"/>
                    <a:pt x="6252385" y="1485900"/>
                    <a:pt x="6210303" y="1485900"/>
                  </a:cubicBezTo>
                  <a:lnTo>
                    <a:pt x="76197" y="1485900"/>
                  </a:lnTo>
                  <a:cubicBezTo>
                    <a:pt x="34115" y="1485900"/>
                    <a:pt x="0" y="1451785"/>
                    <a:pt x="0" y="14097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3B82F6">
                <a:alpha val="10196"/>
              </a:srgbClr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23806" y="2019484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3B82F6"/>
                  </a:solidFill>
                  <a:latin typeface="+mn-ea"/>
                  <a:ea typeface="+mn-ea"/>
                  <a:cs typeface="Noto Sans SC" pitchFamily="34" charset="-120"/>
                </a:rPr>
                <a:t>流程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23806" y="2362339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1. 给定提示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23806" y="2667099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2. 生成2个回复（A、B）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23806" y="2971860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3. 人类标注：A更好/B更好/相似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90473" y="3467095"/>
              <a:ext cx="6266634" cy="1142851"/>
            </a:xfrm>
            <a:custGeom>
              <a:avLst/>
              <a:gdLst/>
              <a:ahLst/>
              <a:cxnLst/>
              <a:rect l="l" t="t" r="r" b="b"/>
              <a:pathLst>
                <a:path w="6267450" h="1143000">
                  <a:moveTo>
                    <a:pt x="38100" y="0"/>
                  </a:moveTo>
                  <a:lnTo>
                    <a:pt x="6191246" y="0"/>
                  </a:lnTo>
                  <a:cubicBezTo>
                    <a:pt x="6233332" y="0"/>
                    <a:pt x="6267450" y="34118"/>
                    <a:pt x="6267450" y="76204"/>
                  </a:cubicBezTo>
                  <a:lnTo>
                    <a:pt x="6267450" y="1066796"/>
                  </a:lnTo>
                  <a:cubicBezTo>
                    <a:pt x="6267450" y="1108882"/>
                    <a:pt x="6233332" y="1143000"/>
                    <a:pt x="6191246" y="1143000"/>
                  </a:cubicBezTo>
                  <a:lnTo>
                    <a:pt x="38100" y="1143000"/>
                  </a:lnTo>
                  <a:cubicBezTo>
                    <a:pt x="17072" y="1143000"/>
                    <a:pt x="0" y="1125928"/>
                    <a:pt x="0" y="11049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590473" y="3467095"/>
              <a:ext cx="38095" cy="1142851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100" y="0"/>
                  </a:moveTo>
                  <a:lnTo>
                    <a:pt x="38100" y="0"/>
                  </a:lnTo>
                  <a:lnTo>
                    <a:pt x="38100" y="1143000"/>
                  </a:lnTo>
                  <a:lnTo>
                    <a:pt x="38100" y="1143000"/>
                  </a:lnTo>
                  <a:cubicBezTo>
                    <a:pt x="17072" y="1143000"/>
                    <a:pt x="0" y="1125928"/>
                    <a:pt x="0" y="11049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61901" y="3619475"/>
              <a:ext cx="6028540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优点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761901" y="3962331"/>
              <a:ext cx="6019016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比绝对打分更可靠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61901" y="4228996"/>
              <a:ext cx="6019016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人类更擅长做相对比较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7238057" y="1257583"/>
            <a:ext cx="4571405" cy="4076169"/>
          </a:xfrm>
          <a:custGeom>
            <a:avLst/>
            <a:gdLst/>
            <a:ahLst/>
            <a:cxnLst/>
            <a:rect l="l" t="t" r="r" b="b"/>
            <a:pathLst>
              <a:path w="4572000" h="4076700">
                <a:moveTo>
                  <a:pt x="114311" y="0"/>
                </a:moveTo>
                <a:lnTo>
                  <a:pt x="4457689" y="0"/>
                </a:lnTo>
                <a:cubicBezTo>
                  <a:pt x="4520821" y="0"/>
                  <a:pt x="4572000" y="51179"/>
                  <a:pt x="4572000" y="114311"/>
                </a:cubicBezTo>
                <a:lnTo>
                  <a:pt x="4572000" y="3962389"/>
                </a:lnTo>
                <a:cubicBezTo>
                  <a:pt x="4572000" y="4025521"/>
                  <a:pt x="4520821" y="4076700"/>
                  <a:pt x="4457689" y="4076700"/>
                </a:cubicBezTo>
                <a:lnTo>
                  <a:pt x="114311" y="4076700"/>
                </a:lnTo>
                <a:cubicBezTo>
                  <a:pt x="51179" y="4076700"/>
                  <a:pt x="0" y="4025521"/>
                  <a:pt x="0" y="3962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28532" y="1448058"/>
            <a:ext cx="4285692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标注界面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4791A67-7D93-44E7-BB7D-A113E71797E0}"/>
              </a:ext>
            </a:extLst>
          </p:cNvPr>
          <p:cNvGrpSpPr/>
          <p:nvPr/>
        </p:nvGrpSpPr>
        <p:grpSpPr>
          <a:xfrm>
            <a:off x="7428532" y="1867103"/>
            <a:ext cx="4190455" cy="3113741"/>
            <a:chOff x="7428532" y="1867103"/>
            <a:chExt cx="4190455" cy="2095227"/>
          </a:xfrm>
        </p:grpSpPr>
        <p:sp>
          <p:nvSpPr>
            <p:cNvPr id="20" name="Shape 18"/>
            <p:cNvSpPr/>
            <p:nvPr/>
          </p:nvSpPr>
          <p:spPr>
            <a:xfrm>
              <a:off x="7428533" y="1867103"/>
              <a:ext cx="4190454" cy="723806"/>
            </a:xfrm>
            <a:custGeom>
              <a:avLst/>
              <a:gdLst/>
              <a:ahLst/>
              <a:cxnLst/>
              <a:rect l="l" t="t" r="r" b="b"/>
              <a:pathLst>
                <a:path w="4191000" h="723900">
                  <a:moveTo>
                    <a:pt x="76198" y="0"/>
                  </a:moveTo>
                  <a:lnTo>
                    <a:pt x="4114802" y="0"/>
                  </a:lnTo>
                  <a:cubicBezTo>
                    <a:pt x="4156857" y="0"/>
                    <a:pt x="4191000" y="34143"/>
                    <a:pt x="4191000" y="76198"/>
                  </a:cubicBezTo>
                  <a:lnTo>
                    <a:pt x="4191000" y="647702"/>
                  </a:lnTo>
                  <a:cubicBezTo>
                    <a:pt x="4191000" y="689757"/>
                    <a:pt x="4156857" y="723900"/>
                    <a:pt x="411480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F8FAFC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7542818" y="1981389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提示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7542818" y="2248054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"解释量子计算"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7428532" y="2705194"/>
              <a:ext cx="2057132" cy="685711"/>
            </a:xfrm>
            <a:custGeom>
              <a:avLst/>
              <a:gdLst/>
              <a:ahLst/>
              <a:cxnLst/>
              <a:rect l="l" t="t" r="r" b="b"/>
              <a:pathLst>
                <a:path w="2057400" h="685800">
                  <a:moveTo>
                    <a:pt x="76199" y="0"/>
                  </a:moveTo>
                  <a:lnTo>
                    <a:pt x="1981201" y="0"/>
                  </a:lnTo>
                  <a:cubicBezTo>
                    <a:pt x="2023284" y="0"/>
                    <a:pt x="2057400" y="34116"/>
                    <a:pt x="2057400" y="76199"/>
                  </a:cubicBezTo>
                  <a:lnTo>
                    <a:pt x="2057400" y="609601"/>
                  </a:lnTo>
                  <a:cubicBezTo>
                    <a:pt x="2057400" y="651684"/>
                    <a:pt x="2023284" y="685800"/>
                    <a:pt x="19812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E40AF">
                <a:alpha val="10196"/>
              </a:srgbClr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542817" y="2819479"/>
              <a:ext cx="1904752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40AF"/>
                  </a:solidFill>
                  <a:latin typeface="+mn-ea"/>
                  <a:ea typeface="+mn-ea"/>
                  <a:cs typeface="Noto Sans SC" pitchFamily="34" charset="-120"/>
                </a:rPr>
                <a:t>回复A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542818" y="3086145"/>
              <a:ext cx="1895228" cy="190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简短回答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9561855" y="2705194"/>
              <a:ext cx="2057132" cy="685711"/>
            </a:xfrm>
            <a:custGeom>
              <a:avLst/>
              <a:gdLst/>
              <a:ahLst/>
              <a:cxnLst/>
              <a:rect l="l" t="t" r="r" b="b"/>
              <a:pathLst>
                <a:path w="2057400" h="685800">
                  <a:moveTo>
                    <a:pt x="76199" y="0"/>
                  </a:moveTo>
                  <a:lnTo>
                    <a:pt x="1981201" y="0"/>
                  </a:lnTo>
                  <a:cubicBezTo>
                    <a:pt x="2023284" y="0"/>
                    <a:pt x="2057400" y="34116"/>
                    <a:pt x="2057400" y="76199"/>
                  </a:cubicBezTo>
                  <a:lnTo>
                    <a:pt x="2057400" y="609601"/>
                  </a:lnTo>
                  <a:cubicBezTo>
                    <a:pt x="2057400" y="651684"/>
                    <a:pt x="2023284" y="685800"/>
                    <a:pt x="19812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3B82F6">
                <a:alpha val="10196"/>
              </a:srgbClr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9676140" y="2819479"/>
              <a:ext cx="1904752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3B82F6"/>
                  </a:solidFill>
                  <a:latin typeface="+mn-ea"/>
                  <a:ea typeface="+mn-ea"/>
                  <a:cs typeface="Noto Sans SC" pitchFamily="34" charset="-120"/>
                </a:rPr>
                <a:t>回复B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9676140" y="3086145"/>
              <a:ext cx="1895228" cy="1904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详细解释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7447580" y="3505190"/>
              <a:ext cx="4171407" cy="457140"/>
            </a:xfrm>
            <a:custGeom>
              <a:avLst/>
              <a:gdLst/>
              <a:ahLst/>
              <a:cxnLst/>
              <a:rect l="l" t="t" r="r" b="b"/>
              <a:pathLst>
                <a:path w="4171950" h="457200">
                  <a:moveTo>
                    <a:pt x="38100" y="0"/>
                  </a:moveTo>
                  <a:lnTo>
                    <a:pt x="4095748" y="0"/>
                  </a:lnTo>
                  <a:cubicBezTo>
                    <a:pt x="4137833" y="0"/>
                    <a:pt x="4171950" y="34117"/>
                    <a:pt x="4171950" y="76202"/>
                  </a:cubicBezTo>
                  <a:lnTo>
                    <a:pt x="4171950" y="380998"/>
                  </a:lnTo>
                  <a:cubicBezTo>
                    <a:pt x="4171950" y="423083"/>
                    <a:pt x="4137833" y="457200"/>
                    <a:pt x="4095748" y="457200"/>
                  </a:cubicBezTo>
                  <a:lnTo>
                    <a:pt x="38100" y="457200"/>
                  </a:lnTo>
                  <a:cubicBezTo>
                    <a:pt x="17058" y="457200"/>
                    <a:pt x="0" y="440142"/>
                    <a:pt x="0" y="419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7447580" y="3505190"/>
              <a:ext cx="38095" cy="45714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38100" y="0"/>
                  </a:moveTo>
                  <a:lnTo>
                    <a:pt x="38100" y="0"/>
                  </a:lnTo>
                  <a:lnTo>
                    <a:pt x="38100" y="457200"/>
                  </a:lnTo>
                  <a:lnTo>
                    <a:pt x="38100" y="457200"/>
                  </a:lnTo>
                  <a:cubicBezTo>
                    <a:pt x="17072" y="457200"/>
                    <a:pt x="0" y="440128"/>
                    <a:pt x="0" y="419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7580913" y="3619475"/>
              <a:ext cx="3999979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标注：B更好（更详细）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sp>
        <p:nvSpPr>
          <p:cNvPr id="32" name="Shape 30"/>
          <p:cNvSpPr/>
          <p:nvPr/>
        </p:nvSpPr>
        <p:spPr>
          <a:xfrm>
            <a:off x="7238057" y="5486132"/>
            <a:ext cx="4571405" cy="990471"/>
          </a:xfrm>
          <a:custGeom>
            <a:avLst/>
            <a:gdLst/>
            <a:ahLst/>
            <a:cxnLst/>
            <a:rect l="l" t="t" r="r" b="b"/>
            <a:pathLst>
              <a:path w="4572000" h="990600">
                <a:moveTo>
                  <a:pt x="114295" y="0"/>
                </a:moveTo>
                <a:lnTo>
                  <a:pt x="4457705" y="0"/>
                </a:lnTo>
                <a:cubicBezTo>
                  <a:pt x="4520786" y="0"/>
                  <a:pt x="4572000" y="51214"/>
                  <a:pt x="4572000" y="114295"/>
                </a:cubicBezTo>
                <a:lnTo>
                  <a:pt x="4572000" y="876305"/>
                </a:lnTo>
                <a:cubicBezTo>
                  <a:pt x="4572000" y="939386"/>
                  <a:pt x="4520786" y="990600"/>
                  <a:pt x="44577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E40AF"/>
              </a:gs>
            </a:gsLst>
            <a:lin ang="2700000" scaled="1"/>
          </a:gradFill>
          <a:ln/>
        </p:spPr>
      </p:sp>
      <p:sp>
        <p:nvSpPr>
          <p:cNvPr id="33" name="Text 31"/>
          <p:cNvSpPr/>
          <p:nvPr/>
        </p:nvSpPr>
        <p:spPr>
          <a:xfrm>
            <a:off x="7428533" y="5676607"/>
            <a:ext cx="4276168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+mn-ea"/>
                <a:ea typeface="+mn-ea"/>
                <a:cs typeface="Noto Sans SC" pitchFamily="34" charset="-120"/>
              </a:rPr>
              <a:t>规模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28533" y="6057558"/>
            <a:ext cx="4266644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+mn-ea"/>
                <a:ea typeface="+mn-ea"/>
                <a:cs typeface="Noto Sans SC" pitchFamily="34" charset="-120"/>
              </a:rPr>
              <a:t>InstructGPT：约33K比较数据</a:t>
            </a:r>
            <a:endParaRPr 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9728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50" y="419492"/>
            <a:ext cx="76190" cy="30476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425" y="381397"/>
            <a:ext cx="2823481" cy="38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1E40AF"/>
                </a:solidFill>
                <a:latin typeface="+mn-ea"/>
                <a:ea typeface="+mn-ea"/>
                <a:cs typeface="Noto Sans SC" pitchFamily="34" charset="-120"/>
              </a:rPr>
              <a:t>奖励模型架构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26" y="838537"/>
            <a:ext cx="11323750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+mn-ea"/>
                <a:ea typeface="+mn-ea"/>
                <a:cs typeface="Noto Sans SC" pitchFamily="34" charset="-120"/>
              </a:rPr>
              <a:t>RM的模型设计：在LM基础上加奖励头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0" y="1257583"/>
            <a:ext cx="6666632" cy="5219020"/>
          </a:xfrm>
          <a:custGeom>
            <a:avLst/>
            <a:gdLst/>
            <a:ahLst/>
            <a:cxnLst/>
            <a:rect l="l" t="t" r="r" b="b"/>
            <a:pathLst>
              <a:path w="6667500" h="5219700">
                <a:moveTo>
                  <a:pt x="114311" y="0"/>
                </a:moveTo>
                <a:lnTo>
                  <a:pt x="6553189" y="0"/>
                </a:lnTo>
                <a:cubicBezTo>
                  <a:pt x="6616321" y="0"/>
                  <a:pt x="6667500" y="51179"/>
                  <a:pt x="6667500" y="114311"/>
                </a:cubicBezTo>
                <a:lnTo>
                  <a:pt x="6667500" y="5105389"/>
                </a:lnTo>
                <a:cubicBezTo>
                  <a:pt x="6667500" y="5168521"/>
                  <a:pt x="6616321" y="5219700"/>
                  <a:pt x="6553189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5235" y="1486153"/>
            <a:ext cx="190475" cy="190475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09520" y="1448058"/>
            <a:ext cx="6142825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架构设计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1426" y="1867103"/>
            <a:ext cx="6285681" cy="1142851"/>
          </a:xfrm>
          <a:custGeom>
            <a:avLst/>
            <a:gdLst/>
            <a:ahLst/>
            <a:cxnLst/>
            <a:rect l="l" t="t" r="r" b="b"/>
            <a:pathLst>
              <a:path w="6286500" h="1143000">
                <a:moveTo>
                  <a:pt x="76204" y="0"/>
                </a:moveTo>
                <a:lnTo>
                  <a:pt x="6210296" y="0"/>
                </a:lnTo>
                <a:cubicBezTo>
                  <a:pt x="6252382" y="0"/>
                  <a:pt x="6286500" y="34118"/>
                  <a:pt x="6286500" y="76204"/>
                </a:cubicBezTo>
                <a:lnTo>
                  <a:pt x="6286500" y="1066796"/>
                </a:lnTo>
                <a:cubicBezTo>
                  <a:pt x="6286500" y="1108882"/>
                  <a:pt x="6252382" y="1143000"/>
                  <a:pt x="62102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E40A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3806" y="2019484"/>
            <a:ext cx="6066635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E40AF"/>
                </a:solidFill>
                <a:latin typeface="+mn-ea"/>
                <a:ea typeface="+mn-ea"/>
                <a:cs typeface="Noto Sans SC" pitchFamily="34" charset="-120"/>
              </a:rPr>
              <a:t>基座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3806" y="2362339"/>
            <a:ext cx="6057111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SFT后的模型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3806" y="2629004"/>
            <a:ext cx="6057111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E293B">
                    <a:alpha val="70000"/>
                  </a:srgbClr>
                </a:solidFill>
                <a:latin typeface="+mn-ea"/>
                <a:ea typeface="+mn-ea"/>
                <a:cs typeface="Noto Sans SC" pitchFamily="34" charset="-120"/>
              </a:rPr>
              <a:t>继承语言能力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28552" y="3124240"/>
            <a:ext cx="171428" cy="22857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426" y="3496745"/>
            <a:ext cx="6285681" cy="1142851"/>
          </a:xfrm>
          <a:custGeom>
            <a:avLst/>
            <a:gdLst/>
            <a:ahLst/>
            <a:cxnLst/>
            <a:rect l="l" t="t" r="r" b="b"/>
            <a:pathLst>
              <a:path w="6286500" h="1143000">
                <a:moveTo>
                  <a:pt x="76204" y="0"/>
                </a:moveTo>
                <a:lnTo>
                  <a:pt x="6210296" y="0"/>
                </a:lnTo>
                <a:cubicBezTo>
                  <a:pt x="6252382" y="0"/>
                  <a:pt x="6286500" y="34118"/>
                  <a:pt x="6286500" y="76204"/>
                </a:cubicBezTo>
                <a:lnTo>
                  <a:pt x="6286500" y="1066796"/>
                </a:lnTo>
                <a:cubicBezTo>
                  <a:pt x="6286500" y="1108882"/>
                  <a:pt x="6252382" y="1143000"/>
                  <a:pt x="62102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23806" y="3649125"/>
            <a:ext cx="6066635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+mn-ea"/>
                <a:ea typeface="+mn-ea"/>
                <a:cs typeface="Noto Sans SC" pitchFamily="34" charset="-120"/>
              </a:rPr>
              <a:t>修改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3806" y="3991981"/>
            <a:ext cx="6057111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移除语言建模头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3806" y="4258646"/>
            <a:ext cx="6057111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E293B">
                    <a:alpha val="70000"/>
                  </a:srgbClr>
                </a:solidFill>
                <a:latin typeface="+mn-ea"/>
                <a:ea typeface="+mn-ea"/>
                <a:cs typeface="Noto Sans SC" pitchFamily="34" charset="-120"/>
              </a:rPr>
              <a:t>不再预测下一个Token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28552" y="4753882"/>
            <a:ext cx="171428" cy="22857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90473" y="5126350"/>
            <a:ext cx="6266634" cy="1142851"/>
          </a:xfrm>
          <a:custGeom>
            <a:avLst/>
            <a:gdLst/>
            <a:ahLst/>
            <a:cxnLst/>
            <a:rect l="l" t="t" r="r" b="b"/>
            <a:pathLst>
              <a:path w="6267450" h="1143000">
                <a:moveTo>
                  <a:pt x="38100" y="0"/>
                </a:moveTo>
                <a:lnTo>
                  <a:pt x="6191246" y="0"/>
                </a:lnTo>
                <a:cubicBezTo>
                  <a:pt x="6233332" y="0"/>
                  <a:pt x="6267450" y="34118"/>
                  <a:pt x="6267450" y="76204"/>
                </a:cubicBezTo>
                <a:lnTo>
                  <a:pt x="6267450" y="1066796"/>
                </a:lnTo>
                <a:cubicBezTo>
                  <a:pt x="6267450" y="1108882"/>
                  <a:pt x="6233332" y="1143000"/>
                  <a:pt x="61912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0473" y="5126350"/>
            <a:ext cx="38095" cy="1142851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0" name="Text 18"/>
          <p:cNvSpPr/>
          <p:nvPr/>
        </p:nvSpPr>
        <p:spPr>
          <a:xfrm>
            <a:off x="761901" y="5278730"/>
            <a:ext cx="6028540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008236"/>
                </a:solidFill>
                <a:latin typeface="+mn-ea"/>
                <a:ea typeface="+mn-ea"/>
                <a:cs typeface="Noto Sans SC" pitchFamily="34" charset="-120"/>
              </a:rPr>
              <a:t>新增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1901" y="5621586"/>
            <a:ext cx="6019016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加入奖励头（标量输出）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1901" y="5888251"/>
            <a:ext cx="6019016" cy="2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E293B">
                    <a:alpha val="70000"/>
                  </a:srgbClr>
                </a:solidFill>
                <a:latin typeface="+mn-ea"/>
                <a:ea typeface="+mn-ea"/>
                <a:cs typeface="Noto Sans SC" pitchFamily="34" charset="-120"/>
              </a:rPr>
              <a:t>输出人类偏好分数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38057" y="1257584"/>
            <a:ext cx="4571405" cy="3619028"/>
          </a:xfrm>
          <a:custGeom>
            <a:avLst/>
            <a:gdLst/>
            <a:ahLst/>
            <a:cxnLst/>
            <a:rect l="l" t="t" r="r" b="b"/>
            <a:pathLst>
              <a:path w="4572000" h="4076700">
                <a:moveTo>
                  <a:pt x="114311" y="0"/>
                </a:moveTo>
                <a:lnTo>
                  <a:pt x="4457689" y="0"/>
                </a:lnTo>
                <a:cubicBezTo>
                  <a:pt x="4520821" y="0"/>
                  <a:pt x="4572000" y="51179"/>
                  <a:pt x="4572000" y="114311"/>
                </a:cubicBezTo>
                <a:lnTo>
                  <a:pt x="4572000" y="3962389"/>
                </a:lnTo>
                <a:cubicBezTo>
                  <a:pt x="4572000" y="4025521"/>
                  <a:pt x="4520821" y="4076700"/>
                  <a:pt x="4457689" y="4076700"/>
                </a:cubicBezTo>
                <a:lnTo>
                  <a:pt x="114311" y="4076700"/>
                </a:lnTo>
                <a:cubicBezTo>
                  <a:pt x="51179" y="4076700"/>
                  <a:pt x="0" y="4025521"/>
                  <a:pt x="0" y="3962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28532" y="1448058"/>
            <a:ext cx="4285692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示意图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73DDCA5-4284-47D7-B9E8-7DA3A3800425}"/>
              </a:ext>
            </a:extLst>
          </p:cNvPr>
          <p:cNvGrpSpPr/>
          <p:nvPr/>
        </p:nvGrpSpPr>
        <p:grpSpPr>
          <a:xfrm>
            <a:off x="7428533" y="1867104"/>
            <a:ext cx="4190454" cy="2620112"/>
            <a:chOff x="7428533" y="1867104"/>
            <a:chExt cx="4190454" cy="2190464"/>
          </a:xfrm>
        </p:grpSpPr>
        <p:sp>
          <p:nvSpPr>
            <p:cNvPr id="25" name="Shape 23"/>
            <p:cNvSpPr/>
            <p:nvPr/>
          </p:nvSpPr>
          <p:spPr>
            <a:xfrm>
              <a:off x="7428533" y="1867104"/>
              <a:ext cx="4190454" cy="457140"/>
            </a:xfrm>
            <a:custGeom>
              <a:avLst/>
              <a:gdLst/>
              <a:ahLst/>
              <a:cxnLst/>
              <a:rect l="l" t="t" r="r" b="b"/>
              <a:pathLst>
                <a:path w="4191000" h="457200">
                  <a:moveTo>
                    <a:pt x="76202" y="0"/>
                  </a:moveTo>
                  <a:lnTo>
                    <a:pt x="4114798" y="0"/>
                  </a:lnTo>
                  <a:cubicBezTo>
                    <a:pt x="4156883" y="0"/>
                    <a:pt x="4191000" y="34117"/>
                    <a:pt x="4191000" y="76202"/>
                  </a:cubicBezTo>
                  <a:lnTo>
                    <a:pt x="4191000" y="380998"/>
                  </a:lnTo>
                  <a:cubicBezTo>
                    <a:pt x="4191000" y="423083"/>
                    <a:pt x="4156883" y="457200"/>
                    <a:pt x="41147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1E40A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7504723" y="1981389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输入（Prompt + Response）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466617" y="2438529"/>
              <a:ext cx="114285" cy="15238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50423" y="149602"/>
                  </a:moveTo>
                  <a:cubicBezTo>
                    <a:pt x="54144" y="153323"/>
                    <a:pt x="60186" y="153323"/>
                    <a:pt x="63907" y="149602"/>
                  </a:cubicBezTo>
                  <a:lnTo>
                    <a:pt x="111532" y="101977"/>
                  </a:lnTo>
                  <a:cubicBezTo>
                    <a:pt x="115253" y="98256"/>
                    <a:pt x="115253" y="92214"/>
                    <a:pt x="111532" y="88493"/>
                  </a:cubicBezTo>
                  <a:cubicBezTo>
                    <a:pt x="107811" y="84773"/>
                    <a:pt x="101769" y="84773"/>
                    <a:pt x="98048" y="88493"/>
                  </a:cubicBezTo>
                  <a:lnTo>
                    <a:pt x="66675" y="119866"/>
                  </a:lnTo>
                  <a:lnTo>
                    <a:pt x="66675" y="9525"/>
                  </a:lnTo>
                  <a:cubicBezTo>
                    <a:pt x="66675" y="4256"/>
                    <a:pt x="62419" y="0"/>
                    <a:pt x="57150" y="0"/>
                  </a:cubicBezTo>
                  <a:cubicBezTo>
                    <a:pt x="51881" y="0"/>
                    <a:pt x="47625" y="4256"/>
                    <a:pt x="47625" y="9525"/>
                  </a:cubicBezTo>
                  <a:lnTo>
                    <a:pt x="47625" y="119866"/>
                  </a:lnTo>
                  <a:lnTo>
                    <a:pt x="16252" y="88493"/>
                  </a:lnTo>
                  <a:cubicBezTo>
                    <a:pt x="12531" y="84772"/>
                    <a:pt x="6489" y="84772"/>
                    <a:pt x="2768" y="88493"/>
                  </a:cubicBezTo>
                  <a:cubicBezTo>
                    <a:pt x="-953" y="92214"/>
                    <a:pt x="-953" y="98256"/>
                    <a:pt x="2768" y="101977"/>
                  </a:cubicBezTo>
                  <a:lnTo>
                    <a:pt x="50393" y="149602"/>
                  </a:lnTo>
                  <a:close/>
                </a:path>
              </a:pathLst>
            </a:custGeom>
            <a:solidFill>
              <a:srgbClr val="CBD5E1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7428533" y="2705194"/>
              <a:ext cx="4190454" cy="457140"/>
            </a:xfrm>
            <a:custGeom>
              <a:avLst/>
              <a:gdLst/>
              <a:ahLst/>
              <a:cxnLst/>
              <a:rect l="l" t="t" r="r" b="b"/>
              <a:pathLst>
                <a:path w="4191000" h="457200">
                  <a:moveTo>
                    <a:pt x="76202" y="0"/>
                  </a:moveTo>
                  <a:lnTo>
                    <a:pt x="4114798" y="0"/>
                  </a:lnTo>
                  <a:cubicBezTo>
                    <a:pt x="4156883" y="0"/>
                    <a:pt x="4191000" y="34117"/>
                    <a:pt x="4191000" y="76202"/>
                  </a:cubicBezTo>
                  <a:lnTo>
                    <a:pt x="4191000" y="380998"/>
                  </a:lnTo>
                  <a:cubicBezTo>
                    <a:pt x="4191000" y="423083"/>
                    <a:pt x="4156883" y="457200"/>
                    <a:pt x="41147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3B82F6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7504723" y="2819479"/>
              <a:ext cx="403807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Transformer编码器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9466617" y="3276620"/>
              <a:ext cx="114285" cy="15238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50423" y="149602"/>
                  </a:moveTo>
                  <a:cubicBezTo>
                    <a:pt x="54144" y="153323"/>
                    <a:pt x="60186" y="153323"/>
                    <a:pt x="63907" y="149602"/>
                  </a:cubicBezTo>
                  <a:lnTo>
                    <a:pt x="111532" y="101977"/>
                  </a:lnTo>
                  <a:cubicBezTo>
                    <a:pt x="115253" y="98256"/>
                    <a:pt x="115253" y="92214"/>
                    <a:pt x="111532" y="88493"/>
                  </a:cubicBezTo>
                  <a:cubicBezTo>
                    <a:pt x="107811" y="84773"/>
                    <a:pt x="101769" y="84773"/>
                    <a:pt x="98048" y="88493"/>
                  </a:cubicBezTo>
                  <a:lnTo>
                    <a:pt x="66675" y="119866"/>
                  </a:lnTo>
                  <a:lnTo>
                    <a:pt x="66675" y="9525"/>
                  </a:lnTo>
                  <a:cubicBezTo>
                    <a:pt x="66675" y="4256"/>
                    <a:pt x="62419" y="0"/>
                    <a:pt x="57150" y="0"/>
                  </a:cubicBezTo>
                  <a:cubicBezTo>
                    <a:pt x="51881" y="0"/>
                    <a:pt x="47625" y="4256"/>
                    <a:pt x="47625" y="9525"/>
                  </a:cubicBezTo>
                  <a:lnTo>
                    <a:pt x="47625" y="119866"/>
                  </a:lnTo>
                  <a:lnTo>
                    <a:pt x="16252" y="88493"/>
                  </a:lnTo>
                  <a:cubicBezTo>
                    <a:pt x="12531" y="84772"/>
                    <a:pt x="6489" y="84772"/>
                    <a:pt x="2768" y="88493"/>
                  </a:cubicBezTo>
                  <a:cubicBezTo>
                    <a:pt x="-953" y="92214"/>
                    <a:pt x="-953" y="98256"/>
                    <a:pt x="2768" y="101977"/>
                  </a:cubicBezTo>
                  <a:lnTo>
                    <a:pt x="50393" y="149602"/>
                  </a:lnTo>
                  <a:close/>
                </a:path>
              </a:pathLst>
            </a:custGeom>
            <a:solidFill>
              <a:srgbClr val="CBD5E1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7447580" y="3562332"/>
              <a:ext cx="4152359" cy="495236"/>
            </a:xfrm>
            <a:custGeom>
              <a:avLst/>
              <a:gdLst/>
              <a:ahLst/>
              <a:cxnLst/>
              <a:rect l="l" t="t" r="r" b="b"/>
              <a:pathLst>
                <a:path w="4152900" h="495300">
                  <a:moveTo>
                    <a:pt x="76202" y="0"/>
                  </a:moveTo>
                  <a:lnTo>
                    <a:pt x="4076698" y="0"/>
                  </a:lnTo>
                  <a:cubicBezTo>
                    <a:pt x="4118783" y="0"/>
                    <a:pt x="4152900" y="34117"/>
                    <a:pt x="4152900" y="76202"/>
                  </a:cubicBezTo>
                  <a:lnTo>
                    <a:pt x="4152900" y="419098"/>
                  </a:lnTo>
                  <a:cubicBezTo>
                    <a:pt x="4152900" y="461183"/>
                    <a:pt x="4118783" y="495300"/>
                    <a:pt x="4076698" y="495300"/>
                  </a:cubicBezTo>
                  <a:lnTo>
                    <a:pt x="76202" y="495300"/>
                  </a:lnTo>
                  <a:cubicBezTo>
                    <a:pt x="34117" y="495300"/>
                    <a:pt x="0" y="461183"/>
                    <a:pt x="0" y="419098"/>
                  </a:cubicBezTo>
                  <a:lnTo>
                    <a:pt x="0" y="76202"/>
                  </a:lnTo>
                  <a:cubicBezTo>
                    <a:pt x="0" y="34117"/>
                    <a:pt x="34117" y="0"/>
                    <a:pt x="76202" y="0"/>
                  </a:cubicBezTo>
                  <a:close/>
                </a:path>
              </a:pathLst>
            </a:custGeom>
            <a:solidFill>
              <a:srgbClr val="F59E0B"/>
            </a:solidFill>
            <a:ln w="50800">
              <a:solidFill>
                <a:srgbClr val="F59E0B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542818" y="3695665"/>
              <a:ext cx="396188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奖励头 → 标量分数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1A92CEB-40B1-4FAF-885D-ED38876A6170}"/>
              </a:ext>
            </a:extLst>
          </p:cNvPr>
          <p:cNvGrpSpPr/>
          <p:nvPr/>
        </p:nvGrpSpPr>
        <p:grpSpPr>
          <a:xfrm>
            <a:off x="7238057" y="4982452"/>
            <a:ext cx="4571405" cy="1494151"/>
            <a:chOff x="7238057" y="5486132"/>
            <a:chExt cx="4571405" cy="990471"/>
          </a:xfrm>
        </p:grpSpPr>
        <p:sp>
          <p:nvSpPr>
            <p:cNvPr id="33" name="Shape 31"/>
            <p:cNvSpPr/>
            <p:nvPr/>
          </p:nvSpPr>
          <p:spPr>
            <a:xfrm>
              <a:off x="7238057" y="5486132"/>
              <a:ext cx="4571405" cy="990471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114295" y="0"/>
                  </a:moveTo>
                  <a:lnTo>
                    <a:pt x="4457705" y="0"/>
                  </a:lnTo>
                  <a:cubicBezTo>
                    <a:pt x="4520786" y="0"/>
                    <a:pt x="4572000" y="51214"/>
                    <a:pt x="4572000" y="114295"/>
                  </a:cubicBezTo>
                  <a:lnTo>
                    <a:pt x="4572000" y="876305"/>
                  </a:lnTo>
                  <a:cubicBezTo>
                    <a:pt x="4572000" y="939386"/>
                    <a:pt x="4520786" y="990600"/>
                    <a:pt x="4457705" y="990600"/>
                  </a:cubicBezTo>
                  <a:lnTo>
                    <a:pt x="114295" y="990600"/>
                  </a:lnTo>
                  <a:cubicBezTo>
                    <a:pt x="51214" y="990600"/>
                    <a:pt x="0" y="939386"/>
                    <a:pt x="0" y="876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B82F6"/>
                </a:gs>
                <a:gs pos="100000">
                  <a:srgbClr val="1E40AF"/>
                </a:gs>
              </a:gsLst>
              <a:lin ang="2700000" scaled="1"/>
            </a:gradFill>
            <a:ln/>
          </p:spPr>
        </p:sp>
        <p:sp>
          <p:nvSpPr>
            <p:cNvPr id="34" name="Text 32"/>
            <p:cNvSpPr/>
            <p:nvPr/>
          </p:nvSpPr>
          <p:spPr>
            <a:xfrm>
              <a:off x="7428532" y="5581522"/>
              <a:ext cx="4276168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训练目标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7428532" y="6011339"/>
              <a:ext cx="426664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最大化偏好数据的似然，学习预测人类偏好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7856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50" y="419492"/>
            <a:ext cx="76190" cy="30476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71425" y="381397"/>
            <a:ext cx="4479665" cy="38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1E40AF"/>
                </a:solidFill>
                <a:latin typeface="+mn-ea"/>
                <a:ea typeface="+mn-ea"/>
                <a:cs typeface="Noto Sans SC" pitchFamily="34" charset="-120"/>
              </a:rPr>
              <a:t>阶段 3：PPO 强化学习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26" y="838537"/>
            <a:ext cx="11323750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59E0B"/>
                </a:solidFill>
                <a:latin typeface="+mn-ea"/>
                <a:ea typeface="+mn-ea"/>
                <a:cs typeface="Noto Sans SC" pitchFamily="34" charset="-120"/>
              </a:rPr>
              <a:t>Proximal Policy Optimization：用RM引导策略优化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0" y="1257583"/>
            <a:ext cx="6666632" cy="5219020"/>
          </a:xfrm>
          <a:custGeom>
            <a:avLst/>
            <a:gdLst/>
            <a:ahLst/>
            <a:cxnLst/>
            <a:rect l="l" t="t" r="r" b="b"/>
            <a:pathLst>
              <a:path w="6667500" h="5219700">
                <a:moveTo>
                  <a:pt x="114311" y="0"/>
                </a:moveTo>
                <a:lnTo>
                  <a:pt x="6553189" y="0"/>
                </a:lnTo>
                <a:cubicBezTo>
                  <a:pt x="6616321" y="0"/>
                  <a:pt x="6667500" y="51179"/>
                  <a:pt x="6667500" y="114311"/>
                </a:cubicBezTo>
                <a:lnTo>
                  <a:pt x="6667500" y="5105389"/>
                </a:lnTo>
                <a:cubicBezTo>
                  <a:pt x="6667500" y="5168521"/>
                  <a:pt x="6616321" y="5219700"/>
                  <a:pt x="6553189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426" y="1486153"/>
            <a:ext cx="238094" cy="190475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09520" y="1448058"/>
            <a:ext cx="6142825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PPO组件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8717727-F833-4CE8-9A1B-226A40020C67}"/>
              </a:ext>
            </a:extLst>
          </p:cNvPr>
          <p:cNvGrpSpPr/>
          <p:nvPr/>
        </p:nvGrpSpPr>
        <p:grpSpPr>
          <a:xfrm>
            <a:off x="571426" y="1867102"/>
            <a:ext cx="6285681" cy="4514226"/>
            <a:chOff x="571426" y="1867103"/>
            <a:chExt cx="6285681" cy="3657124"/>
          </a:xfrm>
        </p:grpSpPr>
        <p:sp>
          <p:nvSpPr>
            <p:cNvPr id="8" name="Shape 6"/>
            <p:cNvSpPr/>
            <p:nvPr/>
          </p:nvSpPr>
          <p:spPr>
            <a:xfrm>
              <a:off x="571426" y="1867103"/>
              <a:ext cx="6285681" cy="1142851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76204" y="0"/>
                  </a:moveTo>
                  <a:lnTo>
                    <a:pt x="6210296" y="0"/>
                  </a:lnTo>
                  <a:cubicBezTo>
                    <a:pt x="6252382" y="0"/>
                    <a:pt x="6286500" y="34118"/>
                    <a:pt x="6286500" y="76204"/>
                  </a:cubicBezTo>
                  <a:lnTo>
                    <a:pt x="6286500" y="1066796"/>
                  </a:lnTo>
                  <a:cubicBezTo>
                    <a:pt x="6286500" y="1108882"/>
                    <a:pt x="6252382" y="1143000"/>
                    <a:pt x="62102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1E40AF">
                <a:alpha val="10196"/>
              </a:srgbClr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23806" y="2019484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40AF"/>
                  </a:solidFill>
                  <a:latin typeface="+mn-ea"/>
                  <a:ea typeface="+mn-ea"/>
                  <a:cs typeface="Noto Sans SC" pitchFamily="34" charset="-120"/>
                </a:rPr>
                <a:t>策略模型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23806" y="2362339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从SFT模型初始化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23806" y="2629004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需要优化的模型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571426" y="3124240"/>
              <a:ext cx="6285681" cy="1142851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76204" y="0"/>
                  </a:moveTo>
                  <a:lnTo>
                    <a:pt x="6210296" y="0"/>
                  </a:lnTo>
                  <a:cubicBezTo>
                    <a:pt x="6252382" y="0"/>
                    <a:pt x="6286500" y="34118"/>
                    <a:pt x="6286500" y="76204"/>
                  </a:cubicBezTo>
                  <a:lnTo>
                    <a:pt x="6286500" y="1066796"/>
                  </a:lnTo>
                  <a:cubicBezTo>
                    <a:pt x="6286500" y="1108882"/>
                    <a:pt x="6252382" y="1143000"/>
                    <a:pt x="62102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3B82F6">
                <a:alpha val="10196"/>
              </a:srgbClr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23806" y="3276620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3B82F6"/>
                  </a:solidFill>
                  <a:latin typeface="+mn-ea"/>
                  <a:ea typeface="+mn-ea"/>
                  <a:cs typeface="Noto Sans SC" pitchFamily="34" charset="-120"/>
                </a:rPr>
                <a:t>奖励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23806" y="3619475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RM打分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23806" y="3886141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指导模型优化方向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71426" y="4381376"/>
              <a:ext cx="6285681" cy="1142851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76204" y="0"/>
                  </a:moveTo>
                  <a:lnTo>
                    <a:pt x="6210296" y="0"/>
                  </a:lnTo>
                  <a:cubicBezTo>
                    <a:pt x="6252382" y="0"/>
                    <a:pt x="6286500" y="34118"/>
                    <a:pt x="6286500" y="76204"/>
                  </a:cubicBezTo>
                  <a:lnTo>
                    <a:pt x="6286500" y="1066796"/>
                  </a:lnTo>
                  <a:cubicBezTo>
                    <a:pt x="6286500" y="1108882"/>
                    <a:pt x="6252382" y="1143000"/>
                    <a:pt x="6210296" y="1143000"/>
                  </a:cubicBezTo>
                  <a:lnTo>
                    <a:pt x="76204" y="1143000"/>
                  </a:lnTo>
                  <a:cubicBezTo>
                    <a:pt x="34118" y="1143000"/>
                    <a:pt x="0" y="1108882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F59E0B">
                <a:alpha val="10196"/>
              </a:srgbClr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723806" y="4533756"/>
              <a:ext cx="6066635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F59E0B"/>
                  </a:solidFill>
                  <a:latin typeface="+mn-ea"/>
                  <a:ea typeface="+mn-ea"/>
                  <a:cs typeface="Noto Sans SC" pitchFamily="34" charset="-120"/>
                </a:rPr>
                <a:t>约束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723806" y="4876612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KL散度惩罚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23806" y="5143277"/>
              <a:ext cx="6057111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>
                      <a:alpha val="70000"/>
                    </a:srgbClr>
                  </a:solidFill>
                  <a:latin typeface="+mn-ea"/>
                  <a:ea typeface="+mn-ea"/>
                  <a:cs typeface="Noto Sans SC" pitchFamily="34" charset="-120"/>
                </a:rPr>
                <a:t>不偏离SFT模型太远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  <p:sp>
        <p:nvSpPr>
          <p:cNvPr id="20" name="Shape 18"/>
          <p:cNvSpPr/>
          <p:nvPr/>
        </p:nvSpPr>
        <p:spPr>
          <a:xfrm>
            <a:off x="7238057" y="1257584"/>
            <a:ext cx="4571405" cy="3695218"/>
          </a:xfrm>
          <a:custGeom>
            <a:avLst/>
            <a:gdLst/>
            <a:ahLst/>
            <a:cxnLst/>
            <a:rect l="l" t="t" r="r" b="b"/>
            <a:pathLst>
              <a:path w="4572000" h="4076700">
                <a:moveTo>
                  <a:pt x="114311" y="0"/>
                </a:moveTo>
                <a:lnTo>
                  <a:pt x="4457689" y="0"/>
                </a:lnTo>
                <a:cubicBezTo>
                  <a:pt x="4520821" y="0"/>
                  <a:pt x="4572000" y="51179"/>
                  <a:pt x="4572000" y="114311"/>
                </a:cubicBezTo>
                <a:lnTo>
                  <a:pt x="4572000" y="3962389"/>
                </a:lnTo>
                <a:cubicBezTo>
                  <a:pt x="4572000" y="4025521"/>
                  <a:pt x="4520821" y="4076700"/>
                  <a:pt x="4457689" y="4076700"/>
                </a:cubicBezTo>
                <a:lnTo>
                  <a:pt x="114311" y="4076700"/>
                </a:lnTo>
                <a:cubicBezTo>
                  <a:pt x="51179" y="4076700"/>
                  <a:pt x="0" y="4025521"/>
                  <a:pt x="0" y="3962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28532" y="1448058"/>
            <a:ext cx="4285692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+mn-ea"/>
                <a:ea typeface="+mn-ea"/>
                <a:cs typeface="Noto Sans SC" pitchFamily="34" charset="-120"/>
              </a:rPr>
              <a:t>PPO特点</a:t>
            </a:r>
            <a:endParaRPr lang="en-US" sz="2000" dirty="0">
              <a:latin typeface="+mn-ea"/>
              <a:ea typeface="+mn-ea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63E9C8A-44FE-46E4-A890-989CF97E11DF}"/>
              </a:ext>
            </a:extLst>
          </p:cNvPr>
          <p:cNvGrpSpPr/>
          <p:nvPr/>
        </p:nvGrpSpPr>
        <p:grpSpPr>
          <a:xfrm>
            <a:off x="7428533" y="1867102"/>
            <a:ext cx="4190454" cy="2858041"/>
            <a:chOff x="7428533" y="1867103"/>
            <a:chExt cx="4190454" cy="2399988"/>
          </a:xfrm>
        </p:grpSpPr>
        <p:sp>
          <p:nvSpPr>
            <p:cNvPr id="22" name="Shape 20"/>
            <p:cNvSpPr/>
            <p:nvPr/>
          </p:nvSpPr>
          <p:spPr>
            <a:xfrm>
              <a:off x="7428533" y="1867103"/>
              <a:ext cx="4190454" cy="723806"/>
            </a:xfrm>
            <a:custGeom>
              <a:avLst/>
              <a:gdLst/>
              <a:ahLst/>
              <a:cxnLst/>
              <a:rect l="l" t="t" r="r" b="b"/>
              <a:pathLst>
                <a:path w="4191000" h="723900">
                  <a:moveTo>
                    <a:pt x="76198" y="0"/>
                  </a:moveTo>
                  <a:lnTo>
                    <a:pt x="4114802" y="0"/>
                  </a:lnTo>
                  <a:cubicBezTo>
                    <a:pt x="4156857" y="0"/>
                    <a:pt x="4191000" y="34143"/>
                    <a:pt x="4191000" y="76198"/>
                  </a:cubicBezTo>
                  <a:lnTo>
                    <a:pt x="4191000" y="647702"/>
                  </a:lnTo>
                  <a:cubicBezTo>
                    <a:pt x="4191000" y="689757"/>
                    <a:pt x="4156857" y="723900"/>
                    <a:pt x="411480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F8FAFC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7566626" y="2019483"/>
              <a:ext cx="171428" cy="171428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38" y="171450"/>
                    <a:pt x="171450" y="133038"/>
                    <a:pt x="171450" y="85725"/>
                  </a:cubicBezTo>
                  <a:cubicBezTo>
                    <a:pt x="171450" y="38412"/>
                    <a:pt x="133038" y="0"/>
                    <a:pt x="85725" y="0"/>
                  </a:cubicBezTo>
                  <a:cubicBezTo>
                    <a:pt x="38412" y="0"/>
                    <a:pt x="0" y="38412"/>
                    <a:pt x="0" y="85725"/>
                  </a:cubicBezTo>
                  <a:cubicBezTo>
                    <a:pt x="0" y="133038"/>
                    <a:pt x="38412" y="171450"/>
                    <a:pt x="85725" y="171450"/>
                  </a:cubicBezTo>
                  <a:close/>
                  <a:moveTo>
                    <a:pt x="113987" y="71225"/>
                  </a:moveTo>
                  <a:lnTo>
                    <a:pt x="87198" y="114088"/>
                  </a:lnTo>
                  <a:cubicBezTo>
                    <a:pt x="85792" y="116332"/>
                    <a:pt x="83381" y="117738"/>
                    <a:pt x="80736" y="117872"/>
                  </a:cubicBezTo>
                  <a:cubicBezTo>
                    <a:pt x="78090" y="118006"/>
                    <a:pt x="75545" y="116800"/>
                    <a:pt x="73971" y="114657"/>
                  </a:cubicBezTo>
                  <a:lnTo>
                    <a:pt x="57898" y="93226"/>
                  </a:lnTo>
                  <a:cubicBezTo>
                    <a:pt x="55219" y="89676"/>
                    <a:pt x="55956" y="84653"/>
                    <a:pt x="59505" y="81975"/>
                  </a:cubicBezTo>
                  <a:cubicBezTo>
                    <a:pt x="63055" y="79296"/>
                    <a:pt x="68078" y="80032"/>
                    <a:pt x="70757" y="83582"/>
                  </a:cubicBezTo>
                  <a:lnTo>
                    <a:pt x="79798" y="95637"/>
                  </a:lnTo>
                  <a:lnTo>
                    <a:pt x="100359" y="62720"/>
                  </a:lnTo>
                  <a:cubicBezTo>
                    <a:pt x="102703" y="58969"/>
                    <a:pt x="107659" y="57797"/>
                    <a:pt x="111443" y="60175"/>
                  </a:cubicBezTo>
                  <a:cubicBezTo>
                    <a:pt x="115226" y="62552"/>
                    <a:pt x="116365" y="67475"/>
                    <a:pt x="113987" y="71259"/>
                  </a:cubicBezTo>
                  <a:close/>
                </a:path>
              </a:pathLst>
            </a:custGeom>
            <a:solidFill>
              <a:srgbClr val="1E40AF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7428533" y="2705194"/>
              <a:ext cx="4190454" cy="723806"/>
            </a:xfrm>
            <a:custGeom>
              <a:avLst/>
              <a:gdLst/>
              <a:ahLst/>
              <a:cxnLst/>
              <a:rect l="l" t="t" r="r" b="b"/>
              <a:pathLst>
                <a:path w="4191000" h="723900">
                  <a:moveTo>
                    <a:pt x="76198" y="0"/>
                  </a:moveTo>
                  <a:lnTo>
                    <a:pt x="4114802" y="0"/>
                  </a:lnTo>
                  <a:cubicBezTo>
                    <a:pt x="4156857" y="0"/>
                    <a:pt x="4191000" y="34143"/>
                    <a:pt x="4191000" y="76198"/>
                  </a:cubicBezTo>
                  <a:lnTo>
                    <a:pt x="4191000" y="647702"/>
                  </a:lnTo>
                  <a:cubicBezTo>
                    <a:pt x="4191000" y="689757"/>
                    <a:pt x="4156857" y="723900"/>
                    <a:pt x="411480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F8FAFC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7566626" y="2857574"/>
              <a:ext cx="171428" cy="171428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38" y="171450"/>
                    <a:pt x="171450" y="133038"/>
                    <a:pt x="171450" y="85725"/>
                  </a:cubicBezTo>
                  <a:cubicBezTo>
                    <a:pt x="171450" y="38412"/>
                    <a:pt x="133038" y="0"/>
                    <a:pt x="85725" y="0"/>
                  </a:cubicBezTo>
                  <a:cubicBezTo>
                    <a:pt x="38412" y="0"/>
                    <a:pt x="0" y="38412"/>
                    <a:pt x="0" y="85725"/>
                  </a:cubicBezTo>
                  <a:cubicBezTo>
                    <a:pt x="0" y="133038"/>
                    <a:pt x="38412" y="171450"/>
                    <a:pt x="85725" y="171450"/>
                  </a:cubicBezTo>
                  <a:close/>
                  <a:moveTo>
                    <a:pt x="113987" y="71225"/>
                  </a:moveTo>
                  <a:lnTo>
                    <a:pt x="87198" y="114088"/>
                  </a:lnTo>
                  <a:cubicBezTo>
                    <a:pt x="85792" y="116332"/>
                    <a:pt x="83381" y="117738"/>
                    <a:pt x="80736" y="117872"/>
                  </a:cubicBezTo>
                  <a:cubicBezTo>
                    <a:pt x="78090" y="118006"/>
                    <a:pt x="75545" y="116800"/>
                    <a:pt x="73971" y="114657"/>
                  </a:cubicBezTo>
                  <a:lnTo>
                    <a:pt x="57898" y="93226"/>
                  </a:lnTo>
                  <a:cubicBezTo>
                    <a:pt x="55219" y="89676"/>
                    <a:pt x="55956" y="84653"/>
                    <a:pt x="59505" y="81975"/>
                  </a:cubicBezTo>
                  <a:cubicBezTo>
                    <a:pt x="63055" y="79296"/>
                    <a:pt x="68078" y="80032"/>
                    <a:pt x="70757" y="83582"/>
                  </a:cubicBezTo>
                  <a:lnTo>
                    <a:pt x="79798" y="95637"/>
                  </a:lnTo>
                  <a:lnTo>
                    <a:pt x="100359" y="62720"/>
                  </a:lnTo>
                  <a:cubicBezTo>
                    <a:pt x="102703" y="58969"/>
                    <a:pt x="107659" y="57797"/>
                    <a:pt x="111443" y="60175"/>
                  </a:cubicBezTo>
                  <a:cubicBezTo>
                    <a:pt x="115226" y="62552"/>
                    <a:pt x="116365" y="67475"/>
                    <a:pt x="113987" y="71259"/>
                  </a:cubicBezTo>
                  <a:close/>
                </a:path>
              </a:pathLst>
            </a:custGeom>
            <a:solidFill>
              <a:srgbClr val="3B82F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7428533" y="3543285"/>
              <a:ext cx="4190454" cy="723806"/>
            </a:xfrm>
            <a:custGeom>
              <a:avLst/>
              <a:gdLst/>
              <a:ahLst/>
              <a:cxnLst/>
              <a:rect l="l" t="t" r="r" b="b"/>
              <a:pathLst>
                <a:path w="4191000" h="723900">
                  <a:moveTo>
                    <a:pt x="76198" y="0"/>
                  </a:moveTo>
                  <a:lnTo>
                    <a:pt x="4114802" y="0"/>
                  </a:lnTo>
                  <a:cubicBezTo>
                    <a:pt x="4156857" y="0"/>
                    <a:pt x="4191000" y="34143"/>
                    <a:pt x="4191000" y="76198"/>
                  </a:cubicBezTo>
                  <a:lnTo>
                    <a:pt x="4191000" y="647702"/>
                  </a:lnTo>
                  <a:cubicBezTo>
                    <a:pt x="4191000" y="689757"/>
                    <a:pt x="4156857" y="723900"/>
                    <a:pt x="411480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F8FAFC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7566626" y="3695665"/>
              <a:ext cx="171428" cy="171428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38" y="171450"/>
                    <a:pt x="171450" y="133038"/>
                    <a:pt x="171450" y="85725"/>
                  </a:cubicBezTo>
                  <a:cubicBezTo>
                    <a:pt x="171450" y="38412"/>
                    <a:pt x="133038" y="0"/>
                    <a:pt x="85725" y="0"/>
                  </a:cubicBezTo>
                  <a:cubicBezTo>
                    <a:pt x="38412" y="0"/>
                    <a:pt x="0" y="38412"/>
                    <a:pt x="0" y="85725"/>
                  </a:cubicBezTo>
                  <a:cubicBezTo>
                    <a:pt x="0" y="133038"/>
                    <a:pt x="38412" y="171450"/>
                    <a:pt x="85725" y="171450"/>
                  </a:cubicBezTo>
                  <a:close/>
                  <a:moveTo>
                    <a:pt x="113987" y="71225"/>
                  </a:moveTo>
                  <a:lnTo>
                    <a:pt x="87198" y="114088"/>
                  </a:lnTo>
                  <a:cubicBezTo>
                    <a:pt x="85792" y="116332"/>
                    <a:pt x="83381" y="117738"/>
                    <a:pt x="80736" y="117872"/>
                  </a:cubicBezTo>
                  <a:cubicBezTo>
                    <a:pt x="78090" y="118006"/>
                    <a:pt x="75545" y="116800"/>
                    <a:pt x="73971" y="114657"/>
                  </a:cubicBezTo>
                  <a:lnTo>
                    <a:pt x="57898" y="93226"/>
                  </a:lnTo>
                  <a:cubicBezTo>
                    <a:pt x="55219" y="89676"/>
                    <a:pt x="55956" y="84653"/>
                    <a:pt x="59505" y="81975"/>
                  </a:cubicBezTo>
                  <a:cubicBezTo>
                    <a:pt x="63055" y="79296"/>
                    <a:pt x="68078" y="80032"/>
                    <a:pt x="70757" y="83582"/>
                  </a:cubicBezTo>
                  <a:lnTo>
                    <a:pt x="79798" y="95637"/>
                  </a:lnTo>
                  <a:lnTo>
                    <a:pt x="100359" y="62720"/>
                  </a:lnTo>
                  <a:cubicBezTo>
                    <a:pt x="102703" y="58969"/>
                    <a:pt x="107659" y="57797"/>
                    <a:pt x="111443" y="60175"/>
                  </a:cubicBezTo>
                  <a:cubicBezTo>
                    <a:pt x="115226" y="62552"/>
                    <a:pt x="116365" y="67475"/>
                    <a:pt x="113987" y="71259"/>
                  </a:cubicBezTo>
                  <a:close/>
                </a:path>
              </a:pathLst>
            </a:custGeom>
            <a:solidFill>
              <a:srgbClr val="F59E0B"/>
            </a:solidFill>
            <a:ln/>
          </p:spPr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6353264B-D660-416E-8BE4-EBDC83223F6C}"/>
                </a:ext>
              </a:extLst>
            </p:cNvPr>
            <p:cNvGrpSpPr/>
            <p:nvPr/>
          </p:nvGrpSpPr>
          <p:grpSpPr>
            <a:xfrm>
              <a:off x="7871388" y="1981389"/>
              <a:ext cx="3048354" cy="2171417"/>
              <a:chOff x="7871388" y="1981389"/>
              <a:chExt cx="1295231" cy="2171417"/>
            </a:xfrm>
          </p:grpSpPr>
          <p:sp>
            <p:nvSpPr>
              <p:cNvPr id="24" name="Text 22"/>
              <p:cNvSpPr/>
              <p:nvPr/>
            </p:nvSpPr>
            <p:spPr>
              <a:xfrm>
                <a:off x="7871388" y="1981389"/>
                <a:ext cx="1295231" cy="228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solidFill>
                      <a:srgbClr val="1E293B"/>
                    </a:solidFill>
                    <a:latin typeface="+mn-ea"/>
                    <a:ea typeface="+mn-ea"/>
                    <a:cs typeface="Noto Sans SC" pitchFamily="34" charset="-120"/>
                  </a:rPr>
                  <a:t>稳定</a:t>
                </a:r>
                <a:endParaRPr lang="en-US" sz="2000" dirty="0">
                  <a:latin typeface="+mn-ea"/>
                  <a:ea typeface="+mn-ea"/>
                </a:endParaRPr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7871388" y="2248054"/>
                <a:ext cx="1295231" cy="228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solidFill>
                      <a:srgbClr val="1E293B">
                        <a:alpha val="70000"/>
                      </a:srgbClr>
                    </a:solidFill>
                    <a:latin typeface="+mn-ea"/>
                    <a:ea typeface="+mn-ea"/>
                    <a:cs typeface="Noto Sans SC" pitchFamily="34" charset="-120"/>
                  </a:rPr>
                  <a:t>避免策略剧烈变化</a:t>
                </a:r>
                <a:endParaRPr lang="en-US" sz="2000" dirty="0">
                  <a:latin typeface="+mn-ea"/>
                  <a:ea typeface="+mn-ea"/>
                </a:endParaRPr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7871388" y="2819479"/>
                <a:ext cx="990471" cy="228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solidFill>
                      <a:srgbClr val="1E293B"/>
                    </a:solidFill>
                    <a:latin typeface="+mn-ea"/>
                    <a:ea typeface="+mn-ea"/>
                    <a:cs typeface="Noto Sans SC" pitchFamily="34" charset="-120"/>
                  </a:rPr>
                  <a:t>高效</a:t>
                </a:r>
                <a:endParaRPr lang="en-US" sz="2000" dirty="0">
                  <a:latin typeface="+mn-ea"/>
                  <a:ea typeface="+mn-ea"/>
                </a:endParaRPr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7871388" y="3086145"/>
                <a:ext cx="990471" cy="228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solidFill>
                      <a:srgbClr val="1E293B">
                        <a:alpha val="70000"/>
                      </a:srgbClr>
                    </a:solidFill>
                    <a:latin typeface="+mn-ea"/>
                    <a:ea typeface="+mn-ea"/>
                    <a:cs typeface="Noto Sans SC" pitchFamily="34" charset="-120"/>
                  </a:rPr>
                  <a:t>样本利用率高</a:t>
                </a:r>
                <a:endParaRPr lang="en-US" sz="2000" dirty="0">
                  <a:latin typeface="+mn-ea"/>
                  <a:ea typeface="+mn-ea"/>
                </a:endParaRPr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7871388" y="3657570"/>
                <a:ext cx="1219041" cy="228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solidFill>
                      <a:srgbClr val="1E293B"/>
                    </a:solidFill>
                    <a:latin typeface="+mn-ea"/>
                    <a:ea typeface="+mn-ea"/>
                    <a:cs typeface="Noto Sans SC" pitchFamily="34" charset="-120"/>
                  </a:rPr>
                  <a:t>常用</a:t>
                </a:r>
                <a:endParaRPr lang="en-US" sz="2000" dirty="0">
                  <a:latin typeface="+mn-ea"/>
                  <a:ea typeface="+mn-ea"/>
                </a:endParaRPr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7871388" y="3924236"/>
                <a:ext cx="1219041" cy="228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solidFill>
                      <a:srgbClr val="1E293B">
                        <a:alpha val="70000"/>
                      </a:srgbClr>
                    </a:solidFill>
                    <a:latin typeface="+mn-ea"/>
                    <a:ea typeface="+mn-ea"/>
                    <a:cs typeface="Noto Sans SC" pitchFamily="34" charset="-120"/>
                  </a:rPr>
                  <a:t>RLHF的标准算法</a:t>
                </a:r>
                <a:endParaRPr lang="en-US" sz="2000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122F399-31D4-43A9-863E-885121A7CD99}"/>
              </a:ext>
            </a:extLst>
          </p:cNvPr>
          <p:cNvGrpSpPr/>
          <p:nvPr/>
        </p:nvGrpSpPr>
        <p:grpSpPr>
          <a:xfrm>
            <a:off x="7238057" y="5088900"/>
            <a:ext cx="4571405" cy="1387704"/>
            <a:chOff x="7238057" y="5486132"/>
            <a:chExt cx="4571405" cy="990471"/>
          </a:xfrm>
        </p:grpSpPr>
        <p:sp>
          <p:nvSpPr>
            <p:cNvPr id="34" name="Shape 32"/>
            <p:cNvSpPr/>
            <p:nvPr/>
          </p:nvSpPr>
          <p:spPr>
            <a:xfrm>
              <a:off x="7238057" y="5486132"/>
              <a:ext cx="4571405" cy="990471"/>
            </a:xfrm>
            <a:custGeom>
              <a:avLst/>
              <a:gdLst/>
              <a:ahLst/>
              <a:cxnLst/>
              <a:rect l="l" t="t" r="r" b="b"/>
              <a:pathLst>
                <a:path w="4572000" h="990600">
                  <a:moveTo>
                    <a:pt x="114295" y="0"/>
                  </a:moveTo>
                  <a:lnTo>
                    <a:pt x="4457705" y="0"/>
                  </a:lnTo>
                  <a:cubicBezTo>
                    <a:pt x="4520786" y="0"/>
                    <a:pt x="4572000" y="51214"/>
                    <a:pt x="4572000" y="114295"/>
                  </a:cubicBezTo>
                  <a:lnTo>
                    <a:pt x="4572000" y="876305"/>
                  </a:lnTo>
                  <a:cubicBezTo>
                    <a:pt x="4572000" y="939386"/>
                    <a:pt x="4520786" y="990600"/>
                    <a:pt x="4457705" y="990600"/>
                  </a:cubicBezTo>
                  <a:lnTo>
                    <a:pt x="114295" y="990600"/>
                  </a:lnTo>
                  <a:cubicBezTo>
                    <a:pt x="51214" y="990600"/>
                    <a:pt x="0" y="939386"/>
                    <a:pt x="0" y="876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59E0B"/>
                </a:gs>
                <a:gs pos="100000">
                  <a:srgbClr val="1E40AF"/>
                </a:gs>
              </a:gsLst>
              <a:lin ang="2700000" scaled="1"/>
            </a:gradFill>
            <a:ln/>
          </p:spPr>
        </p:sp>
        <p:sp>
          <p:nvSpPr>
            <p:cNvPr id="35" name="Text 33"/>
            <p:cNvSpPr/>
            <p:nvPr/>
          </p:nvSpPr>
          <p:spPr>
            <a:xfrm>
              <a:off x="7428532" y="5524943"/>
              <a:ext cx="4276168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核心思想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7428532" y="5983614"/>
              <a:ext cx="4266644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+mn-ea"/>
                  <a:ea typeface="+mn-ea"/>
                  <a:cs typeface="Noto Sans SC" pitchFamily="34" charset="-120"/>
                </a:rPr>
                <a:t>用RM作为奖励信号，引导策略模型生成人类更喜欢的回复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5706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50" y="419492"/>
            <a:ext cx="76190" cy="30476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71425" y="381397"/>
            <a:ext cx="3831593" cy="38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1E40AF"/>
                </a:solidFill>
                <a:latin typeface="+mn-ea"/>
                <a:ea typeface="+mn-ea"/>
                <a:cs typeface="Noto Sans SC" pitchFamily="34" charset="-120"/>
              </a:rPr>
              <a:t>KL 散度约束的作用</a:t>
            </a:r>
            <a:endParaRPr lang="en-US" sz="3200" dirty="0">
              <a:latin typeface="+mn-ea"/>
              <a:ea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26" y="838537"/>
            <a:ext cx="11323750" cy="26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+mn-ea"/>
                <a:ea typeface="+mn-ea"/>
                <a:cs typeface="Noto Sans SC" pitchFamily="34" charset="-120"/>
              </a:rPr>
              <a:t>为什么需要KL约束：防止模式崩溃</a:t>
            </a: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9998" y="1257583"/>
            <a:ext cx="5599971" cy="5219020"/>
          </a:xfrm>
          <a:custGeom>
            <a:avLst/>
            <a:gdLst/>
            <a:ahLst/>
            <a:cxnLst/>
            <a:rect l="l" t="t" r="r" b="b"/>
            <a:pathLst>
              <a:path w="5600700" h="5219700">
                <a:moveTo>
                  <a:pt x="38100" y="0"/>
                </a:moveTo>
                <a:lnTo>
                  <a:pt x="5486389" y="0"/>
                </a:lnTo>
                <a:cubicBezTo>
                  <a:pt x="5549521" y="0"/>
                  <a:pt x="5600700" y="51179"/>
                  <a:pt x="5600700" y="114311"/>
                </a:cubicBezTo>
                <a:lnTo>
                  <a:pt x="5600700" y="5105389"/>
                </a:lnTo>
                <a:cubicBezTo>
                  <a:pt x="5600700" y="5168521"/>
                  <a:pt x="5549521" y="5219700"/>
                  <a:pt x="5486389" y="5219700"/>
                </a:cubicBezTo>
                <a:lnTo>
                  <a:pt x="38100" y="5219700"/>
                </a:lnTo>
                <a:cubicBezTo>
                  <a:pt x="17072" y="5219700"/>
                  <a:pt x="0" y="5202628"/>
                  <a:pt x="0" y="518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9998" y="1257583"/>
            <a:ext cx="38095" cy="5219020"/>
          </a:xfrm>
          <a:custGeom>
            <a:avLst/>
            <a:gdLst/>
            <a:ahLst/>
            <a:cxnLst/>
            <a:rect l="l" t="t" r="r" b="b"/>
            <a:pathLst>
              <a:path w="38100" h="5219700">
                <a:moveTo>
                  <a:pt x="38100" y="0"/>
                </a:moveTo>
                <a:lnTo>
                  <a:pt x="38100" y="0"/>
                </a:lnTo>
                <a:lnTo>
                  <a:pt x="38100" y="5219700"/>
                </a:lnTo>
                <a:lnTo>
                  <a:pt x="38100" y="5219700"/>
                </a:lnTo>
                <a:cubicBezTo>
                  <a:pt x="17072" y="5219700"/>
                  <a:pt x="0" y="5202628"/>
                  <a:pt x="0" y="518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09491" y="1257583"/>
            <a:ext cx="5599971" cy="5219020"/>
          </a:xfrm>
          <a:custGeom>
            <a:avLst/>
            <a:gdLst/>
            <a:ahLst/>
            <a:cxnLst/>
            <a:rect l="l" t="t" r="r" b="b"/>
            <a:pathLst>
              <a:path w="5600700" h="5219700">
                <a:moveTo>
                  <a:pt x="38100" y="0"/>
                </a:moveTo>
                <a:lnTo>
                  <a:pt x="5486389" y="0"/>
                </a:lnTo>
                <a:cubicBezTo>
                  <a:pt x="5549521" y="0"/>
                  <a:pt x="5600700" y="51179"/>
                  <a:pt x="5600700" y="114311"/>
                </a:cubicBezTo>
                <a:lnTo>
                  <a:pt x="5600700" y="5105389"/>
                </a:lnTo>
                <a:cubicBezTo>
                  <a:pt x="5600700" y="5168521"/>
                  <a:pt x="5549521" y="5219700"/>
                  <a:pt x="5486389" y="5219700"/>
                </a:cubicBezTo>
                <a:lnTo>
                  <a:pt x="38100" y="5219700"/>
                </a:lnTo>
                <a:cubicBezTo>
                  <a:pt x="17072" y="5219700"/>
                  <a:pt x="0" y="5202628"/>
                  <a:pt x="0" y="518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9491" y="1257583"/>
            <a:ext cx="38095" cy="5219020"/>
          </a:xfrm>
          <a:custGeom>
            <a:avLst/>
            <a:gdLst/>
            <a:ahLst/>
            <a:cxnLst/>
            <a:rect l="l" t="t" r="r" b="b"/>
            <a:pathLst>
              <a:path w="38100" h="5219700">
                <a:moveTo>
                  <a:pt x="38100" y="0"/>
                </a:moveTo>
                <a:lnTo>
                  <a:pt x="38100" y="0"/>
                </a:lnTo>
                <a:lnTo>
                  <a:pt x="38100" y="5219700"/>
                </a:lnTo>
                <a:lnTo>
                  <a:pt x="38100" y="5219700"/>
                </a:lnTo>
                <a:cubicBezTo>
                  <a:pt x="17072" y="5219700"/>
                  <a:pt x="0" y="5202628"/>
                  <a:pt x="0" y="518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DEAED7B-BF5E-451D-8CDD-124D4E9DD7AD}"/>
              </a:ext>
            </a:extLst>
          </p:cNvPr>
          <p:cNvGrpSpPr/>
          <p:nvPr/>
        </p:nvGrpSpPr>
        <p:grpSpPr>
          <a:xfrm>
            <a:off x="628568" y="1448058"/>
            <a:ext cx="11085657" cy="4681242"/>
            <a:chOff x="628568" y="1448058"/>
            <a:chExt cx="11085657" cy="3466649"/>
          </a:xfrm>
        </p:grpSpPr>
        <p:sp>
          <p:nvSpPr>
            <p:cNvPr id="7" name="Shape 5"/>
            <p:cNvSpPr/>
            <p:nvPr/>
          </p:nvSpPr>
          <p:spPr>
            <a:xfrm>
              <a:off x="633330" y="1486153"/>
              <a:ext cx="190475" cy="190475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62136" y="62136"/>
                  </a:moveTo>
                  <a:cubicBezTo>
                    <a:pt x="65633" y="58638"/>
                    <a:pt x="71289" y="58638"/>
                    <a:pt x="74749" y="62136"/>
                  </a:cubicBezTo>
                  <a:lnTo>
                    <a:pt x="95213" y="82600"/>
                  </a:lnTo>
                  <a:lnTo>
                    <a:pt x="115677" y="62136"/>
                  </a:lnTo>
                  <a:cubicBezTo>
                    <a:pt x="119174" y="58638"/>
                    <a:pt x="124830" y="58638"/>
                    <a:pt x="128290" y="62136"/>
                  </a:cubicBezTo>
                  <a:cubicBezTo>
                    <a:pt x="131750" y="65633"/>
                    <a:pt x="131787" y="71289"/>
                    <a:pt x="128290" y="74749"/>
                  </a:cubicBezTo>
                  <a:lnTo>
                    <a:pt x="107826" y="95213"/>
                  </a:lnTo>
                  <a:lnTo>
                    <a:pt x="128290" y="115677"/>
                  </a:lnTo>
                  <a:cubicBezTo>
                    <a:pt x="131787" y="119174"/>
                    <a:pt x="131787" y="124830"/>
                    <a:pt x="128290" y="128290"/>
                  </a:cubicBezTo>
                  <a:cubicBezTo>
                    <a:pt x="124792" y="131750"/>
                    <a:pt x="119137" y="131787"/>
                    <a:pt x="115677" y="128290"/>
                  </a:cubicBezTo>
                  <a:lnTo>
                    <a:pt x="95213" y="107826"/>
                  </a:lnTo>
                  <a:lnTo>
                    <a:pt x="74749" y="128290"/>
                  </a:lnTo>
                  <a:cubicBezTo>
                    <a:pt x="71251" y="131787"/>
                    <a:pt x="65596" y="131787"/>
                    <a:pt x="62136" y="128290"/>
                  </a:cubicBezTo>
                  <a:cubicBezTo>
                    <a:pt x="58675" y="124792"/>
                    <a:pt x="58638" y="119137"/>
                    <a:pt x="62136" y="115677"/>
                  </a:cubicBezTo>
                  <a:lnTo>
                    <a:pt x="82600" y="95213"/>
                  </a:lnTo>
                  <a:lnTo>
                    <a:pt x="62136" y="74749"/>
                  </a:lnTo>
                  <a:cubicBezTo>
                    <a:pt x="58638" y="71251"/>
                    <a:pt x="58638" y="65596"/>
                    <a:pt x="62136" y="62136"/>
                  </a:cubicBezTo>
                  <a:close/>
                </a:path>
              </a:pathLst>
            </a:custGeom>
            <a:solidFill>
              <a:srgbClr val="FB2C3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847615" y="1448058"/>
              <a:ext cx="5057116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无约束的问题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628568" y="1867103"/>
              <a:ext cx="5180925" cy="876186"/>
            </a:xfrm>
            <a:custGeom>
              <a:avLst/>
              <a:gdLst/>
              <a:ahLst/>
              <a:cxnLst/>
              <a:rect l="l" t="t" r="r" b="b"/>
              <a:pathLst>
                <a:path w="5181600" h="876300">
                  <a:moveTo>
                    <a:pt x="38100" y="0"/>
                  </a:moveTo>
                  <a:lnTo>
                    <a:pt x="5105397" y="0"/>
                  </a:lnTo>
                  <a:cubicBezTo>
                    <a:pt x="5147483" y="0"/>
                    <a:pt x="5181600" y="34117"/>
                    <a:pt x="5181600" y="76203"/>
                  </a:cubicBezTo>
                  <a:lnTo>
                    <a:pt x="5181600" y="800097"/>
                  </a:lnTo>
                  <a:cubicBezTo>
                    <a:pt x="5181600" y="842183"/>
                    <a:pt x="5147483" y="876300"/>
                    <a:pt x="5105397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EF2F2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28568" y="1867103"/>
              <a:ext cx="38095" cy="876186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B2C3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799996" y="2019484"/>
              <a:ext cx="4942831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C10007"/>
                  </a:solidFill>
                  <a:latin typeface="+mn-ea"/>
                  <a:ea typeface="+mn-ea"/>
                  <a:cs typeface="Noto Sans SC" pitchFamily="34" charset="-120"/>
                </a:rPr>
                <a:t>过度优化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99995" y="2362339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模型可能找到RM的漏洞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628568" y="2857575"/>
              <a:ext cx="5180925" cy="1409516"/>
            </a:xfrm>
            <a:custGeom>
              <a:avLst/>
              <a:gdLst/>
              <a:ahLst/>
              <a:cxnLst/>
              <a:rect l="l" t="t" r="r" b="b"/>
              <a:pathLst>
                <a:path w="5181600" h="1409700">
                  <a:moveTo>
                    <a:pt x="38100" y="0"/>
                  </a:moveTo>
                  <a:lnTo>
                    <a:pt x="5105406" y="0"/>
                  </a:lnTo>
                  <a:cubicBezTo>
                    <a:pt x="5147458" y="0"/>
                    <a:pt x="5181600" y="34142"/>
                    <a:pt x="5181600" y="76194"/>
                  </a:cubicBezTo>
                  <a:lnTo>
                    <a:pt x="5181600" y="1333506"/>
                  </a:lnTo>
                  <a:cubicBezTo>
                    <a:pt x="5181600" y="1375587"/>
                    <a:pt x="5147487" y="1409700"/>
                    <a:pt x="5105406" y="1409700"/>
                  </a:cubicBezTo>
                  <a:lnTo>
                    <a:pt x="38100" y="1409700"/>
                  </a:lnTo>
                  <a:cubicBezTo>
                    <a:pt x="17072" y="1409700"/>
                    <a:pt x="0" y="1392628"/>
                    <a:pt x="0" y="13716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EF2F2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28568" y="2857575"/>
              <a:ext cx="38095" cy="1409516"/>
            </a:xfrm>
            <a:custGeom>
              <a:avLst/>
              <a:gdLst/>
              <a:ahLst/>
              <a:cxnLst/>
              <a:rect l="l" t="t" r="r" b="b"/>
              <a:pathLst>
                <a:path w="38100" h="1409700">
                  <a:moveTo>
                    <a:pt x="38100" y="0"/>
                  </a:moveTo>
                  <a:lnTo>
                    <a:pt x="38100" y="0"/>
                  </a:lnTo>
                  <a:lnTo>
                    <a:pt x="38100" y="1409700"/>
                  </a:lnTo>
                  <a:lnTo>
                    <a:pt x="38100" y="1409700"/>
                  </a:lnTo>
                  <a:cubicBezTo>
                    <a:pt x="17072" y="1409700"/>
                    <a:pt x="0" y="1392628"/>
                    <a:pt x="0" y="13716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B2C3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99996" y="3009955"/>
              <a:ext cx="4942831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C10007"/>
                  </a:solidFill>
                  <a:latin typeface="+mn-ea"/>
                  <a:ea typeface="+mn-ea"/>
                  <a:cs typeface="Noto Sans SC" pitchFamily="34" charset="-120"/>
                </a:rPr>
                <a:t>结果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799995" y="3352810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• 生成异常文本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99995" y="3619475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• 重复无意义内容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799995" y="3886141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• 失去语言能力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28568" y="4381376"/>
              <a:ext cx="5180925" cy="533331"/>
            </a:xfrm>
            <a:custGeom>
              <a:avLst/>
              <a:gdLst/>
              <a:ahLst/>
              <a:cxnLst/>
              <a:rect l="l" t="t" r="r" b="b"/>
              <a:pathLst>
                <a:path w="5181600" h="533400">
                  <a:moveTo>
                    <a:pt x="38100" y="0"/>
                  </a:moveTo>
                  <a:lnTo>
                    <a:pt x="5105398" y="0"/>
                  </a:lnTo>
                  <a:cubicBezTo>
                    <a:pt x="5147483" y="0"/>
                    <a:pt x="5181600" y="34117"/>
                    <a:pt x="5181600" y="76202"/>
                  </a:cubicBezTo>
                  <a:lnTo>
                    <a:pt x="5181600" y="457198"/>
                  </a:lnTo>
                  <a:cubicBezTo>
                    <a:pt x="5181600" y="499283"/>
                    <a:pt x="5147483" y="533400"/>
                    <a:pt x="5105398" y="533400"/>
                  </a:cubicBezTo>
                  <a:lnTo>
                    <a:pt x="38100" y="533400"/>
                  </a:lnTo>
                  <a:cubicBezTo>
                    <a:pt x="17072" y="533400"/>
                    <a:pt x="0" y="516328"/>
                    <a:pt x="0" y="495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EF2F2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28568" y="4381376"/>
              <a:ext cx="38095" cy="533331"/>
            </a:xfrm>
            <a:custGeom>
              <a:avLst/>
              <a:gdLst/>
              <a:ahLst/>
              <a:cxnLst/>
              <a:rect l="l" t="t" r="r" b="b"/>
              <a:pathLst>
                <a:path w="38100" h="533400">
                  <a:moveTo>
                    <a:pt x="38100" y="0"/>
                  </a:moveTo>
                  <a:lnTo>
                    <a:pt x="38100" y="0"/>
                  </a:lnTo>
                  <a:lnTo>
                    <a:pt x="38100" y="533400"/>
                  </a:lnTo>
                  <a:lnTo>
                    <a:pt x="38100" y="533400"/>
                  </a:lnTo>
                  <a:cubicBezTo>
                    <a:pt x="17072" y="533400"/>
                    <a:pt x="0" y="516328"/>
                    <a:pt x="0" y="495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B2C36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799995" y="4533756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C10007"/>
                  </a:solidFill>
                  <a:latin typeface="+mn-ea"/>
                  <a:ea typeface="+mn-ea"/>
                  <a:cs typeface="Noto Sans SC" pitchFamily="34" charset="-120"/>
                </a:rPr>
                <a:t>模式崩溃：为获得高奖励而牺牲质量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442824" y="1486153"/>
              <a:ext cx="190475" cy="190475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6657109" y="1448058"/>
              <a:ext cx="5057116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有约束的好处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438062" y="1867103"/>
              <a:ext cx="5180925" cy="876186"/>
            </a:xfrm>
            <a:custGeom>
              <a:avLst/>
              <a:gdLst/>
              <a:ahLst/>
              <a:cxnLst/>
              <a:rect l="l" t="t" r="r" b="b"/>
              <a:pathLst>
                <a:path w="5181600" h="876300">
                  <a:moveTo>
                    <a:pt x="38100" y="0"/>
                  </a:moveTo>
                  <a:lnTo>
                    <a:pt x="5105397" y="0"/>
                  </a:lnTo>
                  <a:cubicBezTo>
                    <a:pt x="5147483" y="0"/>
                    <a:pt x="5181600" y="34117"/>
                    <a:pt x="5181600" y="76203"/>
                  </a:cubicBezTo>
                  <a:lnTo>
                    <a:pt x="5181600" y="800097"/>
                  </a:lnTo>
                  <a:cubicBezTo>
                    <a:pt x="5181600" y="842183"/>
                    <a:pt x="5147483" y="876300"/>
                    <a:pt x="5105397" y="876300"/>
                  </a:cubicBez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6438061" y="1867103"/>
              <a:ext cx="38095" cy="876186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0"/>
                  </a:moveTo>
                  <a:lnTo>
                    <a:pt x="38100" y="0"/>
                  </a:lnTo>
                  <a:lnTo>
                    <a:pt x="38100" y="876300"/>
                  </a:lnTo>
                  <a:lnTo>
                    <a:pt x="38100" y="876300"/>
                  </a:lnTo>
                  <a:cubicBezTo>
                    <a:pt x="17072" y="876300"/>
                    <a:pt x="0" y="859228"/>
                    <a:pt x="0" y="8382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609490" y="2019484"/>
              <a:ext cx="4942831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保持相似性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609489" y="2362339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与SFT模型保持相似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6438062" y="2857575"/>
              <a:ext cx="5180925" cy="1142851"/>
            </a:xfrm>
            <a:custGeom>
              <a:avLst/>
              <a:gdLst/>
              <a:ahLst/>
              <a:cxnLst/>
              <a:rect l="l" t="t" r="r" b="b"/>
              <a:pathLst>
                <a:path w="5181600" h="1143000">
                  <a:moveTo>
                    <a:pt x="38100" y="0"/>
                  </a:moveTo>
                  <a:lnTo>
                    <a:pt x="5105396" y="0"/>
                  </a:lnTo>
                  <a:cubicBezTo>
                    <a:pt x="5147482" y="0"/>
                    <a:pt x="5181600" y="34118"/>
                    <a:pt x="5181600" y="76204"/>
                  </a:cubicBezTo>
                  <a:lnTo>
                    <a:pt x="5181600" y="1066796"/>
                  </a:lnTo>
                  <a:cubicBezTo>
                    <a:pt x="5181600" y="1108882"/>
                    <a:pt x="5147482" y="1143000"/>
                    <a:pt x="5105396" y="1143000"/>
                  </a:cubicBezTo>
                  <a:lnTo>
                    <a:pt x="38100" y="1143000"/>
                  </a:lnTo>
                  <a:cubicBezTo>
                    <a:pt x="17072" y="1143000"/>
                    <a:pt x="0" y="1125928"/>
                    <a:pt x="0" y="11049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6438061" y="2857575"/>
              <a:ext cx="38095" cy="1142851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100" y="0"/>
                  </a:moveTo>
                  <a:lnTo>
                    <a:pt x="38100" y="0"/>
                  </a:lnTo>
                  <a:lnTo>
                    <a:pt x="38100" y="1143000"/>
                  </a:lnTo>
                  <a:lnTo>
                    <a:pt x="38100" y="1143000"/>
                  </a:lnTo>
                  <a:cubicBezTo>
                    <a:pt x="17072" y="1143000"/>
                    <a:pt x="0" y="1125928"/>
                    <a:pt x="0" y="11049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6609490" y="3009955"/>
              <a:ext cx="4942831" cy="266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平衡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609489" y="3352810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• 奖励提升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6609489" y="3619475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1E293B"/>
                  </a:solidFill>
                  <a:latin typeface="+mn-ea"/>
                  <a:ea typeface="+mn-ea"/>
                  <a:cs typeface="Noto Sans SC" pitchFamily="34" charset="-120"/>
                </a:rPr>
                <a:t>• 语言质量保持</a:t>
              </a:r>
              <a:endParaRPr lang="en-US" sz="2000" dirty="0">
                <a:latin typeface="+mn-ea"/>
                <a:ea typeface="+mn-ea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6438062" y="4114710"/>
              <a:ext cx="5180925" cy="533331"/>
            </a:xfrm>
            <a:custGeom>
              <a:avLst/>
              <a:gdLst/>
              <a:ahLst/>
              <a:cxnLst/>
              <a:rect l="l" t="t" r="r" b="b"/>
              <a:pathLst>
                <a:path w="5181600" h="533400">
                  <a:moveTo>
                    <a:pt x="38100" y="0"/>
                  </a:moveTo>
                  <a:lnTo>
                    <a:pt x="5105398" y="0"/>
                  </a:lnTo>
                  <a:cubicBezTo>
                    <a:pt x="5147483" y="0"/>
                    <a:pt x="5181600" y="34117"/>
                    <a:pt x="5181600" y="76202"/>
                  </a:cubicBezTo>
                  <a:lnTo>
                    <a:pt x="5181600" y="457198"/>
                  </a:lnTo>
                  <a:cubicBezTo>
                    <a:pt x="5181600" y="499283"/>
                    <a:pt x="5147483" y="533400"/>
                    <a:pt x="5105398" y="533400"/>
                  </a:cubicBezTo>
                  <a:lnTo>
                    <a:pt x="38100" y="533400"/>
                  </a:lnTo>
                  <a:cubicBezTo>
                    <a:pt x="17072" y="533400"/>
                    <a:pt x="0" y="516328"/>
                    <a:pt x="0" y="495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0FDF4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6438061" y="4114710"/>
              <a:ext cx="38095" cy="533331"/>
            </a:xfrm>
            <a:custGeom>
              <a:avLst/>
              <a:gdLst/>
              <a:ahLst/>
              <a:cxnLst/>
              <a:rect l="l" t="t" r="r" b="b"/>
              <a:pathLst>
                <a:path w="38100" h="533400">
                  <a:moveTo>
                    <a:pt x="38100" y="0"/>
                  </a:moveTo>
                  <a:lnTo>
                    <a:pt x="38100" y="0"/>
                  </a:lnTo>
                  <a:lnTo>
                    <a:pt x="38100" y="533400"/>
                  </a:lnTo>
                  <a:lnTo>
                    <a:pt x="38100" y="533400"/>
                  </a:lnTo>
                  <a:cubicBezTo>
                    <a:pt x="17072" y="533400"/>
                    <a:pt x="0" y="516328"/>
                    <a:pt x="0" y="495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00C950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6609489" y="4267091"/>
              <a:ext cx="4933308" cy="228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000" dirty="0">
                  <a:solidFill>
                    <a:srgbClr val="008236"/>
                  </a:solidFill>
                  <a:latin typeface="+mn-ea"/>
                  <a:ea typeface="+mn-ea"/>
                  <a:cs typeface="Noto Sans SC" pitchFamily="34" charset="-120"/>
                </a:rPr>
                <a:t>可控优化：渐进式改进</a:t>
              </a:r>
              <a:endParaRPr lang="en-US" sz="20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3876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63938"/>
            <a:ext cx="10907880" cy="533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语言模块三大范式对比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6983" y="889331"/>
            <a:ext cx="5714256" cy="2730144"/>
          </a:xfrm>
          <a:prstGeom prst="roundRect">
            <a:avLst>
              <a:gd name="adj" fmla="val 46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6983" y="889331"/>
            <a:ext cx="76190" cy="2730144"/>
          </a:xfrm>
          <a:prstGeom prst="roundRect">
            <a:avLst>
              <a:gd name="adj" fmla="val 0"/>
            </a:avLst>
          </a:pr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80950" y="1079806"/>
            <a:ext cx="5079339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>
                <a:solidFill>
                  <a:srgbClr val="3498DB"/>
                </a:solidFill>
                <a:latin typeface="微软雅黑"/>
                <a:ea typeface="微软雅黑"/>
                <a:cs typeface="微软雅黑"/>
                <a:sym typeface="微软雅黑"/>
              </a:rPr>
              <a:t>Encoder-Only (BERT) · 理解专家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50" y="1651231"/>
            <a:ext cx="5206322" cy="7619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语义理解精准，训练与推理成本相对较低。</a:t>
            </a:r>
            <a:b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劣势：</a:t>
            </a: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原生架构不支持文本生成，长文本处理受限。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0950" y="2603608"/>
            <a:ext cx="5206322" cy="888884"/>
          </a:xfrm>
          <a:prstGeom prst="roundRect">
            <a:avLst>
              <a:gd name="adj" fmla="val 7142"/>
            </a:avLst>
          </a:prstGeom>
          <a:solidFill>
            <a:srgbClr val="3498D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07934" y="2730591"/>
            <a:ext cx="4952355" cy="6349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200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多模态任务：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图文检索、图像分类、基础VQA</a:t>
            </a:r>
            <a:br>
              <a:rPr lang="en-US"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代表模型：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ALBEF, FLAVA, BLIP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6983" y="3809951"/>
            <a:ext cx="5714256" cy="2730144"/>
          </a:xfrm>
          <a:prstGeom prst="roundRect">
            <a:avLst>
              <a:gd name="adj" fmla="val 46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6983" y="3809951"/>
            <a:ext cx="76190" cy="2730144"/>
          </a:xfrm>
          <a:prstGeom prst="roundRect">
            <a:avLst>
              <a:gd name="adj" fmla="val 0"/>
            </a:avLst>
          </a:prstGeom>
          <a:solidFill>
            <a:srgbClr val="E74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80950" y="4000426"/>
            <a:ext cx="5079339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Encoder-Decoder (T5) · 全能选手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0950" y="4571851"/>
            <a:ext cx="5206322" cy="7619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兼顾“理解”与“生成”，任务适应性极强。</a:t>
            </a:r>
            <a:b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劣势：</a:t>
            </a: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训练复杂度高，参数量大，部署门槛高。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0950" y="5460736"/>
            <a:ext cx="5206322" cy="888884"/>
          </a:xfrm>
          <a:prstGeom prst="roundRect">
            <a:avLst>
              <a:gd name="adj" fmla="val 7142"/>
            </a:avLst>
          </a:prstGeom>
          <a:solidFill>
            <a:srgbClr val="E74C3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07934" y="5587719"/>
            <a:ext cx="4952355" cy="6349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200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多模态任务：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图像描述、可控内容生成、翻译</a:t>
            </a:r>
            <a:br>
              <a:rPr lang="en-US"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代表模型：</a:t>
            </a:r>
            <a:r>
              <a:rPr lang="en-US" sz="12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BLIP-2, InstructBLIP, Flamingo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2189" y="889331"/>
            <a:ext cx="5714256" cy="5650764"/>
          </a:xfrm>
          <a:prstGeom prst="roundRect">
            <a:avLst>
              <a:gd name="adj" fmla="val 22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2190" y="889331"/>
            <a:ext cx="76190" cy="5650764"/>
          </a:xfrm>
          <a:prstGeom prst="roundRect">
            <a:avLst>
              <a:gd name="adj" fmla="val 0"/>
            </a:avLst>
          </a:prstGeom>
          <a:solidFill>
            <a:srgbClr val="2ECC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6156" y="1143298"/>
            <a:ext cx="5079339" cy="50793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200">
                <a:solidFill>
                  <a:srgbClr val="2ECC71"/>
                </a:solidFill>
                <a:latin typeface="微软雅黑"/>
                <a:ea typeface="微软雅黑"/>
                <a:cs typeface="微软雅黑"/>
                <a:sym typeface="微软雅黑"/>
              </a:rPr>
              <a:t>Decoder-Only (GPT) · 生成王者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6156" y="1905198"/>
            <a:ext cx="5206322" cy="1650785"/>
          </a:xfrm>
          <a:prstGeom prst="roundRect">
            <a:avLst>
              <a:gd name="adj" fmla="val 7692"/>
            </a:avLst>
          </a:prstGeom>
          <a:solidFill>
            <a:srgbClr val="2ECC7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66631" y="2095673"/>
            <a:ext cx="4825372" cy="1269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>
                <a:solidFill>
                  <a:srgbClr val="27AE60"/>
                </a:solidFill>
                <a:latin typeface="Noto Sans SC"/>
                <a:ea typeface="Noto Sans SC"/>
                <a:cs typeface="Noto Sans SC"/>
                <a:sym typeface="Noto Sans SC"/>
              </a:rPr>
              <a:t>✨ 核心优势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生成流畅自然，具备强大的“涌现能力”；擅长开放式对话与逻辑推理，是当前LLM的主流架构。</a:t>
            </a:r>
            <a:endParaRPr lang="en-US" sz="1100"/>
          </a:p>
          <a:p>
            <a:pPr>
              <a:lnSpc>
                <a:spcPct val="125000"/>
              </a:lnSpc>
            </a:pPr>
            <a:r>
              <a:rPr lang="en-US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局限性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仅单向关注上文，对双向语义的深层理解不如Encoder类模型；容易产生“幻觉”。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476156" y="3809951"/>
            <a:ext cx="5206322" cy="2285702"/>
          </a:xfrm>
          <a:prstGeom prst="roundRect">
            <a:avLst>
              <a:gd name="adj" fmla="val 5555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66631" y="4063918"/>
            <a:ext cx="4825372" cy="17777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33333"/>
              </a:lnSpc>
              <a:defRPr/>
            </a:pPr>
            <a:r>
              <a:rPr lang="en-US" sz="1500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🎯 多模态核心场景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开放式多轮对话 (Chat)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复杂逻辑推理与数学计算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结合视觉的通用问答 (VQA)</a:t>
            </a:r>
            <a:endParaRPr lang="en-US" sz="1100"/>
          </a:p>
          <a:p>
            <a:pPr>
              <a:lnSpc>
                <a:spcPct val="133333"/>
              </a:lnSpc>
              <a:spcBef>
                <a:spcPts val="1000"/>
              </a:spcBef>
            </a:pPr>
            <a:r>
              <a:rPr lang="en-US" sz="1500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🚀 行业标杆代表</a:t>
            </a:r>
            <a:br>
              <a:rPr lang="en-US" sz="1600" b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LLaVA, GPT-4V (Vision), Gemini, Claude 3</a:t>
            </a:r>
          </a:p>
        </p:txBody>
      </p:sp>
      <p:sp>
        <p:nvSpPr>
          <p:cNvPr id="23" name="AutoShape 23"/>
          <p:cNvSpPr/>
          <p:nvPr/>
        </p:nvSpPr>
        <p:spPr>
          <a:xfrm>
            <a:off x="9396776" y="6222636"/>
            <a:ext cx="2539669" cy="2539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r">
              <a:lnSpc>
                <a:spcPct val="125000"/>
              </a:lnSpc>
              <a:defRPr/>
            </a:pPr>
            <a:r>
              <a:rPr lang="en-US" sz="1200" b="0">
                <a:solidFill>
                  <a:srgbClr val="969696"/>
                </a:solidFill>
                <a:latin typeface="Arial"/>
                <a:ea typeface="Arial"/>
                <a:cs typeface="Arial"/>
                <a:sym typeface="Arial"/>
              </a:rPr>
              <a:t>AI 架构演进 | 2026</a:t>
            </a:r>
            <a:endParaRPr lang="en-US"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1E09B-8055-B164-87C7-804C95E3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7E3910D-8456-CA47-5D05-A88A2A2B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8C4CC94-73CA-DBBE-2D67-D5A8FD7DBB2E}"/>
              </a:ext>
            </a:extLst>
          </p:cNvPr>
          <p:cNvSpPr/>
          <p:nvPr/>
        </p:nvSpPr>
        <p:spPr>
          <a:xfrm>
            <a:off x="4799062" y="1052736"/>
            <a:ext cx="2304256" cy="392443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040716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447"/>
            <a:ext cx="10907880" cy="711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ctr" anchorCtr="0"/>
          <a:lstStyle/>
          <a:p>
            <a:pPr>
              <a:defRPr/>
            </a:pPr>
            <a:r>
              <a:rPr lang="en-US"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跨模态衔接的两条路线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6983" y="876633"/>
            <a:ext cx="5790446" cy="273014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6983" y="876633"/>
            <a:ext cx="38095" cy="2730144"/>
          </a:xfrm>
          <a:prstGeom prst="roundRect">
            <a:avLst>
              <a:gd name="adj" fmla="val 0"/>
            </a:avLst>
          </a:pr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80950" y="1105202"/>
            <a:ext cx="558727" cy="533331"/>
          </a:xfrm>
          <a:prstGeom prst="roundRect">
            <a:avLst>
              <a:gd name="adj" fmla="val 0"/>
            </a:avLst>
          </a:pr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30157" y="1105202"/>
            <a:ext cx="660314" cy="533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53962" y="1181393"/>
            <a:ext cx="457140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MLP 投影层 (轻量高效)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80950" y="1778215"/>
            <a:ext cx="5295210" cy="6984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400">
                <a:solidFill>
                  <a:srgbClr val="3498DB"/>
                </a:solidFill>
                <a:latin typeface="MiSans"/>
                <a:ea typeface="MiSans"/>
                <a:cs typeface="MiSans"/>
                <a:sym typeface="MiSans"/>
              </a:rPr>
              <a:t>核心思想：</a:t>
            </a:r>
            <a:r>
              <a:rPr lang="en-US" sz="1300" b="0">
                <a:solidFill>
                  <a:srgbClr val="374151"/>
                </a:solidFill>
                <a:latin typeface="MiSans"/>
                <a:ea typeface="MiSans"/>
                <a:cs typeface="MiSans"/>
                <a:sym typeface="MiSans"/>
              </a:rPr>
              <a:t>使用简单的多层感知机（MLP），将视觉特征直接线性映射到语言模型的嵌入空间。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0950" y="2540116"/>
            <a:ext cx="5295210" cy="1079359"/>
          </a:xfrm>
          <a:prstGeom prst="roundRect">
            <a:avLst>
              <a:gd name="adj" fmla="val 0"/>
            </a:avLst>
          </a:prstGeom>
          <a:solidFill>
            <a:srgbClr val="3498D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7933" y="2603607"/>
            <a:ext cx="5041244" cy="9523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300">
                <a:solidFill>
                  <a:srgbClr val="2C3E50"/>
                </a:solidFill>
                <a:latin typeface="MiSans"/>
                <a:ea typeface="MiSans"/>
                <a:cs typeface="MiSans"/>
                <a:sym typeface="MiSans"/>
              </a:rPr>
              <a:t>代表模型：</a:t>
            </a:r>
            <a:r>
              <a:rPr lang="en-US" sz="1300" b="0">
                <a:solidFill>
                  <a:srgbClr val="374151"/>
                </a:solidFill>
                <a:latin typeface="MiSans"/>
                <a:ea typeface="MiSans"/>
                <a:cs typeface="MiSans"/>
                <a:sym typeface="MiSans"/>
              </a:rPr>
              <a:t>LLaVA, MiniGPT-4, Qwen-VL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>
                <a:solidFill>
                  <a:srgbClr val="2C3E50"/>
                </a:solidFill>
                <a:latin typeface="MiSans"/>
                <a:ea typeface="MiSans"/>
                <a:cs typeface="MiSans"/>
                <a:sym typeface="MiSans"/>
              </a:rPr>
              <a:t>特点：</a:t>
            </a:r>
            <a:r>
              <a:rPr lang="en-US" sz="1300" b="0">
                <a:solidFill>
                  <a:srgbClr val="374151"/>
                </a:solidFill>
                <a:latin typeface="MiSans"/>
                <a:ea typeface="MiSans"/>
                <a:cs typeface="MiSans"/>
                <a:sym typeface="MiSans"/>
              </a:rPr>
              <a:t>结构简单，训练速度快，推理延迟低，适合对性能要求高的场景。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26983" y="3784554"/>
            <a:ext cx="5790446" cy="273014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6983" y="3784554"/>
            <a:ext cx="38095" cy="2730144"/>
          </a:xfrm>
          <a:prstGeom prst="roundRect">
            <a:avLst>
              <a:gd name="adj" fmla="val 0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80950" y="4013124"/>
            <a:ext cx="558727" cy="533331"/>
          </a:xfrm>
          <a:prstGeom prst="roundRect">
            <a:avLst>
              <a:gd name="adj" fmla="val 0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30157" y="4013124"/>
            <a:ext cx="660314" cy="5333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53962" y="4089314"/>
            <a:ext cx="4571405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Transformer 对齐模块 (精细对齐)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0950" y="4698835"/>
            <a:ext cx="5295210" cy="6984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400">
                <a:solidFill>
                  <a:srgbClr val="2C3E50"/>
                </a:solidFill>
                <a:latin typeface="MiSans"/>
                <a:ea typeface="MiSans"/>
                <a:cs typeface="MiSans"/>
                <a:sym typeface="MiSans"/>
              </a:rPr>
              <a:t>核心思想：</a:t>
            </a:r>
            <a:r>
              <a:rPr lang="en-US" sz="1300" b="0">
                <a:solidFill>
                  <a:srgbClr val="374151"/>
                </a:solidFill>
                <a:latin typeface="MiSans"/>
                <a:ea typeface="MiSans"/>
                <a:cs typeface="MiSans"/>
                <a:sym typeface="MiSans"/>
              </a:rPr>
              <a:t>引入小型 Transformer（如 Q-Former），显式学习视觉与语言特征之间的细粒度对齐关系。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80950" y="5460736"/>
            <a:ext cx="5295210" cy="1079359"/>
          </a:xfrm>
          <a:prstGeom prst="roundRect">
            <a:avLst>
              <a:gd name="adj" fmla="val 0"/>
            </a:avLst>
          </a:prstGeom>
          <a:solidFill>
            <a:srgbClr val="2C3E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07933" y="5524227"/>
            <a:ext cx="5041244" cy="9523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300">
                <a:solidFill>
                  <a:srgbClr val="2C3E50"/>
                </a:solidFill>
                <a:latin typeface="MiSans"/>
                <a:ea typeface="MiSans"/>
                <a:cs typeface="MiSans"/>
                <a:sym typeface="MiSans"/>
              </a:rPr>
              <a:t>代表模型：</a:t>
            </a:r>
            <a:r>
              <a:rPr lang="en-US" sz="1300" b="0">
                <a:solidFill>
                  <a:srgbClr val="374151"/>
                </a:solidFill>
                <a:latin typeface="MiSans"/>
                <a:ea typeface="MiSans"/>
                <a:cs typeface="MiSans"/>
                <a:sym typeface="MiSans"/>
              </a:rPr>
              <a:t>InstructBLIP (Q-Former), BLIP-2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>
                <a:solidFill>
                  <a:srgbClr val="2C3E50"/>
                </a:solidFill>
                <a:latin typeface="MiSans"/>
                <a:ea typeface="MiSans"/>
                <a:cs typeface="MiSans"/>
                <a:sym typeface="MiSans"/>
              </a:rPr>
              <a:t>特点：</a:t>
            </a:r>
            <a:r>
              <a:rPr lang="en-US" sz="1300" b="0">
                <a:solidFill>
                  <a:srgbClr val="374151"/>
                </a:solidFill>
                <a:latin typeface="MiSans"/>
                <a:ea typeface="MiSans"/>
                <a:cs typeface="MiSans"/>
                <a:sym typeface="MiSans"/>
              </a:rPr>
              <a:t>模态对齐精度更高，能捕捉深层语义关联，但计算与结构相对复杂。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34888" y="876632"/>
            <a:ext cx="5828541" cy="5650764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25363" y="1105203"/>
            <a:ext cx="5447591" cy="50793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200">
                <a:solidFill>
                  <a:srgbClr val="004A82"/>
                </a:solidFill>
                <a:latin typeface="微软雅黑"/>
                <a:ea typeface="微软雅黑"/>
                <a:cs typeface="微软雅黑"/>
                <a:sym typeface="微软雅黑"/>
              </a:rPr>
              <a:t>方案选型与核心差异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25363" y="1905198"/>
            <a:ext cx="5422194" cy="1396818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50800" dir="81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603140" y="2032182"/>
            <a:ext cx="5079339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1600">
                <a:solidFill>
                  <a:srgbClr val="3498DB"/>
                </a:solidFill>
                <a:latin typeface="MiSans"/>
                <a:ea typeface="MiSans"/>
                <a:cs typeface="MiSans"/>
                <a:sym typeface="MiSans"/>
              </a:rPr>
              <a:t>⚡️ 轻量级与敏捷性 (MLP)</a:t>
            </a:r>
            <a:endParaRPr lang="en-US" sz="1100"/>
          </a:p>
          <a:p>
            <a:pPr>
              <a:lnSpc>
                <a:spcPct val="116666"/>
              </a:lnSpc>
            </a:pPr>
            <a:r>
              <a:rPr lang="en-US" sz="1300" b="0">
                <a:solidFill>
                  <a:srgbClr val="4B5563"/>
                </a:solidFill>
                <a:latin typeface="MiSans"/>
                <a:ea typeface="MiSans"/>
                <a:cs typeface="MiSans"/>
                <a:sym typeface="MiSans"/>
              </a:rPr>
              <a:t>优势在于极低的接入成本，能够快速将视觉编码器“翻译”给语言模型。非常适合对推理速度敏感，且视觉场景相对标准的通用问答任务。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425363" y="3555984"/>
            <a:ext cx="5422194" cy="1396818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50800" dir="81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03140" y="3682967"/>
            <a:ext cx="5079339" cy="11428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1600">
                <a:solidFill>
                  <a:srgbClr val="EA580C"/>
                </a:solidFill>
                <a:latin typeface="MiSans"/>
                <a:ea typeface="MiSans"/>
                <a:cs typeface="MiSans"/>
                <a:sym typeface="MiSans"/>
              </a:rPr>
              <a:t>🎯 细粒度与准确性 (Transformer)</a:t>
            </a:r>
            <a:endParaRPr lang="en-US" sz="1100"/>
          </a:p>
          <a:p>
            <a:pPr>
              <a:lnSpc>
                <a:spcPct val="116666"/>
              </a:lnSpc>
            </a:pPr>
            <a:r>
              <a:rPr lang="en-US" sz="1300" b="0">
                <a:solidFill>
                  <a:srgbClr val="4B5563"/>
                </a:solidFill>
                <a:latin typeface="MiSans"/>
                <a:ea typeface="MiSans"/>
                <a:cs typeface="MiSans"/>
                <a:sym typeface="MiSans"/>
              </a:rPr>
              <a:t>通过Transformer的注意力机制实现了对图像区域和文本单词的精准匹配。在处理复杂推理、密集标注或对语义理解要求极高的任务上表现更佳。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25363" y="5206769"/>
            <a:ext cx="5422194" cy="1079359"/>
          </a:xfrm>
          <a:prstGeom prst="roundRect">
            <a:avLst>
              <a:gd name="adj" fmla="val 9411"/>
            </a:avLst>
          </a:prstGeom>
          <a:solidFill>
            <a:srgbClr val="004A82">
              <a:alpha val="8000"/>
            </a:srgbClr>
          </a:solidFill>
          <a:ln w="12700" cap="flat" cmpd="sng">
            <a:solidFill>
              <a:srgbClr val="004A82">
                <a:alpha val="2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03140" y="5333752"/>
            <a:ext cx="5079339" cy="825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sz="1400">
                <a:solidFill>
                  <a:srgbClr val="004A82"/>
                </a:solidFill>
                <a:latin typeface="MiSans"/>
                <a:ea typeface="MiSans"/>
                <a:cs typeface="MiSans"/>
                <a:sym typeface="MiSans"/>
              </a:rPr>
              <a:t>💡 总结：没有绝对的优劣，只有场景的匹配</a:t>
            </a:r>
            <a:endParaRPr lang="en-US" sz="1100"/>
          </a:p>
          <a:p>
            <a:pPr algn="ctr">
              <a:lnSpc>
                <a:spcPct val="116666"/>
              </a:lnSpc>
            </a:pPr>
            <a:r>
              <a:rPr lang="en-US" sz="1200" b="0">
                <a:solidFill>
                  <a:srgbClr val="374151"/>
                </a:solidFill>
                <a:latin typeface="MiSans"/>
                <a:ea typeface="MiSans"/>
                <a:cs typeface="MiSans"/>
                <a:sym typeface="MiSans"/>
              </a:rPr>
              <a:t>在资源受限的场景下优先选择MLP；在追求极致理解精度的场景下，Transformer对齐模块是更好的选择。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9396776" y="6438508"/>
            <a:ext cx="2742843" cy="3682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ctr" anchorCtr="0"/>
          <a:lstStyle/>
          <a:p>
            <a:pPr algn="r">
              <a:lnSpc>
                <a:spcPct val="125000"/>
              </a:lnSpc>
              <a:defRPr/>
            </a:pPr>
            <a:r>
              <a:rPr lang="en-US" sz="1200" b="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9082"/>
            <a:ext cx="10907880" cy="711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t" anchorCtr="0"/>
          <a:lstStyle/>
          <a:p>
            <a:pPr>
              <a:defRPr/>
            </a:pPr>
            <a:r>
              <a:rPr lang="en-US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MLP投影：轻量高效的跨模态映射 (LLaVA方案)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95037" y="4766912"/>
            <a:ext cx="3123905" cy="1872000"/>
          </a:xfrm>
          <a:custGeom>
            <a:avLst/>
            <a:gdLst/>
            <a:ahLst/>
            <a:cxnLst/>
            <a:rect l="l" t="t" r="r" b="b"/>
            <a:pathLst>
              <a:path w="6425493" h="1371600">
                <a:moveTo>
                  <a:pt x="44238" y="0"/>
                </a:moveTo>
                <a:lnTo>
                  <a:pt x="6292786" y="0"/>
                </a:lnTo>
                <a:cubicBezTo>
                  <a:pt x="6366029" y="0"/>
                  <a:pt x="6425493" y="51214"/>
                  <a:pt x="6425493" y="114295"/>
                </a:cubicBezTo>
                <a:lnTo>
                  <a:pt x="6425493" y="1257305"/>
                </a:lnTo>
                <a:cubicBezTo>
                  <a:pt x="6425493" y="1320386"/>
                  <a:pt x="6366029" y="1371600"/>
                  <a:pt x="6292786" y="1371600"/>
                </a:cubicBezTo>
                <a:lnTo>
                  <a:pt x="44238" y="1371600"/>
                </a:lnTo>
                <a:cubicBezTo>
                  <a:pt x="19822" y="1371600"/>
                  <a:pt x="0" y="1354527"/>
                  <a:pt x="0" y="1333500"/>
                </a:cubicBezTo>
                <a:lnTo>
                  <a:pt x="0" y="38100"/>
                </a:lnTo>
                <a:cubicBezTo>
                  <a:pt x="0" y="17073"/>
                  <a:pt x="19822" y="0"/>
                  <a:pt x="4423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95036" y="4766911"/>
            <a:ext cx="45719" cy="1872000"/>
          </a:xfrm>
          <a:custGeom>
            <a:avLst/>
            <a:gdLst/>
            <a:ahLst/>
            <a:cxnLst/>
            <a:rect l="l" t="t" r="r" b="b"/>
            <a:pathLst>
              <a:path w="44237" h="1371600">
                <a:moveTo>
                  <a:pt x="44237" y="0"/>
                </a:moveTo>
                <a:lnTo>
                  <a:pt x="44237" y="0"/>
                </a:lnTo>
                <a:lnTo>
                  <a:pt x="44237" y="1371600"/>
                </a:lnTo>
                <a:lnTo>
                  <a:pt x="44237" y="1371600"/>
                </a:lnTo>
                <a:cubicBezTo>
                  <a:pt x="19822" y="1371600"/>
                  <a:pt x="0" y="1354527"/>
                  <a:pt x="0" y="1333500"/>
                </a:cubicBezTo>
                <a:lnTo>
                  <a:pt x="0" y="38100"/>
                </a:lnTo>
                <a:cubicBezTo>
                  <a:pt x="0" y="17073"/>
                  <a:pt x="19822" y="0"/>
                  <a:pt x="44237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4606" y="4843102"/>
            <a:ext cx="2606961" cy="33015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8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▌ </a:t>
            </a:r>
            <a:r>
              <a:rPr lang="en-US" sz="180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核心结构设计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30610" y="5239564"/>
            <a:ext cx="2988332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由</a:t>
            </a:r>
            <a:r>
              <a:rPr lang="en-US" sz="1300" dirty="0">
                <a:solidFill>
                  <a:srgbClr val="3498DB"/>
                </a:solidFill>
                <a:latin typeface="Noto Sans SC"/>
                <a:ea typeface="Noto Sans SC"/>
                <a:cs typeface="Noto Sans SC"/>
                <a:sym typeface="Noto Sans SC"/>
              </a:rPr>
              <a:t>2层线性层 + </a:t>
            </a:r>
            <a:r>
              <a:rPr lang="en-US" sz="1300" dirty="0" err="1">
                <a:solidFill>
                  <a:srgbClr val="3498DB"/>
                </a:solidFill>
                <a:latin typeface="Noto Sans SC"/>
                <a:ea typeface="Noto Sans SC"/>
                <a:cs typeface="Noto Sans SC"/>
                <a:sym typeface="Noto Sans SC"/>
              </a:rPr>
              <a:t>GELU激活函数</a:t>
            </a:r>
            <a:r>
              <a:rPr lang="en-US" sz="13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组成。输入为ViT提取的Patch特征（如</a:t>
            </a:r>
            <a:r>
              <a:rPr lang="en-US" sz="13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[batch, 576, 1024]），</a:t>
            </a:r>
            <a:r>
              <a:rPr lang="en-US" sz="13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输出为与LLM隐层维度对齐的向量（如</a:t>
            </a:r>
            <a:r>
              <a:rPr lang="en-US" sz="13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[batch, 576, 4096]）。</a:t>
            </a:r>
            <a:endParaRPr lang="en-US" sz="1100" dirty="0"/>
          </a:p>
        </p:txBody>
      </p:sp>
      <p:sp>
        <p:nvSpPr>
          <p:cNvPr id="8" name="Freeform 8"/>
          <p:cNvSpPr/>
          <p:nvPr/>
        </p:nvSpPr>
        <p:spPr>
          <a:xfrm>
            <a:off x="4691050" y="4766911"/>
            <a:ext cx="3139967" cy="1890509"/>
          </a:xfrm>
          <a:custGeom>
            <a:avLst/>
            <a:gdLst/>
            <a:ahLst/>
            <a:cxnLst/>
            <a:rect l="l" t="t" r="r" b="b"/>
            <a:pathLst>
              <a:path w="6425493" h="2286000">
                <a:moveTo>
                  <a:pt x="44238" y="0"/>
                </a:moveTo>
                <a:lnTo>
                  <a:pt x="6292780" y="0"/>
                </a:lnTo>
                <a:cubicBezTo>
                  <a:pt x="6366026" y="0"/>
                  <a:pt x="6425493" y="51217"/>
                  <a:pt x="6425493" y="114300"/>
                </a:cubicBezTo>
                <a:lnTo>
                  <a:pt x="6425493" y="2171700"/>
                </a:lnTo>
                <a:cubicBezTo>
                  <a:pt x="6425493" y="2234783"/>
                  <a:pt x="6366026" y="2286000"/>
                  <a:pt x="6292780" y="2286000"/>
                </a:cubicBezTo>
                <a:lnTo>
                  <a:pt x="44238" y="2286000"/>
                </a:lnTo>
                <a:cubicBezTo>
                  <a:pt x="19822" y="2286000"/>
                  <a:pt x="0" y="2268927"/>
                  <a:pt x="0" y="2247900"/>
                </a:cubicBezTo>
                <a:lnTo>
                  <a:pt x="0" y="38100"/>
                </a:lnTo>
                <a:cubicBezTo>
                  <a:pt x="0" y="17073"/>
                  <a:pt x="19822" y="0"/>
                  <a:pt x="4423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bl" rotWithShape="0">
              <a:srgbClr val="000000">
                <a:alpha val="102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4707111" y="4779290"/>
            <a:ext cx="45719" cy="1872000"/>
          </a:xfrm>
          <a:custGeom>
            <a:avLst/>
            <a:gdLst/>
            <a:ahLst/>
            <a:cxnLst/>
            <a:rect l="l" t="t" r="r" b="b"/>
            <a:pathLst>
              <a:path w="44237" h="2286000">
                <a:moveTo>
                  <a:pt x="44237" y="0"/>
                </a:moveTo>
                <a:lnTo>
                  <a:pt x="44237" y="0"/>
                </a:lnTo>
                <a:lnTo>
                  <a:pt x="44237" y="2286000"/>
                </a:lnTo>
                <a:lnTo>
                  <a:pt x="44237" y="2286000"/>
                </a:lnTo>
                <a:cubicBezTo>
                  <a:pt x="19822" y="2286000"/>
                  <a:pt x="0" y="2268927"/>
                  <a:pt x="0" y="2247900"/>
                </a:cubicBezTo>
                <a:lnTo>
                  <a:pt x="0" y="38100"/>
                </a:lnTo>
                <a:cubicBezTo>
                  <a:pt x="0" y="17073"/>
                  <a:pt x="19822" y="0"/>
                  <a:pt x="44237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806681" y="4842477"/>
            <a:ext cx="2359240" cy="33015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8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▌ 端到端工作流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70677" y="5172634"/>
            <a:ext cx="2977951" cy="139681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00" b="0" dirty="0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①</a:t>
            </a:r>
            <a:r>
              <a:rPr lang="en-US" sz="1300" dirty="0" err="1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图像编码：</a:t>
            </a:r>
            <a:r>
              <a:rPr lang="en-US" sz="1300" b="0" dirty="0" err="1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原始图像经ViT编码器，生成Patch级视觉特征序列</a:t>
            </a:r>
            <a:r>
              <a:rPr lang="en-US" sz="1300" b="0" dirty="0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300" b="0" dirty="0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sz="1300" dirty="0" err="1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特征对齐：</a:t>
            </a:r>
            <a:r>
              <a:rPr lang="en-US" sz="1300" b="0" dirty="0" err="1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通过MLP将视觉特征投影至与语言模型相同的维度空间</a:t>
            </a:r>
            <a:r>
              <a:rPr lang="en-US" sz="1300" b="0" dirty="0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25000"/>
              </a:lnSpc>
            </a:pPr>
            <a:r>
              <a:rPr lang="en-US" sz="1300" b="0" dirty="0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③</a:t>
            </a:r>
            <a:r>
              <a:rPr lang="en-US" sz="1300" dirty="0" err="1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联合输入：</a:t>
            </a:r>
            <a:r>
              <a:rPr lang="en-US" sz="1300" b="0" dirty="0" err="1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将对齐后的视觉Token与文本Token拼接，送入LLaMA等LLM推理</a:t>
            </a:r>
            <a:r>
              <a:rPr lang="en-US" sz="1300" b="0" dirty="0">
                <a:solidFill>
                  <a:srgbClr val="1A252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68374" y="4779290"/>
            <a:ext cx="2812569" cy="1872000"/>
          </a:xfrm>
          <a:custGeom>
            <a:avLst/>
            <a:gdLst/>
            <a:ahLst/>
            <a:cxnLst/>
            <a:rect l="l" t="t" r="r" b="b"/>
            <a:pathLst>
              <a:path w="6446383" h="1380067">
                <a:moveTo>
                  <a:pt x="132709" y="0"/>
                </a:moveTo>
                <a:lnTo>
                  <a:pt x="6313674" y="0"/>
                </a:lnTo>
                <a:cubicBezTo>
                  <a:pt x="6386967" y="0"/>
                  <a:pt x="6446383" y="51173"/>
                  <a:pt x="6446383" y="114297"/>
                </a:cubicBezTo>
                <a:lnTo>
                  <a:pt x="6446383" y="1265770"/>
                </a:lnTo>
                <a:cubicBezTo>
                  <a:pt x="6446383" y="1328894"/>
                  <a:pt x="6386967" y="1380067"/>
                  <a:pt x="6313674" y="1380067"/>
                </a:cubicBezTo>
                <a:lnTo>
                  <a:pt x="132709" y="1380067"/>
                </a:lnTo>
                <a:cubicBezTo>
                  <a:pt x="59417" y="1380067"/>
                  <a:pt x="0" y="1328894"/>
                  <a:pt x="0" y="1265770"/>
                </a:cubicBezTo>
                <a:lnTo>
                  <a:pt x="0" y="114297"/>
                </a:lnTo>
                <a:cubicBezTo>
                  <a:pt x="0" y="51215"/>
                  <a:pt x="59465" y="0"/>
                  <a:pt x="132709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"/>
                </a:srgbClr>
              </a:gs>
              <a:gs pos="100000">
                <a:srgbClr val="2C3E50">
                  <a:alpha val="10000"/>
                </a:srgbClr>
              </a:gs>
            </a:gsLst>
            <a:lin ang="0"/>
          </a:gradFill>
          <a:ln w="12700" cap="flat" cmpd="sng">
            <a:solidFill>
              <a:srgbClr val="3498DB">
                <a:alpha val="30000"/>
              </a:srgbClr>
            </a:solidFill>
            <a:prstDash val="solid"/>
            <a:miter lim="10000000"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780643" y="4906274"/>
            <a:ext cx="2359240" cy="33015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80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▌ 方案评估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35039" y="5414208"/>
            <a:ext cx="2653916" cy="8888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dirty="0">
                <a:solidFill>
                  <a:srgbClr val="27AE60"/>
                </a:solidFill>
                <a:latin typeface="Noto Sans SC"/>
                <a:ea typeface="Noto Sans SC"/>
                <a:cs typeface="Noto Sans SC"/>
                <a:sym typeface="Noto Sans SC"/>
              </a:rPr>
              <a:t>+ </a:t>
            </a:r>
            <a:r>
              <a:rPr lang="en-US" sz="1300" dirty="0" err="1">
                <a:solidFill>
                  <a:srgbClr val="27AE6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3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参数极少、训练收敛极快、推理延迟低，适合轻量级部署</a:t>
            </a:r>
            <a:r>
              <a:rPr lang="en-US" sz="13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>
              <a:lnSpc>
                <a:spcPct val="116666"/>
              </a:lnSpc>
            </a:pPr>
            <a:r>
              <a:rPr lang="en-US" sz="1300" dirty="0">
                <a:solidFill>
                  <a:srgbClr val="E74C3C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en-US" sz="1300" dirty="0" err="1">
                <a:solidFill>
                  <a:srgbClr val="E74C3C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</a:t>
            </a:r>
            <a:r>
              <a:rPr lang="en-US" sz="1300" b="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线性映射能力有限，难以捕捉视觉与语言深层的细粒度关联</a:t>
            </a:r>
            <a:r>
              <a:rPr lang="en-US" sz="1300" b="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357D995-B68F-449F-A6F8-FAF637553E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39"/>
          <a:stretch/>
        </p:blipFill>
        <p:spPr>
          <a:xfrm>
            <a:off x="586594" y="869174"/>
            <a:ext cx="10839801" cy="358391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8" y="9082"/>
            <a:ext cx="10907880" cy="711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888" tIns="50793" rIns="88888" bIns="50793" rtlCol="0" anchor="t" anchorCtr="0"/>
          <a:lstStyle/>
          <a:p>
            <a:pPr>
              <a:defRPr/>
            </a:pPr>
            <a:r>
              <a:rPr lang="en-US"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Q-Former：基于Transformer的精细跨模态对齐</a:t>
            </a:r>
            <a:endParaRPr lang="en-US" sz="110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817CED5-DC67-49DF-A078-05D5EB8AA58F}"/>
              </a:ext>
            </a:extLst>
          </p:cNvPr>
          <p:cNvGrpSpPr/>
          <p:nvPr/>
        </p:nvGrpSpPr>
        <p:grpSpPr>
          <a:xfrm>
            <a:off x="478582" y="4909560"/>
            <a:ext cx="3502311" cy="1888438"/>
            <a:chOff x="126984" y="923685"/>
            <a:chExt cx="3502311" cy="1888438"/>
          </a:xfrm>
        </p:grpSpPr>
        <p:sp>
          <p:nvSpPr>
            <p:cNvPr id="4" name="Freeform 4"/>
            <p:cNvSpPr/>
            <p:nvPr/>
          </p:nvSpPr>
          <p:spPr>
            <a:xfrm>
              <a:off x="126984" y="940123"/>
              <a:ext cx="3444892" cy="1872000"/>
            </a:xfrm>
            <a:custGeom>
              <a:avLst/>
              <a:gdLst/>
              <a:ahLst/>
              <a:cxnLst/>
              <a:rect l="l" t="t" r="r" b="b"/>
              <a:pathLst>
                <a:path w="6425493" h="1371600">
                  <a:moveTo>
                    <a:pt x="44238" y="0"/>
                  </a:moveTo>
                  <a:lnTo>
                    <a:pt x="6292786" y="0"/>
                  </a:lnTo>
                  <a:cubicBezTo>
                    <a:pt x="6366029" y="0"/>
                    <a:pt x="6425493" y="51214"/>
                    <a:pt x="6425493" y="114295"/>
                  </a:cubicBezTo>
                  <a:lnTo>
                    <a:pt x="6425493" y="1257305"/>
                  </a:lnTo>
                  <a:cubicBezTo>
                    <a:pt x="6425493" y="1320386"/>
                    <a:pt x="6366029" y="1371600"/>
                    <a:pt x="6292786" y="1371600"/>
                  </a:cubicBezTo>
                  <a:lnTo>
                    <a:pt x="44238" y="1371600"/>
                  </a:lnTo>
                  <a:cubicBezTo>
                    <a:pt x="19822" y="1371600"/>
                    <a:pt x="0" y="1354527"/>
                    <a:pt x="0" y="13335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8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39700" dist="101600" dir="5400000" algn="bl" rotWithShape="0">
                <a:srgbClr val="000000">
                  <a:alpha val="10200"/>
                </a:srgbClr>
              </a:outerShdw>
            </a:effectLst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126984" y="940123"/>
              <a:ext cx="45719" cy="1872000"/>
            </a:xfrm>
            <a:custGeom>
              <a:avLst/>
              <a:gdLst/>
              <a:ahLst/>
              <a:cxnLst/>
              <a:rect l="l" t="t" r="r" b="b"/>
              <a:pathLst>
                <a:path w="44237" h="1371600">
                  <a:moveTo>
                    <a:pt x="44237" y="0"/>
                  </a:moveTo>
                  <a:lnTo>
                    <a:pt x="44237" y="0"/>
                  </a:lnTo>
                  <a:lnTo>
                    <a:pt x="44237" y="1371600"/>
                  </a:lnTo>
                  <a:lnTo>
                    <a:pt x="44237" y="1371600"/>
                  </a:lnTo>
                  <a:cubicBezTo>
                    <a:pt x="19822" y="1371600"/>
                    <a:pt x="0" y="1354527"/>
                    <a:pt x="0" y="13335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7" y="0"/>
                  </a:cubicBezTo>
                  <a:close/>
                </a:path>
              </a:pathLst>
            </a:custGeom>
            <a:solidFill>
              <a:srgbClr val="3498D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262558" y="980755"/>
              <a:ext cx="244025" cy="252001"/>
            </a:xfrm>
            <a:custGeom>
              <a:avLst/>
              <a:gdLst/>
              <a:ahLst/>
              <a:cxnLst/>
              <a:rect l="l" t="t" r="r" b="b"/>
              <a:pathLst>
                <a:path w="265425" h="230119">
                  <a:moveTo>
                    <a:pt x="120531" y="3081"/>
                  </a:moveTo>
                  <a:cubicBezTo>
                    <a:pt x="128253" y="0"/>
                    <a:pt x="137171" y="0"/>
                    <a:pt x="144894" y="3081"/>
                  </a:cubicBezTo>
                  <a:lnTo>
                    <a:pt x="258219" y="48176"/>
                  </a:lnTo>
                  <a:cubicBezTo>
                    <a:pt x="262626" y="49917"/>
                    <a:pt x="265425" y="53712"/>
                    <a:pt x="265425" y="57909"/>
                  </a:cubicBezTo>
                  <a:cubicBezTo>
                    <a:pt x="265425" y="62106"/>
                    <a:pt x="262626" y="65901"/>
                    <a:pt x="258219" y="67642"/>
                  </a:cubicBezTo>
                  <a:lnTo>
                    <a:pt x="144894" y="112737"/>
                  </a:lnTo>
                  <a:cubicBezTo>
                    <a:pt x="137171" y="115818"/>
                    <a:pt x="128253" y="115818"/>
                    <a:pt x="120531" y="112737"/>
                  </a:cubicBezTo>
                  <a:lnTo>
                    <a:pt x="7206" y="67642"/>
                  </a:lnTo>
                  <a:cubicBezTo>
                    <a:pt x="2799" y="65855"/>
                    <a:pt x="0" y="62061"/>
                    <a:pt x="0" y="57909"/>
                  </a:cubicBezTo>
                  <a:cubicBezTo>
                    <a:pt x="0" y="53757"/>
                    <a:pt x="2799" y="49917"/>
                    <a:pt x="7206" y="48176"/>
                  </a:cubicBezTo>
                  <a:lnTo>
                    <a:pt x="120531" y="3081"/>
                  </a:lnTo>
                  <a:close/>
                  <a:moveTo>
                    <a:pt x="24935" y="98271"/>
                  </a:moveTo>
                  <a:lnTo>
                    <a:pt x="110109" y="132160"/>
                  </a:lnTo>
                  <a:cubicBezTo>
                    <a:pt x="124470" y="137875"/>
                    <a:pt x="141007" y="137875"/>
                    <a:pt x="155367" y="132160"/>
                  </a:cubicBezTo>
                  <a:lnTo>
                    <a:pt x="240542" y="98271"/>
                  </a:lnTo>
                  <a:lnTo>
                    <a:pt x="258219" y="105326"/>
                  </a:lnTo>
                  <a:cubicBezTo>
                    <a:pt x="262626" y="107067"/>
                    <a:pt x="265425" y="110862"/>
                    <a:pt x="265425" y="115059"/>
                  </a:cubicBezTo>
                  <a:cubicBezTo>
                    <a:pt x="265425" y="119256"/>
                    <a:pt x="262626" y="123051"/>
                    <a:pt x="258219" y="124792"/>
                  </a:cubicBezTo>
                  <a:lnTo>
                    <a:pt x="144894" y="169887"/>
                  </a:lnTo>
                  <a:cubicBezTo>
                    <a:pt x="137171" y="172968"/>
                    <a:pt x="128253" y="172968"/>
                    <a:pt x="120531" y="169887"/>
                  </a:cubicBezTo>
                  <a:lnTo>
                    <a:pt x="7206" y="124792"/>
                  </a:lnTo>
                  <a:cubicBezTo>
                    <a:pt x="2799" y="123005"/>
                    <a:pt x="0" y="119211"/>
                    <a:pt x="0" y="115059"/>
                  </a:cubicBezTo>
                  <a:cubicBezTo>
                    <a:pt x="0" y="110907"/>
                    <a:pt x="2799" y="107067"/>
                    <a:pt x="7206" y="105326"/>
                  </a:cubicBezTo>
                  <a:lnTo>
                    <a:pt x="24883" y="98271"/>
                  </a:lnTo>
                  <a:close/>
                  <a:moveTo>
                    <a:pt x="7206" y="162476"/>
                  </a:moveTo>
                  <a:lnTo>
                    <a:pt x="24883" y="155421"/>
                  </a:lnTo>
                  <a:lnTo>
                    <a:pt x="110058" y="189310"/>
                  </a:lnTo>
                  <a:cubicBezTo>
                    <a:pt x="124418" y="195025"/>
                    <a:pt x="140955" y="195025"/>
                    <a:pt x="155316" y="189310"/>
                  </a:cubicBezTo>
                  <a:lnTo>
                    <a:pt x="240490" y="155421"/>
                  </a:lnTo>
                  <a:lnTo>
                    <a:pt x="258167" y="162476"/>
                  </a:lnTo>
                  <a:cubicBezTo>
                    <a:pt x="262574" y="164217"/>
                    <a:pt x="265373" y="168012"/>
                    <a:pt x="265373" y="172209"/>
                  </a:cubicBezTo>
                  <a:cubicBezTo>
                    <a:pt x="265373" y="176406"/>
                    <a:pt x="262574" y="180201"/>
                    <a:pt x="258167" y="181942"/>
                  </a:cubicBezTo>
                  <a:lnTo>
                    <a:pt x="144844" y="227037"/>
                  </a:lnTo>
                  <a:cubicBezTo>
                    <a:pt x="137119" y="230118"/>
                    <a:pt x="128203" y="230118"/>
                    <a:pt x="120479" y="227037"/>
                  </a:cubicBezTo>
                  <a:lnTo>
                    <a:pt x="7206" y="181942"/>
                  </a:lnTo>
                  <a:cubicBezTo>
                    <a:pt x="2799" y="180155"/>
                    <a:pt x="0" y="176361"/>
                    <a:pt x="0" y="172209"/>
                  </a:cubicBezTo>
                  <a:cubicBezTo>
                    <a:pt x="0" y="168057"/>
                    <a:pt x="2799" y="164217"/>
                    <a:pt x="7206" y="162476"/>
                  </a:cubicBezTo>
                  <a:close/>
                </a:path>
              </a:pathLst>
            </a:custGeom>
            <a:solidFill>
              <a:srgbClr val="3498D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7"/>
            <p:cNvSpPr/>
            <p:nvPr/>
          </p:nvSpPr>
          <p:spPr>
            <a:xfrm>
              <a:off x="701410" y="923685"/>
              <a:ext cx="2649128" cy="33015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en-US" sz="1800" dirty="0" err="1">
                  <a:solidFill>
                    <a:srgbClr val="2C3E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核心创新：主动查询机制</a:t>
              </a:r>
              <a:endParaRPr lang="en-US" sz="1100" dirty="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251571" y="1256805"/>
              <a:ext cx="3377724" cy="1321026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en-US" sz="1400" b="0" dirty="0" err="1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引入</a:t>
              </a:r>
              <a:r>
                <a:rPr lang="en-US" sz="1400" dirty="0" err="1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查询式Transformer</a:t>
              </a:r>
              <a:r>
                <a:rPr lang="en-US" sz="1400" dirty="0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(Querying Transformer)</a:t>
              </a:r>
              <a:r>
                <a:rPr lang="en-US" sz="1400" b="0" dirty="0" err="1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架构，使用一组可学习的“查询向量</a:t>
              </a:r>
              <a:r>
                <a:rPr lang="en-US" sz="1400" b="0" dirty="0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(Queries)”作为“</a:t>
              </a:r>
              <a:r>
                <a:rPr lang="en-US" sz="1400" b="0" dirty="0" err="1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信息探针</a:t>
              </a:r>
              <a:r>
                <a:rPr lang="en-US" sz="1400" b="0" dirty="0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”，</a:t>
              </a:r>
              <a:r>
                <a:rPr lang="en-US" sz="1400" b="0" dirty="0" err="1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主动从高维视觉特征中检索并提取与文本语义最相关的细粒度信息</a:t>
              </a:r>
              <a:r>
                <a:rPr lang="en-US" sz="1400" b="0" dirty="0">
                  <a:solidFill>
                    <a:srgbClr val="1A252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。</a:t>
              </a:r>
              <a:endParaRPr lang="en-US" sz="11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5070658-BC84-49C9-8202-9BE393D58EC4}"/>
              </a:ext>
            </a:extLst>
          </p:cNvPr>
          <p:cNvGrpSpPr/>
          <p:nvPr/>
        </p:nvGrpSpPr>
        <p:grpSpPr>
          <a:xfrm>
            <a:off x="4378506" y="4905164"/>
            <a:ext cx="3444892" cy="1872000"/>
            <a:chOff x="126984" y="2888940"/>
            <a:chExt cx="3444892" cy="1872000"/>
          </a:xfrm>
        </p:grpSpPr>
        <p:sp>
          <p:nvSpPr>
            <p:cNvPr id="9" name="Freeform 9"/>
            <p:cNvSpPr/>
            <p:nvPr/>
          </p:nvSpPr>
          <p:spPr>
            <a:xfrm>
              <a:off x="126984" y="2888940"/>
              <a:ext cx="3444892" cy="1872000"/>
            </a:xfrm>
            <a:custGeom>
              <a:avLst/>
              <a:gdLst/>
              <a:ahLst/>
              <a:cxnLst/>
              <a:rect l="l" t="t" r="r" b="b"/>
              <a:pathLst>
                <a:path w="6425493" h="2286000">
                  <a:moveTo>
                    <a:pt x="44238" y="0"/>
                  </a:moveTo>
                  <a:lnTo>
                    <a:pt x="6292780" y="0"/>
                  </a:lnTo>
                  <a:cubicBezTo>
                    <a:pt x="6366026" y="0"/>
                    <a:pt x="6425493" y="51217"/>
                    <a:pt x="6425493" y="114300"/>
                  </a:cubicBezTo>
                  <a:lnTo>
                    <a:pt x="6425493" y="2171700"/>
                  </a:lnTo>
                  <a:cubicBezTo>
                    <a:pt x="6425493" y="2234783"/>
                    <a:pt x="6366026" y="2286000"/>
                    <a:pt x="6292780" y="2286000"/>
                  </a:cubicBezTo>
                  <a:lnTo>
                    <a:pt x="44238" y="2286000"/>
                  </a:lnTo>
                  <a:cubicBezTo>
                    <a:pt x="19822" y="2286000"/>
                    <a:pt x="0" y="2268927"/>
                    <a:pt x="0" y="22479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8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39700" dist="101600" dir="5400000" algn="bl" rotWithShape="0">
                <a:srgbClr val="000000">
                  <a:alpha val="10200"/>
                </a:srgbClr>
              </a:outerShdw>
            </a:effectLst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26984" y="2888940"/>
              <a:ext cx="45719" cy="1872000"/>
            </a:xfrm>
            <a:custGeom>
              <a:avLst/>
              <a:gdLst/>
              <a:ahLst/>
              <a:cxnLst/>
              <a:rect l="l" t="t" r="r" b="b"/>
              <a:pathLst>
                <a:path w="44237" h="2286000">
                  <a:moveTo>
                    <a:pt x="44237" y="0"/>
                  </a:moveTo>
                  <a:lnTo>
                    <a:pt x="44237" y="0"/>
                  </a:lnTo>
                  <a:lnTo>
                    <a:pt x="44237" y="2286000"/>
                  </a:lnTo>
                  <a:lnTo>
                    <a:pt x="44237" y="2286000"/>
                  </a:lnTo>
                  <a:cubicBezTo>
                    <a:pt x="19822" y="2286000"/>
                    <a:pt x="0" y="2268927"/>
                    <a:pt x="0" y="22479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7" y="0"/>
                  </a:cubicBez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98562" y="2968183"/>
              <a:ext cx="238548" cy="202609"/>
            </a:xfrm>
            <a:custGeom>
              <a:avLst/>
              <a:gdLst/>
              <a:ahLst/>
              <a:cxnLst/>
              <a:rect l="l" t="t" r="r" b="b"/>
              <a:pathLst>
                <a:path w="266670" h="190783">
                  <a:moveTo>
                    <a:pt x="70609" y="3392"/>
                  </a:moveTo>
                  <a:cubicBezTo>
                    <a:pt x="76259" y="6787"/>
                    <a:pt x="77606" y="13484"/>
                    <a:pt x="73667" y="18306"/>
                  </a:cubicBezTo>
                  <a:lnTo>
                    <a:pt x="44636" y="54025"/>
                  </a:lnTo>
                  <a:cubicBezTo>
                    <a:pt x="42510" y="56614"/>
                    <a:pt x="39193" y="58267"/>
                    <a:pt x="35512" y="58535"/>
                  </a:cubicBezTo>
                  <a:cubicBezTo>
                    <a:pt x="31832" y="58803"/>
                    <a:pt x="28202" y="57731"/>
                    <a:pt x="25610" y="55498"/>
                  </a:cubicBezTo>
                  <a:lnTo>
                    <a:pt x="4873" y="37639"/>
                  </a:lnTo>
                  <a:cubicBezTo>
                    <a:pt x="52" y="33442"/>
                    <a:pt x="52" y="26655"/>
                    <a:pt x="4873" y="22458"/>
                  </a:cubicBezTo>
                  <a:cubicBezTo>
                    <a:pt x="9696" y="18262"/>
                    <a:pt x="17627" y="18306"/>
                    <a:pt x="22500" y="22458"/>
                  </a:cubicBezTo>
                  <a:lnTo>
                    <a:pt x="32764" y="31299"/>
                  </a:lnTo>
                  <a:lnTo>
                    <a:pt x="53293" y="6028"/>
                  </a:lnTo>
                  <a:cubicBezTo>
                    <a:pt x="57233" y="1161"/>
                    <a:pt x="65009" y="0"/>
                    <a:pt x="70609" y="3392"/>
                  </a:cubicBezTo>
                  <a:close/>
                  <a:moveTo>
                    <a:pt x="70609" y="74831"/>
                  </a:moveTo>
                  <a:cubicBezTo>
                    <a:pt x="76259" y="78223"/>
                    <a:pt x="77606" y="84921"/>
                    <a:pt x="73667" y="89744"/>
                  </a:cubicBezTo>
                  <a:lnTo>
                    <a:pt x="44636" y="125462"/>
                  </a:lnTo>
                  <a:cubicBezTo>
                    <a:pt x="42510" y="128052"/>
                    <a:pt x="39193" y="129704"/>
                    <a:pt x="35512" y="129972"/>
                  </a:cubicBezTo>
                  <a:cubicBezTo>
                    <a:pt x="31832" y="130240"/>
                    <a:pt x="28202" y="129168"/>
                    <a:pt x="25610" y="126936"/>
                  </a:cubicBezTo>
                  <a:lnTo>
                    <a:pt x="4873" y="109076"/>
                  </a:lnTo>
                  <a:cubicBezTo>
                    <a:pt x="0" y="104879"/>
                    <a:pt x="0" y="98093"/>
                    <a:pt x="4873" y="93940"/>
                  </a:cubicBezTo>
                  <a:cubicBezTo>
                    <a:pt x="9746" y="89788"/>
                    <a:pt x="17627" y="89744"/>
                    <a:pt x="22448" y="93940"/>
                  </a:cubicBezTo>
                  <a:lnTo>
                    <a:pt x="32713" y="102781"/>
                  </a:lnTo>
                  <a:lnTo>
                    <a:pt x="53241" y="77510"/>
                  </a:lnTo>
                  <a:cubicBezTo>
                    <a:pt x="57182" y="72643"/>
                    <a:pt x="64957" y="71482"/>
                    <a:pt x="70557" y="74876"/>
                  </a:cubicBezTo>
                  <a:close/>
                  <a:moveTo>
                    <a:pt x="117369" y="30048"/>
                  </a:moveTo>
                  <a:cubicBezTo>
                    <a:pt x="117369" y="22147"/>
                    <a:pt x="124782" y="15761"/>
                    <a:pt x="133957" y="15761"/>
                  </a:cubicBezTo>
                  <a:lnTo>
                    <a:pt x="250081" y="15761"/>
                  </a:lnTo>
                  <a:cubicBezTo>
                    <a:pt x="259257" y="15761"/>
                    <a:pt x="266670" y="22147"/>
                    <a:pt x="266670" y="30048"/>
                  </a:cubicBezTo>
                  <a:cubicBezTo>
                    <a:pt x="266670" y="37950"/>
                    <a:pt x="259257" y="44336"/>
                    <a:pt x="250081" y="44336"/>
                  </a:cubicBezTo>
                  <a:lnTo>
                    <a:pt x="133957" y="44336"/>
                  </a:lnTo>
                  <a:cubicBezTo>
                    <a:pt x="124782" y="44336"/>
                    <a:pt x="117369" y="37950"/>
                    <a:pt x="117369" y="30048"/>
                  </a:cubicBezTo>
                  <a:close/>
                  <a:moveTo>
                    <a:pt x="117369" y="101486"/>
                  </a:moveTo>
                  <a:cubicBezTo>
                    <a:pt x="117369" y="93583"/>
                    <a:pt x="124782" y="87198"/>
                    <a:pt x="133957" y="87198"/>
                  </a:cubicBezTo>
                  <a:lnTo>
                    <a:pt x="250081" y="87198"/>
                  </a:lnTo>
                  <a:cubicBezTo>
                    <a:pt x="259257" y="87198"/>
                    <a:pt x="266670" y="93583"/>
                    <a:pt x="266670" y="101486"/>
                  </a:cubicBezTo>
                  <a:cubicBezTo>
                    <a:pt x="266670" y="109389"/>
                    <a:pt x="259257" y="115774"/>
                    <a:pt x="250081" y="115774"/>
                  </a:cubicBezTo>
                  <a:lnTo>
                    <a:pt x="133957" y="115774"/>
                  </a:lnTo>
                  <a:cubicBezTo>
                    <a:pt x="124782" y="115774"/>
                    <a:pt x="117369" y="109389"/>
                    <a:pt x="117369" y="101486"/>
                  </a:cubicBezTo>
                  <a:close/>
                  <a:moveTo>
                    <a:pt x="84191" y="172924"/>
                  </a:moveTo>
                  <a:cubicBezTo>
                    <a:pt x="84191" y="165022"/>
                    <a:pt x="91603" y="158636"/>
                    <a:pt x="100780" y="158636"/>
                  </a:cubicBezTo>
                  <a:lnTo>
                    <a:pt x="250081" y="158636"/>
                  </a:lnTo>
                  <a:cubicBezTo>
                    <a:pt x="259257" y="158636"/>
                    <a:pt x="266670" y="165022"/>
                    <a:pt x="266670" y="172924"/>
                  </a:cubicBezTo>
                  <a:cubicBezTo>
                    <a:pt x="266670" y="180825"/>
                    <a:pt x="259257" y="187211"/>
                    <a:pt x="250081" y="187211"/>
                  </a:cubicBezTo>
                  <a:lnTo>
                    <a:pt x="100780" y="187211"/>
                  </a:lnTo>
                  <a:cubicBezTo>
                    <a:pt x="91603" y="187211"/>
                    <a:pt x="84191" y="180825"/>
                    <a:pt x="84191" y="172924"/>
                  </a:cubicBezTo>
                  <a:close/>
                  <a:moveTo>
                    <a:pt x="34424" y="155063"/>
                  </a:moveTo>
                  <a:cubicBezTo>
                    <a:pt x="45868" y="155063"/>
                    <a:pt x="55159" y="163067"/>
                    <a:pt x="55159" y="172924"/>
                  </a:cubicBezTo>
                  <a:cubicBezTo>
                    <a:pt x="55159" y="182780"/>
                    <a:pt x="45868" y="190784"/>
                    <a:pt x="34424" y="190784"/>
                  </a:cubicBezTo>
                  <a:cubicBezTo>
                    <a:pt x="22979" y="190784"/>
                    <a:pt x="13687" y="182780"/>
                    <a:pt x="13687" y="172924"/>
                  </a:cubicBezTo>
                  <a:cubicBezTo>
                    <a:pt x="13687" y="163067"/>
                    <a:pt x="22979" y="155063"/>
                    <a:pt x="34424" y="155063"/>
                  </a:cubicBez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58602" y="2946311"/>
              <a:ext cx="1473007" cy="26666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en-US" sz="1800" dirty="0" err="1">
                  <a:solidFill>
                    <a:srgbClr val="2C3E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三步对齐流程</a:t>
              </a:r>
              <a:endParaRPr lang="en-US" sz="1100" dirty="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62558" y="3284984"/>
              <a:ext cx="3220553" cy="647616"/>
            </a:xfrm>
            <a:custGeom>
              <a:avLst/>
              <a:gdLst/>
              <a:ahLst/>
              <a:cxnLst/>
              <a:rect l="l" t="t" r="r" b="b"/>
              <a:pathLst>
                <a:path w="5850406" h="647700">
                  <a:moveTo>
                    <a:pt x="44238" y="0"/>
                  </a:moveTo>
                  <a:lnTo>
                    <a:pt x="5761929" y="0"/>
                  </a:lnTo>
                  <a:cubicBezTo>
                    <a:pt x="5810794" y="0"/>
                    <a:pt x="5850406" y="34117"/>
                    <a:pt x="5850406" y="76203"/>
                  </a:cubicBezTo>
                  <a:lnTo>
                    <a:pt x="5850406" y="571497"/>
                  </a:lnTo>
                  <a:cubicBezTo>
                    <a:pt x="5850406" y="613583"/>
                    <a:pt x="5810794" y="647700"/>
                    <a:pt x="5761929" y="647700"/>
                  </a:cubicBezTo>
                  <a:lnTo>
                    <a:pt x="44238" y="647700"/>
                  </a:lnTo>
                  <a:cubicBezTo>
                    <a:pt x="19822" y="647700"/>
                    <a:pt x="0" y="630627"/>
                    <a:pt x="0" y="6096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8" y="0"/>
                  </a:cubicBezTo>
                  <a:close/>
                </a:path>
              </a:pathLst>
            </a:custGeom>
            <a:solidFill>
              <a:srgbClr val="3498DB">
                <a:alpha val="102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2558" y="3284984"/>
              <a:ext cx="45719" cy="647616"/>
            </a:xfrm>
            <a:custGeom>
              <a:avLst/>
              <a:gdLst/>
              <a:ahLst/>
              <a:cxnLst/>
              <a:rect l="l" t="t" r="r" b="b"/>
              <a:pathLst>
                <a:path w="44237" h="647700">
                  <a:moveTo>
                    <a:pt x="44237" y="0"/>
                  </a:moveTo>
                  <a:lnTo>
                    <a:pt x="44237" y="0"/>
                  </a:lnTo>
                  <a:lnTo>
                    <a:pt x="44237" y="647700"/>
                  </a:lnTo>
                  <a:lnTo>
                    <a:pt x="44237" y="647700"/>
                  </a:lnTo>
                  <a:cubicBezTo>
                    <a:pt x="19822" y="647700"/>
                    <a:pt x="0" y="630627"/>
                    <a:pt x="0" y="6096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7" y="0"/>
                  </a:cubicBezTo>
                  <a:close/>
                </a:path>
              </a:pathLst>
            </a:custGeom>
            <a:solidFill>
              <a:srgbClr val="3498D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38975" y="3289623"/>
              <a:ext cx="3111059" cy="647616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333"/>
                </a:lnSpc>
                <a:defRPr/>
              </a:pPr>
              <a:r>
                <a:rPr lang="en-US" sz="1400" dirty="0">
                  <a:solidFill>
                    <a:srgbClr val="2C3E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01. </a:t>
              </a:r>
              <a:r>
                <a:rPr lang="en-US" sz="1400" dirty="0" err="1">
                  <a:solidFill>
                    <a:srgbClr val="2C3E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图像编码：</a:t>
              </a:r>
              <a:r>
                <a:rPr lang="en-US" sz="1300" b="0" dirty="0" err="1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视觉编码器</a:t>
              </a:r>
              <a:r>
                <a:rPr lang="en-US" sz="1300" b="0" dirty="0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(</a:t>
              </a:r>
              <a:r>
                <a:rPr lang="en-US" sz="1300" b="0" dirty="0" err="1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ViT</a:t>
              </a:r>
              <a:r>
                <a:rPr lang="en-US" sz="1300" b="0" dirty="0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/CNN)</a:t>
              </a:r>
              <a:r>
                <a:rPr lang="en-US" sz="1300" b="0" dirty="0" err="1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对输入图像进行编码，生成全局或局部的视觉特征图</a:t>
              </a:r>
              <a:r>
                <a:rPr lang="en-US" sz="1300" b="0" dirty="0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。</a:t>
              </a:r>
              <a:endParaRPr lang="en-US" sz="1100" dirty="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62785" y="4005064"/>
              <a:ext cx="3220553" cy="647616"/>
            </a:xfrm>
            <a:custGeom>
              <a:avLst/>
              <a:gdLst/>
              <a:ahLst/>
              <a:cxnLst/>
              <a:rect l="l" t="t" r="r" b="b"/>
              <a:pathLst>
                <a:path w="5850406" h="647700">
                  <a:moveTo>
                    <a:pt x="44238" y="0"/>
                  </a:moveTo>
                  <a:lnTo>
                    <a:pt x="5761929" y="0"/>
                  </a:lnTo>
                  <a:cubicBezTo>
                    <a:pt x="5810794" y="0"/>
                    <a:pt x="5850406" y="34117"/>
                    <a:pt x="5850406" y="76203"/>
                  </a:cubicBezTo>
                  <a:lnTo>
                    <a:pt x="5850406" y="571497"/>
                  </a:lnTo>
                  <a:cubicBezTo>
                    <a:pt x="5850406" y="613583"/>
                    <a:pt x="5810794" y="647700"/>
                    <a:pt x="5761929" y="647700"/>
                  </a:cubicBezTo>
                  <a:lnTo>
                    <a:pt x="44238" y="647700"/>
                  </a:lnTo>
                  <a:cubicBezTo>
                    <a:pt x="19822" y="647700"/>
                    <a:pt x="0" y="630627"/>
                    <a:pt x="0" y="6096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8" y="0"/>
                  </a:cubicBezTo>
                  <a:close/>
                </a:path>
              </a:pathLst>
            </a:custGeom>
            <a:solidFill>
              <a:srgbClr val="2C3E50">
                <a:alpha val="102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62785" y="4005064"/>
              <a:ext cx="45719" cy="647616"/>
            </a:xfrm>
            <a:custGeom>
              <a:avLst/>
              <a:gdLst/>
              <a:ahLst/>
              <a:cxnLst/>
              <a:rect l="l" t="t" r="r" b="b"/>
              <a:pathLst>
                <a:path w="44237" h="647700">
                  <a:moveTo>
                    <a:pt x="44237" y="0"/>
                  </a:moveTo>
                  <a:lnTo>
                    <a:pt x="44237" y="0"/>
                  </a:lnTo>
                  <a:lnTo>
                    <a:pt x="44237" y="647700"/>
                  </a:lnTo>
                  <a:lnTo>
                    <a:pt x="44237" y="647700"/>
                  </a:lnTo>
                  <a:cubicBezTo>
                    <a:pt x="19822" y="647700"/>
                    <a:pt x="0" y="630627"/>
                    <a:pt x="0" y="609600"/>
                  </a:cubicBezTo>
                  <a:lnTo>
                    <a:pt x="0" y="38100"/>
                  </a:lnTo>
                  <a:cubicBezTo>
                    <a:pt x="0" y="17073"/>
                    <a:pt x="19822" y="0"/>
                    <a:pt x="44237" y="0"/>
                  </a:cubicBez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27863" y="4055858"/>
              <a:ext cx="3111059" cy="507934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333"/>
                </a:lnSpc>
                <a:defRPr/>
              </a:pPr>
              <a:r>
                <a:rPr lang="en-US" sz="1400" dirty="0">
                  <a:solidFill>
                    <a:srgbClr val="2C3E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02. </a:t>
              </a:r>
              <a:r>
                <a:rPr lang="en-US" sz="1400" dirty="0" err="1">
                  <a:solidFill>
                    <a:srgbClr val="2C3E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特征对齐：</a:t>
              </a:r>
              <a:r>
                <a:rPr lang="en-US" sz="1300" b="0" dirty="0" err="1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Q-Former通过交叉注意力层，将查询向量与视觉特征融合，输出固定数量的对齐视觉Token</a:t>
              </a:r>
              <a:r>
                <a:rPr lang="en-US" sz="1300" b="0" dirty="0">
                  <a:solidFill>
                    <a:srgbClr val="505A64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。</a:t>
              </a:r>
              <a:endParaRPr lang="en-US" sz="11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BE9CD77-6651-41D7-9F0D-00A1BDE5BD49}"/>
              </a:ext>
            </a:extLst>
          </p:cNvPr>
          <p:cNvGrpSpPr/>
          <p:nvPr/>
        </p:nvGrpSpPr>
        <p:grpSpPr>
          <a:xfrm>
            <a:off x="8255446" y="4969278"/>
            <a:ext cx="3424637" cy="1807886"/>
            <a:chOff x="114285" y="4902008"/>
            <a:chExt cx="3424637" cy="1807886"/>
          </a:xfrm>
        </p:grpSpPr>
        <p:sp>
          <p:nvSpPr>
            <p:cNvPr id="19" name="Freeform 19"/>
            <p:cNvSpPr/>
            <p:nvPr/>
          </p:nvSpPr>
          <p:spPr>
            <a:xfrm>
              <a:off x="114285" y="4902008"/>
              <a:ext cx="3424637" cy="1807886"/>
            </a:xfrm>
            <a:custGeom>
              <a:avLst/>
              <a:gdLst/>
              <a:ahLst/>
              <a:cxnLst/>
              <a:rect l="l" t="t" r="r" b="b"/>
              <a:pathLst>
                <a:path w="6446383" h="1380067">
                  <a:moveTo>
                    <a:pt x="132709" y="0"/>
                  </a:moveTo>
                  <a:lnTo>
                    <a:pt x="6313674" y="0"/>
                  </a:lnTo>
                  <a:cubicBezTo>
                    <a:pt x="6386967" y="0"/>
                    <a:pt x="6446383" y="51173"/>
                    <a:pt x="6446383" y="114297"/>
                  </a:cubicBezTo>
                  <a:lnTo>
                    <a:pt x="6446383" y="1265770"/>
                  </a:lnTo>
                  <a:cubicBezTo>
                    <a:pt x="6446383" y="1328894"/>
                    <a:pt x="6386967" y="1380067"/>
                    <a:pt x="6313674" y="1380067"/>
                  </a:cubicBezTo>
                  <a:lnTo>
                    <a:pt x="132709" y="1380067"/>
                  </a:lnTo>
                  <a:cubicBezTo>
                    <a:pt x="59417" y="1380067"/>
                    <a:pt x="0" y="1328894"/>
                    <a:pt x="0" y="1265770"/>
                  </a:cubicBezTo>
                  <a:lnTo>
                    <a:pt x="0" y="114297"/>
                  </a:lnTo>
                  <a:cubicBezTo>
                    <a:pt x="0" y="51215"/>
                    <a:pt x="59465" y="0"/>
                    <a:pt x="1327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498DB">
                    <a:alpha val="10000"/>
                  </a:srgbClr>
                </a:gs>
                <a:gs pos="100000">
                  <a:srgbClr val="2C3E50">
                    <a:alpha val="10000"/>
                  </a:srgbClr>
                </a:gs>
              </a:gsLst>
              <a:lin ang="0"/>
            </a:gradFill>
            <a:ln w="12700" cap="flat" cmpd="sng">
              <a:solidFill>
                <a:srgbClr val="3498DB">
                  <a:alpha val="30000"/>
                </a:srgbClr>
              </a:solidFill>
              <a:prstDash val="solid"/>
              <a:miter lim="10000000"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38975" y="4968153"/>
              <a:ext cx="320064" cy="292524"/>
            </a:xfrm>
            <a:custGeom>
              <a:avLst/>
              <a:gdLst/>
              <a:ahLst/>
              <a:cxnLst/>
              <a:rect l="l" t="t" r="r" b="b"/>
              <a:pathLst>
                <a:path w="265425" h="200025">
                  <a:moveTo>
                    <a:pt x="99535" y="14287"/>
                  </a:moveTo>
                  <a:cubicBezTo>
                    <a:pt x="99535" y="6384"/>
                    <a:pt x="106948" y="0"/>
                    <a:pt x="116124" y="0"/>
                  </a:cubicBezTo>
                  <a:lnTo>
                    <a:pt x="149302" y="0"/>
                  </a:lnTo>
                  <a:cubicBezTo>
                    <a:pt x="158477" y="0"/>
                    <a:pt x="165891" y="6384"/>
                    <a:pt x="165891" y="14287"/>
                  </a:cubicBezTo>
                  <a:lnTo>
                    <a:pt x="165891" y="42862"/>
                  </a:lnTo>
                  <a:cubicBezTo>
                    <a:pt x="165891" y="50765"/>
                    <a:pt x="158477" y="57150"/>
                    <a:pt x="149302" y="57150"/>
                  </a:cubicBezTo>
                  <a:lnTo>
                    <a:pt x="145155" y="57150"/>
                  </a:lnTo>
                  <a:lnTo>
                    <a:pt x="145155" y="85724"/>
                  </a:lnTo>
                  <a:lnTo>
                    <a:pt x="207363" y="85724"/>
                  </a:lnTo>
                  <a:cubicBezTo>
                    <a:pt x="227997" y="85724"/>
                    <a:pt x="244690" y="100101"/>
                    <a:pt x="244690" y="117871"/>
                  </a:cubicBezTo>
                  <a:lnTo>
                    <a:pt x="244690" y="142874"/>
                  </a:lnTo>
                  <a:lnTo>
                    <a:pt x="248836" y="142874"/>
                  </a:lnTo>
                  <a:cubicBezTo>
                    <a:pt x="258012" y="142874"/>
                    <a:pt x="265425" y="149259"/>
                    <a:pt x="265425" y="157162"/>
                  </a:cubicBezTo>
                  <a:lnTo>
                    <a:pt x="265425" y="185737"/>
                  </a:lnTo>
                  <a:cubicBezTo>
                    <a:pt x="265425" y="193640"/>
                    <a:pt x="258012" y="200024"/>
                    <a:pt x="248836" y="200024"/>
                  </a:cubicBezTo>
                  <a:lnTo>
                    <a:pt x="215659" y="200024"/>
                  </a:lnTo>
                  <a:cubicBezTo>
                    <a:pt x="206482" y="200024"/>
                    <a:pt x="199069" y="193640"/>
                    <a:pt x="199069" y="185737"/>
                  </a:cubicBezTo>
                  <a:lnTo>
                    <a:pt x="199069" y="157162"/>
                  </a:lnTo>
                  <a:cubicBezTo>
                    <a:pt x="199069" y="149259"/>
                    <a:pt x="206482" y="142874"/>
                    <a:pt x="215659" y="142874"/>
                  </a:cubicBezTo>
                  <a:lnTo>
                    <a:pt x="219805" y="142874"/>
                  </a:lnTo>
                  <a:lnTo>
                    <a:pt x="219805" y="117871"/>
                  </a:lnTo>
                  <a:cubicBezTo>
                    <a:pt x="219805" y="111933"/>
                    <a:pt x="214258" y="107156"/>
                    <a:pt x="207363" y="107156"/>
                  </a:cubicBezTo>
                  <a:lnTo>
                    <a:pt x="145155" y="107156"/>
                  </a:lnTo>
                  <a:lnTo>
                    <a:pt x="145155" y="142874"/>
                  </a:lnTo>
                  <a:lnTo>
                    <a:pt x="149302" y="142874"/>
                  </a:lnTo>
                  <a:cubicBezTo>
                    <a:pt x="158477" y="142874"/>
                    <a:pt x="165891" y="149259"/>
                    <a:pt x="165891" y="157162"/>
                  </a:cubicBezTo>
                  <a:lnTo>
                    <a:pt x="165891" y="185737"/>
                  </a:lnTo>
                  <a:cubicBezTo>
                    <a:pt x="165891" y="193640"/>
                    <a:pt x="158477" y="200024"/>
                    <a:pt x="149302" y="200024"/>
                  </a:cubicBezTo>
                  <a:lnTo>
                    <a:pt x="116124" y="200024"/>
                  </a:lnTo>
                  <a:cubicBezTo>
                    <a:pt x="106948" y="200024"/>
                    <a:pt x="99535" y="193640"/>
                    <a:pt x="99535" y="185737"/>
                  </a:cubicBezTo>
                  <a:lnTo>
                    <a:pt x="99535" y="157162"/>
                  </a:lnTo>
                  <a:cubicBezTo>
                    <a:pt x="99535" y="149259"/>
                    <a:pt x="106948" y="142874"/>
                    <a:pt x="116124" y="142874"/>
                  </a:cubicBezTo>
                  <a:lnTo>
                    <a:pt x="120270" y="142874"/>
                  </a:lnTo>
                  <a:lnTo>
                    <a:pt x="120270" y="107156"/>
                  </a:lnTo>
                  <a:lnTo>
                    <a:pt x="58062" y="107156"/>
                  </a:lnTo>
                  <a:cubicBezTo>
                    <a:pt x="51167" y="107156"/>
                    <a:pt x="45621" y="111933"/>
                    <a:pt x="45621" y="117871"/>
                  </a:cubicBezTo>
                  <a:lnTo>
                    <a:pt x="45621" y="142874"/>
                  </a:lnTo>
                  <a:lnTo>
                    <a:pt x="49767" y="142874"/>
                  </a:lnTo>
                  <a:cubicBezTo>
                    <a:pt x="58943" y="142874"/>
                    <a:pt x="66356" y="149259"/>
                    <a:pt x="66356" y="157162"/>
                  </a:cubicBezTo>
                  <a:lnTo>
                    <a:pt x="66356" y="185737"/>
                  </a:lnTo>
                  <a:cubicBezTo>
                    <a:pt x="66356" y="193640"/>
                    <a:pt x="58943" y="200024"/>
                    <a:pt x="49767" y="200024"/>
                  </a:cubicBezTo>
                  <a:lnTo>
                    <a:pt x="16590" y="200024"/>
                  </a:lnTo>
                  <a:cubicBezTo>
                    <a:pt x="7413" y="200024"/>
                    <a:pt x="0" y="193640"/>
                    <a:pt x="0" y="185737"/>
                  </a:cubicBezTo>
                  <a:lnTo>
                    <a:pt x="0" y="157162"/>
                  </a:lnTo>
                  <a:cubicBezTo>
                    <a:pt x="0" y="149259"/>
                    <a:pt x="7413" y="142874"/>
                    <a:pt x="16590" y="142874"/>
                  </a:cubicBezTo>
                  <a:lnTo>
                    <a:pt x="20735" y="142874"/>
                  </a:lnTo>
                  <a:lnTo>
                    <a:pt x="20735" y="117871"/>
                  </a:lnTo>
                  <a:cubicBezTo>
                    <a:pt x="20735" y="100101"/>
                    <a:pt x="37429" y="85724"/>
                    <a:pt x="58062" y="85724"/>
                  </a:cubicBezTo>
                  <a:lnTo>
                    <a:pt x="120270" y="85724"/>
                  </a:lnTo>
                  <a:lnTo>
                    <a:pt x="120270" y="57150"/>
                  </a:lnTo>
                  <a:lnTo>
                    <a:pt x="116124" y="57150"/>
                  </a:lnTo>
                  <a:cubicBezTo>
                    <a:pt x="106948" y="57150"/>
                    <a:pt x="99535" y="50765"/>
                    <a:pt x="99535" y="42862"/>
                  </a:cubicBezTo>
                  <a:lnTo>
                    <a:pt x="99535" y="14287"/>
                  </a:lnTo>
                  <a:close/>
                </a:path>
              </a:pathLst>
            </a:custGeom>
            <a:solidFill>
              <a:srgbClr val="3498D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492" tIns="63492" rIns="63492" bIns="63492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825392" y="4998539"/>
              <a:ext cx="1434913" cy="26666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en-US" sz="1800" dirty="0" err="1">
                  <a:solidFill>
                    <a:srgbClr val="2C3E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综合评价</a:t>
              </a:r>
              <a:endParaRPr lang="en-US" sz="1100" dirty="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215872" y="5601195"/>
              <a:ext cx="3134666" cy="83363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08333"/>
                </a:lnSpc>
                <a:defRPr/>
              </a:pPr>
              <a:r>
                <a:rPr lang="en-US" sz="1300" b="0" dirty="0">
                  <a:solidFill>
                    <a:srgbClr val="27AE6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✔ </a:t>
              </a:r>
              <a:r>
                <a:rPr lang="en-US" sz="1300" b="0" dirty="0" err="1">
                  <a:solidFill>
                    <a:srgbClr val="27AE6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优势：</a:t>
              </a:r>
              <a:r>
                <a:rPr lang="en-US" sz="1300" b="0" dirty="0" err="1">
                  <a:solidFill>
                    <a:srgbClr val="3C46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实现了极高精度的跨模态语义对齐，输出Token具有良好的通用性</a:t>
              </a:r>
              <a:r>
                <a:rPr lang="en-US" sz="1300" b="0" dirty="0">
                  <a:solidFill>
                    <a:srgbClr val="3C46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。</a:t>
              </a:r>
            </a:p>
            <a:p>
              <a:pPr>
                <a:lnSpc>
                  <a:spcPct val="108333"/>
                </a:lnSpc>
                <a:defRPr/>
              </a:pPr>
              <a:r>
                <a:rPr lang="en-US" sz="1300" b="0" dirty="0">
                  <a:solidFill>
                    <a:srgbClr val="E74C3C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❌ </a:t>
              </a:r>
              <a:r>
                <a:rPr lang="en-US" sz="1300" b="0" dirty="0" err="1">
                  <a:solidFill>
                    <a:srgbClr val="E74C3C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劣势：</a:t>
              </a:r>
              <a:r>
                <a:rPr lang="en-US" sz="1300" b="0" dirty="0" err="1">
                  <a:solidFill>
                    <a:srgbClr val="3C46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网络结构增加了复杂度，训练成本显著提升</a:t>
              </a:r>
              <a:r>
                <a:rPr lang="en-US" sz="1300" b="0" dirty="0">
                  <a:solidFill>
                    <a:srgbClr val="3C465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。</a:t>
              </a:r>
              <a:endParaRPr lang="en-US" sz="1100" dirty="0"/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AD02EADC-6EB7-452A-B0A7-78FD5B20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943" y="1004822"/>
            <a:ext cx="8784976" cy="37605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699" y="-12252"/>
            <a:ext cx="12190413" cy="660314"/>
          </a:xfrm>
          <a:prstGeom prst="roundRect">
            <a:avLst>
              <a:gd name="adj" fmla="val 0"/>
            </a:avLst>
          </a:prstGeom>
          <a:solidFill>
            <a:srgbClr val="004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46029" y="447"/>
            <a:ext cx="11174545" cy="711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MLP vs Transformer衔接：如何选择？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6983" y="876633"/>
            <a:ext cx="5790446" cy="2730144"/>
          </a:xfrm>
          <a:prstGeom prst="roundRect">
            <a:avLst>
              <a:gd name="adj" fmla="val 46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6983" y="876633"/>
            <a:ext cx="76190" cy="2730144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44442" y="1041711"/>
            <a:ext cx="5206322" cy="44444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200">
                <a:solidFill>
                  <a:srgbClr val="111827"/>
                </a:solidFill>
                <a:latin typeface="微软雅黑"/>
                <a:ea typeface="微软雅黑"/>
                <a:cs typeface="微软雅黑"/>
                <a:sym typeface="微软雅黑"/>
              </a:rPr>
              <a:t>MLP 投影 (LLaVA) —— 轻量高效之选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442" y="1651231"/>
            <a:ext cx="5206322" cy="1714277"/>
          </a:xfrm>
          <a:prstGeom prst="roundRect">
            <a:avLst>
              <a:gd name="adj" fmla="val 3703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71425" y="1778215"/>
            <a:ext cx="4952355" cy="1460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⚡ 结构与训练：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简单线性层堆叠，训练极快，单卡即可完成，成本低。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🎯 对齐效果：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满足大部分基础对齐场景，效果已达可用水准。</a:t>
            </a:r>
          </a:p>
          <a:p>
            <a:pPr>
              <a:lnSpc>
                <a:spcPct val="108333"/>
              </a:lnSpc>
            </a:pPr>
            <a:r>
              <a:rPr 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📌 适用场景：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轻量级多模态模型、快速原型验证、对算力成本敏感的应用。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26983" y="3784554"/>
            <a:ext cx="5790446" cy="2730144"/>
          </a:xfrm>
          <a:prstGeom prst="roundRect">
            <a:avLst>
              <a:gd name="adj" fmla="val 46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6983" y="3784554"/>
            <a:ext cx="76190" cy="2730144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442" y="3949632"/>
            <a:ext cx="5206322" cy="44444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200">
                <a:solidFill>
                  <a:srgbClr val="111827"/>
                </a:solidFill>
                <a:latin typeface="微软雅黑"/>
                <a:ea typeface="微软雅黑"/>
                <a:cs typeface="微软雅黑"/>
                <a:sym typeface="微软雅黑"/>
              </a:rPr>
              <a:t>Transformer 对齐 (Q-Former) —— 极致性能之选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442" y="4571851"/>
            <a:ext cx="5206322" cy="1714277"/>
          </a:xfrm>
          <a:prstGeom prst="roundRect">
            <a:avLst>
              <a:gd name="adj" fmla="val 3703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71425" y="4698835"/>
            <a:ext cx="4952355" cy="1460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结构与训练：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基于复杂的Transformer编码器，需多卡并行训练，成本较高。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🚀 对齐效果：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实现精细对齐，对复杂语义和视觉特征捕捉更强。</a:t>
            </a:r>
          </a:p>
          <a:p>
            <a:pPr>
              <a:lnSpc>
                <a:spcPct val="108333"/>
              </a:lnSpc>
            </a:pPr>
            <a:r>
              <a:rPr lang="en-US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📌 适用场景：</a:t>
            </a: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高精度多模态模型、复杂推理任务、追求SOTA性能的场景。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34888" y="876632"/>
            <a:ext cx="5828541" cy="5650764"/>
          </a:xfrm>
          <a:prstGeom prst="roundRect">
            <a:avLst>
              <a:gd name="adj" fmla="val 2247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6157" y="1143298"/>
            <a:ext cx="5333305" cy="50793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>
                <a:solidFill>
                  <a:srgbClr val="111827"/>
                </a:solidFill>
                <a:latin typeface="微软雅黑"/>
                <a:ea typeface="微软雅黑"/>
                <a:cs typeface="微软雅黑"/>
                <a:sym typeface="微软雅黑"/>
              </a:rPr>
              <a:t>💡 核心权衡与决策指南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6157" y="1905199"/>
            <a:ext cx="5333305" cy="1142851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3140" y="2032182"/>
            <a:ext cx="5079339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开发与迭代效率</a:t>
            </a:r>
            <a:endParaRPr lang="en-US" sz="1100"/>
          </a:p>
          <a:p>
            <a:pPr>
              <a:lnSpc>
                <a:spcPct val="125000"/>
              </a:lnSpc>
            </a:pPr>
            <a:r>
              <a:rPr lang="en-US" sz="1300" b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若需快速上线或验证想法，MLP投影是首选；若周期充裕且追求极致，选Transformer。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476157" y="3302017"/>
            <a:ext cx="5333305" cy="1142851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3140" y="3429000"/>
            <a:ext cx="5079339" cy="8888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💰 算力与部署成本</a:t>
            </a:r>
            <a:endParaRPr lang="en-US" sz="1100"/>
          </a:p>
          <a:p>
            <a:pPr>
              <a:lnSpc>
                <a:spcPct val="125000"/>
              </a:lnSpc>
            </a:pPr>
            <a:r>
              <a:rPr lang="en-US" sz="1300" b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移动端、边缘端或低成本服务优先选MLP；服务器端部署、商业级旗舰模型可考虑Transformer。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6157" y="4698835"/>
            <a:ext cx="5333305" cy="1396818"/>
          </a:xfrm>
          <a:prstGeom prst="roundRect">
            <a:avLst>
              <a:gd name="adj" fmla="val 7272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03140" y="4889310"/>
            <a:ext cx="5079339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🎯 业务场景需求</a:t>
            </a:r>
            <a:endParaRPr lang="en-US" sz="1100"/>
          </a:p>
          <a:p>
            <a:pPr>
              <a:lnSpc>
                <a:spcPct val="125000"/>
              </a:lnSpc>
            </a:pPr>
            <a:r>
              <a:rPr lang="en-US" sz="1300" b="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通用对话/基础VQA → MLP足以胜任；复杂图像理解、多轮逻辑推理、细粒度描述 → 优选Transformer对齐。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1301528" y="6413112"/>
            <a:ext cx="761901" cy="380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r">
              <a:lnSpc>
                <a:spcPct val="125000"/>
              </a:lnSpc>
              <a:defRPr/>
            </a:pPr>
            <a:r>
              <a:rPr lang="en-US" sz="1200" b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27143" y="1361164"/>
            <a:ext cx="2839239" cy="600164"/>
          </a:xfrm>
        </p:spPr>
        <p:txBody>
          <a:bodyPr wrap="none" anchor="ctr">
            <a:spAutoFit/>
          </a:bodyPr>
          <a:lstStyle/>
          <a:p>
            <a:pPr marL="0" eaLnBrk="1" hangingPunct="1">
              <a:spcBef>
                <a:spcPts val="1000"/>
              </a:spcBef>
              <a:buNone/>
            </a:pPr>
            <a:r>
              <a:rPr lang="zh-CN" altLang="en-US" sz="3300" spc="150" dirty="0">
                <a:solidFill>
                  <a:schemeClr val="bg1">
                    <a:lumMod val="65000"/>
                  </a:schemeClr>
                </a:solidFill>
                <a:ea typeface="微软雅黑" panose="020B0503020204020204" charset="-122"/>
                <a:cs typeface="+mn-cs"/>
              </a:rPr>
              <a:t>一、发展历程</a:t>
            </a:r>
          </a:p>
        </p:txBody>
      </p:sp>
      <p:sp>
        <p:nvSpPr>
          <p:cNvPr id="44" name="内容占位符 1"/>
          <p:cNvSpPr txBox="1"/>
          <p:nvPr>
            <p:custDataLst>
              <p:tags r:id="rId2"/>
            </p:custDataLst>
          </p:nvPr>
        </p:nvSpPr>
        <p:spPr>
          <a:xfrm>
            <a:off x="4527143" y="2273223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二、模型架构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395834" y="1358840"/>
            <a:ext cx="2007876" cy="4140000"/>
            <a:chOff x="435714" y="1377232"/>
            <a:chExt cx="2007876" cy="4140000"/>
          </a:xfrm>
        </p:grpSpPr>
        <p:sp>
          <p:nvSpPr>
            <p:cNvPr id="48" name="矩形 47"/>
            <p:cNvSpPr/>
            <p:nvPr>
              <p:custDataLst>
                <p:tags r:id="rId7"/>
              </p:custDataLst>
            </p:nvPr>
          </p:nvSpPr>
          <p:spPr>
            <a:xfrm>
              <a:off x="435714" y="1377232"/>
              <a:ext cx="1800200" cy="4140000"/>
            </a:xfrm>
            <a:prstGeom prst="rect">
              <a:avLst/>
            </a:prstGeom>
            <a:noFill/>
            <a:ln w="25400">
              <a:solidFill>
                <a:srgbClr val="004A8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800" b="1" dirty="0">
                <a:solidFill>
                  <a:srgbClr val="000066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 rot="5400000">
              <a:off x="1392981" y="3247177"/>
              <a:ext cx="1701107" cy="400110"/>
            </a:xfrm>
            <a:prstGeom prst="rect">
              <a:avLst/>
            </a:prstGeom>
            <a:solidFill>
              <a:srgbClr val="004A8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i="1" spc="100" dirty="0">
                  <a:solidFill>
                    <a:schemeClr val="bg1"/>
                  </a:solidFill>
                </a:rPr>
                <a:t>CONTENTS</a:t>
              </a:r>
              <a:endParaRPr lang="zh-CN" altLang="en-US" sz="2000" i="1" spc="1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9"/>
              </p:custDataLst>
            </p:nvPr>
          </p:nvSpPr>
          <p:spPr>
            <a:xfrm>
              <a:off x="916431" y="2230883"/>
              <a:ext cx="640715" cy="252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本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节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内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容</a:t>
              </a:r>
            </a:p>
          </p:txBody>
        </p:sp>
      </p:grpSp>
      <p:sp>
        <p:nvSpPr>
          <p:cNvPr id="2" name="内容占位符 1"/>
          <p:cNvSpPr txBox="1"/>
          <p:nvPr>
            <p:custDataLst>
              <p:tags r:id="rId3"/>
            </p:custDataLst>
          </p:nvPr>
        </p:nvSpPr>
        <p:spPr>
          <a:xfrm>
            <a:off x="4527143" y="3162199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三、模型训练</a:t>
            </a:r>
          </a:p>
        </p:txBody>
      </p:sp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453CADE1-90F2-40EA-ABA2-008C504BD25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51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1F4BBE9D-CB2A-45C8-AA89-51AEEF5B65A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27143" y="4051175"/>
            <a:ext cx="5005216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四、模型增强与适配技术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DF7738E5-3910-4017-98A0-CA5E55A87B7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25383" y="4940151"/>
            <a:ext cx="4157228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五、智能体</a:t>
            </a:r>
            <a:r>
              <a:rPr kumimoji="1" lang="en-US" altLang="zh-CN" sz="3300" spc="150" dirty="0">
                <a:solidFill>
                  <a:schemeClr val="bg1">
                    <a:lumMod val="65000"/>
                  </a:schemeClr>
                </a:solidFill>
              </a:rPr>
              <a:t>/Agent</a:t>
            </a:r>
            <a:endParaRPr kumimoji="1" lang="zh-CN" altLang="en-US" sz="3300" spc="15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914877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utoShape 3">
            <a:extLst>
              <a:ext uri="{FF2B5EF4-FFF2-40B4-BE49-F238E27FC236}">
                <a16:creationId xmlns:a16="http://schemas.microsoft.com/office/drawing/2014/main" id="{75AB16DE-E684-494F-A267-86418FFD7B76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32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</a:t>
            </a:r>
            <a:r>
              <a:rPr lang="en-US" sz="32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："</a:t>
            </a:r>
            <a:r>
              <a:rPr lang="en-US" sz="32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站在巨人的肩膀上</a:t>
            </a:r>
            <a:r>
              <a:rPr lang="en-US" sz="32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en-US" sz="1100" dirty="0"/>
          </a:p>
        </p:txBody>
      </p:sp>
      <p:sp>
        <p:nvSpPr>
          <p:cNvPr id="46" name="AutoShape 4">
            <a:extLst>
              <a:ext uri="{FF2B5EF4-FFF2-40B4-BE49-F238E27FC236}">
                <a16:creationId xmlns:a16="http://schemas.microsoft.com/office/drawing/2014/main" id="{FD2F0E2D-7109-4FB5-9550-9C24A0CE12D7}"/>
              </a:ext>
            </a:extLst>
          </p:cNvPr>
          <p:cNvSpPr/>
          <p:nvPr/>
        </p:nvSpPr>
        <p:spPr>
          <a:xfrm>
            <a:off x="762000" y="1651000"/>
            <a:ext cx="5207000" cy="35687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91952AA5-8FC3-4039-8000-9EA998A8AE1B}"/>
              </a:ext>
            </a:extLst>
          </p:cNvPr>
          <p:cNvSpPr/>
          <p:nvPr/>
        </p:nvSpPr>
        <p:spPr>
          <a:xfrm>
            <a:off x="1016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为什么不从头训练？</a:t>
            </a:r>
            <a:endParaRPr lang="en-US" sz="1100"/>
          </a:p>
        </p:txBody>
      </p:sp>
      <p:pic>
        <p:nvPicPr>
          <p:cNvPr id="48" name="Picture 6">
            <a:extLst>
              <a:ext uri="{FF2B5EF4-FFF2-40B4-BE49-F238E27FC236}">
                <a16:creationId xmlns:a16="http://schemas.microsoft.com/office/drawing/2014/main" id="{AAB45DF1-76A1-487C-8CB3-4FA888E1D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49" name="AutoShape 7">
            <a:extLst>
              <a:ext uri="{FF2B5EF4-FFF2-40B4-BE49-F238E27FC236}">
                <a16:creationId xmlns:a16="http://schemas.microsoft.com/office/drawing/2014/main" id="{11F6F6D5-14FB-4A45-96E1-799F77809A47}"/>
              </a:ext>
            </a:extLst>
          </p:cNvPr>
          <p:cNvSpPr/>
          <p:nvPr/>
        </p:nvSpPr>
        <p:spPr>
          <a:xfrm>
            <a:off x="1460500" y="24892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成熟的单模态能力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视觉和语言模型已在海量数据上完成训练，拥有坚实的基础能力，无需从零积累。</a:t>
            </a:r>
          </a:p>
        </p:txBody>
      </p:sp>
      <p:pic>
        <p:nvPicPr>
          <p:cNvPr id="50" name="Picture 8">
            <a:extLst>
              <a:ext uri="{FF2B5EF4-FFF2-40B4-BE49-F238E27FC236}">
                <a16:creationId xmlns:a16="http://schemas.microsoft.com/office/drawing/2014/main" id="{7A5B5AF6-3923-4452-935B-5BE126CC1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51" name="AutoShape 9">
            <a:extLst>
              <a:ext uri="{FF2B5EF4-FFF2-40B4-BE49-F238E27FC236}">
                <a16:creationId xmlns:a16="http://schemas.microsoft.com/office/drawing/2014/main" id="{EA2949F1-0223-43AB-9C9C-C9DAED5A4DB2}"/>
              </a:ext>
            </a:extLst>
          </p:cNvPr>
          <p:cNvSpPr/>
          <p:nvPr/>
        </p:nvSpPr>
        <p:spPr>
          <a:xfrm>
            <a:off x="1460500" y="35052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极高的计算成本门槛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从头训练需数十亿级图文对和数千张GPU集群支持，时间与资金成本极高，难以负担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52" name="Picture 10">
            <a:extLst>
              <a:ext uri="{FF2B5EF4-FFF2-40B4-BE49-F238E27FC236}">
                <a16:creationId xmlns:a16="http://schemas.microsoft.com/office/drawing/2014/main" id="{B6C16A9A-4E9E-4D7B-8B97-7966C741D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72000"/>
            <a:ext cx="304800" cy="304800"/>
          </a:xfrm>
          <a:prstGeom prst="rect">
            <a:avLst/>
          </a:prstGeom>
        </p:spPr>
      </p:pic>
      <p:sp>
        <p:nvSpPr>
          <p:cNvPr id="53" name="AutoShape 11">
            <a:extLst>
              <a:ext uri="{FF2B5EF4-FFF2-40B4-BE49-F238E27FC236}">
                <a16:creationId xmlns:a16="http://schemas.microsoft.com/office/drawing/2014/main" id="{812D88A1-0F30-4BF1-A94F-6FB32E6F2EC4}"/>
              </a:ext>
            </a:extLst>
          </p:cNvPr>
          <p:cNvSpPr/>
          <p:nvPr/>
        </p:nvSpPr>
        <p:spPr>
          <a:xfrm>
            <a:off x="1460500" y="45212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高效的能力迁移与复用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在保留单模态能力的基础上，可高效学习跨模态交互逻辑，事半功倍。</a:t>
            </a:r>
          </a:p>
        </p:txBody>
      </p:sp>
      <p:sp>
        <p:nvSpPr>
          <p:cNvPr id="54" name="AutoShape 12">
            <a:extLst>
              <a:ext uri="{FF2B5EF4-FFF2-40B4-BE49-F238E27FC236}">
                <a16:creationId xmlns:a16="http://schemas.microsoft.com/office/drawing/2014/main" id="{4ED09693-5D92-42C5-B992-8F776A517A76}"/>
              </a:ext>
            </a:extLst>
          </p:cNvPr>
          <p:cNvSpPr/>
          <p:nvPr/>
        </p:nvSpPr>
        <p:spPr>
          <a:xfrm>
            <a:off x="6223000" y="1651000"/>
            <a:ext cx="5207000" cy="35687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13">
            <a:extLst>
              <a:ext uri="{FF2B5EF4-FFF2-40B4-BE49-F238E27FC236}">
                <a16:creationId xmlns:a16="http://schemas.microsoft.com/office/drawing/2014/main" id="{6A96BA17-72AB-4385-AC41-6D8AFD0B8313}"/>
              </a:ext>
            </a:extLst>
          </p:cNvPr>
          <p:cNvSpPr/>
          <p:nvPr/>
        </p:nvSpPr>
        <p:spPr>
          <a:xfrm>
            <a:off x="6477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三模块初始化方案</a:t>
            </a:r>
            <a:endParaRPr lang="en-US" sz="1100"/>
          </a:p>
        </p:txBody>
      </p:sp>
      <p:pic>
        <p:nvPicPr>
          <p:cNvPr id="56" name="Picture 14">
            <a:extLst>
              <a:ext uri="{FF2B5EF4-FFF2-40B4-BE49-F238E27FC236}">
                <a16:creationId xmlns:a16="http://schemas.microsoft.com/office/drawing/2014/main" id="{AF0DF9AB-69CA-4DDD-AC87-D5971EEDBE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540000"/>
            <a:ext cx="304800" cy="304800"/>
          </a:xfrm>
          <a:prstGeom prst="rect">
            <a:avLst/>
          </a:prstGeom>
        </p:spPr>
      </p:pic>
      <p:sp>
        <p:nvSpPr>
          <p:cNvPr id="57" name="AutoShape 15">
            <a:extLst>
              <a:ext uri="{FF2B5EF4-FFF2-40B4-BE49-F238E27FC236}">
                <a16:creationId xmlns:a16="http://schemas.microsoft.com/office/drawing/2014/main" id="{F94DABCB-CF87-403B-871D-ACAA62F6AD64}"/>
              </a:ext>
            </a:extLst>
          </p:cNvPr>
          <p:cNvSpPr/>
          <p:nvPr/>
        </p:nvSpPr>
        <p:spPr>
          <a:xfrm>
            <a:off x="6921500" y="24892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视觉编码器 (Visual Encoder)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复用大规模图文对预训练的模型（如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CLIP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），负责将图片转化为计算机可理解的特征。</a:t>
            </a:r>
          </a:p>
        </p:txBody>
      </p:sp>
      <p:pic>
        <p:nvPicPr>
          <p:cNvPr id="58" name="Picture 16">
            <a:extLst>
              <a:ext uri="{FF2B5EF4-FFF2-40B4-BE49-F238E27FC236}">
                <a16:creationId xmlns:a16="http://schemas.microsoft.com/office/drawing/2014/main" id="{36EAEB39-A8A3-4195-8CBE-BB6BBF483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556000"/>
            <a:ext cx="304800" cy="304800"/>
          </a:xfrm>
          <a:prstGeom prst="rect">
            <a:avLst/>
          </a:prstGeom>
        </p:spPr>
      </p:pic>
      <p:sp>
        <p:nvSpPr>
          <p:cNvPr id="59" name="AutoShape 17">
            <a:extLst>
              <a:ext uri="{FF2B5EF4-FFF2-40B4-BE49-F238E27FC236}">
                <a16:creationId xmlns:a16="http://schemas.microsoft.com/office/drawing/2014/main" id="{118FFBA0-F9A8-4BEB-841E-0DFDD50BD803}"/>
              </a:ext>
            </a:extLst>
          </p:cNvPr>
          <p:cNvSpPr/>
          <p:nvPr/>
        </p:nvSpPr>
        <p:spPr>
          <a:xfrm>
            <a:off x="6921500" y="35052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</a:t>
            </a:r>
            <a:r>
              <a:rPr lang="en-US" sz="15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 (Connector)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通常随机初始化一个轻量级网络（如</a:t>
            </a:r>
            <a:r>
              <a:rPr lang="en-US" sz="12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MLP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作为“翻译官”实现视觉与语言特征的对齐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60" name="Picture 18">
            <a:extLst>
              <a:ext uri="{FF2B5EF4-FFF2-40B4-BE49-F238E27FC236}">
                <a16:creationId xmlns:a16="http://schemas.microsoft.com/office/drawing/2014/main" id="{4B4A17EE-53B8-4B14-A9B3-0FEEF6753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572000"/>
            <a:ext cx="304800" cy="304800"/>
          </a:xfrm>
          <a:prstGeom prst="rect">
            <a:avLst/>
          </a:prstGeom>
        </p:spPr>
      </p:pic>
      <p:sp>
        <p:nvSpPr>
          <p:cNvPr id="61" name="AutoShape 19">
            <a:extLst>
              <a:ext uri="{FF2B5EF4-FFF2-40B4-BE49-F238E27FC236}">
                <a16:creationId xmlns:a16="http://schemas.microsoft.com/office/drawing/2014/main" id="{40EFCE9A-0E06-48F6-BE1A-5BB213EAED46}"/>
              </a:ext>
            </a:extLst>
          </p:cNvPr>
          <p:cNvSpPr/>
          <p:nvPr/>
        </p:nvSpPr>
        <p:spPr>
          <a:xfrm>
            <a:off x="6921500" y="45212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 (LLM)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复用成熟的开源语言基座（如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LLaMA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Qwen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），负责生成最终的自然语言回答。</a:t>
            </a:r>
          </a:p>
        </p:txBody>
      </p:sp>
      <p:sp>
        <p:nvSpPr>
          <p:cNvPr id="62" name="AutoShape 20">
            <a:extLst>
              <a:ext uri="{FF2B5EF4-FFF2-40B4-BE49-F238E27FC236}">
                <a16:creationId xmlns:a16="http://schemas.microsoft.com/office/drawing/2014/main" id="{719E8D4C-3734-41E6-BE9B-EFE0094C3085}"/>
              </a:ext>
            </a:extLst>
          </p:cNvPr>
          <p:cNvSpPr/>
          <p:nvPr/>
        </p:nvSpPr>
        <p:spPr>
          <a:xfrm>
            <a:off x="762000" y="5461000"/>
            <a:ext cx="10668000" cy="1079500"/>
          </a:xfrm>
          <a:prstGeom prst="roundRect">
            <a:avLst>
              <a:gd name="adj" fmla="val 14117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3" name="Picture 21">
            <a:extLst>
              <a:ext uri="{FF2B5EF4-FFF2-40B4-BE49-F238E27FC236}">
                <a16:creationId xmlns:a16="http://schemas.microsoft.com/office/drawing/2014/main" id="{050A9F9D-61C8-4748-BDE1-037D0C6BCB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5715000"/>
            <a:ext cx="558800" cy="558800"/>
          </a:xfrm>
          <a:prstGeom prst="rect">
            <a:avLst/>
          </a:prstGeom>
        </p:spPr>
      </p:pic>
      <p:sp>
        <p:nvSpPr>
          <p:cNvPr id="64" name="AutoShape 22">
            <a:extLst>
              <a:ext uri="{FF2B5EF4-FFF2-40B4-BE49-F238E27FC236}">
                <a16:creationId xmlns:a16="http://schemas.microsoft.com/office/drawing/2014/main" id="{E146B4CF-D178-44D4-9EAC-59B7C9FEAEC6}"/>
              </a:ext>
            </a:extLst>
          </p:cNvPr>
          <p:cNvSpPr/>
          <p:nvPr/>
        </p:nvSpPr>
        <p:spPr>
          <a:xfrm>
            <a:off x="1905000" y="5651500"/>
            <a:ext cx="927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整个过程就像“搭积木”：将三个功能强大且独立的模块有机组合，快速形成多模态模型的核心骨架，避免从零开始的重复造轮子。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57494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3">
            <a:extLst>
              <a:ext uri="{FF2B5EF4-FFF2-40B4-BE49-F238E27FC236}">
                <a16:creationId xmlns:a16="http://schemas.microsoft.com/office/drawing/2014/main" id="{59C25213-494D-4F8F-99B7-2F7AB55E4D38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Step1</a:t>
            </a:r>
            <a:r>
              <a:rPr lang="zh-CN" altLang="en-US" sz="3200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2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视觉编码器的选择与初始化</a:t>
            </a:r>
            <a:endParaRPr lang="en-US" sz="1100" dirty="0"/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4B4DB9EF-AD7D-4CD7-B72D-7646C5BE5046}"/>
              </a:ext>
            </a:extLst>
          </p:cNvPr>
          <p:cNvSpPr/>
          <p:nvPr/>
        </p:nvSpPr>
        <p:spPr>
          <a:xfrm>
            <a:off x="762000" y="1524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24E90F49-AA28-413B-A6E1-DE55E310B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52600"/>
            <a:ext cx="304800" cy="304800"/>
          </a:xfrm>
          <a:prstGeom prst="rect">
            <a:avLst/>
          </a:prstGeom>
        </p:spPr>
      </p:pic>
      <p:sp>
        <p:nvSpPr>
          <p:cNvPr id="20" name="AutoShape 6">
            <a:extLst>
              <a:ext uri="{FF2B5EF4-FFF2-40B4-BE49-F238E27FC236}">
                <a16:creationId xmlns:a16="http://schemas.microsoft.com/office/drawing/2014/main" id="{5762881F-9187-4D20-83F5-6507C50E93EC}"/>
              </a:ext>
            </a:extLst>
          </p:cNvPr>
          <p:cNvSpPr/>
          <p:nvPr/>
        </p:nvSpPr>
        <p:spPr>
          <a:xfrm>
            <a:off x="1460500" y="17145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主流选择：CLIP 系列模型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常用变体：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ViT-B/32, ViT-L/14, ViT-L/14@336px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基于超4亿图文对预训练，习得与语言空间高度对齐的通用视觉表征能力。</a:t>
            </a:r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15F0A9A7-2865-4992-A8DE-6C221DF562D1}"/>
              </a:ext>
            </a:extLst>
          </p:cNvPr>
          <p:cNvSpPr/>
          <p:nvPr/>
        </p:nvSpPr>
        <p:spPr>
          <a:xfrm>
            <a:off x="762000" y="32385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8D6E6FE6-6B00-47D0-ADCC-3864075BE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67100"/>
            <a:ext cx="304800" cy="304800"/>
          </a:xfrm>
          <a:prstGeom prst="rect">
            <a:avLst/>
          </a:prstGeom>
        </p:spPr>
      </p:pic>
      <p:sp>
        <p:nvSpPr>
          <p:cNvPr id="23" name="AutoShape 9">
            <a:extLst>
              <a:ext uri="{FF2B5EF4-FFF2-40B4-BE49-F238E27FC236}">
                <a16:creationId xmlns:a16="http://schemas.microsoft.com/office/drawing/2014/main" id="{4ADCC224-AC3C-43BD-9525-5537BBC7DD85}"/>
              </a:ext>
            </a:extLst>
          </p:cNvPr>
          <p:cNvSpPr/>
          <p:nvPr/>
        </p:nvSpPr>
        <p:spPr>
          <a:xfrm>
            <a:off x="1460500" y="3429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初始化与训练策略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权重加载：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直接复用 ImageNet 等通用数据集上的预训练权重。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训练模式：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全程参数冻结 (Frozen)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，在下游微调任务中不更新。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特征输出：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将输入图片转化为固定维度的特征序列（如 [1, 256, 768] 张量）。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A31CD057-CE61-48AA-B464-22E6448CF3F6}"/>
              </a:ext>
            </a:extLst>
          </p:cNvPr>
          <p:cNvSpPr/>
          <p:nvPr/>
        </p:nvSpPr>
        <p:spPr>
          <a:xfrm>
            <a:off x="762000" y="520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11">
            <a:extLst>
              <a:ext uri="{FF2B5EF4-FFF2-40B4-BE49-F238E27FC236}">
                <a16:creationId xmlns:a16="http://schemas.microsoft.com/office/drawing/2014/main" id="{06CA260D-BD55-43B1-97D6-E28C162A2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26" name="AutoShape 12">
            <a:extLst>
              <a:ext uri="{FF2B5EF4-FFF2-40B4-BE49-F238E27FC236}">
                <a16:creationId xmlns:a16="http://schemas.microsoft.com/office/drawing/2014/main" id="{6B82A209-F23E-4A10-99C5-27041993EA2D}"/>
              </a:ext>
            </a:extLst>
          </p:cNvPr>
          <p:cNvSpPr/>
          <p:nvPr/>
        </p:nvSpPr>
        <p:spPr>
          <a:xfrm>
            <a:off x="1460500" y="5397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CFEFF"/>
                </a:solidFill>
                <a:latin typeface="Noto Sans SC"/>
                <a:ea typeface="Noto Sans SC"/>
                <a:cs typeface="Noto Sans SC"/>
                <a:sym typeface="Noto Sans SC"/>
              </a:rPr>
              <a:t>充当“像素-语义”翻译官：将原始的高维像素信息压缩，映射为富含语义信息的特征向量，为后续跨模态交互奠定基础。</a:t>
            </a:r>
          </a:p>
        </p:txBody>
      </p:sp>
      <p:sp>
        <p:nvSpPr>
          <p:cNvPr id="27" name="AutoShape 13">
            <a:extLst>
              <a:ext uri="{FF2B5EF4-FFF2-40B4-BE49-F238E27FC236}">
                <a16:creationId xmlns:a16="http://schemas.microsoft.com/office/drawing/2014/main" id="{009C64B0-FBCC-4ED5-BE60-85CC6AAF8328}"/>
              </a:ext>
            </a:extLst>
          </p:cNvPr>
          <p:cNvSpPr/>
          <p:nvPr/>
        </p:nvSpPr>
        <p:spPr>
          <a:xfrm>
            <a:off x="6223000" y="1778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5EF37DCE-5164-4F4F-9E5A-E9FAEEA518BC}"/>
              </a:ext>
            </a:extLst>
          </p:cNvPr>
          <p:cNvSpPr/>
          <p:nvPr/>
        </p:nvSpPr>
        <p:spPr>
          <a:xfrm>
            <a:off x="6477000" y="5461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ViT 视觉编码器结构示意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Patch Embedding + Transformer Encoder 架构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47704CD-0CB3-4BED-9121-ABC460C305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7"/>
          <a:srcRect t="-49" b="-1"/>
          <a:stretch/>
        </p:blipFill>
        <p:spPr>
          <a:xfrm>
            <a:off x="6357874" y="2600909"/>
            <a:ext cx="5029920" cy="266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318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CEC67D50-42D6-434E-9AB9-A705F7405009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Step2</a:t>
            </a:r>
            <a:r>
              <a:rPr lang="en-US" sz="32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：连接器的设计与初始化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0FF8D67-BECB-4B51-9066-904C7C6FB732}"/>
              </a:ext>
            </a:extLst>
          </p:cNvPr>
          <p:cNvSpPr/>
          <p:nvPr/>
        </p:nvSpPr>
        <p:spPr>
          <a:xfrm>
            <a:off x="762000" y="1652972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7923959-2904-4F9F-8655-912EAAF8C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81572"/>
            <a:ext cx="355600" cy="3556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22184445-C23D-4B03-906D-8B6820A6AAF3}"/>
              </a:ext>
            </a:extLst>
          </p:cNvPr>
          <p:cNvSpPr/>
          <p:nvPr/>
        </p:nvSpPr>
        <p:spPr>
          <a:xfrm>
            <a:off x="1524000" y="1856172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核心作用：模型的“翻译官”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将视觉编码器输出的高维特征向量，进行空间变换与映射，转化为语言模型能够理解并处理的输入格式。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0D0A9DB-4539-4F67-90C5-202B666A3A3F}"/>
              </a:ext>
            </a:extLst>
          </p:cNvPr>
          <p:cNvSpPr/>
          <p:nvPr/>
        </p:nvSpPr>
        <p:spPr>
          <a:xfrm>
            <a:off x="762000" y="3307184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FB3BE46-EA57-4A72-8173-8FC1EDEE4D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61184"/>
            <a:ext cx="355600" cy="355600"/>
          </a:xfrm>
          <a:prstGeom prst="rect">
            <a:avLst/>
          </a:prstGeom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FFCE8DBE-B48D-4244-A3D4-19A7A7BDB42C}"/>
              </a:ext>
            </a:extLst>
          </p:cNvPr>
          <p:cNvSpPr/>
          <p:nvPr/>
        </p:nvSpPr>
        <p:spPr>
          <a:xfrm>
            <a:off x="1524000" y="3510384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主流设计方案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线性投影层 (Linear Projection)，结构简单，计算量小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常用版：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多层感知机 (MLP, 2-3层)，具备更强的非线性映射能力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Q-Former (如BLIP-2)，支持更灵活的视觉特征查询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1A3061D-7534-4768-9D08-FC613D4CEAA0}"/>
              </a:ext>
            </a:extLst>
          </p:cNvPr>
          <p:cNvSpPr/>
          <p:nvPr/>
        </p:nvSpPr>
        <p:spPr>
          <a:xfrm>
            <a:off x="762000" y="5207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E112D607-BF3C-4438-9052-85B0558F6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461000"/>
            <a:ext cx="355600" cy="355600"/>
          </a:xfrm>
          <a:prstGeom prst="rect">
            <a:avLst/>
          </a:prstGeom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517B592B-7AFC-4A75-9D30-DEC1651A7280}"/>
              </a:ext>
            </a:extLst>
          </p:cNvPr>
          <p:cNvSpPr/>
          <p:nvPr/>
        </p:nvSpPr>
        <p:spPr>
          <a:xfrm>
            <a:off x="1524000" y="5288384"/>
            <a:ext cx="4191000" cy="12648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初始化与训练策略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初始化：通常采用随机初始化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(Xavier/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Glorot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Initialization)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训练定位：</a:t>
            </a:r>
            <a:r>
              <a:rPr lang="en-US" sz="1300" b="1" i="0" u="none" strike="noStrike" dirty="0" err="1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第一阶段唯一可训练的模块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，专注于学习视觉到语言的“翻译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A686821-89D5-4127-AB4D-BE156B83C51D}"/>
              </a:ext>
            </a:extLst>
          </p:cNvPr>
          <p:cNvSpPr/>
          <p:nvPr/>
        </p:nvSpPr>
        <p:spPr>
          <a:xfrm>
            <a:off x="6223000" y="1651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7F46903C-FD51-456E-886F-18F4DD4799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31" b="431"/>
          <a:stretch>
            <a:fillRect/>
          </a:stretch>
        </p:blipFill>
        <p:spPr>
          <a:xfrm>
            <a:off x="6477000" y="1905000"/>
            <a:ext cx="4699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7ACC824E-D6D7-4027-8A5F-6D711A4C0BED}"/>
              </a:ext>
            </a:extLst>
          </p:cNvPr>
          <p:cNvSpPr/>
          <p:nvPr/>
        </p:nvSpPr>
        <p:spPr>
          <a:xfrm>
            <a:off x="6477000" y="5397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多层感知机 (MLP) 结构示意</a:t>
            </a:r>
            <a:endParaRPr lang="en-US" sz="1100"/>
          </a:p>
          <a:p>
            <a:pPr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通过全连接层与激活函数的组合，实现从视觉特征空间到语言特征空间的非线性转换，是目前应用最广泛的连接器架构。</a:t>
            </a:r>
          </a:p>
        </p:txBody>
      </p:sp>
    </p:spTree>
    <p:extLst>
      <p:ext uri="{BB962C8B-B14F-4D97-AF65-F5344CB8AC3E}">
        <p14:creationId xmlns:p14="http://schemas.microsoft.com/office/powerpoint/2010/main" val="30566101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5032A2D-88C4-4B3B-B419-1729B65C0FD7}"/>
              </a:ext>
            </a:extLst>
          </p:cNvPr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Step3</a:t>
            </a:r>
            <a:r>
              <a:rPr lang="en-US" sz="32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：大语言模型的选择与初始化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76B7311-9177-4A6B-84D8-2159EA26D059}"/>
              </a:ext>
            </a:extLst>
          </p:cNvPr>
          <p:cNvSpPr/>
          <p:nvPr/>
        </p:nvSpPr>
        <p:spPr>
          <a:xfrm>
            <a:off x="762000" y="1524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98647ED-5DD0-450E-ACBB-4885F6F3D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A0936C9E-8902-49B2-A245-2A5F415198C3}"/>
              </a:ext>
            </a:extLst>
          </p:cNvPr>
          <p:cNvSpPr/>
          <p:nvPr/>
        </p:nvSpPr>
        <p:spPr>
          <a:xfrm>
            <a:off x="1524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主流选择</a:t>
            </a:r>
            <a:endParaRPr lang="en-US"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726EC5F-32B7-45FE-829C-6852591D561D}"/>
              </a:ext>
            </a:extLst>
          </p:cNvPr>
          <p:cNvSpPr/>
          <p:nvPr/>
        </p:nvSpPr>
        <p:spPr>
          <a:xfrm>
            <a:off x="1016000" y="2286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开源首选: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LLaMA-2 7B/13B, Mistral-7B  |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中文首选: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Qwen-7B, Baichuan-7B</a:t>
            </a:r>
            <a:endParaRPr lang="en-US"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46F76C1-A5E6-4D69-8139-26873F3BE7E7}"/>
              </a:ext>
            </a:extLst>
          </p:cNvPr>
          <p:cNvSpPr/>
          <p:nvPr/>
        </p:nvSpPr>
        <p:spPr>
          <a:xfrm>
            <a:off x="762000" y="330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11B6335-C51A-440B-953B-6C608E646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695773D1-94F0-4070-958E-B581EC375787}"/>
              </a:ext>
            </a:extLst>
          </p:cNvPr>
          <p:cNvSpPr/>
          <p:nvPr/>
        </p:nvSpPr>
        <p:spPr>
          <a:xfrm>
            <a:off x="1524000" y="353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初始化细节与训练策略</a:t>
            </a:r>
            <a:endParaRPr lang="en-US"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31C1A03-2249-4C7D-9F52-09CE0962ECAA}"/>
              </a:ext>
            </a:extLst>
          </p:cNvPr>
          <p:cNvSpPr/>
          <p:nvPr/>
        </p:nvSpPr>
        <p:spPr>
          <a:xfrm>
            <a:off x="1016000" y="3933056"/>
            <a:ext cx="4791174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加载权重：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直接加载预训练语言模型权重，无需从零开始训练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阶段一：完全冻结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（仅做解码器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 →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阶段二：选择性微调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（如LoRA）以适配多模态任务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3F49A5AB-AF73-4801-A913-1295DE64FFCF}"/>
              </a:ext>
            </a:extLst>
          </p:cNvPr>
          <p:cNvSpPr/>
          <p:nvPr/>
        </p:nvSpPr>
        <p:spPr>
          <a:xfrm>
            <a:off x="762000" y="5207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75587931-1F9E-4763-BBA9-EB354226A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461000"/>
            <a:ext cx="304800" cy="3048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DB183ED2-DB16-428E-9677-ABCFFE801440}"/>
              </a:ext>
            </a:extLst>
          </p:cNvPr>
          <p:cNvSpPr/>
          <p:nvPr/>
        </p:nvSpPr>
        <p:spPr>
          <a:xfrm>
            <a:off x="1524000" y="5435600"/>
            <a:ext cx="419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模型的“大脑”：理解与生成</a:t>
            </a:r>
            <a:endParaRPr lang="en-US"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D7FF0E3-96B9-4F79-A179-23D040AA5AB4}"/>
              </a:ext>
            </a:extLst>
          </p:cNvPr>
          <p:cNvSpPr/>
          <p:nvPr/>
        </p:nvSpPr>
        <p:spPr>
          <a:xfrm>
            <a:off x="1016000" y="5969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EFF6FF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负责精准理解用户指令，并融合来自视觉编码器的图像特征，最终生成流畅、准确的自然语言回答。</a:t>
            </a:r>
            <a:endParaRPr lang="en-US" sz="1100"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80AF042F-18B7-4F17-92A1-0A283C0FD7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55" r="2255"/>
          <a:stretch>
            <a:fillRect/>
          </a:stretch>
        </p:blipFill>
        <p:spPr>
          <a:xfrm>
            <a:off x="6477000" y="1905000"/>
            <a:ext cx="4953000" cy="4445000"/>
          </a:xfrm>
          <a:prstGeom prst="roundRect">
            <a:avLst>
              <a:gd name="adj" fmla="val 3428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>
            <a:extLst>
              <a:ext uri="{FF2B5EF4-FFF2-40B4-BE49-F238E27FC236}">
                <a16:creationId xmlns:a16="http://schemas.microsoft.com/office/drawing/2014/main" id="{E2A1F584-C2A0-46CC-9F34-996041ADA78A}"/>
              </a:ext>
            </a:extLst>
          </p:cNvPr>
          <p:cNvSpPr/>
          <p:nvPr/>
        </p:nvSpPr>
        <p:spPr>
          <a:xfrm>
            <a:off x="6477000" y="6413500"/>
            <a:ext cx="495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LLaMA 模型 Transformer Block 架构示意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706073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776D0D0A-A9C0-424A-8DA0-73ACB55FECB4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02. 第一阶段：跨模态对齐预训练</a:t>
            </a:r>
            <a:endParaRPr lang="en-US"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0BA00EC-DD0C-42F6-BDFD-B3C51A372DFA}"/>
              </a:ext>
            </a:extLst>
          </p:cNvPr>
          <p:cNvSpPr/>
          <p:nvPr/>
        </p:nvSpPr>
        <p:spPr>
          <a:xfrm>
            <a:off x="762000" y="165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FCF003D-31C3-4716-9110-F453F9E6F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0867513F-AC0B-4C27-A2DB-1D0D5F327911}"/>
              </a:ext>
            </a:extLst>
          </p:cNvPr>
          <p:cNvSpPr/>
          <p:nvPr/>
        </p:nvSpPr>
        <p:spPr>
          <a:xfrm>
            <a:off x="1524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25F2C20-1713-4FCD-97D7-197336001017}"/>
              </a:ext>
            </a:extLst>
          </p:cNvPr>
          <p:cNvSpPr/>
          <p:nvPr/>
        </p:nvSpPr>
        <p:spPr>
          <a:xfrm>
            <a:off x="1016000" y="2667000"/>
            <a:ext cx="279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打通“视觉-语言”通道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🔍 问题：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视觉与语言特征处于不同表征空间，如同两种不同语言，无法直接交流。</a:t>
            </a:r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训练“连接器”，将视觉特征“翻译”为语言模型可理解的语言。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A43DAF4-AA3D-4F6F-AA47-C1984669664F}"/>
              </a:ext>
            </a:extLst>
          </p:cNvPr>
          <p:cNvSpPr/>
          <p:nvPr/>
        </p:nvSpPr>
        <p:spPr>
          <a:xfrm>
            <a:off x="4445000" y="165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9FC034F3-EF50-4C44-97D8-E332D7C7E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C9039DF9-EEC0-49F8-8180-859269C344EA}"/>
              </a:ext>
            </a:extLst>
          </p:cNvPr>
          <p:cNvSpPr/>
          <p:nvPr/>
        </p:nvSpPr>
        <p:spPr>
          <a:xfrm>
            <a:off x="5207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</a:t>
            </a:r>
            <a:endParaRPr lang="en-US"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B962C810-5091-43C8-AF59-11C875DE2F67}"/>
              </a:ext>
            </a:extLst>
          </p:cNvPr>
          <p:cNvSpPr/>
          <p:nvPr/>
        </p:nvSpPr>
        <p:spPr>
          <a:xfrm>
            <a:off x="4699000" y="2667000"/>
            <a:ext cx="279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图像描述生成 (Image Captioning)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输入：一张任意的图片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输出：一段精准描述图片内容的自然语言文本。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这是一个典型的“看图说话”任务。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EEDCB9F1-B244-4C49-A80E-98306584B513}"/>
              </a:ext>
            </a:extLst>
          </p:cNvPr>
          <p:cNvSpPr/>
          <p:nvPr/>
        </p:nvSpPr>
        <p:spPr>
          <a:xfrm>
            <a:off x="8128000" y="165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E59F17AE-61FB-4BDB-9875-BC76A303A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905000"/>
            <a:ext cx="355600" cy="3556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783DFA79-A2DB-45F1-BCCD-6A8EF26764F1}"/>
              </a:ext>
            </a:extLst>
          </p:cNvPr>
          <p:cNvSpPr/>
          <p:nvPr/>
        </p:nvSpPr>
        <p:spPr>
          <a:xfrm>
            <a:off x="8890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训练策略</a:t>
            </a:r>
            <a:endParaRPr lang="en-US"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D1D2F33-3953-4E9B-8801-CCE13A1BF78D}"/>
              </a:ext>
            </a:extLst>
          </p:cNvPr>
          <p:cNvSpPr/>
          <p:nvPr/>
        </p:nvSpPr>
        <p:spPr>
          <a:xfrm>
            <a:off x="8382000" y="2667000"/>
            <a:ext cx="279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spcBef>
                <a:spcPts val="500"/>
              </a:spcBef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❄️ 冻结 (Frozen):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视觉编码器与大语言模型的参数保持固定，不更新。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🚀 训练 (Train):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仅优化“连接器”的参数，使其学会在两个空间之间进行特征转换。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EE8CC92-5393-46EA-8D7E-F92951863C9A}"/>
              </a:ext>
            </a:extLst>
          </p:cNvPr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456293BF-52E4-4086-892F-9B966C8529B3}"/>
              </a:ext>
            </a:extLst>
          </p:cNvPr>
          <p:cNvSpPr/>
          <p:nvPr/>
        </p:nvSpPr>
        <p:spPr>
          <a:xfrm>
            <a:off x="1016000" y="5524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关键认知：这个阶段的核心目标是让模型先“看懂”图片，而不是急于“听懂”人类指令。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5250967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EC50D320-8737-4C79-A55C-DDDD21C88DB0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训练任务：图像描述生成 (Captioning)</a:t>
            </a:r>
            <a:endParaRPr lang="en-US"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726E463-7BE5-4A7D-B36B-718036DA032C}"/>
              </a:ext>
            </a:extLst>
          </p:cNvPr>
          <p:cNvSpPr/>
          <p:nvPr/>
        </p:nvSpPr>
        <p:spPr>
          <a:xfrm>
            <a:off x="762000" y="1778000"/>
            <a:ext cx="4064000" cy="4318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52730BE-CE7D-47C5-9219-E7C553133A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4" b="1724"/>
          <a:stretch>
            <a:fillRect/>
          </a:stretch>
        </p:blipFill>
        <p:spPr>
          <a:xfrm>
            <a:off x="952500" y="2032000"/>
            <a:ext cx="3683000" cy="2667000"/>
          </a:xfrm>
          <a:prstGeom prst="roundRect">
            <a:avLst>
              <a:gd name="adj" fmla="val 380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90AD9E72-3DD7-4FE2-BAFA-8BBA34C5C2DF}"/>
              </a:ext>
            </a:extLst>
          </p:cNvPr>
          <p:cNvSpPr/>
          <p:nvPr/>
        </p:nvSpPr>
        <p:spPr>
          <a:xfrm>
            <a:off x="952500" y="4953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任务场景示例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F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输入：图片 + “描述这张图片”</a:t>
            </a:r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F69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输出：“一个穿着黄色雨衣的小女孩站在雨中”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72AB1C1-743D-407B-9DA5-277BDDCF6052}"/>
              </a:ext>
            </a:extLst>
          </p:cNvPr>
          <p:cNvSpPr/>
          <p:nvPr/>
        </p:nvSpPr>
        <p:spPr>
          <a:xfrm>
            <a:off x="5207000" y="1778000"/>
            <a:ext cx="6223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A417DA0-3321-4E3F-B24C-E8A45593C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2057400"/>
            <a:ext cx="609600" cy="609600"/>
          </a:xfrm>
          <a:prstGeom prst="rect">
            <a:avLst/>
          </a:prstGeom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45CAE59D-B90C-44C0-B6F0-5EC1441F8002}"/>
              </a:ext>
            </a:extLst>
          </p:cNvPr>
          <p:cNvSpPr/>
          <p:nvPr/>
        </p:nvSpPr>
        <p:spPr>
          <a:xfrm>
            <a:off x="6350000" y="19304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01. 输入输出定义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图像 + 文本提示词（如“描述这张图片”）。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模型生成的流畅自然语言描述文本，准确还原图像内容。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0C98471-DD40-4B52-A6E3-F95AA394658A}"/>
              </a:ext>
            </a:extLst>
          </p:cNvPr>
          <p:cNvSpPr/>
          <p:nvPr/>
        </p:nvSpPr>
        <p:spPr>
          <a:xfrm>
            <a:off x="5207000" y="3302000"/>
            <a:ext cx="6223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D6E38158-D28F-4320-8C85-398E4BE4C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000" y="3581400"/>
            <a:ext cx="609600" cy="609600"/>
          </a:xfrm>
          <a:prstGeom prst="rect">
            <a:avLst/>
          </a:prstGeom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E66CFDA7-227E-4325-93A5-ECA4B816048C}"/>
              </a:ext>
            </a:extLst>
          </p:cNvPr>
          <p:cNvSpPr/>
          <p:nvPr/>
        </p:nvSpPr>
        <p:spPr>
          <a:xfrm>
            <a:off x="6350000" y="34544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核心损失函数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采用标准的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语言模型交叉熵损失 (Cross-Entropy Loss)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。在计算时仅针对生成的描述文本部分进行梯度回传，引导模型学习正确的语义表达与语法结构。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1F8C40AC-A847-4459-87F6-AC34FF0C1B89}"/>
              </a:ext>
            </a:extLst>
          </p:cNvPr>
          <p:cNvSpPr/>
          <p:nvPr/>
        </p:nvSpPr>
        <p:spPr>
          <a:xfrm>
            <a:off x="5207000" y="4826000"/>
            <a:ext cx="6223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3FA942F5-1898-4BF3-A868-9101FB7DC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5105400"/>
            <a:ext cx="609600" cy="609600"/>
          </a:xfrm>
          <a:prstGeom prst="rect">
            <a:avLst/>
          </a:prstGeom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3BB74606-4222-44AA-9F95-66F0A48D5F36}"/>
              </a:ext>
            </a:extLst>
          </p:cNvPr>
          <p:cNvSpPr/>
          <p:nvPr/>
        </p:nvSpPr>
        <p:spPr>
          <a:xfrm>
            <a:off x="6350000" y="49784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03. 训练数据要求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依赖大规模、高质量的图文配对数据集。经典数据集包括：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COCO, CC3M, CC12M, LAION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。通常需要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百万至千万级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量级的样本，以确保模型具备丰富的视觉概念理解能力。</a:t>
            </a:r>
          </a:p>
        </p:txBody>
      </p:sp>
    </p:spTree>
    <p:extLst>
      <p:ext uri="{BB962C8B-B14F-4D97-AF65-F5344CB8AC3E}">
        <p14:creationId xmlns:p14="http://schemas.microsoft.com/office/powerpoint/2010/main" val="4252652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C53D7682-E3E9-4282-8A0F-FD18421B7C8C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03. 第二阶段：多模态指令微调</a:t>
            </a:r>
            <a:endParaRPr lang="en-US"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9A264A0-F567-471C-A648-BF2A7227EF15}"/>
              </a:ext>
            </a:extLst>
          </p:cNvPr>
          <p:cNvSpPr/>
          <p:nvPr/>
        </p:nvSpPr>
        <p:spPr>
          <a:xfrm>
            <a:off x="762000" y="1778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C5394B3-AADE-4D0B-B64E-9337D1B378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DF17BDE8-1884-45F1-9442-B37EF31A9C5E}"/>
              </a:ext>
            </a:extLst>
          </p:cNvPr>
          <p:cNvSpPr/>
          <p:nvPr/>
        </p:nvSpPr>
        <p:spPr>
          <a:xfrm>
            <a:off x="1549400" y="2006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核心目标：指令对齐</a:t>
            </a:r>
            <a:endParaRPr lang="en-US"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0942046-C779-4F06-9A98-193D83C7BE71}"/>
              </a:ext>
            </a:extLst>
          </p:cNvPr>
          <p:cNvSpPr/>
          <p:nvPr/>
        </p:nvSpPr>
        <p:spPr>
          <a:xfrm>
            <a:off x="952500" y="2794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当前痛点：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第一阶段模型仅能生成客观描述，无法理解并遵循复杂的人类指令进行互动，难以满足用户的多样化需求。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阶段目标：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让模型具备“听懂人话”的能力，精准理解指令意图，生成符合预期、逻辑连贯且有实际帮助的回答。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F75618D-BBA1-4EE0-8705-13D8B09A2E6F}"/>
              </a:ext>
            </a:extLst>
          </p:cNvPr>
          <p:cNvSpPr/>
          <p:nvPr/>
        </p:nvSpPr>
        <p:spPr>
          <a:xfrm>
            <a:off x="4445000" y="1778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6C500535-47CE-4C9E-9BE1-3821A5089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8E4E5B74-5C3F-4CE5-8778-12288FCC6930}"/>
              </a:ext>
            </a:extLst>
          </p:cNvPr>
          <p:cNvSpPr/>
          <p:nvPr/>
        </p:nvSpPr>
        <p:spPr>
          <a:xfrm>
            <a:off x="5232400" y="2006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核心任务：多模态问答</a:t>
            </a:r>
            <a:endParaRPr lang="en-US"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9E872219-29DF-4A26-A3B1-6BAE6F82A332}"/>
              </a:ext>
            </a:extLst>
          </p:cNvPr>
          <p:cNvSpPr/>
          <p:nvPr/>
        </p:nvSpPr>
        <p:spPr>
          <a:xfrm>
            <a:off x="4635500" y="2794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核心任务聚焦于</a:t>
            </a:r>
            <a:r>
              <a:rPr lang="en-US" sz="13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VQA (Visual Question Answering)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输入组合：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视觉图像 + 自然语言指令/问题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输出要求：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准确理解并回答，完成推理或互动任务，而非单纯的图像描述。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4E66D417-A522-46E4-A1D3-1D570D41F851}"/>
              </a:ext>
            </a:extLst>
          </p:cNvPr>
          <p:cNvSpPr/>
          <p:nvPr/>
        </p:nvSpPr>
        <p:spPr>
          <a:xfrm>
            <a:off x="8128000" y="1778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E8AA754D-BE76-49AB-AEC7-67EFB6511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98CFB514-A00B-4FAD-98DC-E0CBACF19C14}"/>
              </a:ext>
            </a:extLst>
          </p:cNvPr>
          <p:cNvSpPr/>
          <p:nvPr/>
        </p:nvSpPr>
        <p:spPr>
          <a:xfrm>
            <a:off x="8915400" y="2006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关键训练策略</a:t>
            </a:r>
            <a:endParaRPr lang="en-US"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D7A5C66A-5353-42B5-981E-9BD48F03B514}"/>
              </a:ext>
            </a:extLst>
          </p:cNvPr>
          <p:cNvSpPr/>
          <p:nvPr/>
        </p:nvSpPr>
        <p:spPr>
          <a:xfrm>
            <a:off x="8318500" y="2794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❄️ 参数冻结：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保持第一阶段的成果，继续冻结视觉编码器（Image Encoder）的权重，防止破坏已习得的视觉特征提取能力。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🔄 联合微调：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同时对“连接器”和“大语言模型 (LLM)”进行参数更新，可采用全参数微调或高效的LoRA微调方案，以实现指令的精准对齐。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CAE7174-935C-4FBE-8616-A1B2B96D30D0}"/>
              </a:ext>
            </a:extLst>
          </p:cNvPr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00336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6D94D76F-5ED6-472F-8532-EF91B56821F0}"/>
              </a:ext>
            </a:extLst>
          </p:cNvPr>
          <p:cNvSpPr/>
          <p:nvPr/>
        </p:nvSpPr>
        <p:spPr>
          <a:xfrm>
            <a:off x="762000" y="5969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💡 阶段价值：从“看图说话”进化为“听懂指令、解决问题”的智能助手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5393369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710308-C957-420F-9533-3B05B279C38A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指令微调数据的构造</a:t>
            </a:r>
            <a:endParaRPr lang="en-US"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C6B205F-230D-4E58-BFD5-5F06DF814FB8}"/>
              </a:ext>
            </a:extLst>
          </p:cNvPr>
          <p:cNvSpPr/>
          <p:nvPr/>
        </p:nvSpPr>
        <p:spPr>
          <a:xfrm>
            <a:off x="8255447" y="1664804"/>
            <a:ext cx="3744416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E1378E9-3476-49F5-B70F-D22859E06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9353" y="1741004"/>
            <a:ext cx="381000" cy="3810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34792CCE-5B13-402A-8A45-48D09B908223}"/>
              </a:ext>
            </a:extLst>
          </p:cNvPr>
          <p:cNvSpPr/>
          <p:nvPr/>
        </p:nvSpPr>
        <p:spPr>
          <a:xfrm>
            <a:off x="8912959" y="1706368"/>
            <a:ext cx="2942888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</a:t>
            </a:r>
            <a:r>
              <a:rPr 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 (Data Sources)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2ACAE96-40BC-4FD0-A5EE-701D62F1BA46}"/>
              </a:ext>
            </a:extLst>
          </p:cNvPr>
          <p:cNvSpPr/>
          <p:nvPr/>
        </p:nvSpPr>
        <p:spPr>
          <a:xfrm>
            <a:off x="8449353" y="2229768"/>
            <a:ext cx="3351622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现有VQA数据集：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VQAv2, GQA, OK-VQA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等公开高质量视觉问答库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人工标注：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聘请专业标注团队，针对特定领域图片构造精准问答对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大模型生成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主流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GPT-4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等强模型，自动生成海量、多样化的问答指令对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69E78ED-01F4-4FC4-872F-89C34C19821F}"/>
              </a:ext>
            </a:extLst>
          </p:cNvPr>
          <p:cNvSpPr/>
          <p:nvPr/>
        </p:nvSpPr>
        <p:spPr>
          <a:xfrm>
            <a:off x="8255446" y="4365104"/>
            <a:ext cx="3744416" cy="1728192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7D07D56D-859A-47A5-B476-D5504017AF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1204" y="4383000"/>
            <a:ext cx="350799" cy="350799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45FACF1B-0EF8-435E-A7FA-ACBF9EC25678}"/>
              </a:ext>
            </a:extLst>
          </p:cNvPr>
          <p:cNvSpPr/>
          <p:nvPr/>
        </p:nvSpPr>
        <p:spPr>
          <a:xfrm>
            <a:off x="8831511" y="4331072"/>
            <a:ext cx="332522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标准指令格式</a:t>
            </a:r>
            <a:r>
              <a:rPr lang="en-US" sz="1800" b="1" i="0" u="none" strike="noStrike" dirty="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 (Format)</a:t>
            </a:r>
            <a:endParaRPr lang="en-US" sz="11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B4A0E758-4BC4-4152-9B0F-8F847703BA1A}"/>
              </a:ext>
            </a:extLst>
          </p:cNvPr>
          <p:cNvSpPr/>
          <p:nvPr/>
        </p:nvSpPr>
        <p:spPr>
          <a:xfrm>
            <a:off x="8390947" y="4761148"/>
            <a:ext cx="3572912" cy="1257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200" b="0" dirty="0" err="1">
                <a:solidFill>
                  <a:srgbClr val="374151"/>
                </a:solidFill>
                <a:latin typeface="Noto Sans SC"/>
                <a:ea typeface="Noto Sans SC"/>
              </a:rPr>
              <a:t>Xsystem</a:t>
            </a:r>
            <a:r>
              <a:rPr lang="en-US" altLang="zh-CN" sz="1200" b="0" dirty="0">
                <a:solidFill>
                  <a:srgbClr val="374151"/>
                </a:solidFill>
                <a:latin typeface="Noto Sans SC"/>
                <a:ea typeface="Noto Sans SC"/>
              </a:rPr>
              <a:t>-message ###</a:t>
            </a:r>
            <a:br>
              <a:rPr lang="en-US" altLang="zh-CN" sz="1200" b="0" dirty="0">
                <a:solidFill>
                  <a:srgbClr val="374151"/>
                </a:solidFill>
                <a:latin typeface="Noto Sans SC"/>
                <a:ea typeface="Noto Sans SC"/>
              </a:rPr>
            </a:br>
            <a:r>
              <a:rPr lang="en-US" altLang="zh-CN" sz="1200" b="0" dirty="0">
                <a:solidFill>
                  <a:srgbClr val="374151"/>
                </a:solidFill>
                <a:latin typeface="Noto Sans SC"/>
                <a:ea typeface="Noto Sans SC"/>
              </a:rPr>
              <a:t>Human: &lt;image&gt;</a:t>
            </a:r>
            <a:br>
              <a:rPr lang="en-US" altLang="zh-CN" sz="1200" b="0" dirty="0">
                <a:solidFill>
                  <a:srgbClr val="374151"/>
                </a:solidFill>
                <a:latin typeface="Noto Sans SC"/>
                <a:ea typeface="Noto Sans SC"/>
              </a:rPr>
            </a:br>
            <a:r>
              <a:rPr lang="en-US" altLang="zh-CN" sz="1200" b="0" dirty="0">
                <a:solidFill>
                  <a:srgbClr val="374151"/>
                </a:solidFill>
                <a:latin typeface="Noto Sans SC"/>
                <a:ea typeface="Noto Sans SC"/>
              </a:rPr>
              <a:t>What type of vehicle is featured in the image? ###</a:t>
            </a:r>
            <a:br>
              <a:rPr lang="en-US" altLang="zh-CN" sz="1200" b="0" dirty="0">
                <a:solidFill>
                  <a:srgbClr val="374151"/>
                </a:solidFill>
                <a:latin typeface="Noto Sans SC"/>
                <a:ea typeface="Noto Sans SC"/>
              </a:rPr>
            </a:br>
            <a:r>
              <a:rPr lang="en-US" altLang="zh-CN" sz="1200" b="0" dirty="0">
                <a:solidFill>
                  <a:srgbClr val="374151"/>
                </a:solidFill>
                <a:latin typeface="Noto Sans SC"/>
                <a:ea typeface="Noto Sans SC"/>
              </a:rPr>
              <a:t>Assistant: The image features a black sport utility vehicle (SUV). ###</a:t>
            </a:r>
            <a:endParaRPr lang="en-US" sz="1200" b="0" dirty="0">
              <a:solidFill>
                <a:srgbClr val="374151"/>
              </a:solidFill>
              <a:latin typeface="Noto Sans SC"/>
              <a:ea typeface="Noto Sans SC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28D3915-7AB2-46B2-B2BF-F4D48BAB3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02" y="1517515"/>
            <a:ext cx="7200800" cy="453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048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B1386F95-BE9C-48B8-B2A0-F7EB88F8C8D6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第二阶段训练流程详解</a:t>
            </a:r>
            <a:endParaRPr lang="en-US"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B6F753C-D4A4-45F7-8CC5-2C53DBC394A6}"/>
              </a:ext>
            </a:extLst>
          </p:cNvPr>
          <p:cNvSpPr/>
          <p:nvPr/>
        </p:nvSpPr>
        <p:spPr>
          <a:xfrm>
            <a:off x="762000" y="165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CF1040F-F5AC-4A32-8807-1FCB0248BD36}"/>
              </a:ext>
            </a:extLst>
          </p:cNvPr>
          <p:cNvSpPr/>
          <p:nvPr/>
        </p:nvSpPr>
        <p:spPr>
          <a:xfrm>
            <a:off x="762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82DA5B5-4919-43E7-8E65-7F8DAE4157D0}"/>
              </a:ext>
            </a:extLst>
          </p:cNvPr>
          <p:cNvSpPr/>
          <p:nvPr/>
        </p:nvSpPr>
        <p:spPr>
          <a:xfrm>
            <a:off x="1016000" y="1841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 图像编码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图像输入视觉编码器 (CLIP)，提取并处理图像中的关键信息，得到高维的图像特征序列。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1B16A22-9AD5-4B95-89A2-3AB8227BF47D}"/>
              </a:ext>
            </a:extLst>
          </p:cNvPr>
          <p:cNvSpPr/>
          <p:nvPr/>
        </p:nvSpPr>
        <p:spPr>
          <a:xfrm>
            <a:off x="4381500" y="165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2D497F3-CEA7-4BD6-8C21-8CB30E47D487}"/>
              </a:ext>
            </a:extLst>
          </p:cNvPr>
          <p:cNvSpPr/>
          <p:nvPr/>
        </p:nvSpPr>
        <p:spPr>
          <a:xfrm>
            <a:off x="43815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4B32A5B-1A7B-4DE5-A90E-AC8CD6F118A6}"/>
              </a:ext>
            </a:extLst>
          </p:cNvPr>
          <p:cNvSpPr/>
          <p:nvPr/>
        </p:nvSpPr>
        <p:spPr>
          <a:xfrm>
            <a:off x="4635500" y="1841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特征投影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将提取到的图像特征序列输入专用的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 (MLP)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中，进行维度转换与特征对齐，得到能被语言模型理解的投影视觉特征。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227A9442-1782-4454-B2DD-EBE30C010D69}"/>
              </a:ext>
            </a:extLst>
          </p:cNvPr>
          <p:cNvSpPr/>
          <p:nvPr/>
        </p:nvSpPr>
        <p:spPr>
          <a:xfrm>
            <a:off x="8001000" y="165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E52DAE7F-9DA8-4467-B926-FB483BAA722D}"/>
              </a:ext>
            </a:extLst>
          </p:cNvPr>
          <p:cNvSpPr/>
          <p:nvPr/>
        </p:nvSpPr>
        <p:spPr>
          <a:xfrm>
            <a:off x="8001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63B016E-9D6C-48F5-80D1-BF6C1B2C08BD}"/>
              </a:ext>
            </a:extLst>
          </p:cNvPr>
          <p:cNvSpPr/>
          <p:nvPr/>
        </p:nvSpPr>
        <p:spPr>
          <a:xfrm>
            <a:off x="8255000" y="1841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03 指令理解与生成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将对齐后的视觉特征与指令文本的Embedding进行拼接，输入大语言模型 (LLaMA) 中进行联合推理。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C8F618B-60E5-459F-8102-E0CE0B3322F4}"/>
              </a:ext>
            </a:extLst>
          </p:cNvPr>
          <p:cNvSpPr/>
          <p:nvPr/>
        </p:nvSpPr>
        <p:spPr>
          <a:xfrm>
            <a:off x="762000" y="3937000"/>
            <a:ext cx="52324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A32CB651-AC3D-43CD-BE27-6A1D10D9C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254500"/>
            <a:ext cx="609600" cy="609600"/>
          </a:xfrm>
          <a:prstGeom prst="rect">
            <a:avLst/>
          </a:prstGeom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BC87DA4C-05AB-434F-A1CF-F8A51AC90190}"/>
              </a:ext>
            </a:extLst>
          </p:cNvPr>
          <p:cNvSpPr/>
          <p:nvPr/>
        </p:nvSpPr>
        <p:spPr>
          <a:xfrm>
            <a:off x="1841500" y="4127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损失计算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大语言模型通过自回归方式逐词生成回答，计算生成序列与标准答案之间的交叉熵损失，衡量回答的准确度。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2D0FF4F-B6E7-47EB-B15B-1C58C1A30500}"/>
              </a:ext>
            </a:extLst>
          </p:cNvPr>
          <p:cNvSpPr/>
          <p:nvPr/>
        </p:nvSpPr>
        <p:spPr>
          <a:xfrm>
            <a:off x="6197600" y="3937000"/>
            <a:ext cx="52324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0C487969-5F06-43DE-996A-20008607D5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1600" y="4254500"/>
            <a:ext cx="609600" cy="6096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EF741C73-250D-4457-A136-9B5FF84DD8C2}"/>
              </a:ext>
            </a:extLst>
          </p:cNvPr>
          <p:cNvSpPr/>
          <p:nvPr/>
        </p:nvSpPr>
        <p:spPr>
          <a:xfrm>
            <a:off x="7277100" y="4127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05 参数更新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将计算出的损失进行反向传播，同时更新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 (MLP)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 (LLM)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的模型参数。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8B9DC7EE-2C9A-47A4-8BA7-ADEAFFE2EFDD}"/>
              </a:ext>
            </a:extLst>
          </p:cNvPr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D38C2108-8C11-441C-B80B-FF882975E1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905500"/>
            <a:ext cx="508000" cy="508000"/>
          </a:xfrm>
          <a:prstGeom prst="rect">
            <a:avLst/>
          </a:prstGeom>
        </p:spPr>
      </p:pic>
      <p:sp>
        <p:nvSpPr>
          <p:cNvPr id="21" name="AutoShape 21">
            <a:extLst>
              <a:ext uri="{FF2B5EF4-FFF2-40B4-BE49-F238E27FC236}">
                <a16:creationId xmlns:a16="http://schemas.microsoft.com/office/drawing/2014/main" id="{F4AD1D5C-679D-4925-8BB3-FDA34DB13784}"/>
              </a:ext>
            </a:extLst>
          </p:cNvPr>
          <p:cNvSpPr/>
          <p:nvPr/>
        </p:nvSpPr>
        <p:spPr>
          <a:xfrm>
            <a:off x="1778000" y="5842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梯度流向机制：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在该阶段，梯度信号会同时流向连接器与大语言模型，打破了语言模型“只读”的限制，促使两者在训练中共同进化，实现更精准的指令跟随与多模态理解。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912196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27143" y="1361164"/>
            <a:ext cx="2839239" cy="600164"/>
          </a:xfrm>
        </p:spPr>
        <p:txBody>
          <a:bodyPr wrap="none" anchor="ctr">
            <a:spAutoFit/>
          </a:bodyPr>
          <a:lstStyle/>
          <a:p>
            <a:pPr marL="0" eaLnBrk="1" hangingPunct="1">
              <a:spcBef>
                <a:spcPts val="1000"/>
              </a:spcBef>
              <a:buNone/>
            </a:pPr>
            <a:r>
              <a:rPr lang="zh-CN" altLang="en-US" sz="3300" spc="150" dirty="0">
                <a:solidFill>
                  <a:schemeClr val="bg1">
                    <a:lumMod val="65000"/>
                  </a:schemeClr>
                </a:solidFill>
                <a:ea typeface="微软雅黑" panose="020B0503020204020204" charset="-122"/>
                <a:cs typeface="+mn-cs"/>
              </a:rPr>
              <a:t>一、发展历程</a:t>
            </a:r>
          </a:p>
        </p:txBody>
      </p:sp>
      <p:sp>
        <p:nvSpPr>
          <p:cNvPr id="44" name="内容占位符 1"/>
          <p:cNvSpPr txBox="1"/>
          <p:nvPr>
            <p:custDataLst>
              <p:tags r:id="rId2"/>
            </p:custDataLst>
          </p:nvPr>
        </p:nvSpPr>
        <p:spPr>
          <a:xfrm>
            <a:off x="4527143" y="2273223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二、模型架构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395834" y="1358840"/>
            <a:ext cx="2007876" cy="4140000"/>
            <a:chOff x="435714" y="1377232"/>
            <a:chExt cx="2007876" cy="4140000"/>
          </a:xfrm>
        </p:grpSpPr>
        <p:sp>
          <p:nvSpPr>
            <p:cNvPr id="48" name="矩形 47"/>
            <p:cNvSpPr/>
            <p:nvPr>
              <p:custDataLst>
                <p:tags r:id="rId7"/>
              </p:custDataLst>
            </p:nvPr>
          </p:nvSpPr>
          <p:spPr>
            <a:xfrm>
              <a:off x="435714" y="1377232"/>
              <a:ext cx="1800200" cy="4140000"/>
            </a:xfrm>
            <a:prstGeom prst="rect">
              <a:avLst/>
            </a:prstGeom>
            <a:noFill/>
            <a:ln w="25400">
              <a:solidFill>
                <a:srgbClr val="004A8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800" b="1" dirty="0">
                <a:solidFill>
                  <a:srgbClr val="000066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 rot="5400000">
              <a:off x="1392981" y="3247177"/>
              <a:ext cx="1701107" cy="400110"/>
            </a:xfrm>
            <a:prstGeom prst="rect">
              <a:avLst/>
            </a:prstGeom>
            <a:solidFill>
              <a:srgbClr val="004A8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i="1" spc="100" dirty="0">
                  <a:solidFill>
                    <a:schemeClr val="bg1"/>
                  </a:solidFill>
                </a:rPr>
                <a:t>CONTENTS</a:t>
              </a:r>
              <a:endParaRPr lang="zh-CN" altLang="en-US" sz="2000" i="1" spc="1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9"/>
              </p:custDataLst>
            </p:nvPr>
          </p:nvSpPr>
          <p:spPr>
            <a:xfrm>
              <a:off x="916431" y="2230883"/>
              <a:ext cx="640715" cy="252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本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节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内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容</a:t>
              </a:r>
            </a:p>
          </p:txBody>
        </p:sp>
      </p:grpSp>
      <p:sp>
        <p:nvSpPr>
          <p:cNvPr id="2" name="内容占位符 1"/>
          <p:cNvSpPr txBox="1"/>
          <p:nvPr>
            <p:custDataLst>
              <p:tags r:id="rId3"/>
            </p:custDataLst>
          </p:nvPr>
        </p:nvSpPr>
        <p:spPr>
          <a:xfrm>
            <a:off x="4527143" y="3162199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三、模型训练</a:t>
            </a:r>
          </a:p>
        </p:txBody>
      </p:sp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453CADE1-90F2-40EA-ABA2-008C504BD25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61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1F4BBE9D-CB2A-45C8-AA89-51AEEF5B65A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27143" y="4051175"/>
            <a:ext cx="5005216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</a:pPr>
            <a:r>
              <a:rPr kumimoji="1" lang="zh-CN" altLang="en-US" sz="3300" spc="150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四、模型增强与适配技术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DF7738E5-3910-4017-98A0-CA5E55A87B7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25383" y="4940151"/>
            <a:ext cx="4157228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五、智能体</a:t>
            </a:r>
            <a:r>
              <a:rPr kumimoji="1" lang="en-US" altLang="zh-CN" sz="3300" spc="150" dirty="0">
                <a:solidFill>
                  <a:schemeClr val="bg1">
                    <a:lumMod val="65000"/>
                  </a:schemeClr>
                </a:solidFill>
              </a:rPr>
              <a:t>/Agent</a:t>
            </a:r>
            <a:endParaRPr kumimoji="1" lang="zh-CN" altLang="en-US" sz="3300" spc="15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797835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46524" y="446"/>
            <a:ext cx="10666611" cy="6349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多模态大模型增强与适配技术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1900" y="638823"/>
            <a:ext cx="5079339" cy="1396818"/>
          </a:xfrm>
          <a:prstGeom prst="roundRect">
            <a:avLst>
              <a:gd name="adj" fmla="val 1090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867" y="956282"/>
            <a:ext cx="609521" cy="609521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904752" y="829298"/>
            <a:ext cx="3682520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思维链 (Chain-of-Thought, CoT)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引导模型通过逐步推理来解决复杂问题，将复杂任务分解为简单步骤，而非直接给出答案。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54198" y="3645024"/>
            <a:ext cx="5079339" cy="1396818"/>
          </a:xfrm>
          <a:prstGeom prst="roundRect">
            <a:avLst>
              <a:gd name="adj" fmla="val 1090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8165" y="3962482"/>
            <a:ext cx="609521" cy="609521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97050" y="3835499"/>
            <a:ext cx="3682520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检索增强生成</a:t>
            </a:r>
            <a:r>
              <a:rPr lang="en-US" sz="18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(Retrieval-Augmented Generation, RAG)</a:t>
            </a:r>
            <a:endParaRPr lang="en-US" sz="1100" dirty="0"/>
          </a:p>
          <a:p>
            <a:pPr>
              <a:lnSpc>
                <a:spcPct val="108333"/>
              </a:lnSpc>
            </a:pPr>
            <a:r>
              <a:rPr lang="en-US" sz="1300" b="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在生成答案前，先从外部知识库检索相关信息作为参考，有效增强了回答的准确性、事实性和时效性</a:t>
            </a:r>
            <a:r>
              <a:rPr lang="en-US" sz="1300" b="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1900" y="2140194"/>
            <a:ext cx="5079339" cy="1396818"/>
          </a:xfrm>
          <a:prstGeom prst="roundRect">
            <a:avLst>
              <a:gd name="adj" fmla="val 1090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867" y="2457652"/>
            <a:ext cx="609521" cy="609521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4752" y="2330669"/>
            <a:ext cx="3682520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上下文学习 (In-context Learning, ICL)</a:t>
            </a:r>
            <a:endParaRPr lang="en-US" sz="1100"/>
          </a:p>
          <a:p>
            <a:pPr>
              <a:lnSpc>
                <a:spcPct val="108333"/>
              </a:lnSpc>
            </a:pPr>
            <a:r>
              <a:rPr lang="en-US"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在提示词（Prompt）中提供少量的任务示例，无需模型重新训练，即可快速“学会”并适应新的任务场景。</a:t>
            </a:r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3CD30FEC-4F66-4004-A8C9-44D7624AF658}"/>
              </a:ext>
            </a:extLst>
          </p:cNvPr>
          <p:cNvSpPr/>
          <p:nvPr/>
        </p:nvSpPr>
        <p:spPr>
          <a:xfrm>
            <a:off x="740735" y="5180414"/>
            <a:ext cx="5079339" cy="1396818"/>
          </a:xfrm>
          <a:prstGeom prst="roundRect">
            <a:avLst>
              <a:gd name="adj" fmla="val 1090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492" tIns="63492" rIns="63492" bIns="63492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2F6FEC45-DB0C-48D8-9915-15564D044780}"/>
              </a:ext>
            </a:extLst>
          </p:cNvPr>
          <p:cNvSpPr/>
          <p:nvPr/>
        </p:nvSpPr>
        <p:spPr>
          <a:xfrm>
            <a:off x="1889376" y="5383671"/>
            <a:ext cx="3682520" cy="101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低秩适配（</a:t>
            </a:r>
            <a:r>
              <a:rPr lang="en-US" altLang="zh-CN" sz="18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Low-Rank Adaptation, </a:t>
            </a:r>
            <a:r>
              <a:rPr lang="en-US" altLang="zh-CN" sz="1800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LoRA</a:t>
            </a:r>
            <a:r>
              <a:rPr lang="zh-CN" altLang="en-US" sz="18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altLang="zh-CN" sz="1800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300" b="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通过冻结大模型原有参数，仅训练少量低秩适配参数，实现低成本、高效率的模型微调，使模型能够快速适应特定任务。</a:t>
            </a:r>
            <a:endParaRPr lang="en-US" sz="1300" b="0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4">
            <a:extLst>
              <a:ext uri="{FF2B5EF4-FFF2-40B4-BE49-F238E27FC236}">
                <a16:creationId xmlns:a16="http://schemas.microsoft.com/office/drawing/2014/main" id="{7573082A-A554-4619-8DD9-4E12D64CD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858" y="5383670"/>
            <a:ext cx="460835" cy="46083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BF68DCB-3214-41C8-A03B-B8941E5F08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40" y="196397"/>
            <a:ext cx="4848905" cy="646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665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FEC0FC44-F437-4C57-B8D2-FAFA0A7BE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27143" y="1361164"/>
            <a:ext cx="2839239" cy="600164"/>
          </a:xfrm>
        </p:spPr>
        <p:txBody>
          <a:bodyPr wrap="none" anchor="ctr">
            <a:spAutoFit/>
          </a:bodyPr>
          <a:lstStyle/>
          <a:p>
            <a:pPr marL="0" eaLnBrk="1" hangingPunct="1">
              <a:spcBef>
                <a:spcPts val="1000"/>
              </a:spcBef>
              <a:buNone/>
            </a:pPr>
            <a:r>
              <a:rPr lang="zh-CN" altLang="en-US" sz="3300" spc="150" dirty="0">
                <a:solidFill>
                  <a:schemeClr val="bg1">
                    <a:lumMod val="65000"/>
                  </a:schemeClr>
                </a:solidFill>
                <a:ea typeface="微软雅黑" panose="020B0503020204020204" charset="-122"/>
                <a:cs typeface="+mn-cs"/>
              </a:rPr>
              <a:t>一、发展历程</a:t>
            </a:r>
          </a:p>
        </p:txBody>
      </p:sp>
      <p:sp>
        <p:nvSpPr>
          <p:cNvPr id="44" name="内容占位符 1"/>
          <p:cNvSpPr txBox="1"/>
          <p:nvPr>
            <p:custDataLst>
              <p:tags r:id="rId2"/>
            </p:custDataLst>
          </p:nvPr>
        </p:nvSpPr>
        <p:spPr>
          <a:xfrm>
            <a:off x="4527143" y="2273223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二、模型架构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395834" y="1358840"/>
            <a:ext cx="2007876" cy="4140000"/>
            <a:chOff x="435714" y="1377232"/>
            <a:chExt cx="2007876" cy="4140000"/>
          </a:xfrm>
        </p:grpSpPr>
        <p:sp>
          <p:nvSpPr>
            <p:cNvPr id="48" name="矩形 47"/>
            <p:cNvSpPr/>
            <p:nvPr>
              <p:custDataLst>
                <p:tags r:id="rId7"/>
              </p:custDataLst>
            </p:nvPr>
          </p:nvSpPr>
          <p:spPr>
            <a:xfrm>
              <a:off x="435714" y="1377232"/>
              <a:ext cx="1800200" cy="4140000"/>
            </a:xfrm>
            <a:prstGeom prst="rect">
              <a:avLst/>
            </a:prstGeom>
            <a:noFill/>
            <a:ln w="25400">
              <a:solidFill>
                <a:srgbClr val="004A8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800" b="1" dirty="0">
                <a:solidFill>
                  <a:srgbClr val="000066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 rot="5400000">
              <a:off x="1392981" y="3247177"/>
              <a:ext cx="1701107" cy="400110"/>
            </a:xfrm>
            <a:prstGeom prst="rect">
              <a:avLst/>
            </a:prstGeom>
            <a:solidFill>
              <a:srgbClr val="004A8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i="1" spc="100" dirty="0">
                  <a:solidFill>
                    <a:schemeClr val="bg1"/>
                  </a:solidFill>
                </a:rPr>
                <a:t>CONTENTS</a:t>
              </a:r>
              <a:endParaRPr lang="zh-CN" altLang="en-US" sz="2000" i="1" spc="1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9"/>
              </p:custDataLst>
            </p:nvPr>
          </p:nvSpPr>
          <p:spPr>
            <a:xfrm>
              <a:off x="916431" y="2230883"/>
              <a:ext cx="640715" cy="252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本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节</a:t>
              </a:r>
              <a:endParaRPr lang="en-US" altLang="zh-CN" sz="3600" b="1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内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3600" b="1" dirty="0">
                  <a:solidFill>
                    <a:srgbClr val="004A8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容</a:t>
              </a:r>
            </a:p>
          </p:txBody>
        </p:sp>
      </p:grpSp>
      <p:sp>
        <p:nvSpPr>
          <p:cNvPr id="2" name="内容占位符 1"/>
          <p:cNvSpPr txBox="1"/>
          <p:nvPr>
            <p:custDataLst>
              <p:tags r:id="rId3"/>
            </p:custDataLst>
          </p:nvPr>
        </p:nvSpPr>
        <p:spPr>
          <a:xfrm>
            <a:off x="4527143" y="3162199"/>
            <a:ext cx="2793072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三、模型训练</a:t>
            </a:r>
          </a:p>
        </p:txBody>
      </p:sp>
      <p:sp>
        <p:nvSpPr>
          <p:cNvPr id="9" name="灯片编号占位符 50">
            <a:extLst>
              <a:ext uri="{FF2B5EF4-FFF2-40B4-BE49-F238E27FC236}">
                <a16:creationId xmlns:a16="http://schemas.microsoft.com/office/drawing/2014/main" id="{453CADE1-90F2-40EA-ABA2-008C504BD25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00822" y="6441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6246C1-005E-46B0-97FA-4367771644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64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1F4BBE9D-CB2A-45C8-AA89-51AEEF5B65A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27143" y="4051175"/>
            <a:ext cx="5005216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</a:pPr>
            <a:r>
              <a:rPr kumimoji="1" lang="zh-CN" altLang="en-US" sz="3300" spc="150" dirty="0">
                <a:solidFill>
                  <a:schemeClr val="bg1">
                    <a:lumMod val="65000"/>
                  </a:schemeClr>
                </a:solidFill>
              </a:rPr>
              <a:t>四、模型增强与适配技术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DF7738E5-3910-4017-98A0-CA5E55A87B7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25383" y="4940151"/>
            <a:ext cx="4157228" cy="577081"/>
          </a:xfrm>
          <a:prstGeom prst="rect">
            <a:avLst/>
          </a:prstGeom>
        </p:spPr>
        <p:txBody>
          <a:bodyPr vert="horz" wrap="none" lIns="68580" tIns="34290" rIns="68580" bIns="3429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lnSpc>
                <a:spcPct val="100000"/>
              </a:lnSpc>
              <a:buClrTx/>
              <a:buSzTx/>
            </a:pPr>
            <a:r>
              <a:rPr kumimoji="1" lang="zh-CN" altLang="en-US" sz="3300" spc="150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五、智能体</a:t>
            </a:r>
            <a:r>
              <a:rPr kumimoji="1" lang="en-US" altLang="zh-CN" sz="3300" spc="150" dirty="0">
                <a:solidFill>
                  <a:srgbClr val="004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/Agent</a:t>
            </a:r>
            <a:endParaRPr kumimoji="1" lang="zh-CN" altLang="en-US" sz="3300" spc="150" dirty="0">
              <a:solidFill>
                <a:srgbClr val="004A8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2586211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064" y="255500"/>
            <a:ext cx="109309" cy="510108"/>
          </a:xfrm>
          <a:prstGeom prst="rect">
            <a:avLst/>
          </a:prstGeom>
          <a:solidFill>
            <a:srgbClr val="083984"/>
          </a:solidFill>
          <a:ln>
            <a:solidFill>
              <a:srgbClr val="083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415" y="317589"/>
            <a:ext cx="3096599" cy="422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3444" b="1">
                <a:solidFill>
                  <a:srgbClr val="083984"/>
                </a:solidFill>
                <a:latin typeface="Noto Sans CJK SC"/>
              </a:defRPr>
            </a:pPr>
            <a:r>
              <a:rPr sz="2745" dirty="0" err="1">
                <a:solidFill>
                  <a:srgbClr val="0839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</a:t>
            </a:r>
            <a:r>
              <a:rPr sz="2745" dirty="0">
                <a:solidFill>
                  <a:srgbClr val="0839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416" y="925296"/>
            <a:ext cx="5345319" cy="2781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268" b="1">
                <a:solidFill>
                  <a:srgbClr val="1260CF"/>
                </a:solidFill>
                <a:latin typeface="Noto Sans CJK SC"/>
              </a:defRPr>
            </a:pPr>
            <a:r>
              <a:rPr sz="1808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从一次性问答工具，到可持续执行任务的工作流助手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383" y="1268429"/>
            <a:ext cx="6077573" cy="407357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05137" y="1268429"/>
            <a:ext cx="5224964" cy="407357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92727" y="1546839"/>
            <a:ext cx="1062653" cy="28850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352" b="1">
                <a:solidFill>
                  <a:srgbClr val="F46F00"/>
                </a:solidFill>
                <a:latin typeface="Noto Sans CJK SC"/>
              </a:defRPr>
            </a:pPr>
            <a:r>
              <a:rPr sz="1875" dirty="0" err="1">
                <a:solidFill>
                  <a:srgbClr val="F46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</a:t>
            </a:r>
            <a:r>
              <a:rPr sz="1875" dirty="0">
                <a:solidFill>
                  <a:srgbClr val="F46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LLM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85149" y="1479759"/>
            <a:ext cx="350225" cy="349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2684" y="1546839"/>
            <a:ext cx="735683" cy="28850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352" b="1">
                <a:solidFill>
                  <a:srgbClr val="1260CF"/>
                </a:solidFill>
                <a:latin typeface="Noto Sans CJK SC"/>
              </a:defRPr>
            </a:pPr>
            <a:r>
              <a:rPr sz="1875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415" y="2040879"/>
            <a:ext cx="2113305" cy="1384579"/>
          </a:xfrm>
          <a:prstGeom prst="roundRect">
            <a:avLst>
              <a:gd name="adj" fmla="val 4000"/>
            </a:avLst>
          </a:prstGeom>
          <a:solidFill>
            <a:srgbClr val="FFFBF6"/>
          </a:solidFill>
          <a:ln w="15240">
            <a:solidFill>
              <a:srgbClr val="FF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59487" y="2040879"/>
            <a:ext cx="3403150" cy="1384579"/>
          </a:xfrm>
          <a:prstGeom prst="roundRect">
            <a:avLst>
              <a:gd name="adj" fmla="val 4000"/>
            </a:avLst>
          </a:prstGeom>
          <a:solidFill>
            <a:srgbClr val="F9FCFF"/>
          </a:solidFill>
          <a:ln w="15240">
            <a:solidFill>
              <a:srgbClr val="A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6023" y="2922540"/>
            <a:ext cx="583417" cy="1750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428" b="1">
                <a:solidFill>
                  <a:srgbClr val="061632"/>
                </a:solidFill>
                <a:latin typeface="Noto Sans CJK SC"/>
              </a:defRPr>
            </a:pPr>
            <a:r>
              <a:rPr sz="1138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4697" y="2922540"/>
            <a:ext cx="583417" cy="1750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428" b="1">
                <a:solidFill>
                  <a:srgbClr val="061632"/>
                </a:solidFill>
                <a:latin typeface="Noto Sans CJK SC"/>
              </a:defRPr>
            </a:pPr>
            <a:r>
              <a:rPr sz="1138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生成回答</a:t>
            </a:r>
          </a:p>
        </p:txBody>
      </p:sp>
      <p:pic>
        <p:nvPicPr>
          <p:cNvPr id="18" name="Picture 17" descr="agent_task_clipboar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714" t="14639" r="23067" b="14150"/>
          <a:stretch>
            <a:fillRect/>
          </a:stretch>
        </p:blipFill>
        <p:spPr>
          <a:xfrm>
            <a:off x="2983369" y="2387932"/>
            <a:ext cx="312283" cy="3685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89871" y="2924057"/>
            <a:ext cx="551361" cy="164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344" b="1">
                <a:solidFill>
                  <a:srgbClr val="061632"/>
                </a:solidFill>
                <a:latin typeface="Noto Sans CJK SC"/>
              </a:defRPr>
            </a:pPr>
            <a:r>
              <a:rPr sz="107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接收任务</a:t>
            </a:r>
          </a:p>
        </p:txBody>
      </p:sp>
      <p:pic>
        <p:nvPicPr>
          <p:cNvPr id="20" name="Picture 19" descr="agent_plan_puzzle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81549" y="2288646"/>
            <a:ext cx="479710" cy="5246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53012" y="2924057"/>
            <a:ext cx="551361" cy="164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344" b="1">
                <a:solidFill>
                  <a:srgbClr val="061632"/>
                </a:solidFill>
                <a:latin typeface="Noto Sans CJK SC"/>
              </a:defRPr>
            </a:pPr>
            <a:r>
              <a:rPr sz="1071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拆解步骤</a:t>
            </a:r>
            <a:endParaRPr sz="1071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21" descr="agent_tool_wrench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77217" y="2288646"/>
            <a:ext cx="472952" cy="52468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45302" y="2924057"/>
            <a:ext cx="551361" cy="164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344" b="1">
                <a:solidFill>
                  <a:srgbClr val="061632"/>
                </a:solidFill>
                <a:latin typeface="Noto Sans CJK SC"/>
              </a:defRPr>
            </a:pPr>
            <a:r>
              <a:rPr sz="107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调用工具</a:t>
            </a:r>
          </a:p>
        </p:txBody>
      </p:sp>
      <p:pic>
        <p:nvPicPr>
          <p:cNvPr id="24" name="Picture 23" descr="agent_memory_db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37681" y1="48571" x2="37681" y2="48571"/>
                        <a14:foregroundMark x1="44928" y1="74286" x2="44928" y2="74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58217" y="2292236"/>
            <a:ext cx="510108" cy="5175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44878" y="2924057"/>
            <a:ext cx="551361" cy="164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344" b="1">
                <a:solidFill>
                  <a:srgbClr val="061632"/>
                </a:solidFill>
                <a:latin typeface="Noto Sans CJK SC"/>
              </a:defRPr>
            </a:pPr>
            <a:r>
              <a:rPr sz="107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读取记忆</a:t>
            </a:r>
          </a:p>
        </p:txBody>
      </p:sp>
      <p:pic>
        <p:nvPicPr>
          <p:cNvPr id="26" name="Picture 25" descr="agent_output_send.png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4670" y="2284289"/>
            <a:ext cx="487205" cy="52468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29880" y="2924057"/>
            <a:ext cx="551361" cy="164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344" b="1">
                <a:solidFill>
                  <a:srgbClr val="061632"/>
                </a:solidFill>
                <a:latin typeface="Noto Sans CJK SC"/>
              </a:defRPr>
            </a:pPr>
            <a:r>
              <a:rPr sz="107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20605" y="2565561"/>
            <a:ext cx="131171" cy="0"/>
          </a:xfrm>
          <a:prstGeom prst="line">
            <a:avLst/>
          </a:prstGeom>
          <a:ln w="33020">
            <a:solidFill>
              <a:srgbClr val="126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83747" y="2565561"/>
            <a:ext cx="160320" cy="0"/>
          </a:xfrm>
          <a:prstGeom prst="line">
            <a:avLst/>
          </a:prstGeom>
          <a:ln w="33020">
            <a:solidFill>
              <a:srgbClr val="126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61461" y="2565561"/>
            <a:ext cx="182181" cy="0"/>
          </a:xfrm>
          <a:prstGeom prst="line">
            <a:avLst/>
          </a:prstGeom>
          <a:ln w="33020">
            <a:solidFill>
              <a:srgbClr val="09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53751" y="2565561"/>
            <a:ext cx="174894" cy="0"/>
          </a:xfrm>
          <a:prstGeom prst="line">
            <a:avLst/>
          </a:prstGeom>
          <a:ln w="33020">
            <a:solidFill>
              <a:srgbClr val="09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487837" y="3148542"/>
            <a:ext cx="437235" cy="437235"/>
          </a:xfrm>
          <a:prstGeom prst="ellipse">
            <a:avLst/>
          </a:prstGeom>
          <a:solidFill>
            <a:srgbClr val="126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77783" y="3234106"/>
            <a:ext cx="257345" cy="2369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932" b="1">
                <a:solidFill>
                  <a:srgbClr val="FFFFFF"/>
                </a:solidFill>
                <a:latin typeface="Noto Sans CJK SC"/>
              </a:defRPr>
            </a:pPr>
            <a:r>
              <a:rPr sz="154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415" y="3593064"/>
            <a:ext cx="2113305" cy="1508462"/>
          </a:xfrm>
          <a:prstGeom prst="roundRect">
            <a:avLst>
              <a:gd name="adj" fmla="val 4000"/>
            </a:avLst>
          </a:prstGeom>
          <a:solidFill>
            <a:srgbClr val="FFFBF6"/>
          </a:solidFill>
          <a:ln w="15240">
            <a:solidFill>
              <a:srgbClr val="FFC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859487" y="3593064"/>
            <a:ext cx="3403150" cy="1508462"/>
          </a:xfrm>
          <a:prstGeom prst="roundRect">
            <a:avLst>
              <a:gd name="adj" fmla="val 4000"/>
            </a:avLst>
          </a:prstGeom>
          <a:solidFill>
            <a:srgbClr val="F8FCFF"/>
          </a:solidFill>
          <a:ln w="15240">
            <a:solidFill>
              <a:srgbClr val="B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66022" y="3906417"/>
            <a:ext cx="87447" cy="87447"/>
          </a:xfrm>
          <a:prstGeom prst="ellipse">
            <a:avLst/>
          </a:prstGeom>
          <a:solidFill>
            <a:srgbClr val="F4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0067" y="3844986"/>
            <a:ext cx="817425" cy="1957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96" b="1">
                <a:solidFill>
                  <a:srgbClr val="061632"/>
                </a:solidFill>
                <a:latin typeface="Noto Sans CJK SC"/>
              </a:defRPr>
            </a:pPr>
            <a:r>
              <a:rPr sz="1272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一次性问答</a:t>
            </a:r>
          </a:p>
        </p:txBody>
      </p:sp>
      <p:sp>
        <p:nvSpPr>
          <p:cNvPr id="38" name="Oval 37"/>
          <p:cNvSpPr/>
          <p:nvPr/>
        </p:nvSpPr>
        <p:spPr>
          <a:xfrm>
            <a:off x="666022" y="4292641"/>
            <a:ext cx="87447" cy="87447"/>
          </a:xfrm>
          <a:prstGeom prst="ellipse">
            <a:avLst/>
          </a:prstGeom>
          <a:solidFill>
            <a:srgbClr val="F4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70065" y="4231211"/>
            <a:ext cx="1144395" cy="1957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96" b="1">
                <a:solidFill>
                  <a:srgbClr val="061632"/>
                </a:solidFill>
                <a:latin typeface="Noto Sans CJK SC"/>
              </a:defRPr>
            </a:pPr>
            <a:r>
              <a:rPr sz="1272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不保存长期偏好</a:t>
            </a:r>
          </a:p>
        </p:txBody>
      </p:sp>
      <p:sp>
        <p:nvSpPr>
          <p:cNvPr id="40" name="Oval 39"/>
          <p:cNvSpPr/>
          <p:nvPr/>
        </p:nvSpPr>
        <p:spPr>
          <a:xfrm>
            <a:off x="666022" y="4678866"/>
            <a:ext cx="87447" cy="87447"/>
          </a:xfrm>
          <a:prstGeom prst="ellipse">
            <a:avLst/>
          </a:prstGeom>
          <a:solidFill>
            <a:srgbClr val="F4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0065" y="4617435"/>
            <a:ext cx="1307880" cy="1957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96" b="1">
                <a:solidFill>
                  <a:srgbClr val="061632"/>
                </a:solidFill>
                <a:latin typeface="Noto Sans CJK SC"/>
              </a:defRPr>
            </a:pPr>
            <a:r>
              <a:rPr sz="1272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难以持续完成任务</a:t>
            </a:r>
          </a:p>
        </p:txBody>
      </p:sp>
      <p:sp>
        <p:nvSpPr>
          <p:cNvPr id="42" name="Oval 41"/>
          <p:cNvSpPr/>
          <p:nvPr/>
        </p:nvSpPr>
        <p:spPr>
          <a:xfrm>
            <a:off x="3048955" y="3848118"/>
            <a:ext cx="87447" cy="87447"/>
          </a:xfrm>
          <a:prstGeom prst="ellipse">
            <a:avLst/>
          </a:prstGeom>
          <a:solidFill>
            <a:srgbClr val="126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67573" y="3772114"/>
            <a:ext cx="1144395" cy="1957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96" b="1">
                <a:solidFill>
                  <a:srgbClr val="061632"/>
                </a:solidFill>
                <a:latin typeface="Noto Sans CJK SC"/>
              </a:defRPr>
            </a:pPr>
            <a:r>
              <a:rPr sz="1272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可持续执行任务</a:t>
            </a:r>
          </a:p>
        </p:txBody>
      </p:sp>
      <p:sp>
        <p:nvSpPr>
          <p:cNvPr id="44" name="Oval 43"/>
          <p:cNvSpPr/>
          <p:nvPr/>
        </p:nvSpPr>
        <p:spPr>
          <a:xfrm>
            <a:off x="3048955" y="4146896"/>
            <a:ext cx="87447" cy="87447"/>
          </a:xfrm>
          <a:prstGeom prst="ellipse">
            <a:avLst/>
          </a:prstGeom>
          <a:solidFill>
            <a:srgbClr val="126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267573" y="4070892"/>
            <a:ext cx="980910" cy="1957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96" b="1">
                <a:solidFill>
                  <a:srgbClr val="061632"/>
                </a:solidFill>
                <a:latin typeface="Noto Sans CJK SC"/>
              </a:defRPr>
            </a:pPr>
            <a:r>
              <a:rPr sz="1272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支持工具调用</a:t>
            </a:r>
          </a:p>
        </p:txBody>
      </p:sp>
      <p:sp>
        <p:nvSpPr>
          <p:cNvPr id="46" name="Oval 45"/>
          <p:cNvSpPr/>
          <p:nvPr/>
        </p:nvSpPr>
        <p:spPr>
          <a:xfrm>
            <a:off x="3048955" y="4445673"/>
            <a:ext cx="87447" cy="87447"/>
          </a:xfrm>
          <a:prstGeom prst="ellipse">
            <a:avLst/>
          </a:prstGeom>
          <a:solidFill>
            <a:srgbClr val="126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67573" y="4369669"/>
            <a:ext cx="980910" cy="1957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96" b="1">
                <a:solidFill>
                  <a:srgbClr val="061632"/>
                </a:solidFill>
                <a:latin typeface="Noto Sans CJK SC"/>
              </a:defRPr>
            </a:pPr>
            <a:r>
              <a:rPr sz="1272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具备长期记忆</a:t>
            </a:r>
          </a:p>
        </p:txBody>
      </p:sp>
      <p:sp>
        <p:nvSpPr>
          <p:cNvPr id="48" name="Oval 47"/>
          <p:cNvSpPr/>
          <p:nvPr/>
        </p:nvSpPr>
        <p:spPr>
          <a:xfrm>
            <a:off x="3048955" y="4744452"/>
            <a:ext cx="87447" cy="87447"/>
          </a:xfrm>
          <a:prstGeom prst="ellipse">
            <a:avLst/>
          </a:prstGeom>
          <a:solidFill>
            <a:srgbClr val="126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67574" y="4668447"/>
            <a:ext cx="817425" cy="1957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96" b="1">
                <a:solidFill>
                  <a:srgbClr val="061632"/>
                </a:solidFill>
                <a:latin typeface="Noto Sans CJK SC"/>
              </a:defRPr>
            </a:pPr>
            <a:r>
              <a:rPr sz="1272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输出更稳定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2693" y="1525854"/>
            <a:ext cx="1718195" cy="2576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100" b="1">
                <a:solidFill>
                  <a:srgbClr val="1260CF"/>
                </a:solidFill>
                <a:latin typeface="Noto Sans CJK SC"/>
              </a:defRPr>
            </a:pPr>
            <a:r>
              <a:rPr sz="1674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1674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辅助写论文</a:t>
            </a:r>
            <a:r>
              <a:rPr sz="1674" dirty="0" err="1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  <a:endParaRPr sz="1674" dirty="0">
              <a:solidFill>
                <a:srgbClr val="1260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831043" y="2121039"/>
            <a:ext cx="1297132" cy="1246121"/>
          </a:xfrm>
          <a:prstGeom prst="roundRect">
            <a:avLst>
              <a:gd name="adj" fmla="val 4000"/>
            </a:avLst>
          </a:prstGeom>
          <a:solidFill>
            <a:srgbClr val="FFFBF6"/>
          </a:solidFill>
          <a:ln w="17780">
            <a:solidFill>
              <a:srgbClr val="F4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499824" y="2121039"/>
            <a:ext cx="1260696" cy="1246121"/>
          </a:xfrm>
          <a:prstGeom prst="roundRect">
            <a:avLst>
              <a:gd name="adj" fmla="val 4000"/>
            </a:avLst>
          </a:prstGeom>
          <a:solidFill>
            <a:srgbClr val="F8FCFF"/>
          </a:solidFill>
          <a:ln w="17780">
            <a:solidFill>
              <a:srgbClr val="126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0132171" y="2121039"/>
            <a:ext cx="1348142" cy="1246121"/>
          </a:xfrm>
          <a:prstGeom prst="roundRect">
            <a:avLst>
              <a:gd name="adj" fmla="val 4000"/>
            </a:avLst>
          </a:prstGeom>
          <a:solidFill>
            <a:srgbClr val="F6FEFA"/>
          </a:solidFill>
          <a:ln w="17780">
            <a:solidFill>
              <a:srgbClr val="0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124231" y="2466998"/>
            <a:ext cx="718051" cy="6489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764" b="1">
                <a:solidFill>
                  <a:srgbClr val="061632"/>
                </a:solidFill>
                <a:latin typeface="Noto Sans CJK SC"/>
              </a:defRPr>
            </a:pPr>
            <a:r>
              <a:rPr lang="zh-CN" altLang="en-US" sz="1406" dirty="0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sz="1406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endParaRPr sz="1406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364352">
              <a:defRPr sz="1764" b="1">
                <a:solidFill>
                  <a:srgbClr val="061632"/>
                </a:solidFill>
                <a:latin typeface="Noto Sans CJK SC"/>
              </a:defRPr>
            </a:pPr>
            <a:r>
              <a:rPr lang="zh-CN" altLang="en-US" sz="1406" dirty="0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en-US" altLang="zh-CN" sz="1406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364352">
              <a:defRPr sz="1764" b="1">
                <a:solidFill>
                  <a:srgbClr val="061632"/>
                </a:solidFill>
                <a:latin typeface="Noto Sans CJK SC"/>
              </a:defRPr>
            </a:pPr>
            <a:r>
              <a:rPr sz="1406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实验进展</a:t>
            </a:r>
            <a:endParaRPr sz="1406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681904" y="2486027"/>
            <a:ext cx="918400" cy="6181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680" b="1">
                <a:solidFill>
                  <a:srgbClr val="061632"/>
                </a:solidFill>
                <a:latin typeface="Noto Sans CJK SC"/>
              </a:defRPr>
            </a:pPr>
            <a:r>
              <a:rPr lang="zh-CN" altLang="en-US" sz="1339" dirty="0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r>
              <a:rPr sz="1339" dirty="0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</a:t>
            </a:r>
          </a:p>
          <a:p>
            <a:pPr algn="ctr" defTabSz="364352">
              <a:defRPr sz="1680" b="1">
                <a:solidFill>
                  <a:srgbClr val="061632"/>
                </a:solidFill>
                <a:latin typeface="Noto Sans CJK SC"/>
              </a:defRPr>
            </a:pPr>
            <a:r>
              <a:rPr sz="1339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理解任务</a:t>
            </a:r>
            <a:endParaRPr sz="1339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364352">
              <a:defRPr sz="1680" b="1">
                <a:solidFill>
                  <a:srgbClr val="061632"/>
                </a:solidFill>
                <a:latin typeface="Noto Sans CJK SC"/>
              </a:defRPr>
            </a:pPr>
            <a:r>
              <a:rPr sz="1339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整理重点</a:t>
            </a:r>
            <a:endParaRPr sz="1339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381139" y="2482384"/>
            <a:ext cx="857495" cy="6181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680" b="1">
                <a:solidFill>
                  <a:srgbClr val="061632"/>
                </a:solidFill>
                <a:latin typeface="Noto Sans CJK SC"/>
              </a:defRPr>
            </a:pPr>
            <a:r>
              <a:rPr sz="1339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</a:t>
            </a:r>
            <a:r>
              <a:rPr lang="zh-CN" altLang="en-US" sz="1339" dirty="0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sz="1339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364352">
              <a:defRPr sz="1680" b="1">
                <a:solidFill>
                  <a:srgbClr val="061632"/>
                </a:solidFill>
                <a:latin typeface="Noto Sans CJK SC"/>
              </a:defRPr>
            </a:pPr>
            <a:r>
              <a:rPr sz="1339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问题与计划</a:t>
            </a:r>
            <a:endParaRPr sz="1339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364352">
              <a:defRPr sz="1680" b="1">
                <a:solidFill>
                  <a:srgbClr val="061632"/>
                </a:solidFill>
                <a:latin typeface="Noto Sans CJK SC"/>
              </a:defRPr>
            </a:pPr>
            <a:r>
              <a:rPr sz="1339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正式草稿</a:t>
            </a:r>
            <a:endParaRPr sz="1339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035085" y="3469181"/>
            <a:ext cx="160320" cy="1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80785" y="3478765"/>
            <a:ext cx="68921" cy="1338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092" b="1">
                <a:solidFill>
                  <a:srgbClr val="F46F00"/>
                </a:solidFill>
                <a:latin typeface="Noto Sans CJK SC"/>
              </a:defRPr>
            </a:pPr>
            <a:r>
              <a:rPr sz="870">
                <a:solidFill>
                  <a:srgbClr val="F46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0991" y="3446314"/>
            <a:ext cx="685996" cy="206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680" b="1">
                <a:solidFill>
                  <a:srgbClr val="F46F00"/>
                </a:solidFill>
                <a:latin typeface="Noto Sans CJK SC"/>
              </a:defRPr>
            </a:pPr>
            <a:r>
              <a:rPr sz="1339" dirty="0" err="1">
                <a:solidFill>
                  <a:srgbClr val="F46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输入信息</a:t>
            </a:r>
            <a:endParaRPr sz="1339" dirty="0">
              <a:solidFill>
                <a:srgbClr val="F46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674719" y="3469181"/>
            <a:ext cx="160320" cy="1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6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720418" y="3478765"/>
            <a:ext cx="68921" cy="1338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092" b="1">
                <a:solidFill>
                  <a:srgbClr val="1260CF"/>
                </a:solidFill>
                <a:latin typeface="Noto Sans CJK SC"/>
              </a:defRPr>
            </a:pPr>
            <a:r>
              <a:rPr sz="870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00624" y="3446314"/>
            <a:ext cx="685996" cy="206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680" b="1">
                <a:solidFill>
                  <a:srgbClr val="1260CF"/>
                </a:solidFill>
                <a:latin typeface="Noto Sans CJK SC"/>
              </a:defRPr>
            </a:pPr>
            <a:r>
              <a:rPr sz="1339" dirty="0" err="1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处理任务</a:t>
            </a:r>
            <a:endParaRPr sz="1339" dirty="0">
              <a:solidFill>
                <a:srgbClr val="1260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0387225" y="3469181"/>
            <a:ext cx="160320" cy="1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432924" y="3478765"/>
            <a:ext cx="68921" cy="1338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092" b="1">
                <a:solidFill>
                  <a:srgbClr val="09914D"/>
                </a:solidFill>
                <a:latin typeface="Noto Sans CJK SC"/>
              </a:defRPr>
            </a:pPr>
            <a:r>
              <a:rPr sz="870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13129" y="3446314"/>
            <a:ext cx="685996" cy="206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736308" y="3826257"/>
            <a:ext cx="4984484" cy="1275270"/>
          </a:xfrm>
          <a:prstGeom prst="roundRect">
            <a:avLst>
              <a:gd name="adj" fmla="val 3500"/>
            </a:avLst>
          </a:prstGeom>
          <a:solidFill>
            <a:srgbClr val="F6FEFA"/>
          </a:solidFill>
          <a:ln w="17780">
            <a:solidFill>
              <a:srgbClr val="52B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903914" y="3913705"/>
            <a:ext cx="408087" cy="408085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355725" y="4010809"/>
            <a:ext cx="1365580" cy="2576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100" b="1">
                <a:solidFill>
                  <a:srgbClr val="09914D"/>
                </a:solidFill>
                <a:latin typeface="Noto Sans CJK SC"/>
              </a:defRPr>
            </a:pPr>
            <a:r>
              <a:rPr sz="1674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的价值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82429" y="4409238"/>
            <a:ext cx="7287" cy="546544"/>
          </a:xfrm>
          <a:prstGeom prst="rect">
            <a:avLst/>
          </a:prstGeom>
          <a:solidFill>
            <a:srgbClr val="B2D5C4"/>
          </a:solidFill>
          <a:ln>
            <a:solidFill>
              <a:srgbClr val="B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9206688" y="4409238"/>
            <a:ext cx="7287" cy="546544"/>
          </a:xfrm>
          <a:prstGeom prst="rect">
            <a:avLst/>
          </a:prstGeom>
          <a:solidFill>
            <a:srgbClr val="B2D5C4"/>
          </a:solidFill>
          <a:ln>
            <a:solidFill>
              <a:srgbClr val="B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0438234" y="4409238"/>
            <a:ext cx="7287" cy="546544"/>
          </a:xfrm>
          <a:prstGeom prst="rect">
            <a:avLst/>
          </a:prstGeom>
          <a:solidFill>
            <a:srgbClr val="B2D5C4"/>
          </a:solidFill>
          <a:ln>
            <a:solidFill>
              <a:srgbClr val="B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918489" y="4496684"/>
            <a:ext cx="393512" cy="39351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341150" y="4494672"/>
            <a:ext cx="514497" cy="412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让流程</a:t>
            </a:r>
          </a:p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</a:t>
            </a:r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182829" y="4536538"/>
            <a:ext cx="327926" cy="31380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572696" y="4494672"/>
            <a:ext cx="514497" cy="412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让输出</a:t>
            </a:r>
          </a:p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更规范</a:t>
            </a:r>
          </a:p>
        </p:txBody>
      </p:sp>
      <p:pic>
        <p:nvPicPr>
          <p:cNvPr id="82" name="Picture 81" descr="value_reuse_cyc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06513" y="4474823"/>
            <a:ext cx="314502" cy="43723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789669" y="4494672"/>
            <a:ext cx="514497" cy="412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 dirty="0" err="1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让任务</a:t>
            </a:r>
            <a:endParaRPr sz="1339" dirty="0">
              <a:solidFill>
                <a:srgbClr val="0991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可复用</a:t>
            </a:r>
            <a:endParaRPr sz="1339" dirty="0">
              <a:solidFill>
                <a:srgbClr val="0991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4" name="Picture 83" descr="value_scalable_chart.png"/>
          <p:cNvPicPr>
            <a:picLocks noChangeAspect="1"/>
          </p:cNvPicPr>
          <p:nvPr/>
        </p:nvPicPr>
        <p:blipFill>
          <a:blip r:embed="rId17"/>
          <a:srcRect r="16540"/>
          <a:stretch>
            <a:fillRect/>
          </a:stretch>
        </p:blipFill>
        <p:spPr>
          <a:xfrm>
            <a:off x="10613130" y="4508731"/>
            <a:ext cx="328422" cy="369419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1035790" y="4494672"/>
            <a:ext cx="514497" cy="412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让系统</a:t>
            </a:r>
          </a:p>
          <a:p>
            <a:pPr defTabSz="364352">
              <a:defRPr sz="1680" b="1">
                <a:solidFill>
                  <a:srgbClr val="09914D"/>
                </a:solidFill>
                <a:latin typeface="Noto Sans CJK SC"/>
              </a:defRPr>
            </a:pPr>
            <a:r>
              <a:rPr sz="1339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5383" y="5487751"/>
            <a:ext cx="11484718" cy="867184"/>
          </a:xfrm>
          <a:prstGeom prst="roundRect">
            <a:avLst>
              <a:gd name="adj" fmla="val 3000"/>
            </a:avLst>
          </a:prstGeom>
          <a:solidFill>
            <a:srgbClr val="0051B4"/>
          </a:solidFill>
          <a:ln>
            <a:solidFill>
              <a:srgbClr val="00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6E799286-E055-43CB-16E0-BDDBB8C7D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6250" y="1498179"/>
            <a:ext cx="359371" cy="359371"/>
          </a:xfrm>
          <a:prstGeom prst="rect">
            <a:avLst/>
          </a:prstGeom>
        </p:spPr>
      </p:pic>
      <p:sp>
        <p:nvSpPr>
          <p:cNvPr id="97" name="椭圆 96">
            <a:extLst>
              <a:ext uri="{FF2B5EF4-FFF2-40B4-BE49-F238E27FC236}">
                <a16:creationId xmlns:a16="http://schemas.microsoft.com/office/drawing/2014/main" id="{15EF6177-2DE7-93E8-3B2B-DD082BBF72A5}"/>
              </a:ext>
            </a:extLst>
          </p:cNvPr>
          <p:cNvSpPr/>
          <p:nvPr/>
        </p:nvSpPr>
        <p:spPr>
          <a:xfrm>
            <a:off x="7271986" y="1914625"/>
            <a:ext cx="415244" cy="41524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rgbClr val="F4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B26F3E66-A343-FD1F-1A3A-89BCB9BF3B85}"/>
              </a:ext>
            </a:extLst>
          </p:cNvPr>
          <p:cNvGrpSpPr/>
          <p:nvPr/>
        </p:nvGrpSpPr>
        <p:grpSpPr>
          <a:xfrm>
            <a:off x="7352341" y="1968845"/>
            <a:ext cx="254533" cy="306804"/>
            <a:chOff x="7441084" y="1957431"/>
            <a:chExt cx="254566" cy="306844"/>
          </a:xfrm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81CDD97D-1AED-E66E-A933-83F27643C33A}"/>
                </a:ext>
              </a:extLst>
            </p:cNvPr>
            <p:cNvSpPr/>
            <p:nvPr/>
          </p:nvSpPr>
          <p:spPr>
            <a:xfrm>
              <a:off x="7441084" y="1957431"/>
              <a:ext cx="254505" cy="306844"/>
            </a:xfrm>
            <a:custGeom>
              <a:avLst/>
              <a:gdLst>
                <a:gd name="csX0" fmla="*/ 188689 w 254505"/>
                <a:gd name="csY0" fmla="*/ 305960 h 306844"/>
                <a:gd name="csX1" fmla="*/ 137891 w 254505"/>
                <a:gd name="csY1" fmla="*/ 283262 h 306844"/>
                <a:gd name="csX2" fmla="*/ 24862 w 254505"/>
                <a:gd name="csY2" fmla="*/ 283262 h 306844"/>
                <a:gd name="csX3" fmla="*/ 24862 w 254505"/>
                <a:gd name="csY3" fmla="*/ 23583 h 306844"/>
                <a:gd name="csX4" fmla="*/ 161987 w 254505"/>
                <a:gd name="csY4" fmla="*/ 23583 h 306844"/>
                <a:gd name="csX5" fmla="*/ 161987 w 254505"/>
                <a:gd name="csY5" fmla="*/ 87951 h 306844"/>
                <a:gd name="csX6" fmla="*/ 229644 w 254505"/>
                <a:gd name="csY6" fmla="*/ 87951 h 306844"/>
                <a:gd name="csX7" fmla="*/ 229644 w 254505"/>
                <a:gd name="csY7" fmla="*/ 194528 h 306844"/>
                <a:gd name="csX8" fmla="*/ 254506 w 254505"/>
                <a:gd name="csY8" fmla="*/ 240868 h 306844"/>
                <a:gd name="csX9" fmla="*/ 254506 w 254505"/>
                <a:gd name="csY9" fmla="*/ 65905 h 306844"/>
                <a:gd name="csX10" fmla="*/ 182531 w 254505"/>
                <a:gd name="csY10" fmla="*/ 0 h 306844"/>
                <a:gd name="csX11" fmla="*/ 0 w 254505"/>
                <a:gd name="csY11" fmla="*/ 0 h 306844"/>
                <a:gd name="csX12" fmla="*/ 0 w 254505"/>
                <a:gd name="csY12" fmla="*/ 306845 h 306844"/>
                <a:gd name="csX13" fmla="*/ 254505 w 254505"/>
                <a:gd name="csY13" fmla="*/ 306845 h 306844"/>
                <a:gd name="csX14" fmla="*/ 254505 w 254505"/>
                <a:gd name="csY14" fmla="*/ 246076 h 306844"/>
                <a:gd name="csX15" fmla="*/ 188689 w 254505"/>
                <a:gd name="csY15" fmla="*/ 305960 h 306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54505" h="306844">
                  <a:moveTo>
                    <a:pt x="188689" y="305960"/>
                  </a:moveTo>
                  <a:cubicBezTo>
                    <a:pt x="168244" y="305960"/>
                    <a:pt x="149974" y="297126"/>
                    <a:pt x="137891" y="283262"/>
                  </a:cubicBezTo>
                  <a:lnTo>
                    <a:pt x="24862" y="283262"/>
                  </a:lnTo>
                  <a:lnTo>
                    <a:pt x="24862" y="23583"/>
                  </a:lnTo>
                  <a:lnTo>
                    <a:pt x="161987" y="23583"/>
                  </a:lnTo>
                  <a:lnTo>
                    <a:pt x="161987" y="87951"/>
                  </a:lnTo>
                  <a:lnTo>
                    <a:pt x="229644" y="87951"/>
                  </a:lnTo>
                  <a:lnTo>
                    <a:pt x="229644" y="194528"/>
                  </a:lnTo>
                  <a:cubicBezTo>
                    <a:pt x="244160" y="205472"/>
                    <a:pt x="253694" y="222102"/>
                    <a:pt x="254506" y="240868"/>
                  </a:cubicBezTo>
                  <a:lnTo>
                    <a:pt x="254506" y="65905"/>
                  </a:lnTo>
                  <a:lnTo>
                    <a:pt x="182531" y="0"/>
                  </a:lnTo>
                  <a:lnTo>
                    <a:pt x="0" y="0"/>
                  </a:lnTo>
                  <a:lnTo>
                    <a:pt x="0" y="306845"/>
                  </a:lnTo>
                  <a:lnTo>
                    <a:pt x="254505" y="306845"/>
                  </a:lnTo>
                  <a:lnTo>
                    <a:pt x="254505" y="246076"/>
                  </a:lnTo>
                  <a:cubicBezTo>
                    <a:pt x="253065" y="279379"/>
                    <a:pt x="224152" y="305960"/>
                    <a:pt x="188689" y="305960"/>
                  </a:cubicBezTo>
                  <a:close/>
                </a:path>
              </a:pathLst>
            </a:custGeom>
            <a:solidFill>
              <a:schemeClr val="bg1"/>
            </a:solidFill>
            <a:ln w="335" cap="flat">
              <a:noFill/>
              <a:prstDash val="solid"/>
              <a:miter/>
            </a:ln>
          </p:spPr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E22E8AF9-282C-7FD2-68A2-A5FBD352615C}"/>
                </a:ext>
              </a:extLst>
            </p:cNvPr>
            <p:cNvSpPr/>
            <p:nvPr/>
          </p:nvSpPr>
          <p:spPr>
            <a:xfrm>
              <a:off x="7495775" y="2078839"/>
              <a:ext cx="149972" cy="132672"/>
            </a:xfrm>
            <a:custGeom>
              <a:avLst/>
              <a:gdLst>
                <a:gd name="csX0" fmla="*/ 0 w 149972"/>
                <a:gd name="csY0" fmla="*/ 0 h 132672"/>
                <a:gd name="csX1" fmla="*/ 149972 w 149972"/>
                <a:gd name="csY1" fmla="*/ 0 h 132672"/>
                <a:gd name="csX2" fmla="*/ 149972 w 149972"/>
                <a:gd name="csY2" fmla="*/ 22993 h 132672"/>
                <a:gd name="csX3" fmla="*/ 0 w 149972"/>
                <a:gd name="csY3" fmla="*/ 22993 h 132672"/>
                <a:gd name="csX4" fmla="*/ 0 w 149972"/>
                <a:gd name="csY4" fmla="*/ 54840 h 132672"/>
                <a:gd name="csX5" fmla="*/ 75383 w 149972"/>
                <a:gd name="csY5" fmla="*/ 54840 h 132672"/>
                <a:gd name="csX6" fmla="*/ 75383 w 149972"/>
                <a:gd name="csY6" fmla="*/ 77833 h 132672"/>
                <a:gd name="csX7" fmla="*/ 0 w 149972"/>
                <a:gd name="csY7" fmla="*/ 77833 h 132672"/>
                <a:gd name="csX8" fmla="*/ 0 w 149972"/>
                <a:gd name="csY8" fmla="*/ 109680 h 132672"/>
                <a:gd name="csX9" fmla="*/ 47411 w 149972"/>
                <a:gd name="csY9" fmla="*/ 109680 h 132672"/>
                <a:gd name="csX10" fmla="*/ 47411 w 149972"/>
                <a:gd name="csY10" fmla="*/ 132673 h 132672"/>
                <a:gd name="csX11" fmla="*/ 0 w 149972"/>
                <a:gd name="csY11" fmla="*/ 132673 h 132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9972" h="132672">
                  <a:moveTo>
                    <a:pt x="0" y="0"/>
                  </a:moveTo>
                  <a:lnTo>
                    <a:pt x="149972" y="0"/>
                  </a:lnTo>
                  <a:lnTo>
                    <a:pt x="149972" y="22993"/>
                  </a:lnTo>
                  <a:lnTo>
                    <a:pt x="0" y="22993"/>
                  </a:lnTo>
                  <a:close/>
                  <a:moveTo>
                    <a:pt x="0" y="54840"/>
                  </a:moveTo>
                  <a:lnTo>
                    <a:pt x="75383" y="54840"/>
                  </a:lnTo>
                  <a:lnTo>
                    <a:pt x="75383" y="77833"/>
                  </a:lnTo>
                  <a:lnTo>
                    <a:pt x="0" y="77833"/>
                  </a:lnTo>
                  <a:close/>
                  <a:moveTo>
                    <a:pt x="0" y="109680"/>
                  </a:moveTo>
                  <a:lnTo>
                    <a:pt x="47411" y="109680"/>
                  </a:lnTo>
                  <a:lnTo>
                    <a:pt x="47411" y="132673"/>
                  </a:lnTo>
                  <a:lnTo>
                    <a:pt x="0" y="132673"/>
                  </a:lnTo>
                  <a:close/>
                </a:path>
              </a:pathLst>
            </a:custGeom>
            <a:solidFill>
              <a:schemeClr val="bg1"/>
            </a:solidFill>
            <a:ln w="335" cap="flat">
              <a:noFill/>
              <a:prstDash val="solid"/>
              <a:miter/>
            </a:ln>
          </p:spPr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13B731A0-8830-B94D-AFD7-974C41AACB83}"/>
                </a:ext>
              </a:extLst>
            </p:cNvPr>
            <p:cNvSpPr/>
            <p:nvPr/>
          </p:nvSpPr>
          <p:spPr>
            <a:xfrm>
              <a:off x="7563894" y="2138415"/>
              <a:ext cx="131756" cy="124976"/>
            </a:xfrm>
            <a:custGeom>
              <a:avLst/>
              <a:gdLst>
                <a:gd name="csX0" fmla="*/ 106833 w 131756"/>
                <a:gd name="csY0" fmla="*/ 13544 h 124976"/>
                <a:gd name="csX1" fmla="*/ 65878 w 131756"/>
                <a:gd name="csY1" fmla="*/ 0 h 124976"/>
                <a:gd name="csX2" fmla="*/ 0 w 131756"/>
                <a:gd name="csY2" fmla="*/ 62488 h 124976"/>
                <a:gd name="csX3" fmla="*/ 15080 w 131756"/>
                <a:gd name="csY3" fmla="*/ 102278 h 124976"/>
                <a:gd name="csX4" fmla="*/ 65878 w 131756"/>
                <a:gd name="csY4" fmla="*/ 124976 h 124976"/>
                <a:gd name="csX5" fmla="*/ 131695 w 131756"/>
                <a:gd name="csY5" fmla="*/ 65093 h 124976"/>
                <a:gd name="csX6" fmla="*/ 131756 w 131756"/>
                <a:gd name="csY6" fmla="*/ 62488 h 124976"/>
                <a:gd name="csX7" fmla="*/ 131695 w 131756"/>
                <a:gd name="csY7" fmla="*/ 59884 h 124976"/>
                <a:gd name="csX8" fmla="*/ 106833 w 131756"/>
                <a:gd name="csY8" fmla="*/ 13544 h 124976"/>
                <a:gd name="csX9" fmla="*/ 55102 w 131756"/>
                <a:gd name="csY9" fmla="*/ 101614 h 124976"/>
                <a:gd name="csX10" fmla="*/ 41917 w 131756"/>
                <a:gd name="csY10" fmla="*/ 89107 h 124976"/>
                <a:gd name="csX11" fmla="*/ 42232 w 131756"/>
                <a:gd name="csY11" fmla="*/ 88808 h 124976"/>
                <a:gd name="csX12" fmla="*/ 18531 w 131756"/>
                <a:gd name="csY12" fmla="*/ 66326 h 124976"/>
                <a:gd name="csX13" fmla="*/ 31716 w 131756"/>
                <a:gd name="csY13" fmla="*/ 53820 h 124976"/>
                <a:gd name="csX14" fmla="*/ 55417 w 131756"/>
                <a:gd name="csY14" fmla="*/ 76302 h 124976"/>
                <a:gd name="csX15" fmla="*/ 100041 w 131756"/>
                <a:gd name="csY15" fmla="*/ 33975 h 124976"/>
                <a:gd name="csX16" fmla="*/ 113225 w 131756"/>
                <a:gd name="csY16" fmla="*/ 46481 h 124976"/>
                <a:gd name="csX17" fmla="*/ 55102 w 131756"/>
                <a:gd name="csY17" fmla="*/ 101614 h 124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1756" h="124976">
                  <a:moveTo>
                    <a:pt x="106833" y="13544"/>
                  </a:moveTo>
                  <a:cubicBezTo>
                    <a:pt x="95588" y="5067"/>
                    <a:pt x="81358" y="0"/>
                    <a:pt x="65878" y="0"/>
                  </a:cubicBezTo>
                  <a:cubicBezTo>
                    <a:pt x="29495" y="0"/>
                    <a:pt x="0" y="27977"/>
                    <a:pt x="0" y="62488"/>
                  </a:cubicBezTo>
                  <a:cubicBezTo>
                    <a:pt x="0" y="77606"/>
                    <a:pt x="5661" y="91471"/>
                    <a:pt x="15080" y="102278"/>
                  </a:cubicBezTo>
                  <a:cubicBezTo>
                    <a:pt x="27164" y="116142"/>
                    <a:pt x="45433" y="124976"/>
                    <a:pt x="65878" y="124976"/>
                  </a:cubicBezTo>
                  <a:cubicBezTo>
                    <a:pt x="101341" y="124976"/>
                    <a:pt x="130255" y="98395"/>
                    <a:pt x="131695" y="65093"/>
                  </a:cubicBezTo>
                  <a:cubicBezTo>
                    <a:pt x="131732" y="64229"/>
                    <a:pt x="131756" y="63361"/>
                    <a:pt x="131756" y="62488"/>
                  </a:cubicBezTo>
                  <a:cubicBezTo>
                    <a:pt x="131756" y="61615"/>
                    <a:pt x="131732" y="60748"/>
                    <a:pt x="131695" y="59884"/>
                  </a:cubicBezTo>
                  <a:cubicBezTo>
                    <a:pt x="130883" y="41117"/>
                    <a:pt x="121350" y="24487"/>
                    <a:pt x="106833" y="13544"/>
                  </a:cubicBezTo>
                  <a:close/>
                  <a:moveTo>
                    <a:pt x="55102" y="101614"/>
                  </a:moveTo>
                  <a:lnTo>
                    <a:pt x="41917" y="89107"/>
                  </a:lnTo>
                  <a:lnTo>
                    <a:pt x="42232" y="88808"/>
                  </a:lnTo>
                  <a:lnTo>
                    <a:pt x="18531" y="66326"/>
                  </a:lnTo>
                  <a:lnTo>
                    <a:pt x="31716" y="53820"/>
                  </a:lnTo>
                  <a:lnTo>
                    <a:pt x="55417" y="76302"/>
                  </a:lnTo>
                  <a:lnTo>
                    <a:pt x="100041" y="33975"/>
                  </a:lnTo>
                  <a:lnTo>
                    <a:pt x="113225" y="46481"/>
                  </a:lnTo>
                  <a:lnTo>
                    <a:pt x="55102" y="101614"/>
                  </a:lnTo>
                  <a:close/>
                </a:path>
              </a:pathLst>
            </a:custGeom>
            <a:solidFill>
              <a:schemeClr val="bg1"/>
            </a:solidFill>
            <a:ln w="335" cap="flat">
              <a:solidFill>
                <a:schemeClr val="accent3"/>
              </a:solidFill>
              <a:prstDash val="solid"/>
              <a:miter/>
            </a:ln>
          </p:spPr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6EF52AFD-99BB-1BB3-1A4A-8FC74CD7CBA7}"/>
                </a:ext>
              </a:extLst>
            </p:cNvPr>
            <p:cNvSpPr/>
            <p:nvPr/>
          </p:nvSpPr>
          <p:spPr>
            <a:xfrm>
              <a:off x="7582425" y="2172390"/>
              <a:ext cx="94694" cy="67638"/>
            </a:xfrm>
            <a:custGeom>
              <a:avLst/>
              <a:gdLst>
                <a:gd name="csX0" fmla="*/ 81510 w 94694"/>
                <a:gd name="csY0" fmla="*/ 0 h 67638"/>
                <a:gd name="csX1" fmla="*/ 36887 w 94694"/>
                <a:gd name="csY1" fmla="*/ 42327 h 67638"/>
                <a:gd name="csX2" fmla="*/ 13185 w 94694"/>
                <a:gd name="csY2" fmla="*/ 19845 h 67638"/>
                <a:gd name="csX3" fmla="*/ 0 w 94694"/>
                <a:gd name="csY3" fmla="*/ 32351 h 67638"/>
                <a:gd name="csX4" fmla="*/ 23702 w 94694"/>
                <a:gd name="csY4" fmla="*/ 54833 h 67638"/>
                <a:gd name="csX5" fmla="*/ 23387 w 94694"/>
                <a:gd name="csY5" fmla="*/ 55133 h 67638"/>
                <a:gd name="csX6" fmla="*/ 36571 w 94694"/>
                <a:gd name="csY6" fmla="*/ 67639 h 67638"/>
                <a:gd name="csX7" fmla="*/ 94695 w 94694"/>
                <a:gd name="csY7" fmla="*/ 12507 h 67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4694" h="67638">
                  <a:moveTo>
                    <a:pt x="81510" y="0"/>
                  </a:moveTo>
                  <a:lnTo>
                    <a:pt x="36887" y="42327"/>
                  </a:lnTo>
                  <a:lnTo>
                    <a:pt x="13185" y="19845"/>
                  </a:lnTo>
                  <a:lnTo>
                    <a:pt x="0" y="32351"/>
                  </a:lnTo>
                  <a:lnTo>
                    <a:pt x="23702" y="54833"/>
                  </a:lnTo>
                  <a:lnTo>
                    <a:pt x="23387" y="55133"/>
                  </a:lnTo>
                  <a:lnTo>
                    <a:pt x="36571" y="67639"/>
                  </a:lnTo>
                  <a:lnTo>
                    <a:pt x="94695" y="12507"/>
                  </a:lnTo>
                  <a:close/>
                </a:path>
              </a:pathLst>
            </a:custGeom>
            <a:solidFill>
              <a:srgbClr val="92D050"/>
            </a:solidFill>
            <a:ln w="335" cap="flat">
              <a:noFill/>
              <a:prstDash val="solid"/>
              <a:miter/>
            </a:ln>
          </p:spPr>
        </p:sp>
      </p:grpSp>
      <p:pic>
        <p:nvPicPr>
          <p:cNvPr id="110" name="图形 109">
            <a:extLst>
              <a:ext uri="{FF2B5EF4-FFF2-40B4-BE49-F238E27FC236}">
                <a16:creationId xmlns:a16="http://schemas.microsoft.com/office/drawing/2014/main" id="{428AEE51-0D20-37D0-DD9F-6CAD866C12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44869" y="1505441"/>
            <a:ext cx="298425" cy="298425"/>
          </a:xfrm>
          <a:prstGeom prst="rect">
            <a:avLst/>
          </a:prstGeom>
        </p:spPr>
      </p:pic>
      <p:sp>
        <p:nvSpPr>
          <p:cNvPr id="111" name="椭圆 110">
            <a:extLst>
              <a:ext uri="{FF2B5EF4-FFF2-40B4-BE49-F238E27FC236}">
                <a16:creationId xmlns:a16="http://schemas.microsoft.com/office/drawing/2014/main" id="{17C904D0-1E70-B3C4-D450-BF638DE1101E}"/>
              </a:ext>
            </a:extLst>
          </p:cNvPr>
          <p:cNvSpPr/>
          <p:nvPr/>
        </p:nvSpPr>
        <p:spPr>
          <a:xfrm>
            <a:off x="8933481" y="1921001"/>
            <a:ext cx="415244" cy="4152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52A445FF-74A7-76CC-A200-4F8373FAFD35}"/>
              </a:ext>
            </a:extLst>
          </p:cNvPr>
          <p:cNvSpPr/>
          <p:nvPr/>
        </p:nvSpPr>
        <p:spPr>
          <a:xfrm>
            <a:off x="10540882" y="1926556"/>
            <a:ext cx="415244" cy="4152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4" name="图形 113">
            <a:extLst>
              <a:ext uri="{FF2B5EF4-FFF2-40B4-BE49-F238E27FC236}">
                <a16:creationId xmlns:a16="http://schemas.microsoft.com/office/drawing/2014/main" id="{FFDCE5DC-CC91-FCDA-5DE0-2C7780BFE0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0605481" y="1991154"/>
            <a:ext cx="286047" cy="286047"/>
          </a:xfrm>
          <a:prstGeom prst="rect">
            <a:avLst/>
          </a:prstGeom>
        </p:spPr>
      </p:pic>
      <p:pic>
        <p:nvPicPr>
          <p:cNvPr id="118" name="图形 117">
            <a:extLst>
              <a:ext uri="{FF2B5EF4-FFF2-40B4-BE49-F238E27FC236}">
                <a16:creationId xmlns:a16="http://schemas.microsoft.com/office/drawing/2014/main" id="{B7F34A28-82D8-4BE4-5910-9EB80114B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70350" y="1957870"/>
            <a:ext cx="341506" cy="341506"/>
          </a:xfrm>
          <a:prstGeom prst="rect">
            <a:avLst/>
          </a:prstGeom>
        </p:spPr>
      </p:pic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0AD66B47-E3E4-4F85-F35A-75EF21B76B0D}"/>
              </a:ext>
            </a:extLst>
          </p:cNvPr>
          <p:cNvCxnSpPr>
            <a:stCxn id="52" idx="3"/>
            <a:endCxn id="53" idx="1"/>
          </p:cNvCxnSpPr>
          <p:nvPr/>
        </p:nvCxnSpPr>
        <p:spPr>
          <a:xfrm>
            <a:off x="8128174" y="2744099"/>
            <a:ext cx="37165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2CF816AE-4F60-CDB5-A479-6353CCD5C33C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9760520" y="2744099"/>
            <a:ext cx="3716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2F0EEDA8-4D32-E67C-EA33-A5C69659B13C}"/>
              </a:ext>
            </a:extLst>
          </p:cNvPr>
          <p:cNvGrpSpPr/>
          <p:nvPr/>
        </p:nvGrpSpPr>
        <p:grpSpPr>
          <a:xfrm>
            <a:off x="718613" y="2275747"/>
            <a:ext cx="524387" cy="546544"/>
            <a:chOff x="718706" y="2281209"/>
            <a:chExt cx="524455" cy="546615"/>
          </a:xfrm>
        </p:grpSpPr>
        <p:pic>
          <p:nvPicPr>
            <p:cNvPr id="13" name="Picture 12" descr="llm_input_chat.png"/>
            <p:cNvPicPr>
              <a:picLocks noChangeAspect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18706" y="2281209"/>
              <a:ext cx="524455" cy="546615"/>
            </a:xfrm>
            <a:prstGeom prst="rect">
              <a:avLst/>
            </a:prstGeom>
          </p:spPr>
        </p:pic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5C5321BE-6762-39EE-3C8A-D7F5EE5A7154}"/>
                </a:ext>
              </a:extLst>
            </p:cNvPr>
            <p:cNvSpPr/>
            <p:nvPr/>
          </p:nvSpPr>
          <p:spPr>
            <a:xfrm>
              <a:off x="718706" y="2292289"/>
              <a:ext cx="524454" cy="524454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9CC77EB3-D815-C8F6-1B09-1A8AE9FC05EA}"/>
              </a:ext>
            </a:extLst>
          </p:cNvPr>
          <p:cNvCxnSpPr>
            <a:cxnSpLocks/>
          </p:cNvCxnSpPr>
          <p:nvPr/>
        </p:nvCxnSpPr>
        <p:spPr>
          <a:xfrm>
            <a:off x="1375307" y="2549018"/>
            <a:ext cx="359522" cy="0"/>
          </a:xfrm>
          <a:prstGeom prst="straightConnector1">
            <a:avLst/>
          </a:prstGeom>
          <a:ln>
            <a:solidFill>
              <a:srgbClr val="F46F0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01E24108-4AD3-39C6-DE66-3054D0CEFB0E}"/>
              </a:ext>
            </a:extLst>
          </p:cNvPr>
          <p:cNvGrpSpPr/>
          <p:nvPr/>
        </p:nvGrpSpPr>
        <p:grpSpPr>
          <a:xfrm>
            <a:off x="1882850" y="2286825"/>
            <a:ext cx="524386" cy="524386"/>
            <a:chOff x="1883096" y="2269982"/>
            <a:chExt cx="524454" cy="524454"/>
          </a:xfrm>
        </p:grpSpPr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92E92819-9FBF-CAD0-EADA-72959526581F}"/>
                </a:ext>
              </a:extLst>
            </p:cNvPr>
            <p:cNvGrpSpPr/>
            <p:nvPr/>
          </p:nvGrpSpPr>
          <p:grpSpPr>
            <a:xfrm>
              <a:off x="2018040" y="2378787"/>
              <a:ext cx="254566" cy="306844"/>
              <a:chOff x="2014687" y="2382776"/>
              <a:chExt cx="254566" cy="306844"/>
            </a:xfrm>
          </p:grpSpPr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FB636961-C50B-BE8F-E5C7-6766AAEEB23D}"/>
                  </a:ext>
                </a:extLst>
              </p:cNvPr>
              <p:cNvSpPr/>
              <p:nvPr/>
            </p:nvSpPr>
            <p:spPr>
              <a:xfrm>
                <a:off x="2014687" y="2382776"/>
                <a:ext cx="254505" cy="306844"/>
              </a:xfrm>
              <a:custGeom>
                <a:avLst/>
                <a:gdLst>
                  <a:gd name="csX0" fmla="*/ 188689 w 254505"/>
                  <a:gd name="csY0" fmla="*/ 305960 h 306844"/>
                  <a:gd name="csX1" fmla="*/ 137891 w 254505"/>
                  <a:gd name="csY1" fmla="*/ 283262 h 306844"/>
                  <a:gd name="csX2" fmla="*/ 24862 w 254505"/>
                  <a:gd name="csY2" fmla="*/ 283262 h 306844"/>
                  <a:gd name="csX3" fmla="*/ 24862 w 254505"/>
                  <a:gd name="csY3" fmla="*/ 23583 h 306844"/>
                  <a:gd name="csX4" fmla="*/ 161987 w 254505"/>
                  <a:gd name="csY4" fmla="*/ 23583 h 306844"/>
                  <a:gd name="csX5" fmla="*/ 161987 w 254505"/>
                  <a:gd name="csY5" fmla="*/ 87951 h 306844"/>
                  <a:gd name="csX6" fmla="*/ 229644 w 254505"/>
                  <a:gd name="csY6" fmla="*/ 87951 h 306844"/>
                  <a:gd name="csX7" fmla="*/ 229644 w 254505"/>
                  <a:gd name="csY7" fmla="*/ 194528 h 306844"/>
                  <a:gd name="csX8" fmla="*/ 254506 w 254505"/>
                  <a:gd name="csY8" fmla="*/ 240868 h 306844"/>
                  <a:gd name="csX9" fmla="*/ 254506 w 254505"/>
                  <a:gd name="csY9" fmla="*/ 65905 h 306844"/>
                  <a:gd name="csX10" fmla="*/ 182531 w 254505"/>
                  <a:gd name="csY10" fmla="*/ 0 h 306844"/>
                  <a:gd name="csX11" fmla="*/ 0 w 254505"/>
                  <a:gd name="csY11" fmla="*/ 0 h 306844"/>
                  <a:gd name="csX12" fmla="*/ 0 w 254505"/>
                  <a:gd name="csY12" fmla="*/ 306845 h 306844"/>
                  <a:gd name="csX13" fmla="*/ 254505 w 254505"/>
                  <a:gd name="csY13" fmla="*/ 306845 h 306844"/>
                  <a:gd name="csX14" fmla="*/ 254505 w 254505"/>
                  <a:gd name="csY14" fmla="*/ 246076 h 306844"/>
                  <a:gd name="csX15" fmla="*/ 188689 w 254505"/>
                  <a:gd name="csY15" fmla="*/ 305960 h 3068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254505" h="306844">
                    <a:moveTo>
                      <a:pt x="188689" y="305960"/>
                    </a:moveTo>
                    <a:cubicBezTo>
                      <a:pt x="168244" y="305960"/>
                      <a:pt x="149974" y="297126"/>
                      <a:pt x="137891" y="283262"/>
                    </a:cubicBezTo>
                    <a:lnTo>
                      <a:pt x="24862" y="283262"/>
                    </a:lnTo>
                    <a:lnTo>
                      <a:pt x="24862" y="23583"/>
                    </a:lnTo>
                    <a:lnTo>
                      <a:pt x="161987" y="23583"/>
                    </a:lnTo>
                    <a:lnTo>
                      <a:pt x="161987" y="87951"/>
                    </a:lnTo>
                    <a:lnTo>
                      <a:pt x="229644" y="87951"/>
                    </a:lnTo>
                    <a:lnTo>
                      <a:pt x="229644" y="194528"/>
                    </a:lnTo>
                    <a:cubicBezTo>
                      <a:pt x="244160" y="205472"/>
                      <a:pt x="253694" y="222102"/>
                      <a:pt x="254506" y="240868"/>
                    </a:cubicBezTo>
                    <a:lnTo>
                      <a:pt x="254506" y="65905"/>
                    </a:lnTo>
                    <a:lnTo>
                      <a:pt x="182531" y="0"/>
                    </a:lnTo>
                    <a:lnTo>
                      <a:pt x="0" y="0"/>
                    </a:lnTo>
                    <a:lnTo>
                      <a:pt x="0" y="306845"/>
                    </a:lnTo>
                    <a:lnTo>
                      <a:pt x="254505" y="306845"/>
                    </a:lnTo>
                    <a:lnTo>
                      <a:pt x="254505" y="246076"/>
                    </a:lnTo>
                    <a:cubicBezTo>
                      <a:pt x="253065" y="279379"/>
                      <a:pt x="224152" y="305960"/>
                      <a:pt x="188689" y="305960"/>
                    </a:cubicBezTo>
                    <a:close/>
                  </a:path>
                </a:pathLst>
              </a:custGeom>
              <a:solidFill>
                <a:srgbClr val="F46F00"/>
              </a:solidFill>
              <a:ln w="335" cap="flat">
                <a:noFill/>
                <a:prstDash val="solid"/>
                <a:miter/>
              </a:ln>
            </p:spPr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227A474B-1236-3403-CA8A-B684402E5BAD}"/>
                  </a:ext>
                </a:extLst>
              </p:cNvPr>
              <p:cNvSpPr/>
              <p:nvPr/>
            </p:nvSpPr>
            <p:spPr>
              <a:xfrm>
                <a:off x="2069378" y="2504184"/>
                <a:ext cx="149972" cy="132672"/>
              </a:xfrm>
              <a:custGeom>
                <a:avLst/>
                <a:gdLst>
                  <a:gd name="csX0" fmla="*/ 0 w 149972"/>
                  <a:gd name="csY0" fmla="*/ 0 h 132672"/>
                  <a:gd name="csX1" fmla="*/ 149972 w 149972"/>
                  <a:gd name="csY1" fmla="*/ 0 h 132672"/>
                  <a:gd name="csX2" fmla="*/ 149972 w 149972"/>
                  <a:gd name="csY2" fmla="*/ 22993 h 132672"/>
                  <a:gd name="csX3" fmla="*/ 0 w 149972"/>
                  <a:gd name="csY3" fmla="*/ 22993 h 132672"/>
                  <a:gd name="csX4" fmla="*/ 0 w 149972"/>
                  <a:gd name="csY4" fmla="*/ 54840 h 132672"/>
                  <a:gd name="csX5" fmla="*/ 75383 w 149972"/>
                  <a:gd name="csY5" fmla="*/ 54840 h 132672"/>
                  <a:gd name="csX6" fmla="*/ 75383 w 149972"/>
                  <a:gd name="csY6" fmla="*/ 77833 h 132672"/>
                  <a:gd name="csX7" fmla="*/ 0 w 149972"/>
                  <a:gd name="csY7" fmla="*/ 77833 h 132672"/>
                  <a:gd name="csX8" fmla="*/ 0 w 149972"/>
                  <a:gd name="csY8" fmla="*/ 109680 h 132672"/>
                  <a:gd name="csX9" fmla="*/ 47411 w 149972"/>
                  <a:gd name="csY9" fmla="*/ 109680 h 132672"/>
                  <a:gd name="csX10" fmla="*/ 47411 w 149972"/>
                  <a:gd name="csY10" fmla="*/ 132673 h 132672"/>
                  <a:gd name="csX11" fmla="*/ 0 w 149972"/>
                  <a:gd name="csY11" fmla="*/ 132673 h 1326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49972" h="132672">
                    <a:moveTo>
                      <a:pt x="0" y="0"/>
                    </a:moveTo>
                    <a:lnTo>
                      <a:pt x="149972" y="0"/>
                    </a:lnTo>
                    <a:lnTo>
                      <a:pt x="149972" y="22993"/>
                    </a:lnTo>
                    <a:lnTo>
                      <a:pt x="0" y="22993"/>
                    </a:lnTo>
                    <a:close/>
                    <a:moveTo>
                      <a:pt x="0" y="54840"/>
                    </a:moveTo>
                    <a:lnTo>
                      <a:pt x="75383" y="54840"/>
                    </a:lnTo>
                    <a:lnTo>
                      <a:pt x="75383" y="77833"/>
                    </a:lnTo>
                    <a:lnTo>
                      <a:pt x="0" y="77833"/>
                    </a:lnTo>
                    <a:close/>
                    <a:moveTo>
                      <a:pt x="0" y="109680"/>
                    </a:moveTo>
                    <a:lnTo>
                      <a:pt x="47411" y="109680"/>
                    </a:lnTo>
                    <a:lnTo>
                      <a:pt x="47411" y="132673"/>
                    </a:lnTo>
                    <a:lnTo>
                      <a:pt x="0" y="132673"/>
                    </a:lnTo>
                    <a:close/>
                  </a:path>
                </a:pathLst>
              </a:custGeom>
              <a:solidFill>
                <a:srgbClr val="F46F00"/>
              </a:solidFill>
              <a:ln w="335" cap="flat">
                <a:noFill/>
                <a:prstDash val="solid"/>
                <a:miter/>
              </a:ln>
            </p:spPr>
          </p:sp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D7067335-F4F6-9031-1C80-8745C5276F1D}"/>
                  </a:ext>
                </a:extLst>
              </p:cNvPr>
              <p:cNvSpPr/>
              <p:nvPr/>
            </p:nvSpPr>
            <p:spPr>
              <a:xfrm>
                <a:off x="2137497" y="2563760"/>
                <a:ext cx="131756" cy="124976"/>
              </a:xfrm>
              <a:custGeom>
                <a:avLst/>
                <a:gdLst>
                  <a:gd name="csX0" fmla="*/ 106833 w 131756"/>
                  <a:gd name="csY0" fmla="*/ 13544 h 124976"/>
                  <a:gd name="csX1" fmla="*/ 65878 w 131756"/>
                  <a:gd name="csY1" fmla="*/ 0 h 124976"/>
                  <a:gd name="csX2" fmla="*/ 0 w 131756"/>
                  <a:gd name="csY2" fmla="*/ 62488 h 124976"/>
                  <a:gd name="csX3" fmla="*/ 15080 w 131756"/>
                  <a:gd name="csY3" fmla="*/ 102278 h 124976"/>
                  <a:gd name="csX4" fmla="*/ 65878 w 131756"/>
                  <a:gd name="csY4" fmla="*/ 124976 h 124976"/>
                  <a:gd name="csX5" fmla="*/ 131695 w 131756"/>
                  <a:gd name="csY5" fmla="*/ 65093 h 124976"/>
                  <a:gd name="csX6" fmla="*/ 131756 w 131756"/>
                  <a:gd name="csY6" fmla="*/ 62488 h 124976"/>
                  <a:gd name="csX7" fmla="*/ 131695 w 131756"/>
                  <a:gd name="csY7" fmla="*/ 59884 h 124976"/>
                  <a:gd name="csX8" fmla="*/ 106833 w 131756"/>
                  <a:gd name="csY8" fmla="*/ 13544 h 124976"/>
                  <a:gd name="csX9" fmla="*/ 55102 w 131756"/>
                  <a:gd name="csY9" fmla="*/ 101614 h 124976"/>
                  <a:gd name="csX10" fmla="*/ 41917 w 131756"/>
                  <a:gd name="csY10" fmla="*/ 89107 h 124976"/>
                  <a:gd name="csX11" fmla="*/ 42232 w 131756"/>
                  <a:gd name="csY11" fmla="*/ 88808 h 124976"/>
                  <a:gd name="csX12" fmla="*/ 18531 w 131756"/>
                  <a:gd name="csY12" fmla="*/ 66326 h 124976"/>
                  <a:gd name="csX13" fmla="*/ 31716 w 131756"/>
                  <a:gd name="csY13" fmla="*/ 53820 h 124976"/>
                  <a:gd name="csX14" fmla="*/ 55417 w 131756"/>
                  <a:gd name="csY14" fmla="*/ 76302 h 124976"/>
                  <a:gd name="csX15" fmla="*/ 100041 w 131756"/>
                  <a:gd name="csY15" fmla="*/ 33975 h 124976"/>
                  <a:gd name="csX16" fmla="*/ 113225 w 131756"/>
                  <a:gd name="csY16" fmla="*/ 46481 h 124976"/>
                  <a:gd name="csX17" fmla="*/ 55102 w 131756"/>
                  <a:gd name="csY17" fmla="*/ 101614 h 1249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1756" h="124976">
                    <a:moveTo>
                      <a:pt x="106833" y="13544"/>
                    </a:moveTo>
                    <a:cubicBezTo>
                      <a:pt x="95588" y="5067"/>
                      <a:pt x="81358" y="0"/>
                      <a:pt x="65878" y="0"/>
                    </a:cubicBezTo>
                    <a:cubicBezTo>
                      <a:pt x="29495" y="0"/>
                      <a:pt x="0" y="27977"/>
                      <a:pt x="0" y="62488"/>
                    </a:cubicBezTo>
                    <a:cubicBezTo>
                      <a:pt x="0" y="77606"/>
                      <a:pt x="5661" y="91471"/>
                      <a:pt x="15080" y="102278"/>
                    </a:cubicBezTo>
                    <a:cubicBezTo>
                      <a:pt x="27164" y="116142"/>
                      <a:pt x="45433" y="124976"/>
                      <a:pt x="65878" y="124976"/>
                    </a:cubicBezTo>
                    <a:cubicBezTo>
                      <a:pt x="101341" y="124976"/>
                      <a:pt x="130255" y="98395"/>
                      <a:pt x="131695" y="65093"/>
                    </a:cubicBezTo>
                    <a:cubicBezTo>
                      <a:pt x="131732" y="64229"/>
                      <a:pt x="131756" y="63361"/>
                      <a:pt x="131756" y="62488"/>
                    </a:cubicBezTo>
                    <a:cubicBezTo>
                      <a:pt x="131756" y="61615"/>
                      <a:pt x="131732" y="60748"/>
                      <a:pt x="131695" y="59884"/>
                    </a:cubicBezTo>
                    <a:cubicBezTo>
                      <a:pt x="130883" y="41117"/>
                      <a:pt x="121350" y="24487"/>
                      <a:pt x="106833" y="13544"/>
                    </a:cubicBezTo>
                    <a:close/>
                    <a:moveTo>
                      <a:pt x="55102" y="101614"/>
                    </a:moveTo>
                    <a:lnTo>
                      <a:pt x="41917" y="89107"/>
                    </a:lnTo>
                    <a:lnTo>
                      <a:pt x="42232" y="88808"/>
                    </a:lnTo>
                    <a:lnTo>
                      <a:pt x="18531" y="66326"/>
                    </a:lnTo>
                    <a:lnTo>
                      <a:pt x="31716" y="53820"/>
                    </a:lnTo>
                    <a:lnTo>
                      <a:pt x="55417" y="76302"/>
                    </a:lnTo>
                    <a:lnTo>
                      <a:pt x="100041" y="33975"/>
                    </a:lnTo>
                    <a:lnTo>
                      <a:pt x="113225" y="46481"/>
                    </a:lnTo>
                    <a:lnTo>
                      <a:pt x="55102" y="101614"/>
                    </a:lnTo>
                    <a:close/>
                  </a:path>
                </a:pathLst>
              </a:custGeom>
              <a:solidFill>
                <a:srgbClr val="F46F00"/>
              </a:solidFill>
              <a:ln w="335" cap="flat">
                <a:noFill/>
                <a:prstDash val="solid"/>
                <a:miter/>
              </a:ln>
            </p:spPr>
          </p:sp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D950D622-EBAB-D97D-E0DE-5AB79EC47683}"/>
                  </a:ext>
                </a:extLst>
              </p:cNvPr>
              <p:cNvSpPr/>
              <p:nvPr/>
            </p:nvSpPr>
            <p:spPr>
              <a:xfrm>
                <a:off x="2156028" y="2597735"/>
                <a:ext cx="94694" cy="67638"/>
              </a:xfrm>
              <a:custGeom>
                <a:avLst/>
                <a:gdLst>
                  <a:gd name="csX0" fmla="*/ 81510 w 94694"/>
                  <a:gd name="csY0" fmla="*/ 0 h 67638"/>
                  <a:gd name="csX1" fmla="*/ 36887 w 94694"/>
                  <a:gd name="csY1" fmla="*/ 42327 h 67638"/>
                  <a:gd name="csX2" fmla="*/ 13185 w 94694"/>
                  <a:gd name="csY2" fmla="*/ 19845 h 67638"/>
                  <a:gd name="csX3" fmla="*/ 0 w 94694"/>
                  <a:gd name="csY3" fmla="*/ 32351 h 67638"/>
                  <a:gd name="csX4" fmla="*/ 23702 w 94694"/>
                  <a:gd name="csY4" fmla="*/ 54833 h 67638"/>
                  <a:gd name="csX5" fmla="*/ 23387 w 94694"/>
                  <a:gd name="csY5" fmla="*/ 55133 h 67638"/>
                  <a:gd name="csX6" fmla="*/ 36571 w 94694"/>
                  <a:gd name="csY6" fmla="*/ 67639 h 67638"/>
                  <a:gd name="csX7" fmla="*/ 94695 w 94694"/>
                  <a:gd name="csY7" fmla="*/ 12507 h 676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4694" h="67638">
                    <a:moveTo>
                      <a:pt x="81510" y="0"/>
                    </a:moveTo>
                    <a:lnTo>
                      <a:pt x="36887" y="42327"/>
                    </a:lnTo>
                    <a:lnTo>
                      <a:pt x="13185" y="19845"/>
                    </a:lnTo>
                    <a:lnTo>
                      <a:pt x="0" y="32351"/>
                    </a:lnTo>
                    <a:lnTo>
                      <a:pt x="23702" y="54833"/>
                    </a:lnTo>
                    <a:lnTo>
                      <a:pt x="23387" y="55133"/>
                    </a:lnTo>
                    <a:lnTo>
                      <a:pt x="36571" y="67639"/>
                    </a:lnTo>
                    <a:lnTo>
                      <a:pt x="94695" y="12507"/>
                    </a:lnTo>
                    <a:close/>
                  </a:path>
                </a:pathLst>
              </a:custGeom>
              <a:solidFill>
                <a:srgbClr val="92D050"/>
              </a:solidFill>
              <a:ln w="335" cap="flat">
                <a:noFill/>
                <a:prstDash val="solid"/>
                <a:miter/>
              </a:ln>
            </p:spPr>
          </p:sp>
        </p:grp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D50E2EFE-23DA-CC47-228E-D663A93A76D3}"/>
                </a:ext>
              </a:extLst>
            </p:cNvPr>
            <p:cNvSpPr/>
            <p:nvPr/>
          </p:nvSpPr>
          <p:spPr>
            <a:xfrm>
              <a:off x="1883096" y="2269982"/>
              <a:ext cx="524454" cy="524454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44" name="椭圆 143">
            <a:extLst>
              <a:ext uri="{FF2B5EF4-FFF2-40B4-BE49-F238E27FC236}">
                <a16:creationId xmlns:a16="http://schemas.microsoft.com/office/drawing/2014/main" id="{0B7ECE73-A69E-FBDC-851F-C0CB7171FCA6}"/>
              </a:ext>
            </a:extLst>
          </p:cNvPr>
          <p:cNvSpPr/>
          <p:nvPr/>
        </p:nvSpPr>
        <p:spPr>
          <a:xfrm>
            <a:off x="2898796" y="2306048"/>
            <a:ext cx="481163" cy="481163"/>
          </a:xfrm>
          <a:prstGeom prst="ellipse">
            <a:avLst/>
          </a:prstGeom>
          <a:noFill/>
          <a:ln>
            <a:solidFill>
              <a:srgbClr val="0D6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C42D338E-A900-4906-3624-4C249494F066}"/>
              </a:ext>
            </a:extLst>
          </p:cNvPr>
          <p:cNvSpPr/>
          <p:nvPr/>
        </p:nvSpPr>
        <p:spPr>
          <a:xfrm>
            <a:off x="3587384" y="2306048"/>
            <a:ext cx="481163" cy="481163"/>
          </a:xfrm>
          <a:prstGeom prst="ellipse">
            <a:avLst/>
          </a:prstGeom>
          <a:noFill/>
          <a:ln>
            <a:solidFill>
              <a:srgbClr val="0D6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DF00DDAA-824E-F671-654A-B69F3CC6B9F6}"/>
              </a:ext>
            </a:extLst>
          </p:cNvPr>
          <p:cNvSpPr/>
          <p:nvPr/>
        </p:nvSpPr>
        <p:spPr>
          <a:xfrm>
            <a:off x="4272927" y="2306048"/>
            <a:ext cx="481163" cy="481163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52521C89-9693-EBEF-2EB7-422F8CEEB1A3}"/>
              </a:ext>
            </a:extLst>
          </p:cNvPr>
          <p:cNvSpPr/>
          <p:nvPr/>
        </p:nvSpPr>
        <p:spPr>
          <a:xfrm>
            <a:off x="4943642" y="2306048"/>
            <a:ext cx="481163" cy="481163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1BC5C32B-F56D-18EE-AAC1-CC8B305099D8}"/>
              </a:ext>
            </a:extLst>
          </p:cNvPr>
          <p:cNvSpPr/>
          <p:nvPr/>
        </p:nvSpPr>
        <p:spPr>
          <a:xfrm>
            <a:off x="5667830" y="2310405"/>
            <a:ext cx="481163" cy="481163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0" name="图形 149">
            <a:extLst>
              <a:ext uri="{FF2B5EF4-FFF2-40B4-BE49-F238E27FC236}">
                <a16:creationId xmlns:a16="http://schemas.microsoft.com/office/drawing/2014/main" id="{FEE03DD0-83FA-8A69-BCD3-C477DDB76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32404" y="5614883"/>
            <a:ext cx="580286" cy="580286"/>
          </a:xfrm>
          <a:prstGeom prst="rect">
            <a:avLst/>
          </a:prstGeom>
        </p:spPr>
      </p:pic>
      <p:sp>
        <p:nvSpPr>
          <p:cNvPr id="151" name="文本框 150">
            <a:extLst>
              <a:ext uri="{FF2B5EF4-FFF2-40B4-BE49-F238E27FC236}">
                <a16:creationId xmlns:a16="http://schemas.microsoft.com/office/drawing/2014/main" id="{A72B51B1-F8A4-E118-53B4-42035268869C}"/>
              </a:ext>
            </a:extLst>
          </p:cNvPr>
          <p:cNvSpPr txBox="1"/>
          <p:nvPr/>
        </p:nvSpPr>
        <p:spPr>
          <a:xfrm>
            <a:off x="1929936" y="5721313"/>
            <a:ext cx="8857844" cy="707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4352">
              <a:defRPr sz="2520" b="1">
                <a:solidFill>
                  <a:srgbClr val="FFFFFF"/>
                </a:solidFill>
                <a:latin typeface="Noto Sans CJK SC"/>
              </a:defRPr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的价值不只是 “会回答”，而是 “能按照流程完成任务”。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636C97DF-2215-C07E-73E2-3559DBEA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145" y="6506496"/>
            <a:ext cx="1701386" cy="291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064" y="219065"/>
            <a:ext cx="109309" cy="459097"/>
          </a:xfrm>
          <a:prstGeom prst="rect">
            <a:avLst/>
          </a:prstGeom>
          <a:solidFill>
            <a:srgbClr val="083984"/>
          </a:solidFill>
          <a:ln>
            <a:solidFill>
              <a:srgbClr val="083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9266" y="247002"/>
            <a:ext cx="3013254" cy="432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3526" b="1">
                <a:solidFill>
                  <a:srgbClr val="083984"/>
                </a:solidFill>
                <a:latin typeface="Noto Sans CJK SC"/>
              </a:defRPr>
            </a:pPr>
            <a:r>
              <a:rPr sz="2810" dirty="0">
                <a:solidFill>
                  <a:srgbClr val="0839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sz="2810" dirty="0" err="1">
                <a:solidFill>
                  <a:srgbClr val="0839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的基本组成</a:t>
            </a:r>
            <a:endParaRPr sz="2810" dirty="0">
              <a:solidFill>
                <a:srgbClr val="0839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3842" y="845061"/>
            <a:ext cx="7598847" cy="2637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150" b="1">
                <a:solidFill>
                  <a:srgbClr val="1260CF"/>
                </a:solidFill>
                <a:latin typeface="Noto Sans CJK SC"/>
              </a:defRPr>
            </a:pPr>
            <a:r>
              <a:rPr sz="1714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 Agent = 大模型推理能力 + 工具 + 记忆 + 行为规范 + 执行流程 +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384" y="1246567"/>
            <a:ext cx="5858954" cy="437235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57371" y="1246567"/>
            <a:ext cx="5538316" cy="437235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 descr="core_cub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62" y="1421461"/>
            <a:ext cx="291490" cy="2914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8523" y="1446260"/>
            <a:ext cx="878332" cy="2637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150" b="1">
                <a:solidFill>
                  <a:srgbClr val="083984"/>
                </a:solidFill>
                <a:latin typeface="Noto Sans CJK SC"/>
              </a:defRPr>
            </a:pPr>
            <a:r>
              <a:rPr sz="1714">
                <a:solidFill>
                  <a:srgbClr val="0839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564" y="1895134"/>
            <a:ext cx="1399154" cy="1260696"/>
          </a:xfrm>
          <a:prstGeom prst="roundRect">
            <a:avLst>
              <a:gd name="adj" fmla="val 4000"/>
            </a:avLst>
          </a:prstGeom>
          <a:solidFill>
            <a:srgbClr val="FFF9F3"/>
          </a:solidFill>
          <a:ln w="12700">
            <a:solidFill>
              <a:srgbClr val="F4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9735" y="2059166"/>
            <a:ext cx="386087" cy="3860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3418" y="2113536"/>
            <a:ext cx="432755" cy="1898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48" b="1">
                <a:solidFill>
                  <a:srgbClr val="F46F00"/>
                </a:solidFill>
                <a:latin typeface="Noto Sans CJK SC"/>
              </a:defRPr>
            </a:pPr>
            <a:r>
              <a:rPr sz="1234">
                <a:solidFill>
                  <a:srgbClr val="F46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269" y="2463131"/>
            <a:ext cx="525717" cy="47449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读取文件</a:t>
            </a:r>
            <a:endParaRPr sz="1028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搜索信息</a:t>
            </a:r>
            <a:endParaRPr sz="1028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调用脚本</a:t>
            </a:r>
            <a:endParaRPr sz="1028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27564" y="3746097"/>
            <a:ext cx="1399154" cy="1042078"/>
          </a:xfrm>
          <a:prstGeom prst="roundRect">
            <a:avLst>
              <a:gd name="adj" fmla="val 4000"/>
            </a:avLst>
          </a:prstGeom>
          <a:solidFill>
            <a:srgbClr val="F5FDFD"/>
          </a:solidFill>
          <a:ln w="12700">
            <a:solidFill>
              <a:srgbClr val="008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91999" y="3925108"/>
            <a:ext cx="348844" cy="3488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5120" y="3949925"/>
            <a:ext cx="781587" cy="1898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48" b="1">
                <a:solidFill>
                  <a:srgbClr val="00898F"/>
                </a:solidFill>
                <a:latin typeface="Noto Sans CJK SC"/>
              </a:defRPr>
            </a:pPr>
            <a:r>
              <a:rPr sz="1234">
                <a:solidFill>
                  <a:srgbClr val="008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4269" y="4302085"/>
            <a:ext cx="525717" cy="3163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规定步骤</a:t>
            </a:r>
          </a:p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070" y="2740456"/>
            <a:ext cx="1756229" cy="1799953"/>
          </a:xfrm>
          <a:prstGeom prst="roundRect">
            <a:avLst>
              <a:gd name="adj" fmla="val 6000"/>
            </a:avLst>
          </a:prstGeom>
          <a:solidFill>
            <a:srgbClr val="0049B6"/>
          </a:solidFill>
          <a:ln>
            <a:solidFill>
              <a:srgbClr val="004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17" descr="center_llm_brain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3506" y="2864338"/>
            <a:ext cx="576643" cy="5101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89895" y="3479117"/>
            <a:ext cx="1678447" cy="2424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978" b="1">
                <a:solidFill>
                  <a:srgbClr val="FFFFFF"/>
                </a:solidFill>
                <a:latin typeface="Noto Sans CJK SC"/>
              </a:defRPr>
            </a:pPr>
            <a:r>
              <a:rPr sz="1576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en-US" sz="1576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/LVLM</a:t>
            </a:r>
            <a:r>
              <a:rPr sz="1576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0833" y="3821968"/>
            <a:ext cx="634706" cy="5696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364352">
              <a:defRPr sz="1548" b="1">
                <a:solidFill>
                  <a:srgbClr val="FFFFFF"/>
                </a:solidFill>
                <a:latin typeface="Noto Sans CJK SC"/>
              </a:defRPr>
            </a:pPr>
            <a:r>
              <a:rPr sz="1234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理解任务</a:t>
            </a:r>
            <a:endParaRPr sz="123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364352">
              <a:defRPr sz="1548" b="1">
                <a:solidFill>
                  <a:srgbClr val="FFFFFF"/>
                </a:solidFill>
                <a:latin typeface="Noto Sans CJK SC"/>
              </a:defRPr>
            </a:pPr>
            <a:r>
              <a:rPr lang="zh-CN" altLang="en-US" sz="123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r>
              <a:rPr sz="1234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endParaRPr sz="123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364352">
              <a:defRPr sz="1548" b="1">
                <a:solidFill>
                  <a:srgbClr val="FFFFFF"/>
                </a:solidFill>
                <a:latin typeface="Noto Sans CJK SC"/>
              </a:defRPr>
            </a:pPr>
            <a:r>
              <a:rPr sz="1234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生成内容</a:t>
            </a:r>
            <a:endParaRPr sz="123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87789" y="1800400"/>
            <a:ext cx="1661494" cy="1173248"/>
          </a:xfrm>
          <a:prstGeom prst="roundRect">
            <a:avLst>
              <a:gd name="adj" fmla="val 4000"/>
            </a:avLst>
          </a:prstGeom>
          <a:solidFill>
            <a:srgbClr val="F6FDF8"/>
          </a:solidFill>
          <a:ln w="12700">
            <a:solidFill>
              <a:srgbClr val="0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448109" y="2037235"/>
            <a:ext cx="342501" cy="34250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14494" y="1989654"/>
            <a:ext cx="976422" cy="1898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48" b="1">
                <a:solidFill>
                  <a:srgbClr val="09914D"/>
                </a:solidFill>
                <a:latin typeface="Noto Sans CJK SC"/>
              </a:defRPr>
            </a:pPr>
            <a:r>
              <a:rPr sz="1234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2792" y="2299168"/>
            <a:ext cx="525717" cy="47449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用户偏好</a:t>
            </a:r>
            <a:endParaRPr sz="1028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sz="1028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 dirty="0" err="1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固定模板</a:t>
            </a:r>
            <a:endParaRPr sz="1028" dirty="0">
              <a:solidFill>
                <a:srgbClr val="0616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60662" y="3089524"/>
            <a:ext cx="1588622" cy="1100376"/>
          </a:xfrm>
          <a:prstGeom prst="roundRect">
            <a:avLst>
              <a:gd name="adj" fmla="val 4000"/>
            </a:avLst>
          </a:prstGeom>
          <a:solidFill>
            <a:srgbClr val="F7FBFF"/>
          </a:solidFill>
          <a:ln w="12700">
            <a:solidFill>
              <a:srgbClr val="126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502764" y="3312504"/>
            <a:ext cx="371651" cy="37165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14494" y="3308647"/>
            <a:ext cx="653940" cy="1898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48" b="1">
                <a:solidFill>
                  <a:srgbClr val="1260CF"/>
                </a:solidFill>
                <a:latin typeface="Noto Sans CJK SC"/>
              </a:defRPr>
            </a:pPr>
            <a:r>
              <a:rPr sz="1234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Soul.md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2952" y="3610874"/>
            <a:ext cx="525717" cy="47449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角色设定</a:t>
            </a:r>
          </a:p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风格原则</a:t>
            </a:r>
          </a:p>
          <a:p>
            <a:pPr defTabSz="364352">
              <a:defRPr sz="1290" b="1">
                <a:solidFill>
                  <a:srgbClr val="061632"/>
                </a:solidFill>
                <a:latin typeface="Noto Sans CJK SC"/>
              </a:defRPr>
            </a:pPr>
            <a:r>
              <a:rPr sz="1028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行为边界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87789" y="4358227"/>
            <a:ext cx="1661494" cy="859896"/>
          </a:xfrm>
          <a:prstGeom prst="roundRect">
            <a:avLst>
              <a:gd name="adj" fmla="val 4000"/>
            </a:avLst>
          </a:prstGeom>
          <a:solidFill>
            <a:srgbClr val="F6FDF8"/>
          </a:solidFill>
          <a:ln w="12700">
            <a:solidFill>
              <a:srgbClr val="008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295076" y="4442030"/>
            <a:ext cx="575693" cy="57569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14494" y="4536550"/>
            <a:ext cx="328573" cy="1898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548" b="1">
                <a:solidFill>
                  <a:srgbClr val="09914D"/>
                </a:solidFill>
                <a:latin typeface="Noto Sans CJK SC"/>
              </a:defRPr>
            </a:pPr>
            <a:r>
              <a:rPr sz="1234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1781" y="4804425"/>
            <a:ext cx="1022583" cy="2954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204" b="1">
                <a:solidFill>
                  <a:srgbClr val="061632"/>
                </a:solidFill>
                <a:latin typeface="Noto Sans CJK SC"/>
              </a:defRPr>
            </a:pPr>
            <a:r>
              <a:rPr sz="960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专业能力封装</a:t>
            </a:r>
          </a:p>
          <a:p>
            <a:pPr defTabSz="364352">
              <a:defRPr sz="1204" b="1">
                <a:solidFill>
                  <a:srgbClr val="061632"/>
                </a:solidFill>
                <a:latin typeface="Noto Sans CJK SC"/>
              </a:defRPr>
            </a:pPr>
            <a:r>
              <a:rPr sz="960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如排版 / PPT 制作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2567" y="5230516"/>
            <a:ext cx="3242453" cy="1792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462" b="1">
                <a:solidFill>
                  <a:srgbClr val="1260CF"/>
                </a:solidFill>
                <a:latin typeface="Noto Sans CJK SC"/>
              </a:defRPr>
            </a:pPr>
            <a:r>
              <a:rPr sz="1165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en-US" sz="1165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/LVLM</a:t>
            </a:r>
            <a:r>
              <a:rPr sz="1165" dirty="0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65" dirty="0" err="1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是核心，其他模块共同支持任务执行</a:t>
            </a:r>
            <a:endParaRPr sz="1165" dirty="0">
              <a:solidFill>
                <a:srgbClr val="1260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517688" y="1341301"/>
            <a:ext cx="466387" cy="46638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84076" y="1446260"/>
            <a:ext cx="1976246" cy="2637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150" b="1">
                <a:solidFill>
                  <a:srgbClr val="083984"/>
                </a:solidFill>
                <a:latin typeface="Noto Sans CJK SC"/>
              </a:defRPr>
            </a:pPr>
            <a:r>
              <a:rPr sz="1714">
                <a:solidFill>
                  <a:srgbClr val="0839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各模块分别做什么？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9552" y="1953432"/>
            <a:ext cx="2506817" cy="1020216"/>
          </a:xfrm>
          <a:prstGeom prst="roundRect">
            <a:avLst>
              <a:gd name="adj" fmla="val 3500"/>
            </a:avLst>
          </a:prstGeom>
          <a:solidFill>
            <a:srgbClr val="F7FBFF"/>
          </a:solidFill>
          <a:ln w="13970">
            <a:solidFill>
              <a:srgbClr val="5C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Picture 44" descr="right_llm_brain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4447" y="2121467"/>
            <a:ext cx="524683" cy="5092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14024" y="2138261"/>
            <a:ext cx="1020980" cy="2424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978" b="1">
                <a:solidFill>
                  <a:srgbClr val="1260CF"/>
                </a:solidFill>
                <a:latin typeface="Noto Sans CJK SC"/>
              </a:defRPr>
            </a:pPr>
            <a:r>
              <a:rPr sz="1576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Brain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14024" y="2510307"/>
            <a:ext cx="1410459" cy="1688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376" b="1">
                <a:solidFill>
                  <a:srgbClr val="061632"/>
                </a:solidFill>
                <a:latin typeface="Noto Sans CJK SC"/>
              </a:defRPr>
            </a:pPr>
            <a:r>
              <a:rPr sz="1097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负责理解、推理与生成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13976" y="1953432"/>
            <a:ext cx="2506817" cy="1020216"/>
          </a:xfrm>
          <a:prstGeom prst="roundRect">
            <a:avLst>
              <a:gd name="adj" fmla="val 3500"/>
            </a:avLst>
          </a:prstGeom>
          <a:solidFill>
            <a:srgbClr val="FFF9F3"/>
          </a:solidFill>
          <a:ln w="13970">
            <a:solidFill>
              <a:srgbClr val="F4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088447" y="2138261"/>
            <a:ext cx="551361" cy="2424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978" b="1">
                <a:solidFill>
                  <a:srgbClr val="F46F00"/>
                </a:solidFill>
                <a:latin typeface="Noto Sans CJK SC"/>
              </a:defRPr>
            </a:pPr>
            <a:r>
              <a:rPr sz="1576">
                <a:solidFill>
                  <a:srgbClr val="F46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88446" y="2510307"/>
            <a:ext cx="1269413" cy="1688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376" b="1">
                <a:solidFill>
                  <a:srgbClr val="061632"/>
                </a:solidFill>
                <a:latin typeface="Noto Sans CJK SC"/>
              </a:defRPr>
            </a:pPr>
            <a:r>
              <a:rPr sz="1097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连接外部能力与数据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9552" y="3170403"/>
            <a:ext cx="2506817" cy="998354"/>
          </a:xfrm>
          <a:prstGeom prst="roundRect">
            <a:avLst>
              <a:gd name="adj" fmla="val 3500"/>
            </a:avLst>
          </a:prstGeom>
          <a:solidFill>
            <a:srgbClr val="F6FDF8"/>
          </a:solidFill>
          <a:ln w="13970">
            <a:solidFill>
              <a:srgbClr val="0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769264" y="3385541"/>
            <a:ext cx="415047" cy="41504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14023" y="3355234"/>
            <a:ext cx="1244922" cy="2424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978" b="1">
                <a:solidFill>
                  <a:srgbClr val="09914D"/>
                </a:solidFill>
                <a:latin typeface="Noto Sans CJK SC"/>
              </a:defRPr>
            </a:pPr>
            <a:r>
              <a:rPr sz="1576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Memory.md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14022" y="3727280"/>
            <a:ext cx="1269413" cy="1688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376" b="1">
                <a:solidFill>
                  <a:srgbClr val="061632"/>
                </a:solidFill>
                <a:latin typeface="Noto Sans CJK SC"/>
              </a:defRPr>
            </a:pPr>
            <a:r>
              <a:rPr sz="1097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保存长期信息与偏好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13976" y="3170403"/>
            <a:ext cx="2506817" cy="998354"/>
          </a:xfrm>
          <a:prstGeom prst="roundRect">
            <a:avLst>
              <a:gd name="adj" fmla="val 3500"/>
            </a:avLst>
          </a:prstGeom>
          <a:solidFill>
            <a:srgbClr val="F7FBFF"/>
          </a:solidFill>
          <a:ln w="13970">
            <a:solidFill>
              <a:srgbClr val="5C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28618" y="3370472"/>
            <a:ext cx="445185" cy="44518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088447" y="3355234"/>
            <a:ext cx="836659" cy="2424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978" b="1">
                <a:solidFill>
                  <a:srgbClr val="1260CF"/>
                </a:solidFill>
                <a:latin typeface="Noto Sans CJK SC"/>
              </a:defRPr>
            </a:pPr>
            <a:r>
              <a:rPr sz="1576">
                <a:solidFill>
                  <a:srgbClr val="1260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Soul.md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88448" y="3727280"/>
            <a:ext cx="1410459" cy="1688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376" b="1">
                <a:solidFill>
                  <a:srgbClr val="061632"/>
                </a:solidFill>
                <a:latin typeface="Noto Sans CJK SC"/>
              </a:defRPr>
            </a:pPr>
            <a:r>
              <a:rPr sz="1097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定义身份、风格与规则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9552" y="4365515"/>
            <a:ext cx="2506817" cy="1005642"/>
          </a:xfrm>
          <a:prstGeom prst="roundRect">
            <a:avLst>
              <a:gd name="adj" fmla="val 3500"/>
            </a:avLst>
          </a:prstGeom>
          <a:solidFill>
            <a:srgbClr val="F5FDFD"/>
          </a:solidFill>
          <a:ln w="13970">
            <a:solidFill>
              <a:srgbClr val="008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722277" y="4533664"/>
            <a:ext cx="509020" cy="5090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14023" y="4550343"/>
            <a:ext cx="996938" cy="2424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978" b="1">
                <a:solidFill>
                  <a:srgbClr val="00898F"/>
                </a:solidFill>
                <a:latin typeface="Noto Sans CJK SC"/>
              </a:defRPr>
            </a:pPr>
            <a:r>
              <a:rPr sz="1576">
                <a:solidFill>
                  <a:srgbClr val="008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14024" y="4922389"/>
            <a:ext cx="1410459" cy="1688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376" b="1">
                <a:solidFill>
                  <a:srgbClr val="061632"/>
                </a:solidFill>
                <a:latin typeface="Noto Sans CJK SC"/>
              </a:defRPr>
            </a:pPr>
            <a:r>
              <a:rPr sz="1097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把任务拆成可执行步骤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13976" y="4365515"/>
            <a:ext cx="2506817" cy="1005642"/>
          </a:xfrm>
          <a:prstGeom prst="roundRect">
            <a:avLst>
              <a:gd name="adj" fmla="val 3500"/>
            </a:avLst>
          </a:prstGeom>
          <a:solidFill>
            <a:srgbClr val="F6FDF8"/>
          </a:solidFill>
          <a:ln w="13970">
            <a:solidFill>
              <a:srgbClr val="0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352078" y="4489042"/>
            <a:ext cx="598264" cy="59826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088448" y="4550343"/>
            <a:ext cx="419932" cy="2424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978" b="1">
                <a:solidFill>
                  <a:srgbClr val="09914D"/>
                </a:solidFill>
                <a:latin typeface="Noto Sans CJK SC"/>
              </a:defRPr>
            </a:pPr>
            <a:r>
              <a:rPr sz="1576">
                <a:solidFill>
                  <a:srgbClr val="099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88446" y="4922389"/>
            <a:ext cx="1128367" cy="1688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1376" b="1">
                <a:solidFill>
                  <a:srgbClr val="061632"/>
                </a:solidFill>
                <a:latin typeface="Noto Sans CJK SC"/>
              </a:defRPr>
            </a:pPr>
            <a:r>
              <a:rPr sz="1097">
                <a:solidFill>
                  <a:srgbClr val="0616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提供专项能力增强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8096" y="5779242"/>
            <a:ext cx="11557591" cy="714151"/>
          </a:xfrm>
          <a:prstGeom prst="roundRect">
            <a:avLst>
              <a:gd name="adj" fmla="val 2500"/>
            </a:avLst>
          </a:prstGeom>
          <a:solidFill>
            <a:srgbClr val="0051B4"/>
          </a:solidFill>
          <a:ln>
            <a:solidFill>
              <a:srgbClr val="00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4352"/>
            <a:endParaRPr sz="1435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774922" y="5975227"/>
            <a:ext cx="10140879" cy="30773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364352">
              <a:defRPr sz="2150" b="1">
                <a:solidFill>
                  <a:srgbClr val="FFFFFF"/>
                </a:solidFill>
                <a:latin typeface="Noto Sans CJK SC"/>
              </a:defRPr>
            </a:pPr>
            <a:r>
              <a:rPr sz="20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核心结论：Agent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20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0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0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0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0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Skill” </a:t>
            </a:r>
            <a:r>
              <a:rPr sz="20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构成的任务系统</a:t>
            </a:r>
            <a:r>
              <a:rPr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75" name="图形 74">
            <a:extLst>
              <a:ext uri="{FF2B5EF4-FFF2-40B4-BE49-F238E27FC236}">
                <a16:creationId xmlns:a16="http://schemas.microsoft.com/office/drawing/2014/main" id="{43E4FB11-222C-980E-0184-AC7315378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8179" y="2113536"/>
            <a:ext cx="666063" cy="666063"/>
          </a:xfrm>
          <a:prstGeom prst="rect">
            <a:avLst/>
          </a:prstGeom>
        </p:spPr>
      </p:pic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CDED64B8-B376-6C23-EBC9-7814E7C14C9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926718" y="2525481"/>
            <a:ext cx="804882" cy="225905"/>
          </a:xfrm>
          <a:prstGeom prst="bentConnector3">
            <a:avLst>
              <a:gd name="adj1" fmla="val 10017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5FF0E0A6-D387-BAA5-EEF7-BE0A4DE2F195}"/>
              </a:ext>
            </a:extLst>
          </p:cNvPr>
          <p:cNvCxnSpPr>
            <a:stCxn id="21" idx="1"/>
          </p:cNvCxnSpPr>
          <p:nvPr/>
        </p:nvCxnSpPr>
        <p:spPr>
          <a:xfrm rot="10800000" flipV="1">
            <a:off x="3448113" y="2387024"/>
            <a:ext cx="839677" cy="353432"/>
          </a:xfrm>
          <a:prstGeom prst="bentConnector3">
            <a:avLst>
              <a:gd name="adj1" fmla="val 99906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58394680-02C7-B287-0528-34877CA6C6B2}"/>
              </a:ext>
            </a:extLst>
          </p:cNvPr>
          <p:cNvCxnSpPr/>
          <p:nvPr/>
        </p:nvCxnSpPr>
        <p:spPr>
          <a:xfrm flipV="1">
            <a:off x="1926718" y="4533664"/>
            <a:ext cx="752633" cy="137914"/>
          </a:xfrm>
          <a:prstGeom prst="bentConnector3">
            <a:avLst>
              <a:gd name="adj1" fmla="val 99772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824287E7-2073-C021-9CFD-4BD17047FB29}"/>
              </a:ext>
            </a:extLst>
          </p:cNvPr>
          <p:cNvCxnSpPr>
            <a:stCxn id="29" idx="1"/>
          </p:cNvCxnSpPr>
          <p:nvPr/>
        </p:nvCxnSpPr>
        <p:spPr>
          <a:xfrm rot="10800000">
            <a:off x="3482520" y="4550344"/>
            <a:ext cx="805269" cy="237832"/>
          </a:xfrm>
          <a:prstGeom prst="bentConnector3">
            <a:avLst>
              <a:gd name="adj1" fmla="val 100461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9CF82181-4DD4-7C97-3221-DB0F4780AF5B}"/>
              </a:ext>
            </a:extLst>
          </p:cNvPr>
          <p:cNvCxnSpPr>
            <a:stCxn id="25" idx="1"/>
            <a:endCxn id="17" idx="3"/>
          </p:cNvCxnSpPr>
          <p:nvPr/>
        </p:nvCxnSpPr>
        <p:spPr>
          <a:xfrm flipH="1">
            <a:off x="3996299" y="3639712"/>
            <a:ext cx="364363" cy="7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图形 99">
            <a:extLst>
              <a:ext uri="{FF2B5EF4-FFF2-40B4-BE49-F238E27FC236}">
                <a16:creationId xmlns:a16="http://schemas.microsoft.com/office/drawing/2014/main" id="{F77B8E69-C577-9454-A91F-DE02ED66C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2404" y="5846174"/>
            <a:ext cx="580286" cy="580286"/>
          </a:xfrm>
          <a:prstGeom prst="rect">
            <a:avLst/>
          </a:prstGeom>
        </p:spPr>
      </p:pic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CB89FBCD-CB39-9A02-62AF-4D4AB2AD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145" y="6506496"/>
            <a:ext cx="1701386" cy="291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66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1"/>
          <p:nvPr/>
        </p:nvSpPr>
        <p:spPr bwMode="auto">
          <a:xfrm>
            <a:off x="3444497" y="2966893"/>
            <a:ext cx="5301427" cy="9231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28" tIns="45714" rIns="91428" bIns="45714" numCol="1" anchor="ctr" anchorCtr="1" compatLnSpc="1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77" indent="-228577" algn="ctr" defTabSz="914309" eaLnBrk="1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/>
            </a:pPr>
            <a:r>
              <a:rPr lang="zh-CN" altLang="en-US" sz="5399" spc="300" dirty="0">
                <a:solidFill>
                  <a:srgbClr val="004A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感谢各位聆听！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5BAFAD-CCE4-C90B-282F-87131CDB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48845D-20BB-4179-8538-EB469BACEB98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cb355037-087a-4cdd-a4de-972ce56b965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自定义 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000000"/>
      </a:accent2>
      <a:accent3>
        <a:srgbClr val="0000FF"/>
      </a:accent3>
      <a:accent4>
        <a:srgbClr val="00B0F0"/>
      </a:accent4>
      <a:accent5>
        <a:srgbClr val="0000BF"/>
      </a:accent5>
      <a:accent6>
        <a:srgbClr val="00B050"/>
      </a:accent6>
      <a:hlink>
        <a:srgbClr val="92D050"/>
      </a:hlink>
      <a:folHlink>
        <a:srgbClr val="FF0000"/>
      </a:folHlink>
    </a:clrScheme>
    <a:fontScheme name="自定义 11">
      <a:majorFont>
        <a:latin typeface="Times New Roman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C00000"/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000000"/>
      </a:accent2>
      <a:accent3>
        <a:srgbClr val="0000FF"/>
      </a:accent3>
      <a:accent4>
        <a:srgbClr val="00B0F0"/>
      </a:accent4>
      <a:accent5>
        <a:srgbClr val="0000BF"/>
      </a:accent5>
      <a:accent6>
        <a:srgbClr val="00B050"/>
      </a:accent6>
      <a:hlink>
        <a:srgbClr val="92D050"/>
      </a:hlink>
      <a:folHlink>
        <a:srgbClr val="FF0000"/>
      </a:folHlink>
    </a:clrScheme>
    <a:fontScheme name="自定义 11">
      <a:majorFont>
        <a:latin typeface="Times New Roman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《卫星导航定位导论》 20100913</Template>
  <TotalTime>4486</TotalTime>
  <Words>5592</Words>
  <Application>Microsoft Office PowerPoint</Application>
  <PresentationFormat>自定义</PresentationFormat>
  <Paragraphs>943</Paragraphs>
  <Slides>67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77" baseType="lpstr">
      <vt:lpstr>Calibri-Italic</vt:lpstr>
      <vt:lpstr>MiSans</vt:lpstr>
      <vt:lpstr>Noto Sans SC</vt:lpstr>
      <vt:lpstr>宋体</vt:lpstr>
      <vt:lpstr>微软雅黑</vt:lpstr>
      <vt:lpstr>Arial</vt:lpstr>
      <vt:lpstr>Times New Roman</vt:lpstr>
      <vt:lpstr>Wingdings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专有模型到通用模型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现代模型核心Transformer的诞生</vt:lpstr>
      <vt:lpstr>Transformer详解</vt:lpstr>
      <vt:lpstr>Transformer详解</vt:lpstr>
      <vt:lpstr>Transformer详解</vt:lpstr>
      <vt:lpstr>Transformer详解</vt:lpstr>
      <vt:lpstr>Transformer详解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ViT整体结构图</vt:lpstr>
      <vt:lpstr>图像切块与线性映射</vt:lpstr>
      <vt:lpstr>类别嵌入（Class Token）</vt:lpstr>
      <vt:lpstr>Transformer编码器（ViT中）</vt:lpstr>
      <vt:lpstr>ViT相比CNN的优势</vt:lpstr>
      <vt:lpstr>PowerPoint 演示文稿</vt:lpstr>
      <vt:lpstr>PowerPoint 演示文稿</vt:lpstr>
      <vt:lpstr>PowerPoint 演示文稿</vt:lpstr>
      <vt:lpstr>任务一：掩码语言建模 (MLM)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kd</dc:creator>
  <cp:lastModifiedBy>WEI SUO</cp:lastModifiedBy>
  <cp:revision>5466</cp:revision>
  <dcterms:created xsi:type="dcterms:W3CDTF">2026-03-04T13:56:22Z</dcterms:created>
  <dcterms:modified xsi:type="dcterms:W3CDTF">2026-06-05T01:19:58Z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2052-6.8.2.8850</vt:lpwstr>
  </property>
  <property fmtid="{D5CDD505-2E9C-101B-9397-08002B2CF9AE}" pid="3" name="ICV">
    <vt:lpwstr>ABD9FBFD1C8B491C9403941EE1718AA9</vt:lpwstr>
  </property>
</Properties>
</file>