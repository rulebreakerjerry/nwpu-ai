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1"/>
  </p:notesMasterIdLst>
  <p:sldIdLst>
    <p:sldId id="257" r:id="rId2"/>
    <p:sldId id="364" r:id="rId3"/>
    <p:sldId id="365" r:id="rId4"/>
    <p:sldId id="366" r:id="rId5"/>
    <p:sldId id="367" r:id="rId6"/>
    <p:sldId id="368" r:id="rId7"/>
    <p:sldId id="369" r:id="rId8"/>
    <p:sldId id="370" r:id="rId9"/>
    <p:sldId id="371" r:id="rId10"/>
    <p:sldId id="372" r:id="rId11"/>
    <p:sldId id="373" r:id="rId12"/>
    <p:sldId id="374" r:id="rId13"/>
    <p:sldId id="382" r:id="rId14"/>
    <p:sldId id="308" r:id="rId15"/>
    <p:sldId id="377" r:id="rId16"/>
    <p:sldId id="380" r:id="rId17"/>
    <p:sldId id="381" r:id="rId18"/>
    <p:sldId id="383" r:id="rId19"/>
    <p:sldId id="384" r:id="rId2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378" y="41"/>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A75865-8571-4BF0-905D-3441E856C776}" type="datetimeFigureOut">
              <a:rPr lang="zh-CN" altLang="en-US" smtClean="0"/>
              <a:pPr/>
              <a:t>2026/5/23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5F8C8D-122C-47B1-9133-AA41F657B72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13</a:t>
            </a:fld>
            <a:endParaRPr lang="zh-CN" altLang="en-US"/>
          </a:p>
        </p:txBody>
      </p:sp>
    </p:spTree>
    <p:extLst>
      <p:ext uri="{BB962C8B-B14F-4D97-AF65-F5344CB8AC3E}">
        <p14:creationId xmlns:p14="http://schemas.microsoft.com/office/powerpoint/2010/main" val="224326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45F8C8D-122C-47B1-9133-AA41F657B721}" type="slidenum">
              <a:rPr lang="zh-CN" altLang="en-US" smtClean="0"/>
              <a:pPr/>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4994" name="Freeform 2"/>
          <p:cNvSpPr>
            <a:spLocks/>
          </p:cNvSpPr>
          <p:nvPr/>
        </p:nvSpPr>
        <p:spPr bwMode="auto">
          <a:xfrm>
            <a:off x="4760913" y="20638"/>
            <a:ext cx="4438650" cy="4038600"/>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prstDash val="solid"/>
            <a:round/>
            <a:headEnd/>
            <a:tailEnd/>
          </a:ln>
        </p:spPr>
        <p:txBody>
          <a:bodyPr/>
          <a:lstStyle/>
          <a:p>
            <a:endParaRPr lang="zh-CN" altLang="en-US"/>
          </a:p>
        </p:txBody>
      </p:sp>
      <p:grpSp>
        <p:nvGrpSpPr>
          <p:cNvPr id="84995" name="Group 3"/>
          <p:cNvGrpSpPr>
            <a:grpSpLocks/>
          </p:cNvGrpSpPr>
          <p:nvPr/>
        </p:nvGrpSpPr>
        <p:grpSpPr bwMode="auto">
          <a:xfrm>
            <a:off x="4572000" y="28575"/>
            <a:ext cx="4756150" cy="4338638"/>
            <a:chOff x="2918" y="18"/>
            <a:chExt cx="2958" cy="2699"/>
          </a:xfrm>
        </p:grpSpPr>
        <p:sp>
          <p:nvSpPr>
            <p:cNvPr id="84996" name="Freeform 4"/>
            <p:cNvSpPr>
              <a:spLocks/>
            </p:cNvSpPr>
            <p:nvPr/>
          </p:nvSpPr>
          <p:spPr bwMode="auto">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prstDash val="solid"/>
              <a:round/>
              <a:headEnd/>
              <a:tailEnd/>
            </a:ln>
          </p:spPr>
          <p:txBody>
            <a:bodyPr/>
            <a:lstStyle/>
            <a:p>
              <a:endParaRPr lang="zh-CN" altLang="en-US"/>
            </a:p>
          </p:txBody>
        </p:sp>
        <p:sp>
          <p:nvSpPr>
            <p:cNvPr id="84997" name="Freeform 5"/>
            <p:cNvSpPr>
              <a:spLocks noEditPoints="1"/>
            </p:cNvSpPr>
            <p:nvPr/>
          </p:nvSpPr>
          <p:spPr bwMode="auto">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prstDash val="solid"/>
              <a:round/>
              <a:headEnd/>
              <a:tailEnd/>
            </a:ln>
          </p:spPr>
          <p:txBody>
            <a:bodyPr/>
            <a:lstStyle/>
            <a:p>
              <a:endParaRPr lang="zh-CN" altLang="en-US"/>
            </a:p>
          </p:txBody>
        </p:sp>
        <p:sp>
          <p:nvSpPr>
            <p:cNvPr id="84998" name="Freeform 6"/>
            <p:cNvSpPr>
              <a:spLocks/>
            </p:cNvSpPr>
            <p:nvPr/>
          </p:nvSpPr>
          <p:spPr bwMode="auto">
            <a:xfrm>
              <a:off x="3621" y="1287"/>
              <a:ext cx="238" cy="283"/>
            </a:xfrm>
            <a:custGeom>
              <a:avLst/>
              <a:gdLst/>
              <a:ahLst/>
              <a:cxnLst>
                <a:cxn ang="0">
                  <a:pos x="40" y="15"/>
                </a:cxn>
                <a:cxn ang="0">
                  <a:pos x="27" y="56"/>
                </a:cxn>
                <a:cxn ang="0">
                  <a:pos x="40" y="15"/>
                </a:cxn>
              </a:cxnLst>
              <a:rect l="0" t="0" r="r" b="b"/>
              <a:pathLst>
                <a:path w="47" h="56">
                  <a:moveTo>
                    <a:pt x="40" y="15"/>
                  </a:moveTo>
                  <a:cubicBezTo>
                    <a:pt x="37" y="0"/>
                    <a:pt x="0" y="23"/>
                    <a:pt x="27" y="56"/>
                  </a:cubicBezTo>
                  <a:cubicBezTo>
                    <a:pt x="27" y="56"/>
                    <a:pt x="47" y="49"/>
                    <a:pt x="40" y="15"/>
                  </a:cubicBezTo>
                  <a:close/>
                </a:path>
              </a:pathLst>
            </a:custGeom>
            <a:solidFill>
              <a:schemeClr val="bg1"/>
            </a:solidFill>
            <a:ln w="0">
              <a:noFill/>
              <a:prstDash val="solid"/>
              <a:round/>
              <a:headEnd/>
              <a:tailEnd/>
            </a:ln>
          </p:spPr>
          <p:txBody>
            <a:bodyPr/>
            <a:lstStyle/>
            <a:p>
              <a:endParaRPr lang="zh-CN" altLang="en-US"/>
            </a:p>
          </p:txBody>
        </p:sp>
        <p:sp>
          <p:nvSpPr>
            <p:cNvPr id="84999" name="Freeform 7"/>
            <p:cNvSpPr>
              <a:spLocks/>
            </p:cNvSpPr>
            <p:nvPr/>
          </p:nvSpPr>
          <p:spPr bwMode="auto">
            <a:xfrm>
              <a:off x="3403" y="1403"/>
              <a:ext cx="208" cy="379"/>
            </a:xfrm>
            <a:custGeom>
              <a:avLst/>
              <a:gdLst/>
              <a:ahLst/>
              <a:cxnLst>
                <a:cxn ang="0">
                  <a:pos x="19" y="27"/>
                </a:cxn>
                <a:cxn ang="0">
                  <a:pos x="12" y="69"/>
                </a:cxn>
                <a:cxn ang="0">
                  <a:pos x="40" y="45"/>
                </a:cxn>
                <a:cxn ang="0">
                  <a:pos x="37" y="24"/>
                </a:cxn>
                <a:cxn ang="0">
                  <a:pos x="19" y="27"/>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prstDash val="solid"/>
              <a:round/>
              <a:headEnd/>
              <a:tailEnd/>
            </a:ln>
          </p:spPr>
          <p:txBody>
            <a:bodyPr/>
            <a:lstStyle/>
            <a:p>
              <a:endParaRPr lang="zh-CN" altLang="en-US"/>
            </a:p>
          </p:txBody>
        </p:sp>
        <p:sp>
          <p:nvSpPr>
            <p:cNvPr id="85000" name="Freeform 8"/>
            <p:cNvSpPr>
              <a:spLocks/>
            </p:cNvSpPr>
            <p:nvPr/>
          </p:nvSpPr>
          <p:spPr bwMode="auto">
            <a:xfrm>
              <a:off x="3272" y="645"/>
              <a:ext cx="683" cy="318"/>
            </a:xfrm>
            <a:custGeom>
              <a:avLst/>
              <a:gdLst/>
              <a:ahLst/>
              <a:cxnLst>
                <a:cxn ang="0">
                  <a:pos x="112" y="4"/>
                </a:cxn>
                <a:cxn ang="0">
                  <a:pos x="24" y="4"/>
                </a:cxn>
                <a:cxn ang="0">
                  <a:pos x="2" y="25"/>
                </a:cxn>
                <a:cxn ang="0">
                  <a:pos x="60" y="58"/>
                </a:cxn>
                <a:cxn ang="0">
                  <a:pos x="96" y="54"/>
                </a:cxn>
                <a:cxn ang="0">
                  <a:pos x="113" y="53"/>
                </a:cxn>
                <a:cxn ang="0">
                  <a:pos x="112" y="4"/>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prstDash val="solid"/>
              <a:round/>
              <a:headEnd/>
              <a:tailEnd/>
            </a:ln>
          </p:spPr>
          <p:txBody>
            <a:bodyPr/>
            <a:lstStyle/>
            <a:p>
              <a:endParaRPr lang="zh-CN" altLang="en-US"/>
            </a:p>
          </p:txBody>
        </p:sp>
        <p:sp>
          <p:nvSpPr>
            <p:cNvPr id="85001" name="Freeform 9"/>
            <p:cNvSpPr>
              <a:spLocks/>
            </p:cNvSpPr>
            <p:nvPr/>
          </p:nvSpPr>
          <p:spPr bwMode="auto">
            <a:xfrm>
              <a:off x="4046" y="1545"/>
              <a:ext cx="490" cy="515"/>
            </a:xfrm>
            <a:custGeom>
              <a:avLst/>
              <a:gdLst/>
              <a:ahLst/>
              <a:cxnLst>
                <a:cxn ang="0">
                  <a:pos x="67" y="5"/>
                </a:cxn>
                <a:cxn ang="0">
                  <a:pos x="31" y="5"/>
                </a:cxn>
                <a:cxn ang="0">
                  <a:pos x="12" y="57"/>
                </a:cxn>
                <a:cxn ang="0">
                  <a:pos x="79" y="62"/>
                </a:cxn>
                <a:cxn ang="0">
                  <a:pos x="67" y="5"/>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prstDash val="solid"/>
              <a:round/>
              <a:headEnd/>
              <a:tailEnd/>
            </a:ln>
          </p:spPr>
          <p:txBody>
            <a:bodyPr/>
            <a:lstStyle/>
            <a:p>
              <a:endParaRPr lang="zh-CN" altLang="en-US"/>
            </a:p>
          </p:txBody>
        </p:sp>
        <p:sp>
          <p:nvSpPr>
            <p:cNvPr id="85002" name="Freeform 10"/>
            <p:cNvSpPr>
              <a:spLocks/>
            </p:cNvSpPr>
            <p:nvPr/>
          </p:nvSpPr>
          <p:spPr bwMode="auto">
            <a:xfrm>
              <a:off x="5173" y="1024"/>
              <a:ext cx="501" cy="96"/>
            </a:xfrm>
            <a:custGeom>
              <a:avLst/>
              <a:gdLst/>
              <a:ahLst/>
              <a:cxnLst>
                <a:cxn ang="0">
                  <a:pos x="15" y="0"/>
                </a:cxn>
                <a:cxn ang="0">
                  <a:pos x="40" y="15"/>
                </a:cxn>
                <a:cxn ang="0">
                  <a:pos x="15" y="0"/>
                </a:cxn>
              </a:cxnLst>
              <a:rect l="0" t="0" r="r" b="b"/>
              <a:pathLst>
                <a:path w="99" h="19">
                  <a:moveTo>
                    <a:pt x="15" y="0"/>
                  </a:moveTo>
                  <a:cubicBezTo>
                    <a:pt x="0" y="0"/>
                    <a:pt x="19" y="19"/>
                    <a:pt x="40" y="15"/>
                  </a:cubicBezTo>
                  <a:cubicBezTo>
                    <a:pt x="99" y="1"/>
                    <a:pt x="15" y="0"/>
                    <a:pt x="15" y="0"/>
                  </a:cubicBezTo>
                  <a:close/>
                </a:path>
              </a:pathLst>
            </a:custGeom>
            <a:solidFill>
              <a:schemeClr val="bg1"/>
            </a:solidFill>
            <a:ln w="0">
              <a:noFill/>
              <a:prstDash val="solid"/>
              <a:round/>
              <a:headEnd/>
              <a:tailEnd/>
            </a:ln>
          </p:spPr>
          <p:txBody>
            <a:bodyPr/>
            <a:lstStyle/>
            <a:p>
              <a:endParaRPr lang="zh-CN" altLang="en-US"/>
            </a:p>
          </p:txBody>
        </p:sp>
        <p:sp>
          <p:nvSpPr>
            <p:cNvPr id="85003" name="Freeform 11"/>
            <p:cNvSpPr>
              <a:spLocks/>
            </p:cNvSpPr>
            <p:nvPr/>
          </p:nvSpPr>
          <p:spPr bwMode="auto">
            <a:xfrm>
              <a:off x="5340" y="1004"/>
              <a:ext cx="385" cy="237"/>
            </a:xfrm>
            <a:custGeom>
              <a:avLst/>
              <a:gdLst/>
              <a:ahLst/>
              <a:cxnLst>
                <a:cxn ang="0">
                  <a:pos x="21" y="37"/>
                </a:cxn>
                <a:cxn ang="0">
                  <a:pos x="70" y="17"/>
                </a:cxn>
                <a:cxn ang="0">
                  <a:pos x="48" y="3"/>
                </a:cxn>
                <a:cxn ang="0">
                  <a:pos x="19" y="32"/>
                </a:cxn>
                <a:cxn ang="0">
                  <a:pos x="21" y="37"/>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prstDash val="solid"/>
              <a:round/>
              <a:headEnd/>
              <a:tailEnd/>
            </a:ln>
          </p:spPr>
          <p:txBody>
            <a:bodyPr/>
            <a:lstStyle/>
            <a:p>
              <a:endParaRPr lang="zh-CN" altLang="en-US"/>
            </a:p>
          </p:txBody>
        </p:sp>
        <p:sp>
          <p:nvSpPr>
            <p:cNvPr id="85004" name="Freeform 12"/>
            <p:cNvSpPr>
              <a:spLocks/>
            </p:cNvSpPr>
            <p:nvPr/>
          </p:nvSpPr>
          <p:spPr bwMode="auto">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prstDash val="solid"/>
              <a:round/>
              <a:headEnd/>
              <a:tailEnd/>
            </a:ln>
          </p:spPr>
          <p:txBody>
            <a:bodyPr/>
            <a:lstStyle/>
            <a:p>
              <a:endParaRPr lang="zh-CN" altLang="en-US"/>
            </a:p>
          </p:txBody>
        </p:sp>
        <p:sp>
          <p:nvSpPr>
            <p:cNvPr id="85005" name="Freeform 13"/>
            <p:cNvSpPr>
              <a:spLocks/>
            </p:cNvSpPr>
            <p:nvPr/>
          </p:nvSpPr>
          <p:spPr bwMode="auto">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prstDash val="solid"/>
              <a:round/>
              <a:headEnd/>
              <a:tailEnd/>
            </a:ln>
          </p:spPr>
          <p:txBody>
            <a:bodyPr/>
            <a:lstStyle/>
            <a:p>
              <a:endParaRPr lang="zh-CN" altLang="en-US"/>
            </a:p>
          </p:txBody>
        </p:sp>
        <p:sp>
          <p:nvSpPr>
            <p:cNvPr id="85006" name="Freeform 14"/>
            <p:cNvSpPr>
              <a:spLocks/>
            </p:cNvSpPr>
            <p:nvPr/>
          </p:nvSpPr>
          <p:spPr bwMode="auto">
            <a:xfrm>
              <a:off x="5077" y="1540"/>
              <a:ext cx="567" cy="146"/>
            </a:xfrm>
            <a:custGeom>
              <a:avLst/>
              <a:gdLst/>
              <a:ahLst/>
              <a:cxnLst>
                <a:cxn ang="0">
                  <a:pos x="98" y="19"/>
                </a:cxn>
                <a:cxn ang="0">
                  <a:pos x="103" y="4"/>
                </a:cxn>
                <a:cxn ang="0">
                  <a:pos x="74" y="10"/>
                </a:cxn>
                <a:cxn ang="0">
                  <a:pos x="36" y="6"/>
                </a:cxn>
                <a:cxn ang="0">
                  <a:pos x="2" y="4"/>
                </a:cxn>
                <a:cxn ang="0">
                  <a:pos x="98" y="19"/>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prstDash val="solid"/>
              <a:round/>
              <a:headEnd/>
              <a:tailEnd/>
            </a:ln>
          </p:spPr>
          <p:txBody>
            <a:bodyPr/>
            <a:lstStyle/>
            <a:p>
              <a:endParaRPr lang="zh-CN" altLang="en-US"/>
            </a:p>
          </p:txBody>
        </p:sp>
        <p:sp>
          <p:nvSpPr>
            <p:cNvPr id="85007" name="Freeform 15"/>
            <p:cNvSpPr>
              <a:spLocks/>
            </p:cNvSpPr>
            <p:nvPr/>
          </p:nvSpPr>
          <p:spPr bwMode="auto">
            <a:xfrm>
              <a:off x="5042" y="1656"/>
              <a:ext cx="581"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prstDash val="solid"/>
              <a:round/>
              <a:headEnd/>
              <a:tailEnd/>
            </a:ln>
          </p:spPr>
          <p:txBody>
            <a:bodyPr/>
            <a:lstStyle/>
            <a:p>
              <a:endParaRPr lang="zh-CN" altLang="en-US"/>
            </a:p>
          </p:txBody>
        </p:sp>
        <p:sp>
          <p:nvSpPr>
            <p:cNvPr id="85008" name="Freeform 16"/>
            <p:cNvSpPr>
              <a:spLocks/>
            </p:cNvSpPr>
            <p:nvPr/>
          </p:nvSpPr>
          <p:spPr bwMode="auto">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prstDash val="solid"/>
              <a:round/>
              <a:headEnd/>
              <a:tailEnd/>
            </a:ln>
          </p:spPr>
          <p:txBody>
            <a:bodyPr/>
            <a:lstStyle/>
            <a:p>
              <a:endParaRPr lang="zh-CN" altLang="en-US"/>
            </a:p>
          </p:txBody>
        </p:sp>
      </p:grpSp>
      <p:grpSp>
        <p:nvGrpSpPr>
          <p:cNvPr id="85009" name="Group 17"/>
          <p:cNvGrpSpPr>
            <a:grpSpLocks/>
          </p:cNvGrpSpPr>
          <p:nvPr/>
        </p:nvGrpSpPr>
        <p:grpSpPr bwMode="auto">
          <a:xfrm>
            <a:off x="554038" y="36513"/>
            <a:ext cx="7891462" cy="6821487"/>
            <a:chOff x="349" y="23"/>
            <a:chExt cx="4971" cy="4297"/>
          </a:xfrm>
        </p:grpSpPr>
        <p:sp>
          <p:nvSpPr>
            <p:cNvPr id="85010" name="Rectangle 18"/>
            <p:cNvSpPr>
              <a:spLocks noChangeArrowheads="1"/>
            </p:cNvSpPr>
            <p:nvPr/>
          </p:nvSpPr>
          <p:spPr bwMode="auto">
            <a:xfrm>
              <a:off x="384"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11" name="Freeform 19"/>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2" name="Freeform 20"/>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3" name="Freeform 21"/>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4" name="Freeform 22"/>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5" name="Freeform 23"/>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6" name="Freeform 24"/>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7" name="Freeform 25"/>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8" name="Freeform 26"/>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9" name="Freeform 27"/>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0" name="Freeform 28"/>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1" name="Rectangle 29"/>
            <p:cNvSpPr>
              <a:spLocks noChangeArrowheads="1"/>
            </p:cNvSpPr>
            <p:nvPr/>
          </p:nvSpPr>
          <p:spPr bwMode="auto">
            <a:xfrm>
              <a:off x="384"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22" name="Rectangle 30"/>
            <p:cNvSpPr>
              <a:spLocks noChangeArrowheads="1"/>
            </p:cNvSpPr>
            <p:nvPr/>
          </p:nvSpPr>
          <p:spPr bwMode="auto">
            <a:xfrm>
              <a:off x="829"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23" name="Freeform 31"/>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4" name="Freeform 32"/>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5" name="Freeform 33"/>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6" name="Freeform 34"/>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7" name="Freeform 35"/>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8" name="Freeform 36"/>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9" name="Freeform 37"/>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0" name="Freeform 38"/>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1" name="Freeform 39"/>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2" name="Freeform 40"/>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3" name="Rectangle 41"/>
            <p:cNvSpPr>
              <a:spLocks noChangeArrowheads="1"/>
            </p:cNvSpPr>
            <p:nvPr/>
          </p:nvSpPr>
          <p:spPr bwMode="auto">
            <a:xfrm>
              <a:off x="829"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34" name="Rectangle 42"/>
            <p:cNvSpPr>
              <a:spLocks noChangeArrowheads="1"/>
            </p:cNvSpPr>
            <p:nvPr/>
          </p:nvSpPr>
          <p:spPr bwMode="auto">
            <a:xfrm>
              <a:off x="1279"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35" name="Freeform 43"/>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6" name="Freeform 44"/>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7" name="Freeform 45"/>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8" name="Freeform 46"/>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9" name="Freeform 47"/>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0" name="Freeform 48"/>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1" name="Freeform 49"/>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2" name="Freeform 50"/>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3" name="Freeform 51"/>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4" name="Freeform 52"/>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5" name="Rectangle 53"/>
            <p:cNvSpPr>
              <a:spLocks noChangeArrowheads="1"/>
            </p:cNvSpPr>
            <p:nvPr/>
          </p:nvSpPr>
          <p:spPr bwMode="auto">
            <a:xfrm>
              <a:off x="1279"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46" name="Rectangle 54"/>
            <p:cNvSpPr>
              <a:spLocks noChangeArrowheads="1"/>
            </p:cNvSpPr>
            <p:nvPr/>
          </p:nvSpPr>
          <p:spPr bwMode="auto">
            <a:xfrm>
              <a:off x="1724"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47" name="Freeform 55"/>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8" name="Freeform 56"/>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9" name="Freeform 57"/>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0" name="Freeform 58"/>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1" name="Freeform 59"/>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2" name="Freeform 60"/>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3" name="Freeform 61"/>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4" name="Freeform 62"/>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5" name="Freeform 63"/>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6" name="Freeform 64"/>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7" name="Rectangle 65"/>
            <p:cNvSpPr>
              <a:spLocks noChangeArrowheads="1"/>
            </p:cNvSpPr>
            <p:nvPr/>
          </p:nvSpPr>
          <p:spPr bwMode="auto">
            <a:xfrm>
              <a:off x="1724"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58" name="Rectangle 66"/>
            <p:cNvSpPr>
              <a:spLocks noChangeArrowheads="1"/>
            </p:cNvSpPr>
            <p:nvPr/>
          </p:nvSpPr>
          <p:spPr bwMode="auto">
            <a:xfrm>
              <a:off x="2169"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59" name="Freeform 67"/>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0" name="Freeform 68"/>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1" name="Freeform 69"/>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2" name="Freeform 70"/>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3" name="Freeform 71"/>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4" name="Freeform 72"/>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5" name="Freeform 73"/>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6" name="Freeform 74"/>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7" name="Freeform 75"/>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8" name="Freeform 76"/>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9" name="Rectangle 77"/>
            <p:cNvSpPr>
              <a:spLocks noChangeArrowheads="1"/>
            </p:cNvSpPr>
            <p:nvPr/>
          </p:nvSpPr>
          <p:spPr bwMode="auto">
            <a:xfrm>
              <a:off x="2169"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70" name="Rectangle 78"/>
            <p:cNvSpPr>
              <a:spLocks noChangeArrowheads="1"/>
            </p:cNvSpPr>
            <p:nvPr/>
          </p:nvSpPr>
          <p:spPr bwMode="auto">
            <a:xfrm>
              <a:off x="262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071" name="Freeform 79"/>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2" name="Freeform 80"/>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3" name="Freeform 81"/>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4" name="Freeform 82"/>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5" name="Freeform 83"/>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6" name="Freeform 84"/>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7" name="Freeform 85"/>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8" name="Freeform 86"/>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9" name="Freeform 87"/>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0" name="Freeform 88"/>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1" name="Rectangle 89"/>
            <p:cNvSpPr>
              <a:spLocks noChangeArrowheads="1"/>
            </p:cNvSpPr>
            <p:nvPr/>
          </p:nvSpPr>
          <p:spPr bwMode="auto">
            <a:xfrm>
              <a:off x="262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082" name="Rectangle 90"/>
            <p:cNvSpPr>
              <a:spLocks noChangeArrowheads="1"/>
            </p:cNvSpPr>
            <p:nvPr/>
          </p:nvSpPr>
          <p:spPr bwMode="auto">
            <a:xfrm>
              <a:off x="3065"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083" name="Freeform 91"/>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4" name="Freeform 92"/>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5" name="Freeform 93"/>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6" name="Freeform 94"/>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7" name="Freeform 95"/>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8" name="Freeform 96"/>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9" name="Freeform 97"/>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0" name="Freeform 98"/>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1" name="Freeform 99"/>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2" name="Freeform 100"/>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3" name="Rectangle 101"/>
            <p:cNvSpPr>
              <a:spLocks noChangeArrowheads="1"/>
            </p:cNvSpPr>
            <p:nvPr/>
          </p:nvSpPr>
          <p:spPr bwMode="auto">
            <a:xfrm>
              <a:off x="3065"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094" name="Rectangle 102"/>
            <p:cNvSpPr>
              <a:spLocks noChangeArrowheads="1"/>
            </p:cNvSpPr>
            <p:nvPr/>
          </p:nvSpPr>
          <p:spPr bwMode="auto">
            <a:xfrm>
              <a:off x="351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095" name="Freeform 103"/>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6" name="Freeform 104"/>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7" name="Freeform 105"/>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8" name="Freeform 106"/>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9" name="Freeform 107"/>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0" name="Freeform 108"/>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1" name="Freeform 109"/>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2" name="Freeform 110"/>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3" name="Freeform 111"/>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4" name="Freeform 112"/>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5" name="Rectangle 113"/>
            <p:cNvSpPr>
              <a:spLocks noChangeArrowheads="1"/>
            </p:cNvSpPr>
            <p:nvPr/>
          </p:nvSpPr>
          <p:spPr bwMode="auto">
            <a:xfrm>
              <a:off x="351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06" name="Rectangle 114"/>
            <p:cNvSpPr>
              <a:spLocks noChangeArrowheads="1"/>
            </p:cNvSpPr>
            <p:nvPr/>
          </p:nvSpPr>
          <p:spPr bwMode="auto">
            <a:xfrm>
              <a:off x="396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07" name="Freeform 115"/>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8" name="Freeform 116"/>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9" name="Freeform 117"/>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0" name="Freeform 118"/>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1" name="Freeform 119"/>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2" name="Freeform 120"/>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3" name="Freeform 121"/>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4" name="Freeform 122"/>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5" name="Freeform 123"/>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6" name="Freeform 124"/>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7" name="Rectangle 125"/>
            <p:cNvSpPr>
              <a:spLocks noChangeArrowheads="1"/>
            </p:cNvSpPr>
            <p:nvPr/>
          </p:nvSpPr>
          <p:spPr bwMode="auto">
            <a:xfrm>
              <a:off x="396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18" name="Rectangle 126"/>
            <p:cNvSpPr>
              <a:spLocks noChangeArrowheads="1"/>
            </p:cNvSpPr>
            <p:nvPr/>
          </p:nvSpPr>
          <p:spPr bwMode="auto">
            <a:xfrm>
              <a:off x="4405"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19" name="Freeform 127"/>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0" name="Freeform 128"/>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1" name="Freeform 129"/>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2" name="Freeform 130"/>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3" name="Freeform 131"/>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4" name="Freeform 132"/>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5" name="Freeform 133"/>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6" name="Freeform 134"/>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7" name="Freeform 135"/>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8" name="Freeform 136"/>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9" name="Rectangle 137"/>
            <p:cNvSpPr>
              <a:spLocks noChangeArrowheads="1"/>
            </p:cNvSpPr>
            <p:nvPr/>
          </p:nvSpPr>
          <p:spPr bwMode="auto">
            <a:xfrm>
              <a:off x="4405"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30" name="Rectangle 138"/>
            <p:cNvSpPr>
              <a:spLocks noChangeArrowheads="1"/>
            </p:cNvSpPr>
            <p:nvPr/>
          </p:nvSpPr>
          <p:spPr bwMode="auto">
            <a:xfrm>
              <a:off x="485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31" name="Freeform 139"/>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2" name="Freeform 140"/>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3" name="Freeform 141"/>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4" name="Freeform 142"/>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5" name="Freeform 143"/>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6" name="Freeform 144"/>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7" name="Freeform 145"/>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8" name="Freeform 146"/>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9" name="Freeform 147"/>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0" name="Freeform 148"/>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1" name="Rectangle 149"/>
            <p:cNvSpPr>
              <a:spLocks noChangeArrowheads="1"/>
            </p:cNvSpPr>
            <p:nvPr/>
          </p:nvSpPr>
          <p:spPr bwMode="auto">
            <a:xfrm>
              <a:off x="485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42" name="Rectangle 150"/>
            <p:cNvSpPr>
              <a:spLocks noChangeArrowheads="1"/>
            </p:cNvSpPr>
            <p:nvPr/>
          </p:nvSpPr>
          <p:spPr bwMode="auto">
            <a:xfrm>
              <a:off x="530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43" name="Freeform 151"/>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4" name="Freeform 152"/>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5" name="Freeform 153"/>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6" name="Freeform 154"/>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7" name="Freeform 155"/>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8" name="Freeform 156"/>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9" name="Freeform 157"/>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0" name="Freeform 158"/>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1" name="Freeform 159"/>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2" name="Freeform 160"/>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3" name="Rectangle 161"/>
            <p:cNvSpPr>
              <a:spLocks noChangeArrowheads="1"/>
            </p:cNvSpPr>
            <p:nvPr/>
          </p:nvSpPr>
          <p:spPr bwMode="auto">
            <a:xfrm>
              <a:off x="530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54" name="Freeform 162"/>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50000"/>
              </a:schemeClr>
            </a:solidFill>
            <a:ln w="0">
              <a:noFill/>
              <a:prstDash val="solid"/>
              <a:round/>
              <a:headEnd/>
              <a:tailEnd/>
            </a:ln>
          </p:spPr>
          <p:txBody>
            <a:bodyPr/>
            <a:lstStyle/>
            <a:p>
              <a:endParaRPr lang="zh-CN" altLang="en-US"/>
            </a:p>
          </p:txBody>
        </p:sp>
      </p:grpSp>
      <p:sp>
        <p:nvSpPr>
          <p:cNvPr id="85155" name="Rectangle 163"/>
          <p:cNvSpPr>
            <a:spLocks noGrp="1" noRot="1" noChangeArrowheads="1"/>
          </p:cNvSpPr>
          <p:nvPr>
            <p:ph type="ctrTitle"/>
          </p:nvPr>
        </p:nvSpPr>
        <p:spPr>
          <a:xfrm>
            <a:off x="685800" y="2057400"/>
            <a:ext cx="7772400" cy="1143000"/>
          </a:xfrm>
        </p:spPr>
        <p:txBody>
          <a:bodyPr/>
          <a:lstStyle>
            <a:lvl1pPr>
              <a:defRPr/>
            </a:lvl1pPr>
          </a:lstStyle>
          <a:p>
            <a:r>
              <a:rPr lang="zh-CN" altLang="en-US"/>
              <a:t>单击此处编辑母版标题样式</a:t>
            </a:r>
          </a:p>
        </p:txBody>
      </p:sp>
      <p:sp>
        <p:nvSpPr>
          <p:cNvPr id="85156" name="Rectangle 164"/>
          <p:cNvSpPr>
            <a:spLocks noGrp="1" noChangeArrowheads="1"/>
          </p:cNvSpPr>
          <p:nvPr>
            <p:ph type="dt" sz="half" idx="2"/>
          </p:nvPr>
        </p:nvSpPr>
        <p:spPr>
          <a:xfrm>
            <a:off x="301625" y="6248400"/>
            <a:ext cx="2289175" cy="476250"/>
          </a:xfrm>
        </p:spPr>
        <p:txBody>
          <a:bodyPr/>
          <a:lstStyle>
            <a:lvl1pPr>
              <a:defRPr/>
            </a:lvl1pPr>
          </a:lstStyle>
          <a:p>
            <a:endParaRPr lang="en-US" altLang="zh-CN"/>
          </a:p>
        </p:txBody>
      </p:sp>
      <p:sp>
        <p:nvSpPr>
          <p:cNvPr id="85157" name="Rectangle 165"/>
          <p:cNvSpPr>
            <a:spLocks noGrp="1" noChangeArrowheads="1"/>
          </p:cNvSpPr>
          <p:nvPr>
            <p:ph type="ftr" sz="quarter" idx="3"/>
          </p:nvPr>
        </p:nvSpPr>
        <p:spPr>
          <a:xfrm>
            <a:off x="3124200" y="6248400"/>
            <a:ext cx="2895600" cy="476250"/>
          </a:xfrm>
        </p:spPr>
        <p:txBody>
          <a:bodyPr/>
          <a:lstStyle>
            <a:lvl1pPr>
              <a:defRPr/>
            </a:lvl1pPr>
          </a:lstStyle>
          <a:p>
            <a:endParaRPr lang="en-US" altLang="zh-CN"/>
          </a:p>
        </p:txBody>
      </p:sp>
      <p:sp>
        <p:nvSpPr>
          <p:cNvPr id="85158" name="Rectangle 166"/>
          <p:cNvSpPr>
            <a:spLocks noGrp="1" noChangeArrowheads="1"/>
          </p:cNvSpPr>
          <p:nvPr>
            <p:ph type="sldNum" sz="quarter" idx="4"/>
          </p:nvPr>
        </p:nvSpPr>
        <p:spPr>
          <a:xfrm>
            <a:off x="6553200" y="6248400"/>
            <a:ext cx="2289175" cy="476250"/>
          </a:xfrm>
        </p:spPr>
        <p:txBody>
          <a:bodyPr/>
          <a:lstStyle>
            <a:lvl1pPr>
              <a:defRPr/>
            </a:lvl1pPr>
          </a:lstStyle>
          <a:p>
            <a:fld id="{87B09D19-C004-41B6-AAF3-C2F91998F0D6}" type="slidenum">
              <a:rPr lang="en-US" altLang="zh-CN"/>
              <a:pPr/>
              <a:t>‹#›</a:t>
            </a:fld>
            <a:endParaRPr lang="en-US" altLang="zh-CN"/>
          </a:p>
        </p:txBody>
      </p:sp>
      <p:sp>
        <p:nvSpPr>
          <p:cNvPr id="8515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r>
              <a:rPr lang="zh-CN" altLang="en-US"/>
              <a:t>单击此处编辑母版副标题样式</a:t>
            </a:r>
          </a:p>
        </p:txBody>
      </p:sp>
      <p:grpSp>
        <p:nvGrpSpPr>
          <p:cNvPr id="85160" name="Group 168"/>
          <p:cNvGrpSpPr>
            <a:grpSpLocks/>
          </p:cNvGrpSpPr>
          <p:nvPr/>
        </p:nvGrpSpPr>
        <p:grpSpPr bwMode="auto">
          <a:xfrm>
            <a:off x="152400" y="4724400"/>
            <a:ext cx="1685925" cy="1557338"/>
            <a:chOff x="96" y="2784"/>
            <a:chExt cx="1062" cy="981"/>
          </a:xfrm>
        </p:grpSpPr>
        <p:sp>
          <p:nvSpPr>
            <p:cNvPr id="85161" name="Freeform 16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w="0">
              <a:noFill/>
              <a:prstDash val="solid"/>
              <a:round/>
              <a:headEnd/>
              <a:tailEnd/>
            </a:ln>
          </p:spPr>
          <p:txBody>
            <a:bodyPr/>
            <a:lstStyle/>
            <a:p>
              <a:endParaRPr lang="zh-CN" altLang="en-US"/>
            </a:p>
          </p:txBody>
        </p:sp>
        <p:sp>
          <p:nvSpPr>
            <p:cNvPr id="85162" name="Freeform 17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w="0">
              <a:noFill/>
              <a:prstDash val="solid"/>
              <a:round/>
              <a:headEnd/>
              <a:tailEnd/>
            </a:ln>
          </p:spPr>
          <p:txBody>
            <a:bodyPr/>
            <a:lstStyle/>
            <a:p>
              <a:endParaRPr lang="zh-CN" altLang="en-US"/>
            </a:p>
          </p:txBody>
        </p:sp>
        <p:sp>
          <p:nvSpPr>
            <p:cNvPr id="85163" name="Freeform 17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folHlink"/>
            </a:solidFill>
            <a:ln w="0">
              <a:noFill/>
              <a:prstDash val="solid"/>
              <a:round/>
              <a:headEnd/>
              <a:tailEnd/>
            </a:ln>
          </p:spPr>
          <p:txBody>
            <a:bodyPr/>
            <a:lstStyle/>
            <a:p>
              <a:endParaRPr lang="zh-CN" altLang="en-US"/>
            </a:p>
          </p:txBody>
        </p:sp>
        <p:sp>
          <p:nvSpPr>
            <p:cNvPr id="85164" name="Freeform 17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w="0">
              <a:noFill/>
              <a:prstDash val="solid"/>
              <a:round/>
              <a:headEnd/>
              <a:tailEnd/>
            </a:ln>
          </p:spPr>
          <p:txBody>
            <a:bodyPr/>
            <a:lstStyle/>
            <a:p>
              <a:endParaRPr lang="zh-CN" altLang="en-US"/>
            </a:p>
          </p:txBody>
        </p:sp>
        <p:sp>
          <p:nvSpPr>
            <p:cNvPr id="85165" name="Freeform 17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w="0">
              <a:noFill/>
              <a:prstDash val="solid"/>
              <a:round/>
              <a:headEnd/>
              <a:tailEnd/>
            </a:ln>
          </p:spPr>
          <p:txBody>
            <a:bodyPr/>
            <a:lstStyle/>
            <a:p>
              <a:endParaRPr lang="zh-CN" altLang="en-US"/>
            </a:p>
          </p:txBody>
        </p:sp>
        <p:sp>
          <p:nvSpPr>
            <p:cNvPr id="85166" name="Freeform 17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w="0">
              <a:noFill/>
              <a:prstDash val="solid"/>
              <a:round/>
              <a:headEnd/>
              <a:tailEnd/>
            </a:ln>
          </p:spPr>
          <p:txBody>
            <a:bodyPr/>
            <a:lstStyle/>
            <a:p>
              <a:endParaRPr lang="zh-CN" altLang="en-US"/>
            </a:p>
          </p:txBody>
        </p:sp>
        <p:sp>
          <p:nvSpPr>
            <p:cNvPr id="85167" name="Freeform 17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folHlink"/>
            </a:solidFill>
            <a:ln w="0">
              <a:noFill/>
              <a:prstDash val="solid"/>
              <a:round/>
              <a:headEnd/>
              <a:tailEnd/>
            </a:ln>
          </p:spPr>
          <p:txBody>
            <a:bodyPr/>
            <a:lstStyle/>
            <a:p>
              <a:endParaRPr lang="zh-CN" altLang="en-US"/>
            </a:p>
          </p:txBody>
        </p:sp>
        <p:sp>
          <p:nvSpPr>
            <p:cNvPr id="85168" name="Freeform 17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w="0">
              <a:noFill/>
              <a:prstDash val="solid"/>
              <a:round/>
              <a:headEnd/>
              <a:tailEnd/>
            </a:ln>
          </p:spPr>
          <p:txBody>
            <a:bodyPr/>
            <a:lstStyle/>
            <a:p>
              <a:endParaRPr lang="zh-CN" altLang="en-US"/>
            </a:p>
          </p:txBody>
        </p:sp>
        <p:sp>
          <p:nvSpPr>
            <p:cNvPr id="85169" name="Freeform 17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w="0">
              <a:noFill/>
              <a:prstDash val="solid"/>
              <a:round/>
              <a:headEnd/>
              <a:tailEnd/>
            </a:ln>
          </p:spPr>
          <p:txBody>
            <a:bodyPr/>
            <a:lstStyle/>
            <a:p>
              <a:endParaRPr lang="zh-CN" altLang="en-US"/>
            </a:p>
          </p:txBody>
        </p:sp>
        <p:sp>
          <p:nvSpPr>
            <p:cNvPr id="85170" name="Freeform 17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w="0">
              <a:noFill/>
              <a:prstDash val="solid"/>
              <a:round/>
              <a:headEnd/>
              <a:tailEnd/>
            </a:ln>
          </p:spPr>
          <p:txBody>
            <a:bodyPr/>
            <a:lstStyle/>
            <a:p>
              <a:endParaRPr lang="zh-CN" altLang="en-US"/>
            </a:p>
          </p:txBody>
        </p:sp>
        <p:sp>
          <p:nvSpPr>
            <p:cNvPr id="85171" name="Freeform 17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w="0">
              <a:noFill/>
              <a:prstDash val="solid"/>
              <a:round/>
              <a:headEnd/>
              <a:tailEnd/>
            </a:ln>
          </p:spPr>
          <p:txBody>
            <a:bodyPr/>
            <a:lstStyle/>
            <a:p>
              <a:endParaRPr lang="zh-CN" altLang="en-US"/>
            </a:p>
          </p:txBody>
        </p:sp>
        <p:sp>
          <p:nvSpPr>
            <p:cNvPr id="85172" name="Freeform 18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w="0">
              <a:noFill/>
              <a:prstDash val="solid"/>
              <a:round/>
              <a:headEnd/>
              <a:tailEnd/>
            </a:ln>
          </p:spPr>
          <p:txBody>
            <a:bodyPr/>
            <a:lstStyle/>
            <a:p>
              <a:endParaRPr lang="zh-CN" altLang="en-US"/>
            </a:p>
          </p:txBody>
        </p:sp>
        <p:sp>
          <p:nvSpPr>
            <p:cNvPr id="85173" name="Freeform 18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w="0">
              <a:noFill/>
              <a:prstDash val="solid"/>
              <a:round/>
              <a:headEnd/>
              <a:tailEnd/>
            </a:ln>
          </p:spPr>
          <p:txBody>
            <a:bodyPr/>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5A61D50-144C-461A-93AF-22448373D0A6}"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DB85932-580B-4B68-8946-1A7AAA053785}"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173E475-6698-450D-8148-B2FDE82ABE6B}"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26D98F9-B58D-4310-98C9-8CE02EB55F64}"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A8311E57-E7E5-4CE7-8192-C6990729F058}"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5A2FC34F-5949-41F2-A1E0-7AAF0B765E6C}"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BF79CA1-EC13-4734-B277-6AB3D055489A}"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2F2A8AF-E866-493D-BA37-1A35532AB8B2}"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8B20F39-17F1-4BD9-ADBC-FD5ABC1F5EE6}"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AA73B76-EFF5-4F45-8EFE-07CE4CE077A8}" type="slidenum">
              <a:rPr lang="en-US" altLang="zh-CN"/>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62500" y="1600200"/>
            <a:ext cx="4000500" cy="2173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62500" y="3925888"/>
            <a:ext cx="4000500" cy="2173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298450" y="6245225"/>
            <a:ext cx="2289175"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1025"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0025" y="6245225"/>
            <a:ext cx="2289175" cy="476250"/>
          </a:xfrm>
        </p:spPr>
        <p:txBody>
          <a:bodyPr/>
          <a:lstStyle>
            <a:lvl1pPr>
              <a:defRPr/>
            </a:lvl1pPr>
          </a:lstStyle>
          <a:p>
            <a:fld id="{96966C7A-7503-46D2-89FE-8E5FFF7BE9F3}" type="slidenum">
              <a:rPr lang="en-US" altLang="zh-CN"/>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298450" y="6245225"/>
            <a:ext cx="2289175"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3121025"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0025" y="6245225"/>
            <a:ext cx="2289175" cy="476250"/>
          </a:xfrm>
        </p:spPr>
        <p:txBody>
          <a:bodyPr/>
          <a:lstStyle>
            <a:lvl1pPr>
              <a:defRPr/>
            </a:lvl1pPr>
          </a:lstStyle>
          <a:p>
            <a:fld id="{86390C9C-3B06-4959-8452-7B4943098E10}"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3970" name="Group 2"/>
          <p:cNvGrpSpPr>
            <a:grpSpLocks/>
          </p:cNvGrpSpPr>
          <p:nvPr/>
        </p:nvGrpSpPr>
        <p:grpSpPr bwMode="auto">
          <a:xfrm>
            <a:off x="566738" y="0"/>
            <a:ext cx="7891462" cy="6821488"/>
            <a:chOff x="349" y="23"/>
            <a:chExt cx="4971" cy="4297"/>
          </a:xfrm>
        </p:grpSpPr>
        <p:sp>
          <p:nvSpPr>
            <p:cNvPr id="83971" name="Rectangle 3"/>
            <p:cNvSpPr>
              <a:spLocks noChangeArrowheads="1"/>
            </p:cNvSpPr>
            <p:nvPr/>
          </p:nvSpPr>
          <p:spPr bwMode="auto">
            <a:xfrm>
              <a:off x="384"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3972" name="Freeform 4"/>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3" name="Freeform 5"/>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4" name="Freeform 6"/>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5" name="Freeform 7"/>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6" name="Freeform 8"/>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7" name="Freeform 9"/>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8" name="Freeform 10"/>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9" name="Freeform 11"/>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0" name="Freeform 12"/>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1" name="Freeform 13"/>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2" name="Rectangle 14"/>
            <p:cNvSpPr>
              <a:spLocks noChangeArrowheads="1"/>
            </p:cNvSpPr>
            <p:nvPr/>
          </p:nvSpPr>
          <p:spPr bwMode="auto">
            <a:xfrm>
              <a:off x="384"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3983" name="Rectangle 15"/>
            <p:cNvSpPr>
              <a:spLocks noChangeArrowheads="1"/>
            </p:cNvSpPr>
            <p:nvPr/>
          </p:nvSpPr>
          <p:spPr bwMode="auto">
            <a:xfrm>
              <a:off x="829"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3984" name="Freeform 16"/>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5" name="Freeform 17"/>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6" name="Freeform 18"/>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7" name="Freeform 19"/>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8" name="Freeform 20"/>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9" name="Freeform 21"/>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0" name="Freeform 22"/>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1" name="Freeform 23"/>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2" name="Freeform 24"/>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3" name="Freeform 25"/>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4" name="Rectangle 26"/>
            <p:cNvSpPr>
              <a:spLocks noChangeArrowheads="1"/>
            </p:cNvSpPr>
            <p:nvPr/>
          </p:nvSpPr>
          <p:spPr bwMode="auto">
            <a:xfrm>
              <a:off x="829"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3995" name="Rectangle 27"/>
            <p:cNvSpPr>
              <a:spLocks noChangeArrowheads="1"/>
            </p:cNvSpPr>
            <p:nvPr/>
          </p:nvSpPr>
          <p:spPr bwMode="auto">
            <a:xfrm>
              <a:off x="1279"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3996" name="Freeform 28"/>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7" name="Freeform 29"/>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8" name="Freeform 30"/>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9" name="Freeform 31"/>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0" name="Freeform 32"/>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1" name="Freeform 33"/>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2" name="Freeform 34"/>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3" name="Freeform 35"/>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4" name="Freeform 36"/>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5" name="Freeform 37"/>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6" name="Rectangle 38"/>
            <p:cNvSpPr>
              <a:spLocks noChangeArrowheads="1"/>
            </p:cNvSpPr>
            <p:nvPr/>
          </p:nvSpPr>
          <p:spPr bwMode="auto">
            <a:xfrm>
              <a:off x="1279"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4007" name="Rectangle 39"/>
            <p:cNvSpPr>
              <a:spLocks noChangeArrowheads="1"/>
            </p:cNvSpPr>
            <p:nvPr/>
          </p:nvSpPr>
          <p:spPr bwMode="auto">
            <a:xfrm>
              <a:off x="1724"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4008" name="Freeform 40"/>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9" name="Freeform 41"/>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0" name="Freeform 42"/>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1" name="Freeform 43"/>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2" name="Freeform 44"/>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3" name="Freeform 45"/>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4" name="Freeform 46"/>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5" name="Freeform 47"/>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6" name="Freeform 48"/>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7" name="Freeform 49"/>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8" name="Rectangle 50"/>
            <p:cNvSpPr>
              <a:spLocks noChangeArrowheads="1"/>
            </p:cNvSpPr>
            <p:nvPr/>
          </p:nvSpPr>
          <p:spPr bwMode="auto">
            <a:xfrm>
              <a:off x="1724"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4019" name="Rectangle 51"/>
            <p:cNvSpPr>
              <a:spLocks noChangeArrowheads="1"/>
            </p:cNvSpPr>
            <p:nvPr/>
          </p:nvSpPr>
          <p:spPr bwMode="auto">
            <a:xfrm>
              <a:off x="2169"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4020" name="Freeform 52"/>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1" name="Freeform 53"/>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2" name="Freeform 54"/>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3" name="Freeform 55"/>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4" name="Freeform 56"/>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5" name="Freeform 57"/>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6" name="Freeform 58"/>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7" name="Freeform 59"/>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8" name="Freeform 60"/>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9" name="Freeform 61"/>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0" name="Rectangle 62"/>
            <p:cNvSpPr>
              <a:spLocks noChangeArrowheads="1"/>
            </p:cNvSpPr>
            <p:nvPr/>
          </p:nvSpPr>
          <p:spPr bwMode="auto">
            <a:xfrm>
              <a:off x="2169"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4031" name="Rectangle 63"/>
            <p:cNvSpPr>
              <a:spLocks noChangeArrowheads="1"/>
            </p:cNvSpPr>
            <p:nvPr/>
          </p:nvSpPr>
          <p:spPr bwMode="auto">
            <a:xfrm>
              <a:off x="262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32" name="Freeform 64"/>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3" name="Freeform 65"/>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4" name="Freeform 66"/>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5" name="Freeform 67"/>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6" name="Freeform 68"/>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7" name="Freeform 69"/>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8" name="Freeform 70"/>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9" name="Freeform 71"/>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0" name="Freeform 72"/>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1" name="Freeform 73"/>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2" name="Rectangle 74"/>
            <p:cNvSpPr>
              <a:spLocks noChangeArrowheads="1"/>
            </p:cNvSpPr>
            <p:nvPr/>
          </p:nvSpPr>
          <p:spPr bwMode="auto">
            <a:xfrm>
              <a:off x="262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43" name="Rectangle 75"/>
            <p:cNvSpPr>
              <a:spLocks noChangeArrowheads="1"/>
            </p:cNvSpPr>
            <p:nvPr/>
          </p:nvSpPr>
          <p:spPr bwMode="auto">
            <a:xfrm>
              <a:off x="3065"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44" name="Freeform 76"/>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5" name="Freeform 77"/>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6" name="Freeform 78"/>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7" name="Freeform 79"/>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8" name="Freeform 80"/>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9" name="Freeform 81"/>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0" name="Freeform 82"/>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1" name="Freeform 83"/>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2" name="Freeform 84"/>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3" name="Freeform 85"/>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4" name="Rectangle 86"/>
            <p:cNvSpPr>
              <a:spLocks noChangeArrowheads="1"/>
            </p:cNvSpPr>
            <p:nvPr/>
          </p:nvSpPr>
          <p:spPr bwMode="auto">
            <a:xfrm>
              <a:off x="3065"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55" name="Rectangle 87"/>
            <p:cNvSpPr>
              <a:spLocks noChangeArrowheads="1"/>
            </p:cNvSpPr>
            <p:nvPr/>
          </p:nvSpPr>
          <p:spPr bwMode="auto">
            <a:xfrm>
              <a:off x="351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56" name="Freeform 88"/>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7" name="Freeform 89"/>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8" name="Freeform 90"/>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9" name="Freeform 91"/>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0" name="Freeform 92"/>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1" name="Freeform 93"/>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2" name="Freeform 94"/>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3" name="Freeform 95"/>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4" name="Freeform 96"/>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5" name="Freeform 97"/>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6" name="Rectangle 98"/>
            <p:cNvSpPr>
              <a:spLocks noChangeArrowheads="1"/>
            </p:cNvSpPr>
            <p:nvPr/>
          </p:nvSpPr>
          <p:spPr bwMode="auto">
            <a:xfrm>
              <a:off x="351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67" name="Rectangle 99"/>
            <p:cNvSpPr>
              <a:spLocks noChangeArrowheads="1"/>
            </p:cNvSpPr>
            <p:nvPr/>
          </p:nvSpPr>
          <p:spPr bwMode="auto">
            <a:xfrm>
              <a:off x="396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68" name="Freeform 100"/>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9" name="Freeform 101"/>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0" name="Freeform 102"/>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1" name="Freeform 103"/>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2" name="Freeform 104"/>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3" name="Freeform 105"/>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4" name="Freeform 106"/>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5" name="Freeform 107"/>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6" name="Freeform 108"/>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7" name="Freeform 109"/>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8" name="Rectangle 110"/>
            <p:cNvSpPr>
              <a:spLocks noChangeArrowheads="1"/>
            </p:cNvSpPr>
            <p:nvPr/>
          </p:nvSpPr>
          <p:spPr bwMode="auto">
            <a:xfrm>
              <a:off x="396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79" name="Rectangle 111"/>
            <p:cNvSpPr>
              <a:spLocks noChangeArrowheads="1"/>
            </p:cNvSpPr>
            <p:nvPr/>
          </p:nvSpPr>
          <p:spPr bwMode="auto">
            <a:xfrm>
              <a:off x="4405"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80" name="Freeform 112"/>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1" name="Freeform 113"/>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2" name="Freeform 114"/>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3" name="Freeform 115"/>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4" name="Freeform 116"/>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5" name="Freeform 117"/>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6" name="Freeform 118"/>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7" name="Freeform 119"/>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8" name="Freeform 120"/>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9" name="Freeform 121"/>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0" name="Rectangle 122"/>
            <p:cNvSpPr>
              <a:spLocks noChangeArrowheads="1"/>
            </p:cNvSpPr>
            <p:nvPr/>
          </p:nvSpPr>
          <p:spPr bwMode="auto">
            <a:xfrm>
              <a:off x="4405"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91" name="Rectangle 123"/>
            <p:cNvSpPr>
              <a:spLocks noChangeArrowheads="1"/>
            </p:cNvSpPr>
            <p:nvPr/>
          </p:nvSpPr>
          <p:spPr bwMode="auto">
            <a:xfrm>
              <a:off x="485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92" name="Freeform 124"/>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3" name="Freeform 125"/>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4" name="Freeform 126"/>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5" name="Freeform 127"/>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6" name="Freeform 128"/>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7" name="Freeform 129"/>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8" name="Freeform 130"/>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9" name="Freeform 131"/>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0" name="Freeform 132"/>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1" name="Freeform 133"/>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2" name="Rectangle 134"/>
            <p:cNvSpPr>
              <a:spLocks noChangeArrowheads="1"/>
            </p:cNvSpPr>
            <p:nvPr/>
          </p:nvSpPr>
          <p:spPr bwMode="auto">
            <a:xfrm>
              <a:off x="485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103" name="Rectangle 135"/>
            <p:cNvSpPr>
              <a:spLocks noChangeArrowheads="1"/>
            </p:cNvSpPr>
            <p:nvPr/>
          </p:nvSpPr>
          <p:spPr bwMode="auto">
            <a:xfrm>
              <a:off x="530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104" name="Freeform 136"/>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5" name="Freeform 137"/>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6" name="Freeform 138"/>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7" name="Freeform 139"/>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8" name="Freeform 140"/>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9" name="Freeform 141"/>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0" name="Freeform 142"/>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1" name="Freeform 143"/>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2" name="Freeform 144"/>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3" name="Freeform 145"/>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4" name="Rectangle 146"/>
            <p:cNvSpPr>
              <a:spLocks noChangeArrowheads="1"/>
            </p:cNvSpPr>
            <p:nvPr/>
          </p:nvSpPr>
          <p:spPr bwMode="auto">
            <a:xfrm>
              <a:off x="530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115" name="Freeform 147"/>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60001"/>
              </a:schemeClr>
            </a:solidFill>
            <a:ln w="0">
              <a:noFill/>
              <a:prstDash val="solid"/>
              <a:round/>
              <a:headEnd/>
              <a:tailEnd/>
            </a:ln>
          </p:spPr>
          <p:txBody>
            <a:bodyPr/>
            <a:lstStyle/>
            <a:p>
              <a:endParaRPr lang="zh-CN" altLang="en-US"/>
            </a:p>
          </p:txBody>
        </p:sp>
      </p:grpSp>
      <p:grpSp>
        <p:nvGrpSpPr>
          <p:cNvPr id="84116" name="Group 148"/>
          <p:cNvGrpSpPr>
            <a:grpSpLocks/>
          </p:cNvGrpSpPr>
          <p:nvPr/>
        </p:nvGrpSpPr>
        <p:grpSpPr bwMode="auto">
          <a:xfrm>
            <a:off x="1066800" y="3444875"/>
            <a:ext cx="533400" cy="492125"/>
            <a:chOff x="96" y="2784"/>
            <a:chExt cx="1062" cy="981"/>
          </a:xfrm>
        </p:grpSpPr>
        <p:sp>
          <p:nvSpPr>
            <p:cNvPr id="84117" name="Freeform 14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18" name="Freeform 15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19" name="Freeform 15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20" name="Freeform 15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21" name="Freeform 15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22" name="Freeform 15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23" name="Freeform 15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24" name="Freeform 15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25" name="Freeform 15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26" name="Freeform 15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27" name="Freeform 15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28" name="Freeform 16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29" name="Freeform 16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30" name="Group 162"/>
          <p:cNvGrpSpPr>
            <a:grpSpLocks/>
          </p:cNvGrpSpPr>
          <p:nvPr/>
        </p:nvGrpSpPr>
        <p:grpSpPr bwMode="auto">
          <a:xfrm>
            <a:off x="1066800" y="4552950"/>
            <a:ext cx="533400" cy="492125"/>
            <a:chOff x="96" y="2784"/>
            <a:chExt cx="1062" cy="981"/>
          </a:xfrm>
        </p:grpSpPr>
        <p:sp>
          <p:nvSpPr>
            <p:cNvPr id="84131" name="Freeform 163"/>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32" name="Freeform 164"/>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33" name="Freeform 165"/>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34" name="Freeform 166"/>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35" name="Freeform 167"/>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36" name="Freeform 168"/>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37" name="Freeform 169"/>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38" name="Freeform 170"/>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39" name="Freeform 171"/>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40" name="Freeform 172"/>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41" name="Freeform 173"/>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42" name="Freeform 174"/>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43" name="Freeform 175"/>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44" name="Group 176"/>
          <p:cNvGrpSpPr>
            <a:grpSpLocks/>
          </p:cNvGrpSpPr>
          <p:nvPr/>
        </p:nvGrpSpPr>
        <p:grpSpPr bwMode="auto">
          <a:xfrm>
            <a:off x="1066800" y="5562600"/>
            <a:ext cx="533400" cy="492125"/>
            <a:chOff x="96" y="2784"/>
            <a:chExt cx="1062" cy="981"/>
          </a:xfrm>
        </p:grpSpPr>
        <p:sp>
          <p:nvSpPr>
            <p:cNvPr id="84145" name="Freeform 177"/>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46" name="Freeform 178"/>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47" name="Freeform 179"/>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48" name="Freeform 180"/>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49" name="Freeform 181"/>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50" name="Freeform 182"/>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51" name="Freeform 183"/>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52" name="Freeform 184"/>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53" name="Freeform 185"/>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54" name="Freeform 186"/>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55" name="Freeform 187"/>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56" name="Freeform 188"/>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57" name="Freeform 189"/>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58" name="Group 190"/>
          <p:cNvGrpSpPr>
            <a:grpSpLocks/>
          </p:cNvGrpSpPr>
          <p:nvPr/>
        </p:nvGrpSpPr>
        <p:grpSpPr bwMode="auto">
          <a:xfrm>
            <a:off x="381000" y="3962400"/>
            <a:ext cx="533400" cy="492125"/>
            <a:chOff x="96" y="2784"/>
            <a:chExt cx="1062" cy="981"/>
          </a:xfrm>
        </p:grpSpPr>
        <p:sp>
          <p:nvSpPr>
            <p:cNvPr id="84159" name="Freeform 191"/>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60" name="Freeform 192"/>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61" name="Freeform 193"/>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62" name="Freeform 194"/>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63" name="Freeform 195"/>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64" name="Freeform 196"/>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65" name="Freeform 197"/>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66" name="Freeform 198"/>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67" name="Freeform 199"/>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68" name="Freeform 200"/>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69" name="Freeform 201"/>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70" name="Freeform 202"/>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71" name="Freeform 203"/>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72" name="Group 204"/>
          <p:cNvGrpSpPr>
            <a:grpSpLocks/>
          </p:cNvGrpSpPr>
          <p:nvPr/>
        </p:nvGrpSpPr>
        <p:grpSpPr bwMode="auto">
          <a:xfrm>
            <a:off x="381000" y="5070475"/>
            <a:ext cx="533400" cy="492125"/>
            <a:chOff x="96" y="2784"/>
            <a:chExt cx="1062" cy="981"/>
          </a:xfrm>
        </p:grpSpPr>
        <p:sp>
          <p:nvSpPr>
            <p:cNvPr id="84173" name="Freeform 205"/>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74" name="Freeform 206"/>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75" name="Freeform 207"/>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76" name="Freeform 208"/>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77" name="Freeform 209"/>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78" name="Freeform 210"/>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79" name="Freeform 211"/>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80" name="Freeform 212"/>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81" name="Freeform 213"/>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82" name="Freeform 214"/>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83" name="Freeform 215"/>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84" name="Freeform 216"/>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85" name="Freeform 217"/>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86" name="Group 218"/>
          <p:cNvGrpSpPr>
            <a:grpSpLocks/>
          </p:cNvGrpSpPr>
          <p:nvPr/>
        </p:nvGrpSpPr>
        <p:grpSpPr bwMode="auto">
          <a:xfrm>
            <a:off x="381000" y="6121400"/>
            <a:ext cx="533400" cy="492125"/>
            <a:chOff x="96" y="2784"/>
            <a:chExt cx="1062" cy="981"/>
          </a:xfrm>
        </p:grpSpPr>
        <p:sp>
          <p:nvSpPr>
            <p:cNvPr id="84187" name="Freeform 21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88" name="Freeform 22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89" name="Freeform 22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90" name="Freeform 22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91" name="Freeform 22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92" name="Freeform 22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93" name="Freeform 22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94" name="Freeform 22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95" name="Freeform 22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96" name="Freeform 22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97" name="Freeform 22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98" name="Freeform 23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99" name="Freeform 23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200" name="Group 232"/>
          <p:cNvGrpSpPr>
            <a:grpSpLocks/>
          </p:cNvGrpSpPr>
          <p:nvPr/>
        </p:nvGrpSpPr>
        <p:grpSpPr bwMode="auto">
          <a:xfrm>
            <a:off x="6934200" y="-7938"/>
            <a:ext cx="2317750" cy="2063751"/>
            <a:chOff x="4080" y="-5"/>
            <a:chExt cx="1748" cy="1556"/>
          </a:xfrm>
        </p:grpSpPr>
        <p:sp>
          <p:nvSpPr>
            <p:cNvPr id="84201" name="Freeform 233"/>
            <p:cNvSpPr>
              <a:spLocks/>
            </p:cNvSpPr>
            <p:nvPr userDrawn="1"/>
          </p:nvSpPr>
          <p:spPr bwMode="auto">
            <a:xfrm>
              <a:off x="4161" y="-5"/>
              <a:ext cx="1586" cy="1443"/>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prstDash val="solid"/>
              <a:round/>
              <a:headEnd/>
              <a:tailEnd/>
            </a:ln>
          </p:spPr>
          <p:txBody>
            <a:bodyPr/>
            <a:lstStyle/>
            <a:p>
              <a:endParaRPr lang="zh-CN" altLang="en-US"/>
            </a:p>
          </p:txBody>
        </p:sp>
        <p:grpSp>
          <p:nvGrpSpPr>
            <p:cNvPr id="84202" name="Group 234"/>
            <p:cNvGrpSpPr>
              <a:grpSpLocks/>
            </p:cNvGrpSpPr>
            <p:nvPr userDrawn="1"/>
          </p:nvGrpSpPr>
          <p:grpSpPr bwMode="auto">
            <a:xfrm>
              <a:off x="4080" y="0"/>
              <a:ext cx="1748" cy="1551"/>
              <a:chOff x="2918" y="18"/>
              <a:chExt cx="2958" cy="2699"/>
            </a:xfrm>
          </p:grpSpPr>
          <p:sp>
            <p:nvSpPr>
              <p:cNvPr id="84203" name="Freeform 235"/>
              <p:cNvSpPr>
                <a:spLocks/>
              </p:cNvSpPr>
              <p:nvPr/>
            </p:nvSpPr>
            <p:spPr bwMode="auto">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prstDash val="solid"/>
                <a:round/>
                <a:headEnd/>
                <a:tailEnd/>
              </a:ln>
            </p:spPr>
            <p:txBody>
              <a:bodyPr/>
              <a:lstStyle/>
              <a:p>
                <a:endParaRPr lang="zh-CN" altLang="en-US"/>
              </a:p>
            </p:txBody>
          </p:sp>
          <p:sp>
            <p:nvSpPr>
              <p:cNvPr id="84204" name="Freeform 236"/>
              <p:cNvSpPr>
                <a:spLocks noEditPoints="1"/>
              </p:cNvSpPr>
              <p:nvPr/>
            </p:nvSpPr>
            <p:spPr bwMode="auto">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prstDash val="solid"/>
                <a:round/>
                <a:headEnd/>
                <a:tailEnd/>
              </a:ln>
            </p:spPr>
            <p:txBody>
              <a:bodyPr/>
              <a:lstStyle/>
              <a:p>
                <a:endParaRPr lang="zh-CN" altLang="en-US"/>
              </a:p>
            </p:txBody>
          </p:sp>
          <p:sp>
            <p:nvSpPr>
              <p:cNvPr id="84205" name="Freeform 237"/>
              <p:cNvSpPr>
                <a:spLocks/>
              </p:cNvSpPr>
              <p:nvPr/>
            </p:nvSpPr>
            <p:spPr bwMode="auto">
              <a:xfrm>
                <a:off x="3621" y="1287"/>
                <a:ext cx="238" cy="283"/>
              </a:xfrm>
              <a:custGeom>
                <a:avLst/>
                <a:gdLst/>
                <a:ahLst/>
                <a:cxnLst>
                  <a:cxn ang="0">
                    <a:pos x="40" y="15"/>
                  </a:cxn>
                  <a:cxn ang="0">
                    <a:pos x="27" y="56"/>
                  </a:cxn>
                  <a:cxn ang="0">
                    <a:pos x="40" y="15"/>
                  </a:cxn>
                </a:cxnLst>
                <a:rect l="0" t="0" r="r" b="b"/>
                <a:pathLst>
                  <a:path w="47" h="56">
                    <a:moveTo>
                      <a:pt x="40" y="15"/>
                    </a:moveTo>
                    <a:cubicBezTo>
                      <a:pt x="37" y="0"/>
                      <a:pt x="0" y="23"/>
                      <a:pt x="27" y="56"/>
                    </a:cubicBezTo>
                    <a:cubicBezTo>
                      <a:pt x="27" y="56"/>
                      <a:pt x="47" y="49"/>
                      <a:pt x="40" y="15"/>
                    </a:cubicBezTo>
                    <a:close/>
                  </a:path>
                </a:pathLst>
              </a:custGeom>
              <a:solidFill>
                <a:schemeClr val="bg1"/>
              </a:solidFill>
              <a:ln w="0">
                <a:noFill/>
                <a:prstDash val="solid"/>
                <a:round/>
                <a:headEnd/>
                <a:tailEnd/>
              </a:ln>
            </p:spPr>
            <p:txBody>
              <a:bodyPr/>
              <a:lstStyle/>
              <a:p>
                <a:endParaRPr lang="zh-CN" altLang="en-US"/>
              </a:p>
            </p:txBody>
          </p:sp>
          <p:sp>
            <p:nvSpPr>
              <p:cNvPr id="84206" name="Freeform 238"/>
              <p:cNvSpPr>
                <a:spLocks/>
              </p:cNvSpPr>
              <p:nvPr/>
            </p:nvSpPr>
            <p:spPr bwMode="auto">
              <a:xfrm>
                <a:off x="3403" y="1403"/>
                <a:ext cx="208" cy="379"/>
              </a:xfrm>
              <a:custGeom>
                <a:avLst/>
                <a:gdLst/>
                <a:ahLst/>
                <a:cxnLst>
                  <a:cxn ang="0">
                    <a:pos x="19" y="27"/>
                  </a:cxn>
                  <a:cxn ang="0">
                    <a:pos x="12" y="69"/>
                  </a:cxn>
                  <a:cxn ang="0">
                    <a:pos x="40" y="45"/>
                  </a:cxn>
                  <a:cxn ang="0">
                    <a:pos x="37" y="24"/>
                  </a:cxn>
                  <a:cxn ang="0">
                    <a:pos x="19" y="27"/>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prstDash val="solid"/>
                <a:round/>
                <a:headEnd/>
                <a:tailEnd/>
              </a:ln>
            </p:spPr>
            <p:txBody>
              <a:bodyPr/>
              <a:lstStyle/>
              <a:p>
                <a:endParaRPr lang="zh-CN" altLang="en-US"/>
              </a:p>
            </p:txBody>
          </p:sp>
          <p:sp>
            <p:nvSpPr>
              <p:cNvPr id="84207" name="Freeform 239"/>
              <p:cNvSpPr>
                <a:spLocks/>
              </p:cNvSpPr>
              <p:nvPr/>
            </p:nvSpPr>
            <p:spPr bwMode="auto">
              <a:xfrm>
                <a:off x="3272" y="645"/>
                <a:ext cx="683" cy="318"/>
              </a:xfrm>
              <a:custGeom>
                <a:avLst/>
                <a:gdLst/>
                <a:ahLst/>
                <a:cxnLst>
                  <a:cxn ang="0">
                    <a:pos x="112" y="4"/>
                  </a:cxn>
                  <a:cxn ang="0">
                    <a:pos x="24" y="4"/>
                  </a:cxn>
                  <a:cxn ang="0">
                    <a:pos x="2" y="25"/>
                  </a:cxn>
                  <a:cxn ang="0">
                    <a:pos x="60" y="58"/>
                  </a:cxn>
                  <a:cxn ang="0">
                    <a:pos x="96" y="54"/>
                  </a:cxn>
                  <a:cxn ang="0">
                    <a:pos x="113" y="53"/>
                  </a:cxn>
                  <a:cxn ang="0">
                    <a:pos x="112" y="4"/>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prstDash val="solid"/>
                <a:round/>
                <a:headEnd/>
                <a:tailEnd/>
              </a:ln>
            </p:spPr>
            <p:txBody>
              <a:bodyPr/>
              <a:lstStyle/>
              <a:p>
                <a:endParaRPr lang="zh-CN" altLang="en-US"/>
              </a:p>
            </p:txBody>
          </p:sp>
          <p:sp>
            <p:nvSpPr>
              <p:cNvPr id="84208" name="Freeform 240"/>
              <p:cNvSpPr>
                <a:spLocks/>
              </p:cNvSpPr>
              <p:nvPr/>
            </p:nvSpPr>
            <p:spPr bwMode="auto">
              <a:xfrm>
                <a:off x="4046" y="1545"/>
                <a:ext cx="490" cy="515"/>
              </a:xfrm>
              <a:custGeom>
                <a:avLst/>
                <a:gdLst/>
                <a:ahLst/>
                <a:cxnLst>
                  <a:cxn ang="0">
                    <a:pos x="67" y="5"/>
                  </a:cxn>
                  <a:cxn ang="0">
                    <a:pos x="31" y="5"/>
                  </a:cxn>
                  <a:cxn ang="0">
                    <a:pos x="12" y="57"/>
                  </a:cxn>
                  <a:cxn ang="0">
                    <a:pos x="79" y="62"/>
                  </a:cxn>
                  <a:cxn ang="0">
                    <a:pos x="67" y="5"/>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prstDash val="solid"/>
                <a:round/>
                <a:headEnd/>
                <a:tailEnd/>
              </a:ln>
            </p:spPr>
            <p:txBody>
              <a:bodyPr/>
              <a:lstStyle/>
              <a:p>
                <a:endParaRPr lang="zh-CN" altLang="en-US"/>
              </a:p>
            </p:txBody>
          </p:sp>
          <p:sp>
            <p:nvSpPr>
              <p:cNvPr id="84209" name="Freeform 241"/>
              <p:cNvSpPr>
                <a:spLocks/>
              </p:cNvSpPr>
              <p:nvPr/>
            </p:nvSpPr>
            <p:spPr bwMode="auto">
              <a:xfrm>
                <a:off x="5173" y="1024"/>
                <a:ext cx="501" cy="96"/>
              </a:xfrm>
              <a:custGeom>
                <a:avLst/>
                <a:gdLst/>
                <a:ahLst/>
                <a:cxnLst>
                  <a:cxn ang="0">
                    <a:pos x="15" y="0"/>
                  </a:cxn>
                  <a:cxn ang="0">
                    <a:pos x="40" y="15"/>
                  </a:cxn>
                  <a:cxn ang="0">
                    <a:pos x="15" y="0"/>
                  </a:cxn>
                </a:cxnLst>
                <a:rect l="0" t="0" r="r" b="b"/>
                <a:pathLst>
                  <a:path w="99" h="19">
                    <a:moveTo>
                      <a:pt x="15" y="0"/>
                    </a:moveTo>
                    <a:cubicBezTo>
                      <a:pt x="0" y="0"/>
                      <a:pt x="19" y="19"/>
                      <a:pt x="40" y="15"/>
                    </a:cubicBezTo>
                    <a:cubicBezTo>
                      <a:pt x="99" y="1"/>
                      <a:pt x="15" y="0"/>
                      <a:pt x="15" y="0"/>
                    </a:cubicBezTo>
                    <a:close/>
                  </a:path>
                </a:pathLst>
              </a:custGeom>
              <a:solidFill>
                <a:schemeClr val="bg1"/>
              </a:solidFill>
              <a:ln w="0">
                <a:noFill/>
                <a:prstDash val="solid"/>
                <a:round/>
                <a:headEnd/>
                <a:tailEnd/>
              </a:ln>
            </p:spPr>
            <p:txBody>
              <a:bodyPr/>
              <a:lstStyle/>
              <a:p>
                <a:endParaRPr lang="zh-CN" altLang="en-US"/>
              </a:p>
            </p:txBody>
          </p:sp>
          <p:sp>
            <p:nvSpPr>
              <p:cNvPr id="84210" name="Freeform 242"/>
              <p:cNvSpPr>
                <a:spLocks/>
              </p:cNvSpPr>
              <p:nvPr/>
            </p:nvSpPr>
            <p:spPr bwMode="auto">
              <a:xfrm>
                <a:off x="5340" y="1004"/>
                <a:ext cx="385" cy="237"/>
              </a:xfrm>
              <a:custGeom>
                <a:avLst/>
                <a:gdLst/>
                <a:ahLst/>
                <a:cxnLst>
                  <a:cxn ang="0">
                    <a:pos x="21" y="37"/>
                  </a:cxn>
                  <a:cxn ang="0">
                    <a:pos x="70" y="17"/>
                  </a:cxn>
                  <a:cxn ang="0">
                    <a:pos x="48" y="3"/>
                  </a:cxn>
                  <a:cxn ang="0">
                    <a:pos x="19" y="32"/>
                  </a:cxn>
                  <a:cxn ang="0">
                    <a:pos x="21" y="37"/>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prstDash val="solid"/>
                <a:round/>
                <a:headEnd/>
                <a:tailEnd/>
              </a:ln>
            </p:spPr>
            <p:txBody>
              <a:bodyPr/>
              <a:lstStyle/>
              <a:p>
                <a:endParaRPr lang="zh-CN" altLang="en-US"/>
              </a:p>
            </p:txBody>
          </p:sp>
          <p:sp>
            <p:nvSpPr>
              <p:cNvPr id="84211" name="Freeform 243"/>
              <p:cNvSpPr>
                <a:spLocks/>
              </p:cNvSpPr>
              <p:nvPr/>
            </p:nvSpPr>
            <p:spPr bwMode="auto">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prstDash val="solid"/>
                <a:round/>
                <a:headEnd/>
                <a:tailEnd/>
              </a:ln>
            </p:spPr>
            <p:txBody>
              <a:bodyPr/>
              <a:lstStyle/>
              <a:p>
                <a:endParaRPr lang="zh-CN" altLang="en-US"/>
              </a:p>
            </p:txBody>
          </p:sp>
          <p:sp>
            <p:nvSpPr>
              <p:cNvPr id="84212" name="Freeform 244"/>
              <p:cNvSpPr>
                <a:spLocks/>
              </p:cNvSpPr>
              <p:nvPr/>
            </p:nvSpPr>
            <p:spPr bwMode="auto">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prstDash val="solid"/>
                <a:round/>
                <a:headEnd/>
                <a:tailEnd/>
              </a:ln>
            </p:spPr>
            <p:txBody>
              <a:bodyPr/>
              <a:lstStyle/>
              <a:p>
                <a:endParaRPr lang="zh-CN" altLang="en-US"/>
              </a:p>
            </p:txBody>
          </p:sp>
          <p:sp>
            <p:nvSpPr>
              <p:cNvPr id="84213" name="Freeform 245"/>
              <p:cNvSpPr>
                <a:spLocks/>
              </p:cNvSpPr>
              <p:nvPr/>
            </p:nvSpPr>
            <p:spPr bwMode="auto">
              <a:xfrm>
                <a:off x="5077" y="1540"/>
                <a:ext cx="567" cy="146"/>
              </a:xfrm>
              <a:custGeom>
                <a:avLst/>
                <a:gdLst/>
                <a:ahLst/>
                <a:cxnLst>
                  <a:cxn ang="0">
                    <a:pos x="98" y="19"/>
                  </a:cxn>
                  <a:cxn ang="0">
                    <a:pos x="103" y="4"/>
                  </a:cxn>
                  <a:cxn ang="0">
                    <a:pos x="74" y="10"/>
                  </a:cxn>
                  <a:cxn ang="0">
                    <a:pos x="36" y="6"/>
                  </a:cxn>
                  <a:cxn ang="0">
                    <a:pos x="2" y="4"/>
                  </a:cxn>
                  <a:cxn ang="0">
                    <a:pos x="98" y="19"/>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prstDash val="solid"/>
                <a:round/>
                <a:headEnd/>
                <a:tailEnd/>
              </a:ln>
            </p:spPr>
            <p:txBody>
              <a:bodyPr/>
              <a:lstStyle/>
              <a:p>
                <a:endParaRPr lang="zh-CN" altLang="en-US"/>
              </a:p>
            </p:txBody>
          </p:sp>
          <p:sp>
            <p:nvSpPr>
              <p:cNvPr id="84214" name="Freeform 246"/>
              <p:cNvSpPr>
                <a:spLocks/>
              </p:cNvSpPr>
              <p:nvPr/>
            </p:nvSpPr>
            <p:spPr bwMode="auto">
              <a:xfrm>
                <a:off x="5042" y="1656"/>
                <a:ext cx="581"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prstDash val="solid"/>
                <a:round/>
                <a:headEnd/>
                <a:tailEnd/>
              </a:ln>
            </p:spPr>
            <p:txBody>
              <a:bodyPr/>
              <a:lstStyle/>
              <a:p>
                <a:endParaRPr lang="zh-CN" altLang="en-US"/>
              </a:p>
            </p:txBody>
          </p:sp>
          <p:sp>
            <p:nvSpPr>
              <p:cNvPr id="84215" name="Freeform 247"/>
              <p:cNvSpPr>
                <a:spLocks/>
              </p:cNvSpPr>
              <p:nvPr/>
            </p:nvSpPr>
            <p:spPr bwMode="auto">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prstDash val="solid"/>
                <a:round/>
                <a:headEnd/>
                <a:tailEnd/>
              </a:ln>
            </p:spPr>
            <p:txBody>
              <a:bodyPr/>
              <a:lstStyle/>
              <a:p>
                <a:endParaRPr lang="zh-CN" altLang="en-US"/>
              </a:p>
            </p:txBody>
          </p:sp>
        </p:grpSp>
      </p:grpSp>
      <p:sp>
        <p:nvSpPr>
          <p:cNvPr id="84216" name="Rectangle 248"/>
          <p:cNvSpPr>
            <a:spLocks noGrp="1" noRot="1" noChangeArrowheads="1"/>
          </p:cNvSpPr>
          <p:nvPr>
            <p:ph type="title"/>
          </p:nvPr>
        </p:nvSpPr>
        <p:spPr bwMode="auto">
          <a:xfrm>
            <a:off x="298450" y="228600"/>
            <a:ext cx="854075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4217" name="Rectangle 249"/>
          <p:cNvSpPr>
            <a:spLocks noGrp="1" noRot="1" noChangeArrowheads="1"/>
          </p:cNvSpPr>
          <p:nvPr>
            <p:ph type="body" idx="1"/>
          </p:nvPr>
        </p:nvSpPr>
        <p:spPr bwMode="auto">
          <a:xfrm>
            <a:off x="609600" y="1600200"/>
            <a:ext cx="8153400" cy="4498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4218" name="Rectangle 250"/>
          <p:cNvSpPr>
            <a:spLocks noGrp="1" noChangeArrowheads="1"/>
          </p:cNvSpPr>
          <p:nvPr>
            <p:ph type="dt" sz="half" idx="2"/>
          </p:nvPr>
        </p:nvSpPr>
        <p:spPr bwMode="auto">
          <a:xfrm>
            <a:off x="29845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84219" name="Rectangle 251"/>
          <p:cNvSpPr>
            <a:spLocks noGrp="1" noChangeArrowheads="1"/>
          </p:cNvSpPr>
          <p:nvPr>
            <p:ph type="ftr" sz="quarter" idx="3"/>
          </p:nvPr>
        </p:nvSpPr>
        <p:spPr bwMode="auto">
          <a:xfrm>
            <a:off x="3121025"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84220" name="Rectangle 252"/>
          <p:cNvSpPr>
            <a:spLocks noGrp="1" noChangeArrowheads="1"/>
          </p:cNvSpPr>
          <p:nvPr>
            <p:ph type="sldNum" sz="quarter" idx="4"/>
          </p:nvPr>
        </p:nvSpPr>
        <p:spPr bwMode="auto">
          <a:xfrm>
            <a:off x="65500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22FFA49-D06F-4496-8BBD-017C761ACF7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ea typeface="宋体" pitchFamily="2" charset="-122"/>
        </a:defRPr>
      </a:lvl2pPr>
      <a:lvl3pPr algn="ctr" rtl="0" fontAlgn="base">
        <a:spcBef>
          <a:spcPct val="0"/>
        </a:spcBef>
        <a:spcAft>
          <a:spcPct val="0"/>
        </a:spcAft>
        <a:defRPr sz="4400">
          <a:solidFill>
            <a:schemeClr val="tx2"/>
          </a:solidFill>
          <a:latin typeface="Arial" pitchFamily="34" charset="0"/>
          <a:ea typeface="宋体" pitchFamily="2" charset="-122"/>
        </a:defRPr>
      </a:lvl3pPr>
      <a:lvl4pPr algn="ctr" rtl="0" fontAlgn="base">
        <a:spcBef>
          <a:spcPct val="0"/>
        </a:spcBef>
        <a:spcAft>
          <a:spcPct val="0"/>
        </a:spcAft>
        <a:defRPr sz="4400">
          <a:solidFill>
            <a:schemeClr val="tx2"/>
          </a:solidFill>
          <a:latin typeface="Arial" pitchFamily="34" charset="0"/>
          <a:ea typeface="宋体" pitchFamily="2" charset="-122"/>
        </a:defRPr>
      </a:lvl4pPr>
      <a:lvl5pPr algn="ctr" rtl="0" fontAlgn="base">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fontAlgn="base">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fontAlgn="base">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3"/>
          <p:cNvSpPr>
            <a:spLocks noGrp="1" noRot="1" noChangeArrowheads="1"/>
          </p:cNvSpPr>
          <p:nvPr>
            <p:ph type="body" idx="1"/>
          </p:nvPr>
        </p:nvSpPr>
        <p:spPr>
          <a:xfrm>
            <a:off x="609600" y="714356"/>
            <a:ext cx="8153400" cy="5384819"/>
          </a:xfrm>
        </p:spPr>
        <p:txBody>
          <a:bodyPr/>
          <a:lstStyle/>
          <a:p>
            <a:pPr>
              <a:lnSpc>
                <a:spcPct val="150000"/>
              </a:lnSpc>
              <a:buNone/>
            </a:pPr>
            <a:r>
              <a:rPr lang="en-US" altLang="zh-CN" dirty="0"/>
              <a:t>                 </a:t>
            </a:r>
          </a:p>
          <a:p>
            <a:pPr>
              <a:lnSpc>
                <a:spcPct val="150000"/>
              </a:lnSpc>
              <a:buNone/>
            </a:pPr>
            <a:endParaRPr lang="en-US" altLang="zh-CN" sz="3600" dirty="0">
              <a:solidFill>
                <a:srgbClr val="FF0000"/>
              </a:solidFill>
              <a:effectLst>
                <a:outerShdw blurRad="38100" dist="38100" dir="2700000" algn="tl">
                  <a:srgbClr val="000000">
                    <a:alpha val="43137"/>
                  </a:srgbClr>
                </a:outerShdw>
              </a:effectLst>
              <a:latin typeface="黑体" pitchFamily="49" charset="-122"/>
              <a:ea typeface="黑体" pitchFamily="49" charset="-122"/>
            </a:endParaRPr>
          </a:p>
          <a:p>
            <a:pPr>
              <a:lnSpc>
                <a:spcPct val="150000"/>
              </a:lnSpc>
              <a:buNone/>
            </a:pPr>
            <a:r>
              <a:rPr lang="en-US" altLang="zh-CN" sz="3600" dirty="0">
                <a:solidFill>
                  <a:srgbClr val="FF0000"/>
                </a:solidFill>
                <a:effectLst>
                  <a:outerShdw blurRad="38100" dist="38100" dir="2700000" algn="tl">
                    <a:srgbClr val="000000">
                      <a:alpha val="43137"/>
                    </a:srgbClr>
                  </a:outerShdw>
                </a:effectLst>
                <a:latin typeface="黑体" pitchFamily="49" charset="-122"/>
                <a:ea typeface="黑体" pitchFamily="49" charset="-122"/>
              </a:rPr>
              <a:t>        </a:t>
            </a:r>
            <a:r>
              <a:rPr lang="zh-CN" altLang="en-US" sz="3600" dirty="0">
                <a:solidFill>
                  <a:srgbClr val="FF0000"/>
                </a:solidFill>
                <a:effectLst>
                  <a:outerShdw blurRad="38100" dist="38100" dir="2700000" algn="tl">
                    <a:srgbClr val="000000">
                      <a:alpha val="43137"/>
                    </a:srgbClr>
                  </a:outerShdw>
                </a:effectLst>
                <a:latin typeface="黑体" pitchFamily="49" charset="-122"/>
                <a:ea typeface="黑体" pitchFamily="49" charset="-122"/>
              </a:rPr>
              <a:t>第</a:t>
            </a:r>
            <a:r>
              <a:rPr lang="en-US" altLang="zh-CN" sz="3600" dirty="0">
                <a:solidFill>
                  <a:srgbClr val="FF0000"/>
                </a:solidFill>
                <a:effectLst>
                  <a:outerShdw blurRad="38100" dist="38100" dir="2700000" algn="tl">
                    <a:srgbClr val="000000">
                      <a:alpha val="43137"/>
                    </a:srgbClr>
                  </a:outerShdw>
                </a:effectLst>
                <a:latin typeface="黑体" pitchFamily="49" charset="-122"/>
                <a:ea typeface="黑体" pitchFamily="49" charset="-122"/>
              </a:rPr>
              <a:t>15</a:t>
            </a:r>
            <a:r>
              <a:rPr lang="zh-CN" altLang="en-US" sz="3600" dirty="0">
                <a:solidFill>
                  <a:srgbClr val="FF0000"/>
                </a:solidFill>
                <a:effectLst>
                  <a:outerShdw blurRad="38100" dist="38100" dir="2700000" algn="tl">
                    <a:srgbClr val="000000">
                      <a:alpha val="43137"/>
                    </a:srgbClr>
                  </a:outerShdw>
                </a:effectLst>
                <a:latin typeface="黑体" pitchFamily="49" charset="-122"/>
                <a:ea typeface="黑体" pitchFamily="49" charset="-122"/>
              </a:rPr>
              <a:t>章 自然语言处理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403049" y="571480"/>
            <a:ext cx="8262966" cy="5527695"/>
          </a:xfrm>
        </p:spPr>
        <p:txBody>
          <a:bodyPr/>
          <a:lstStyle/>
          <a:p>
            <a:pPr>
              <a:buNone/>
            </a:pPr>
            <a:r>
              <a:rPr lang="zh-CN" altLang="en-US" sz="2800" dirty="0">
                <a:latin typeface="Times New Roman" pitchFamily="18" charset="0"/>
                <a:cs typeface="Times New Roman" pitchFamily="18" charset="0"/>
              </a:rPr>
              <a:t>  神经语言模型</a:t>
            </a:r>
          </a:p>
          <a:p>
            <a:pPr>
              <a:lnSpc>
                <a:spcPct val="150000"/>
              </a:lnSpc>
              <a:buNone/>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15.4.1 </a:t>
            </a:r>
            <a:r>
              <a:rPr lang="zh-CN" altLang="en-US" sz="2400" dirty="0">
                <a:latin typeface="Times New Roman" pitchFamily="18" charset="0"/>
                <a:cs typeface="Times New Roman" pitchFamily="18" charset="0"/>
              </a:rPr>
              <a:t>词元与编码</a:t>
            </a:r>
            <a:endParaRPr lang="en-US" altLang="zh-CN" sz="2400" dirty="0">
              <a:latin typeface="Times New Roman" pitchFamily="18" charset="0"/>
              <a:cs typeface="Times New Roman" pitchFamily="18" charset="0"/>
            </a:endParaRPr>
          </a:p>
          <a:p>
            <a:pPr>
              <a:lnSpc>
                <a:spcPct val="120000"/>
              </a:lnSpc>
              <a:buNone/>
            </a:pPr>
            <a:r>
              <a:rPr lang="zh-CN" altLang="en-US" sz="2200" dirty="0">
                <a:latin typeface="Times New Roman" pitchFamily="18" charset="0"/>
                <a:cs typeface="Times New Roman" pitchFamily="18" charset="0"/>
              </a:rPr>
              <a:t>     分词，将一个句子切分成一个个具有独立语义的称为词元（</a:t>
            </a:r>
            <a:r>
              <a:rPr lang="en-US" sz="2200" dirty="0">
                <a:latin typeface="Times New Roman" pitchFamily="18" charset="0"/>
                <a:cs typeface="Times New Roman" pitchFamily="18" charset="0"/>
              </a:rPr>
              <a:t>token</a:t>
            </a:r>
            <a:r>
              <a:rPr lang="zh-CN" altLang="en-US" sz="2200" dirty="0">
                <a:latin typeface="Times New Roman" pitchFamily="18" charset="0"/>
                <a:cs typeface="Times New Roman" pitchFamily="18" charset="0"/>
              </a:rPr>
              <a:t>）的语言符号片段，作为后续处理的基本单位。词元主要是单词或子词（一个词的组成部分），也包括其他字符，如标点符号、数学符号、化学符号、表意符号等等。</a:t>
            </a:r>
          </a:p>
          <a:p>
            <a:pPr>
              <a:lnSpc>
                <a:spcPct val="150000"/>
              </a:lnSpc>
              <a:buNone/>
            </a:pPr>
            <a:r>
              <a:rPr lang="en-US" sz="2400" b="1" dirty="0">
                <a:latin typeface="Times New Roman" pitchFamily="18" charset="0"/>
                <a:cs typeface="Times New Roman" pitchFamily="18" charset="0"/>
              </a:rPr>
              <a:t>    1.  one-hot</a:t>
            </a:r>
            <a:r>
              <a:rPr lang="zh-CN" altLang="en-US" sz="2400" b="1" dirty="0">
                <a:latin typeface="Times New Roman" pitchFamily="18" charset="0"/>
                <a:cs typeface="Times New Roman" pitchFamily="18" charset="0"/>
              </a:rPr>
              <a:t>（独热或单热）编码</a:t>
            </a:r>
            <a:r>
              <a:rPr lang="en-US" sz="2400" b="1" dirty="0">
                <a:latin typeface="Times New Roman" pitchFamily="18" charset="0"/>
                <a:cs typeface="Times New Roman" pitchFamily="18" charset="0"/>
              </a:rPr>
              <a:t> </a:t>
            </a:r>
            <a:endParaRPr lang="zh-CN" altLang="en-US" sz="2400" dirty="0">
              <a:latin typeface="Times New Roman" pitchFamily="18" charset="0"/>
              <a:cs typeface="Times New Roman" pitchFamily="18" charset="0"/>
            </a:endParaRPr>
          </a:p>
          <a:p>
            <a:pPr>
              <a:lnSpc>
                <a:spcPct val="120000"/>
              </a:lnSpc>
              <a:buNone/>
            </a:pPr>
            <a:r>
              <a:rPr lang="zh-CN" altLang="en-US" sz="2200" dirty="0">
                <a:latin typeface="Times New Roman" pitchFamily="18" charset="0"/>
                <a:cs typeface="Times New Roman" pitchFamily="18" charset="0"/>
              </a:rPr>
              <a:t>    设有词元表（亦称词表或词典）</a:t>
            </a:r>
            <a:r>
              <a:rPr lang="en-US" sz="2200" i="1" dirty="0">
                <a:latin typeface="Times New Roman" pitchFamily="18" charset="0"/>
                <a:cs typeface="Times New Roman" pitchFamily="18" charset="0"/>
              </a:rPr>
              <a:t>V </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 w</a:t>
            </a:r>
            <a:r>
              <a:rPr lang="en-US" sz="2200" baseline="-25000" dirty="0">
                <a:latin typeface="Times New Roman" pitchFamily="18" charset="0"/>
                <a:cs typeface="Times New Roman" pitchFamily="18" charset="0"/>
              </a:rPr>
              <a:t>1</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w</a:t>
            </a:r>
            <a:r>
              <a:rPr lang="en-US" sz="2200" baseline="-25000" dirty="0">
                <a:latin typeface="Times New Roman" pitchFamily="18" charset="0"/>
                <a:cs typeface="Times New Roman" pitchFamily="18" charset="0"/>
              </a:rPr>
              <a:t>2</a:t>
            </a:r>
            <a:r>
              <a:rPr lang="en-US" sz="2200" dirty="0">
                <a:latin typeface="Times New Roman" pitchFamily="18" charset="0"/>
                <a:cs typeface="Times New Roman" pitchFamily="18" charset="0"/>
              </a:rPr>
              <a:t>, ..., </a:t>
            </a:r>
            <a:r>
              <a:rPr lang="en-US" sz="2200" i="1" dirty="0" err="1">
                <a:latin typeface="Times New Roman" pitchFamily="18" charset="0"/>
                <a:cs typeface="Times New Roman" pitchFamily="18" charset="0"/>
              </a:rPr>
              <a:t>w</a:t>
            </a:r>
            <a:r>
              <a:rPr lang="en-US" sz="2200" baseline="-25000" dirty="0" err="1">
                <a:latin typeface="Times New Roman" pitchFamily="18" charset="0"/>
                <a:cs typeface="Times New Roman" pitchFamily="18" charset="0"/>
                <a:sym typeface="Symbol"/>
              </a:rPr>
              <a:t></a:t>
            </a:r>
            <a:r>
              <a:rPr lang="en-US" sz="2200" i="1" baseline="-25000" dirty="0" err="1">
                <a:latin typeface="Times New Roman" pitchFamily="18" charset="0"/>
                <a:cs typeface="Times New Roman" pitchFamily="18" charset="0"/>
              </a:rPr>
              <a:t>V</a:t>
            </a:r>
            <a:r>
              <a:rPr lang="en-US" sz="2200" baseline="-25000" dirty="0">
                <a:latin typeface="Times New Roman" pitchFamily="18" charset="0"/>
                <a:cs typeface="Times New Roman" pitchFamily="18" charset="0"/>
                <a:sym typeface="Symbol"/>
              </a:rPr>
              <a:t></a:t>
            </a:r>
            <a:r>
              <a:rPr lang="en-US"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a:t>
            </a:r>
            <a:r>
              <a:rPr lang="en-US" sz="2200" i="1" dirty="0" err="1">
                <a:latin typeface="Times New Roman" pitchFamily="18" charset="0"/>
                <a:cs typeface="Times New Roman" pitchFamily="18" charset="0"/>
              </a:rPr>
              <a:t>w</a:t>
            </a:r>
            <a:r>
              <a:rPr lang="en-US" sz="2200" i="1" baseline="-25000"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a:t>
            </a:r>
            <a:r>
              <a:rPr lang="en-US" sz="2200" dirty="0">
                <a:latin typeface="Times New Roman" pitchFamily="18" charset="0"/>
                <a:cs typeface="Times New Roman" pitchFamily="18" charset="0"/>
              </a:rPr>
              <a:t> one-hot</a:t>
            </a:r>
            <a:r>
              <a:rPr lang="zh-CN" altLang="en-US" sz="2200" dirty="0">
                <a:latin typeface="Times New Roman" pitchFamily="18" charset="0"/>
                <a:cs typeface="Times New Roman" pitchFamily="18" charset="0"/>
              </a:rPr>
              <a:t>编码就是将</a:t>
            </a:r>
            <a:r>
              <a:rPr lang="en-US" sz="2200" i="1" dirty="0">
                <a:latin typeface="Times New Roman" pitchFamily="18" charset="0"/>
                <a:cs typeface="Times New Roman" pitchFamily="18" charset="0"/>
              </a:rPr>
              <a:t>V</a:t>
            </a:r>
            <a:r>
              <a:rPr lang="zh-CN" altLang="en-US" sz="2200" dirty="0">
                <a:latin typeface="Times New Roman" pitchFamily="18" charset="0"/>
                <a:cs typeface="Times New Roman" pitchFamily="18" charset="0"/>
              </a:rPr>
              <a:t>中第</a:t>
            </a:r>
            <a:r>
              <a:rPr lang="en-US" sz="2200" i="1"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个词元</a:t>
            </a:r>
            <a:r>
              <a:rPr lang="en-US" sz="2200" i="1" dirty="0" err="1">
                <a:latin typeface="Times New Roman" pitchFamily="18" charset="0"/>
                <a:cs typeface="Times New Roman" pitchFamily="18" charset="0"/>
              </a:rPr>
              <a:t>w</a:t>
            </a:r>
            <a:r>
              <a:rPr lang="en-US" sz="2200" i="1" baseline="-25000"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表示为第</a:t>
            </a:r>
            <a:r>
              <a:rPr lang="en-US" sz="2200" i="1"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个分量为</a:t>
            </a:r>
            <a:r>
              <a:rPr lang="en-US" sz="2200" dirty="0">
                <a:latin typeface="Times New Roman" pitchFamily="18" charset="0"/>
                <a:cs typeface="Times New Roman" pitchFamily="18" charset="0"/>
              </a:rPr>
              <a:t>1</a:t>
            </a:r>
            <a:r>
              <a:rPr lang="zh-CN" altLang="en-US" sz="2200" dirty="0">
                <a:latin typeface="Times New Roman" pitchFamily="18" charset="0"/>
                <a:cs typeface="Times New Roman" pitchFamily="18" charset="0"/>
              </a:rPr>
              <a:t>而其余分量皆为</a:t>
            </a:r>
            <a:r>
              <a:rPr lang="en-US" sz="2200" dirty="0">
                <a:latin typeface="Times New Roman" pitchFamily="18" charset="0"/>
                <a:cs typeface="Times New Roman" pitchFamily="18" charset="0"/>
              </a:rPr>
              <a:t>0</a:t>
            </a:r>
            <a:r>
              <a:rPr lang="zh-CN" altLang="en-US" sz="2200" dirty="0">
                <a:latin typeface="Times New Roman" pitchFamily="18" charset="0"/>
                <a:cs typeface="Times New Roman" pitchFamily="18" charset="0"/>
              </a:rPr>
              <a:t>的一个</a:t>
            </a:r>
            <a:r>
              <a:rPr lang="en-US" sz="2200" dirty="0">
                <a:latin typeface="Times New Roman" pitchFamily="18" charset="0"/>
                <a:cs typeface="Times New Roman" pitchFamily="18" charset="0"/>
                <a:sym typeface="Symbol"/>
              </a:rPr>
              <a:t></a:t>
            </a:r>
            <a:r>
              <a:rPr lang="en-US" sz="2200" i="1" dirty="0">
                <a:latin typeface="Times New Roman" pitchFamily="18" charset="0"/>
                <a:cs typeface="Times New Roman" pitchFamily="18" charset="0"/>
              </a:rPr>
              <a:t>V</a:t>
            </a:r>
            <a:r>
              <a:rPr lang="en-US" sz="2200" dirty="0">
                <a:latin typeface="Times New Roman" pitchFamily="18" charset="0"/>
                <a:cs typeface="Times New Roman" pitchFamily="18" charset="0"/>
                <a:sym typeface="Symbol"/>
              </a:rPr>
              <a:t></a:t>
            </a:r>
            <a:r>
              <a:rPr lang="zh-CN" altLang="en-US" sz="2200" dirty="0">
                <a:latin typeface="Times New Roman" pitchFamily="18" charset="0"/>
                <a:cs typeface="Times New Roman" pitchFamily="18" charset="0"/>
              </a:rPr>
              <a:t>维向量：</a:t>
            </a:r>
            <a:r>
              <a:rPr lang="en-US" sz="2200" dirty="0">
                <a:latin typeface="Times New Roman" pitchFamily="18" charset="0"/>
                <a:cs typeface="Times New Roman" pitchFamily="18" charset="0"/>
              </a:rPr>
              <a:t>(0…, 0, 1 , 0, …0)</a:t>
            </a:r>
            <a:endParaRPr lang="zh-CN" altLang="en-US" sz="2200" dirty="0">
              <a:latin typeface="Times New Roman" pitchFamily="18" charset="0"/>
              <a:cs typeface="Times New Roman" pitchFamily="18" charset="0"/>
            </a:endParaRPr>
          </a:p>
          <a:p>
            <a:pPr>
              <a:lnSpc>
                <a:spcPct val="120000"/>
              </a:lnSpc>
              <a:buNone/>
            </a:pPr>
            <a:r>
              <a:rPr lang="en-US" sz="2200" dirty="0">
                <a:latin typeface="Times New Roman" pitchFamily="18" charset="0"/>
                <a:cs typeface="Times New Roman" pitchFamily="18" charset="0"/>
              </a:rPr>
              <a:t>    </a:t>
            </a:r>
            <a:r>
              <a:rPr lang="zh-CN" altLang="en-US" sz="2200" dirty="0">
                <a:latin typeface="Times New Roman" pitchFamily="18" charset="0"/>
                <a:cs typeface="Times New Roman" pitchFamily="18" charset="0"/>
              </a:rPr>
              <a:t>这意味着词元</a:t>
            </a:r>
            <a:r>
              <a:rPr lang="en-US" sz="2200" i="1" dirty="0" err="1">
                <a:latin typeface="Times New Roman" pitchFamily="18" charset="0"/>
                <a:cs typeface="Times New Roman" pitchFamily="18" charset="0"/>
              </a:rPr>
              <a:t>w</a:t>
            </a:r>
            <a:r>
              <a:rPr lang="en-US" sz="2200" i="1" baseline="-25000"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的</a:t>
            </a:r>
            <a:r>
              <a:rPr lang="en-US" sz="2200" dirty="0">
                <a:latin typeface="Times New Roman" pitchFamily="18" charset="0"/>
                <a:cs typeface="Times New Roman" pitchFamily="18" charset="0"/>
              </a:rPr>
              <a:t>one-hot</a:t>
            </a:r>
            <a:r>
              <a:rPr lang="zh-CN" altLang="en-US" sz="2200" dirty="0">
                <a:latin typeface="Times New Roman" pitchFamily="18" charset="0"/>
                <a:cs typeface="Times New Roman" pitchFamily="18" charset="0"/>
              </a:rPr>
              <a:t>编码向量（记为</a:t>
            </a:r>
            <a:r>
              <a:rPr lang="en-US" sz="2200" b="1" i="1" dirty="0" err="1">
                <a:latin typeface="Times New Roman" pitchFamily="18" charset="0"/>
                <a:cs typeface="Times New Roman" pitchFamily="18" charset="0"/>
              </a:rPr>
              <a:t>o</a:t>
            </a:r>
            <a:r>
              <a:rPr lang="en-US" sz="2200" i="1" baseline="-25000"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）的维数等于相应词表</a:t>
            </a:r>
            <a:r>
              <a:rPr lang="en-US" sz="2200" i="1" dirty="0">
                <a:latin typeface="Times New Roman" pitchFamily="18" charset="0"/>
                <a:cs typeface="Times New Roman" pitchFamily="18" charset="0"/>
              </a:rPr>
              <a:t>V</a:t>
            </a:r>
            <a:r>
              <a:rPr lang="zh-CN" altLang="en-US" sz="2200" dirty="0">
                <a:latin typeface="Times New Roman" pitchFamily="18" charset="0"/>
                <a:cs typeface="Times New Roman" pitchFamily="18" charset="0"/>
              </a:rPr>
              <a:t>的长度</a:t>
            </a:r>
            <a:r>
              <a:rPr lang="en-US" sz="2200" dirty="0">
                <a:latin typeface="Times New Roman" pitchFamily="18" charset="0"/>
                <a:cs typeface="Times New Roman" pitchFamily="18" charset="0"/>
                <a:sym typeface="Symbol"/>
              </a:rPr>
              <a:t></a:t>
            </a:r>
            <a:r>
              <a:rPr lang="en-US" sz="2200" i="1" dirty="0">
                <a:latin typeface="Times New Roman" pitchFamily="18" charset="0"/>
                <a:cs typeface="Times New Roman" pitchFamily="18" charset="0"/>
              </a:rPr>
              <a:t>V</a:t>
            </a:r>
            <a:r>
              <a:rPr lang="en-US" sz="2200" dirty="0">
                <a:latin typeface="Times New Roman" pitchFamily="18" charset="0"/>
                <a:cs typeface="Times New Roman" pitchFamily="18" charset="0"/>
                <a:sym typeface="Symbol"/>
              </a:rPr>
              <a:t></a:t>
            </a:r>
            <a:r>
              <a:rPr lang="zh-CN" altLang="en-US" sz="2200" dirty="0">
                <a:latin typeface="Times New Roman" pitchFamily="18" charset="0"/>
                <a:cs typeface="Times New Roman" pitchFamily="18" charset="0"/>
              </a:rPr>
              <a:t>。</a:t>
            </a:r>
          </a:p>
          <a:p>
            <a:pPr>
              <a:buNone/>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714347" y="571481"/>
            <a:ext cx="7951667" cy="1857388"/>
          </a:xfrm>
        </p:spPr>
        <p:txBody>
          <a:bodyPr/>
          <a:lstStyle/>
          <a:p>
            <a:pPr>
              <a:lnSpc>
                <a:spcPct val="120000"/>
              </a:lnSpc>
              <a:buNone/>
            </a:pPr>
            <a:r>
              <a:rPr lang="zh-CN" altLang="en-US" sz="2200" dirty="0">
                <a:latin typeface="Times New Roman" pitchFamily="18" charset="0"/>
                <a:cs typeface="Times New Roman" pitchFamily="18" charset="0"/>
              </a:rPr>
              <a:t>原词表</a:t>
            </a:r>
            <a:r>
              <a:rPr lang="en-US" sz="2200" i="1" dirty="0">
                <a:latin typeface="Times New Roman" pitchFamily="18" charset="0"/>
                <a:cs typeface="Times New Roman" pitchFamily="18" charset="0"/>
              </a:rPr>
              <a:t>V</a:t>
            </a:r>
            <a:r>
              <a:rPr lang="zh-CN" altLang="en-US" sz="2200" dirty="0">
                <a:latin typeface="Times New Roman" pitchFamily="18" charset="0"/>
                <a:cs typeface="Times New Roman" pitchFamily="18" charset="0"/>
              </a:rPr>
              <a:t>也就被编码为一个</a:t>
            </a:r>
            <a:r>
              <a:rPr lang="en-US" sz="2200" dirty="0">
                <a:latin typeface="Times New Roman" pitchFamily="18" charset="0"/>
                <a:cs typeface="Times New Roman" pitchFamily="18" charset="0"/>
                <a:sym typeface="Symbol"/>
              </a:rPr>
              <a:t></a:t>
            </a:r>
            <a:r>
              <a:rPr lang="en-US" sz="2200" i="1" dirty="0">
                <a:latin typeface="Times New Roman" pitchFamily="18" charset="0"/>
                <a:cs typeface="Times New Roman" pitchFamily="18" charset="0"/>
              </a:rPr>
              <a:t>V</a:t>
            </a:r>
            <a:r>
              <a:rPr lang="en-US" sz="2200" dirty="0">
                <a:latin typeface="Times New Roman" pitchFamily="18" charset="0"/>
                <a:cs typeface="Times New Roman" pitchFamily="18" charset="0"/>
                <a:sym typeface="Symbol"/>
              </a:rPr>
              <a:t></a:t>
            </a:r>
            <a:r>
              <a:rPr lang="en-US" sz="2200" i="1" dirty="0">
                <a:latin typeface="Times New Roman" pitchFamily="18" charset="0"/>
                <a:cs typeface="Times New Roman" pitchFamily="18" charset="0"/>
              </a:rPr>
              <a:t>V</a:t>
            </a:r>
            <a:r>
              <a:rPr lang="en-US" sz="2200" dirty="0">
                <a:latin typeface="Times New Roman" pitchFamily="18" charset="0"/>
                <a:cs typeface="Times New Roman" pitchFamily="18" charset="0"/>
                <a:sym typeface="Symbol"/>
              </a:rPr>
              <a:t></a:t>
            </a:r>
            <a:r>
              <a:rPr lang="zh-CN" altLang="en-US" sz="2200" dirty="0">
                <a:latin typeface="Times New Roman" pitchFamily="18" charset="0"/>
                <a:cs typeface="Times New Roman" pitchFamily="18" charset="0"/>
              </a:rPr>
              <a:t>矩阵。这些</a:t>
            </a:r>
            <a:r>
              <a:rPr lang="en-US" sz="2200" dirty="0">
                <a:latin typeface="Times New Roman" pitchFamily="18" charset="0"/>
                <a:cs typeface="Times New Roman" pitchFamily="18" charset="0"/>
              </a:rPr>
              <a:t>one-hot</a:t>
            </a:r>
            <a:r>
              <a:rPr lang="zh-CN" altLang="en-US" sz="2200" dirty="0">
                <a:latin typeface="Times New Roman" pitchFamily="18" charset="0"/>
                <a:cs typeface="Times New Roman" pitchFamily="18" charset="0"/>
              </a:rPr>
              <a:t>码向量也就是</a:t>
            </a:r>
            <a:r>
              <a:rPr lang="en-US" sz="2200" dirty="0">
                <a:latin typeface="Times New Roman" pitchFamily="18" charset="0"/>
                <a:cs typeface="Times New Roman" pitchFamily="18" charset="0"/>
                <a:sym typeface="Symbol"/>
              </a:rPr>
              <a:t></a:t>
            </a:r>
            <a:r>
              <a:rPr lang="en-US" sz="2200" i="1" dirty="0">
                <a:latin typeface="Times New Roman" pitchFamily="18" charset="0"/>
                <a:cs typeface="Times New Roman" pitchFamily="18" charset="0"/>
              </a:rPr>
              <a:t>V</a:t>
            </a:r>
            <a:r>
              <a:rPr lang="en-US" sz="2200" dirty="0">
                <a:latin typeface="Times New Roman" pitchFamily="18" charset="0"/>
                <a:cs typeface="Times New Roman" pitchFamily="18" charset="0"/>
                <a:sym typeface="Symbol"/>
              </a:rPr>
              <a:t></a:t>
            </a:r>
            <a:r>
              <a:rPr lang="zh-CN" altLang="en-US" sz="2200" dirty="0">
                <a:latin typeface="Times New Roman" pitchFamily="18" charset="0"/>
                <a:cs typeface="Times New Roman" pitchFamily="18" charset="0"/>
              </a:rPr>
              <a:t>维实向量空间</a:t>
            </a:r>
            <a:r>
              <a:rPr lang="en-US" sz="2200" b="1" dirty="0">
                <a:latin typeface="Times New Roman" pitchFamily="18" charset="0"/>
                <a:cs typeface="Times New Roman" pitchFamily="18" charset="0"/>
              </a:rPr>
              <a:t>R</a:t>
            </a:r>
            <a:r>
              <a:rPr lang="en-US" sz="2200" baseline="30000" dirty="0">
                <a:latin typeface="Times New Roman" pitchFamily="18" charset="0"/>
                <a:cs typeface="Times New Roman" pitchFamily="18" charset="0"/>
                <a:sym typeface="Symbol"/>
              </a:rPr>
              <a:t></a:t>
            </a:r>
            <a:r>
              <a:rPr lang="en-US" sz="2200" i="1" baseline="30000" dirty="0">
                <a:latin typeface="Times New Roman" pitchFamily="18" charset="0"/>
                <a:cs typeface="Times New Roman" pitchFamily="18" charset="0"/>
              </a:rPr>
              <a:t>V</a:t>
            </a:r>
            <a:r>
              <a:rPr lang="en-US" sz="2200" baseline="30000" dirty="0">
                <a:latin typeface="Times New Roman" pitchFamily="18" charset="0"/>
                <a:cs typeface="Times New Roman" pitchFamily="18" charset="0"/>
                <a:sym typeface="Symbol"/>
              </a:rPr>
              <a:t></a:t>
            </a:r>
            <a:r>
              <a:rPr lang="zh-CN" altLang="en-US" sz="2200" dirty="0">
                <a:latin typeface="Times New Roman" pitchFamily="18" charset="0"/>
                <a:cs typeface="Times New Roman" pitchFamily="18" charset="0"/>
              </a:rPr>
              <a:t>的一个</a:t>
            </a:r>
            <a:r>
              <a:rPr lang="en-US" sz="2200" dirty="0">
                <a:latin typeface="Times New Roman" pitchFamily="18" charset="0"/>
                <a:cs typeface="Times New Roman" pitchFamily="18" charset="0"/>
                <a:sym typeface="Symbol"/>
              </a:rPr>
              <a:t></a:t>
            </a:r>
            <a:r>
              <a:rPr lang="en-US" sz="2200" i="1" dirty="0">
                <a:latin typeface="Times New Roman" pitchFamily="18" charset="0"/>
                <a:cs typeface="Times New Roman" pitchFamily="18" charset="0"/>
              </a:rPr>
              <a:t>V</a:t>
            </a:r>
            <a:r>
              <a:rPr lang="en-US" sz="2200" dirty="0">
                <a:latin typeface="Times New Roman" pitchFamily="18" charset="0"/>
                <a:cs typeface="Times New Roman" pitchFamily="18" charset="0"/>
                <a:sym typeface="Symbol"/>
              </a:rPr>
              <a:t></a:t>
            </a:r>
            <a:r>
              <a:rPr lang="zh-CN" altLang="en-US" sz="2200" dirty="0">
                <a:latin typeface="Times New Roman" pitchFamily="18" charset="0"/>
                <a:cs typeface="Times New Roman" pitchFamily="18" charset="0"/>
              </a:rPr>
              <a:t>维子空间：</a:t>
            </a:r>
          </a:p>
          <a:p>
            <a:pPr>
              <a:lnSpc>
                <a:spcPct val="120000"/>
              </a:lnSpc>
              <a:buNone/>
            </a:pPr>
            <a:r>
              <a:rPr lang="en-US" sz="2200" b="1" dirty="0">
                <a:latin typeface="Times New Roman" pitchFamily="18" charset="0"/>
                <a:cs typeface="Times New Roman" pitchFamily="18" charset="0"/>
              </a:rPr>
              <a:t>R</a:t>
            </a:r>
            <a:r>
              <a:rPr lang="en-US" sz="2200" baseline="30000" dirty="0">
                <a:latin typeface="Times New Roman" pitchFamily="18" charset="0"/>
                <a:cs typeface="Times New Roman" pitchFamily="18" charset="0"/>
              </a:rPr>
              <a:t>(0-1)</a:t>
            </a:r>
            <a:r>
              <a:rPr lang="en-US" sz="2200" dirty="0">
                <a:latin typeface="Times New Roman" pitchFamily="18" charset="0"/>
                <a:cs typeface="Times New Roman" pitchFamily="18" charset="0"/>
              </a:rPr>
              <a:t> </a:t>
            </a:r>
            <a:r>
              <a:rPr lang="en-US" sz="2200" dirty="0">
                <a:latin typeface="Times New Roman" pitchFamily="18" charset="0"/>
                <a:cs typeface="Times New Roman" pitchFamily="18" charset="0"/>
                <a:sym typeface="Symbol"/>
              </a:rPr>
              <a:t></a:t>
            </a:r>
            <a:r>
              <a:rPr lang="en-US" sz="2200" dirty="0">
                <a:latin typeface="Times New Roman" pitchFamily="18" charset="0"/>
                <a:cs typeface="Times New Roman" pitchFamily="18" charset="0"/>
              </a:rPr>
              <a:t>{ (1,0,…,0), (0, 1,0,…,0), (0,0,1,0,…,0), …, (0,0,…,0,1)}</a:t>
            </a:r>
            <a:endParaRPr lang="zh-CN" altLang="en-US" sz="2200" dirty="0">
              <a:latin typeface="Times New Roman" pitchFamily="18" charset="0"/>
              <a:cs typeface="Times New Roman" pitchFamily="18" charset="0"/>
            </a:endParaRPr>
          </a:p>
          <a:p>
            <a:pPr>
              <a:lnSpc>
                <a:spcPct val="120000"/>
              </a:lnSpc>
              <a:buNone/>
            </a:pPr>
            <a:r>
              <a:rPr lang="en-US" sz="2400" b="1" dirty="0">
                <a:latin typeface="Times New Roman" pitchFamily="18" charset="0"/>
                <a:cs typeface="Times New Roman" pitchFamily="18" charset="0"/>
              </a:rPr>
              <a:t>2. </a:t>
            </a:r>
            <a:r>
              <a:rPr lang="zh-CN" altLang="en-US" sz="2400" b="1" dirty="0">
                <a:latin typeface="Times New Roman" pitchFamily="18" charset="0"/>
                <a:cs typeface="Times New Roman" pitchFamily="18" charset="0"/>
              </a:rPr>
              <a:t>词嵌入编码</a:t>
            </a:r>
            <a:r>
              <a:rPr lang="en-US" sz="2400" b="1" dirty="0">
                <a:latin typeface="Times New Roman" pitchFamily="18" charset="0"/>
                <a:cs typeface="Times New Roman" pitchFamily="18" charset="0"/>
              </a:rPr>
              <a:t> </a:t>
            </a:r>
            <a:endParaRPr lang="zh-CN" altLang="en-US" sz="2400" dirty="0">
              <a:latin typeface="Times New Roman" pitchFamily="18" charset="0"/>
              <a:cs typeface="Times New Roman" pitchFamily="18" charset="0"/>
            </a:endParaRPr>
          </a:p>
          <a:p>
            <a:pPr>
              <a:buNone/>
            </a:pPr>
            <a:endParaRPr lang="zh-CN" altLang="en-US" dirty="0"/>
          </a:p>
        </p:txBody>
      </p:sp>
      <p:pic>
        <p:nvPicPr>
          <p:cNvPr id="11269" name="Picture 5"/>
          <p:cNvPicPr>
            <a:picLocks noChangeAspect="1" noChangeArrowheads="1"/>
          </p:cNvPicPr>
          <p:nvPr/>
        </p:nvPicPr>
        <p:blipFill>
          <a:blip r:embed="rId2"/>
          <a:srcRect/>
          <a:stretch>
            <a:fillRect/>
          </a:stretch>
        </p:blipFill>
        <p:spPr bwMode="auto">
          <a:xfrm>
            <a:off x="928662" y="2500306"/>
            <a:ext cx="7500989" cy="2214578"/>
          </a:xfrm>
          <a:prstGeom prst="rect">
            <a:avLst/>
          </a:prstGeom>
          <a:noFill/>
          <a:ln w="9525">
            <a:noFill/>
            <a:miter lim="800000"/>
            <a:headEnd/>
            <a:tailEnd/>
          </a:ln>
          <a:effectLst/>
        </p:spPr>
      </p:pic>
      <p:pic>
        <p:nvPicPr>
          <p:cNvPr id="11270" name="Picture 6"/>
          <p:cNvPicPr>
            <a:picLocks noChangeAspect="1" noChangeArrowheads="1"/>
          </p:cNvPicPr>
          <p:nvPr/>
        </p:nvPicPr>
        <p:blipFill>
          <a:blip r:embed="rId3"/>
          <a:srcRect/>
          <a:stretch>
            <a:fillRect/>
          </a:stretch>
        </p:blipFill>
        <p:spPr bwMode="auto">
          <a:xfrm>
            <a:off x="1000100" y="4714884"/>
            <a:ext cx="7143800" cy="1143008"/>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pic>
        <p:nvPicPr>
          <p:cNvPr id="1026" name="Picture 2"/>
          <p:cNvPicPr>
            <a:picLocks noChangeAspect="1" noChangeArrowheads="1"/>
          </p:cNvPicPr>
          <p:nvPr/>
        </p:nvPicPr>
        <p:blipFill>
          <a:blip r:embed="rId3"/>
          <a:srcRect/>
          <a:stretch>
            <a:fillRect/>
          </a:stretch>
        </p:blipFill>
        <p:spPr bwMode="auto">
          <a:xfrm>
            <a:off x="285720" y="500042"/>
            <a:ext cx="8572560" cy="564360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sp>
        <p:nvSpPr>
          <p:cNvPr id="5" name="内容占位符 4"/>
          <p:cNvSpPr>
            <a:spLocks noGrp="1"/>
          </p:cNvSpPr>
          <p:nvPr>
            <p:ph idx="1"/>
          </p:nvPr>
        </p:nvSpPr>
        <p:spPr>
          <a:xfrm>
            <a:off x="428596" y="642918"/>
            <a:ext cx="7929618" cy="5599874"/>
          </a:xfrm>
        </p:spPr>
        <p:txBody>
          <a:bodyPr/>
          <a:lstStyle/>
          <a:p>
            <a:pPr>
              <a:lnSpc>
                <a:spcPct val="150000"/>
              </a:lnSpc>
            </a:pPr>
            <a:r>
              <a:rPr lang="zh-CN" altLang="en-US" sz="2300" dirty="0">
                <a:solidFill>
                  <a:srgbClr val="00B0F0"/>
                </a:solidFill>
                <a:latin typeface="Times New Roman" pitchFamily="18" charset="0"/>
                <a:cs typeface="Times New Roman" pitchFamily="18" charset="0"/>
              </a:rPr>
              <a:t>可把一个</a:t>
            </a:r>
            <a:r>
              <a:rPr lang="en-US" sz="2300" dirty="0">
                <a:solidFill>
                  <a:srgbClr val="00B0F0"/>
                </a:solidFill>
                <a:latin typeface="Times New Roman" pitchFamily="18" charset="0"/>
                <a:cs typeface="Times New Roman" pitchFamily="18" charset="0"/>
              </a:rPr>
              <a:t>one-hot</a:t>
            </a:r>
            <a:r>
              <a:rPr lang="zh-CN" altLang="en-US" sz="2300" dirty="0">
                <a:solidFill>
                  <a:srgbClr val="00B0F0"/>
                </a:solidFill>
                <a:latin typeface="Times New Roman" pitchFamily="18" charset="0"/>
                <a:cs typeface="Times New Roman" pitchFamily="18" charset="0"/>
              </a:rPr>
              <a:t>码向量看作一个</a:t>
            </a:r>
            <a:r>
              <a:rPr lang="en-US" sz="23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V</a:t>
            </a:r>
            <a:r>
              <a:rPr lang="en-US" sz="2300" dirty="0">
                <a:solidFill>
                  <a:srgbClr val="00B0F0"/>
                </a:solidFill>
                <a:latin typeface="Times New Roman" pitchFamily="18" charset="0"/>
                <a:cs typeface="Times New Roman" pitchFamily="18" charset="0"/>
                <a:sym typeface="Symbol"/>
              </a:rPr>
              <a:t></a:t>
            </a:r>
            <a:r>
              <a:rPr lang="zh-CN" altLang="en-US" sz="2300" dirty="0">
                <a:solidFill>
                  <a:srgbClr val="00B0F0"/>
                </a:solidFill>
                <a:latin typeface="Times New Roman" pitchFamily="18" charset="0"/>
                <a:cs typeface="Times New Roman" pitchFamily="18" charset="0"/>
              </a:rPr>
              <a:t>矩阵，然后与词向量表所形成的</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V</a:t>
            </a:r>
            <a:r>
              <a:rPr lang="en-US" sz="2300" dirty="0">
                <a:solidFill>
                  <a:srgbClr val="00B0F0"/>
                </a:solidFill>
                <a:latin typeface="Times New Roman" pitchFamily="18" charset="0"/>
                <a:cs typeface="Times New Roman" pitchFamily="18" charset="0"/>
                <a:sym typeface="Symbol"/>
              </a:rPr>
              <a:t></a:t>
            </a:r>
            <a:r>
              <a:rPr lang="en-US" sz="2300" dirty="0">
                <a:solidFill>
                  <a:srgbClr val="00B0F0"/>
                </a:solidFill>
                <a:latin typeface="Times New Roman" pitchFamily="18" charset="0"/>
                <a:cs typeface="Times New Roman" pitchFamily="18" charset="0"/>
              </a:rPr>
              <a:t> </a:t>
            </a:r>
            <a:r>
              <a:rPr lang="en-US" sz="2300" i="1" dirty="0">
                <a:solidFill>
                  <a:srgbClr val="00B0F0"/>
                </a:solidFill>
                <a:latin typeface="Times New Roman" pitchFamily="18" charset="0"/>
                <a:cs typeface="Times New Roman" pitchFamily="18" charset="0"/>
              </a:rPr>
              <a:t>m</a:t>
            </a:r>
            <a:r>
              <a:rPr lang="zh-CN" altLang="en-US" sz="2300" dirty="0">
                <a:solidFill>
                  <a:srgbClr val="00B0F0"/>
                </a:solidFill>
                <a:latin typeface="Times New Roman" pitchFamily="18" charset="0"/>
                <a:cs typeface="Times New Roman" pitchFamily="18" charset="0"/>
              </a:rPr>
              <a:t>矩阵做矩阵乘法运算，那么由</a:t>
            </a:r>
            <a:r>
              <a:rPr lang="en-US" sz="2300" dirty="0">
                <a:solidFill>
                  <a:srgbClr val="00B0F0"/>
                </a:solidFill>
                <a:latin typeface="Times New Roman" pitchFamily="18" charset="0"/>
                <a:cs typeface="Times New Roman" pitchFamily="18" charset="0"/>
              </a:rPr>
              <a:t>one-hot</a:t>
            </a:r>
            <a:r>
              <a:rPr lang="zh-CN" altLang="en-US" sz="2300" dirty="0">
                <a:solidFill>
                  <a:srgbClr val="00B0F0"/>
                </a:solidFill>
                <a:latin typeface="Times New Roman" pitchFamily="18" charset="0"/>
                <a:cs typeface="Times New Roman" pitchFamily="18" charset="0"/>
              </a:rPr>
              <a:t>码向量的特点，</a:t>
            </a:r>
            <a:r>
              <a:rPr lang="zh-CN" altLang="en-US" sz="2300" dirty="0">
                <a:solidFill>
                  <a:srgbClr val="FF0000"/>
                </a:solidFill>
                <a:latin typeface="Times New Roman" pitchFamily="18" charset="0"/>
                <a:cs typeface="Times New Roman" pitchFamily="18" charset="0"/>
              </a:rPr>
              <a:t>所得结果恰好就是相应词元的</a:t>
            </a:r>
            <a:r>
              <a:rPr lang="en-US" sz="2300" i="1" dirty="0">
                <a:solidFill>
                  <a:srgbClr val="FF0000"/>
                </a:solidFill>
                <a:latin typeface="Times New Roman" pitchFamily="18" charset="0"/>
                <a:cs typeface="Times New Roman" pitchFamily="18" charset="0"/>
              </a:rPr>
              <a:t>m</a:t>
            </a:r>
            <a:r>
              <a:rPr lang="zh-CN" altLang="en-US" sz="2300" dirty="0">
                <a:solidFill>
                  <a:srgbClr val="FF0000"/>
                </a:solidFill>
                <a:latin typeface="Times New Roman" pitchFamily="18" charset="0"/>
                <a:cs typeface="Times New Roman" pitchFamily="18" charset="0"/>
              </a:rPr>
              <a:t>维词向量</a:t>
            </a:r>
            <a:r>
              <a:rPr lang="zh-CN" altLang="en-US" sz="2300" dirty="0">
                <a:solidFill>
                  <a:srgbClr val="00B0F0"/>
                </a:solidFill>
                <a:latin typeface="Times New Roman" pitchFamily="18" charset="0"/>
                <a:cs typeface="Times New Roman" pitchFamily="18" charset="0"/>
              </a:rPr>
              <a:t>。</a:t>
            </a:r>
          </a:p>
          <a:p>
            <a:pPr>
              <a:lnSpc>
                <a:spcPct val="150000"/>
              </a:lnSpc>
            </a:pPr>
            <a:r>
              <a:rPr lang="zh-CN" altLang="en-US" sz="2300" dirty="0">
                <a:solidFill>
                  <a:srgbClr val="00B0F0"/>
                </a:solidFill>
                <a:latin typeface="Times New Roman" pitchFamily="18" charset="0"/>
                <a:cs typeface="Times New Roman" pitchFamily="18" charset="0"/>
              </a:rPr>
              <a:t>还需指出，</a:t>
            </a:r>
            <a:r>
              <a:rPr lang="zh-CN" altLang="en-US" sz="2300" dirty="0">
                <a:solidFill>
                  <a:srgbClr val="FF0000"/>
                </a:solidFill>
                <a:latin typeface="Times New Roman" pitchFamily="18" charset="0"/>
                <a:cs typeface="Times New Roman" pitchFamily="18" charset="0"/>
              </a:rPr>
              <a:t>词向量又分为静态词向量和动态词向量</a:t>
            </a:r>
            <a:r>
              <a:rPr lang="zh-CN" altLang="en-US" sz="2300" dirty="0">
                <a:solidFill>
                  <a:srgbClr val="00B0F0"/>
                </a:solidFill>
                <a:latin typeface="Times New Roman" pitchFamily="18" charset="0"/>
                <a:cs typeface="Times New Roman" pitchFamily="18" charset="0"/>
              </a:rPr>
              <a:t>。静态词向量就是固定不变的词向量，而动态词向量则是可以随上下文的变化而变化的词向量。显然，后者能更好地适应一词多义的情形。</a:t>
            </a:r>
            <a:endParaRPr lang="en-US" altLang="zh-CN" sz="2300" dirty="0">
              <a:solidFill>
                <a:srgbClr val="00B0F0"/>
              </a:solidFill>
              <a:latin typeface="Times New Roman" pitchFamily="18" charset="0"/>
              <a:cs typeface="Times New Roman" pitchFamily="18" charset="0"/>
            </a:endParaRPr>
          </a:p>
          <a:p>
            <a:pPr>
              <a:buNone/>
            </a:pP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sp>
        <p:nvSpPr>
          <p:cNvPr id="5" name="内容占位符 4"/>
          <p:cNvSpPr>
            <a:spLocks noGrp="1"/>
          </p:cNvSpPr>
          <p:nvPr>
            <p:ph idx="1"/>
          </p:nvPr>
        </p:nvSpPr>
        <p:spPr>
          <a:xfrm>
            <a:off x="500034" y="571480"/>
            <a:ext cx="7929618" cy="5814188"/>
          </a:xfrm>
        </p:spPr>
        <p:txBody>
          <a:bodyPr/>
          <a:lstStyle/>
          <a:p>
            <a:pPr>
              <a:lnSpc>
                <a:spcPct val="150000"/>
              </a:lnSpc>
              <a:buNone/>
            </a:pPr>
            <a:r>
              <a:rPr lang="zh-CN" altLang="en-US" sz="2300" dirty="0">
                <a:solidFill>
                  <a:srgbClr val="00B0F0"/>
                </a:solidFill>
              </a:rPr>
              <a:t>     </a:t>
            </a:r>
            <a:r>
              <a:rPr lang="zh-CN" altLang="en-US" sz="2300" dirty="0">
                <a:solidFill>
                  <a:srgbClr val="00B0F0"/>
                </a:solidFill>
                <a:latin typeface="Times New Roman" pitchFamily="18" charset="0"/>
                <a:cs typeface="Times New Roman" pitchFamily="18" charset="0"/>
              </a:rPr>
              <a:t>获得</a:t>
            </a:r>
            <a:r>
              <a:rPr lang="zh-CN" altLang="en-US" sz="2300" dirty="0">
                <a:solidFill>
                  <a:srgbClr val="FF0000"/>
                </a:solidFill>
                <a:latin typeface="Times New Roman" pitchFamily="18" charset="0"/>
                <a:cs typeface="Times New Roman" pitchFamily="18" charset="0"/>
              </a:rPr>
              <a:t>词向量的方法仍然是基于神经网络的机器学习</a:t>
            </a:r>
            <a:r>
              <a:rPr lang="zh-CN" altLang="en-US" sz="2300" dirty="0">
                <a:solidFill>
                  <a:srgbClr val="00B0F0"/>
                </a:solidFill>
                <a:latin typeface="Times New Roman" pitchFamily="18" charset="0"/>
                <a:cs typeface="Times New Roman" pitchFamily="18" charset="0"/>
              </a:rPr>
              <a:t>。简单来讲，</a:t>
            </a:r>
            <a:r>
              <a:rPr lang="zh-CN" altLang="en-US" sz="2300" dirty="0">
                <a:solidFill>
                  <a:srgbClr val="FF0000"/>
                </a:solidFill>
                <a:latin typeface="Times New Roman" pitchFamily="18" charset="0"/>
                <a:cs typeface="Times New Roman" pitchFamily="18" charset="0"/>
              </a:rPr>
              <a:t>就是将词向量的分量作为神经网络的权重</a:t>
            </a:r>
            <a:r>
              <a:rPr lang="zh-CN" altLang="en-US" sz="2300" dirty="0">
                <a:solidFill>
                  <a:srgbClr val="00B0F0"/>
                </a:solidFill>
                <a:latin typeface="Times New Roman" pitchFamily="18" charset="0"/>
                <a:cs typeface="Times New Roman" pitchFamily="18" charset="0"/>
              </a:rPr>
              <a:t>，从而整个词向量表就是一个权矩阵，然后利用相关语料来训练该神经网络，从而得到相应的词向量。这样，一个</a:t>
            </a:r>
            <a:r>
              <a:rPr lang="en-US" sz="2300" i="1" dirty="0">
                <a:solidFill>
                  <a:srgbClr val="00B0F0"/>
                </a:solidFill>
                <a:latin typeface="Times New Roman" pitchFamily="18" charset="0"/>
                <a:cs typeface="Times New Roman" pitchFamily="18" charset="0"/>
              </a:rPr>
              <a:t>m</a:t>
            </a:r>
            <a:r>
              <a:rPr lang="zh-CN" altLang="en-US" sz="2300" dirty="0">
                <a:solidFill>
                  <a:srgbClr val="00B0F0"/>
                </a:solidFill>
                <a:latin typeface="Times New Roman" pitchFamily="18" charset="0"/>
                <a:cs typeface="Times New Roman" pitchFamily="18" charset="0"/>
              </a:rPr>
              <a:t>维的词向量就含有</a:t>
            </a:r>
            <a:r>
              <a:rPr lang="en-US" sz="2300" i="1" dirty="0">
                <a:solidFill>
                  <a:srgbClr val="00B0F0"/>
                </a:solidFill>
                <a:latin typeface="Times New Roman" pitchFamily="18" charset="0"/>
                <a:cs typeface="Times New Roman" pitchFamily="18" charset="0"/>
              </a:rPr>
              <a:t>m</a:t>
            </a:r>
            <a:r>
              <a:rPr lang="zh-CN" altLang="en-US" sz="2300" dirty="0">
                <a:solidFill>
                  <a:srgbClr val="00B0F0"/>
                </a:solidFill>
                <a:latin typeface="Times New Roman" pitchFamily="18" charset="0"/>
                <a:cs typeface="Times New Roman" pitchFamily="18" charset="0"/>
              </a:rPr>
              <a:t>个网络模型参数，而整个词向量表就含有</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V</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m</a:t>
            </a:r>
            <a:r>
              <a:rPr lang="zh-CN" altLang="en-US" sz="2300" dirty="0">
                <a:solidFill>
                  <a:srgbClr val="00B0F0"/>
                </a:solidFill>
                <a:latin typeface="Times New Roman" pitchFamily="18" charset="0"/>
                <a:cs typeface="Times New Roman" pitchFamily="18" charset="0"/>
              </a:rPr>
              <a:t>个参数。具体实现时，</a:t>
            </a:r>
            <a:r>
              <a:rPr lang="zh-CN" altLang="en-US" sz="2300" dirty="0">
                <a:solidFill>
                  <a:srgbClr val="FF0000"/>
                </a:solidFill>
                <a:latin typeface="Times New Roman" pitchFamily="18" charset="0"/>
                <a:cs typeface="Times New Roman" pitchFamily="18" charset="0"/>
              </a:rPr>
              <a:t>可以与相应的语言模型集成在一起进行训练，也可以独立训练</a:t>
            </a:r>
            <a:r>
              <a:rPr lang="zh-CN" altLang="en-US" sz="2300" dirty="0">
                <a:solidFill>
                  <a:srgbClr val="00B0F0"/>
                </a:solidFill>
                <a:latin typeface="Times New Roman" pitchFamily="18" charset="0"/>
                <a:cs typeface="Times New Roman" pitchFamily="18" charset="0"/>
              </a:rPr>
              <a:t>。在这方面，研究者们已提出了许多模型和算法，并做成学习软件。著名的静态词向量学习软件有</a:t>
            </a:r>
            <a:r>
              <a:rPr lang="en-US" sz="2300" dirty="0">
                <a:solidFill>
                  <a:srgbClr val="00B0F0"/>
                </a:solidFill>
                <a:latin typeface="Times New Roman" pitchFamily="18" charset="0"/>
                <a:cs typeface="Times New Roman" pitchFamily="18" charset="0"/>
              </a:rPr>
              <a:t>Word2Vec</a:t>
            </a:r>
            <a:r>
              <a:rPr lang="zh-CN" altLang="en-US" sz="2300" dirty="0">
                <a:solidFill>
                  <a:srgbClr val="00B0F0"/>
                </a:solidFill>
                <a:latin typeface="Times New Roman" pitchFamily="18" charset="0"/>
                <a:cs typeface="Times New Roman" pitchFamily="18" charset="0"/>
              </a:rPr>
              <a:t>、</a:t>
            </a:r>
            <a:r>
              <a:rPr lang="en-US" sz="2300" dirty="0" err="1">
                <a:solidFill>
                  <a:srgbClr val="00B0F0"/>
                </a:solidFill>
                <a:latin typeface="Times New Roman" pitchFamily="18" charset="0"/>
                <a:cs typeface="Times New Roman" pitchFamily="18" charset="0"/>
              </a:rPr>
              <a:t>GloVe</a:t>
            </a:r>
            <a:r>
              <a:rPr lang="zh-CN" altLang="en-US" sz="2300" dirty="0">
                <a:solidFill>
                  <a:srgbClr val="00B0F0"/>
                </a:solidFill>
                <a:latin typeface="Times New Roman" pitchFamily="18" charset="0"/>
                <a:cs typeface="Times New Roman" pitchFamily="18" charset="0"/>
              </a:rPr>
              <a:t>、</a:t>
            </a:r>
            <a:r>
              <a:rPr lang="en-US" sz="2300" dirty="0" err="1">
                <a:solidFill>
                  <a:srgbClr val="00B0F0"/>
                </a:solidFill>
                <a:latin typeface="Times New Roman" pitchFamily="18" charset="0"/>
                <a:cs typeface="Times New Roman" pitchFamily="18" charset="0"/>
              </a:rPr>
              <a:t>FastText</a:t>
            </a:r>
            <a:r>
              <a:rPr lang="zh-CN" altLang="en-US" sz="2300" dirty="0">
                <a:solidFill>
                  <a:srgbClr val="00B0F0"/>
                </a:solidFill>
                <a:latin typeface="Times New Roman" pitchFamily="18" charset="0"/>
                <a:cs typeface="Times New Roman" pitchFamily="18" charset="0"/>
              </a:rPr>
              <a:t>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sp>
        <p:nvSpPr>
          <p:cNvPr id="5" name="内容占位符 4"/>
          <p:cNvSpPr>
            <a:spLocks noGrp="1"/>
          </p:cNvSpPr>
          <p:nvPr>
            <p:ph idx="1"/>
          </p:nvPr>
        </p:nvSpPr>
        <p:spPr>
          <a:xfrm>
            <a:off x="500034" y="313438"/>
            <a:ext cx="7929618" cy="1043860"/>
          </a:xfrm>
        </p:spPr>
        <p:txBody>
          <a:bodyPr/>
          <a:lstStyle/>
          <a:p>
            <a:pPr>
              <a:buNone/>
            </a:pPr>
            <a:r>
              <a:rPr lang="en-US" sz="2500" dirty="0">
                <a:latin typeface="黑体" pitchFamily="49" charset="-122"/>
                <a:ea typeface="黑体" pitchFamily="49" charset="-122"/>
              </a:rPr>
              <a:t>15.4.2 </a:t>
            </a:r>
            <a:r>
              <a:rPr lang="zh-CN" altLang="en-US" sz="2500" dirty="0">
                <a:latin typeface="黑体" pitchFamily="49" charset="-122"/>
                <a:ea typeface="黑体" pitchFamily="49" charset="-122"/>
              </a:rPr>
              <a:t>前馈神经网络语言模型</a:t>
            </a:r>
          </a:p>
          <a:p>
            <a:pPr>
              <a:lnSpc>
                <a:spcPct val="150000"/>
              </a:lnSpc>
              <a:buNone/>
            </a:pPr>
            <a:r>
              <a:rPr lang="en-US" sz="2400" dirty="0"/>
              <a:t>1. </a:t>
            </a:r>
            <a:r>
              <a:rPr lang="zh-CN" altLang="en-US" sz="2400" dirty="0">
                <a:latin typeface="楷体" pitchFamily="49" charset="-122"/>
                <a:ea typeface="楷体" pitchFamily="49" charset="-122"/>
              </a:rPr>
              <a:t>网络结构与数据流程</a:t>
            </a:r>
          </a:p>
        </p:txBody>
      </p:sp>
      <p:pic>
        <p:nvPicPr>
          <p:cNvPr id="13315" name="Picture 3"/>
          <p:cNvPicPr>
            <a:picLocks noChangeAspect="1" noChangeArrowheads="1"/>
          </p:cNvPicPr>
          <p:nvPr/>
        </p:nvPicPr>
        <p:blipFill>
          <a:blip r:embed="rId3"/>
          <a:srcRect/>
          <a:stretch>
            <a:fillRect/>
          </a:stretch>
        </p:blipFill>
        <p:spPr bwMode="auto">
          <a:xfrm>
            <a:off x="500034" y="1142984"/>
            <a:ext cx="8215370" cy="5286412"/>
          </a:xfrm>
          <a:prstGeom prst="rect">
            <a:avLst/>
          </a:prstGeom>
          <a:noFill/>
          <a:ln w="9525">
            <a:noFill/>
            <a:miter lim="800000"/>
            <a:headEnd/>
            <a:tailEnd/>
          </a:ln>
          <a:effectLst/>
        </p:spPr>
      </p:pic>
      <p:pic>
        <p:nvPicPr>
          <p:cNvPr id="3" name="图片 2">
            <a:extLst>
              <a:ext uri="{FF2B5EF4-FFF2-40B4-BE49-F238E27FC236}">
                <a16:creationId xmlns:a16="http://schemas.microsoft.com/office/drawing/2014/main" id="{BE9289B2-D4E3-970E-3AF9-7C196852B864}"/>
              </a:ext>
            </a:extLst>
          </p:cNvPr>
          <p:cNvPicPr>
            <a:picLocks noChangeAspect="1"/>
          </p:cNvPicPr>
          <p:nvPr/>
        </p:nvPicPr>
        <p:blipFill>
          <a:blip r:embed="rId4"/>
          <a:stretch>
            <a:fillRect/>
          </a:stretch>
        </p:blipFill>
        <p:spPr>
          <a:xfrm>
            <a:off x="7740352" y="2708920"/>
            <a:ext cx="1330982" cy="12281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sp>
        <p:nvSpPr>
          <p:cNvPr id="5" name="内容占位符 4"/>
          <p:cNvSpPr>
            <a:spLocks noGrp="1"/>
          </p:cNvSpPr>
          <p:nvPr>
            <p:ph idx="1"/>
          </p:nvPr>
        </p:nvSpPr>
        <p:spPr>
          <a:xfrm>
            <a:off x="428596" y="357166"/>
            <a:ext cx="7929618" cy="6072230"/>
          </a:xfrm>
        </p:spPr>
        <p:txBody>
          <a:bodyPr/>
          <a:lstStyle/>
          <a:p>
            <a:pPr>
              <a:lnSpc>
                <a:spcPct val="120000"/>
              </a:lnSpc>
            </a:pPr>
            <a:r>
              <a:rPr lang="zh-CN" altLang="en-US" sz="2300" dirty="0">
                <a:solidFill>
                  <a:srgbClr val="00B0F0"/>
                </a:solidFill>
                <a:latin typeface="Times New Roman" pitchFamily="18" charset="0"/>
                <a:cs typeface="Times New Roman" pitchFamily="18" charset="0"/>
              </a:rPr>
              <a:t>输入层下面</a:t>
            </a:r>
            <a:r>
              <a:rPr lang="zh-CN" altLang="en-US" sz="2300" dirty="0">
                <a:solidFill>
                  <a:srgbClr val="FF0000"/>
                </a:solidFill>
                <a:latin typeface="Times New Roman" pitchFamily="18" charset="0"/>
                <a:cs typeface="Times New Roman" pitchFamily="18" charset="0"/>
              </a:rPr>
              <a:t>小方块表示所求词元</a:t>
            </a:r>
            <a:r>
              <a:rPr lang="en-US" sz="2300" i="1" dirty="0">
                <a:solidFill>
                  <a:srgbClr val="FF0000"/>
                </a:solidFill>
                <a:latin typeface="Times New Roman" pitchFamily="18" charset="0"/>
                <a:cs typeface="Times New Roman" pitchFamily="18" charset="0"/>
              </a:rPr>
              <a:t>w</a:t>
            </a:r>
            <a:r>
              <a:rPr lang="en-US" sz="2300" i="1" baseline="-25000" dirty="0">
                <a:solidFill>
                  <a:srgbClr val="FF0000"/>
                </a:solidFill>
                <a:latin typeface="Times New Roman" pitchFamily="18" charset="0"/>
                <a:cs typeface="Times New Roman" pitchFamily="18" charset="0"/>
              </a:rPr>
              <a:t>t</a:t>
            </a:r>
            <a:r>
              <a:rPr lang="zh-CN" altLang="en-US" sz="2300" dirty="0">
                <a:solidFill>
                  <a:srgbClr val="FF0000"/>
                </a:solidFill>
                <a:latin typeface="Times New Roman" pitchFamily="18" charset="0"/>
                <a:cs typeface="Times New Roman" pitchFamily="18" charset="0"/>
              </a:rPr>
              <a:t>前面依次相邻的</a:t>
            </a:r>
            <a:r>
              <a:rPr lang="en-US" sz="2300" i="1" dirty="0">
                <a:solidFill>
                  <a:srgbClr val="FF0000"/>
                </a:solidFill>
                <a:latin typeface="Times New Roman" pitchFamily="18" charset="0"/>
                <a:cs typeface="Times New Roman" pitchFamily="18" charset="0"/>
              </a:rPr>
              <a:t>n</a:t>
            </a:r>
            <a:r>
              <a:rPr lang="en-US" sz="2300" dirty="0">
                <a:solidFill>
                  <a:srgbClr val="FF0000"/>
                </a:solidFill>
                <a:latin typeface="Times New Roman" pitchFamily="18" charset="0"/>
                <a:cs typeface="Times New Roman" pitchFamily="18" charset="0"/>
                <a:sym typeface="Symbol"/>
              </a:rPr>
              <a:t></a:t>
            </a:r>
            <a:r>
              <a:rPr lang="en-US" sz="2300" dirty="0">
                <a:solidFill>
                  <a:srgbClr val="FF0000"/>
                </a:solidFill>
                <a:latin typeface="Times New Roman" pitchFamily="18" charset="0"/>
                <a:cs typeface="Times New Roman" pitchFamily="18" charset="0"/>
              </a:rPr>
              <a:t>1</a:t>
            </a:r>
            <a:r>
              <a:rPr lang="zh-CN" altLang="en-US" sz="2300" dirty="0">
                <a:solidFill>
                  <a:srgbClr val="FF0000"/>
                </a:solidFill>
                <a:latin typeface="Times New Roman" pitchFamily="18" charset="0"/>
                <a:cs typeface="Times New Roman" pitchFamily="18" charset="0"/>
              </a:rPr>
              <a:t>个词元</a:t>
            </a:r>
            <a:r>
              <a:rPr lang="en-US" sz="2300" i="1" dirty="0">
                <a:solidFill>
                  <a:srgbClr val="00B0F0"/>
                </a:solidFill>
                <a:latin typeface="Times New Roman" pitchFamily="18" charset="0"/>
                <a:cs typeface="Times New Roman" pitchFamily="18" charset="0"/>
              </a:rPr>
              <a:t>w</a:t>
            </a:r>
            <a:r>
              <a:rPr lang="en-US" sz="2300" i="1" baseline="-25000" dirty="0">
                <a:solidFill>
                  <a:srgbClr val="00B0F0"/>
                </a:solidFill>
                <a:latin typeface="Times New Roman" pitchFamily="18" charset="0"/>
                <a:cs typeface="Times New Roman" pitchFamily="18" charset="0"/>
              </a:rPr>
              <a:t>t−n</a:t>
            </a:r>
            <a:r>
              <a:rPr lang="en-US" sz="2300" baseline="-250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rPr>
              <a:t>, …,</a:t>
            </a:r>
            <a:r>
              <a:rPr lang="en-US" sz="2300" i="1" dirty="0">
                <a:solidFill>
                  <a:srgbClr val="00B0F0"/>
                </a:solidFill>
                <a:latin typeface="Times New Roman" pitchFamily="18" charset="0"/>
                <a:cs typeface="Times New Roman" pitchFamily="18" charset="0"/>
              </a:rPr>
              <a:t> w</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2</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 w</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1</a:t>
            </a:r>
            <a:r>
              <a:rPr lang="zh-CN" altLang="en-US" sz="2300" dirty="0">
                <a:solidFill>
                  <a:srgbClr val="00B0F0"/>
                </a:solidFill>
                <a:latin typeface="Times New Roman" pitchFamily="18" charset="0"/>
                <a:cs typeface="Times New Roman" pitchFamily="18" charset="0"/>
              </a:rPr>
              <a:t>的</a:t>
            </a:r>
            <a:r>
              <a:rPr lang="en-US" sz="2300" dirty="0">
                <a:solidFill>
                  <a:srgbClr val="00B0F0"/>
                </a:solidFill>
                <a:latin typeface="Times New Roman" pitchFamily="18" charset="0"/>
                <a:cs typeface="Times New Roman" pitchFamily="18" charset="0"/>
              </a:rPr>
              <a:t>one-hot</a:t>
            </a:r>
            <a:r>
              <a:rPr lang="zh-CN" altLang="en-US" sz="2300" dirty="0">
                <a:solidFill>
                  <a:srgbClr val="00B0F0"/>
                </a:solidFill>
                <a:latin typeface="Times New Roman" pitchFamily="18" charset="0"/>
                <a:cs typeface="Times New Roman" pitchFamily="18" charset="0"/>
              </a:rPr>
              <a:t>编码向量</a:t>
            </a:r>
            <a:r>
              <a:rPr lang="en-US" sz="2300" b="1" i="1" dirty="0">
                <a:solidFill>
                  <a:srgbClr val="00B0F0"/>
                </a:solidFill>
                <a:latin typeface="Times New Roman" pitchFamily="18" charset="0"/>
                <a:cs typeface="Times New Roman" pitchFamily="18" charset="0"/>
              </a:rPr>
              <a:t>o</a:t>
            </a:r>
            <a:r>
              <a:rPr lang="en-US" sz="2300" i="1" baseline="-25000" dirty="0">
                <a:solidFill>
                  <a:srgbClr val="00B0F0"/>
                </a:solidFill>
                <a:latin typeface="Times New Roman" pitchFamily="18" charset="0"/>
                <a:cs typeface="Times New Roman" pitchFamily="18" charset="0"/>
              </a:rPr>
              <a:t>t−n</a:t>
            </a:r>
            <a:r>
              <a:rPr lang="en-US" sz="2300" baseline="-250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rPr>
              <a:t>, …,</a:t>
            </a:r>
            <a:r>
              <a:rPr lang="en-US" sz="2300" i="1" dirty="0">
                <a:solidFill>
                  <a:srgbClr val="00B0F0"/>
                </a:solidFill>
                <a:latin typeface="Times New Roman" pitchFamily="18" charset="0"/>
                <a:cs typeface="Times New Roman" pitchFamily="18" charset="0"/>
              </a:rPr>
              <a:t> </a:t>
            </a:r>
            <a:r>
              <a:rPr lang="en-US" sz="2300" b="1" i="1" dirty="0">
                <a:solidFill>
                  <a:srgbClr val="00B0F0"/>
                </a:solidFill>
                <a:latin typeface="Times New Roman" pitchFamily="18" charset="0"/>
                <a:cs typeface="Times New Roman" pitchFamily="18" charset="0"/>
              </a:rPr>
              <a:t>o</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2</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 </a:t>
            </a:r>
            <a:r>
              <a:rPr lang="en-US" sz="2300" b="1" i="1" dirty="0">
                <a:solidFill>
                  <a:srgbClr val="00B0F0"/>
                </a:solidFill>
                <a:latin typeface="Times New Roman" pitchFamily="18" charset="0"/>
                <a:cs typeface="Times New Roman" pitchFamily="18" charset="0"/>
              </a:rPr>
              <a:t>o</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1</a:t>
            </a:r>
            <a:r>
              <a:rPr lang="zh-CN" altLang="en-US" sz="2300" dirty="0">
                <a:solidFill>
                  <a:srgbClr val="00B0F0"/>
                </a:solidFill>
                <a:latin typeface="Times New Roman" pitchFamily="18" charset="0"/>
                <a:cs typeface="Times New Roman" pitchFamily="18" charset="0"/>
              </a:rPr>
              <a:t>。</a:t>
            </a:r>
          </a:p>
          <a:p>
            <a:pPr>
              <a:lnSpc>
                <a:spcPct val="120000"/>
              </a:lnSpc>
            </a:pPr>
            <a:r>
              <a:rPr lang="zh-CN" altLang="en-US" sz="2300" dirty="0">
                <a:solidFill>
                  <a:srgbClr val="00B0F0"/>
                </a:solidFill>
                <a:latin typeface="Times New Roman" pitchFamily="18" charset="0"/>
                <a:cs typeface="Times New Roman" pitchFamily="18" charset="0"/>
              </a:rPr>
              <a:t>输入层由</a:t>
            </a:r>
            <a:r>
              <a:rPr lang="en-US" sz="2300" i="1" dirty="0">
                <a:solidFill>
                  <a:srgbClr val="00B0F0"/>
                </a:solidFill>
                <a:latin typeface="Times New Roman" pitchFamily="18" charset="0"/>
                <a:cs typeface="Times New Roman" pitchFamily="18" charset="0"/>
              </a:rPr>
              <a:t>n</a:t>
            </a:r>
            <a:r>
              <a:rPr lang="en-US" sz="2300" dirty="0">
                <a:solidFill>
                  <a:srgbClr val="00B0F0"/>
                </a:solidFill>
                <a:latin typeface="Times New Roman" pitchFamily="18" charset="0"/>
                <a:cs typeface="Times New Roman" pitchFamily="18" charset="0"/>
                <a:sym typeface="Symbol"/>
              </a:rPr>
              <a:t></a:t>
            </a:r>
            <a:r>
              <a:rPr lang="en-US" sz="2300" dirty="0">
                <a:solidFill>
                  <a:srgbClr val="00B0F0"/>
                </a:solidFill>
                <a:latin typeface="Times New Roman" pitchFamily="18" charset="0"/>
                <a:cs typeface="Times New Roman" pitchFamily="18" charset="0"/>
              </a:rPr>
              <a:t>1</a:t>
            </a:r>
            <a:r>
              <a:rPr lang="zh-CN" altLang="en-US" sz="2300" dirty="0">
                <a:solidFill>
                  <a:srgbClr val="00B0F0"/>
                </a:solidFill>
                <a:latin typeface="Times New Roman" pitchFamily="18" charset="0"/>
                <a:cs typeface="Times New Roman" pitchFamily="18" charset="0"/>
              </a:rPr>
              <a:t>组神经元组成，自左向右依次对应</a:t>
            </a:r>
            <a:r>
              <a:rPr lang="en-US" sz="2300" i="1" dirty="0">
                <a:solidFill>
                  <a:srgbClr val="00B0F0"/>
                </a:solidFill>
                <a:latin typeface="Times New Roman" pitchFamily="18" charset="0"/>
                <a:cs typeface="Times New Roman" pitchFamily="18" charset="0"/>
              </a:rPr>
              <a:t>m</a:t>
            </a:r>
            <a:r>
              <a:rPr lang="zh-CN" altLang="en-US" sz="2300" dirty="0">
                <a:solidFill>
                  <a:srgbClr val="00B0F0"/>
                </a:solidFill>
                <a:latin typeface="Times New Roman" pitchFamily="18" charset="0"/>
                <a:cs typeface="Times New Roman" pitchFamily="18" charset="0"/>
              </a:rPr>
              <a:t>维词向量</a:t>
            </a:r>
            <a:r>
              <a:rPr lang="en-US" sz="2300" i="1" dirty="0">
                <a:solidFill>
                  <a:srgbClr val="00B0F0"/>
                </a:solidFill>
                <a:latin typeface="Times New Roman" pitchFamily="18" charset="0"/>
                <a:cs typeface="Times New Roman" pitchFamily="18" charset="0"/>
              </a:rPr>
              <a:t>C</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w</a:t>
            </a:r>
            <a:r>
              <a:rPr lang="en-US" sz="2300" i="1" baseline="-25000" dirty="0">
                <a:solidFill>
                  <a:srgbClr val="00B0F0"/>
                </a:solidFill>
                <a:latin typeface="Times New Roman" pitchFamily="18" charset="0"/>
                <a:cs typeface="Times New Roman" pitchFamily="18" charset="0"/>
              </a:rPr>
              <a:t>t−n</a:t>
            </a:r>
            <a:r>
              <a:rPr lang="en-US" sz="2300" baseline="-250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rPr>
              <a:t>)</a:t>
            </a:r>
            <a:r>
              <a:rPr lang="zh-CN" altLang="en-US" sz="2300" i="1"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a:t>
            </a:r>
            <a:r>
              <a:rPr lang="zh-CN" altLang="en-US" sz="2300" i="1"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C</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w</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2</a:t>
            </a:r>
            <a:r>
              <a:rPr lang="en-US" sz="2300" dirty="0">
                <a:solidFill>
                  <a:srgbClr val="00B0F0"/>
                </a:solidFill>
                <a:latin typeface="Times New Roman" pitchFamily="18" charset="0"/>
                <a:cs typeface="Times New Roman" pitchFamily="18" charset="0"/>
              </a:rPr>
              <a:t>)</a:t>
            </a:r>
            <a:r>
              <a:rPr lang="zh-CN" alt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C</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w</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rPr>
              <a:t>)</a:t>
            </a:r>
            <a:r>
              <a:rPr lang="zh-CN" altLang="en-US" sz="2300" dirty="0">
                <a:solidFill>
                  <a:srgbClr val="00B0F0"/>
                </a:solidFill>
                <a:latin typeface="Times New Roman" pitchFamily="18" charset="0"/>
                <a:cs typeface="Times New Roman" pitchFamily="18" charset="0"/>
              </a:rPr>
              <a:t>；这些词向量就是相应词元的</a:t>
            </a:r>
            <a:r>
              <a:rPr lang="en-US" sz="2300" dirty="0">
                <a:solidFill>
                  <a:srgbClr val="00B0F0"/>
                </a:solidFill>
                <a:latin typeface="Times New Roman" pitchFamily="18" charset="0"/>
                <a:cs typeface="Times New Roman" pitchFamily="18" charset="0"/>
              </a:rPr>
              <a:t>one-hot</a:t>
            </a:r>
            <a:r>
              <a:rPr lang="zh-CN" altLang="en-US" sz="2300" dirty="0">
                <a:solidFill>
                  <a:srgbClr val="00B0F0"/>
                </a:solidFill>
                <a:latin typeface="Times New Roman" pitchFamily="18" charset="0"/>
                <a:cs typeface="Times New Roman" pitchFamily="18" charset="0"/>
              </a:rPr>
              <a:t>编码向量所对应的词向量，这时</a:t>
            </a:r>
            <a:r>
              <a:rPr lang="zh-CN" altLang="en-US" sz="2300" dirty="0">
                <a:solidFill>
                  <a:srgbClr val="FF0000"/>
                </a:solidFill>
                <a:latin typeface="Times New Roman" pitchFamily="18" charset="0"/>
                <a:cs typeface="Times New Roman" pitchFamily="18" charset="0"/>
              </a:rPr>
              <a:t>它们实际上已被拼接成了一个</a:t>
            </a:r>
            <a:r>
              <a:rPr lang="en-US" sz="2300" i="1" dirty="0">
                <a:solidFill>
                  <a:srgbClr val="FF0000"/>
                </a:solidFill>
                <a:latin typeface="Times New Roman" pitchFamily="18" charset="0"/>
                <a:cs typeface="Times New Roman" pitchFamily="18" charset="0"/>
              </a:rPr>
              <a:t>m</a:t>
            </a:r>
            <a:r>
              <a:rPr lang="en-US" sz="2300" dirty="0">
                <a:solidFill>
                  <a:srgbClr val="FF0000"/>
                </a:solidFill>
                <a:latin typeface="Times New Roman" pitchFamily="18" charset="0"/>
                <a:cs typeface="Times New Roman" pitchFamily="18" charset="0"/>
                <a:sym typeface="Symbol"/>
              </a:rPr>
              <a:t></a:t>
            </a:r>
            <a:r>
              <a:rPr lang="en-US" sz="2300" dirty="0">
                <a:solidFill>
                  <a:srgbClr val="FF0000"/>
                </a:solidFill>
                <a:latin typeface="Times New Roman" pitchFamily="18" charset="0"/>
                <a:cs typeface="Times New Roman" pitchFamily="18" charset="0"/>
              </a:rPr>
              <a:t>(</a:t>
            </a:r>
            <a:r>
              <a:rPr lang="en-US" sz="2300" i="1" dirty="0">
                <a:solidFill>
                  <a:srgbClr val="FF0000"/>
                </a:solidFill>
                <a:latin typeface="Times New Roman" pitchFamily="18" charset="0"/>
                <a:cs typeface="Times New Roman" pitchFamily="18" charset="0"/>
              </a:rPr>
              <a:t>n</a:t>
            </a:r>
            <a:r>
              <a:rPr lang="en-US" sz="2300" dirty="0">
                <a:solidFill>
                  <a:srgbClr val="FF0000"/>
                </a:solidFill>
                <a:latin typeface="Times New Roman" pitchFamily="18" charset="0"/>
                <a:cs typeface="Times New Roman" pitchFamily="18" charset="0"/>
                <a:sym typeface="Symbol"/>
              </a:rPr>
              <a:t></a:t>
            </a:r>
            <a:r>
              <a:rPr lang="en-US" sz="2300" dirty="0">
                <a:solidFill>
                  <a:srgbClr val="FF0000"/>
                </a:solidFill>
                <a:latin typeface="Times New Roman" pitchFamily="18" charset="0"/>
                <a:cs typeface="Times New Roman" pitchFamily="18" charset="0"/>
              </a:rPr>
              <a:t>1)</a:t>
            </a:r>
            <a:r>
              <a:rPr lang="zh-CN" altLang="en-US" sz="2300" dirty="0">
                <a:solidFill>
                  <a:srgbClr val="FF0000"/>
                </a:solidFill>
                <a:latin typeface="Times New Roman" pitchFamily="18" charset="0"/>
                <a:cs typeface="Times New Roman" pitchFamily="18" charset="0"/>
              </a:rPr>
              <a:t>维向量</a:t>
            </a:r>
            <a:r>
              <a:rPr lang="en-US" sz="2300" b="1" i="1" dirty="0">
                <a:solidFill>
                  <a:srgbClr val="FF0000"/>
                </a:solidFill>
                <a:latin typeface="Times New Roman" pitchFamily="18" charset="0"/>
                <a:cs typeface="Times New Roman" pitchFamily="18" charset="0"/>
              </a:rPr>
              <a:t>x</a:t>
            </a:r>
            <a:r>
              <a:rPr lang="zh-CN" altLang="en-US" sz="2300" dirty="0">
                <a:solidFill>
                  <a:srgbClr val="00B0F0"/>
                </a:solidFill>
                <a:latin typeface="Times New Roman" pitchFamily="18" charset="0"/>
                <a:cs typeface="Times New Roman" pitchFamily="18" charset="0"/>
              </a:rPr>
              <a:t>了。词向量</a:t>
            </a:r>
            <a:r>
              <a:rPr lang="en-US" sz="2300" i="1" dirty="0">
                <a:solidFill>
                  <a:srgbClr val="00B0F0"/>
                </a:solidFill>
                <a:latin typeface="Times New Roman" pitchFamily="18" charset="0"/>
                <a:cs typeface="Times New Roman" pitchFamily="18" charset="0"/>
              </a:rPr>
              <a:t>C</a:t>
            </a:r>
            <a:r>
              <a:rPr lang="en-US" sz="2300" dirty="0">
                <a:solidFill>
                  <a:srgbClr val="00B0F0"/>
                </a:solidFill>
                <a:latin typeface="Times New Roman" pitchFamily="18" charset="0"/>
                <a:cs typeface="Times New Roman" pitchFamily="18" charset="0"/>
              </a:rPr>
              <a:t>(</a:t>
            </a:r>
            <a:r>
              <a:rPr lang="en-US" sz="2300" i="1" dirty="0" err="1">
                <a:solidFill>
                  <a:srgbClr val="00B0F0"/>
                </a:solidFill>
                <a:latin typeface="Times New Roman" pitchFamily="18" charset="0"/>
                <a:cs typeface="Times New Roman" pitchFamily="18" charset="0"/>
              </a:rPr>
              <a:t>w</a:t>
            </a:r>
            <a:r>
              <a:rPr lang="en-US" sz="2300" i="1" baseline="-25000" dirty="0" err="1">
                <a:solidFill>
                  <a:srgbClr val="00B0F0"/>
                </a:solidFill>
                <a:latin typeface="Times New Roman" pitchFamily="18" charset="0"/>
                <a:cs typeface="Times New Roman" pitchFamily="18" charset="0"/>
              </a:rPr>
              <a:t>i</a:t>
            </a:r>
            <a:r>
              <a:rPr lang="en-US" sz="2300" dirty="0">
                <a:solidFill>
                  <a:srgbClr val="00B0F0"/>
                </a:solidFill>
                <a:latin typeface="Times New Roman" pitchFamily="18" charset="0"/>
                <a:cs typeface="Times New Roman" pitchFamily="18" charset="0"/>
              </a:rPr>
              <a:t>) </a:t>
            </a:r>
            <a:r>
              <a:rPr lang="zh-CN" altLang="en-US" sz="2300" dirty="0">
                <a:solidFill>
                  <a:srgbClr val="00B0F0"/>
                </a:solidFill>
                <a:latin typeface="Times New Roman" pitchFamily="18" charset="0"/>
                <a:cs typeface="Times New Roman" pitchFamily="18" charset="0"/>
              </a:rPr>
              <a:t>可由词元</a:t>
            </a:r>
            <a:r>
              <a:rPr lang="en-US" sz="2300" i="1" dirty="0" err="1">
                <a:solidFill>
                  <a:srgbClr val="00B0F0"/>
                </a:solidFill>
                <a:latin typeface="Times New Roman" pitchFamily="18" charset="0"/>
                <a:cs typeface="Times New Roman" pitchFamily="18" charset="0"/>
              </a:rPr>
              <a:t>w</a:t>
            </a:r>
            <a:r>
              <a:rPr lang="en-US" sz="2300" i="1" baseline="-25000" dirty="0" err="1">
                <a:solidFill>
                  <a:srgbClr val="00B0F0"/>
                </a:solidFill>
                <a:latin typeface="Times New Roman" pitchFamily="18" charset="0"/>
                <a:cs typeface="Times New Roman" pitchFamily="18" charset="0"/>
              </a:rPr>
              <a:t>i</a:t>
            </a:r>
            <a:r>
              <a:rPr lang="zh-CN" altLang="en-US" sz="2300" dirty="0">
                <a:solidFill>
                  <a:srgbClr val="00B0F0"/>
                </a:solidFill>
                <a:latin typeface="Times New Roman" pitchFamily="18" charset="0"/>
                <a:cs typeface="Times New Roman" pitchFamily="18" charset="0"/>
              </a:rPr>
              <a:t>的</a:t>
            </a:r>
            <a:r>
              <a:rPr lang="en-US" sz="2300" dirty="0">
                <a:solidFill>
                  <a:srgbClr val="00B0F0"/>
                </a:solidFill>
                <a:latin typeface="Times New Roman" pitchFamily="18" charset="0"/>
                <a:cs typeface="Times New Roman" pitchFamily="18" charset="0"/>
              </a:rPr>
              <a:t>one-hot</a:t>
            </a:r>
            <a:r>
              <a:rPr lang="zh-CN" altLang="en-US" sz="2300" dirty="0">
                <a:solidFill>
                  <a:srgbClr val="00B0F0"/>
                </a:solidFill>
                <a:latin typeface="Times New Roman" pitchFamily="18" charset="0"/>
                <a:cs typeface="Times New Roman" pitchFamily="18" charset="0"/>
              </a:rPr>
              <a:t>编码向量</a:t>
            </a:r>
            <a:r>
              <a:rPr lang="en-US" sz="2300" b="1" i="1" dirty="0" err="1">
                <a:solidFill>
                  <a:srgbClr val="00B0F0"/>
                </a:solidFill>
                <a:latin typeface="Times New Roman" pitchFamily="18" charset="0"/>
                <a:cs typeface="Times New Roman" pitchFamily="18" charset="0"/>
              </a:rPr>
              <a:t>o</a:t>
            </a:r>
            <a:r>
              <a:rPr lang="en-US" sz="2300" i="1" baseline="-25000" dirty="0" err="1">
                <a:solidFill>
                  <a:srgbClr val="00B0F0"/>
                </a:solidFill>
                <a:latin typeface="Times New Roman" pitchFamily="18" charset="0"/>
                <a:cs typeface="Times New Roman" pitchFamily="18" charset="0"/>
              </a:rPr>
              <a:t>i</a:t>
            </a:r>
            <a:r>
              <a:rPr lang="zh-CN" altLang="en-US" sz="2300" dirty="0">
                <a:solidFill>
                  <a:srgbClr val="00B0F0"/>
                </a:solidFill>
                <a:latin typeface="Times New Roman" pitchFamily="18" charset="0"/>
                <a:cs typeface="Times New Roman" pitchFamily="18" charset="0"/>
              </a:rPr>
              <a:t>与一个由全体词向量所组成的</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V</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m</a:t>
            </a:r>
            <a:r>
              <a:rPr lang="zh-CN" altLang="en-US" sz="2300" dirty="0">
                <a:solidFill>
                  <a:srgbClr val="00B0F0"/>
                </a:solidFill>
                <a:latin typeface="Times New Roman" pitchFamily="18" charset="0"/>
                <a:cs typeface="Times New Roman" pitchFamily="18" charset="0"/>
              </a:rPr>
              <a:t>矩阵（记为黑体</a:t>
            </a:r>
            <a:r>
              <a:rPr lang="en-US" sz="2300" b="1" i="1" dirty="0">
                <a:solidFill>
                  <a:srgbClr val="00B0F0"/>
                </a:solidFill>
                <a:latin typeface="Times New Roman" pitchFamily="18" charset="0"/>
                <a:cs typeface="Times New Roman" pitchFamily="18" charset="0"/>
              </a:rPr>
              <a:t>C</a:t>
            </a:r>
            <a:r>
              <a:rPr lang="zh-CN" altLang="en-US" sz="2300" dirty="0">
                <a:solidFill>
                  <a:srgbClr val="00B0F0"/>
                </a:solidFill>
                <a:latin typeface="Times New Roman" pitchFamily="18" charset="0"/>
                <a:cs typeface="Times New Roman" pitchFamily="18" charset="0"/>
              </a:rPr>
              <a:t>）相乘而得，即</a:t>
            </a:r>
            <a:r>
              <a:rPr lang="en-US" sz="2300" i="1" dirty="0">
                <a:solidFill>
                  <a:srgbClr val="00B0F0"/>
                </a:solidFill>
                <a:latin typeface="Times New Roman" pitchFamily="18" charset="0"/>
                <a:cs typeface="Times New Roman" pitchFamily="18" charset="0"/>
              </a:rPr>
              <a:t>C</a:t>
            </a:r>
            <a:r>
              <a:rPr lang="en-US" sz="2300" dirty="0">
                <a:solidFill>
                  <a:srgbClr val="00B0F0"/>
                </a:solidFill>
                <a:latin typeface="Times New Roman" pitchFamily="18" charset="0"/>
                <a:cs typeface="Times New Roman" pitchFamily="18" charset="0"/>
              </a:rPr>
              <a:t>(</a:t>
            </a:r>
            <a:r>
              <a:rPr lang="en-US" sz="2300" i="1" dirty="0" err="1">
                <a:solidFill>
                  <a:srgbClr val="00B0F0"/>
                </a:solidFill>
                <a:latin typeface="Times New Roman" pitchFamily="18" charset="0"/>
                <a:cs typeface="Times New Roman" pitchFamily="18" charset="0"/>
              </a:rPr>
              <a:t>w</a:t>
            </a:r>
            <a:r>
              <a:rPr lang="en-US" sz="2300" i="1" baseline="-25000" dirty="0" err="1">
                <a:solidFill>
                  <a:srgbClr val="00B0F0"/>
                </a:solidFill>
                <a:latin typeface="Times New Roman" pitchFamily="18" charset="0"/>
                <a:cs typeface="Times New Roman" pitchFamily="18" charset="0"/>
              </a:rPr>
              <a:t>i</a:t>
            </a:r>
            <a:r>
              <a:rPr lang="en-US" sz="2300" dirty="0">
                <a:solidFill>
                  <a:srgbClr val="00B0F0"/>
                </a:solidFill>
                <a:latin typeface="Times New Roman" pitchFamily="18" charset="0"/>
                <a:cs typeface="Times New Roman" pitchFamily="18" charset="0"/>
              </a:rPr>
              <a:t>) =</a:t>
            </a:r>
            <a:r>
              <a:rPr lang="en-US" sz="2300" b="1" i="1" dirty="0">
                <a:solidFill>
                  <a:srgbClr val="00B0F0"/>
                </a:solidFill>
                <a:latin typeface="Times New Roman" pitchFamily="18" charset="0"/>
                <a:cs typeface="Times New Roman" pitchFamily="18" charset="0"/>
              </a:rPr>
              <a:t> </a:t>
            </a:r>
            <a:r>
              <a:rPr lang="en-US" sz="2300" b="1" i="1" dirty="0" err="1">
                <a:solidFill>
                  <a:srgbClr val="00B0F0"/>
                </a:solidFill>
                <a:latin typeface="Times New Roman" pitchFamily="18" charset="0"/>
                <a:cs typeface="Times New Roman" pitchFamily="18" charset="0"/>
              </a:rPr>
              <a:t>o</a:t>
            </a:r>
            <a:r>
              <a:rPr lang="en-US" sz="2300" i="1" baseline="-25000" dirty="0" err="1">
                <a:solidFill>
                  <a:srgbClr val="00B0F0"/>
                </a:solidFill>
                <a:latin typeface="Times New Roman" pitchFamily="18" charset="0"/>
                <a:cs typeface="Times New Roman" pitchFamily="18" charset="0"/>
              </a:rPr>
              <a:t>i</a:t>
            </a:r>
            <a:r>
              <a:rPr lang="en-US" sz="2300" b="1" i="1" dirty="0" err="1">
                <a:solidFill>
                  <a:srgbClr val="00B0F0"/>
                </a:solidFill>
                <a:latin typeface="Times New Roman" pitchFamily="18" charset="0"/>
                <a:cs typeface="Times New Roman" pitchFamily="18" charset="0"/>
              </a:rPr>
              <a:t>C</a:t>
            </a:r>
            <a:r>
              <a:rPr lang="zh-CN" altLang="en-US" sz="2300" dirty="0">
                <a:solidFill>
                  <a:srgbClr val="00B0F0"/>
                </a:solidFill>
                <a:latin typeface="Times New Roman" pitchFamily="18" charset="0"/>
                <a:cs typeface="Times New Roman" pitchFamily="18" charset="0"/>
              </a:rPr>
              <a:t>（但图中采用了索引方法）。</a:t>
            </a:r>
          </a:p>
          <a:p>
            <a:pPr>
              <a:lnSpc>
                <a:spcPct val="120000"/>
              </a:lnSpc>
            </a:pPr>
            <a:r>
              <a:rPr lang="zh-CN" altLang="en-US" sz="2300" dirty="0">
                <a:solidFill>
                  <a:srgbClr val="00B0F0"/>
                </a:solidFill>
                <a:latin typeface="Times New Roman" pitchFamily="18" charset="0"/>
                <a:cs typeface="Times New Roman" pitchFamily="18" charset="0"/>
              </a:rPr>
              <a:t>隐层由若干神经元组成。</a:t>
            </a:r>
            <a:endParaRPr lang="en-US" altLang="zh-CN" sz="2300" dirty="0">
              <a:solidFill>
                <a:srgbClr val="00B0F0"/>
              </a:solidFill>
              <a:latin typeface="Times New Roman" pitchFamily="18" charset="0"/>
              <a:cs typeface="Times New Roman" pitchFamily="18" charset="0"/>
            </a:endParaRPr>
          </a:p>
          <a:p>
            <a:pPr>
              <a:lnSpc>
                <a:spcPct val="120000"/>
              </a:lnSpc>
            </a:pPr>
            <a:r>
              <a:rPr lang="zh-CN" altLang="en-US" sz="2300" dirty="0">
                <a:solidFill>
                  <a:srgbClr val="00B0F0"/>
                </a:solidFill>
                <a:latin typeface="Times New Roman" pitchFamily="18" charset="0"/>
                <a:cs typeface="Times New Roman" pitchFamily="18" charset="0"/>
              </a:rPr>
              <a:t>输出层共有</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V</a:t>
            </a:r>
            <a:r>
              <a:rPr lang="en-US" sz="2300" dirty="0">
                <a:solidFill>
                  <a:srgbClr val="00B0F0"/>
                </a:solidFill>
                <a:latin typeface="Times New Roman" pitchFamily="18" charset="0"/>
                <a:cs typeface="Times New Roman" pitchFamily="18" charset="0"/>
                <a:sym typeface="Symbol"/>
              </a:rPr>
              <a:t></a:t>
            </a:r>
            <a:r>
              <a:rPr lang="zh-CN" altLang="en-US" sz="2300" dirty="0">
                <a:solidFill>
                  <a:srgbClr val="00B0F0"/>
                </a:solidFill>
                <a:latin typeface="Times New Roman" pitchFamily="18" charset="0"/>
                <a:cs typeface="Times New Roman" pitchFamily="18" charset="0"/>
              </a:rPr>
              <a:t>个节点，输出向量为一个与下面的</a:t>
            </a:r>
            <a:r>
              <a:rPr lang="en-US" sz="2300" dirty="0">
                <a:solidFill>
                  <a:srgbClr val="00B0F0"/>
                </a:solidFill>
                <a:latin typeface="Times New Roman" pitchFamily="18" charset="0"/>
                <a:cs typeface="Times New Roman" pitchFamily="18" charset="0"/>
              </a:rPr>
              <a:t>one-hot</a:t>
            </a:r>
            <a:r>
              <a:rPr lang="zh-CN" altLang="en-US" sz="2300" dirty="0">
                <a:solidFill>
                  <a:srgbClr val="00B0F0"/>
                </a:solidFill>
                <a:latin typeface="Times New Roman" pitchFamily="18" charset="0"/>
                <a:cs typeface="Times New Roman" pitchFamily="18" charset="0"/>
              </a:rPr>
              <a:t>编码向量同维的实数向量。</a:t>
            </a:r>
          </a:p>
          <a:p>
            <a:pPr>
              <a:lnSpc>
                <a:spcPct val="120000"/>
              </a:lnSpc>
            </a:pPr>
            <a:endParaRPr lang="en-US" altLang="zh-CN" sz="2300" dirty="0">
              <a:solidFill>
                <a:srgbClr val="00B0F0"/>
              </a:solidFill>
              <a:latin typeface="Times New Roman" pitchFamily="18" charset="0"/>
              <a:cs typeface="Times New Roman" pitchFamily="18" charset="0"/>
            </a:endParaRPr>
          </a:p>
          <a:p>
            <a:pPr>
              <a:buNone/>
            </a:pP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sp>
        <p:nvSpPr>
          <p:cNvPr id="5" name="内容占位符 4"/>
          <p:cNvSpPr>
            <a:spLocks noGrp="1"/>
          </p:cNvSpPr>
          <p:nvPr>
            <p:ph idx="1"/>
          </p:nvPr>
        </p:nvSpPr>
        <p:spPr>
          <a:xfrm>
            <a:off x="500034" y="571480"/>
            <a:ext cx="7929618" cy="2071702"/>
          </a:xfrm>
        </p:spPr>
        <p:txBody>
          <a:bodyPr/>
          <a:lstStyle/>
          <a:p>
            <a:pPr>
              <a:lnSpc>
                <a:spcPct val="130000"/>
              </a:lnSpc>
              <a:spcBef>
                <a:spcPts val="0"/>
              </a:spcBef>
              <a:buNone/>
            </a:pPr>
            <a:r>
              <a:rPr lang="zh-CN" altLang="en-US" sz="2300" dirty="0">
                <a:solidFill>
                  <a:srgbClr val="00B0F0"/>
                </a:solidFill>
                <a:latin typeface="Times New Roman" pitchFamily="18" charset="0"/>
                <a:cs typeface="Times New Roman" pitchFamily="18" charset="0"/>
              </a:rPr>
              <a:t>     输出向量再经</a:t>
            </a:r>
            <a:r>
              <a:rPr lang="en-US" sz="2300" dirty="0" err="1">
                <a:solidFill>
                  <a:srgbClr val="00B0F0"/>
                </a:solidFill>
                <a:latin typeface="Times New Roman" pitchFamily="18" charset="0"/>
                <a:cs typeface="Times New Roman" pitchFamily="18" charset="0"/>
              </a:rPr>
              <a:t>softmax</a:t>
            </a:r>
            <a:r>
              <a:rPr lang="zh-CN" altLang="en-US" sz="2300" dirty="0">
                <a:solidFill>
                  <a:srgbClr val="00B0F0"/>
                </a:solidFill>
                <a:latin typeface="Times New Roman" pitchFamily="18" charset="0"/>
                <a:cs typeface="Times New Roman" pitchFamily="18" charset="0"/>
              </a:rPr>
              <a:t>函数做</a:t>
            </a:r>
            <a:r>
              <a:rPr lang="zh-CN" altLang="en-US" sz="2300" b="1" dirty="0">
                <a:solidFill>
                  <a:srgbClr val="FF0000"/>
                </a:solidFill>
                <a:latin typeface="Times New Roman" pitchFamily="18" charset="0"/>
                <a:cs typeface="Times New Roman" pitchFamily="18" charset="0"/>
              </a:rPr>
              <a:t>归一化</a:t>
            </a:r>
            <a:r>
              <a:rPr lang="zh-CN" altLang="en-US" sz="2300" dirty="0">
                <a:solidFill>
                  <a:srgbClr val="00B0F0"/>
                </a:solidFill>
                <a:latin typeface="Times New Roman" pitchFamily="18" charset="0"/>
                <a:cs typeface="Times New Roman" pitchFamily="18" charset="0"/>
              </a:rPr>
              <a:t>变换后才是最终输出：</a:t>
            </a:r>
            <a:r>
              <a:rPr lang="en-US" sz="2300" i="1" dirty="0" err="1">
                <a:solidFill>
                  <a:srgbClr val="00B0F0"/>
                </a:solidFill>
                <a:latin typeface="Times New Roman" pitchFamily="18" charset="0"/>
                <a:cs typeface="Times New Roman" pitchFamily="18" charset="0"/>
              </a:rPr>
              <a:t>i</a:t>
            </a:r>
            <a:r>
              <a:rPr lang="en-US" sz="2300" dirty="0" err="1">
                <a:solidFill>
                  <a:srgbClr val="00B0F0"/>
                </a:solidFill>
                <a:latin typeface="Times New Roman" pitchFamily="18" charset="0"/>
                <a:cs typeface="Times New Roman" pitchFamily="18" charset="0"/>
              </a:rPr>
              <a:t>-th</a:t>
            </a:r>
            <a:r>
              <a:rPr lang="en-US" sz="2300" dirty="0">
                <a:solidFill>
                  <a:srgbClr val="00B0F0"/>
                </a:solidFill>
                <a:latin typeface="Times New Roman" pitchFamily="18" charset="0"/>
                <a:cs typeface="Times New Roman" pitchFamily="18" charset="0"/>
              </a:rPr>
              <a:t> output=</a:t>
            </a:r>
            <a:r>
              <a:rPr lang="en-US" sz="2300" i="1" dirty="0">
                <a:solidFill>
                  <a:srgbClr val="00B0F0"/>
                </a:solidFill>
                <a:latin typeface="Times New Roman" pitchFamily="18" charset="0"/>
                <a:cs typeface="Times New Roman" pitchFamily="18" charset="0"/>
              </a:rPr>
              <a:t>P</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w</a:t>
            </a:r>
            <a:r>
              <a:rPr lang="en-US" sz="2300" i="1" baseline="-25000" dirty="0">
                <a:solidFill>
                  <a:srgbClr val="00B0F0"/>
                </a:solidFill>
                <a:latin typeface="Times New Roman" pitchFamily="18" charset="0"/>
                <a:cs typeface="Times New Roman" pitchFamily="18" charset="0"/>
              </a:rPr>
              <a:t>t</a:t>
            </a:r>
            <a:r>
              <a:rPr lang="en-US" sz="2300" dirty="0">
                <a:solidFill>
                  <a:srgbClr val="00B0F0"/>
                </a:solidFill>
                <a:latin typeface="Times New Roman" pitchFamily="18" charset="0"/>
                <a:cs typeface="Times New Roman" pitchFamily="18" charset="0"/>
              </a:rPr>
              <a:t>=</a:t>
            </a:r>
            <a:r>
              <a:rPr lang="en-US" sz="2300" i="1" dirty="0" err="1">
                <a:solidFill>
                  <a:srgbClr val="00B0F0"/>
                </a:solidFill>
                <a:latin typeface="Times New Roman" pitchFamily="18" charset="0"/>
                <a:cs typeface="Times New Roman" pitchFamily="18" charset="0"/>
              </a:rPr>
              <a:t>i</a:t>
            </a:r>
            <a:r>
              <a:rPr lang="en-US" sz="2300" dirty="0" err="1">
                <a:solidFill>
                  <a:srgbClr val="00B0F0"/>
                </a:solidFill>
                <a:latin typeface="Times New Roman" pitchFamily="18" charset="0"/>
                <a:cs typeface="Times New Roman" pitchFamily="18" charset="0"/>
                <a:sym typeface="Symbol"/>
              </a:rPr>
              <a:t></a:t>
            </a:r>
            <a:r>
              <a:rPr lang="en-US" sz="2300" i="1" dirty="0" err="1">
                <a:solidFill>
                  <a:srgbClr val="00B0F0"/>
                </a:solidFill>
                <a:latin typeface="Times New Roman" pitchFamily="18" charset="0"/>
                <a:cs typeface="Times New Roman" pitchFamily="18" charset="0"/>
              </a:rPr>
              <a:t>context</a:t>
            </a:r>
            <a:r>
              <a:rPr lang="en-US" sz="2300" dirty="0">
                <a:solidFill>
                  <a:srgbClr val="00B0F0"/>
                </a:solidFill>
                <a:latin typeface="Times New Roman" pitchFamily="18" charset="0"/>
                <a:cs typeface="Times New Roman" pitchFamily="18" charset="0"/>
              </a:rPr>
              <a:t>)</a:t>
            </a:r>
            <a:r>
              <a:rPr lang="zh-CN" altLang="en-US" sz="2300" dirty="0">
                <a:solidFill>
                  <a:srgbClr val="00B0F0"/>
                </a:solidFill>
                <a:latin typeface="Times New Roman" pitchFamily="18" charset="0"/>
                <a:cs typeface="Times New Roman" pitchFamily="18" charset="0"/>
              </a:rPr>
              <a:t>，</a:t>
            </a:r>
            <a:r>
              <a:rPr lang="en-US" sz="2300" i="1" dirty="0" err="1">
                <a:solidFill>
                  <a:srgbClr val="00B0F0"/>
                </a:solidFill>
                <a:latin typeface="Times New Roman" pitchFamily="18" charset="0"/>
                <a:cs typeface="Times New Roman" pitchFamily="18" charset="0"/>
              </a:rPr>
              <a:t>i</a:t>
            </a:r>
            <a:r>
              <a:rPr lang="en-US" sz="2300" dirty="0">
                <a:solidFill>
                  <a:srgbClr val="00B0F0"/>
                </a:solidFill>
                <a:latin typeface="Times New Roman" pitchFamily="18" charset="0"/>
                <a:cs typeface="Times New Roman" pitchFamily="18" charset="0"/>
              </a:rPr>
              <a:t>=1,2,…, </a:t>
            </a:r>
            <a:r>
              <a:rPr lang="en-US" sz="2300" dirty="0">
                <a:solidFill>
                  <a:srgbClr val="00B0F0"/>
                </a:solidFill>
                <a:latin typeface="Times New Roman" pitchFamily="18" charset="0"/>
                <a:cs typeface="Times New Roman" pitchFamily="18" charset="0"/>
                <a:sym typeface="Symbol"/>
              </a:rPr>
              <a:t></a:t>
            </a:r>
            <a:r>
              <a:rPr lang="en-US" sz="2300" i="1" dirty="0">
                <a:solidFill>
                  <a:srgbClr val="00B0F0"/>
                </a:solidFill>
                <a:latin typeface="Times New Roman" pitchFamily="18" charset="0"/>
                <a:cs typeface="Times New Roman" pitchFamily="18" charset="0"/>
              </a:rPr>
              <a:t>V</a:t>
            </a:r>
            <a:r>
              <a:rPr lang="en-US" sz="2300" dirty="0">
                <a:solidFill>
                  <a:srgbClr val="00B0F0"/>
                </a:solidFill>
                <a:latin typeface="Times New Roman" pitchFamily="18" charset="0"/>
                <a:cs typeface="Times New Roman" pitchFamily="18" charset="0"/>
                <a:sym typeface="Symbol"/>
              </a:rPr>
              <a:t></a:t>
            </a:r>
            <a:r>
              <a:rPr lang="zh-CN" altLang="en-US" sz="2300" dirty="0">
                <a:solidFill>
                  <a:srgbClr val="00B0F0"/>
                </a:solidFill>
                <a:latin typeface="Times New Roman" pitchFamily="18" charset="0"/>
                <a:cs typeface="Times New Roman" pitchFamily="18" charset="0"/>
              </a:rPr>
              <a:t>，即词表</a:t>
            </a:r>
            <a:r>
              <a:rPr lang="en-US" sz="2300" i="1" dirty="0">
                <a:solidFill>
                  <a:srgbClr val="00B0F0"/>
                </a:solidFill>
                <a:latin typeface="Times New Roman" pitchFamily="18" charset="0"/>
                <a:cs typeface="Times New Roman" pitchFamily="18" charset="0"/>
              </a:rPr>
              <a:t>V</a:t>
            </a:r>
            <a:r>
              <a:rPr lang="zh-CN" altLang="en-US" sz="2300" dirty="0">
                <a:solidFill>
                  <a:srgbClr val="00B0F0"/>
                </a:solidFill>
                <a:latin typeface="Times New Roman" pitchFamily="18" charset="0"/>
                <a:cs typeface="Times New Roman" pitchFamily="18" charset="0"/>
              </a:rPr>
              <a:t>中各单词在上下文</a:t>
            </a:r>
            <a:r>
              <a:rPr lang="en-US" sz="2300" i="1" dirty="0">
                <a:solidFill>
                  <a:srgbClr val="00B0F0"/>
                </a:solidFill>
                <a:latin typeface="Times New Roman" pitchFamily="18" charset="0"/>
                <a:cs typeface="Times New Roman" pitchFamily="18" charset="0"/>
              </a:rPr>
              <a:t>w</a:t>
            </a:r>
            <a:r>
              <a:rPr lang="en-US" sz="2300" i="1" baseline="-25000" dirty="0">
                <a:solidFill>
                  <a:srgbClr val="00B0F0"/>
                </a:solidFill>
                <a:latin typeface="Times New Roman" pitchFamily="18" charset="0"/>
                <a:cs typeface="Times New Roman" pitchFamily="18" charset="0"/>
              </a:rPr>
              <a:t>t−n</a:t>
            </a:r>
            <a:r>
              <a:rPr lang="en-US" sz="2300" baseline="-250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 w</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2</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 w</a:t>
            </a:r>
            <a:r>
              <a:rPr lang="en-US" sz="2300" i="1" baseline="-25000" dirty="0">
                <a:solidFill>
                  <a:srgbClr val="00B0F0"/>
                </a:solidFill>
                <a:latin typeface="Times New Roman" pitchFamily="18" charset="0"/>
                <a:cs typeface="Times New Roman" pitchFamily="18" charset="0"/>
              </a:rPr>
              <a:t>t−</a:t>
            </a:r>
            <a:r>
              <a:rPr lang="en-US" sz="2300" baseline="-25000" dirty="0">
                <a:solidFill>
                  <a:srgbClr val="00B0F0"/>
                </a:solidFill>
                <a:latin typeface="Times New Roman" pitchFamily="18" charset="0"/>
                <a:cs typeface="Times New Roman" pitchFamily="18" charset="0"/>
              </a:rPr>
              <a:t>1</a:t>
            </a:r>
            <a:r>
              <a:rPr lang="zh-CN" altLang="en-US" sz="2300" dirty="0">
                <a:solidFill>
                  <a:srgbClr val="00B0F0"/>
                </a:solidFill>
                <a:latin typeface="Times New Roman" pitchFamily="18" charset="0"/>
                <a:cs typeface="Times New Roman" pitchFamily="18" charset="0"/>
              </a:rPr>
              <a:t>条件下是</a:t>
            </a:r>
            <a:r>
              <a:rPr lang="zh-CN" altLang="en-US" sz="2300" b="1" dirty="0">
                <a:solidFill>
                  <a:srgbClr val="FF0000"/>
                </a:solidFill>
                <a:latin typeface="Times New Roman" pitchFamily="18" charset="0"/>
                <a:cs typeface="Times New Roman" pitchFamily="18" charset="0"/>
              </a:rPr>
              <a:t>所求单词</a:t>
            </a:r>
            <a:r>
              <a:rPr lang="en-US" sz="2300" b="1" i="1" dirty="0">
                <a:solidFill>
                  <a:srgbClr val="FF0000"/>
                </a:solidFill>
                <a:latin typeface="Times New Roman" pitchFamily="18" charset="0"/>
                <a:cs typeface="Times New Roman" pitchFamily="18" charset="0"/>
              </a:rPr>
              <a:t>w</a:t>
            </a:r>
            <a:r>
              <a:rPr lang="en-US" sz="2300" b="1" i="1" baseline="-25000" dirty="0">
                <a:solidFill>
                  <a:srgbClr val="FF0000"/>
                </a:solidFill>
                <a:latin typeface="Times New Roman" pitchFamily="18" charset="0"/>
                <a:cs typeface="Times New Roman" pitchFamily="18" charset="0"/>
              </a:rPr>
              <a:t>t</a:t>
            </a:r>
            <a:r>
              <a:rPr lang="zh-CN" altLang="en-US" sz="2300" b="1" dirty="0">
                <a:solidFill>
                  <a:srgbClr val="FF0000"/>
                </a:solidFill>
                <a:latin typeface="Times New Roman" pitchFamily="18" charset="0"/>
                <a:cs typeface="Times New Roman" pitchFamily="18" charset="0"/>
              </a:rPr>
              <a:t>的概率分布</a:t>
            </a:r>
            <a:r>
              <a:rPr lang="zh-CN" altLang="en-US" sz="2300" dirty="0">
                <a:solidFill>
                  <a:srgbClr val="00B0F0"/>
                </a:solidFill>
                <a:latin typeface="Times New Roman" pitchFamily="18" charset="0"/>
                <a:cs typeface="Times New Roman" pitchFamily="18" charset="0"/>
              </a:rPr>
              <a:t>。设网络输出向量</a:t>
            </a:r>
            <a:r>
              <a:rPr lang="en-US" sz="2300" b="1" i="1" dirty="0">
                <a:solidFill>
                  <a:srgbClr val="00B0F0"/>
                </a:solidFill>
                <a:latin typeface="Times New Roman" pitchFamily="18" charset="0"/>
                <a:cs typeface="Times New Roman" pitchFamily="18" charset="0"/>
              </a:rPr>
              <a:t>y </a:t>
            </a:r>
            <a:r>
              <a:rPr lang="en-US" sz="2300" dirty="0">
                <a:solidFill>
                  <a:srgbClr val="00B0F0"/>
                </a:solidFill>
                <a:latin typeface="Times New Roman" pitchFamily="18" charset="0"/>
                <a:cs typeface="Times New Roman" pitchFamily="18" charset="0"/>
              </a:rPr>
              <a:t>= (</a:t>
            </a:r>
            <a:r>
              <a:rPr lang="en-US" sz="2300" i="1" dirty="0">
                <a:solidFill>
                  <a:srgbClr val="00B0F0"/>
                </a:solidFill>
                <a:latin typeface="Times New Roman" pitchFamily="18" charset="0"/>
                <a:cs typeface="Times New Roman" pitchFamily="18" charset="0"/>
              </a:rPr>
              <a:t>y</a:t>
            </a:r>
            <a:r>
              <a:rPr lang="en-US" sz="2300" baseline="-25000" dirty="0">
                <a:solidFill>
                  <a:srgbClr val="00B0F0"/>
                </a:solidFill>
                <a:latin typeface="Times New Roman" pitchFamily="18" charset="0"/>
                <a:cs typeface="Times New Roman" pitchFamily="18" charset="0"/>
              </a:rPr>
              <a:t>1</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 y</a:t>
            </a:r>
            <a:r>
              <a:rPr lang="en-US" sz="2300" baseline="-25000" dirty="0">
                <a:solidFill>
                  <a:srgbClr val="00B0F0"/>
                </a:solidFill>
                <a:latin typeface="Times New Roman" pitchFamily="18" charset="0"/>
                <a:cs typeface="Times New Roman" pitchFamily="18" charset="0"/>
              </a:rPr>
              <a:t>2</a:t>
            </a:r>
            <a:r>
              <a:rPr lang="en-US" sz="2300" dirty="0">
                <a:solidFill>
                  <a:srgbClr val="00B0F0"/>
                </a:solidFill>
                <a:latin typeface="Times New Roman" pitchFamily="18" charset="0"/>
                <a:cs typeface="Times New Roman" pitchFamily="18" charset="0"/>
              </a:rPr>
              <a:t>,…,</a:t>
            </a:r>
            <a:r>
              <a:rPr lang="en-US" sz="2300" i="1" dirty="0">
                <a:solidFill>
                  <a:srgbClr val="00B0F0"/>
                </a:solidFill>
                <a:latin typeface="Times New Roman" pitchFamily="18" charset="0"/>
                <a:cs typeface="Times New Roman" pitchFamily="18" charset="0"/>
              </a:rPr>
              <a:t> </a:t>
            </a:r>
            <a:r>
              <a:rPr lang="en-US" sz="2300" i="1" dirty="0" err="1">
                <a:solidFill>
                  <a:srgbClr val="00B0F0"/>
                </a:solidFill>
                <a:latin typeface="Times New Roman" pitchFamily="18" charset="0"/>
                <a:cs typeface="Times New Roman" pitchFamily="18" charset="0"/>
              </a:rPr>
              <a:t>y</a:t>
            </a:r>
            <a:r>
              <a:rPr lang="en-US" sz="2300" baseline="-25000" dirty="0" err="1">
                <a:solidFill>
                  <a:srgbClr val="00B0F0"/>
                </a:solidFill>
                <a:latin typeface="Times New Roman" pitchFamily="18" charset="0"/>
                <a:cs typeface="Times New Roman" pitchFamily="18" charset="0"/>
                <a:sym typeface="Symbol"/>
              </a:rPr>
              <a:t></a:t>
            </a:r>
            <a:r>
              <a:rPr lang="en-US" sz="2300" i="1" baseline="-25000" dirty="0" err="1">
                <a:solidFill>
                  <a:srgbClr val="00B0F0"/>
                </a:solidFill>
                <a:latin typeface="Times New Roman" pitchFamily="18" charset="0"/>
                <a:cs typeface="Times New Roman" pitchFamily="18" charset="0"/>
              </a:rPr>
              <a:t>V</a:t>
            </a:r>
            <a:r>
              <a:rPr lang="en-US" sz="2300" baseline="-25000" dirty="0">
                <a:solidFill>
                  <a:srgbClr val="00B0F0"/>
                </a:solidFill>
                <a:latin typeface="Times New Roman" pitchFamily="18" charset="0"/>
                <a:cs typeface="Times New Roman" pitchFamily="18" charset="0"/>
                <a:sym typeface="Symbol"/>
              </a:rPr>
              <a:t></a:t>
            </a:r>
            <a:r>
              <a:rPr lang="en-US" sz="2300" dirty="0">
                <a:solidFill>
                  <a:srgbClr val="00B0F0"/>
                </a:solidFill>
                <a:latin typeface="Times New Roman" pitchFamily="18" charset="0"/>
                <a:cs typeface="Times New Roman" pitchFamily="18" charset="0"/>
              </a:rPr>
              <a:t>)</a:t>
            </a:r>
            <a:r>
              <a:rPr lang="zh-CN" altLang="en-US" sz="2300" dirty="0">
                <a:solidFill>
                  <a:srgbClr val="00B0F0"/>
                </a:solidFill>
                <a:latin typeface="Times New Roman" pitchFamily="18" charset="0"/>
                <a:cs typeface="Times New Roman" pitchFamily="18" charset="0"/>
              </a:rPr>
              <a:t>，则最终输出为</a:t>
            </a:r>
          </a:p>
          <a:p>
            <a:pPr>
              <a:buNone/>
            </a:pPr>
            <a:endParaRPr lang="zh-CN" altLang="en-US" dirty="0"/>
          </a:p>
        </p:txBody>
      </p:sp>
      <p:pic>
        <p:nvPicPr>
          <p:cNvPr id="14338" name="Picture 2"/>
          <p:cNvPicPr>
            <a:picLocks noChangeAspect="1" noChangeArrowheads="1"/>
          </p:cNvPicPr>
          <p:nvPr/>
        </p:nvPicPr>
        <p:blipFill>
          <a:blip r:embed="rId3"/>
          <a:srcRect b="64516"/>
          <a:stretch>
            <a:fillRect/>
          </a:stretch>
        </p:blipFill>
        <p:spPr bwMode="auto">
          <a:xfrm>
            <a:off x="785754" y="2643182"/>
            <a:ext cx="9001220" cy="785818"/>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09C1202-7CDC-8200-927B-75FCB43E224D}"/>
                  </a:ext>
                </a:extLst>
              </p:cNvPr>
              <p:cNvSpPr txBox="1"/>
              <p:nvPr/>
            </p:nvSpPr>
            <p:spPr>
              <a:xfrm>
                <a:off x="3921309" y="3834582"/>
                <a:ext cx="1301382" cy="7128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m:rPr>
                              <m:sty m:val="p"/>
                            </m:rPr>
                            <a:rPr lang="en-US" altLang="zh-CN" i="1">
                              <a:latin typeface="Cambria Math" panose="02040503050406030204" pitchFamily="18" charset="0"/>
                            </a:rPr>
                            <m:t>y</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𝑖</m:t>
                                  </m:r>
                                </m:sub>
                              </m:sSub>
                            </m:sup>
                          </m:sSup>
                        </m:num>
                        <m:den>
                          <m:nary>
                            <m:naryPr>
                              <m:chr m:val="∑"/>
                              <m:limLoc m:val="subSup"/>
                              <m:ctrlPr>
                                <a:rPr lang="en-US" altLang="zh-CN" b="0" i="1" smtClean="0">
                                  <a:latin typeface="Cambria Math" panose="02040503050406030204" pitchFamily="18" charset="0"/>
                                </a:rPr>
                              </m:ctrlPr>
                            </m:naryPr>
                            <m:sub>
                              <m:r>
                                <m:rPr>
                                  <m:brk m:alnAt="25"/>
                                </m:rPr>
                                <a:rPr lang="en-US" altLang="zh-CN" b="0" i="1" smtClean="0">
                                  <a:latin typeface="Cambria Math" panose="02040503050406030204" pitchFamily="18" charset="0"/>
                                </a:rPr>
                                <m:t>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𝑉</m:t>
                              </m:r>
                              <m:r>
                                <a:rPr lang="en-US" altLang="zh-CN" b="0" i="1" smtClean="0">
                                  <a:latin typeface="Cambria Math" panose="02040503050406030204" pitchFamily="18" charset="0"/>
                                </a:rPr>
                                <m:t>|</m:t>
                              </m:r>
                            </m:sup>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𝑗</m:t>
                                      </m:r>
                                    </m:sub>
                                  </m:sSub>
                                </m:sup>
                              </m:sSup>
                            </m:e>
                          </m:nary>
                        </m:den>
                      </m:f>
                    </m:oMath>
                  </m:oMathPara>
                </a14:m>
                <a:endParaRPr lang="zh-CN" altLang="en-US" dirty="0"/>
              </a:p>
            </p:txBody>
          </p:sp>
        </mc:Choice>
        <mc:Fallback xmlns="">
          <p:sp>
            <p:nvSpPr>
              <p:cNvPr id="3" name="文本框 2">
                <a:extLst>
                  <a:ext uri="{FF2B5EF4-FFF2-40B4-BE49-F238E27FC236}">
                    <a16:creationId xmlns:a16="http://schemas.microsoft.com/office/drawing/2014/main" id="{B09C1202-7CDC-8200-927B-75FCB43E224D}"/>
                  </a:ext>
                </a:extLst>
              </p:cNvPr>
              <p:cNvSpPr txBox="1">
                <a:spLocks noRot="1" noChangeAspect="1" noMove="1" noResize="1" noEditPoints="1" noAdjustHandles="1" noChangeArrowheads="1" noChangeShapeType="1" noTextEdit="1"/>
              </p:cNvSpPr>
              <p:nvPr/>
            </p:nvSpPr>
            <p:spPr>
              <a:xfrm>
                <a:off x="3921309" y="3834582"/>
                <a:ext cx="1301382" cy="712824"/>
              </a:xfrm>
              <a:prstGeom prst="rect">
                <a:avLst/>
              </a:prstGeom>
              <a:blipFill>
                <a:blip r:embed="rId4"/>
                <a:stretch>
                  <a:fillRect/>
                </a:stretch>
              </a:blipFill>
            </p:spPr>
            <p:txBody>
              <a:bodyPr/>
              <a:lstStyle/>
              <a:p>
                <a:r>
                  <a:rPr lang="zh-CN" altLang="en-US">
                    <a:noFill/>
                  </a:rPr>
                  <a:t> </a:t>
                </a:r>
              </a:p>
            </p:txBody>
          </p:sp>
        </mc:Fallback>
      </mc:AlternateContent>
      <p:sp>
        <p:nvSpPr>
          <p:cNvPr id="4" name="箭头: 下 3">
            <a:extLst>
              <a:ext uri="{FF2B5EF4-FFF2-40B4-BE49-F238E27FC236}">
                <a16:creationId xmlns:a16="http://schemas.microsoft.com/office/drawing/2014/main" id="{017E2947-3911-B7D3-C95E-2C787C74F9EA}"/>
              </a:ext>
            </a:extLst>
          </p:cNvPr>
          <p:cNvSpPr/>
          <p:nvPr/>
        </p:nvSpPr>
        <p:spPr>
          <a:xfrm>
            <a:off x="4331263" y="3415767"/>
            <a:ext cx="792088" cy="2160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下 5">
            <a:extLst>
              <a:ext uri="{FF2B5EF4-FFF2-40B4-BE49-F238E27FC236}">
                <a16:creationId xmlns:a16="http://schemas.microsoft.com/office/drawing/2014/main" id="{35CAC378-573C-1476-8122-FE286D8597CE}"/>
              </a:ext>
            </a:extLst>
          </p:cNvPr>
          <p:cNvSpPr/>
          <p:nvPr/>
        </p:nvSpPr>
        <p:spPr>
          <a:xfrm>
            <a:off x="4331263" y="4725144"/>
            <a:ext cx="827237" cy="2278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41806384-9A15-B9AD-8343-F0D7A737340C}"/>
              </a:ext>
            </a:extLst>
          </p:cNvPr>
          <p:cNvSpPr txBox="1"/>
          <p:nvPr/>
        </p:nvSpPr>
        <p:spPr>
          <a:xfrm>
            <a:off x="2195736" y="5085184"/>
            <a:ext cx="5400600" cy="369332"/>
          </a:xfrm>
          <a:prstGeom prst="rect">
            <a:avLst/>
          </a:prstGeom>
          <a:noFill/>
        </p:spPr>
        <p:txBody>
          <a:bodyPr wrap="square" rtlCol="0">
            <a:spAutoFit/>
          </a:bodyPr>
          <a:lstStyle/>
          <a:p>
            <a:r>
              <a:rPr lang="zh-CN" altLang="en-US" b="1" dirty="0"/>
              <a:t>保证分母一定不会出现真</a:t>
            </a:r>
            <a:r>
              <a:rPr lang="en-US" altLang="zh-CN" b="1" dirty="0"/>
              <a:t>0</a:t>
            </a:r>
            <a:r>
              <a:rPr lang="zh-CN" altLang="en-US" b="1" dirty="0"/>
              <a:t>，同时整体值不会是负数</a:t>
            </a:r>
            <a:endParaRPr lang="en-US" altLang="zh-CN"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571472" y="571480"/>
            <a:ext cx="7929618" cy="6072230"/>
          </a:xfrm>
        </p:spPr>
        <p:txBody>
          <a:bodyPr/>
          <a:lstStyle/>
          <a:p>
            <a:pPr>
              <a:lnSpc>
                <a:spcPct val="150000"/>
              </a:lnSpc>
              <a:buNone/>
            </a:pPr>
            <a:r>
              <a:rPr lang="zh-CN" altLang="en-US" sz="2400" dirty="0">
                <a:latin typeface="黑体" pitchFamily="49" charset="-122"/>
                <a:ea typeface="黑体" pitchFamily="49" charset="-122"/>
              </a:rPr>
              <a:t>说明：</a:t>
            </a:r>
          </a:p>
          <a:p>
            <a:pPr>
              <a:spcBef>
                <a:spcPts val="600"/>
              </a:spcBef>
              <a:buNone/>
            </a:pPr>
            <a:r>
              <a:rPr lang="zh-CN" altLang="en-US" sz="2300" dirty="0">
                <a:latin typeface="Times New Roman" pitchFamily="18" charset="0"/>
                <a:cs typeface="Times New Roman" pitchFamily="18" charset="0"/>
              </a:rPr>
              <a:t>（</a:t>
            </a:r>
            <a:r>
              <a:rPr lang="en-US" sz="2300" dirty="0">
                <a:latin typeface="Times New Roman" pitchFamily="18" charset="0"/>
                <a:cs typeface="Times New Roman" pitchFamily="18" charset="0"/>
              </a:rPr>
              <a:t>1</a:t>
            </a:r>
            <a:r>
              <a:rPr lang="zh-CN" altLang="en-US" sz="2300" dirty="0">
                <a:latin typeface="Times New Roman" pitchFamily="18" charset="0"/>
                <a:cs typeface="Times New Roman" pitchFamily="18" charset="0"/>
              </a:rPr>
              <a:t>）输入层也可以另外直接与输出层连接（如图中的虚线箭头所示），也可以不连接。</a:t>
            </a:r>
          </a:p>
          <a:p>
            <a:pPr>
              <a:spcBef>
                <a:spcPts val="600"/>
              </a:spcBef>
              <a:buNone/>
            </a:pPr>
            <a:r>
              <a:rPr lang="zh-CN" altLang="en-US" sz="2300" dirty="0">
                <a:latin typeface="Times New Roman" pitchFamily="18" charset="0"/>
                <a:cs typeface="Times New Roman" pitchFamily="18" charset="0"/>
              </a:rPr>
              <a:t>（</a:t>
            </a:r>
            <a:r>
              <a:rPr lang="en-US" sz="2300" dirty="0">
                <a:latin typeface="Times New Roman" pitchFamily="18" charset="0"/>
                <a:cs typeface="Times New Roman" pitchFamily="18" charset="0"/>
              </a:rPr>
              <a:t>2</a:t>
            </a:r>
            <a:r>
              <a:rPr lang="zh-CN" altLang="en-US" sz="2300" dirty="0">
                <a:latin typeface="Times New Roman" pitchFamily="18" charset="0"/>
                <a:cs typeface="Times New Roman" pitchFamily="18" charset="0"/>
              </a:rPr>
              <a:t>）由于最终的输出向量的各分量值都在</a:t>
            </a:r>
            <a:r>
              <a:rPr lang="en-US" sz="2300" dirty="0">
                <a:latin typeface="Times New Roman" pitchFamily="18" charset="0"/>
                <a:cs typeface="Times New Roman" pitchFamily="18" charset="0"/>
              </a:rPr>
              <a:t>[0, 1]</a:t>
            </a:r>
            <a:r>
              <a:rPr lang="zh-CN" altLang="en-US" sz="2300" dirty="0">
                <a:latin typeface="Times New Roman" pitchFamily="18" charset="0"/>
                <a:cs typeface="Times New Roman" pitchFamily="18" charset="0"/>
              </a:rPr>
              <a:t>区间且它们之和为</a:t>
            </a:r>
            <a:r>
              <a:rPr lang="en-US" sz="2300" dirty="0">
                <a:latin typeface="Times New Roman" pitchFamily="18" charset="0"/>
                <a:cs typeface="Times New Roman" pitchFamily="18" charset="0"/>
              </a:rPr>
              <a:t>1</a:t>
            </a:r>
            <a:r>
              <a:rPr lang="zh-CN" altLang="en-US" sz="2300" dirty="0">
                <a:latin typeface="Times New Roman" pitchFamily="18" charset="0"/>
                <a:cs typeface="Times New Roman" pitchFamily="18" charset="0"/>
              </a:rPr>
              <a:t>，所以该输出向量恰好是个概率分布，即</a:t>
            </a:r>
            <a:r>
              <a:rPr lang="zh-CN" altLang="en-US" sz="2300" b="1" dirty="0">
                <a:solidFill>
                  <a:srgbClr val="FF0000"/>
                </a:solidFill>
                <a:latin typeface="Times New Roman" pitchFamily="18" charset="0"/>
                <a:cs typeface="Times New Roman" pitchFamily="18" charset="0"/>
              </a:rPr>
              <a:t>表示词表</a:t>
            </a:r>
            <a:r>
              <a:rPr lang="en-US" sz="2300" b="1" i="1" dirty="0">
                <a:solidFill>
                  <a:srgbClr val="FF0000"/>
                </a:solidFill>
                <a:latin typeface="Times New Roman" pitchFamily="18" charset="0"/>
                <a:cs typeface="Times New Roman" pitchFamily="18" charset="0"/>
              </a:rPr>
              <a:t>V</a:t>
            </a:r>
            <a:r>
              <a:rPr lang="zh-CN" altLang="en-US" sz="2300" b="1" dirty="0">
                <a:solidFill>
                  <a:srgbClr val="FF0000"/>
                </a:solidFill>
                <a:latin typeface="Times New Roman" pitchFamily="18" charset="0"/>
                <a:cs typeface="Times New Roman" pitchFamily="18" charset="0"/>
              </a:rPr>
              <a:t>中各相应位置上的词元是所求单词</a:t>
            </a:r>
            <a:r>
              <a:rPr lang="en-US" sz="2300" b="1" i="1" dirty="0">
                <a:solidFill>
                  <a:srgbClr val="FF0000"/>
                </a:solidFill>
                <a:latin typeface="Times New Roman" pitchFamily="18" charset="0"/>
                <a:cs typeface="Times New Roman" pitchFamily="18" charset="0"/>
              </a:rPr>
              <a:t>w</a:t>
            </a:r>
            <a:r>
              <a:rPr lang="en-US" sz="2300" b="1" i="1" baseline="-25000" dirty="0">
                <a:solidFill>
                  <a:srgbClr val="FF0000"/>
                </a:solidFill>
                <a:latin typeface="Times New Roman" pitchFamily="18" charset="0"/>
                <a:cs typeface="Times New Roman" pitchFamily="18" charset="0"/>
              </a:rPr>
              <a:t>t</a:t>
            </a:r>
            <a:r>
              <a:rPr lang="zh-CN" altLang="en-US" sz="2300" b="1" dirty="0">
                <a:solidFill>
                  <a:srgbClr val="FF0000"/>
                </a:solidFill>
                <a:latin typeface="Times New Roman" pitchFamily="18" charset="0"/>
                <a:cs typeface="Times New Roman" pitchFamily="18" charset="0"/>
              </a:rPr>
              <a:t>的概率</a:t>
            </a:r>
            <a:r>
              <a:rPr lang="zh-CN" altLang="en-US" sz="2300" dirty="0">
                <a:latin typeface="Times New Roman" pitchFamily="18" charset="0"/>
                <a:cs typeface="Times New Roman" pitchFamily="18" charset="0"/>
              </a:rPr>
              <a:t>。于是，对于学成的网络，如果其输出向量中第</a:t>
            </a:r>
            <a:r>
              <a:rPr lang="en-US" sz="2300" i="1" dirty="0">
                <a:latin typeface="Times New Roman" pitchFamily="18" charset="0"/>
                <a:cs typeface="Times New Roman" pitchFamily="18" charset="0"/>
              </a:rPr>
              <a:t>k</a:t>
            </a:r>
            <a:r>
              <a:rPr lang="zh-CN" altLang="en-US" sz="2300" dirty="0">
                <a:latin typeface="Times New Roman" pitchFamily="18" charset="0"/>
                <a:cs typeface="Times New Roman" pitchFamily="18" charset="0"/>
              </a:rPr>
              <a:t>个分量值最大，则一般来说相应的单词</a:t>
            </a:r>
            <a:r>
              <a:rPr lang="en-US" sz="2300" i="1" dirty="0">
                <a:latin typeface="Times New Roman" pitchFamily="18" charset="0"/>
                <a:cs typeface="Times New Roman" pitchFamily="18" charset="0"/>
              </a:rPr>
              <a:t>w</a:t>
            </a:r>
            <a:r>
              <a:rPr lang="en-US" sz="2300" i="1" baseline="-25000" dirty="0">
                <a:latin typeface="Times New Roman" pitchFamily="18" charset="0"/>
                <a:cs typeface="Times New Roman" pitchFamily="18" charset="0"/>
              </a:rPr>
              <a:t>k</a:t>
            </a:r>
            <a:r>
              <a:rPr lang="zh-CN" altLang="en-US" sz="2300" dirty="0">
                <a:latin typeface="Times New Roman" pitchFamily="18" charset="0"/>
                <a:cs typeface="Times New Roman" pitchFamily="18" charset="0"/>
              </a:rPr>
              <a:t>可为所求。</a:t>
            </a:r>
          </a:p>
          <a:p>
            <a:pPr>
              <a:spcBef>
                <a:spcPts val="600"/>
              </a:spcBef>
              <a:buNone/>
            </a:pPr>
            <a:r>
              <a:rPr lang="zh-CN" altLang="en-US" sz="2300" dirty="0">
                <a:latin typeface="Times New Roman" pitchFamily="18" charset="0"/>
                <a:cs typeface="Times New Roman" pitchFamily="18" charset="0"/>
              </a:rPr>
              <a:t>（</a:t>
            </a:r>
            <a:r>
              <a:rPr lang="en-US" sz="2300" dirty="0">
                <a:latin typeface="Times New Roman" pitchFamily="18" charset="0"/>
                <a:cs typeface="Times New Roman" pitchFamily="18" charset="0"/>
              </a:rPr>
              <a:t>3</a:t>
            </a:r>
            <a:r>
              <a:rPr lang="zh-CN" altLang="en-US" sz="2300" dirty="0">
                <a:latin typeface="Times New Roman" pitchFamily="18" charset="0"/>
                <a:cs typeface="Times New Roman" pitchFamily="18" charset="0"/>
              </a:rPr>
              <a:t>）词特征向量是为解决</a:t>
            </a:r>
            <a:r>
              <a:rPr lang="en-US" sz="2300" dirty="0">
                <a:latin typeface="Times New Roman" pitchFamily="18" charset="0"/>
                <a:cs typeface="Times New Roman" pitchFamily="18" charset="0"/>
              </a:rPr>
              <a:t>one-hot</a:t>
            </a:r>
            <a:r>
              <a:rPr lang="zh-CN" altLang="en-US" sz="2300" dirty="0">
                <a:latin typeface="Times New Roman" pitchFamily="18" charset="0"/>
                <a:cs typeface="Times New Roman" pitchFamily="18" charset="0"/>
              </a:rPr>
              <a:t>编码向量的维数太高而且没有体现单词之间的语义相关性以及数据稀疏问题等而引入，此方法后来被称为</a:t>
            </a:r>
            <a:r>
              <a:rPr lang="zh-CN" altLang="en-US" sz="2300" b="1" dirty="0">
                <a:solidFill>
                  <a:srgbClr val="FF0000"/>
                </a:solidFill>
                <a:latin typeface="Times New Roman" pitchFamily="18" charset="0"/>
                <a:cs typeface="Times New Roman" pitchFamily="18" charset="0"/>
              </a:rPr>
              <a:t>词嵌入技术</a:t>
            </a:r>
            <a:r>
              <a:rPr lang="zh-CN" altLang="en-US" sz="2300" dirty="0">
                <a:latin typeface="Times New Roman" pitchFamily="18" charset="0"/>
                <a:cs typeface="Times New Roman" pitchFamily="18" charset="0"/>
              </a:rPr>
              <a:t>。</a:t>
            </a:r>
          </a:p>
          <a:p>
            <a:pPr>
              <a:buNone/>
            </a:pP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pic>
        <p:nvPicPr>
          <p:cNvPr id="2050" name="Picture 2"/>
          <p:cNvPicPr>
            <a:picLocks noChangeAspect="1" noChangeArrowheads="1"/>
          </p:cNvPicPr>
          <p:nvPr/>
        </p:nvPicPr>
        <p:blipFill>
          <a:blip r:embed="rId3"/>
          <a:srcRect/>
          <a:stretch>
            <a:fillRect/>
          </a:stretch>
        </p:blipFill>
        <p:spPr bwMode="auto">
          <a:xfrm>
            <a:off x="642910" y="285728"/>
            <a:ext cx="7786741" cy="5929353"/>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AutoShape 6">
            <a:hlinkClick r:id="rId2" action="ppaction://hlinksldjump"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pic>
        <p:nvPicPr>
          <p:cNvPr id="3074" name="Picture 2"/>
          <p:cNvPicPr>
            <a:picLocks noChangeAspect="1" noChangeArrowheads="1"/>
          </p:cNvPicPr>
          <p:nvPr/>
        </p:nvPicPr>
        <p:blipFill>
          <a:blip r:embed="rId3"/>
          <a:srcRect/>
          <a:stretch>
            <a:fillRect/>
          </a:stretch>
        </p:blipFill>
        <p:spPr bwMode="auto">
          <a:xfrm>
            <a:off x="714348" y="785795"/>
            <a:ext cx="7715303" cy="285923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3"/>
          <a:srcRect/>
          <a:stretch>
            <a:fillRect/>
          </a:stretch>
        </p:blipFill>
        <p:spPr bwMode="auto">
          <a:xfrm>
            <a:off x="467544" y="620688"/>
            <a:ext cx="8072494" cy="4429156"/>
          </a:xfrm>
          <a:prstGeom prst="rect">
            <a:avLst/>
          </a:prstGeom>
          <a:noFill/>
          <a:ln w="9525">
            <a:noFill/>
            <a:miter lim="800000"/>
            <a:headEnd/>
            <a:tailEnd/>
          </a:ln>
          <a:effectLst/>
        </p:spPr>
      </p:pic>
      <p:pic>
        <p:nvPicPr>
          <p:cNvPr id="9" name="图片 8">
            <a:extLst>
              <a:ext uri="{FF2B5EF4-FFF2-40B4-BE49-F238E27FC236}">
                <a16:creationId xmlns:a16="http://schemas.microsoft.com/office/drawing/2014/main" id="{A23DCA0F-449B-D118-AD22-F14B1E8DC538}"/>
              </a:ext>
            </a:extLst>
          </p:cNvPr>
          <p:cNvPicPr>
            <a:picLocks noChangeAspect="1"/>
          </p:cNvPicPr>
          <p:nvPr/>
        </p:nvPicPr>
        <p:blipFill>
          <a:blip r:embed="rId4"/>
          <a:stretch>
            <a:fillRect/>
          </a:stretch>
        </p:blipFill>
        <p:spPr>
          <a:xfrm rot="16200000">
            <a:off x="3555436" y="197091"/>
            <a:ext cx="2016225" cy="6031766"/>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9B1002E-6939-BD47-6F7D-EBB329819A5B}"/>
                  </a:ext>
                </a:extLst>
              </p:cNvPr>
              <p:cNvSpPr txBox="1"/>
              <p:nvPr/>
            </p:nvSpPr>
            <p:spPr>
              <a:xfrm>
                <a:off x="1705700" y="2132856"/>
                <a:ext cx="2004716" cy="75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 </m:t>
                      </m:r>
                      <m:nary>
                        <m:naryPr>
                          <m:chr m:val="∑"/>
                          <m:ctrlPr>
                            <a:rPr lang="zh-CN" altLang="en-US" i="1" smtClean="0">
                              <a:latin typeface="Cambria Math" panose="02040503050406030204" pitchFamily="18" charset="0"/>
                            </a:rPr>
                          </m:ctrlPr>
                        </m:naryPr>
                        <m:sub>
                          <m:r>
                            <m:rPr>
                              <m:sty m:val="p"/>
                              <m:brk m:alnAt="23"/>
                            </m:rPr>
                            <a:rPr lang="en-US" altLang="zh-CN" i="1">
                              <a:latin typeface="Cambria Math" panose="02040503050406030204" pitchFamily="18" charset="0"/>
                            </a:rPr>
                            <m:t>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𝑡</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e>
                      </m:nary>
                    </m:oMath>
                  </m:oMathPara>
                </a14:m>
                <a:endParaRPr lang="zh-CN" altLang="en-US" dirty="0"/>
              </a:p>
            </p:txBody>
          </p:sp>
        </mc:Choice>
        <mc:Fallback xmlns="">
          <p:sp>
            <p:nvSpPr>
              <p:cNvPr id="6" name="文本框 5">
                <a:extLst>
                  <a:ext uri="{FF2B5EF4-FFF2-40B4-BE49-F238E27FC236}">
                    <a16:creationId xmlns:a16="http://schemas.microsoft.com/office/drawing/2014/main" id="{E9B1002E-6939-BD47-6F7D-EBB329819A5B}"/>
                  </a:ext>
                </a:extLst>
              </p:cNvPr>
              <p:cNvSpPr txBox="1">
                <a:spLocks noRot="1" noChangeAspect="1" noMove="1" noResize="1" noEditPoints="1" noAdjustHandles="1" noChangeArrowheads="1" noChangeShapeType="1" noTextEdit="1"/>
              </p:cNvSpPr>
              <p:nvPr/>
            </p:nvSpPr>
            <p:spPr>
              <a:xfrm>
                <a:off x="1705700" y="2132856"/>
                <a:ext cx="2004716" cy="75616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A87ED49-6C47-07D6-7821-D817D20D20EE}"/>
                  </a:ext>
                </a:extLst>
              </p:cNvPr>
              <p:cNvSpPr txBox="1"/>
              <p:nvPr/>
            </p:nvSpPr>
            <p:spPr>
              <a:xfrm>
                <a:off x="1835696" y="3161294"/>
                <a:ext cx="5923416" cy="7875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ctrlPr>
                            <a:rPr lang="zh-CN" altLang="en-US" i="1" smtClean="0">
                              <a:latin typeface="Cambria Math" panose="02040503050406030204" pitchFamily="18" charset="0"/>
                            </a:rPr>
                          </m:ctrlPr>
                        </m:naryPr>
                        <m:sub>
                          <m:r>
                            <m:rPr>
                              <m:brk m:alnAt="23"/>
                            </m:rP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𝑡</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ea typeface="Cambria Math" panose="02040503050406030204" pitchFamily="18" charset="0"/>
                                </a:rPr>
                                <m:t>∙</m:t>
                              </m:r>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d>
                                    <m:dPr>
                                      <m:ctrlPr>
                                        <a:rPr lang="en-US" altLang="zh-CN" b="0" i="1" smtClean="0">
                                          <a:latin typeface="Cambria Math" panose="02040503050406030204" pitchFamily="18" charset="0"/>
                                          <a:ea typeface="Cambria Math" panose="02040503050406030204" pitchFamily="18" charset="0"/>
                                        </a:rPr>
                                      </m:ctrlPr>
                                    </m:dPr>
                                    <m:e>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𝑡</m:t>
                                          </m:r>
                                        </m:sub>
                                        <m:sup>
                                          <m:r>
                                            <a:rPr lang="en-US" altLang="zh-CN" b="0" i="1" smtClean="0">
                                              <a:latin typeface="Cambria Math" panose="02040503050406030204" pitchFamily="18" charset="0"/>
                                              <a:ea typeface="Cambria Math" panose="02040503050406030204" pitchFamily="18" charset="0"/>
                                            </a:rPr>
                                            <m:t>′</m:t>
                                          </m:r>
                                        </m:sup>
                                      </m:sSubSup>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𝑗</m:t>
                                          </m:r>
                                        </m:e>
                                      </m:d>
                                    </m:e>
                                  </m:d>
                                </m:e>
                              </m:func>
                              <m:r>
                                <a:rPr lang="en-US" altLang="zh-CN" b="0" i="1" smtClean="0">
                                  <a:latin typeface="Cambria Math" panose="02040503050406030204" pitchFamily="18" charset="0"/>
                                  <a:ea typeface="Cambria Math" panose="02040503050406030204" pitchFamily="18" charset="0"/>
                                </a:rPr>
                                <m:t>+(1−</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𝑡</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𝑗</m:t>
                                  </m:r>
                                </m:e>
                              </m:d>
                              <m:r>
                                <a:rPr lang="en-US" altLang="zh-CN"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log</m:t>
                              </m:r>
                              <m:r>
                                <a:rPr lang="en-US" altLang="zh-CN" b="0" i="1" smtClean="0">
                                  <a:latin typeface="Cambria Math" panose="02040503050406030204" pitchFamily="18" charset="0"/>
                                  <a:ea typeface="Cambria Math" panose="02040503050406030204" pitchFamily="18" charset="0"/>
                                </a:rPr>
                                <m:t>⁡(1−</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𝑡</m:t>
                                  </m:r>
                                </m:sub>
                                <m:sup>
                                  <m:r>
                                    <a:rPr lang="en-US" altLang="zh-CN" b="0" i="1" smtClean="0">
                                      <a:latin typeface="Cambria Math" panose="02040503050406030204" pitchFamily="18" charset="0"/>
                                      <a:ea typeface="Cambria Math" panose="02040503050406030204" pitchFamily="18" charset="0"/>
                                    </a:rPr>
                                    <m:t>′</m:t>
                                  </m:r>
                                </m:sup>
                              </m:sSub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e>
                          </m:nary>
                          <m:r>
                            <a:rPr lang="en-US" altLang="zh-CN" b="0" i="1" smtClean="0">
                              <a:latin typeface="Cambria Math" panose="02040503050406030204" pitchFamily="18" charset="0"/>
                            </a:rPr>
                            <m:t>)</m:t>
                          </m:r>
                        </m:e>
                      </m:nary>
                    </m:oMath>
                  </m:oMathPara>
                </a14:m>
                <a:endParaRPr lang="zh-CN" altLang="en-US" dirty="0"/>
              </a:p>
            </p:txBody>
          </p:sp>
        </mc:Choice>
        <mc:Fallback xmlns="">
          <p:sp>
            <p:nvSpPr>
              <p:cNvPr id="7" name="文本框 6">
                <a:extLst>
                  <a:ext uri="{FF2B5EF4-FFF2-40B4-BE49-F238E27FC236}">
                    <a16:creationId xmlns:a16="http://schemas.microsoft.com/office/drawing/2014/main" id="{EA87ED49-6C47-07D6-7821-D817D20D20EE}"/>
                  </a:ext>
                </a:extLst>
              </p:cNvPr>
              <p:cNvSpPr txBox="1">
                <a:spLocks noRot="1" noChangeAspect="1" noMove="1" noResize="1" noEditPoints="1" noAdjustHandles="1" noChangeArrowheads="1" noChangeShapeType="1" noTextEdit="1"/>
              </p:cNvSpPr>
              <p:nvPr/>
            </p:nvSpPr>
            <p:spPr>
              <a:xfrm>
                <a:off x="1835696" y="3161294"/>
                <a:ext cx="5923416" cy="78752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BC1D3898-3C2B-D15F-B1EF-69E106C6D5B9}"/>
                  </a:ext>
                </a:extLst>
              </p:cNvPr>
              <p:cNvSpPr txBox="1"/>
              <p:nvPr/>
            </p:nvSpPr>
            <p:spPr>
              <a:xfrm>
                <a:off x="3995936" y="2332537"/>
                <a:ext cx="3024336" cy="369332"/>
              </a:xfrm>
              <a:prstGeom prst="rect">
                <a:avLst/>
              </a:prstGeom>
              <a:noFill/>
            </p:spPr>
            <p:txBody>
              <a:bodyPr wrap="square" rtlCol="0">
                <a:spAutoFit/>
              </a:bodyPr>
              <a:lstStyle/>
              <a:p>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𝑡</m:t>
                        </m:r>
                      </m:sub>
                      <m:sup>
                        <m:r>
                          <a:rPr lang="en-US" altLang="zh-CN" b="0" i="1" smtClean="0">
                            <a:latin typeface="Cambria Math" panose="02040503050406030204" pitchFamily="18" charset="0"/>
                          </a:rPr>
                          <m:t>′</m:t>
                        </m:r>
                      </m:sup>
                    </m:sSubSup>
                    <m:r>
                      <a:rPr lang="zh-CN" altLang="en-US" i="1">
                        <a:latin typeface="Cambria Math" panose="02040503050406030204" pitchFamily="18" charset="0"/>
                      </a:rPr>
                      <m:t>是</m:t>
                    </m:r>
                  </m:oMath>
                </a14:m>
                <a:r>
                  <a:rPr lang="zh-CN" altLang="en-US" dirty="0"/>
                  <a:t>预测结果，</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y</m:t>
                        </m:r>
                      </m:e>
                      <m:sub>
                        <m:r>
                          <a:rPr lang="en-US" altLang="zh-CN" b="0" i="1" smtClean="0">
                            <a:latin typeface="Cambria Math" panose="02040503050406030204" pitchFamily="18" charset="0"/>
                          </a:rPr>
                          <m:t>𝑡</m:t>
                        </m:r>
                      </m:sub>
                    </m:sSub>
                    <m:r>
                      <a:rPr lang="zh-CN" altLang="en-US" i="1">
                        <a:latin typeface="Cambria Math" panose="02040503050406030204" pitchFamily="18" charset="0"/>
                      </a:rPr>
                      <m:t>是</m:t>
                    </m:r>
                  </m:oMath>
                </a14:m>
                <a:r>
                  <a:rPr lang="zh-CN" altLang="en-US" dirty="0"/>
                  <a:t>标签</a:t>
                </a:r>
              </a:p>
            </p:txBody>
          </p:sp>
        </mc:Choice>
        <mc:Fallback xmlns="">
          <p:sp>
            <p:nvSpPr>
              <p:cNvPr id="10" name="文本框 9">
                <a:extLst>
                  <a:ext uri="{FF2B5EF4-FFF2-40B4-BE49-F238E27FC236}">
                    <a16:creationId xmlns:a16="http://schemas.microsoft.com/office/drawing/2014/main" id="{BC1D3898-3C2B-D15F-B1EF-69E106C6D5B9}"/>
                  </a:ext>
                </a:extLst>
              </p:cNvPr>
              <p:cNvSpPr txBox="1">
                <a:spLocks noRot="1" noChangeAspect="1" noMove="1" noResize="1" noEditPoints="1" noAdjustHandles="1" noChangeArrowheads="1" noChangeShapeType="1" noTextEdit="1"/>
              </p:cNvSpPr>
              <p:nvPr/>
            </p:nvSpPr>
            <p:spPr>
              <a:xfrm>
                <a:off x="3995936" y="2332537"/>
                <a:ext cx="3024336" cy="369332"/>
              </a:xfrm>
              <a:prstGeom prst="rect">
                <a:avLst/>
              </a:prstGeom>
              <a:blipFill>
                <a:blip r:embed="rId7"/>
                <a:stretch>
                  <a:fillRect t="-13333" b="-2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77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24729" y="313438"/>
            <a:ext cx="7804923" cy="1543926"/>
          </a:xfrm>
        </p:spPr>
        <p:txBody>
          <a:bodyPr/>
          <a:lstStyle/>
          <a:p>
            <a:pPr>
              <a:buNone/>
            </a:pPr>
            <a:r>
              <a:rPr lang="en-US" sz="2800" dirty="0"/>
              <a:t>15.4.3 </a:t>
            </a:r>
            <a:r>
              <a:rPr lang="zh-CN" altLang="en-US" sz="2800" dirty="0"/>
              <a:t>循环神经网络语言模型</a:t>
            </a:r>
          </a:p>
          <a:p>
            <a:pPr>
              <a:buNone/>
            </a:pPr>
            <a:r>
              <a:rPr lang="en-US" sz="2400" b="1" dirty="0"/>
              <a:t>   </a:t>
            </a:r>
            <a:r>
              <a:rPr lang="en-US" sz="2400" dirty="0"/>
              <a:t>1</a:t>
            </a:r>
            <a:r>
              <a:rPr lang="zh-CN" altLang="en-US" sz="2400" dirty="0"/>
              <a:t>．循环神经网络</a:t>
            </a:r>
          </a:p>
          <a:p>
            <a:pPr>
              <a:buNone/>
            </a:pPr>
            <a:r>
              <a:rPr lang="en-US" sz="2400" dirty="0"/>
              <a:t>     1) </a:t>
            </a:r>
            <a:r>
              <a:rPr lang="zh-CN" altLang="en-US" sz="2400" dirty="0"/>
              <a:t>网络结构与数据流程</a:t>
            </a:r>
          </a:p>
          <a:p>
            <a:pPr>
              <a:buNone/>
            </a:pPr>
            <a:endParaRPr lang="zh-CN" altLang="en-US" dirty="0"/>
          </a:p>
        </p:txBody>
      </p:sp>
      <p:pic>
        <p:nvPicPr>
          <p:cNvPr id="5122" name="Picture 2"/>
          <p:cNvPicPr>
            <a:picLocks noChangeAspect="1" noChangeArrowheads="1"/>
          </p:cNvPicPr>
          <p:nvPr/>
        </p:nvPicPr>
        <p:blipFill>
          <a:blip r:embed="rId3"/>
          <a:srcRect/>
          <a:stretch>
            <a:fillRect/>
          </a:stretch>
        </p:blipFill>
        <p:spPr bwMode="auto">
          <a:xfrm>
            <a:off x="428596" y="1714488"/>
            <a:ext cx="8215371" cy="4786346"/>
          </a:xfrm>
          <a:prstGeom prst="rect">
            <a:avLst/>
          </a:prstGeom>
          <a:noFill/>
          <a:ln w="9525">
            <a:noFill/>
            <a:miter lim="800000"/>
            <a:headEnd/>
            <a:tailEnd/>
          </a:ln>
          <a:effectLst/>
        </p:spPr>
      </p:pic>
      <p:sp>
        <p:nvSpPr>
          <p:cNvPr id="2" name="文本框 1">
            <a:extLst>
              <a:ext uri="{FF2B5EF4-FFF2-40B4-BE49-F238E27FC236}">
                <a16:creationId xmlns:a16="http://schemas.microsoft.com/office/drawing/2014/main" id="{A80B1E51-77CD-C0F9-3D14-11E5D12F7B64}"/>
              </a:ext>
            </a:extLst>
          </p:cNvPr>
          <p:cNvSpPr txBox="1"/>
          <p:nvPr/>
        </p:nvSpPr>
        <p:spPr>
          <a:xfrm>
            <a:off x="169846" y="3258414"/>
            <a:ext cx="454883" cy="646331"/>
          </a:xfrm>
          <a:prstGeom prst="rect">
            <a:avLst/>
          </a:prstGeom>
          <a:noFill/>
        </p:spPr>
        <p:txBody>
          <a:bodyPr wrap="square" rtlCol="0">
            <a:spAutoFit/>
          </a:bodyPr>
          <a:lstStyle/>
          <a:p>
            <a:r>
              <a:rPr lang="zh-CN" altLang="en-US" dirty="0"/>
              <a:t>参数</a:t>
            </a:r>
          </a:p>
        </p:txBody>
      </p:sp>
      <p:cxnSp>
        <p:nvCxnSpPr>
          <p:cNvPr id="4" name="直接箭头连接符 3">
            <a:extLst>
              <a:ext uri="{FF2B5EF4-FFF2-40B4-BE49-F238E27FC236}">
                <a16:creationId xmlns:a16="http://schemas.microsoft.com/office/drawing/2014/main" id="{1F8FDFC4-886E-48A2-D212-295EB5D783AE}"/>
              </a:ext>
            </a:extLst>
          </p:cNvPr>
          <p:cNvCxnSpPr/>
          <p:nvPr/>
        </p:nvCxnSpPr>
        <p:spPr>
          <a:xfrm flipV="1">
            <a:off x="624729" y="2924944"/>
            <a:ext cx="706911" cy="6566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753E97B8-8833-BC6D-4692-7A901E310040}"/>
              </a:ext>
            </a:extLst>
          </p:cNvPr>
          <p:cNvCxnSpPr>
            <a:cxnSpLocks/>
            <a:stCxn id="2" idx="3"/>
          </p:cNvCxnSpPr>
          <p:nvPr/>
        </p:nvCxnSpPr>
        <p:spPr>
          <a:xfrm>
            <a:off x="624729" y="3581580"/>
            <a:ext cx="634903" cy="5675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24729" y="313438"/>
            <a:ext cx="7804923" cy="1543926"/>
          </a:xfrm>
        </p:spPr>
        <p:txBody>
          <a:bodyPr/>
          <a:lstStyle/>
          <a:p>
            <a:pPr>
              <a:buNone/>
            </a:pPr>
            <a:r>
              <a:rPr lang="en-US" sz="2800" dirty="0"/>
              <a:t>15.4.3 </a:t>
            </a:r>
            <a:r>
              <a:rPr lang="zh-CN" altLang="en-US" sz="2800" dirty="0"/>
              <a:t>循环神经网络语言模型</a:t>
            </a:r>
          </a:p>
          <a:p>
            <a:pPr>
              <a:buNone/>
            </a:pPr>
            <a:r>
              <a:rPr lang="en-US" sz="2400" b="1" dirty="0"/>
              <a:t>   </a:t>
            </a:r>
            <a:r>
              <a:rPr lang="en-US" sz="2400" dirty="0"/>
              <a:t>1</a:t>
            </a:r>
            <a:r>
              <a:rPr lang="zh-CN" altLang="en-US" sz="2400" dirty="0"/>
              <a:t>．循环神经网络</a:t>
            </a:r>
          </a:p>
          <a:p>
            <a:pPr>
              <a:buNone/>
            </a:pPr>
            <a:r>
              <a:rPr lang="en-US" sz="2400" dirty="0"/>
              <a:t>     1) </a:t>
            </a:r>
            <a:r>
              <a:rPr lang="zh-CN" altLang="en-US" sz="2400" dirty="0"/>
              <a:t>网络结构与数据流程</a:t>
            </a:r>
          </a:p>
          <a:p>
            <a:pPr>
              <a:buNone/>
            </a:pPr>
            <a:endParaRPr lang="zh-CN" altLang="en-US" dirty="0"/>
          </a:p>
        </p:txBody>
      </p:sp>
      <p:pic>
        <p:nvPicPr>
          <p:cNvPr id="6146" name="Picture 2"/>
          <p:cNvPicPr>
            <a:picLocks noChangeAspect="1" noChangeArrowheads="1"/>
          </p:cNvPicPr>
          <p:nvPr/>
        </p:nvPicPr>
        <p:blipFill>
          <a:blip r:embed="rId3"/>
          <a:srcRect/>
          <a:stretch>
            <a:fillRect/>
          </a:stretch>
        </p:blipFill>
        <p:spPr bwMode="auto">
          <a:xfrm>
            <a:off x="1142976" y="2000240"/>
            <a:ext cx="7500990" cy="4071966"/>
          </a:xfrm>
          <a:prstGeom prst="rect">
            <a:avLst/>
          </a:prstGeom>
          <a:noFill/>
          <a:ln w="9525">
            <a:noFill/>
            <a:miter lim="800000"/>
            <a:headEnd/>
            <a:tailEnd/>
          </a:ln>
          <a:effectLst/>
        </p:spPr>
      </p:pic>
      <p:pic>
        <p:nvPicPr>
          <p:cNvPr id="3" name="图片 2">
            <a:extLst>
              <a:ext uri="{FF2B5EF4-FFF2-40B4-BE49-F238E27FC236}">
                <a16:creationId xmlns:a16="http://schemas.microsoft.com/office/drawing/2014/main" id="{919081C4-E399-9177-9292-FDDC8B0845FE}"/>
              </a:ext>
            </a:extLst>
          </p:cNvPr>
          <p:cNvPicPr>
            <a:picLocks noChangeAspect="1"/>
          </p:cNvPicPr>
          <p:nvPr/>
        </p:nvPicPr>
        <p:blipFill>
          <a:blip r:embed="rId4"/>
          <a:stretch>
            <a:fillRect/>
          </a:stretch>
        </p:blipFill>
        <p:spPr>
          <a:xfrm>
            <a:off x="3347864" y="4005064"/>
            <a:ext cx="216024" cy="3024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srcRect/>
          <a:stretch>
            <a:fillRect/>
          </a:stretch>
        </p:blipFill>
        <p:spPr bwMode="auto">
          <a:xfrm>
            <a:off x="714348" y="500042"/>
            <a:ext cx="7572428" cy="5857916"/>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857224" y="857232"/>
            <a:ext cx="7715304" cy="4572031"/>
          </a:xfrm>
          <a:prstGeom prst="rect">
            <a:avLst/>
          </a:prstGeom>
          <a:noFill/>
          <a:ln w="9525">
            <a:noFill/>
            <a:miter lim="800000"/>
            <a:headEnd/>
            <a:tailEnd/>
          </a:ln>
          <a:effectLst/>
        </p:spPr>
      </p:pic>
      <p:sp>
        <p:nvSpPr>
          <p:cNvPr id="2" name="文本框 1">
            <a:extLst>
              <a:ext uri="{FF2B5EF4-FFF2-40B4-BE49-F238E27FC236}">
                <a16:creationId xmlns:a16="http://schemas.microsoft.com/office/drawing/2014/main" id="{65D03FF3-2612-19AA-0B36-E382E8053F4B}"/>
              </a:ext>
            </a:extLst>
          </p:cNvPr>
          <p:cNvSpPr txBox="1"/>
          <p:nvPr/>
        </p:nvSpPr>
        <p:spPr>
          <a:xfrm>
            <a:off x="6084168" y="3068960"/>
            <a:ext cx="1440160" cy="646331"/>
          </a:xfrm>
          <a:prstGeom prst="rect">
            <a:avLst/>
          </a:prstGeom>
          <a:noFill/>
        </p:spPr>
        <p:txBody>
          <a:bodyPr wrap="square" rtlCol="0">
            <a:spAutoFit/>
          </a:bodyPr>
          <a:lstStyle/>
          <a:p>
            <a:r>
              <a:rPr lang="zh-CN" altLang="en-US" b="1" dirty="0">
                <a:solidFill>
                  <a:srgbClr val="FF0000"/>
                </a:solidFill>
              </a:rPr>
              <a:t>先更新记忆再输出内容</a:t>
            </a:r>
          </a:p>
        </p:txBody>
      </p:sp>
      <p:sp>
        <p:nvSpPr>
          <p:cNvPr id="3" name="箭头: 右 2">
            <a:extLst>
              <a:ext uri="{FF2B5EF4-FFF2-40B4-BE49-F238E27FC236}">
                <a16:creationId xmlns:a16="http://schemas.microsoft.com/office/drawing/2014/main" id="{BE90F732-E63E-052D-2DEB-60BEEAD92286}"/>
              </a:ext>
            </a:extLst>
          </p:cNvPr>
          <p:cNvSpPr/>
          <p:nvPr/>
        </p:nvSpPr>
        <p:spPr>
          <a:xfrm>
            <a:off x="5724128" y="3284984"/>
            <a:ext cx="360040" cy="2880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7270FBC-8FD0-2EA3-1A4A-E003A0611AB1}"/>
              </a:ext>
            </a:extLst>
          </p:cNvPr>
          <p:cNvPicPr>
            <a:picLocks noChangeAspect="1"/>
          </p:cNvPicPr>
          <p:nvPr/>
        </p:nvPicPr>
        <p:blipFill>
          <a:blip r:embed="rId4"/>
          <a:stretch>
            <a:fillRect/>
          </a:stretch>
        </p:blipFill>
        <p:spPr>
          <a:xfrm>
            <a:off x="698388" y="4797152"/>
            <a:ext cx="7747224" cy="18083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srcRect/>
          <a:stretch>
            <a:fillRect/>
          </a:stretch>
        </p:blipFill>
        <p:spPr bwMode="auto">
          <a:xfrm>
            <a:off x="714348" y="571480"/>
            <a:ext cx="8286808" cy="5143536"/>
          </a:xfrm>
          <a:prstGeom prst="rect">
            <a:avLst/>
          </a:prstGeom>
          <a:noFill/>
          <a:ln w="9525">
            <a:noFill/>
            <a:miter lim="800000"/>
            <a:headEnd/>
            <a:tailEnd/>
          </a:ln>
          <a:effectLst/>
        </p:spPr>
      </p:pic>
      <p:cxnSp>
        <p:nvCxnSpPr>
          <p:cNvPr id="3" name="直接箭头连接符 2">
            <a:extLst>
              <a:ext uri="{FF2B5EF4-FFF2-40B4-BE49-F238E27FC236}">
                <a16:creationId xmlns:a16="http://schemas.microsoft.com/office/drawing/2014/main" id="{4A0E297D-62E8-D40F-83F4-9519863707EC}"/>
              </a:ext>
            </a:extLst>
          </p:cNvPr>
          <p:cNvCxnSpPr/>
          <p:nvPr/>
        </p:nvCxnSpPr>
        <p:spPr>
          <a:xfrm>
            <a:off x="1331640" y="2060848"/>
            <a:ext cx="648072" cy="14401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7B9B7146-0F06-BF48-C333-98599AF61EBD}"/>
              </a:ext>
            </a:extLst>
          </p:cNvPr>
          <p:cNvSpPr txBox="1"/>
          <p:nvPr/>
        </p:nvSpPr>
        <p:spPr>
          <a:xfrm>
            <a:off x="1547664" y="2816760"/>
            <a:ext cx="936104" cy="369332"/>
          </a:xfrm>
          <a:prstGeom prst="rect">
            <a:avLst/>
          </a:prstGeom>
          <a:noFill/>
        </p:spPr>
        <p:txBody>
          <a:bodyPr wrap="square" rtlCol="0">
            <a:spAutoFit/>
          </a:bodyPr>
          <a:lstStyle/>
          <a:p>
            <a:r>
              <a:rPr lang="zh-CN" altLang="en-US" b="1" dirty="0">
                <a:solidFill>
                  <a:srgbClr val="FF0000"/>
                </a:solidFill>
              </a:rPr>
              <a:t>遗忘门</a:t>
            </a:r>
          </a:p>
        </p:txBody>
      </p:sp>
      <p:cxnSp>
        <p:nvCxnSpPr>
          <p:cNvPr id="5" name="直接箭头连接符 4">
            <a:extLst>
              <a:ext uri="{FF2B5EF4-FFF2-40B4-BE49-F238E27FC236}">
                <a16:creationId xmlns:a16="http://schemas.microsoft.com/office/drawing/2014/main" id="{A0DEE578-A1BB-1C79-309F-8F9AF9A228FC}"/>
              </a:ext>
            </a:extLst>
          </p:cNvPr>
          <p:cNvCxnSpPr>
            <a:cxnSpLocks/>
          </p:cNvCxnSpPr>
          <p:nvPr/>
        </p:nvCxnSpPr>
        <p:spPr>
          <a:xfrm flipV="1">
            <a:off x="1547664" y="3861048"/>
            <a:ext cx="569573" cy="40516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E913B4DD-BE5A-AC63-8F0F-09885EEDE2B0}"/>
              </a:ext>
            </a:extLst>
          </p:cNvPr>
          <p:cNvSpPr txBox="1"/>
          <p:nvPr/>
        </p:nvSpPr>
        <p:spPr>
          <a:xfrm>
            <a:off x="765616" y="4221088"/>
            <a:ext cx="1368152" cy="369332"/>
          </a:xfrm>
          <a:prstGeom prst="rect">
            <a:avLst/>
          </a:prstGeom>
          <a:noFill/>
        </p:spPr>
        <p:txBody>
          <a:bodyPr wrap="square" rtlCol="0">
            <a:spAutoFit/>
          </a:bodyPr>
          <a:lstStyle/>
          <a:p>
            <a:r>
              <a:rPr lang="zh-CN" altLang="en-US" b="1" dirty="0">
                <a:solidFill>
                  <a:srgbClr val="FF0000"/>
                </a:solidFill>
              </a:rPr>
              <a:t>短期记忆</a:t>
            </a:r>
          </a:p>
        </p:txBody>
      </p:sp>
      <p:cxnSp>
        <p:nvCxnSpPr>
          <p:cNvPr id="8" name="直接箭头连接符 7">
            <a:extLst>
              <a:ext uri="{FF2B5EF4-FFF2-40B4-BE49-F238E27FC236}">
                <a16:creationId xmlns:a16="http://schemas.microsoft.com/office/drawing/2014/main" id="{A4215AE8-4F61-7EF4-E7CD-862FE54B76EF}"/>
              </a:ext>
            </a:extLst>
          </p:cNvPr>
          <p:cNvCxnSpPr/>
          <p:nvPr/>
        </p:nvCxnSpPr>
        <p:spPr>
          <a:xfrm>
            <a:off x="2102564" y="3140968"/>
            <a:ext cx="648072" cy="14401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7E5CE71C-5F8E-3FD5-88BB-4E1643185E80}"/>
              </a:ext>
            </a:extLst>
          </p:cNvPr>
          <p:cNvSpPr txBox="1"/>
          <p:nvPr/>
        </p:nvSpPr>
        <p:spPr>
          <a:xfrm>
            <a:off x="765616" y="1745264"/>
            <a:ext cx="1368152" cy="369332"/>
          </a:xfrm>
          <a:prstGeom prst="rect">
            <a:avLst/>
          </a:prstGeom>
          <a:noFill/>
        </p:spPr>
        <p:txBody>
          <a:bodyPr wrap="square" rtlCol="0">
            <a:spAutoFit/>
          </a:bodyPr>
          <a:lstStyle/>
          <a:p>
            <a:r>
              <a:rPr lang="zh-CN" altLang="en-US" b="1" dirty="0">
                <a:solidFill>
                  <a:srgbClr val="FF0000"/>
                </a:solidFill>
              </a:rPr>
              <a:t>长期记忆</a:t>
            </a:r>
          </a:p>
        </p:txBody>
      </p:sp>
      <p:cxnSp>
        <p:nvCxnSpPr>
          <p:cNvPr id="10" name="直接箭头连接符 9">
            <a:extLst>
              <a:ext uri="{FF2B5EF4-FFF2-40B4-BE49-F238E27FC236}">
                <a16:creationId xmlns:a16="http://schemas.microsoft.com/office/drawing/2014/main" id="{F55CE9B9-FB1F-3AC4-91FC-2F4FAC572149}"/>
              </a:ext>
            </a:extLst>
          </p:cNvPr>
          <p:cNvCxnSpPr>
            <a:cxnSpLocks/>
          </p:cNvCxnSpPr>
          <p:nvPr/>
        </p:nvCxnSpPr>
        <p:spPr>
          <a:xfrm flipH="1" flipV="1">
            <a:off x="4067944" y="3645024"/>
            <a:ext cx="527410" cy="94539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9CAD4C9E-DAAC-DE5F-D550-0793D1200166}"/>
              </a:ext>
            </a:extLst>
          </p:cNvPr>
          <p:cNvSpPr txBox="1"/>
          <p:nvPr/>
        </p:nvSpPr>
        <p:spPr>
          <a:xfrm>
            <a:off x="4139952" y="4509120"/>
            <a:ext cx="936104" cy="369332"/>
          </a:xfrm>
          <a:prstGeom prst="rect">
            <a:avLst/>
          </a:prstGeom>
          <a:noFill/>
        </p:spPr>
        <p:txBody>
          <a:bodyPr wrap="square" rtlCol="0">
            <a:spAutoFit/>
          </a:bodyPr>
          <a:lstStyle/>
          <a:p>
            <a:r>
              <a:rPr lang="zh-CN" altLang="en-US" b="1" dirty="0">
                <a:solidFill>
                  <a:srgbClr val="FF0000"/>
                </a:solidFill>
              </a:rPr>
              <a:t>输入门</a:t>
            </a:r>
          </a:p>
        </p:txBody>
      </p:sp>
      <p:cxnSp>
        <p:nvCxnSpPr>
          <p:cNvPr id="13" name="直接箭头连接符 12">
            <a:extLst>
              <a:ext uri="{FF2B5EF4-FFF2-40B4-BE49-F238E27FC236}">
                <a16:creationId xmlns:a16="http://schemas.microsoft.com/office/drawing/2014/main" id="{1FB1863D-7F77-01D5-54DB-D57AB285C229}"/>
              </a:ext>
            </a:extLst>
          </p:cNvPr>
          <p:cNvCxnSpPr>
            <a:cxnSpLocks/>
          </p:cNvCxnSpPr>
          <p:nvPr/>
        </p:nvCxnSpPr>
        <p:spPr>
          <a:xfrm flipH="1" flipV="1">
            <a:off x="5652120" y="3642503"/>
            <a:ext cx="527410" cy="94539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0661F735-5E6C-7ED0-2557-5357A647AB66}"/>
              </a:ext>
            </a:extLst>
          </p:cNvPr>
          <p:cNvSpPr txBox="1"/>
          <p:nvPr/>
        </p:nvSpPr>
        <p:spPr>
          <a:xfrm>
            <a:off x="5711478" y="4509120"/>
            <a:ext cx="936104" cy="369332"/>
          </a:xfrm>
          <a:prstGeom prst="rect">
            <a:avLst/>
          </a:prstGeom>
          <a:noFill/>
        </p:spPr>
        <p:txBody>
          <a:bodyPr wrap="square" rtlCol="0">
            <a:spAutoFit/>
          </a:bodyPr>
          <a:lstStyle/>
          <a:p>
            <a:r>
              <a:rPr lang="zh-CN" altLang="en-US" b="1" dirty="0">
                <a:solidFill>
                  <a:srgbClr val="FF0000"/>
                </a:solidFill>
              </a:rPr>
              <a:t>输出门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srcRect/>
          <a:stretch>
            <a:fillRect/>
          </a:stretch>
        </p:blipFill>
        <p:spPr bwMode="auto">
          <a:xfrm>
            <a:off x="642910" y="500042"/>
            <a:ext cx="7858180" cy="4357718"/>
          </a:xfrm>
          <a:prstGeom prst="rect">
            <a:avLst/>
          </a:prstGeom>
          <a:noFill/>
          <a:ln w="9525">
            <a:noFill/>
            <a:miter lim="800000"/>
            <a:headEnd/>
            <a:tailEnd/>
          </a:ln>
          <a:effectLst/>
        </p:spPr>
      </p:pic>
      <p:cxnSp>
        <p:nvCxnSpPr>
          <p:cNvPr id="5" name="直接箭头连接符 4">
            <a:extLst>
              <a:ext uri="{FF2B5EF4-FFF2-40B4-BE49-F238E27FC236}">
                <a16:creationId xmlns:a16="http://schemas.microsoft.com/office/drawing/2014/main" id="{7158A8B2-4033-1397-85BE-C860610A399C}"/>
              </a:ext>
            </a:extLst>
          </p:cNvPr>
          <p:cNvCxnSpPr>
            <a:cxnSpLocks/>
          </p:cNvCxnSpPr>
          <p:nvPr/>
        </p:nvCxnSpPr>
        <p:spPr>
          <a:xfrm flipH="1">
            <a:off x="5652120" y="3356992"/>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F69DBFDD-0CFD-F0B0-E9C7-12C848C94E78}"/>
              </a:ext>
            </a:extLst>
          </p:cNvPr>
          <p:cNvSpPr txBox="1"/>
          <p:nvPr/>
        </p:nvSpPr>
        <p:spPr>
          <a:xfrm>
            <a:off x="6163411" y="3172326"/>
            <a:ext cx="3023660" cy="369332"/>
          </a:xfrm>
          <a:prstGeom prst="rect">
            <a:avLst/>
          </a:prstGeom>
          <a:noFill/>
        </p:spPr>
        <p:txBody>
          <a:bodyPr wrap="square" rtlCol="0">
            <a:spAutoFit/>
          </a:bodyPr>
          <a:lstStyle/>
          <a:p>
            <a:r>
              <a:rPr lang="zh-CN" altLang="en-US" dirty="0"/>
              <a:t>取值</a:t>
            </a:r>
            <a:r>
              <a:rPr lang="en-US" altLang="zh-CN" dirty="0"/>
              <a:t>0~1</a:t>
            </a:r>
            <a:r>
              <a:rPr lang="zh-CN" altLang="en-US" dirty="0"/>
              <a:t>，那些位置被遗忘</a:t>
            </a:r>
          </a:p>
        </p:txBody>
      </p:sp>
      <p:sp>
        <p:nvSpPr>
          <p:cNvPr id="9" name="文本框 8">
            <a:extLst>
              <a:ext uri="{FF2B5EF4-FFF2-40B4-BE49-F238E27FC236}">
                <a16:creationId xmlns:a16="http://schemas.microsoft.com/office/drawing/2014/main" id="{16492D45-BD26-48E4-2152-2AF9AE18C98C}"/>
              </a:ext>
            </a:extLst>
          </p:cNvPr>
          <p:cNvSpPr txBox="1"/>
          <p:nvPr/>
        </p:nvSpPr>
        <p:spPr>
          <a:xfrm>
            <a:off x="6120340" y="2494235"/>
            <a:ext cx="3023660" cy="369332"/>
          </a:xfrm>
          <a:prstGeom prst="rect">
            <a:avLst/>
          </a:prstGeom>
          <a:noFill/>
        </p:spPr>
        <p:txBody>
          <a:bodyPr wrap="square" rtlCol="0">
            <a:spAutoFit/>
          </a:bodyPr>
          <a:lstStyle/>
          <a:p>
            <a:r>
              <a:rPr lang="zh-CN" altLang="en-US" dirty="0"/>
              <a:t>取值</a:t>
            </a:r>
            <a:r>
              <a:rPr lang="en-US" altLang="zh-CN" dirty="0"/>
              <a:t>0~1</a:t>
            </a:r>
            <a:r>
              <a:rPr lang="zh-CN" altLang="en-US" dirty="0"/>
              <a:t>，那些位置被更新</a:t>
            </a:r>
          </a:p>
        </p:txBody>
      </p:sp>
      <p:cxnSp>
        <p:nvCxnSpPr>
          <p:cNvPr id="10" name="直接箭头连接符 9">
            <a:extLst>
              <a:ext uri="{FF2B5EF4-FFF2-40B4-BE49-F238E27FC236}">
                <a16:creationId xmlns:a16="http://schemas.microsoft.com/office/drawing/2014/main" id="{85EB5B4E-F9AE-7C6B-E4BE-7CD3707559E9}"/>
              </a:ext>
            </a:extLst>
          </p:cNvPr>
          <p:cNvCxnSpPr>
            <a:cxnSpLocks/>
          </p:cNvCxnSpPr>
          <p:nvPr/>
        </p:nvCxnSpPr>
        <p:spPr>
          <a:xfrm flipH="1">
            <a:off x="5616284" y="2708920"/>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3E9CC419-BC36-3135-3D42-81C8CC960C14}"/>
              </a:ext>
            </a:extLst>
          </p:cNvPr>
          <p:cNvCxnSpPr>
            <a:cxnSpLocks/>
          </p:cNvCxnSpPr>
          <p:nvPr/>
        </p:nvCxnSpPr>
        <p:spPr>
          <a:xfrm flipH="1">
            <a:off x="5659355" y="3933056"/>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900ED99-2581-3CE4-F832-A9BA9851703F}"/>
                  </a:ext>
                </a:extLst>
              </p:cNvPr>
              <p:cNvSpPr txBox="1"/>
              <p:nvPr/>
            </p:nvSpPr>
            <p:spPr>
              <a:xfrm>
                <a:off x="6163411" y="3748390"/>
                <a:ext cx="3023660" cy="646331"/>
              </a:xfrm>
              <a:prstGeom prst="rect">
                <a:avLst/>
              </a:prstGeom>
              <a:noFill/>
            </p:spPr>
            <p:txBody>
              <a:bodyPr wrap="square" rtlCol="0">
                <a:spAutoFit/>
              </a:bodyPr>
              <a:lstStyle/>
              <a:p>
                <a:r>
                  <a:rPr lang="zh-CN" altLang="en-US" dirty="0"/>
                  <a:t>取值</a:t>
                </a:r>
                <a:r>
                  <a:rPr lang="en-US" altLang="zh-CN" dirty="0"/>
                  <a:t>0~1</a:t>
                </a:r>
                <a:r>
                  <a:rPr lang="zh-CN" altLang="en-US" dirty="0"/>
                  <a:t>，那些位置的</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c</m:t>
                        </m:r>
                      </m:e>
                      <m:sub>
                        <m:r>
                          <a:rPr lang="en-US" altLang="zh-CN" b="0" i="1" smtClean="0">
                            <a:latin typeface="Cambria Math" panose="02040503050406030204" pitchFamily="18" charset="0"/>
                          </a:rPr>
                          <m:t>𝑡</m:t>
                        </m:r>
                      </m:sub>
                    </m:sSub>
                    <m:r>
                      <a:rPr lang="zh-CN" altLang="en-US" i="1">
                        <a:latin typeface="Cambria Math" panose="02040503050406030204" pitchFamily="18" charset="0"/>
                      </a:rPr>
                      <m:t>被</m:t>
                    </m:r>
                  </m:oMath>
                </a14:m>
                <a:r>
                  <a:rPr lang="zh-CN" altLang="en-US" dirty="0"/>
                  <a:t>被存入到</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h</m:t>
                        </m:r>
                      </m:e>
                      <m:sub>
                        <m:r>
                          <a:rPr lang="en-US" altLang="zh-CN" b="0" i="1" smtClean="0">
                            <a:latin typeface="Cambria Math" panose="02040503050406030204" pitchFamily="18" charset="0"/>
                          </a:rPr>
                          <m:t>𝑡</m:t>
                        </m:r>
                      </m:sub>
                    </m:sSub>
                  </m:oMath>
                </a14:m>
                <a:endParaRPr lang="zh-CN" altLang="en-US" dirty="0"/>
              </a:p>
            </p:txBody>
          </p:sp>
        </mc:Choice>
        <mc:Fallback xmlns="">
          <p:sp>
            <p:nvSpPr>
              <p:cNvPr id="12" name="文本框 11">
                <a:extLst>
                  <a:ext uri="{FF2B5EF4-FFF2-40B4-BE49-F238E27FC236}">
                    <a16:creationId xmlns:a16="http://schemas.microsoft.com/office/drawing/2014/main" id="{8900ED99-2581-3CE4-F832-A9BA9851703F}"/>
                  </a:ext>
                </a:extLst>
              </p:cNvPr>
              <p:cNvSpPr txBox="1">
                <a:spLocks noRot="1" noChangeAspect="1" noMove="1" noResize="1" noEditPoints="1" noAdjustHandles="1" noChangeArrowheads="1" noChangeShapeType="1" noTextEdit="1"/>
              </p:cNvSpPr>
              <p:nvPr/>
            </p:nvSpPr>
            <p:spPr>
              <a:xfrm>
                <a:off x="6163411" y="3748390"/>
                <a:ext cx="3023660" cy="646331"/>
              </a:xfrm>
              <a:prstGeom prst="rect">
                <a:avLst/>
              </a:prstGeom>
              <a:blipFill>
                <a:blip r:embed="rId4"/>
                <a:stretch>
                  <a:fillRect l="-1613" t="-7547" b="-12264"/>
                </a:stretch>
              </a:blipFill>
            </p:spPr>
            <p:txBody>
              <a:bodyPr/>
              <a:lstStyle/>
              <a:p>
                <a:r>
                  <a:rPr lang="zh-CN" altLang="en-US">
                    <a:noFill/>
                  </a:rPr>
                  <a:t> </a:t>
                </a:r>
              </a:p>
            </p:txBody>
          </p:sp>
        </mc:Fallback>
      </mc:AlternateContent>
      <p:cxnSp>
        <p:nvCxnSpPr>
          <p:cNvPr id="13" name="直接箭头连接符 12">
            <a:extLst>
              <a:ext uri="{FF2B5EF4-FFF2-40B4-BE49-F238E27FC236}">
                <a16:creationId xmlns:a16="http://schemas.microsoft.com/office/drawing/2014/main" id="{9C384693-3D1A-7C75-0027-9EAAF7F57A5F}"/>
              </a:ext>
            </a:extLst>
          </p:cNvPr>
          <p:cNvCxnSpPr>
            <a:cxnSpLocks/>
          </p:cNvCxnSpPr>
          <p:nvPr/>
        </p:nvCxnSpPr>
        <p:spPr>
          <a:xfrm flipH="1">
            <a:off x="5659355" y="4581128"/>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B7BBAA5C-B8C0-E877-8C23-4D1C5AA92EA2}"/>
              </a:ext>
            </a:extLst>
          </p:cNvPr>
          <p:cNvSpPr txBox="1"/>
          <p:nvPr/>
        </p:nvSpPr>
        <p:spPr>
          <a:xfrm>
            <a:off x="6192113" y="4394721"/>
            <a:ext cx="3023660" cy="646331"/>
          </a:xfrm>
          <a:prstGeom prst="rect">
            <a:avLst/>
          </a:prstGeom>
          <a:noFill/>
        </p:spPr>
        <p:txBody>
          <a:bodyPr wrap="square" rtlCol="0">
            <a:spAutoFit/>
          </a:bodyPr>
          <a:lstStyle/>
          <a:p>
            <a:r>
              <a:rPr lang="zh-CN" altLang="en-US" dirty="0"/>
              <a:t>取值</a:t>
            </a:r>
            <a:r>
              <a:rPr lang="en-US" altLang="zh-CN" dirty="0"/>
              <a:t>-1~1</a:t>
            </a:r>
            <a:r>
              <a:rPr lang="zh-CN" altLang="en-US" dirty="0"/>
              <a:t>，那些信息需要被长时记忆</a:t>
            </a:r>
          </a:p>
        </p:txBody>
      </p:sp>
      <p:cxnSp>
        <p:nvCxnSpPr>
          <p:cNvPr id="15" name="直接箭头连接符 14">
            <a:extLst>
              <a:ext uri="{FF2B5EF4-FFF2-40B4-BE49-F238E27FC236}">
                <a16:creationId xmlns:a16="http://schemas.microsoft.com/office/drawing/2014/main" id="{1EB89F09-5BAE-8B18-7B5F-F0D5D0BD79E7}"/>
              </a:ext>
            </a:extLst>
          </p:cNvPr>
          <p:cNvCxnSpPr>
            <a:cxnSpLocks/>
          </p:cNvCxnSpPr>
          <p:nvPr/>
        </p:nvCxnSpPr>
        <p:spPr>
          <a:xfrm>
            <a:off x="2627784" y="1484784"/>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2B6C12E9-3836-6EBA-46E7-52FBC152F786}"/>
              </a:ext>
            </a:extLst>
          </p:cNvPr>
          <p:cNvSpPr txBox="1"/>
          <p:nvPr/>
        </p:nvSpPr>
        <p:spPr>
          <a:xfrm>
            <a:off x="642910" y="1161618"/>
            <a:ext cx="2195568" cy="646331"/>
          </a:xfrm>
          <a:prstGeom prst="rect">
            <a:avLst/>
          </a:prstGeom>
          <a:noFill/>
        </p:spPr>
        <p:txBody>
          <a:bodyPr wrap="square" rtlCol="0">
            <a:spAutoFit/>
          </a:bodyPr>
          <a:lstStyle/>
          <a:p>
            <a:r>
              <a:rPr lang="zh-CN" altLang="en-US" b="1" dirty="0">
                <a:solidFill>
                  <a:srgbClr val="FF0000"/>
                </a:solidFill>
              </a:rPr>
              <a:t>短时记忆，从长时记忆中取值被存入</a:t>
            </a:r>
          </a:p>
        </p:txBody>
      </p:sp>
      <p:sp>
        <p:nvSpPr>
          <p:cNvPr id="18" name="文本框 17">
            <a:extLst>
              <a:ext uri="{FF2B5EF4-FFF2-40B4-BE49-F238E27FC236}">
                <a16:creationId xmlns:a16="http://schemas.microsoft.com/office/drawing/2014/main" id="{CD932DF5-26AD-8FE4-B010-EDE9F2DC9413}"/>
              </a:ext>
            </a:extLst>
          </p:cNvPr>
          <p:cNvSpPr txBox="1"/>
          <p:nvPr/>
        </p:nvSpPr>
        <p:spPr>
          <a:xfrm>
            <a:off x="611560" y="1847904"/>
            <a:ext cx="2195568" cy="646331"/>
          </a:xfrm>
          <a:prstGeom prst="rect">
            <a:avLst/>
          </a:prstGeom>
          <a:noFill/>
        </p:spPr>
        <p:txBody>
          <a:bodyPr wrap="square" rtlCol="0">
            <a:spAutoFit/>
          </a:bodyPr>
          <a:lstStyle/>
          <a:p>
            <a:r>
              <a:rPr lang="zh-CN" altLang="en-US" b="1" dirty="0">
                <a:solidFill>
                  <a:srgbClr val="FF0000"/>
                </a:solidFill>
              </a:rPr>
              <a:t>长时记忆，忘记一部分，更新一部分</a:t>
            </a:r>
          </a:p>
        </p:txBody>
      </p:sp>
      <p:cxnSp>
        <p:nvCxnSpPr>
          <p:cNvPr id="19" name="直接箭头连接符 18">
            <a:extLst>
              <a:ext uri="{FF2B5EF4-FFF2-40B4-BE49-F238E27FC236}">
                <a16:creationId xmlns:a16="http://schemas.microsoft.com/office/drawing/2014/main" id="{166324D8-FFDD-F4CD-3D64-8813534E47B5}"/>
              </a:ext>
            </a:extLst>
          </p:cNvPr>
          <p:cNvCxnSpPr>
            <a:cxnSpLocks/>
          </p:cNvCxnSpPr>
          <p:nvPr/>
        </p:nvCxnSpPr>
        <p:spPr>
          <a:xfrm>
            <a:off x="2630533" y="2132856"/>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5EAECE5F-0278-2C3C-C6FA-AB6180FFBC0D}"/>
              </a:ext>
            </a:extLst>
          </p:cNvPr>
          <p:cNvSpPr txBox="1"/>
          <p:nvPr/>
        </p:nvSpPr>
        <p:spPr>
          <a:xfrm>
            <a:off x="1547664" y="2494235"/>
            <a:ext cx="1009679" cy="369332"/>
          </a:xfrm>
          <a:prstGeom prst="rect">
            <a:avLst/>
          </a:prstGeom>
          <a:noFill/>
        </p:spPr>
        <p:txBody>
          <a:bodyPr wrap="square" rtlCol="0">
            <a:spAutoFit/>
          </a:bodyPr>
          <a:lstStyle/>
          <a:p>
            <a:r>
              <a:rPr lang="zh-CN" altLang="en-US" b="1" dirty="0">
                <a:solidFill>
                  <a:srgbClr val="FF0000"/>
                </a:solidFill>
              </a:rPr>
              <a:t>输入门</a:t>
            </a:r>
          </a:p>
        </p:txBody>
      </p:sp>
      <p:cxnSp>
        <p:nvCxnSpPr>
          <p:cNvPr id="21" name="直接箭头连接符 20">
            <a:extLst>
              <a:ext uri="{FF2B5EF4-FFF2-40B4-BE49-F238E27FC236}">
                <a16:creationId xmlns:a16="http://schemas.microsoft.com/office/drawing/2014/main" id="{31487407-6B28-03F1-5626-88CDB7755CCC}"/>
              </a:ext>
            </a:extLst>
          </p:cNvPr>
          <p:cNvCxnSpPr>
            <a:cxnSpLocks/>
          </p:cNvCxnSpPr>
          <p:nvPr/>
        </p:nvCxnSpPr>
        <p:spPr>
          <a:xfrm>
            <a:off x="2627784" y="2691847"/>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F05F3ADA-3DD8-0B97-462B-B6131E606FA0}"/>
              </a:ext>
            </a:extLst>
          </p:cNvPr>
          <p:cNvCxnSpPr>
            <a:cxnSpLocks/>
          </p:cNvCxnSpPr>
          <p:nvPr/>
        </p:nvCxnSpPr>
        <p:spPr>
          <a:xfrm>
            <a:off x="2627784" y="3327410"/>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4C178494-5673-CE9A-B8F5-55F85C9C154E}"/>
              </a:ext>
            </a:extLst>
          </p:cNvPr>
          <p:cNvSpPr txBox="1"/>
          <p:nvPr/>
        </p:nvSpPr>
        <p:spPr>
          <a:xfrm>
            <a:off x="1574078" y="3168796"/>
            <a:ext cx="1009679" cy="369332"/>
          </a:xfrm>
          <a:prstGeom prst="rect">
            <a:avLst/>
          </a:prstGeom>
          <a:noFill/>
        </p:spPr>
        <p:txBody>
          <a:bodyPr wrap="square" rtlCol="0">
            <a:spAutoFit/>
          </a:bodyPr>
          <a:lstStyle/>
          <a:p>
            <a:r>
              <a:rPr lang="zh-CN" altLang="en-US" b="1" dirty="0">
                <a:solidFill>
                  <a:srgbClr val="FF0000"/>
                </a:solidFill>
              </a:rPr>
              <a:t>遗忘门</a:t>
            </a:r>
          </a:p>
        </p:txBody>
      </p:sp>
      <p:cxnSp>
        <p:nvCxnSpPr>
          <p:cNvPr id="24" name="直接箭头连接符 23">
            <a:extLst>
              <a:ext uri="{FF2B5EF4-FFF2-40B4-BE49-F238E27FC236}">
                <a16:creationId xmlns:a16="http://schemas.microsoft.com/office/drawing/2014/main" id="{5B1145CA-9429-3B8A-CBA4-4705635D37C3}"/>
              </a:ext>
            </a:extLst>
          </p:cNvPr>
          <p:cNvCxnSpPr>
            <a:cxnSpLocks/>
          </p:cNvCxnSpPr>
          <p:nvPr/>
        </p:nvCxnSpPr>
        <p:spPr>
          <a:xfrm>
            <a:off x="2627784" y="4005064"/>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FE76417E-B5CD-CF12-7C88-D6ED1A72D66E}"/>
              </a:ext>
            </a:extLst>
          </p:cNvPr>
          <p:cNvSpPr txBox="1"/>
          <p:nvPr/>
        </p:nvSpPr>
        <p:spPr>
          <a:xfrm>
            <a:off x="1586789" y="3843357"/>
            <a:ext cx="1009679" cy="369332"/>
          </a:xfrm>
          <a:prstGeom prst="rect">
            <a:avLst/>
          </a:prstGeom>
          <a:noFill/>
        </p:spPr>
        <p:txBody>
          <a:bodyPr wrap="square" rtlCol="0">
            <a:spAutoFit/>
          </a:bodyPr>
          <a:lstStyle/>
          <a:p>
            <a:r>
              <a:rPr lang="zh-CN" altLang="en-US" b="1" dirty="0">
                <a:solidFill>
                  <a:srgbClr val="FF0000"/>
                </a:solidFill>
              </a:rPr>
              <a:t>输出门</a:t>
            </a:r>
          </a:p>
        </p:txBody>
      </p:sp>
      <p:cxnSp>
        <p:nvCxnSpPr>
          <p:cNvPr id="26" name="直接箭头连接符 25">
            <a:extLst>
              <a:ext uri="{FF2B5EF4-FFF2-40B4-BE49-F238E27FC236}">
                <a16:creationId xmlns:a16="http://schemas.microsoft.com/office/drawing/2014/main" id="{52018E28-8AD7-6F9E-B705-E46756CDBC33}"/>
              </a:ext>
            </a:extLst>
          </p:cNvPr>
          <p:cNvCxnSpPr>
            <a:cxnSpLocks/>
          </p:cNvCxnSpPr>
          <p:nvPr/>
        </p:nvCxnSpPr>
        <p:spPr>
          <a:xfrm>
            <a:off x="2660982" y="4581128"/>
            <a:ext cx="5040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827BD896-49FD-0FE6-F162-FE5C62CD0EC9}"/>
              </a:ext>
            </a:extLst>
          </p:cNvPr>
          <p:cNvSpPr txBox="1"/>
          <p:nvPr/>
        </p:nvSpPr>
        <p:spPr>
          <a:xfrm>
            <a:off x="1547664" y="4394721"/>
            <a:ext cx="1540375" cy="369332"/>
          </a:xfrm>
          <a:prstGeom prst="rect">
            <a:avLst/>
          </a:prstGeom>
          <a:noFill/>
        </p:spPr>
        <p:txBody>
          <a:bodyPr wrap="square" rtlCol="0">
            <a:spAutoFit/>
          </a:bodyPr>
          <a:lstStyle/>
          <a:p>
            <a:r>
              <a:rPr lang="zh-CN" altLang="en-US" b="1" dirty="0">
                <a:solidFill>
                  <a:srgbClr val="FF0000"/>
                </a:solidFill>
              </a:rPr>
              <a:t>候选记忆</a:t>
            </a:r>
          </a:p>
        </p:txBody>
      </p:sp>
    </p:spTree>
  </p:cSld>
  <p:clrMapOvr>
    <a:masterClrMapping/>
  </p:clrMapOvr>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CDESIGNN</Template>
  <TotalTime>13719</TotalTime>
  <Words>1126</Words>
  <Application>Microsoft Office PowerPoint</Application>
  <PresentationFormat>全屏显示(4:3)</PresentationFormat>
  <Paragraphs>61</Paragraphs>
  <Slides>19</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黑体</vt:lpstr>
      <vt:lpstr>楷体</vt:lpstr>
      <vt:lpstr>Arial</vt:lpstr>
      <vt:lpstr>Calibri</vt:lpstr>
      <vt:lpstr>Cambria Math</vt:lpstr>
      <vt:lpstr>Times New Roman</vt:lpstr>
      <vt:lpstr>Wingdings</vt:lpstr>
      <vt:lpstr>Wingdings 2</vt:lpstr>
      <vt:lpstr>吉祥如意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WEI SUO</cp:lastModifiedBy>
  <cp:revision>287</cp:revision>
  <dcterms:created xsi:type="dcterms:W3CDTF">2007-08-07T01:47:04Z</dcterms:created>
  <dcterms:modified xsi:type="dcterms:W3CDTF">2026-05-25T05:43:44Z</dcterms:modified>
</cp:coreProperties>
</file>